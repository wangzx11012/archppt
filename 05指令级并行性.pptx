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notesMasterIdLst>
    <p:notesMasterId r:id="rId213"/>
  </p:notesMasterIdLst>
  <p:handoutMasterIdLst>
    <p:handoutMasterId r:id="rId214"/>
  </p:handoutMasterIdLst>
  <p:sldIdLst>
    <p:sldId id="327" r:id="rId2"/>
    <p:sldId id="266" r:id="rId3"/>
    <p:sldId id="267" r:id="rId4"/>
    <p:sldId id="403" r:id="rId5"/>
    <p:sldId id="404" r:id="rId6"/>
    <p:sldId id="269" r:id="rId7"/>
    <p:sldId id="408" r:id="rId8"/>
    <p:sldId id="406" r:id="rId9"/>
    <p:sldId id="271" r:id="rId10"/>
    <p:sldId id="411" r:id="rId11"/>
    <p:sldId id="412" r:id="rId12"/>
    <p:sldId id="272" r:id="rId13"/>
    <p:sldId id="617" r:id="rId14"/>
    <p:sldId id="618" r:id="rId15"/>
    <p:sldId id="619" r:id="rId16"/>
    <p:sldId id="620" r:id="rId17"/>
    <p:sldId id="621" r:id="rId18"/>
    <p:sldId id="622" r:id="rId19"/>
    <p:sldId id="627" r:id="rId20"/>
    <p:sldId id="628" r:id="rId21"/>
    <p:sldId id="623" r:id="rId22"/>
    <p:sldId id="624" r:id="rId23"/>
    <p:sldId id="625" r:id="rId24"/>
    <p:sldId id="629" r:id="rId25"/>
    <p:sldId id="632" r:id="rId26"/>
    <p:sldId id="633" r:id="rId27"/>
    <p:sldId id="626" r:id="rId28"/>
    <p:sldId id="634" r:id="rId29"/>
    <p:sldId id="635" r:id="rId30"/>
    <p:sldId id="636" r:id="rId31"/>
    <p:sldId id="637" r:id="rId32"/>
    <p:sldId id="702" r:id="rId33"/>
    <p:sldId id="638" r:id="rId34"/>
    <p:sldId id="639" r:id="rId35"/>
    <p:sldId id="640" r:id="rId36"/>
    <p:sldId id="641" r:id="rId37"/>
    <p:sldId id="642" r:id="rId38"/>
    <p:sldId id="643" r:id="rId39"/>
    <p:sldId id="644" r:id="rId40"/>
    <p:sldId id="645" r:id="rId41"/>
    <p:sldId id="646" r:id="rId42"/>
    <p:sldId id="647" r:id="rId43"/>
    <p:sldId id="648" r:id="rId44"/>
    <p:sldId id="703" r:id="rId45"/>
    <p:sldId id="649" r:id="rId46"/>
    <p:sldId id="650" r:id="rId47"/>
    <p:sldId id="651" r:id="rId48"/>
    <p:sldId id="652" r:id="rId49"/>
    <p:sldId id="653" r:id="rId50"/>
    <p:sldId id="654" r:id="rId51"/>
    <p:sldId id="701" r:id="rId52"/>
    <p:sldId id="655" r:id="rId53"/>
    <p:sldId id="656" r:id="rId54"/>
    <p:sldId id="657" r:id="rId55"/>
    <p:sldId id="658" r:id="rId56"/>
    <p:sldId id="659" r:id="rId57"/>
    <p:sldId id="660" r:id="rId58"/>
    <p:sldId id="661" r:id="rId59"/>
    <p:sldId id="662" r:id="rId60"/>
    <p:sldId id="663" r:id="rId61"/>
    <p:sldId id="664" r:id="rId62"/>
    <p:sldId id="666" r:id="rId63"/>
    <p:sldId id="665" r:id="rId64"/>
    <p:sldId id="667" r:id="rId65"/>
    <p:sldId id="668" r:id="rId66"/>
    <p:sldId id="669" r:id="rId67"/>
    <p:sldId id="670" r:id="rId68"/>
    <p:sldId id="671" r:id="rId69"/>
    <p:sldId id="672" r:id="rId70"/>
    <p:sldId id="673" r:id="rId71"/>
    <p:sldId id="674" r:id="rId72"/>
    <p:sldId id="675" r:id="rId73"/>
    <p:sldId id="676" r:id="rId74"/>
    <p:sldId id="677" r:id="rId75"/>
    <p:sldId id="678" r:id="rId76"/>
    <p:sldId id="679" r:id="rId77"/>
    <p:sldId id="709" r:id="rId78"/>
    <p:sldId id="273" r:id="rId79"/>
    <p:sldId id="274" r:id="rId80"/>
    <p:sldId id="275" r:id="rId81"/>
    <p:sldId id="581" r:id="rId82"/>
    <p:sldId id="276" r:id="rId83"/>
    <p:sldId id="418" r:id="rId84"/>
    <p:sldId id="419" r:id="rId85"/>
    <p:sldId id="420" r:id="rId86"/>
    <p:sldId id="424" r:id="rId87"/>
    <p:sldId id="425" r:id="rId88"/>
    <p:sldId id="426" r:id="rId89"/>
    <p:sldId id="427" r:id="rId90"/>
    <p:sldId id="428" r:id="rId91"/>
    <p:sldId id="692" r:id="rId92"/>
    <p:sldId id="693" r:id="rId93"/>
    <p:sldId id="429" r:id="rId94"/>
    <p:sldId id="616" r:id="rId95"/>
    <p:sldId id="430" r:id="rId96"/>
    <p:sldId id="431" r:id="rId97"/>
    <p:sldId id="432" r:id="rId98"/>
    <p:sldId id="694" r:id="rId99"/>
    <p:sldId id="695" r:id="rId100"/>
    <p:sldId id="696" r:id="rId101"/>
    <p:sldId id="697" r:id="rId102"/>
    <p:sldId id="698" r:id="rId103"/>
    <p:sldId id="699" r:id="rId104"/>
    <p:sldId id="700" r:id="rId105"/>
    <p:sldId id="278" r:id="rId106"/>
    <p:sldId id="615" r:id="rId107"/>
    <p:sldId id="521" r:id="rId108"/>
    <p:sldId id="522" r:id="rId109"/>
    <p:sldId id="523" r:id="rId110"/>
    <p:sldId id="582" r:id="rId111"/>
    <p:sldId id="526" r:id="rId112"/>
    <p:sldId id="527" r:id="rId113"/>
    <p:sldId id="528" r:id="rId114"/>
    <p:sldId id="529" r:id="rId115"/>
    <p:sldId id="531" r:id="rId116"/>
    <p:sldId id="530" r:id="rId117"/>
    <p:sldId id="583" r:id="rId118"/>
    <p:sldId id="584" r:id="rId119"/>
    <p:sldId id="585" r:id="rId120"/>
    <p:sldId id="586" r:id="rId121"/>
    <p:sldId id="532" r:id="rId122"/>
    <p:sldId id="680" r:id="rId123"/>
    <p:sldId id="682" r:id="rId124"/>
    <p:sldId id="691" r:id="rId125"/>
    <p:sldId id="684" r:id="rId126"/>
    <p:sldId id="685" r:id="rId127"/>
    <p:sldId id="535" r:id="rId128"/>
    <p:sldId id="534" r:id="rId129"/>
    <p:sldId id="488" r:id="rId130"/>
    <p:sldId id="297" r:id="rId131"/>
    <p:sldId id="489" r:id="rId132"/>
    <p:sldId id="588" r:id="rId133"/>
    <p:sldId id="490" r:id="rId134"/>
    <p:sldId id="491" r:id="rId135"/>
    <p:sldId id="301" r:id="rId136"/>
    <p:sldId id="498" r:id="rId137"/>
    <p:sldId id="710" r:id="rId138"/>
    <p:sldId id="712" r:id="rId139"/>
    <p:sldId id="711" r:id="rId140"/>
    <p:sldId id="492" r:id="rId141"/>
    <p:sldId id="536" r:id="rId142"/>
    <p:sldId id="303" r:id="rId143"/>
    <p:sldId id="304" r:id="rId144"/>
    <p:sldId id="307" r:id="rId145"/>
    <p:sldId id="541" r:id="rId146"/>
    <p:sldId id="538" r:id="rId147"/>
    <p:sldId id="539" r:id="rId148"/>
    <p:sldId id="540" r:id="rId149"/>
    <p:sldId id="537" r:id="rId150"/>
    <p:sldId id="713" r:id="rId151"/>
    <p:sldId id="714" r:id="rId152"/>
    <p:sldId id="715" r:id="rId153"/>
    <p:sldId id="716" r:id="rId154"/>
    <p:sldId id="717" r:id="rId155"/>
    <p:sldId id="719" r:id="rId156"/>
    <p:sldId id="704" r:id="rId157"/>
    <p:sldId id="748" r:id="rId158"/>
    <p:sldId id="705" r:id="rId159"/>
    <p:sldId id="720" r:id="rId160"/>
    <p:sldId id="543" r:id="rId161"/>
    <p:sldId id="706" r:id="rId162"/>
    <p:sldId id="707" r:id="rId163"/>
    <p:sldId id="708" r:id="rId164"/>
    <p:sldId id="544" r:id="rId165"/>
    <p:sldId id="545" r:id="rId166"/>
    <p:sldId id="546" r:id="rId167"/>
    <p:sldId id="547" r:id="rId168"/>
    <p:sldId id="548" r:id="rId169"/>
    <p:sldId id="549" r:id="rId170"/>
    <p:sldId id="550" r:id="rId171"/>
    <p:sldId id="551" r:id="rId172"/>
    <p:sldId id="552" r:id="rId173"/>
    <p:sldId id="589" r:id="rId174"/>
    <p:sldId id="590" r:id="rId175"/>
    <p:sldId id="592" r:id="rId176"/>
    <p:sldId id="593" r:id="rId177"/>
    <p:sldId id="594" r:id="rId178"/>
    <p:sldId id="746" r:id="rId179"/>
    <p:sldId id="747" r:id="rId180"/>
    <p:sldId id="597" r:id="rId181"/>
    <p:sldId id="598" r:id="rId182"/>
    <p:sldId id="599" r:id="rId183"/>
    <p:sldId id="600" r:id="rId184"/>
    <p:sldId id="601" r:id="rId185"/>
    <p:sldId id="602" r:id="rId186"/>
    <p:sldId id="603" r:id="rId187"/>
    <p:sldId id="604" r:id="rId188"/>
    <p:sldId id="605" r:id="rId189"/>
    <p:sldId id="606" r:id="rId190"/>
    <p:sldId id="607" r:id="rId191"/>
    <p:sldId id="608" r:id="rId192"/>
    <p:sldId id="609" r:id="rId193"/>
    <p:sldId id="610" r:id="rId194"/>
    <p:sldId id="611" r:id="rId195"/>
    <p:sldId id="612" r:id="rId196"/>
    <p:sldId id="613" r:id="rId197"/>
    <p:sldId id="614" r:id="rId198"/>
    <p:sldId id="505" r:id="rId199"/>
    <p:sldId id="506" r:id="rId200"/>
    <p:sldId id="507" r:id="rId201"/>
    <p:sldId id="508" r:id="rId202"/>
    <p:sldId id="509" r:id="rId203"/>
    <p:sldId id="510" r:id="rId204"/>
    <p:sldId id="511" r:id="rId205"/>
    <p:sldId id="512" r:id="rId206"/>
    <p:sldId id="513" r:id="rId207"/>
    <p:sldId id="517" r:id="rId208"/>
    <p:sldId id="518" r:id="rId209"/>
    <p:sldId id="519" r:id="rId210"/>
    <p:sldId id="520" r:id="rId211"/>
    <p:sldId id="516" r:id="rId212"/>
  </p:sldIdLst>
  <p:sldSz cx="12192000" cy="6858000"/>
  <p:notesSz cx="6858000" cy="9144000"/>
  <p:defaultTextStyle>
    <a:defPPr>
      <a:defRPr lang="zh-CN"/>
    </a:defPPr>
    <a:lvl1pPr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88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29" autoAdjust="0"/>
    <p:restoredTop sz="80753" autoAdjust="0"/>
  </p:normalViewPr>
  <p:slideViewPr>
    <p:cSldViewPr>
      <p:cViewPr varScale="1">
        <p:scale>
          <a:sx n="75" d="100"/>
          <a:sy n="75" d="100"/>
        </p:scale>
        <p:origin x="744" y="53"/>
      </p:cViewPr>
      <p:guideLst>
        <p:guide orient="horz" pos="288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40" d="100"/>
        <a:sy n="140" d="100"/>
      </p:scale>
      <p:origin x="0" y="-123341"/>
    </p:cViewPr>
  </p:sorterViewPr>
  <p:notesViewPr>
    <p:cSldViewPr>
      <p:cViewPr varScale="1">
        <p:scale>
          <a:sx n="37" d="100"/>
          <a:sy n="37" d="100"/>
        </p:scale>
        <p:origin x="-1090" y="-5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viewProps" Target="view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theme" Target="theme/theme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tableStyles" Target="tableStyles.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handoutMaster" Target="handoutMasters/handoutMaster1.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presProps" Target="presProp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47.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54.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61.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80.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8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3075" name="Rectangle 3"/>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sz="1200">
                <a:latin typeface="Times New Roman" panose="02020603050405020304" pitchFamily="18" charset="0"/>
              </a:defRPr>
            </a:lvl1pPr>
          </a:lstStyle>
          <a:p>
            <a:pPr>
              <a:defRPr/>
            </a:pPr>
            <a:endParaRPr lang="en-US" altLang="zh-CN"/>
          </a:p>
        </p:txBody>
      </p:sp>
      <p:sp>
        <p:nvSpPr>
          <p:cNvPr id="3076" name="Rectangle 4"/>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68A6223A-CA48-4471-B8F7-D37FCC5B312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2051"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sz="1200">
                <a:latin typeface="Times New Roman" panose="02020603050405020304" pitchFamily="18" charset="0"/>
              </a:defRPr>
            </a:lvl1pPr>
          </a:lstStyle>
          <a:p>
            <a:pPr>
              <a:defRPr/>
            </a:pPr>
            <a:endParaRPr lang="en-US" altLang="zh-CN"/>
          </a:p>
        </p:txBody>
      </p:sp>
      <p:sp>
        <p:nvSpPr>
          <p:cNvPr id="3076" name="Rectangle 4"/>
          <p:cNvSpPr>
            <a:spLocks noGrp="1" noRot="1" noChangeAspect="1" noChangeArrowheads="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noProof="0" smtClean="0"/>
              <a:t>单击以编辑母版文本样式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ADD578B6-544B-410C-ADFF-D2920E8D1CB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p:cNvSpPr>
            <a:spLocks noGrp="1" noRot="1" noChangeAspect="1" noChangeArrowheads="1" noTextEdit="1"/>
          </p:cNvSpPr>
          <p:nvPr>
            <p:ph type="sldImg"/>
          </p:nvPr>
        </p:nvSpPr>
        <p:spPr>
          <a:ln/>
        </p:spPr>
      </p:sp>
      <p:sp>
        <p:nvSpPr>
          <p:cNvPr id="498691" name="Rectangle 3"/>
          <p:cNvSpPr>
            <a:spLocks noGrp="1" noChangeArrowheads="1"/>
          </p:cNvSpPr>
          <p:nvPr>
            <p:ph type="body" idx="1"/>
          </p:nvPr>
        </p:nvSpPr>
        <p:spPr/>
        <p:txBody>
          <a:bodyPr/>
          <a:lstStyle/>
          <a:p>
            <a:endParaRPr lang="zh-CN" altLang="en-US" dirty="0"/>
          </a:p>
        </p:txBody>
      </p:sp>
    </p:spTree>
    <p:extLst>
      <p:ext uri="{BB962C8B-B14F-4D97-AF65-F5344CB8AC3E}">
        <p14:creationId xmlns:p14="http://schemas.microsoft.com/office/powerpoint/2010/main" val="2802438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F3213B81-FDE3-466B-8CFD-4F9A0BF15F0B}"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2</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359151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33D5F87F-E772-4DCA-8F4E-A138676BC122}"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3</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425137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91790146-0518-498E-9E88-1E33553776C9}"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6</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2256157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863AA60B-A147-4482-AEAE-C4F280C1D90A}"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9</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4140612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10</a:t>
            </a:fld>
            <a:endParaRPr lang="en-US" altLang="zh-CN"/>
          </a:p>
        </p:txBody>
      </p:sp>
    </p:spTree>
    <p:extLst>
      <p:ext uri="{BB962C8B-B14F-4D97-AF65-F5344CB8AC3E}">
        <p14:creationId xmlns:p14="http://schemas.microsoft.com/office/powerpoint/2010/main" val="2633838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11</a:t>
            </a:fld>
            <a:endParaRPr lang="en-US" altLang="zh-CN"/>
          </a:p>
        </p:txBody>
      </p:sp>
    </p:spTree>
    <p:extLst>
      <p:ext uri="{BB962C8B-B14F-4D97-AF65-F5344CB8AC3E}">
        <p14:creationId xmlns:p14="http://schemas.microsoft.com/office/powerpoint/2010/main" val="22917886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4CEBD037-75C1-407B-8C8F-1DDBBFA1CC58}"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12</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3802971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5349ECF5-07B8-4A3D-969A-7FABAA85A45F}"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13</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047037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FF080339-B94E-4908-A7BF-A6F2439F25EC}"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14</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9716799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2930" name="Rectangle 2"/>
          <p:cNvSpPr>
            <a:spLocks noGrp="1" noChangeArrowheads="1"/>
          </p:cNvSpPr>
          <p:nvPr>
            <p:ph type="body" idx="1"/>
          </p:nvPr>
        </p:nvSpPr>
        <p:spPr bwMode="auto">
          <a:xfrm>
            <a:off x="914400" y="4341813"/>
            <a:ext cx="5029200" cy="41163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73" tIns="44443" rIns="90473" bIns="44443"/>
          <a:lstStyle/>
          <a:p>
            <a:r>
              <a:rPr lang="en-US" altLang="zh-CN"/>
              <a:t>Resolve RAW memory conflict? (address in memory buffers)</a:t>
            </a:r>
          </a:p>
          <a:p>
            <a:r>
              <a:rPr lang="en-US" altLang="zh-CN"/>
              <a:t>Integer unit executes in parallel</a:t>
            </a:r>
          </a:p>
        </p:txBody>
      </p:sp>
      <p:sp>
        <p:nvSpPr>
          <p:cNvPr id="892931" name="Rectangle 3"/>
          <p:cNvSpPr>
            <a:spLocks noGrp="1" noRot="1" noChangeAspect="1" noChangeArrowheads="1"/>
          </p:cNvSpPr>
          <p:nvPr>
            <p:ph type="sldImg"/>
          </p:nvPr>
        </p:nvSpPr>
        <p:spPr bwMode="auto">
          <a:xfrm>
            <a:off x="393700" y="692150"/>
            <a:ext cx="6072188"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19951063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F21811CB-EE89-4410-B482-75858CEE31A6}"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19</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28861367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E9C79AD7-6BD1-45DB-9E73-3638A5A551C9}"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20</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4773075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978" name="Rectangle 2"/>
          <p:cNvSpPr>
            <a:spLocks noGrp="1" noChangeArrowheads="1"/>
          </p:cNvSpPr>
          <p:nvPr>
            <p:ph type="body" idx="1"/>
          </p:nvPr>
        </p:nvSpPr>
        <p:spPr bwMode="auto">
          <a:xfrm>
            <a:off x="914400" y="4341813"/>
            <a:ext cx="5029200" cy="41163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73" tIns="44443" rIns="90473" bIns="44443"/>
          <a:lstStyle/>
          <a:p>
            <a:r>
              <a:rPr lang="en-US" altLang="zh-CN"/>
              <a:t>What you might have thought</a:t>
            </a:r>
          </a:p>
          <a:p>
            <a:r>
              <a:rPr lang="en-US" altLang="zh-CN"/>
              <a:t>1. 4 stages of instruction executino</a:t>
            </a:r>
          </a:p>
          <a:p>
            <a:r>
              <a:rPr lang="en-US" altLang="zh-CN"/>
              <a:t>2.Status of FU:  Normal things to keep track of (RAW &amp; structura for busyl):</a:t>
            </a:r>
          </a:p>
          <a:p>
            <a:r>
              <a:rPr lang="en-US" altLang="zh-CN"/>
              <a:t>Fi from instruction format of the mahine (Fi is dest)</a:t>
            </a:r>
          </a:p>
          <a:p>
            <a:r>
              <a:rPr lang="en-US" altLang="zh-CN"/>
              <a:t>Add unit can Add or Sub</a:t>
            </a:r>
          </a:p>
          <a:p>
            <a:r>
              <a:rPr lang="en-US" altLang="zh-CN"/>
              <a:t>Rj, Rk - status of registers (Yes means ready)</a:t>
            </a:r>
          </a:p>
          <a:p>
            <a:r>
              <a:rPr lang="en-US" altLang="zh-CN"/>
              <a:t>Qj,Qk - If a no in Rj, Rk, means waiting for a FU to write result; Qj, Qk means wihch FU waiting for it</a:t>
            </a:r>
          </a:p>
          <a:p>
            <a:r>
              <a:rPr lang="en-US" altLang="zh-CN"/>
              <a:t>3.Status of register result (WAW &amp;WAR)s:</a:t>
            </a:r>
          </a:p>
          <a:p>
            <a:r>
              <a:rPr lang="en-US" altLang="zh-CN"/>
              <a:t>which FU is going to write into registers</a:t>
            </a:r>
          </a:p>
          <a:p>
            <a:r>
              <a:rPr lang="en-US" altLang="zh-CN"/>
              <a:t>Scoreboard on 6600 = size of FU</a:t>
            </a:r>
          </a:p>
          <a:p>
            <a:r>
              <a:rPr lang="en-US" altLang="zh-CN"/>
              <a:t>6.7, 6.8, 6.9, 6.12, 6.13, 6.16, 6.17</a:t>
            </a:r>
          </a:p>
          <a:p>
            <a:r>
              <a:rPr lang="en-US" altLang="zh-CN"/>
              <a:t>FU latencies: Add 2, Mult 10, Div 40 clocks</a:t>
            </a:r>
          </a:p>
        </p:txBody>
      </p:sp>
      <p:sp>
        <p:nvSpPr>
          <p:cNvPr id="894979" name="Rectangle 3"/>
          <p:cNvSpPr>
            <a:spLocks noGrp="1" noRot="1" noChangeAspect="1" noChangeArrowheads="1"/>
          </p:cNvSpPr>
          <p:nvPr>
            <p:ph type="sldImg"/>
          </p:nvPr>
        </p:nvSpPr>
        <p:spPr bwMode="auto">
          <a:xfrm>
            <a:off x="393700" y="692150"/>
            <a:ext cx="6072188"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16759628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B87418DF-C6C3-4747-8891-2D4C86D37A62}"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24</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3.10 The basic structure of a RISC-V floating-point unit using </a:t>
            </a:r>
            <a:r>
              <a:rPr lang="en-US" altLang="en-US" sz="1200" b="1" dirty="0" err="1" smtClean="0"/>
              <a:t>Tomasulo's</a:t>
            </a:r>
            <a:r>
              <a:rPr lang="en-US" altLang="en-US" sz="1200" b="1" dirty="0" smtClean="0"/>
              <a:t> algorithm. </a:t>
            </a:r>
            <a:r>
              <a:rPr lang="en-US" altLang="en-US" sz="1200" dirty="0" smtClean="0"/>
              <a:t>Instructions are sent from the instruction unit into the instruction queue from which they are issued in first-in, first-out (FIFO) order. The reservation stations include the operation and the actual operands, as well as information used for detecting and resolving hazards. Load buffers have three functions: (1) hold the components of the effective address until it is computed, (2) track outstanding loads that are waiting on the memory, and (3) hold the results of completed loads that are waiting for the CDB. Similarly, store buffers have three functions: (1) hold the components of the effective address until it is computed, (2) hold the destination memory addresses of outstanding stores that are waiting for the data value to store, and (3) hold the address and value to store until the memory unit is available. All results from either the FP units or the load unit are put on the CDB, which goes to the FP register file as well as to the reservation stations and store buffers. The FP adders implement addition and subtraction, and the FP multipliers do multiplication and division.</a:t>
            </a:r>
          </a:p>
          <a:p>
            <a:endParaRPr lang="en-AU" dirty="0"/>
          </a:p>
        </p:txBody>
      </p:sp>
    </p:spTree>
    <p:extLst>
      <p:ext uri="{BB962C8B-B14F-4D97-AF65-F5344CB8AC3E}">
        <p14:creationId xmlns:p14="http://schemas.microsoft.com/office/powerpoint/2010/main" val="32359855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latin typeface="Arial" charset="0"/>
                <a:ea typeface="Microsoft YaHei" charset="-122"/>
              </a:rPr>
              <a:t>Figure 3.13 Steps in the algorithm and what is required for each step. </a:t>
            </a:r>
            <a:r>
              <a:rPr lang="en-US" altLang="en-US" sz="1200" dirty="0" smtClean="0">
                <a:latin typeface="Arial" charset="0"/>
                <a:ea typeface="Microsoft YaHei" charset="-122"/>
              </a:rPr>
              <a:t>For the issuing instruction,</a:t>
            </a:r>
            <a:r>
              <a:rPr lang="en-US" altLang="en-US" sz="1200" dirty="0" smtClean="0">
                <a:latin typeface="Courier New" panose="02070309020205020404" pitchFamily="49" charset="0"/>
                <a:ea typeface="Microsoft YaHei" charset="-122"/>
                <a:cs typeface="Courier New" panose="02070309020205020404" pitchFamily="49" charset="0"/>
              </a:rPr>
              <a:t> </a:t>
            </a:r>
            <a:r>
              <a:rPr lang="en-US" altLang="en-US" sz="1200" dirty="0" err="1" smtClean="0">
                <a:latin typeface="Courier New" panose="02070309020205020404" pitchFamily="49" charset="0"/>
                <a:ea typeface="Microsoft YaHei" charset="-122"/>
                <a:cs typeface="Courier New" panose="02070309020205020404" pitchFamily="49" charset="0"/>
              </a:rPr>
              <a:t>rd</a:t>
            </a:r>
            <a:r>
              <a:rPr lang="en-US" altLang="en-US" sz="1200" dirty="0" smtClean="0">
                <a:latin typeface="Courier New" panose="02070309020205020404" pitchFamily="49" charset="0"/>
                <a:ea typeface="Microsoft YaHei" charset="-122"/>
                <a:cs typeface="Courier New" panose="02070309020205020404" pitchFamily="49" charset="0"/>
              </a:rPr>
              <a:t> </a:t>
            </a:r>
            <a:r>
              <a:rPr lang="en-US" altLang="en-US" sz="1200" dirty="0" smtClean="0">
                <a:latin typeface="Arial" charset="0"/>
                <a:ea typeface="Microsoft YaHei" charset="-122"/>
              </a:rPr>
              <a:t>is the destination,</a:t>
            </a:r>
            <a:r>
              <a:rPr lang="en-US" altLang="en-US" sz="1200" dirty="0" smtClean="0">
                <a:latin typeface="Courier New" panose="02070309020205020404" pitchFamily="49" charset="0"/>
                <a:ea typeface="Microsoft YaHei" charset="-122"/>
                <a:cs typeface="Courier New" panose="02070309020205020404" pitchFamily="49" charset="0"/>
              </a:rPr>
              <a:t> </a:t>
            </a:r>
            <a:r>
              <a:rPr lang="en-US" altLang="en-US" sz="1200" dirty="0" err="1" smtClean="0">
                <a:latin typeface="Courier New" panose="02070309020205020404" pitchFamily="49" charset="0"/>
                <a:ea typeface="Microsoft YaHei" charset="-122"/>
                <a:cs typeface="Courier New" panose="02070309020205020404" pitchFamily="49" charset="0"/>
              </a:rPr>
              <a:t>rs</a:t>
            </a:r>
            <a:r>
              <a:rPr lang="en-US" altLang="en-US" sz="1200" dirty="0" smtClean="0">
                <a:latin typeface="Courier New" panose="02070309020205020404" pitchFamily="49" charset="0"/>
                <a:ea typeface="Microsoft YaHei" charset="-122"/>
                <a:cs typeface="Courier New" panose="02070309020205020404" pitchFamily="49" charset="0"/>
              </a:rPr>
              <a:t> </a:t>
            </a:r>
            <a:r>
              <a:rPr lang="en-US" altLang="en-US" sz="1200" dirty="0" smtClean="0">
                <a:latin typeface="Arial" charset="0"/>
                <a:ea typeface="Microsoft YaHei" charset="-122"/>
              </a:rPr>
              <a:t>and </a:t>
            </a:r>
            <a:r>
              <a:rPr lang="en-US" altLang="en-US" sz="1200" dirty="0" err="1" smtClean="0">
                <a:latin typeface="Courier New" panose="02070309020205020404" pitchFamily="49" charset="0"/>
                <a:ea typeface="Microsoft YaHei" charset="-122"/>
                <a:cs typeface="Courier New" panose="02070309020205020404" pitchFamily="49" charset="0"/>
              </a:rPr>
              <a:t>rt</a:t>
            </a:r>
            <a:r>
              <a:rPr lang="en-US" altLang="en-US" sz="1200" dirty="0" smtClean="0">
                <a:latin typeface="Courier New" panose="02070309020205020404" pitchFamily="49" charset="0"/>
                <a:ea typeface="Microsoft YaHei" charset="-122"/>
                <a:cs typeface="Courier New" panose="02070309020205020404" pitchFamily="49" charset="0"/>
              </a:rPr>
              <a:t> </a:t>
            </a:r>
            <a:r>
              <a:rPr lang="en-US" altLang="en-US" sz="1200" dirty="0" smtClean="0">
                <a:latin typeface="Arial" charset="0"/>
                <a:ea typeface="Microsoft YaHei" charset="-122"/>
              </a:rPr>
              <a:t>are the source register numbers, </a:t>
            </a:r>
            <a:r>
              <a:rPr lang="en-US" altLang="en-US" sz="1200" dirty="0" err="1" smtClean="0">
                <a:latin typeface="Courier New" panose="02070309020205020404" pitchFamily="49" charset="0"/>
                <a:ea typeface="Microsoft YaHei" charset="-122"/>
                <a:cs typeface="Courier New" panose="02070309020205020404" pitchFamily="49" charset="0"/>
              </a:rPr>
              <a:t>imm</a:t>
            </a:r>
            <a:r>
              <a:rPr lang="en-US" altLang="en-US" sz="1200" dirty="0" smtClean="0">
                <a:latin typeface="Arial" charset="0"/>
                <a:ea typeface="Microsoft YaHei" charset="-122"/>
              </a:rPr>
              <a:t> is the sign-extended immediate field, and </a:t>
            </a:r>
            <a:r>
              <a:rPr lang="en-US" altLang="en-US" sz="1200" dirty="0" smtClean="0">
                <a:latin typeface="Courier New" panose="02070309020205020404" pitchFamily="49" charset="0"/>
                <a:ea typeface="Microsoft YaHei" charset="-122"/>
                <a:cs typeface="Courier New" panose="02070309020205020404" pitchFamily="49" charset="0"/>
              </a:rPr>
              <a:t>r</a:t>
            </a:r>
            <a:r>
              <a:rPr lang="en-US" altLang="en-US" sz="1200" dirty="0" smtClean="0">
                <a:latin typeface="Arial" charset="0"/>
                <a:ea typeface="Microsoft YaHei" charset="-122"/>
              </a:rPr>
              <a:t> is the reservation station or buffer that the instruction is assigned to. </a:t>
            </a:r>
            <a:r>
              <a:rPr lang="en-US" altLang="en-US" sz="1200" dirty="0" smtClean="0">
                <a:latin typeface="Courier New" panose="02070309020205020404" pitchFamily="49" charset="0"/>
                <a:ea typeface="Microsoft YaHei" charset="-122"/>
                <a:cs typeface="Courier New" panose="02070309020205020404" pitchFamily="49" charset="0"/>
              </a:rPr>
              <a:t>RS</a:t>
            </a:r>
            <a:r>
              <a:rPr lang="en-US" altLang="en-US" sz="1200" dirty="0" smtClean="0">
                <a:latin typeface="Arial" charset="0"/>
                <a:ea typeface="Microsoft YaHei" charset="-122"/>
              </a:rPr>
              <a:t> is the reservation station data structure. The value returned by an FP unit or by the load unit is called </a:t>
            </a:r>
            <a:r>
              <a:rPr lang="en-US" altLang="en-US" sz="1200" dirty="0" smtClean="0">
                <a:latin typeface="Courier New" panose="02070309020205020404" pitchFamily="49" charset="0"/>
                <a:ea typeface="Microsoft YaHei" charset="-122"/>
                <a:cs typeface="Courier New" panose="02070309020205020404" pitchFamily="49" charset="0"/>
              </a:rPr>
              <a:t>result</a:t>
            </a:r>
            <a:r>
              <a:rPr lang="en-US" altLang="en-US" sz="1200" dirty="0" smtClean="0">
                <a:latin typeface="Arial" charset="0"/>
                <a:ea typeface="Microsoft YaHei" charset="-122"/>
              </a:rPr>
              <a:t>. </a:t>
            </a:r>
            <a:r>
              <a:rPr lang="en-US" altLang="en-US" sz="1200" dirty="0" err="1" smtClean="0">
                <a:latin typeface="Courier New" panose="02070309020205020404" pitchFamily="49" charset="0"/>
                <a:ea typeface="Microsoft YaHei" charset="-122"/>
                <a:cs typeface="Courier New" panose="02070309020205020404" pitchFamily="49" charset="0"/>
              </a:rPr>
              <a:t>RegisterStat</a:t>
            </a:r>
            <a:r>
              <a:rPr lang="en-US" altLang="en-US" sz="1200" dirty="0" smtClean="0">
                <a:latin typeface="Arial" charset="0"/>
                <a:ea typeface="Microsoft YaHei" charset="-122"/>
              </a:rPr>
              <a:t> is the register status data structure (not the register file, which </a:t>
            </a:r>
            <a:r>
              <a:rPr lang="en-US" altLang="en-US" sz="1200" dirty="0" smtClean="0">
                <a:latin typeface="Courier New" panose="02070309020205020404" pitchFamily="49" charset="0"/>
                <a:ea typeface="Microsoft YaHei" charset="-122"/>
                <a:cs typeface="Courier New" panose="02070309020205020404" pitchFamily="49" charset="0"/>
              </a:rPr>
              <a:t>is </a:t>
            </a:r>
            <a:r>
              <a:rPr lang="en-US" altLang="en-US" sz="1200" dirty="0" err="1" smtClean="0">
                <a:latin typeface="Courier New" panose="02070309020205020404" pitchFamily="49" charset="0"/>
                <a:ea typeface="Microsoft YaHei" charset="-122"/>
                <a:cs typeface="Courier New" panose="02070309020205020404" pitchFamily="49" charset="0"/>
              </a:rPr>
              <a:t>Regs</a:t>
            </a:r>
            <a:r>
              <a:rPr lang="en-US" altLang="en-US" sz="1200" dirty="0" smtClean="0">
                <a:latin typeface="Courier New" panose="02070309020205020404" pitchFamily="49" charset="0"/>
                <a:ea typeface="Microsoft YaHei" charset="-122"/>
                <a:cs typeface="Courier New" panose="02070309020205020404" pitchFamily="49" charset="0"/>
              </a:rPr>
              <a:t>[]</a:t>
            </a:r>
            <a:r>
              <a:rPr lang="en-US" altLang="en-US" sz="1200" dirty="0" smtClean="0">
                <a:latin typeface="Arial" charset="0"/>
                <a:ea typeface="Microsoft YaHei" charset="-122"/>
              </a:rPr>
              <a:t>). When an instruction is issued, the destination register has its Qi field set to the number of the buffer or reservation station to which the instruction is issued. If the operands are available in the registers, they are stored in the V fields. Otherwise, the Q fields are set to indicate the reservation station that will produce the values needed as source operands. The instruction waits at the reservation station until both its operands are available, indicated by zero in the Q fields. The Q fields are set to zero either when this instruction is issued or when an instruction on which this instruction depends completes and does its write back. When an instruction has finished execution and the CDB is available, it can do its write back. All the buffers, registers, and reservation stations whose values of </a:t>
            </a:r>
            <a:r>
              <a:rPr lang="en-US" altLang="en-US" sz="1200" dirty="0" err="1" smtClean="0">
                <a:latin typeface="Arial" charset="0"/>
                <a:ea typeface="Microsoft YaHei" charset="-122"/>
              </a:rPr>
              <a:t>Qj</a:t>
            </a:r>
            <a:r>
              <a:rPr lang="en-US" altLang="en-US" sz="1200" dirty="0" smtClean="0">
                <a:latin typeface="Arial" charset="0"/>
                <a:ea typeface="Microsoft YaHei" charset="-122"/>
              </a:rPr>
              <a:t> or </a:t>
            </a:r>
            <a:r>
              <a:rPr lang="en-US" altLang="en-US" sz="1200" dirty="0" err="1" smtClean="0">
                <a:latin typeface="Arial" charset="0"/>
                <a:ea typeface="Microsoft YaHei" charset="-122"/>
              </a:rPr>
              <a:t>Qk</a:t>
            </a:r>
            <a:r>
              <a:rPr lang="en-US" altLang="en-US" sz="1200" dirty="0" smtClean="0">
                <a:latin typeface="Arial" charset="0"/>
                <a:ea typeface="Microsoft YaHei" charset="-122"/>
              </a:rPr>
              <a:t> are the same as the completing reservation station update their values from the CDB and mark the Q fields to indicate that values have been received. Thus the CDB can broadcast its result to many destinations in a single clock cycle, and if the waiting instructions have their operands, they can all begin execution on the next clock cycle. Loads go through two steps in execute, and stores perform slightly differently during Write Result, where they may have to wait for the value to store. Remember that, to preserve exception behavior, instructions should not be allowed to execute if a branch that is earlier in program order has not yet completed. Because no concept of program order is maintained after the issue stage, this restriction is usually implemented by preventing any instruction from leaving the issue step if there is a pending branch already in the pipeline. In Section 3.6, we will see how speculation support removes this restriction.</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25</a:t>
            </a:fld>
            <a:endParaRPr lang="en-US" altLang="zh-CN"/>
          </a:p>
        </p:txBody>
      </p:sp>
    </p:spTree>
    <p:extLst>
      <p:ext uri="{BB962C8B-B14F-4D97-AF65-F5344CB8AC3E}">
        <p14:creationId xmlns:p14="http://schemas.microsoft.com/office/powerpoint/2010/main" val="2985167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4516E19D-3332-496A-B7A9-FB0534A603C1}"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26</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40034459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51F3F8C4-5CCA-4E3C-91BE-75E41BB717AB}"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32</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3.11 Reservation stations and register tags shown when all of the instructions have issued but only the first load instruction has completed and written its result to the CDB. </a:t>
            </a:r>
            <a:r>
              <a:rPr lang="en-US" altLang="en-US" sz="1200" dirty="0" smtClean="0"/>
              <a:t>The second load has completed effective address calculation but is waiting on the memory unit. We use the array </a:t>
            </a:r>
            <a:r>
              <a:rPr lang="en-US" altLang="en-US" sz="1200" dirty="0" err="1" smtClean="0"/>
              <a:t>Regs</a:t>
            </a:r>
            <a:r>
              <a:rPr lang="en-US" altLang="en-US" sz="1200" dirty="0" smtClean="0"/>
              <a:t>[ ] to refer to the register file and the array Mem[ ] to refer to the memory. Remember that an operand is specified by either a Q field or a V field at any time. Notice that the </a:t>
            </a:r>
            <a:r>
              <a:rPr lang="en-US" altLang="en-US" sz="1200" dirty="0" err="1" smtClean="0">
                <a:latin typeface="Courier New" panose="02070309020205020404" pitchFamily="49" charset="0"/>
                <a:cs typeface="Courier New" panose="02070309020205020404" pitchFamily="49" charset="0"/>
              </a:rPr>
              <a:t>fadd.d</a:t>
            </a:r>
            <a:r>
              <a:rPr lang="en-US" altLang="en-US" sz="1200" dirty="0" smtClean="0"/>
              <a:t> instruction, which has a WAR hazard at the WB stage, has issued and could complete before the </a:t>
            </a:r>
            <a:r>
              <a:rPr lang="en-US" altLang="en-US" sz="1200" dirty="0" err="1" smtClean="0">
                <a:latin typeface="Courier New" panose="02070309020205020404" pitchFamily="49" charset="0"/>
                <a:cs typeface="Courier New" panose="02070309020205020404" pitchFamily="49" charset="0"/>
              </a:rPr>
              <a:t>fdiv.d</a:t>
            </a:r>
            <a:r>
              <a:rPr lang="en-US" altLang="en-US" sz="1200" dirty="0" smtClean="0"/>
              <a:t> initiates.</a:t>
            </a:r>
          </a:p>
          <a:p>
            <a:endParaRPr lang="en-AU" dirty="0"/>
          </a:p>
        </p:txBody>
      </p:sp>
    </p:spTree>
    <p:extLst>
      <p:ext uri="{BB962C8B-B14F-4D97-AF65-F5344CB8AC3E}">
        <p14:creationId xmlns:p14="http://schemas.microsoft.com/office/powerpoint/2010/main" val="37092571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4516E19D-3332-496A-B7A9-FB0534A603C1}"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44</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3.12 Multiply and divide are the only instructions not finished.</a:t>
            </a:r>
          </a:p>
          <a:p>
            <a:endParaRPr lang="en-AU" dirty="0"/>
          </a:p>
        </p:txBody>
      </p:sp>
    </p:spTree>
    <p:extLst>
      <p:ext uri="{BB962C8B-B14F-4D97-AF65-F5344CB8AC3E}">
        <p14:creationId xmlns:p14="http://schemas.microsoft.com/office/powerpoint/2010/main" val="5124445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3.14 Two active iterations of the loop with no instruction yet completed</a:t>
            </a:r>
            <a:r>
              <a:rPr lang="en-US" altLang="en-US" sz="1200" dirty="0" smtClean="0"/>
              <a:t>. Entries in the multiplier reservation stations indicate that the outstanding loads are the sources. The store reservation stations indicate that the multiply destination is the source of the value to store.</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63</a:t>
            </a:fld>
            <a:endParaRPr lang="en-US" altLang="zh-CN"/>
          </a:p>
        </p:txBody>
      </p:sp>
    </p:spTree>
    <p:extLst>
      <p:ext uri="{BB962C8B-B14F-4D97-AF65-F5344CB8AC3E}">
        <p14:creationId xmlns:p14="http://schemas.microsoft.com/office/powerpoint/2010/main" val="27960740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2109B51F-B236-401E-BC32-EFEAFE5B0F5D}"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78</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r>
              <a:rPr lang="en-US" altLang="en-US" sz="1200" b="1" dirty="0" smtClean="0"/>
              <a:t>Figure 3.2 Latencies of FP operations used in this chapter. </a:t>
            </a:r>
            <a:r>
              <a:rPr lang="en-US" altLang="en-US" sz="1200" dirty="0" smtClean="0"/>
              <a:t>The last column is the number of intervening clock cycles needed to avoid a stall. These numbers are similar to the average latencies we would see on an FP unit. The latency of a floating-point load to a store is 0 because the result of the load can be bypassed without stalling the store. We will continue to assume an integer load latency of 1 and an integer ALU operation latency of 0 (which includes ALU operation to branch).</a:t>
            </a:r>
            <a:endParaRPr lang="en-AU" dirty="0"/>
          </a:p>
        </p:txBody>
      </p:sp>
    </p:spTree>
    <p:extLst>
      <p:ext uri="{BB962C8B-B14F-4D97-AF65-F5344CB8AC3E}">
        <p14:creationId xmlns:p14="http://schemas.microsoft.com/office/powerpoint/2010/main" val="32968848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B260192D-6A98-41C2-A34C-E6CE21766BF2}"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79</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40505478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DC96632F-5D81-4279-A8D6-AB5E5BFAEC73}"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80</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2856193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DC96632F-5D81-4279-A8D6-AB5E5BFAEC73}"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81</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33260869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B219F57E-8D42-485C-BA9B-9DFC4F2C4365}"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82</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42815077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83</a:t>
            </a:fld>
            <a:endParaRPr lang="en-US" altLang="zh-CN"/>
          </a:p>
        </p:txBody>
      </p:sp>
    </p:spTree>
    <p:extLst>
      <p:ext uri="{BB962C8B-B14F-4D97-AF65-F5344CB8AC3E}">
        <p14:creationId xmlns:p14="http://schemas.microsoft.com/office/powerpoint/2010/main" val="5040291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055"/>
          <p:cNvSpPr>
            <a:spLocks noGrp="1" noChangeArrowheads="1"/>
          </p:cNvSpPr>
          <p:nvPr>
            <p:ph type="sldNum" sz="quarter" idx="5"/>
          </p:nvPr>
        </p:nvSpPr>
        <p:spPr>
          <a:ln/>
        </p:spPr>
        <p:txBody>
          <a:bodyPr/>
          <a:lstStyle/>
          <a:p>
            <a:fld id="{3DB9121F-675C-4FFF-B263-4D65F492EF15}" type="slidenum">
              <a:rPr lang="zh-CN" altLang="en-US"/>
              <a:pPr/>
              <a:t>84</a:t>
            </a:fld>
            <a:endParaRPr lang="zh-CN" altLang="en-US"/>
          </a:p>
        </p:txBody>
      </p:sp>
    </p:spTree>
    <p:extLst>
      <p:ext uri="{BB962C8B-B14F-4D97-AF65-F5344CB8AC3E}">
        <p14:creationId xmlns:p14="http://schemas.microsoft.com/office/powerpoint/2010/main" val="12439298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89</a:t>
            </a:fld>
            <a:endParaRPr lang="en-US" altLang="zh-CN"/>
          </a:p>
        </p:txBody>
      </p:sp>
    </p:spTree>
    <p:extLst>
      <p:ext uri="{BB962C8B-B14F-4D97-AF65-F5344CB8AC3E}">
        <p14:creationId xmlns:p14="http://schemas.microsoft.com/office/powerpoint/2010/main" val="23625954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92</a:t>
            </a:fld>
            <a:endParaRPr lang="en-US" altLang="zh-CN"/>
          </a:p>
        </p:txBody>
      </p:sp>
    </p:spTree>
    <p:extLst>
      <p:ext uri="{BB962C8B-B14F-4D97-AF65-F5344CB8AC3E}">
        <p14:creationId xmlns:p14="http://schemas.microsoft.com/office/powerpoint/2010/main" val="21629661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94</a:t>
            </a:fld>
            <a:endParaRPr lang="en-US" altLang="zh-CN"/>
          </a:p>
        </p:txBody>
      </p:sp>
    </p:spTree>
    <p:extLst>
      <p:ext uri="{BB962C8B-B14F-4D97-AF65-F5344CB8AC3E}">
        <p14:creationId xmlns:p14="http://schemas.microsoft.com/office/powerpoint/2010/main" val="31186632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95</a:t>
            </a:fld>
            <a:endParaRPr lang="en-US" altLang="zh-CN"/>
          </a:p>
        </p:txBody>
      </p:sp>
    </p:spTree>
    <p:extLst>
      <p:ext uri="{BB962C8B-B14F-4D97-AF65-F5344CB8AC3E}">
        <p14:creationId xmlns:p14="http://schemas.microsoft.com/office/powerpoint/2010/main" val="14122772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B82D6FFF-2203-4AE3-AF1E-B8B8BD860FA1}" type="slidenum">
              <a:rPr lang="en-US" altLang="zh-CN"/>
              <a:pPr/>
              <a:t>100</a:t>
            </a:fld>
            <a:endParaRPr lang="en-US" altLang="zh-CN"/>
          </a:p>
        </p:txBody>
      </p:sp>
      <p:sp>
        <p:nvSpPr>
          <p:cNvPr id="686082" name="Rectangle 2"/>
          <p:cNvSpPr>
            <a:spLocks noGrp="1" noRot="1" noChangeAspect="1" noChangeArrowheads="1" noTextEdit="1"/>
          </p:cNvSpPr>
          <p:nvPr>
            <p:ph type="sldImg"/>
          </p:nvPr>
        </p:nvSpPr>
        <p:spPr>
          <a:xfrm>
            <a:off x="376238" y="696913"/>
            <a:ext cx="6107112" cy="3436937"/>
          </a:xfrm>
          <a:ln/>
        </p:spPr>
      </p:sp>
      <p:sp>
        <p:nvSpPr>
          <p:cNvPr id="686083" name="Rectangle 3"/>
          <p:cNvSpPr>
            <a:spLocks noGrp="1" noChangeArrowheads="1"/>
          </p:cNvSpPr>
          <p:nvPr>
            <p:ph type="body" idx="1"/>
          </p:nvPr>
        </p:nvSpPr>
        <p:spPr/>
        <p:txBody>
          <a:bodyPr lIns="89907" tIns="44953" rIns="89907" bIns="44953"/>
          <a:lstStyle/>
          <a:p>
            <a:endParaRPr lang="en-US" altLang="en-US"/>
          </a:p>
        </p:txBody>
      </p:sp>
    </p:spTree>
    <p:extLst>
      <p:ext uri="{BB962C8B-B14F-4D97-AF65-F5344CB8AC3E}">
        <p14:creationId xmlns:p14="http://schemas.microsoft.com/office/powerpoint/2010/main" val="18499617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4348FEB-A0F8-46E3-95D7-A30EBA3D9C0A}"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105</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8826474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107</a:t>
            </a:fld>
            <a:endParaRPr lang="en-US" altLang="zh-CN"/>
          </a:p>
        </p:txBody>
      </p:sp>
    </p:spTree>
    <p:extLst>
      <p:ext uri="{BB962C8B-B14F-4D97-AF65-F5344CB8AC3E}">
        <p14:creationId xmlns:p14="http://schemas.microsoft.com/office/powerpoint/2010/main" val="3849822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108</a:t>
            </a:fld>
            <a:endParaRPr lang="en-US" altLang="zh-CN"/>
          </a:p>
        </p:txBody>
      </p:sp>
    </p:spTree>
    <p:extLst>
      <p:ext uri="{BB962C8B-B14F-4D97-AF65-F5344CB8AC3E}">
        <p14:creationId xmlns:p14="http://schemas.microsoft.com/office/powerpoint/2010/main" val="31787126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4348FEB-A0F8-46E3-95D7-A30EBA3D9C0A}"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110</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3.4 A </a:t>
            </a:r>
            <a:r>
              <a:rPr lang="en-US" altLang="en-US" sz="1200" b="1" dirty="0" err="1" smtClean="0"/>
              <a:t>gshare</a:t>
            </a:r>
            <a:r>
              <a:rPr lang="en-US" altLang="en-US" sz="1200" b="1" dirty="0" smtClean="0"/>
              <a:t> predictor with 1024 entries, each being a standard 2-bit predictor.</a:t>
            </a:r>
          </a:p>
          <a:p>
            <a:endParaRPr lang="en-AU" dirty="0"/>
          </a:p>
        </p:txBody>
      </p:sp>
    </p:spTree>
    <p:extLst>
      <p:ext uri="{BB962C8B-B14F-4D97-AF65-F5344CB8AC3E}">
        <p14:creationId xmlns:p14="http://schemas.microsoft.com/office/powerpoint/2010/main" val="42516920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3.5 A tournament predictor using the branch address to index a set of 2-bit selection counters, which choose between a local and a global predictor.</a:t>
            </a:r>
            <a:r>
              <a:rPr lang="en-US" altLang="en-US" sz="1200" dirty="0" smtClean="0"/>
              <a:t> In this case, the index to the selector table is the current branch address. The two tables are also 2-bit predictors that are indexed by the global history and branch address, respectively. The selector acts like a 2-bit predictor, changing the preferred predictor for a branch address when two </a:t>
            </a:r>
            <a:r>
              <a:rPr lang="en-US" altLang="en-US" sz="1200" dirty="0" err="1" smtClean="0"/>
              <a:t>mispredicts</a:t>
            </a:r>
            <a:r>
              <a:rPr lang="en-US" altLang="en-US" sz="1200" dirty="0" smtClean="0"/>
              <a:t> occur in a row. The number of bits of the branch address used to index the selector table and the local predictor table is equal to the length of the global branch history used to index the global prediction table. Note that </a:t>
            </a:r>
            <a:r>
              <a:rPr lang="en-US" altLang="en-US" sz="1200" dirty="0" err="1" smtClean="0"/>
              <a:t>misprediction</a:t>
            </a:r>
            <a:r>
              <a:rPr lang="en-US" altLang="en-US" sz="1200" dirty="0" smtClean="0"/>
              <a:t> is a bit tricky because we need to change both the selector table and either the global or local predictor.</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111</a:t>
            </a:fld>
            <a:endParaRPr lang="en-US" altLang="zh-CN"/>
          </a:p>
        </p:txBody>
      </p:sp>
    </p:spTree>
    <p:extLst>
      <p:ext uri="{BB962C8B-B14F-4D97-AF65-F5344CB8AC3E}">
        <p14:creationId xmlns:p14="http://schemas.microsoft.com/office/powerpoint/2010/main" val="2465242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5349ECF5-07B8-4A3D-969A-7FABAA85A45F}"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117</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10439558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5349ECF5-07B8-4A3D-969A-7FABAA85A45F}"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118</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3.7 A five-component tagged hybrid predictor has five separate prediction tables, indexed by a hash of the branch address and a segment of recent branch history of length 0–4 labeled “h” in this figure.</a:t>
            </a:r>
            <a:r>
              <a:rPr lang="en-US" altLang="en-US" sz="1200" dirty="0" smtClean="0"/>
              <a:t> The hash can be as simple as an exclusive-OR, as in </a:t>
            </a:r>
            <a:r>
              <a:rPr lang="en-US" altLang="en-US" sz="1200" dirty="0" err="1" smtClean="0"/>
              <a:t>gshare</a:t>
            </a:r>
            <a:r>
              <a:rPr lang="en-US" altLang="en-US" sz="1200" dirty="0" smtClean="0"/>
              <a:t>. Each predictor is a 2-bit (or possibly 3-bit) predictor. The tags are typically 4–8 bits. The chosen prediction is the one with the longest history where the tags also match.</a:t>
            </a:r>
          </a:p>
          <a:p>
            <a:endParaRPr lang="en-AU" dirty="0"/>
          </a:p>
        </p:txBody>
      </p:sp>
    </p:spTree>
    <p:extLst>
      <p:ext uri="{BB962C8B-B14F-4D97-AF65-F5344CB8AC3E}">
        <p14:creationId xmlns:p14="http://schemas.microsoft.com/office/powerpoint/2010/main" val="5210815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5349ECF5-07B8-4A3D-969A-7FABAA85A45F}"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119</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3.8 A comparison of the </a:t>
            </a:r>
            <a:r>
              <a:rPr lang="en-US" altLang="en-US" sz="1200" b="1" dirty="0" err="1" smtClean="0"/>
              <a:t>misprediction</a:t>
            </a:r>
            <a:r>
              <a:rPr lang="en-US" altLang="en-US" sz="1200" b="1" dirty="0" smtClean="0"/>
              <a:t> rate (measured as </a:t>
            </a:r>
            <a:r>
              <a:rPr lang="en-US" altLang="en-US" sz="1200" b="1" dirty="0" err="1" smtClean="0"/>
              <a:t>mispredicts</a:t>
            </a:r>
            <a:r>
              <a:rPr lang="en-US" altLang="en-US" sz="1200" b="1" dirty="0" smtClean="0"/>
              <a:t> per 1000 instructions executed) for tagged hybrid versus </a:t>
            </a:r>
            <a:r>
              <a:rPr lang="en-US" altLang="en-US" sz="1200" b="1" dirty="0" err="1" smtClean="0"/>
              <a:t>gshare</a:t>
            </a:r>
            <a:r>
              <a:rPr lang="en-US" altLang="en-US" sz="1200" b="1" dirty="0" smtClean="0"/>
              <a:t>.</a:t>
            </a:r>
            <a:r>
              <a:rPr lang="en-US" altLang="en-US" sz="1200" dirty="0" smtClean="0"/>
              <a:t> Both predictors use the same total number of bits, although tagged hybrid uses some of that storage for tags, while </a:t>
            </a:r>
            <a:r>
              <a:rPr lang="en-US" altLang="en-US" sz="1200" dirty="0" err="1" smtClean="0"/>
              <a:t>gshare</a:t>
            </a:r>
            <a:r>
              <a:rPr lang="en-US" altLang="en-US" sz="1200" dirty="0" smtClean="0"/>
              <a:t> contains no tags. The benchmarks consist of traces from </a:t>
            </a:r>
            <a:r>
              <a:rPr lang="en-US" altLang="en-US" sz="1200" dirty="0" err="1" smtClean="0"/>
              <a:t>SPECfp</a:t>
            </a:r>
            <a:r>
              <a:rPr lang="en-US" altLang="en-US" sz="1200" dirty="0" smtClean="0"/>
              <a:t> and </a:t>
            </a:r>
            <a:r>
              <a:rPr lang="en-US" altLang="en-US" sz="1200" dirty="0" err="1" smtClean="0"/>
              <a:t>SPECint</a:t>
            </a:r>
            <a:r>
              <a:rPr lang="en-US" altLang="en-US" sz="1200" dirty="0" smtClean="0"/>
              <a:t>, a series of multimedia and server benchmarks. The latter two behave more like </a:t>
            </a:r>
            <a:r>
              <a:rPr lang="en-US" altLang="en-US" sz="1200" dirty="0" err="1" smtClean="0"/>
              <a:t>SPECint</a:t>
            </a:r>
            <a:r>
              <a:rPr lang="en-US" altLang="en-US" sz="1200" dirty="0" smtClean="0"/>
              <a:t>.</a:t>
            </a:r>
          </a:p>
          <a:p>
            <a:endParaRPr lang="en-AU" dirty="0"/>
          </a:p>
        </p:txBody>
      </p:sp>
    </p:spTree>
    <p:extLst>
      <p:ext uri="{BB962C8B-B14F-4D97-AF65-F5344CB8AC3E}">
        <p14:creationId xmlns:p14="http://schemas.microsoft.com/office/powerpoint/2010/main" val="33544319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3.9 The </a:t>
            </a:r>
            <a:r>
              <a:rPr lang="en-US" altLang="en-US" sz="1200" b="1" dirty="0" err="1" smtClean="0"/>
              <a:t>misprediction</a:t>
            </a:r>
            <a:r>
              <a:rPr lang="en-US" altLang="en-US" sz="1200" b="1" dirty="0" smtClean="0"/>
              <a:t> rate for the integer SPECCPU2006 benchmarks on the Intel Core i7 920 and 6700. </a:t>
            </a:r>
            <a:r>
              <a:rPr lang="en-US" altLang="en-US" sz="1200" dirty="0" smtClean="0"/>
              <a:t>The </a:t>
            </a:r>
            <a:r>
              <a:rPr lang="en-US" altLang="en-US" sz="1200" dirty="0" err="1" smtClean="0"/>
              <a:t>misprediction</a:t>
            </a:r>
            <a:r>
              <a:rPr lang="en-US" altLang="en-US" sz="1200" dirty="0" smtClean="0"/>
              <a:t> rate is computed as the ratio of completed branches that are </a:t>
            </a:r>
            <a:r>
              <a:rPr lang="en-US" altLang="en-US" sz="1200" dirty="0" err="1" smtClean="0"/>
              <a:t>mispredicted</a:t>
            </a:r>
            <a:r>
              <a:rPr lang="en-US" altLang="en-US" sz="1200" dirty="0" smtClean="0"/>
              <a:t> versus all completed branches. This could understate the </a:t>
            </a:r>
            <a:r>
              <a:rPr lang="en-US" altLang="en-US" sz="1200" dirty="0" err="1" smtClean="0"/>
              <a:t>misprediction</a:t>
            </a:r>
            <a:r>
              <a:rPr lang="en-US" altLang="en-US" sz="1200" dirty="0" smtClean="0"/>
              <a:t> rate somewhat because if a branch is </a:t>
            </a:r>
            <a:r>
              <a:rPr lang="en-US" altLang="en-US" sz="1200" dirty="0" err="1" smtClean="0"/>
              <a:t>mispredicted</a:t>
            </a:r>
            <a:r>
              <a:rPr lang="en-US" altLang="en-US" sz="1200" dirty="0" smtClean="0"/>
              <a:t> and led to another </a:t>
            </a:r>
            <a:r>
              <a:rPr lang="en-US" altLang="en-US" sz="1200" dirty="0" err="1" smtClean="0"/>
              <a:t>mispredicted</a:t>
            </a:r>
            <a:r>
              <a:rPr lang="en-US" altLang="en-US" sz="1200" dirty="0" smtClean="0"/>
              <a:t> branch (which should not have been executed), it will be counted as only one </a:t>
            </a:r>
            <a:r>
              <a:rPr lang="en-US" altLang="en-US" sz="1200" dirty="0" err="1" smtClean="0"/>
              <a:t>misprediction</a:t>
            </a:r>
            <a:r>
              <a:rPr lang="en-US" altLang="en-US" sz="1200" dirty="0" smtClean="0"/>
              <a:t>. On average, the i7 920 </a:t>
            </a:r>
            <a:r>
              <a:rPr lang="en-US" altLang="en-US" sz="1200" dirty="0" err="1" smtClean="0"/>
              <a:t>mispredicts</a:t>
            </a:r>
            <a:r>
              <a:rPr lang="en-US" altLang="en-US" sz="1200" dirty="0" smtClean="0"/>
              <a:t> branches 1.3 times as often as the i7 6700.</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120</a:t>
            </a:fld>
            <a:endParaRPr lang="en-US" altLang="zh-CN"/>
          </a:p>
        </p:txBody>
      </p:sp>
    </p:spTree>
    <p:extLst>
      <p:ext uri="{BB962C8B-B14F-4D97-AF65-F5344CB8AC3E}">
        <p14:creationId xmlns:p14="http://schemas.microsoft.com/office/powerpoint/2010/main" val="26398011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13D905A-55A1-48FC-A10B-0C787BEB8BCB}"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122</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3.25 A branch-target buffer. The PC of the instruction being fetched is matched against a set of instruction addresses stored in the first column; these represent the addresses of known branches. </a:t>
            </a:r>
            <a:r>
              <a:rPr lang="en-US" altLang="en-US" sz="1200" dirty="0" smtClean="0"/>
              <a:t>If the PC matches one of these entries, then the instruction being fetched is a taken branch, and the second field, predicted PC, contains the prediction for the next PC after the branch. Fetching begins immediately at that address. The third field, which is optional, may be used for extra prediction state bits.</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3.26 The steps involved in handling an instruction with a branch-target buffer.</a:t>
            </a:r>
          </a:p>
          <a:p>
            <a:endParaRPr lang="en-AU" dirty="0"/>
          </a:p>
        </p:txBody>
      </p:sp>
    </p:spTree>
    <p:extLst>
      <p:ext uri="{BB962C8B-B14F-4D97-AF65-F5344CB8AC3E}">
        <p14:creationId xmlns:p14="http://schemas.microsoft.com/office/powerpoint/2010/main" val="2672225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3.27 Penalties for all possible combinations of whether the branch is in the buffer and what it actually does, assuming we store only taken branches in the buffer. </a:t>
            </a:r>
            <a:r>
              <a:rPr lang="en-US" altLang="en-US" sz="1200" dirty="0" smtClean="0"/>
              <a:t>There is no branch penalty if everything is correctly predicted and the branch is found in the target buffer. If the branch is not correctly predicted, the penalty is equal to 1 clock cycle to update the buffer with the correct information (during which an instruction cannot be fetched) and 1 clock cycle, if needed, to restart fetching the next correct instruction for the branch. If the branch is not found and taken, a 2-cycle penalty is encountered, during which time the buffer is updated.</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123</a:t>
            </a:fld>
            <a:endParaRPr lang="en-US" altLang="zh-CN"/>
          </a:p>
        </p:txBody>
      </p:sp>
    </p:spTree>
    <p:extLst>
      <p:ext uri="{BB962C8B-B14F-4D97-AF65-F5344CB8AC3E}">
        <p14:creationId xmlns:p14="http://schemas.microsoft.com/office/powerpoint/2010/main" val="380562773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8251F4F7-99E1-4E0B-843C-A80A14E45EAF}"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125</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3.28 Prediction accuracy for a return address buffer operated as a stack on a number of SPEC CPU95 benchmarks. </a:t>
            </a:r>
            <a:r>
              <a:rPr lang="en-US" altLang="en-US" sz="1200" dirty="0" smtClean="0"/>
              <a:t>The accuracy is the fraction of return addresses predicted correctly. A buffer of 0 entries implies that the standard branch prediction is used. Because call depths are typically not large, with some exceptions, a modest buffer works well. These data come from </a:t>
            </a:r>
            <a:r>
              <a:rPr lang="en-US" altLang="en-US" sz="1200" dirty="0" err="1" smtClean="0"/>
              <a:t>Skadron</a:t>
            </a:r>
            <a:r>
              <a:rPr lang="en-US" altLang="en-US" sz="1200" dirty="0" smtClean="0"/>
              <a:t> et al. (1999) and use a fix-up mechanism to prevent corruption of the cached return addresses.</a:t>
            </a:r>
          </a:p>
          <a:p>
            <a:endParaRPr lang="en-AU" dirty="0"/>
          </a:p>
        </p:txBody>
      </p:sp>
    </p:spTree>
    <p:extLst>
      <p:ext uri="{BB962C8B-B14F-4D97-AF65-F5344CB8AC3E}">
        <p14:creationId xmlns:p14="http://schemas.microsoft.com/office/powerpoint/2010/main" val="32325604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D84C7007-8C09-4A02-82D4-7F6614FE9AB1}"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126</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5971091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129</a:t>
            </a:fld>
            <a:endParaRPr lang="en-US" altLang="zh-CN"/>
          </a:p>
        </p:txBody>
      </p:sp>
    </p:spTree>
    <p:extLst>
      <p:ext uri="{BB962C8B-B14F-4D97-AF65-F5344CB8AC3E}">
        <p14:creationId xmlns:p14="http://schemas.microsoft.com/office/powerpoint/2010/main" val="38663118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BAF4B8AA-21AF-4E23-8BBE-756D97D61A58}"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130</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2715362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D94A9F17-7B95-4DC2-96AA-942459FA025A}"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132</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61309084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641222EC-D04D-45B0-90AE-077ABBF20285}"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135</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3.15 The basic structure of a FP unit using </a:t>
            </a:r>
            <a:r>
              <a:rPr lang="en-US" altLang="en-US" sz="1200" b="1" dirty="0" err="1" smtClean="0"/>
              <a:t>Tomasulo's</a:t>
            </a:r>
            <a:r>
              <a:rPr lang="en-US" altLang="en-US" sz="1200" b="1" dirty="0" smtClean="0"/>
              <a:t> algorithm and extended to handle speculation. </a:t>
            </a:r>
            <a:r>
              <a:rPr lang="en-US" altLang="en-US" sz="1200" dirty="0" smtClean="0"/>
              <a:t>Comparing this to Figure 3.10 on page 198, which implemented </a:t>
            </a:r>
            <a:r>
              <a:rPr lang="en-US" altLang="en-US" sz="1200" dirty="0" err="1" smtClean="0"/>
              <a:t>Tomasulo's</a:t>
            </a:r>
            <a:r>
              <a:rPr lang="en-US" altLang="en-US" sz="1200" dirty="0" smtClean="0"/>
              <a:t> algorithm, we can see that the major change is the addition of the ROB and the elimination of the store buffer, whose function is integrated into the ROB. This mechanism can be extended to allow multiple issues per clock by making the CDB wider to allow for multiple completions per clock.</a:t>
            </a:r>
          </a:p>
          <a:p>
            <a:endParaRPr lang="en-AU" dirty="0"/>
          </a:p>
        </p:txBody>
      </p:sp>
    </p:spTree>
    <p:extLst>
      <p:ext uri="{BB962C8B-B14F-4D97-AF65-F5344CB8AC3E}">
        <p14:creationId xmlns:p14="http://schemas.microsoft.com/office/powerpoint/2010/main" val="26642768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3.18 Steps in the algorithm and what is required for each step.</a:t>
            </a:r>
            <a:r>
              <a:rPr lang="en-US" altLang="en-US" sz="1200" dirty="0" smtClean="0"/>
              <a:t> For the issuing instruction, </a:t>
            </a:r>
            <a:r>
              <a:rPr lang="en-US" altLang="en-US" sz="1200" dirty="0" err="1" smtClean="0">
                <a:latin typeface="Courier New" panose="02070309020205020404" pitchFamily="49" charset="0"/>
                <a:cs typeface="Courier New" panose="02070309020205020404" pitchFamily="49" charset="0"/>
              </a:rPr>
              <a:t>rd</a:t>
            </a:r>
            <a:r>
              <a:rPr lang="en-US" altLang="en-US" sz="1200" dirty="0" smtClean="0"/>
              <a:t> is the destination, </a:t>
            </a:r>
            <a:r>
              <a:rPr lang="en-US" altLang="en-US" sz="1200" dirty="0" err="1" smtClean="0">
                <a:latin typeface="Courier New" panose="02070309020205020404" pitchFamily="49" charset="0"/>
                <a:cs typeface="Courier New" panose="02070309020205020404" pitchFamily="49" charset="0"/>
              </a:rPr>
              <a:t>rs</a:t>
            </a:r>
            <a:r>
              <a:rPr lang="en-US" altLang="en-US" sz="1200" dirty="0" smtClean="0"/>
              <a:t> and </a:t>
            </a:r>
            <a:r>
              <a:rPr lang="en-US" altLang="en-US" sz="1200" dirty="0" err="1" smtClean="0">
                <a:latin typeface="Courier New" panose="02070309020205020404" pitchFamily="49" charset="0"/>
                <a:cs typeface="Courier New" panose="02070309020205020404" pitchFamily="49" charset="0"/>
              </a:rPr>
              <a:t>rt</a:t>
            </a:r>
            <a:r>
              <a:rPr lang="en-US" altLang="en-US" sz="1200" dirty="0" smtClean="0"/>
              <a:t> are the sources, </a:t>
            </a:r>
            <a:r>
              <a:rPr lang="en-US" altLang="en-US" sz="1200" dirty="0" smtClean="0">
                <a:latin typeface="Courier New" panose="02070309020205020404" pitchFamily="49" charset="0"/>
                <a:cs typeface="Courier New" panose="02070309020205020404" pitchFamily="49" charset="0"/>
              </a:rPr>
              <a:t>r</a:t>
            </a:r>
            <a:r>
              <a:rPr lang="en-US" altLang="en-US" sz="1200" dirty="0" smtClean="0"/>
              <a:t> is the reservation station allocated, </a:t>
            </a:r>
            <a:r>
              <a:rPr lang="en-US" altLang="en-US" sz="1200" dirty="0" smtClean="0">
                <a:latin typeface="Courier New" panose="02070309020205020404" pitchFamily="49" charset="0"/>
                <a:cs typeface="Courier New" panose="02070309020205020404" pitchFamily="49" charset="0"/>
              </a:rPr>
              <a:t>b</a:t>
            </a:r>
            <a:r>
              <a:rPr lang="en-US" altLang="en-US" sz="1200" dirty="0" smtClean="0"/>
              <a:t> is the assigned ROB entry, and </a:t>
            </a:r>
            <a:r>
              <a:rPr lang="en-US" altLang="en-US" sz="1200" dirty="0" smtClean="0">
                <a:latin typeface="Courier New" panose="02070309020205020404" pitchFamily="49" charset="0"/>
                <a:cs typeface="Courier New" panose="02070309020205020404" pitchFamily="49" charset="0"/>
              </a:rPr>
              <a:t>h</a:t>
            </a:r>
            <a:r>
              <a:rPr lang="en-US" altLang="en-US" sz="1200" dirty="0" smtClean="0"/>
              <a:t> is the head entry of the ROB. </a:t>
            </a:r>
            <a:r>
              <a:rPr lang="en-US" altLang="en-US" sz="1200" dirty="0" smtClean="0">
                <a:latin typeface="Courier New" panose="02070309020205020404" pitchFamily="49" charset="0"/>
                <a:cs typeface="Courier New" panose="02070309020205020404" pitchFamily="49" charset="0"/>
              </a:rPr>
              <a:t>RS</a:t>
            </a:r>
            <a:r>
              <a:rPr lang="en-US" altLang="en-US" sz="1200" dirty="0" smtClean="0"/>
              <a:t> is the reservation station data structure. The value returned by a reservation station is called the </a:t>
            </a:r>
            <a:r>
              <a:rPr lang="en-US" altLang="en-US" sz="1200" dirty="0" smtClean="0">
                <a:latin typeface="Courier New" panose="02070309020205020404" pitchFamily="49" charset="0"/>
                <a:cs typeface="Courier New" panose="02070309020205020404" pitchFamily="49" charset="0"/>
              </a:rPr>
              <a:t>result</a:t>
            </a:r>
            <a:r>
              <a:rPr lang="en-US" altLang="en-US" sz="1200" dirty="0" smtClean="0"/>
              <a:t>. </a:t>
            </a:r>
            <a:r>
              <a:rPr lang="en-US" altLang="en-US" sz="1200" dirty="0" smtClean="0">
                <a:latin typeface="Courier New" panose="02070309020205020404" pitchFamily="49" charset="0"/>
                <a:cs typeface="Courier New" panose="02070309020205020404" pitchFamily="49" charset="0"/>
              </a:rPr>
              <a:t>Register-Stat</a:t>
            </a:r>
            <a:r>
              <a:rPr lang="en-US" altLang="en-US" sz="1200" dirty="0" smtClean="0"/>
              <a:t> is the register data structure, </a:t>
            </a:r>
            <a:r>
              <a:rPr lang="en-US" altLang="en-US" sz="1200" dirty="0" err="1" smtClean="0">
                <a:latin typeface="Courier New" panose="02070309020205020404" pitchFamily="49" charset="0"/>
                <a:cs typeface="Courier New" panose="02070309020205020404" pitchFamily="49" charset="0"/>
              </a:rPr>
              <a:t>Regs</a:t>
            </a:r>
            <a:r>
              <a:rPr lang="en-US" altLang="en-US" sz="1200" dirty="0" smtClean="0"/>
              <a:t> represents the actual registers, and </a:t>
            </a:r>
            <a:r>
              <a:rPr lang="en-US" altLang="en-US" sz="1200" dirty="0" smtClean="0">
                <a:latin typeface="Courier New" panose="02070309020205020404" pitchFamily="49" charset="0"/>
                <a:cs typeface="Courier New" panose="02070309020205020404" pitchFamily="49" charset="0"/>
              </a:rPr>
              <a:t>ROB</a:t>
            </a:r>
            <a:r>
              <a:rPr lang="en-US" altLang="en-US" sz="1200" dirty="0" smtClean="0"/>
              <a:t> is the reorder buffer data structure.</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136</a:t>
            </a:fld>
            <a:endParaRPr lang="en-US" altLang="zh-CN"/>
          </a:p>
        </p:txBody>
      </p:sp>
    </p:spTree>
    <p:extLst>
      <p:ext uri="{BB962C8B-B14F-4D97-AF65-F5344CB8AC3E}">
        <p14:creationId xmlns:p14="http://schemas.microsoft.com/office/powerpoint/2010/main" val="19998764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641222EC-D04D-45B0-90AE-077ABBF20285}"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137</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3.16 At the time the </a:t>
            </a:r>
            <a:r>
              <a:rPr lang="en-US" altLang="en-US" sz="1200" dirty="0" err="1" smtClean="0">
                <a:latin typeface="Courier New" panose="02070309020205020404" pitchFamily="49" charset="0"/>
                <a:cs typeface="Courier New" panose="02070309020205020404" pitchFamily="49" charset="0"/>
              </a:rPr>
              <a:t>fmul.d</a:t>
            </a:r>
            <a:r>
              <a:rPr lang="en-US" altLang="en-US" sz="1200" b="1" dirty="0" smtClean="0"/>
              <a:t> is ready to commit, only the two </a:t>
            </a:r>
            <a:r>
              <a:rPr lang="en-US" altLang="en-US" sz="1200" dirty="0" err="1" smtClean="0">
                <a:latin typeface="Courier New" panose="02070309020205020404" pitchFamily="49" charset="0"/>
                <a:cs typeface="Courier New" panose="02070309020205020404" pitchFamily="49" charset="0"/>
              </a:rPr>
              <a:t>fld</a:t>
            </a:r>
            <a:r>
              <a:rPr lang="en-US" altLang="en-US" sz="1200" b="1" dirty="0" smtClean="0"/>
              <a:t> instructions have committed, although several others have completed execution</a:t>
            </a:r>
            <a:r>
              <a:rPr lang="en-US" altLang="en-US" sz="1200" dirty="0" smtClean="0"/>
              <a:t>. The</a:t>
            </a:r>
            <a:r>
              <a:rPr lang="en-US" altLang="en-US" sz="1200" dirty="0" smtClean="0">
                <a:latin typeface="Courier New" panose="02070309020205020404" pitchFamily="49" charset="0"/>
                <a:cs typeface="Courier New" panose="02070309020205020404" pitchFamily="49" charset="0"/>
              </a:rPr>
              <a:t> </a:t>
            </a:r>
            <a:r>
              <a:rPr lang="en-US" altLang="en-US" sz="1200" dirty="0" err="1" smtClean="0">
                <a:latin typeface="Courier New" panose="02070309020205020404" pitchFamily="49" charset="0"/>
                <a:cs typeface="Courier New" panose="02070309020205020404" pitchFamily="49" charset="0"/>
              </a:rPr>
              <a:t>fmul.d</a:t>
            </a:r>
            <a:r>
              <a:rPr lang="en-US" altLang="en-US" sz="1200" dirty="0" smtClean="0">
                <a:latin typeface="Courier New" panose="02070309020205020404" pitchFamily="49" charset="0"/>
                <a:cs typeface="Courier New" panose="02070309020205020404" pitchFamily="49" charset="0"/>
              </a:rPr>
              <a:t> </a:t>
            </a:r>
            <a:r>
              <a:rPr lang="en-US" altLang="en-US" sz="1200" dirty="0" smtClean="0"/>
              <a:t>is at the head of the ROB, and the two </a:t>
            </a:r>
            <a:r>
              <a:rPr lang="en-US" altLang="en-US" sz="1200" dirty="0" err="1" smtClean="0">
                <a:latin typeface="Courier New" panose="02070309020205020404" pitchFamily="49" charset="0"/>
                <a:cs typeface="Courier New" panose="02070309020205020404" pitchFamily="49" charset="0"/>
              </a:rPr>
              <a:t>fld</a:t>
            </a:r>
            <a:r>
              <a:rPr lang="en-US" altLang="en-US" sz="1200" dirty="0" smtClean="0"/>
              <a:t> instructions are there only to ease understanding. The </a:t>
            </a:r>
            <a:r>
              <a:rPr lang="en-US" altLang="en-US" sz="1200" dirty="0" err="1" smtClean="0">
                <a:latin typeface="Courier New" panose="02070309020205020404" pitchFamily="49" charset="0"/>
                <a:cs typeface="Courier New" panose="02070309020205020404" pitchFamily="49" charset="0"/>
              </a:rPr>
              <a:t>fsub.d</a:t>
            </a:r>
            <a:r>
              <a:rPr lang="en-US" altLang="en-US" sz="1200" dirty="0" smtClean="0"/>
              <a:t> and </a:t>
            </a:r>
            <a:r>
              <a:rPr lang="en-US" altLang="en-US" sz="1200" dirty="0" err="1" smtClean="0">
                <a:latin typeface="Courier New" panose="02070309020205020404" pitchFamily="49" charset="0"/>
                <a:cs typeface="Courier New" panose="02070309020205020404" pitchFamily="49" charset="0"/>
              </a:rPr>
              <a:t>fadd.d</a:t>
            </a:r>
            <a:r>
              <a:rPr lang="en-US" altLang="en-US" sz="1200" dirty="0" smtClean="0"/>
              <a:t> instructions will not commit until the </a:t>
            </a:r>
            <a:r>
              <a:rPr lang="en-US" altLang="en-US" sz="1200" dirty="0" err="1" smtClean="0">
                <a:latin typeface="Courier New" panose="02070309020205020404" pitchFamily="49" charset="0"/>
                <a:cs typeface="Courier New" panose="02070309020205020404" pitchFamily="49" charset="0"/>
              </a:rPr>
              <a:t>fmul.d</a:t>
            </a:r>
            <a:r>
              <a:rPr lang="en-US" altLang="en-US" sz="1200" dirty="0" smtClean="0"/>
              <a:t> instruction commits, although the results of the instructions are available and can be used as sources for other instructions. The </a:t>
            </a:r>
            <a:r>
              <a:rPr lang="en-US" altLang="en-US" sz="1200" dirty="0" err="1" smtClean="0">
                <a:latin typeface="Courier New" panose="02070309020205020404" pitchFamily="49" charset="0"/>
                <a:cs typeface="Courier New" panose="02070309020205020404" pitchFamily="49" charset="0"/>
              </a:rPr>
              <a:t>fdiv.d</a:t>
            </a:r>
            <a:r>
              <a:rPr lang="en-US" altLang="en-US" sz="1200" dirty="0" smtClean="0"/>
              <a:t> is in execution, but has not completed solely because of its longer latency than that of </a:t>
            </a:r>
            <a:r>
              <a:rPr lang="en-US" altLang="en-US" sz="1200" dirty="0" err="1" smtClean="0">
                <a:latin typeface="Courier New" panose="02070309020205020404" pitchFamily="49" charset="0"/>
                <a:cs typeface="Courier New" panose="02070309020205020404" pitchFamily="49" charset="0"/>
              </a:rPr>
              <a:t>fmul.d</a:t>
            </a:r>
            <a:r>
              <a:rPr lang="en-US" altLang="en-US" sz="1200" dirty="0" smtClean="0"/>
              <a:t>. The Value column indicates the value being held; the format #X is used to refer to a value field of ROB entry X. Reorder buffers 1 and 2 are actually completed but are shown for informational purposes. We do not show the entries for the load/store queue, but these entries are kept in order.</a:t>
            </a:r>
          </a:p>
          <a:p>
            <a:endParaRPr lang="en-AU" dirty="0"/>
          </a:p>
        </p:txBody>
      </p:sp>
    </p:spTree>
    <p:extLst>
      <p:ext uri="{BB962C8B-B14F-4D97-AF65-F5344CB8AC3E}">
        <p14:creationId xmlns:p14="http://schemas.microsoft.com/office/powerpoint/2010/main" val="21772103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3.17 Only the </a:t>
            </a:r>
            <a:r>
              <a:rPr lang="en-US" altLang="en-US" sz="1200" dirty="0" err="1" smtClean="0">
                <a:latin typeface="Courier New" panose="02070309020205020404" pitchFamily="49" charset="0"/>
                <a:cs typeface="Courier New" panose="02070309020205020404" pitchFamily="49" charset="0"/>
              </a:rPr>
              <a:t>fld</a:t>
            </a:r>
            <a:r>
              <a:rPr lang="en-US" altLang="en-US" sz="1200" dirty="0" smtClean="0">
                <a:latin typeface="Courier New" panose="02070309020205020404" pitchFamily="49" charset="0"/>
                <a:cs typeface="Courier New" panose="02070309020205020404" pitchFamily="49" charset="0"/>
              </a:rPr>
              <a:t> </a:t>
            </a:r>
            <a:r>
              <a:rPr lang="en-US" altLang="en-US" sz="1200" b="1" dirty="0" smtClean="0"/>
              <a:t>and </a:t>
            </a:r>
            <a:r>
              <a:rPr lang="en-US" altLang="en-US" sz="1200" dirty="0" err="1" smtClean="0">
                <a:latin typeface="Courier New" panose="02070309020205020404" pitchFamily="49" charset="0"/>
                <a:cs typeface="Courier New" panose="02070309020205020404" pitchFamily="49" charset="0"/>
              </a:rPr>
              <a:t>fmul.d</a:t>
            </a:r>
            <a:r>
              <a:rPr lang="en-US" altLang="en-US" sz="1200" b="1" dirty="0" smtClean="0"/>
              <a:t>  instructions have committed, although all the others have completed execution. </a:t>
            </a:r>
            <a:r>
              <a:rPr lang="en-US" altLang="en-US" sz="1200" dirty="0" smtClean="0"/>
              <a:t>Thus no reservation stations are busy and none are shown. The remaining instructions will be committed as quickly as possible. The first two reorder buffers are empty, but are shown for completeness.</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139</a:t>
            </a:fld>
            <a:endParaRPr lang="en-US" altLang="zh-CN"/>
          </a:p>
        </p:txBody>
      </p:sp>
    </p:spTree>
    <p:extLst>
      <p:ext uri="{BB962C8B-B14F-4D97-AF65-F5344CB8AC3E}">
        <p14:creationId xmlns:p14="http://schemas.microsoft.com/office/powerpoint/2010/main" val="173736937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20A64B26-B8D1-4E5F-A1D8-E03DA17A54F7}"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142</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35354886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DEAA1182-798B-410C-AEDC-C6EC2DF91447}"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143</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3.19 The five primary approaches in use for multiple-issue processors and the primary characteristics that distinguish them. </a:t>
            </a:r>
            <a:r>
              <a:rPr lang="en-US" altLang="en-US" sz="1200" dirty="0" smtClean="0"/>
              <a:t>This chapter has focused on the hardware-intensive techniques, which are all some form of superscalar. Appendix H focuses on compiler-based approaches. The EPIC approach, as embodied in the IA-64 architecture, extends many of the concepts of the early VLIW approaches, providing a blend of static and dynamic approaches.</a:t>
            </a:r>
          </a:p>
          <a:p>
            <a:endParaRPr lang="en-AU" dirty="0"/>
          </a:p>
        </p:txBody>
      </p:sp>
    </p:spTree>
    <p:extLst>
      <p:ext uri="{BB962C8B-B14F-4D97-AF65-F5344CB8AC3E}">
        <p14:creationId xmlns:p14="http://schemas.microsoft.com/office/powerpoint/2010/main" val="194778627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C05E2311-EAE5-4274-AA26-8D394C3DD8B7}"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144</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49959426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145</a:t>
            </a:fld>
            <a:endParaRPr lang="en-US" altLang="zh-CN"/>
          </a:p>
        </p:txBody>
      </p:sp>
    </p:spTree>
    <p:extLst>
      <p:ext uri="{BB962C8B-B14F-4D97-AF65-F5344CB8AC3E}">
        <p14:creationId xmlns:p14="http://schemas.microsoft.com/office/powerpoint/2010/main" val="198932841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148</a:t>
            </a:fld>
            <a:endParaRPr lang="en-US" altLang="zh-CN"/>
          </a:p>
        </p:txBody>
      </p:sp>
    </p:spTree>
    <p:extLst>
      <p:ext uri="{BB962C8B-B14F-4D97-AF65-F5344CB8AC3E}">
        <p14:creationId xmlns:p14="http://schemas.microsoft.com/office/powerpoint/2010/main" val="274304051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132F88F4-075D-4979-9FFE-E0BEBA3BC2CA}"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150</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3.21 The basic organization of a multiple issue processor with speculation.</a:t>
            </a:r>
            <a:r>
              <a:rPr lang="en-US" altLang="en-US" sz="1200" dirty="0" smtClean="0"/>
              <a:t> In this case, the organization could allow a FP multiply, FP add, integer, and load/store to all issues simultaneously (assuming one issue per clock per functional unit). Note that several </a:t>
            </a:r>
            <a:r>
              <a:rPr lang="en-US" altLang="en-US" sz="1200" dirty="0" err="1" smtClean="0"/>
              <a:t>datapaths</a:t>
            </a:r>
            <a:r>
              <a:rPr lang="en-US" altLang="en-US" sz="1200" dirty="0" smtClean="0"/>
              <a:t> must be widened to support multiple issues: the CDB, the operand buses, and, critically, the instruction issue logic, which is not shown in this figure. The last is a difficult problem, as we discuss in the text.</a:t>
            </a:r>
          </a:p>
          <a:p>
            <a:endParaRPr lang="en-AU" dirty="0"/>
          </a:p>
        </p:txBody>
      </p:sp>
    </p:spTree>
    <p:extLst>
      <p:ext uri="{BB962C8B-B14F-4D97-AF65-F5344CB8AC3E}">
        <p14:creationId xmlns:p14="http://schemas.microsoft.com/office/powerpoint/2010/main" val="267104783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3.22 The issue steps for a pair of dependent instructions (called 1 and 2), where instruction 1 is FP load and instruction 2 is an FP operation whose first operand is the result of the load instruction; </a:t>
            </a:r>
            <a:r>
              <a:rPr lang="en-US" altLang="en-US" sz="1200" dirty="0" smtClean="0">
                <a:latin typeface="Courier New" panose="02070309020205020404" pitchFamily="49" charset="0"/>
                <a:cs typeface="Courier New" panose="02070309020205020404" pitchFamily="49" charset="0"/>
              </a:rPr>
              <a:t>x1</a:t>
            </a:r>
            <a:r>
              <a:rPr lang="en-US" altLang="en-US" sz="1200" b="1" dirty="0" smtClean="0"/>
              <a:t> and </a:t>
            </a:r>
            <a:r>
              <a:rPr lang="en-US" altLang="en-US" sz="1200" dirty="0" smtClean="0">
                <a:latin typeface="Courier New" panose="02070309020205020404" pitchFamily="49" charset="0"/>
                <a:cs typeface="Courier New" panose="02070309020205020404" pitchFamily="49" charset="0"/>
              </a:rPr>
              <a:t>x2</a:t>
            </a:r>
            <a:r>
              <a:rPr lang="en-US" altLang="en-US" sz="1200" b="1" dirty="0" smtClean="0"/>
              <a:t> are the assigned reservation stations for the instructions; and </a:t>
            </a:r>
            <a:r>
              <a:rPr lang="en-US" altLang="en-US" sz="1200" dirty="0" smtClean="0">
                <a:latin typeface="Courier New" panose="02070309020205020404" pitchFamily="49" charset="0"/>
                <a:cs typeface="Courier New" panose="02070309020205020404" pitchFamily="49" charset="0"/>
              </a:rPr>
              <a:t>b1</a:t>
            </a:r>
            <a:r>
              <a:rPr lang="en-US" altLang="en-US" sz="1200" b="1" dirty="0" smtClean="0"/>
              <a:t> and </a:t>
            </a:r>
            <a:r>
              <a:rPr lang="en-US" altLang="en-US" sz="1200" dirty="0" smtClean="0">
                <a:latin typeface="Courier New" panose="02070309020205020404" pitchFamily="49" charset="0"/>
                <a:cs typeface="Courier New" panose="02070309020205020404" pitchFamily="49" charset="0"/>
              </a:rPr>
              <a:t>b2</a:t>
            </a:r>
            <a:r>
              <a:rPr lang="en-US" altLang="en-US" sz="1200" b="1" dirty="0" smtClean="0"/>
              <a:t> are the assigned reorder buffer entries</a:t>
            </a:r>
            <a:r>
              <a:rPr lang="en-US" altLang="en-US" sz="1200" dirty="0" smtClean="0"/>
              <a:t>. For the issuing instructions, </a:t>
            </a:r>
            <a:r>
              <a:rPr lang="en-US" altLang="en-US" sz="1200" dirty="0" smtClean="0">
                <a:latin typeface="Courier New" panose="02070309020205020404" pitchFamily="49" charset="0"/>
                <a:cs typeface="Courier New" panose="02070309020205020404" pitchFamily="49" charset="0"/>
              </a:rPr>
              <a:t>rd1</a:t>
            </a:r>
            <a:r>
              <a:rPr lang="en-US" altLang="en-US" sz="1200" dirty="0" smtClean="0"/>
              <a:t> and </a:t>
            </a:r>
            <a:r>
              <a:rPr lang="en-US" altLang="en-US" sz="1200" dirty="0" smtClean="0">
                <a:latin typeface="Courier New" panose="02070309020205020404" pitchFamily="49" charset="0"/>
                <a:cs typeface="Courier New" panose="02070309020205020404" pitchFamily="49" charset="0"/>
              </a:rPr>
              <a:t>rd2</a:t>
            </a:r>
            <a:r>
              <a:rPr lang="en-US" altLang="en-US" sz="1200" dirty="0" smtClean="0"/>
              <a:t> are the destinations; </a:t>
            </a:r>
            <a:r>
              <a:rPr lang="en-US" altLang="en-US" sz="1200" dirty="0" smtClean="0">
                <a:latin typeface="Courier New" panose="02070309020205020404" pitchFamily="49" charset="0"/>
                <a:cs typeface="Courier New" panose="02070309020205020404" pitchFamily="49" charset="0"/>
              </a:rPr>
              <a:t>rs1</a:t>
            </a:r>
            <a:r>
              <a:rPr lang="en-US" altLang="en-US" sz="1200" dirty="0" smtClean="0"/>
              <a:t>, </a:t>
            </a:r>
            <a:r>
              <a:rPr lang="en-US" altLang="en-US" sz="1200" dirty="0" smtClean="0">
                <a:latin typeface="Courier New" panose="02070309020205020404" pitchFamily="49" charset="0"/>
                <a:cs typeface="Courier New" panose="02070309020205020404" pitchFamily="49" charset="0"/>
              </a:rPr>
              <a:t>rs2</a:t>
            </a:r>
            <a:r>
              <a:rPr lang="en-US" altLang="en-US" sz="1200" dirty="0" smtClean="0"/>
              <a:t>, and </a:t>
            </a:r>
            <a:r>
              <a:rPr lang="en-US" altLang="en-US" sz="1200" dirty="0" smtClean="0">
                <a:latin typeface="Courier New" panose="02070309020205020404" pitchFamily="49" charset="0"/>
                <a:cs typeface="Courier New" panose="02070309020205020404" pitchFamily="49" charset="0"/>
              </a:rPr>
              <a:t>rt2</a:t>
            </a:r>
            <a:r>
              <a:rPr lang="en-US" altLang="en-US" sz="1200" dirty="0" smtClean="0"/>
              <a:t> are the sources (the load has only one source); </a:t>
            </a:r>
            <a:r>
              <a:rPr lang="en-US" altLang="en-US" sz="1200" dirty="0" smtClean="0">
                <a:latin typeface="Courier New" panose="02070309020205020404" pitchFamily="49" charset="0"/>
                <a:cs typeface="Courier New" panose="02070309020205020404" pitchFamily="49" charset="0"/>
              </a:rPr>
              <a:t>x1</a:t>
            </a:r>
            <a:r>
              <a:rPr lang="en-US" altLang="en-US" sz="1200" dirty="0" smtClean="0"/>
              <a:t> and </a:t>
            </a:r>
            <a:r>
              <a:rPr lang="en-US" altLang="en-US" sz="1200" dirty="0" smtClean="0">
                <a:latin typeface="Courier New" panose="02070309020205020404" pitchFamily="49" charset="0"/>
                <a:cs typeface="Courier New" panose="02070309020205020404" pitchFamily="49" charset="0"/>
              </a:rPr>
              <a:t>x2</a:t>
            </a:r>
            <a:r>
              <a:rPr lang="en-US" altLang="en-US" sz="1200" dirty="0" smtClean="0"/>
              <a:t> are the reservation stations allocated; and </a:t>
            </a:r>
            <a:r>
              <a:rPr lang="en-US" altLang="en-US" sz="1200" dirty="0" smtClean="0">
                <a:latin typeface="Courier New" panose="02070309020205020404" pitchFamily="49" charset="0"/>
                <a:cs typeface="Courier New" panose="02070309020205020404" pitchFamily="49" charset="0"/>
              </a:rPr>
              <a:t>b1</a:t>
            </a:r>
            <a:r>
              <a:rPr lang="en-US" altLang="en-US" sz="1200" dirty="0" smtClean="0"/>
              <a:t> and </a:t>
            </a:r>
            <a:r>
              <a:rPr lang="en-US" altLang="en-US" sz="1200" dirty="0" smtClean="0">
                <a:latin typeface="Courier New" panose="02070309020205020404" pitchFamily="49" charset="0"/>
                <a:cs typeface="Courier New" panose="02070309020205020404" pitchFamily="49" charset="0"/>
              </a:rPr>
              <a:t>b2</a:t>
            </a:r>
            <a:r>
              <a:rPr lang="en-US" altLang="en-US" sz="1200" dirty="0" smtClean="0"/>
              <a:t> are the assigned ROB entries. </a:t>
            </a:r>
            <a:r>
              <a:rPr lang="en-US" altLang="en-US" sz="1200" dirty="0" smtClean="0">
                <a:latin typeface="Courier New" panose="02070309020205020404" pitchFamily="49" charset="0"/>
                <a:cs typeface="Courier New" panose="02070309020205020404" pitchFamily="49" charset="0"/>
              </a:rPr>
              <a:t>RS</a:t>
            </a:r>
            <a:r>
              <a:rPr lang="en-US" altLang="en-US" sz="1200" dirty="0" smtClean="0"/>
              <a:t> is the reservation station data structure. </a:t>
            </a:r>
            <a:r>
              <a:rPr lang="en-US" altLang="en-US" sz="1200" dirty="0" err="1" smtClean="0">
                <a:latin typeface="Courier New" panose="02070309020205020404" pitchFamily="49" charset="0"/>
                <a:cs typeface="Courier New" panose="02070309020205020404" pitchFamily="49" charset="0"/>
              </a:rPr>
              <a:t>RegisterStat</a:t>
            </a:r>
            <a:r>
              <a:rPr lang="en-US" altLang="en-US" sz="1200" dirty="0" smtClean="0"/>
              <a:t> is the register data structure, </a:t>
            </a:r>
            <a:r>
              <a:rPr lang="en-US" altLang="en-US" sz="1200" dirty="0" err="1" smtClean="0">
                <a:latin typeface="Courier New" panose="02070309020205020404" pitchFamily="49" charset="0"/>
                <a:cs typeface="Courier New" panose="02070309020205020404" pitchFamily="49" charset="0"/>
              </a:rPr>
              <a:t>Regs</a:t>
            </a:r>
            <a:r>
              <a:rPr lang="en-US" altLang="en-US" sz="1200" dirty="0" smtClean="0"/>
              <a:t> represents the actual registers, and </a:t>
            </a:r>
            <a:r>
              <a:rPr lang="en-US" altLang="en-US" sz="1200" dirty="0" smtClean="0">
                <a:latin typeface="Courier New" panose="02070309020205020404" pitchFamily="49" charset="0"/>
                <a:cs typeface="Courier New" panose="02070309020205020404" pitchFamily="49" charset="0"/>
              </a:rPr>
              <a:t>ROB</a:t>
            </a:r>
            <a:r>
              <a:rPr lang="en-US" altLang="en-US" sz="1200" dirty="0" smtClean="0"/>
              <a:t> is the reorder buffer data structure. Notice that we need to have assigned reorder buffer entries for this logic to operate properly, and recall that all these updates happen in a single clock cycle in parallel, not sequentially.</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151</a:t>
            </a:fld>
            <a:endParaRPr lang="en-US" altLang="zh-CN"/>
          </a:p>
        </p:txBody>
      </p:sp>
    </p:spTree>
    <p:extLst>
      <p:ext uri="{BB962C8B-B14F-4D97-AF65-F5344CB8AC3E}">
        <p14:creationId xmlns:p14="http://schemas.microsoft.com/office/powerpoint/2010/main" val="22077777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BF0210D8-CC19-4376-8350-8DF8135EB1F6}"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152</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43508916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8E2A8E56-9873-42FC-97BC-31760A1B6717}"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153</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39466937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BE5ABD1-5B24-41FC-A57C-7B7954FD5C18}"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154</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3.23 The time of issue, execution, and writing result for a dual-issue version of our pipeline </a:t>
            </a:r>
            <a:r>
              <a:rPr lang="en-US" altLang="en-US" sz="1200" b="1" i="1" dirty="0" smtClean="0"/>
              <a:t>without</a:t>
            </a:r>
            <a:r>
              <a:rPr lang="en-US" altLang="en-US" sz="1200" b="1" dirty="0" smtClean="0"/>
              <a:t> speculation</a:t>
            </a:r>
            <a:r>
              <a:rPr lang="en-US" altLang="en-US" sz="1200" dirty="0" smtClean="0"/>
              <a:t>. Note that the </a:t>
            </a:r>
            <a:r>
              <a:rPr lang="en-US" altLang="en-US" sz="1200" dirty="0" err="1" smtClean="0">
                <a:latin typeface="Courier New" panose="02070309020205020404" pitchFamily="49" charset="0"/>
                <a:cs typeface="Courier New" panose="02070309020205020404" pitchFamily="49" charset="0"/>
              </a:rPr>
              <a:t>ld</a:t>
            </a:r>
            <a:r>
              <a:rPr lang="en-US" altLang="en-US" sz="1200" dirty="0" smtClean="0"/>
              <a:t> following the </a:t>
            </a:r>
            <a:r>
              <a:rPr lang="en-US" altLang="en-US" sz="1200" dirty="0" err="1" smtClean="0">
                <a:latin typeface="Courier New" panose="02070309020205020404" pitchFamily="49" charset="0"/>
                <a:cs typeface="Courier New" panose="02070309020205020404" pitchFamily="49" charset="0"/>
              </a:rPr>
              <a:t>bne</a:t>
            </a:r>
            <a:r>
              <a:rPr lang="en-US" altLang="en-US" sz="1200" dirty="0" smtClean="0">
                <a:latin typeface="Courier New" panose="02070309020205020404" pitchFamily="49" charset="0"/>
                <a:cs typeface="Courier New" panose="02070309020205020404" pitchFamily="49" charset="0"/>
              </a:rPr>
              <a:t> </a:t>
            </a:r>
            <a:r>
              <a:rPr lang="en-US" altLang="en-US" sz="1200" dirty="0" smtClean="0"/>
              <a:t>cannot start execution earlier because it must wait until the branch outcome is determined. This type of program, with data-dependent branches that cannot be resolved earlier, shows the strength of speculation. Separate functional units for address calculation, ALU operations, and branch-condition evaluation allow multiple instructions to execute in the same cycle. Figure 3.24 shows this example with speculation.</a:t>
            </a:r>
          </a:p>
          <a:p>
            <a:endParaRPr lang="en-AU" dirty="0"/>
          </a:p>
        </p:txBody>
      </p:sp>
    </p:spTree>
    <p:extLst>
      <p:ext uri="{BB962C8B-B14F-4D97-AF65-F5344CB8AC3E}">
        <p14:creationId xmlns:p14="http://schemas.microsoft.com/office/powerpoint/2010/main" val="129838120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3.24 The time of issue, execution, and writing result for a dual-issue version of our pipeline </a:t>
            </a:r>
            <a:r>
              <a:rPr lang="en-US" altLang="en-US" sz="1200" b="1" i="1" dirty="0" smtClean="0"/>
              <a:t>with</a:t>
            </a:r>
            <a:r>
              <a:rPr lang="en-US" altLang="en-US" sz="1200" b="1" dirty="0" smtClean="0"/>
              <a:t> speculation. </a:t>
            </a:r>
            <a:r>
              <a:rPr lang="en-US" altLang="en-US" sz="1200" dirty="0" smtClean="0"/>
              <a:t>Note that the </a:t>
            </a:r>
            <a:r>
              <a:rPr lang="en-US" altLang="en-US" sz="1200" dirty="0" err="1" smtClean="0">
                <a:latin typeface="Courier New" panose="02070309020205020404" pitchFamily="49" charset="0"/>
                <a:cs typeface="Courier New" panose="02070309020205020404" pitchFamily="49" charset="0"/>
              </a:rPr>
              <a:t>ld</a:t>
            </a:r>
            <a:r>
              <a:rPr lang="en-US" altLang="en-US" sz="1200" dirty="0" smtClean="0"/>
              <a:t> following the </a:t>
            </a:r>
            <a:r>
              <a:rPr lang="en-US" altLang="en-US" sz="1200" dirty="0" err="1" smtClean="0">
                <a:latin typeface="Courier New" panose="02070309020205020404" pitchFamily="49" charset="0"/>
                <a:cs typeface="Courier New" panose="02070309020205020404" pitchFamily="49" charset="0"/>
              </a:rPr>
              <a:t>bne</a:t>
            </a:r>
            <a:r>
              <a:rPr lang="en-US" altLang="en-US" sz="1200" dirty="0" smtClean="0"/>
              <a:t> can start execution early because it is speculative.</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155</a:t>
            </a:fld>
            <a:endParaRPr lang="en-US" altLang="zh-CN"/>
          </a:p>
        </p:txBody>
      </p:sp>
    </p:spTree>
    <p:extLst>
      <p:ext uri="{BB962C8B-B14F-4D97-AF65-F5344CB8AC3E}">
        <p14:creationId xmlns:p14="http://schemas.microsoft.com/office/powerpoint/2010/main" val="310235557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EE6548E9-553F-42A0-AA4A-BF365151ECA0}"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156</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34589395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C7E9D6C-8643-4F86-A675-420552D3BE06}"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158</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3.29 An example of six instructions to be issued in the same clock cycle and what has to happen. </a:t>
            </a:r>
            <a:r>
              <a:rPr lang="en-US" altLang="en-US" sz="1200" dirty="0" smtClean="0"/>
              <a:t>The instructions are shown in program order: 1–6; they are, however, issued in 1 clock cycle! The notation </a:t>
            </a:r>
            <a:r>
              <a:rPr lang="en-US" altLang="en-US" sz="1200" dirty="0" smtClean="0">
                <a:latin typeface="Courier New" panose="02070309020205020404" pitchFamily="49" charset="0"/>
                <a:cs typeface="Courier New" panose="02070309020205020404" pitchFamily="49" charset="0"/>
              </a:rPr>
              <a:t>pi</a:t>
            </a:r>
            <a:r>
              <a:rPr lang="en-US" altLang="en-US" sz="1200" dirty="0" smtClean="0"/>
              <a:t> is used to refer to a physical register; the contents of that register at any point is determined by the renaming map. For simplicity, we assume that the physical registers holding the architectural registers </a:t>
            </a:r>
            <a:r>
              <a:rPr lang="en-US" altLang="en-US" sz="1200" dirty="0" smtClean="0">
                <a:latin typeface="Courier New" panose="02070309020205020404" pitchFamily="49" charset="0"/>
                <a:cs typeface="Courier New" panose="02070309020205020404" pitchFamily="49" charset="0"/>
              </a:rPr>
              <a:t>x1, x2, </a:t>
            </a:r>
            <a:r>
              <a:rPr lang="en-US" altLang="en-US" sz="1200" dirty="0" smtClean="0"/>
              <a:t>and </a:t>
            </a:r>
            <a:r>
              <a:rPr lang="en-US" altLang="en-US" sz="1200" dirty="0" smtClean="0">
                <a:latin typeface="Courier New" panose="02070309020205020404" pitchFamily="49" charset="0"/>
                <a:cs typeface="Courier New" panose="02070309020205020404" pitchFamily="49" charset="0"/>
              </a:rPr>
              <a:t>x3</a:t>
            </a:r>
            <a:r>
              <a:rPr lang="en-US" altLang="en-US" sz="1200" dirty="0" smtClean="0"/>
              <a:t> are initially </a:t>
            </a:r>
            <a:r>
              <a:rPr lang="en-US" altLang="en-US" sz="1200" dirty="0" smtClean="0">
                <a:latin typeface="Courier New" panose="02070309020205020404" pitchFamily="49" charset="0"/>
                <a:cs typeface="Courier New" panose="02070309020205020404" pitchFamily="49" charset="0"/>
              </a:rPr>
              <a:t>p1, p2,</a:t>
            </a:r>
            <a:r>
              <a:rPr lang="en-US" altLang="en-US" sz="1200" dirty="0" smtClean="0"/>
              <a:t> and </a:t>
            </a:r>
            <a:r>
              <a:rPr lang="en-US" altLang="en-US" sz="1200" dirty="0" smtClean="0">
                <a:latin typeface="Courier New" panose="02070309020205020404" pitchFamily="49" charset="0"/>
                <a:cs typeface="Courier New" panose="02070309020205020404" pitchFamily="49" charset="0"/>
              </a:rPr>
              <a:t>p3</a:t>
            </a:r>
            <a:r>
              <a:rPr lang="en-US" altLang="en-US" sz="1200" dirty="0" smtClean="0"/>
              <a:t> (they could be any physical register). The instructions are issued with physical register numbers, as shown in column four. The rename map, which appears in the last column, shows how the map would change if the instructions were issued sequentially. The difficulty is that all this renaming and replacement of architectural registers by physical renaming registers happens effectively in 1 cycle, not sequentially. The issue logic must find all the dependences and “rewrite” the instruction in parallel.</a:t>
            </a:r>
          </a:p>
          <a:p>
            <a:endParaRPr lang="en-AU" dirty="0"/>
          </a:p>
        </p:txBody>
      </p:sp>
    </p:spTree>
    <p:extLst>
      <p:ext uri="{BB962C8B-B14F-4D97-AF65-F5344CB8AC3E}">
        <p14:creationId xmlns:p14="http://schemas.microsoft.com/office/powerpoint/2010/main" val="267434731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159</a:t>
            </a:fld>
            <a:endParaRPr lang="en-US" altLang="zh-CN"/>
          </a:p>
        </p:txBody>
      </p:sp>
    </p:spTree>
    <p:extLst>
      <p:ext uri="{BB962C8B-B14F-4D97-AF65-F5344CB8AC3E}">
        <p14:creationId xmlns:p14="http://schemas.microsoft.com/office/powerpoint/2010/main" val="109096092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A42872E2-2CD9-42C6-9435-35130CB45F74}"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161</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164878679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A42872E2-2CD9-42C6-9435-35130CB45F74}"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162</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3.30 The fraction of instructions that are executed as a result of </a:t>
            </a:r>
            <a:r>
              <a:rPr lang="en-US" altLang="en-US" sz="1200" b="1" dirty="0" err="1" smtClean="0"/>
              <a:t>misspeculation</a:t>
            </a:r>
            <a:r>
              <a:rPr lang="en-US" altLang="en-US" sz="1200" b="1" dirty="0" smtClean="0"/>
              <a:t> is typically much higher for integer programs (the first five) versus FP programs (the last five).</a:t>
            </a:r>
          </a:p>
          <a:p>
            <a:endParaRPr lang="en-AU" dirty="0"/>
          </a:p>
        </p:txBody>
      </p:sp>
    </p:spTree>
    <p:extLst>
      <p:ext uri="{BB962C8B-B14F-4D97-AF65-F5344CB8AC3E}">
        <p14:creationId xmlns:p14="http://schemas.microsoft.com/office/powerpoint/2010/main" val="187639766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173D075B-375E-4038-BA5C-07444771D0D0}"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163</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89729943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173</a:t>
            </a:fld>
            <a:endParaRPr lang="en-US" altLang="zh-CN"/>
          </a:p>
        </p:txBody>
      </p:sp>
    </p:spTree>
    <p:extLst>
      <p:ext uri="{BB962C8B-B14F-4D97-AF65-F5344CB8AC3E}">
        <p14:creationId xmlns:p14="http://schemas.microsoft.com/office/powerpoint/2010/main" val="253555106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8D84A38A-67C0-4D61-9502-E7C5DD04F87A}" type="datetime3">
              <a:rPr lang="en-US" smtClean="0"/>
              <a:t>23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174</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189903851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055"/>
          <p:cNvSpPr>
            <a:spLocks noGrp="1" noChangeArrowheads="1"/>
          </p:cNvSpPr>
          <p:nvPr>
            <p:ph type="sldNum" sz="quarter" idx="5"/>
          </p:nvPr>
        </p:nvSpPr>
        <p:spPr>
          <a:ln/>
        </p:spPr>
        <p:txBody>
          <a:bodyPr/>
          <a:lstStyle/>
          <a:p>
            <a:fld id="{94573358-C33C-4169-BCF1-E441135EFD22}" type="slidenum">
              <a:rPr lang="zh-CN" altLang="en-US"/>
              <a:pPr/>
              <a:t>190</a:t>
            </a:fld>
            <a:endParaRPr lang="zh-CN" altLang="en-US"/>
          </a:p>
        </p:txBody>
      </p:sp>
    </p:spTree>
    <p:extLst>
      <p:ext uri="{BB962C8B-B14F-4D97-AF65-F5344CB8AC3E}">
        <p14:creationId xmlns:p14="http://schemas.microsoft.com/office/powerpoint/2010/main" val="104942578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055"/>
          <p:cNvSpPr>
            <a:spLocks noGrp="1" noChangeArrowheads="1"/>
          </p:cNvSpPr>
          <p:nvPr>
            <p:ph type="sldNum" sz="quarter" idx="5"/>
          </p:nvPr>
        </p:nvSpPr>
        <p:spPr>
          <a:ln/>
        </p:spPr>
        <p:txBody>
          <a:bodyPr/>
          <a:lstStyle/>
          <a:p>
            <a:fld id="{5EA059B9-9557-432B-8BED-6CE164E11439}" type="slidenum">
              <a:rPr lang="zh-CN" altLang="en-US"/>
              <a:pPr/>
              <a:t>191</a:t>
            </a:fld>
            <a:endParaRPr lang="zh-CN" altLang="en-US"/>
          </a:p>
        </p:txBody>
      </p:sp>
    </p:spTree>
    <p:extLst>
      <p:ext uri="{BB962C8B-B14F-4D97-AF65-F5344CB8AC3E}">
        <p14:creationId xmlns:p14="http://schemas.microsoft.com/office/powerpoint/2010/main" val="310041214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055"/>
          <p:cNvSpPr>
            <a:spLocks noGrp="1" noChangeArrowheads="1"/>
          </p:cNvSpPr>
          <p:nvPr>
            <p:ph type="sldNum" sz="quarter" idx="5"/>
          </p:nvPr>
        </p:nvSpPr>
        <p:spPr>
          <a:ln/>
        </p:spPr>
        <p:txBody>
          <a:bodyPr/>
          <a:lstStyle/>
          <a:p>
            <a:fld id="{3D57B0EF-BBBA-4DCE-8F9C-7D41C59D179E}" type="slidenum">
              <a:rPr lang="zh-CN" altLang="en-US"/>
              <a:pPr/>
              <a:t>192</a:t>
            </a:fld>
            <a:endParaRPr lang="zh-CN" altLang="en-US"/>
          </a:p>
        </p:txBody>
      </p:sp>
    </p:spTree>
    <p:extLst>
      <p:ext uri="{BB962C8B-B14F-4D97-AF65-F5344CB8AC3E}">
        <p14:creationId xmlns:p14="http://schemas.microsoft.com/office/powerpoint/2010/main" val="414529907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055"/>
          <p:cNvSpPr>
            <a:spLocks noGrp="1" noChangeArrowheads="1"/>
          </p:cNvSpPr>
          <p:nvPr>
            <p:ph type="sldNum" sz="quarter" idx="5"/>
          </p:nvPr>
        </p:nvSpPr>
        <p:spPr>
          <a:ln/>
        </p:spPr>
        <p:txBody>
          <a:bodyPr/>
          <a:lstStyle/>
          <a:p>
            <a:fld id="{B1C1318A-B9A9-42EF-82A7-949D111821A9}" type="slidenum">
              <a:rPr lang="zh-CN" altLang="en-US"/>
              <a:pPr/>
              <a:t>193</a:t>
            </a:fld>
            <a:endParaRPr lang="zh-CN" altLang="en-US"/>
          </a:p>
        </p:txBody>
      </p:sp>
    </p:spTree>
    <p:extLst>
      <p:ext uri="{BB962C8B-B14F-4D97-AF65-F5344CB8AC3E}">
        <p14:creationId xmlns:p14="http://schemas.microsoft.com/office/powerpoint/2010/main" val="385740888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3.34 The basic structure of the A53 integer pipeline is 8 stages: F1 and F2 fetch the instruction, D1 and D2 do the basic decoding, and D3 decodes some more complex instructions and is overlapped with the first stage of the execution pipeline (ISS). </a:t>
            </a:r>
            <a:r>
              <a:rPr lang="en-US" altLang="en-US" sz="1200" dirty="0" smtClean="0"/>
              <a:t>After ISS, the Ex1, EX2, and WB stages complete the integer pipeline. Branches use four different predictors, depending on the type. The floating-point execution pipeline is 5 cycles deep, in addition to the 5 cycles needed for fetch and decode, yielding 10 stages in total.</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198</a:t>
            </a:fld>
            <a:endParaRPr lang="en-US" altLang="zh-CN"/>
          </a:p>
        </p:txBody>
      </p:sp>
    </p:spTree>
    <p:extLst>
      <p:ext uri="{BB962C8B-B14F-4D97-AF65-F5344CB8AC3E}">
        <p14:creationId xmlns:p14="http://schemas.microsoft.com/office/powerpoint/2010/main" val="309234960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3.35 </a:t>
            </a:r>
            <a:r>
              <a:rPr lang="en-US" altLang="en-US" sz="1200" b="1" dirty="0" err="1" smtClean="0"/>
              <a:t>Misprediction</a:t>
            </a:r>
            <a:r>
              <a:rPr lang="en-US" altLang="en-US" sz="1200" b="1" dirty="0" smtClean="0"/>
              <a:t> rate of the A53 branch predictor for SPECint2006.</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199</a:t>
            </a:fld>
            <a:endParaRPr lang="en-US" altLang="zh-CN"/>
          </a:p>
        </p:txBody>
      </p:sp>
    </p:spTree>
    <p:extLst>
      <p:ext uri="{BB962C8B-B14F-4D97-AF65-F5344CB8AC3E}">
        <p14:creationId xmlns:p14="http://schemas.microsoft.com/office/powerpoint/2010/main" val="153223908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3.36 Wasted work due to branch </a:t>
            </a:r>
            <a:r>
              <a:rPr lang="en-US" altLang="en-US" sz="1200" b="1" dirty="0" err="1" smtClean="0"/>
              <a:t>misprediction</a:t>
            </a:r>
            <a:r>
              <a:rPr lang="en-US" altLang="en-US" sz="1200" b="1" dirty="0" smtClean="0"/>
              <a:t> on the A53. </a:t>
            </a:r>
            <a:r>
              <a:rPr lang="en-US" altLang="en-US" sz="1200" dirty="0" smtClean="0"/>
              <a:t>Because the A53 is an in-order machine, the amount of wasted work depends on a variety of factors, including data dependences and cache misses, both of which will cause a stall.</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200</a:t>
            </a:fld>
            <a:endParaRPr lang="en-US" altLang="zh-CN"/>
          </a:p>
        </p:txBody>
      </p:sp>
    </p:spTree>
    <p:extLst>
      <p:ext uri="{BB962C8B-B14F-4D97-AF65-F5344CB8AC3E}">
        <p14:creationId xmlns:p14="http://schemas.microsoft.com/office/powerpoint/2010/main" val="134138781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3.37 The estimated composition of the CPI on the ARM A53 shows that pipeline stalls are significant but are outweighed by cache misses in the poorest performing programs. </a:t>
            </a:r>
            <a:r>
              <a:rPr lang="en-US" altLang="en-US" sz="1200" dirty="0" smtClean="0"/>
              <a:t>This estimate is obtained by using the L1 and L2 miss rates and penalties to compute the L1 and L2 generated stalls per instruction. These are subtracted from the CPI measured by a detailed simulator to obtain the pipeline stalls. Pipeline stalls include all three hazards.</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201</a:t>
            </a:fld>
            <a:endParaRPr lang="en-US" altLang="zh-CN"/>
          </a:p>
        </p:txBody>
      </p:sp>
    </p:spTree>
    <p:extLst>
      <p:ext uri="{BB962C8B-B14F-4D97-AF65-F5344CB8AC3E}">
        <p14:creationId xmlns:p14="http://schemas.microsoft.com/office/powerpoint/2010/main" val="21349568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3.38 The Intel Core i7 pipeline structure shown with the memory system components. </a:t>
            </a:r>
            <a:r>
              <a:rPr lang="en-US" altLang="en-US" sz="1200" dirty="0" smtClean="0"/>
              <a:t>The total pipeline depth is 14 stages, with branch </a:t>
            </a:r>
            <a:r>
              <a:rPr lang="en-US" altLang="en-US" sz="1200" dirty="0" err="1" smtClean="0"/>
              <a:t>mispredictions</a:t>
            </a:r>
            <a:r>
              <a:rPr lang="en-US" altLang="en-US" sz="1200" dirty="0" smtClean="0"/>
              <a:t> typically costing 17 cycles, with the extra few cycles likely due to the time to reset the branch predictor. The six independent functional units can each begin execution of a ready micro-op in the same cycle. Up to four micro-ops can be processed in the register renaming table.</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202</a:t>
            </a:fld>
            <a:endParaRPr lang="en-US" altLang="zh-CN"/>
          </a:p>
        </p:txBody>
      </p:sp>
    </p:spTree>
    <p:extLst>
      <p:ext uri="{BB962C8B-B14F-4D97-AF65-F5344CB8AC3E}">
        <p14:creationId xmlns:p14="http://schemas.microsoft.com/office/powerpoint/2010/main" val="336081861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3.39 The buffers and queues in the first generation i7 and the latest generation i7. </a:t>
            </a:r>
            <a:r>
              <a:rPr lang="en-US" altLang="en-US" sz="1200" dirty="0" smtClean="0"/>
              <a:t>Nehalem used a reservation station plus reorder buffer organization. In later microarchitectures, the reservation stations serve as scheduling resources, and register renaming is used rather than the reorder buffer; the reorder buffer in the </a:t>
            </a:r>
            <a:r>
              <a:rPr lang="en-US" altLang="en-US" sz="1200" dirty="0" err="1" smtClean="0"/>
              <a:t>Skylake</a:t>
            </a:r>
            <a:r>
              <a:rPr lang="en-US" altLang="en-US" sz="1200" dirty="0" smtClean="0"/>
              <a:t> microarchitecture serves only to buffer control information. The choices of the size of various buffers and renaming registers, while appearing sometimes arbitrary, are likely based on extensive simulation.</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203</a:t>
            </a:fld>
            <a:endParaRPr lang="en-US" altLang="zh-CN"/>
          </a:p>
        </p:txBody>
      </p:sp>
    </p:spTree>
    <p:extLst>
      <p:ext uri="{BB962C8B-B14F-4D97-AF65-F5344CB8AC3E}">
        <p14:creationId xmlns:p14="http://schemas.microsoft.com/office/powerpoint/2010/main" val="184375925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3.40 The CPI for the SPECCPUint2006 benchmarks on the i7 6700 and the i7 920. </a:t>
            </a:r>
            <a:r>
              <a:rPr lang="en-US" altLang="en-US" sz="1200" dirty="0" smtClean="0"/>
              <a:t>The data in this section were collected by Professor Lu Peng and PhD student </a:t>
            </a:r>
            <a:r>
              <a:rPr lang="en-US" altLang="en-US" sz="1200" dirty="0" err="1" smtClean="0"/>
              <a:t>Qun</a:t>
            </a:r>
            <a:r>
              <a:rPr lang="en-US" altLang="en-US" sz="1200" dirty="0" smtClean="0"/>
              <a:t> Liu, both of Louisiana State University.</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204</a:t>
            </a:fld>
            <a:endParaRPr lang="en-US" altLang="zh-CN"/>
          </a:p>
        </p:txBody>
      </p:sp>
    </p:spTree>
    <p:extLst>
      <p:ext uri="{BB962C8B-B14F-4D97-AF65-F5344CB8AC3E}">
        <p14:creationId xmlns:p14="http://schemas.microsoft.com/office/powerpoint/2010/main" val="348031464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3.41 An analysis of the five integer benchmarks with the largest performance gap between the i7 6700 and 920. </a:t>
            </a:r>
            <a:r>
              <a:rPr lang="en-US" altLang="en-US" sz="1200" dirty="0" smtClean="0"/>
              <a:t>These five benchmarks show an improvement in the branch prediction rate and a reduction in the L1 demand miss rate.</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205</a:t>
            </a:fld>
            <a:endParaRPr lang="en-US" altLang="zh-CN"/>
          </a:p>
        </p:txBody>
      </p:sp>
    </p:spTree>
    <p:extLst>
      <p:ext uri="{BB962C8B-B14F-4D97-AF65-F5344CB8AC3E}">
        <p14:creationId xmlns:p14="http://schemas.microsoft.com/office/powerpoint/2010/main" val="177546238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3.42 An overview of the four-core Intel i7 920, an example of a typical ARM A8 processor chip (with a 256 </a:t>
            </a:r>
            <a:r>
              <a:rPr lang="en-US" altLang="en-US" sz="1200" b="1" dirty="0" err="1" smtClean="0"/>
              <a:t>MiB</a:t>
            </a:r>
            <a:r>
              <a:rPr lang="en-US" altLang="en-US" sz="1200" b="1" dirty="0" smtClean="0"/>
              <a:t> L2, 32 KiB L1s, and no floating point), and the Intel ARM 230, clearly showing the difference in design philosophy between a processor intended for the PMD (in the case of ARM) or netbook space (in the case of Atom) and a processor for use in servers and high-end desktops. </a:t>
            </a:r>
            <a:r>
              <a:rPr lang="en-US" altLang="en-US" sz="1200" dirty="0" smtClean="0"/>
              <a:t>Remember, the i7 includes four cores, each of which is higher in performance than the one-core A8 or Atom. All these processors are implemented in a comparable 45 nm technology.</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206</a:t>
            </a:fld>
            <a:endParaRPr lang="en-US" altLang="zh-CN"/>
          </a:p>
        </p:txBody>
      </p:sp>
    </p:spTree>
    <p:extLst>
      <p:ext uri="{BB962C8B-B14F-4D97-AF65-F5344CB8AC3E}">
        <p14:creationId xmlns:p14="http://schemas.microsoft.com/office/powerpoint/2010/main" val="193686508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3.43 The relative performance and energy efficiency for a set of single-threaded benchmarks shows the i7 920 is 4 to over 10 times faster than the Atom 230 but that it is about 2 times </a:t>
            </a:r>
            <a:r>
              <a:rPr lang="en-US" altLang="en-US" sz="1200" b="1" i="1" dirty="0" smtClean="0"/>
              <a:t>less</a:t>
            </a:r>
            <a:r>
              <a:rPr lang="en-US" altLang="en-US" sz="1200" b="1" dirty="0" smtClean="0"/>
              <a:t> power-efficient on average! Performance is shown in the columns as i7 relative to Atom, which is execution time (i7)/execution time (Atom). </a:t>
            </a:r>
            <a:r>
              <a:rPr lang="en-US" altLang="en-US" sz="1200" dirty="0" smtClean="0"/>
              <a:t>Energy is shown with the line as Energy (Atom)/Energy (i7). The i7 never beats the Atom in energy efficiency, although it is essentially as good on four benchmarks, three of which are floating point. The data shown here were collected by </a:t>
            </a:r>
            <a:r>
              <a:rPr lang="en-US" altLang="en-US" sz="1200" dirty="0" err="1" smtClean="0"/>
              <a:t>Esmaeilzadeh</a:t>
            </a:r>
            <a:r>
              <a:rPr lang="en-US" altLang="en-US" sz="1200" dirty="0" smtClean="0"/>
              <a:t> et al. (2011). The SPEC benchmarks were compiled with optimization using the standard Intel compiler, while the Java benchmarks use the Sun (Oracle) Hotspot Java VM. Only one core is active on the i7, and the rest are in deep power saving mode. Turbo Boost is used on the i7, which increases its performance advantage but slightly decreases its relative energy efficiency.</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207</a:t>
            </a:fld>
            <a:endParaRPr lang="en-US" altLang="zh-CN"/>
          </a:p>
        </p:txBody>
      </p:sp>
    </p:spTree>
    <p:extLst>
      <p:ext uri="{BB962C8B-B14F-4D97-AF65-F5344CB8AC3E}">
        <p14:creationId xmlns:p14="http://schemas.microsoft.com/office/powerpoint/2010/main" val="231059092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3.45 The amount of parallelism available versus the window size for a variety of integer and floating-point programs with up to 64 arbitrary instruction issues per clock.</a:t>
            </a:r>
            <a:r>
              <a:rPr lang="en-US" altLang="en-US" sz="1200" dirty="0" smtClean="0"/>
              <a:t> Although there are fewer renaming registers than the window size, the fact that all operations have 1-cycle latency and that the number of renaming registers equals the issue width allows the processor to exploit parallelism within the entire window.</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210</a:t>
            </a:fld>
            <a:endParaRPr lang="en-US" altLang="zh-CN"/>
          </a:p>
        </p:txBody>
      </p:sp>
    </p:spTree>
    <p:extLst>
      <p:ext uri="{BB962C8B-B14F-4D97-AF65-F5344CB8AC3E}">
        <p14:creationId xmlns:p14="http://schemas.microsoft.com/office/powerpoint/2010/main" val="71755694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3.46 Characteristics of five generations of IBM Power processors. </a:t>
            </a:r>
            <a:r>
              <a:rPr lang="en-US" altLang="en-US" sz="1200" dirty="0" smtClean="0"/>
              <a:t>All except the Power6, which is static and in-order, were dynamically scheduled; all the processors support two load/store pipelines. The Power6 has the same functional units as the Power5 except for a decimal unit. Power7 and Power8 use embedded DRAM for the L3 cache. Power9 has been described briefly; it further expands the caches and supports off-chip HBM.</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211</a:t>
            </a:fld>
            <a:endParaRPr lang="en-US" altLang="zh-CN"/>
          </a:p>
        </p:txBody>
      </p:sp>
    </p:spTree>
    <p:extLst>
      <p:ext uri="{BB962C8B-B14F-4D97-AF65-F5344CB8AC3E}">
        <p14:creationId xmlns:p14="http://schemas.microsoft.com/office/powerpoint/2010/main" val="1829833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32657"/>
            <a:ext cx="9144000" cy="1008111"/>
          </a:xfrm>
        </p:spPr>
        <p:txBody>
          <a:bodyPr anchor="b"/>
          <a:lstStyle>
            <a:lvl1pPr algn="ctr">
              <a:defRPr sz="48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2348880"/>
            <a:ext cx="9144000" cy="35283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Tree>
    <p:extLst>
      <p:ext uri="{BB962C8B-B14F-4D97-AF65-F5344CB8AC3E}">
        <p14:creationId xmlns:p14="http://schemas.microsoft.com/office/powerpoint/2010/main" val="1793842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1627"/>
          </a:xfrm>
        </p:spPr>
        <p:txBody>
          <a:bodyPr/>
          <a:lstStyle>
            <a:lvl1pPr>
              <a:defRPr>
                <a:latin typeface="Arial" panose="020B0604020202020204" pitchFamily="34" charset="0"/>
                <a:cs typeface="Arial" panose="020B0604020202020204" pitchFamily="34" charset="0"/>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838200" y="1556792"/>
            <a:ext cx="10515600" cy="511256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2993316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628800"/>
            <a:ext cx="5181600" cy="496855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628800"/>
            <a:ext cx="5181600" cy="496855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1249789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903635"/>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595709"/>
          </a:xfrm>
        </p:spPr>
        <p:txBody>
          <a:bodyPr anchor="b"/>
          <a:lstStyle>
            <a:lvl1pPr marL="0" indent="0">
              <a:buNone/>
              <a:defRPr sz="3200" b="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839788" y="2505074"/>
            <a:ext cx="5157787" cy="409227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595709"/>
          </a:xfrm>
        </p:spPr>
        <p:txBody>
          <a:bodyPr anchor="b"/>
          <a:lstStyle>
            <a:lvl1pPr marL="0" indent="0">
              <a:buNone/>
              <a:defRPr sz="3200" b="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172200" y="2505074"/>
            <a:ext cx="5183188" cy="4092277"/>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2727033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Tree>
    <p:extLst>
      <p:ext uri="{BB962C8B-B14F-4D97-AF65-F5344CB8AC3E}">
        <p14:creationId xmlns:p14="http://schemas.microsoft.com/office/powerpoint/2010/main" val="3921178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6868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903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smtClean="0"/>
              <a:t>单击此处编辑母版标题样式</a:t>
            </a:r>
            <a:endParaRPr lang="en-US" altLang="zh-CN" dirty="0" smtClean="0"/>
          </a:p>
        </p:txBody>
      </p:sp>
      <p:sp>
        <p:nvSpPr>
          <p:cNvPr id="1027" name="Text Placeholder 2"/>
          <p:cNvSpPr>
            <a:spLocks noGrp="1"/>
          </p:cNvSpPr>
          <p:nvPr>
            <p:ph type="body" idx="1"/>
          </p:nvPr>
        </p:nvSpPr>
        <p:spPr bwMode="auto">
          <a:xfrm>
            <a:off x="838200" y="1556792"/>
            <a:ext cx="10515600" cy="4620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altLang="zh-CN" dirty="0" smtClean="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smtClean="0"/>
              <a:t>tang@ict.ac.cn</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995DCE2-E1D3-41AF-AA0F-2ACC42A603E2}" type="slidenum">
              <a:rPr lang="en-US"/>
              <a:pPr>
                <a:defRPr/>
              </a:pPr>
              <a:t>‹#›</a:t>
            </a:fld>
            <a:endParaRPr lang="en-US" dirty="0"/>
          </a:p>
        </p:txBody>
      </p:sp>
      <p:pic>
        <p:nvPicPr>
          <p:cNvPr id="2" name="图片 1"/>
          <p:cNvPicPr>
            <a:picLocks noChangeAspect="1"/>
          </p:cNvPicPr>
          <p:nvPr userDrawn="1"/>
        </p:nvPicPr>
        <p:blipFill>
          <a:blip r:embed="rId8"/>
          <a:stretch>
            <a:fillRect/>
          </a:stretch>
        </p:blipFill>
        <p:spPr>
          <a:xfrm>
            <a:off x="4943" y="1392216"/>
            <a:ext cx="12187057" cy="92568"/>
          </a:xfrm>
          <a:prstGeom prst="rect">
            <a:avLst/>
          </a:prstGeom>
        </p:spPr>
      </p:pic>
    </p:spTree>
  </p:cSld>
  <p:clrMap bg1="lt1" tx1="dk1" bg2="lt2" tx2="dk2" accent1="accent1" accent2="accent2" accent3="accent3" accent4="accent4" accent5="accent5" accent6="accent6" hlink="hlink" folHlink="folHlink"/>
  <p:sldLayoutIdLst>
    <p:sldLayoutId id="2147483715" r:id="rId1"/>
    <p:sldLayoutId id="2147483716" r:id="rId2"/>
    <p:sldLayoutId id="2147483718" r:id="rId3"/>
    <p:sldLayoutId id="2147483719" r:id="rId4"/>
    <p:sldLayoutId id="2147483720" r:id="rId5"/>
    <p:sldLayoutId id="2147483721" r:id="rId6"/>
  </p:sldLayoutIdLst>
  <p:hf sldNum="0" hdr="0" ftr="0" dt="0"/>
  <p:txStyles>
    <p:titleStyle>
      <a:lvl1pPr algn="l" rtl="0" eaLnBrk="1" fontAlgn="base" hangingPunct="1">
        <a:lnSpc>
          <a:spcPct val="90000"/>
        </a:lnSpc>
        <a:spcBef>
          <a:spcPct val="0"/>
        </a:spcBef>
        <a:spcAft>
          <a:spcPct val="0"/>
        </a:spcAft>
        <a:defRPr sz="4400" kern="1200">
          <a:solidFill>
            <a:srgbClr val="FF0000"/>
          </a:solidFill>
          <a:latin typeface="Arial" panose="020B0604020202020204" pitchFamily="34" charset="0"/>
          <a:ea typeface="微软雅黑" panose="020B0503020204020204" pitchFamily="34" charset="-122"/>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rgbClr val="0000FF"/>
          </a:solidFill>
          <a:latin typeface="Arial" panose="020B0604020202020204" pitchFamily="34" charset="0"/>
          <a:ea typeface="微软雅黑" panose="020B0503020204020204" pitchFamily="34" charset="-122"/>
          <a:cs typeface="Arial" panose="020B0604020202020204" pitchFamily="34"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rgbClr val="0000FF"/>
          </a:solidFill>
          <a:latin typeface="Arial" panose="020B0604020202020204" pitchFamily="34" charset="0"/>
          <a:ea typeface="微软雅黑"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5.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6.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7.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8.emf"/></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0.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1.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2.e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3.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14.e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15.e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16.e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17.e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18.e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19.e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20.emf"/></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22.e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23.e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24.e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image" Target="../media/image25.e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21.vml"/><Relationship Id="rId4" Type="http://schemas.openxmlformats.org/officeDocument/2006/relationships/image" Target="../media/image26.e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22.vml"/><Relationship Id="rId4" Type="http://schemas.openxmlformats.org/officeDocument/2006/relationships/image" Target="../media/image27.emf"/></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28.e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24.vml"/><Relationship Id="rId4" Type="http://schemas.openxmlformats.org/officeDocument/2006/relationships/image" Target="../media/image29.e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image" Target="../media/image30.e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26.vml"/><Relationship Id="rId4" Type="http://schemas.openxmlformats.org/officeDocument/2006/relationships/image" Target="../media/image31.e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27.vml"/><Relationship Id="rId4" Type="http://schemas.openxmlformats.org/officeDocument/2006/relationships/image" Target="../media/image32.emf"/></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28.vml"/><Relationship Id="rId4" Type="http://schemas.openxmlformats.org/officeDocument/2006/relationships/image" Target="../media/image33.e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29.vml"/><Relationship Id="rId4" Type="http://schemas.openxmlformats.org/officeDocument/2006/relationships/image" Target="../media/image34.e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30.vml"/><Relationship Id="rId4" Type="http://schemas.openxmlformats.org/officeDocument/2006/relationships/image" Target="../media/image35.emf"/></Relationships>
</file>

<file path=ppt/slides/_rels/slide6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31.vml"/><Relationship Id="rId4" Type="http://schemas.openxmlformats.org/officeDocument/2006/relationships/image" Target="../media/image37.emf"/></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32.vml"/><Relationship Id="rId4" Type="http://schemas.openxmlformats.org/officeDocument/2006/relationships/image" Target="../media/image38.emf"/></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33.vml"/><Relationship Id="rId4" Type="http://schemas.openxmlformats.org/officeDocument/2006/relationships/image" Target="../media/image39.emf"/></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34.vml"/><Relationship Id="rId4" Type="http://schemas.openxmlformats.org/officeDocument/2006/relationships/image" Target="../media/image40.e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35.vml"/><Relationship Id="rId4" Type="http://schemas.openxmlformats.org/officeDocument/2006/relationships/image" Target="../media/image41.e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vmlDrawing" Target="../drawings/vmlDrawing36.vml"/><Relationship Id="rId4" Type="http://schemas.openxmlformats.org/officeDocument/2006/relationships/image" Target="../media/image42.emf"/></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2.xml"/><Relationship Id="rId1" Type="http://schemas.openxmlformats.org/officeDocument/2006/relationships/vmlDrawing" Target="../drawings/vmlDrawing37.vml"/><Relationship Id="rId4" Type="http://schemas.openxmlformats.org/officeDocument/2006/relationships/image" Target="../media/image43.emf"/></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2.xml"/><Relationship Id="rId1" Type="http://schemas.openxmlformats.org/officeDocument/2006/relationships/vmlDrawing" Target="../drawings/vmlDrawing38.vml"/><Relationship Id="rId4" Type="http://schemas.openxmlformats.org/officeDocument/2006/relationships/image" Target="../media/image44.emf"/></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39.vml"/><Relationship Id="rId4" Type="http://schemas.openxmlformats.org/officeDocument/2006/relationships/image" Target="../media/image45.emf"/></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vmlDrawing" Target="../drawings/vmlDrawing40.vml"/><Relationship Id="rId4" Type="http://schemas.openxmlformats.org/officeDocument/2006/relationships/image" Target="../media/image46.emf"/></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2.xml"/><Relationship Id="rId1" Type="http://schemas.openxmlformats.org/officeDocument/2006/relationships/vmlDrawing" Target="../drawings/vmlDrawing41.vml"/><Relationship Id="rId4" Type="http://schemas.openxmlformats.org/officeDocument/2006/relationships/image" Target="../media/image47.em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42.vml"/><Relationship Id="rId4" Type="http://schemas.openxmlformats.org/officeDocument/2006/relationships/image" Target="../media/image54.emf"/></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vmlDrawing" Target="../drawings/vmlDrawing43.vml"/><Relationship Id="rId5" Type="http://schemas.openxmlformats.org/officeDocument/2006/relationships/image" Target="../media/image55.emf"/><Relationship Id="rId4" Type="http://schemas.openxmlformats.org/officeDocument/2006/relationships/oleObject" Target="../embeddings/oleObject43.bin"/></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2.xml"/><Relationship Id="rId1" Type="http://schemas.openxmlformats.org/officeDocument/2006/relationships/vmlDrawing" Target="../drawings/vmlDrawing44.vml"/><Relationship Id="rId4" Type="http://schemas.openxmlformats.org/officeDocument/2006/relationships/image" Target="../media/image58.wmf"/></Relationships>
</file>

<file path=ppt/slides/_rels/slide115.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vmlDrawing" Target="../drawings/vmlDrawing45.vml"/><Relationship Id="rId5" Type="http://schemas.openxmlformats.org/officeDocument/2006/relationships/image" Target="../media/image60.png"/><Relationship Id="rId4" Type="http://schemas.openxmlformats.org/officeDocument/2006/relationships/image" Target="../media/image59.wmf"/></Relationships>
</file>

<file path=ppt/slides/_rels/slide116.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2.xml"/><Relationship Id="rId1" Type="http://schemas.openxmlformats.org/officeDocument/2006/relationships/vmlDrawing" Target="../drawings/vmlDrawing46.vml"/><Relationship Id="rId4" Type="http://schemas.openxmlformats.org/officeDocument/2006/relationships/image" Target="../media/image61.emf"/></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79.wmf"/><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2.xml"/><Relationship Id="rId1" Type="http://schemas.openxmlformats.org/officeDocument/2006/relationships/vmlDrawing" Target="../drawings/vmlDrawing47.vml"/><Relationship Id="rId4" Type="http://schemas.openxmlformats.org/officeDocument/2006/relationships/image" Target="../media/image80.emf"/></Relationships>
</file>

<file path=ppt/slides/_rels/slide168.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2.xml"/><Relationship Id="rId1" Type="http://schemas.openxmlformats.org/officeDocument/2006/relationships/vmlDrawing" Target="../drawings/vmlDrawing48.vml"/><Relationship Id="rId4" Type="http://schemas.openxmlformats.org/officeDocument/2006/relationships/image" Target="../media/image81.emf"/></Relationships>
</file>

<file path=ppt/slides/_rels/slide169.xml.rels><?xml version="1.0" encoding="UTF-8" standalone="yes"?>
<Relationships xmlns="http://schemas.openxmlformats.org/package/2006/relationships"><Relationship Id="rId2" Type="http://schemas.openxmlformats.org/officeDocument/2006/relationships/image" Target="../media/image82.wmf"/><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83.wmf"/><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72.xml"/><Relationship Id="rId1" Type="http://schemas.openxmlformats.org/officeDocument/2006/relationships/slideLayout" Target="../slideLayouts/slideLayout5.xml"/><Relationship Id="rId5" Type="http://schemas.openxmlformats.org/officeDocument/2006/relationships/image" Target="../media/image86.png"/><Relationship Id="rId4" Type="http://schemas.openxmlformats.org/officeDocument/2006/relationships/image" Target="../media/image85.png"/></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19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20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20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20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81.xml"/><Relationship Id="rId1" Type="http://schemas.openxmlformats.org/officeDocument/2006/relationships/slideLayout" Target="../slideLayouts/slideLayout5.xml"/></Relationships>
</file>

<file path=ppt/slides/_rels/slide20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82.xml"/><Relationship Id="rId1" Type="http://schemas.openxmlformats.org/officeDocument/2006/relationships/slideLayout" Target="../slideLayouts/slideLayout5.xml"/></Relationships>
</file>

<file path=ppt/slides/_rels/slide20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83.xml"/><Relationship Id="rId1" Type="http://schemas.openxmlformats.org/officeDocument/2006/relationships/slideLayout" Target="../slideLayouts/slideLayout5.xml"/></Relationships>
</file>

<file path=ppt/slides/_rels/slide20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84.xml"/><Relationship Id="rId1" Type="http://schemas.openxmlformats.org/officeDocument/2006/relationships/slideLayout" Target="../slideLayouts/slideLayout5.xml"/></Relationships>
</file>

<file path=ppt/slides/_rels/slide20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8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p:cNvSpPr>
            <a:spLocks noGrp="1" noChangeArrowheads="1"/>
          </p:cNvSpPr>
          <p:nvPr>
            <p:ph type="ctrTitle"/>
          </p:nvPr>
        </p:nvSpPr>
        <p:spPr>
          <a:xfrm>
            <a:off x="1524000" y="1124744"/>
            <a:ext cx="9144000" cy="1008111"/>
          </a:xfrm>
        </p:spPr>
        <p:txBody>
          <a:bodyPr/>
          <a:lstStyle/>
          <a:p>
            <a:r>
              <a:rPr lang="zh-CN" altLang="en-US" dirty="0" smtClean="0"/>
              <a:t>指令级并行性 </a:t>
            </a:r>
            <a:r>
              <a:rPr lang="en-US" altLang="zh-CN" dirty="0" smtClean="0"/>
              <a:t>(ILP)</a:t>
            </a:r>
            <a:br>
              <a:rPr lang="en-US" altLang="zh-CN" dirty="0" smtClean="0"/>
            </a:br>
            <a:r>
              <a:rPr lang="en-US" altLang="zh-CN" dirty="0" smtClean="0"/>
              <a:t>Instruction Level Parallelism</a:t>
            </a:r>
            <a:endParaRPr lang="zh-CN" altLang="en-US" dirty="0"/>
          </a:p>
        </p:txBody>
      </p:sp>
      <p:sp>
        <p:nvSpPr>
          <p:cNvPr id="336899" name="Rectangle 3"/>
          <p:cNvSpPr>
            <a:spLocks noGrp="1" noChangeArrowheads="1"/>
          </p:cNvSpPr>
          <p:nvPr>
            <p:ph type="subTitle" idx="1"/>
          </p:nvPr>
        </p:nvSpPr>
        <p:spPr>
          <a:xfrm>
            <a:off x="1524000" y="2492896"/>
            <a:ext cx="9144000" cy="3240360"/>
          </a:xfrm>
        </p:spPr>
        <p:txBody>
          <a:bodyPr/>
          <a:lstStyle/>
          <a:p>
            <a:r>
              <a:rPr lang="en-US" altLang="zh-CN" sz="2800" dirty="0" smtClean="0"/>
              <a:t>ILP</a:t>
            </a:r>
            <a:r>
              <a:rPr lang="zh-CN" altLang="en-US" sz="2800" dirty="0" smtClean="0"/>
              <a:t>的概念和程序中的</a:t>
            </a:r>
            <a:r>
              <a:rPr lang="zh-CN" altLang="zh-CN" sz="2800" dirty="0" smtClean="0"/>
              <a:t>数据</a:t>
            </a:r>
            <a:r>
              <a:rPr lang="zh-CN" altLang="en-US" sz="2800" dirty="0" smtClean="0"/>
              <a:t>依赖关系</a:t>
            </a:r>
            <a:endParaRPr lang="en-US" altLang="zh-CN" sz="2800" dirty="0" smtClean="0"/>
          </a:p>
          <a:p>
            <a:r>
              <a:rPr lang="zh-CN" altLang="en-US" sz="2800" dirty="0"/>
              <a:t>基于</a:t>
            </a:r>
            <a:r>
              <a:rPr lang="en-US" altLang="zh-CN" sz="2800" dirty="0" err="1"/>
              <a:t>Tomasulo</a:t>
            </a:r>
            <a:r>
              <a:rPr lang="zh-CN" altLang="zh-CN" sz="2800" dirty="0"/>
              <a:t>算法</a:t>
            </a:r>
            <a:r>
              <a:rPr lang="zh-CN" altLang="en-US" sz="2800" dirty="0"/>
              <a:t>的动态调度</a:t>
            </a:r>
            <a:endParaRPr lang="zh-CN" altLang="zh-CN" sz="2800" dirty="0"/>
          </a:p>
          <a:p>
            <a:r>
              <a:rPr lang="zh-CN" altLang="en-US" sz="2800" dirty="0" smtClean="0"/>
              <a:t>通过编译技术展现</a:t>
            </a:r>
            <a:r>
              <a:rPr lang="en-US" altLang="zh-CN" sz="2800" dirty="0" smtClean="0"/>
              <a:t>ILP</a:t>
            </a:r>
            <a:endParaRPr lang="zh-CN" altLang="en-US" sz="2800" dirty="0" smtClean="0"/>
          </a:p>
          <a:p>
            <a:r>
              <a:rPr lang="zh-CN" altLang="en-US" sz="2800" dirty="0" smtClean="0"/>
              <a:t>动态分支预测</a:t>
            </a:r>
          </a:p>
          <a:p>
            <a:r>
              <a:rPr lang="zh-CN" altLang="en-US" sz="2800" dirty="0" smtClean="0"/>
              <a:t>推测执行机制</a:t>
            </a:r>
            <a:endParaRPr lang="en-US" altLang="zh-CN" sz="2800" dirty="0" smtClean="0"/>
          </a:p>
          <a:p>
            <a:r>
              <a:rPr lang="zh-CN" altLang="en-US" sz="2800" dirty="0" smtClean="0"/>
              <a:t>超标量和动态多发射</a:t>
            </a:r>
            <a:endParaRPr lang="en-US" altLang="zh-CN" sz="2800" dirty="0" smtClean="0"/>
          </a:p>
          <a:p>
            <a:r>
              <a:rPr lang="zh-CN" altLang="en-US" sz="2800" dirty="0"/>
              <a:t>同时多线程</a:t>
            </a:r>
            <a:r>
              <a:rPr lang="en-US" altLang="zh-CN" sz="2800" dirty="0"/>
              <a:t>(SMT)</a:t>
            </a:r>
            <a:r>
              <a:rPr lang="zh-CN" altLang="en-US" sz="2800" dirty="0"/>
              <a:t>结构</a:t>
            </a:r>
          </a:p>
          <a:p>
            <a:r>
              <a:rPr lang="zh-CN" altLang="en-US" sz="2800" dirty="0" smtClean="0"/>
              <a:t>超长指令字</a:t>
            </a:r>
            <a:r>
              <a:rPr lang="en-US" altLang="zh-CN" sz="2800" dirty="0" smtClean="0"/>
              <a:t>(VLIW)</a:t>
            </a:r>
            <a:r>
              <a:rPr lang="zh-CN" altLang="en-US" sz="2800" dirty="0" smtClean="0"/>
              <a:t>与显式并行</a:t>
            </a:r>
            <a:r>
              <a:rPr lang="en-US" altLang="zh-CN" sz="2800" dirty="0" smtClean="0"/>
              <a:t>(EPIC)</a:t>
            </a:r>
          </a:p>
          <a:p>
            <a:endParaRPr lang="zh-CN" altLang="en-US" sz="2800" dirty="0"/>
          </a:p>
        </p:txBody>
      </p:sp>
    </p:spTree>
    <p:extLst>
      <p:ext uri="{BB962C8B-B14F-4D97-AF65-F5344CB8AC3E}">
        <p14:creationId xmlns:p14="http://schemas.microsoft.com/office/powerpoint/2010/main" val="1971533720"/>
      </p:ext>
    </p:extLst>
  </p:cSld>
  <p:clrMapOvr>
    <a:masterClrMapping/>
  </p:clrMapOvr>
  <p:transition>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Introduction</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a:t>Pipelining become universal technique in 1985</a:t>
            </a:r>
          </a:p>
          <a:p>
            <a:pPr lvl="1">
              <a:lnSpc>
                <a:spcPct val="90000"/>
              </a:lnSpc>
            </a:pPr>
            <a:r>
              <a:rPr lang="en-US" dirty="0"/>
              <a:t>Overlaps execution of instructions</a:t>
            </a:r>
          </a:p>
          <a:p>
            <a:pPr lvl="1">
              <a:lnSpc>
                <a:spcPct val="90000"/>
              </a:lnSpc>
            </a:pPr>
            <a:r>
              <a:rPr lang="en-US" dirty="0"/>
              <a:t>Exploits </a:t>
            </a:r>
            <a:r>
              <a:rPr lang="en-US" altLang="zh-CN" dirty="0" smtClean="0"/>
              <a:t>Elementary </a:t>
            </a:r>
            <a:r>
              <a:rPr lang="en-US" dirty="0" smtClean="0"/>
              <a:t>“Instruction </a:t>
            </a:r>
            <a:r>
              <a:rPr lang="en-US" dirty="0"/>
              <a:t>Level Parallelism”</a:t>
            </a:r>
          </a:p>
          <a:p>
            <a:pPr lvl="1">
              <a:lnSpc>
                <a:spcPct val="90000"/>
              </a:lnSpc>
            </a:pPr>
            <a:endParaRPr lang="en-US" sz="2000" dirty="0"/>
          </a:p>
          <a:p>
            <a:pPr>
              <a:lnSpc>
                <a:spcPct val="90000"/>
              </a:lnSpc>
            </a:pPr>
            <a:r>
              <a:rPr lang="en-US" dirty="0" smtClean="0"/>
              <a:t>Beyond </a:t>
            </a:r>
            <a:r>
              <a:rPr lang="en-US" dirty="0"/>
              <a:t>this, there are two main </a:t>
            </a:r>
            <a:r>
              <a:rPr lang="en-US" dirty="0" smtClean="0"/>
              <a:t>approaches for Advanced ILP:</a:t>
            </a:r>
            <a:endParaRPr lang="en-US" dirty="0"/>
          </a:p>
          <a:p>
            <a:pPr lvl="1">
              <a:lnSpc>
                <a:spcPct val="90000"/>
              </a:lnSpc>
            </a:pPr>
            <a:r>
              <a:rPr lang="en-US" altLang="zh-CN" dirty="0" err="1" smtClean="0"/>
              <a:t>SuperScalar</a:t>
            </a:r>
            <a:r>
              <a:rPr lang="en-US" altLang="zh-CN" dirty="0" smtClean="0"/>
              <a:t>, </a:t>
            </a:r>
            <a:r>
              <a:rPr lang="en-US" dirty="0" smtClean="0"/>
              <a:t>Hardware-based </a:t>
            </a:r>
            <a:r>
              <a:rPr lang="en-US" dirty="0"/>
              <a:t>dynamic </a:t>
            </a:r>
            <a:r>
              <a:rPr lang="en-US" dirty="0" smtClean="0"/>
              <a:t>multi-issue approaches</a:t>
            </a:r>
            <a:endParaRPr lang="en-US" dirty="0"/>
          </a:p>
          <a:p>
            <a:pPr lvl="2">
              <a:lnSpc>
                <a:spcPct val="90000"/>
              </a:lnSpc>
            </a:pPr>
            <a:r>
              <a:rPr lang="en-US" dirty="0"/>
              <a:t>Used in server and desktop processors</a:t>
            </a:r>
          </a:p>
          <a:p>
            <a:pPr lvl="2">
              <a:lnSpc>
                <a:spcPct val="90000"/>
              </a:lnSpc>
            </a:pPr>
            <a:r>
              <a:rPr lang="en-US" dirty="0"/>
              <a:t>Not used as extensively in PMP processors</a:t>
            </a:r>
          </a:p>
          <a:p>
            <a:pPr lvl="1">
              <a:lnSpc>
                <a:spcPct val="90000"/>
              </a:lnSpc>
            </a:pPr>
            <a:r>
              <a:rPr lang="en-US" dirty="0" smtClean="0"/>
              <a:t>VLIW, Compiler-based </a:t>
            </a:r>
            <a:r>
              <a:rPr lang="en-US" dirty="0"/>
              <a:t>static </a:t>
            </a:r>
            <a:r>
              <a:rPr lang="en-US" dirty="0" smtClean="0"/>
              <a:t>multi-issue approaches</a:t>
            </a:r>
            <a:endParaRPr lang="en-US" dirty="0"/>
          </a:p>
          <a:p>
            <a:pPr lvl="2">
              <a:lnSpc>
                <a:spcPct val="90000"/>
              </a:lnSpc>
            </a:pPr>
            <a:r>
              <a:rPr lang="en-US" dirty="0"/>
              <a:t>Not as successful outside of scientific applications</a:t>
            </a:r>
          </a:p>
          <a:p>
            <a:pPr lvl="2">
              <a:lnSpc>
                <a:spcPct val="90000"/>
              </a:lnSpc>
            </a:pPr>
            <a:endParaRPr lang="en-US" dirty="0" smtClean="0"/>
          </a:p>
        </p:txBody>
      </p:sp>
    </p:spTree>
    <p:extLst>
      <p:ext uri="{BB962C8B-B14F-4D97-AF65-F5344CB8AC3E}">
        <p14:creationId xmlns:p14="http://schemas.microsoft.com/office/powerpoint/2010/main" val="23845247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Instruction-Level Parallelism</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a:t>When exploiting instruction-level parallelism, goal is to </a:t>
            </a:r>
            <a:r>
              <a:rPr lang="en-US" dirty="0" smtClean="0"/>
              <a:t>minimize CPI (maximize IPC)</a:t>
            </a:r>
            <a:endParaRPr lang="en-US" dirty="0"/>
          </a:p>
          <a:p>
            <a:pPr lvl="1">
              <a:lnSpc>
                <a:spcPct val="90000"/>
              </a:lnSpc>
            </a:pPr>
            <a:r>
              <a:rPr lang="en-US" dirty="0" smtClean="0"/>
              <a:t>Pipeline CPI =</a:t>
            </a:r>
          </a:p>
          <a:p>
            <a:pPr lvl="2">
              <a:lnSpc>
                <a:spcPct val="90000"/>
              </a:lnSpc>
            </a:pPr>
            <a:r>
              <a:rPr lang="en-US" dirty="0"/>
              <a:t>Ideal pipeline CPI +</a:t>
            </a:r>
          </a:p>
          <a:p>
            <a:pPr lvl="2">
              <a:lnSpc>
                <a:spcPct val="90000"/>
              </a:lnSpc>
            </a:pPr>
            <a:r>
              <a:rPr lang="en-US" dirty="0"/>
              <a:t>Structural stalls +</a:t>
            </a:r>
          </a:p>
          <a:p>
            <a:pPr lvl="2">
              <a:lnSpc>
                <a:spcPct val="90000"/>
              </a:lnSpc>
            </a:pPr>
            <a:r>
              <a:rPr lang="en-US" dirty="0"/>
              <a:t>Data hazard stalls +</a:t>
            </a:r>
          </a:p>
          <a:p>
            <a:pPr lvl="2">
              <a:lnSpc>
                <a:spcPct val="90000"/>
              </a:lnSpc>
            </a:pPr>
            <a:r>
              <a:rPr lang="en-US" dirty="0"/>
              <a:t>Control stalls</a:t>
            </a:r>
          </a:p>
          <a:p>
            <a:pPr>
              <a:lnSpc>
                <a:spcPct val="90000"/>
              </a:lnSpc>
            </a:pPr>
            <a:endParaRPr lang="en-US" sz="2000" dirty="0"/>
          </a:p>
          <a:p>
            <a:pPr>
              <a:lnSpc>
                <a:spcPct val="90000"/>
              </a:lnSpc>
            </a:pPr>
            <a:r>
              <a:rPr lang="en-US" dirty="0"/>
              <a:t>Parallelism with basic block is limited</a:t>
            </a:r>
          </a:p>
          <a:p>
            <a:pPr lvl="1">
              <a:lnSpc>
                <a:spcPct val="90000"/>
              </a:lnSpc>
            </a:pPr>
            <a:r>
              <a:rPr lang="en-US" dirty="0"/>
              <a:t>Typical size of basic block = 3-6 instructions</a:t>
            </a:r>
          </a:p>
          <a:p>
            <a:pPr lvl="1">
              <a:lnSpc>
                <a:spcPct val="90000"/>
              </a:lnSpc>
            </a:pPr>
            <a:r>
              <a:rPr lang="en-US" dirty="0"/>
              <a:t>Must optimize across </a:t>
            </a:r>
            <a:r>
              <a:rPr lang="en-US" dirty="0" smtClean="0"/>
              <a:t>branches to get more ILP</a:t>
            </a:r>
            <a:endParaRPr lang="en-US" dirty="0"/>
          </a:p>
        </p:txBody>
      </p:sp>
    </p:spTree>
    <p:extLst>
      <p:ext uri="{BB962C8B-B14F-4D97-AF65-F5344CB8AC3E}">
        <p14:creationId xmlns:p14="http://schemas.microsoft.com/office/powerpoint/2010/main" val="27767050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6546" name="Rectangle 1026"/>
          <p:cNvSpPr>
            <a:spLocks noGrp="1" noChangeArrowheads="1"/>
          </p:cNvSpPr>
          <p:nvPr>
            <p:ph type="title"/>
          </p:nvPr>
        </p:nvSpPr>
        <p:spPr/>
        <p:txBody>
          <a:bodyPr/>
          <a:lstStyle/>
          <a:p>
            <a:r>
              <a:rPr lang="en-US" altLang="en-US" smtClean="0"/>
              <a:t>Instruction-Level Parallelism (ILP)</a:t>
            </a:r>
            <a:endParaRPr lang="en-US" altLang="en-US" dirty="0"/>
          </a:p>
        </p:txBody>
      </p:sp>
      <p:sp>
        <p:nvSpPr>
          <p:cNvPr id="876547" name="Rectangle 1027"/>
          <p:cNvSpPr>
            <a:spLocks noGrp="1" noChangeArrowheads="1"/>
          </p:cNvSpPr>
          <p:nvPr>
            <p:ph type="body" idx="1"/>
          </p:nvPr>
        </p:nvSpPr>
        <p:spPr/>
        <p:txBody>
          <a:bodyPr/>
          <a:lstStyle/>
          <a:p>
            <a:r>
              <a:rPr lang="en-US" altLang="en-US" dirty="0" smtClean="0"/>
              <a:t>Basic Block (BB) ILP is quite small</a:t>
            </a:r>
          </a:p>
          <a:p>
            <a:pPr lvl="1"/>
            <a:r>
              <a:rPr lang="en-US" altLang="en-US" dirty="0" smtClean="0"/>
              <a:t>BB: a straight-line code sequence with no branches in except to the entry and no branches out except at the exit</a:t>
            </a:r>
          </a:p>
          <a:p>
            <a:pPr lvl="1"/>
            <a:r>
              <a:rPr lang="en-US" altLang="en-US" dirty="0" smtClean="0"/>
              <a:t>average dynamic branch frequency 15% to 25% </a:t>
            </a:r>
            <a:br>
              <a:rPr lang="en-US" altLang="en-US" dirty="0" smtClean="0"/>
            </a:br>
            <a:r>
              <a:rPr lang="en-US" altLang="en-US" dirty="0" smtClean="0"/>
              <a:t>=&gt; 4 to 7 instructions execute between a pair of branches</a:t>
            </a:r>
          </a:p>
          <a:p>
            <a:pPr lvl="1"/>
            <a:r>
              <a:rPr lang="en-US" altLang="en-US" dirty="0" smtClean="0"/>
              <a:t>Plus instructions in BB likely to depend on each other</a:t>
            </a:r>
          </a:p>
          <a:p>
            <a:r>
              <a:rPr lang="en-US" altLang="en-US" dirty="0" smtClean="0"/>
              <a:t>To obtain substantial performance enhancements, we must exploit ILP across multiple basic blocks</a:t>
            </a:r>
          </a:p>
          <a:p>
            <a:r>
              <a:rPr lang="en-US" altLang="en-US" dirty="0" smtClean="0"/>
              <a:t>Simplest: </a:t>
            </a:r>
            <a:r>
              <a:rPr lang="en-US" altLang="en-US" dirty="0" smtClean="0">
                <a:solidFill>
                  <a:srgbClr val="FF0000"/>
                </a:solidFill>
              </a:rPr>
              <a:t>loop-level parallelism </a:t>
            </a:r>
            <a:r>
              <a:rPr lang="en-US" altLang="en-US" dirty="0" smtClean="0"/>
              <a:t>to exploit parallelism among iterations of a loop</a:t>
            </a:r>
          </a:p>
          <a:p>
            <a:pPr lvl="1"/>
            <a:r>
              <a:rPr lang="en-US" altLang="en-US" dirty="0" smtClean="0"/>
              <a:t>Vector is one way, </a:t>
            </a:r>
            <a:r>
              <a:rPr lang="en-US" altLang="zh-CN" dirty="0"/>
              <a:t>Use in SIMD (vector processors and GPUs</a:t>
            </a:r>
            <a:r>
              <a:rPr lang="en-US" altLang="zh-CN" dirty="0" smtClean="0"/>
              <a:t>)</a:t>
            </a:r>
            <a:endParaRPr lang="en-US" altLang="en-US" dirty="0" smtClean="0"/>
          </a:p>
          <a:p>
            <a:pPr lvl="1"/>
            <a:r>
              <a:rPr lang="en-US" altLang="en-US" dirty="0" smtClean="0"/>
              <a:t>If not vector, then either dynamic via branch prediction or static via loop unrolling by compiler</a:t>
            </a:r>
            <a:endParaRPr lang="en-US" altLang="en-US" dirty="0"/>
          </a:p>
        </p:txBody>
      </p:sp>
    </p:spTree>
    <p:extLst>
      <p:ext uri="{BB962C8B-B14F-4D97-AF65-F5344CB8AC3E}">
        <p14:creationId xmlns:p14="http://schemas.microsoft.com/office/powerpoint/2010/main" val="343699037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765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87654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87654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876547">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876547">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87654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876547">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87654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6547"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7570" name="Rectangle 2"/>
          <p:cNvSpPr>
            <a:spLocks noGrp="1" noChangeArrowheads="1"/>
          </p:cNvSpPr>
          <p:nvPr>
            <p:ph type="body" idx="1"/>
          </p:nvPr>
        </p:nvSpPr>
        <p:spPr>
          <a:xfrm>
            <a:off x="911424" y="1700808"/>
            <a:ext cx="10729192" cy="3937992"/>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en-US" dirty="0" err="1"/>
              <a:t>Instr</a:t>
            </a:r>
            <a:r>
              <a:rPr lang="en-US" altLang="en-US" baseline="-25000" dirty="0" err="1"/>
              <a:t>J</a:t>
            </a:r>
            <a:r>
              <a:rPr lang="en-US" altLang="en-US" baseline="-25000" dirty="0"/>
              <a:t> </a:t>
            </a:r>
            <a:r>
              <a:rPr lang="en-US" altLang="en-US" dirty="0"/>
              <a:t>is </a:t>
            </a:r>
            <a:r>
              <a:rPr lang="en-US" altLang="en-US" dirty="0">
                <a:solidFill>
                  <a:srgbClr val="FF0000"/>
                </a:solidFill>
              </a:rPr>
              <a:t>data dependent</a:t>
            </a:r>
            <a:r>
              <a:rPr lang="en-US" altLang="en-US" dirty="0"/>
              <a:t> on </a:t>
            </a:r>
            <a:r>
              <a:rPr lang="en-US" altLang="en-US" dirty="0" err="1"/>
              <a:t>Instr</a:t>
            </a:r>
            <a:r>
              <a:rPr lang="en-US" altLang="en-US" baseline="-25000" dirty="0" err="1"/>
              <a:t>I</a:t>
            </a:r>
            <a:r>
              <a:rPr lang="en-US" altLang="en-US" dirty="0"/>
              <a:t> </a:t>
            </a:r>
            <a:br>
              <a:rPr lang="en-US" altLang="en-US" dirty="0"/>
            </a:br>
            <a:r>
              <a:rPr lang="en-US" altLang="en-US" dirty="0" err="1"/>
              <a:t>Instr</a:t>
            </a:r>
            <a:r>
              <a:rPr lang="en-US" altLang="en-US" baseline="-25000" dirty="0" err="1"/>
              <a:t>J</a:t>
            </a:r>
            <a:r>
              <a:rPr lang="en-US" altLang="en-US" dirty="0"/>
              <a:t> tries to read operand before </a:t>
            </a:r>
            <a:r>
              <a:rPr lang="en-US" altLang="en-US" dirty="0" err="1"/>
              <a:t>Instr</a:t>
            </a:r>
            <a:r>
              <a:rPr lang="en-US" altLang="en-US" baseline="-25000" dirty="0" err="1"/>
              <a:t>I</a:t>
            </a:r>
            <a:r>
              <a:rPr lang="en-US" altLang="en-US" baseline="-25000" dirty="0"/>
              <a:t> </a:t>
            </a:r>
            <a:r>
              <a:rPr lang="en-US" altLang="en-US" dirty="0"/>
              <a:t>writes it</a:t>
            </a:r>
            <a:br>
              <a:rPr lang="en-US" altLang="en-US" dirty="0"/>
            </a:br>
            <a:r>
              <a:rPr lang="en-US" altLang="en-US" dirty="0"/>
              <a:t/>
            </a:r>
            <a:br>
              <a:rPr lang="en-US" altLang="en-US" dirty="0"/>
            </a:br>
            <a:r>
              <a:rPr lang="en-US" altLang="en-US" dirty="0"/>
              <a:t>		</a:t>
            </a:r>
            <a:br>
              <a:rPr lang="en-US" altLang="en-US" dirty="0"/>
            </a:br>
            <a:endParaRPr lang="en-US" altLang="en-US" dirty="0"/>
          </a:p>
          <a:p>
            <a:r>
              <a:rPr lang="en-US" altLang="en-US" dirty="0"/>
              <a:t>or </a:t>
            </a:r>
            <a:r>
              <a:rPr lang="en-US" altLang="en-US" dirty="0" err="1"/>
              <a:t>Instr</a:t>
            </a:r>
            <a:r>
              <a:rPr lang="en-US" altLang="en-US" baseline="-25000" dirty="0" err="1"/>
              <a:t>J</a:t>
            </a:r>
            <a:r>
              <a:rPr lang="en-US" altLang="en-US" dirty="0"/>
              <a:t> is data dependent on </a:t>
            </a:r>
            <a:r>
              <a:rPr lang="en-US" altLang="en-US" dirty="0" err="1"/>
              <a:t>Instr</a:t>
            </a:r>
            <a:r>
              <a:rPr lang="en-US" altLang="en-US" baseline="-25000" dirty="0" err="1"/>
              <a:t>K</a:t>
            </a:r>
            <a:r>
              <a:rPr lang="en-US" altLang="en-US" dirty="0"/>
              <a:t> which is dependent on </a:t>
            </a:r>
            <a:r>
              <a:rPr lang="en-US" altLang="en-US" dirty="0" err="1"/>
              <a:t>Instr</a:t>
            </a:r>
            <a:r>
              <a:rPr lang="en-US" altLang="en-US" baseline="-25000" dirty="0" err="1"/>
              <a:t>I</a:t>
            </a:r>
            <a:endParaRPr lang="en-US" altLang="en-US" dirty="0"/>
          </a:p>
          <a:p>
            <a:r>
              <a:rPr lang="en-US" altLang="en-US" dirty="0"/>
              <a:t>Caused by a “</a:t>
            </a:r>
            <a:r>
              <a:rPr lang="en-US" altLang="en-US" dirty="0">
                <a:solidFill>
                  <a:srgbClr val="FF0000"/>
                </a:solidFill>
              </a:rPr>
              <a:t>True</a:t>
            </a:r>
            <a:r>
              <a:rPr lang="en-US" altLang="en-US" dirty="0"/>
              <a:t> </a:t>
            </a:r>
            <a:r>
              <a:rPr lang="en-US" altLang="en-US" dirty="0">
                <a:solidFill>
                  <a:srgbClr val="FF0000"/>
                </a:solidFill>
              </a:rPr>
              <a:t>Dependence</a:t>
            </a:r>
            <a:r>
              <a:rPr lang="en-US" altLang="en-US" dirty="0"/>
              <a:t>” (compiler term)  </a:t>
            </a:r>
          </a:p>
          <a:p>
            <a:r>
              <a:rPr lang="en-US" altLang="en-US" dirty="0"/>
              <a:t>If true dependence caused a hazard in the pipeline, called a </a:t>
            </a:r>
            <a:r>
              <a:rPr lang="en-US" altLang="en-US" dirty="0">
                <a:solidFill>
                  <a:srgbClr val="FF0000"/>
                </a:solidFill>
              </a:rPr>
              <a:t>Read After Write (RAW) hazard</a:t>
            </a:r>
            <a:r>
              <a:rPr lang="en-US" altLang="en-US" dirty="0">
                <a:solidFill>
                  <a:schemeClr val="hlink"/>
                </a:solidFill>
              </a:rPr>
              <a:t> </a:t>
            </a:r>
            <a:endParaRPr lang="en-US" altLang="en-US" dirty="0" smtClean="0">
              <a:solidFill>
                <a:schemeClr val="hlink"/>
              </a:solidFill>
            </a:endParaRPr>
          </a:p>
          <a:p>
            <a:r>
              <a:rPr lang="en-US" altLang="zh-CN" dirty="0" smtClean="0"/>
              <a:t>Dependent </a:t>
            </a:r>
            <a:r>
              <a:rPr lang="en-US" altLang="zh-CN" dirty="0"/>
              <a:t>instructions cannot be executed </a:t>
            </a:r>
            <a:r>
              <a:rPr lang="en-US" altLang="zh-CN" dirty="0" smtClean="0"/>
              <a:t>simultaneously</a:t>
            </a:r>
          </a:p>
        </p:txBody>
      </p:sp>
      <p:sp>
        <p:nvSpPr>
          <p:cNvPr id="877571" name="Rectangle 3"/>
          <p:cNvSpPr>
            <a:spLocks noGrp="1" noChangeArrowheads="1"/>
          </p:cNvSpPr>
          <p:nvPr>
            <p:ph type="title"/>
          </p:nvPr>
        </p:nvSpPr>
        <p:spPr>
          <a:xfrm>
            <a:off x="911424" y="304800"/>
            <a:ext cx="10729192" cy="9906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en-US" dirty="0"/>
              <a:t>Data Dependence </a:t>
            </a:r>
            <a:r>
              <a:rPr lang="en-US" altLang="en-US" dirty="0" smtClean="0"/>
              <a:t>and Pipeline Hazards</a:t>
            </a:r>
            <a:br>
              <a:rPr lang="en-US" altLang="en-US" dirty="0" smtClean="0"/>
            </a:br>
            <a:r>
              <a:rPr lang="zh-CN" altLang="en-US" sz="3600" dirty="0" smtClean="0"/>
              <a:t>数据依赖和流水线险象</a:t>
            </a:r>
            <a:endParaRPr lang="en-US" altLang="en-US" dirty="0"/>
          </a:p>
        </p:txBody>
      </p:sp>
      <p:sp>
        <p:nvSpPr>
          <p:cNvPr id="877572" name="Rectangle 4"/>
          <p:cNvSpPr>
            <a:spLocks noChangeArrowheads="1"/>
          </p:cNvSpPr>
          <p:nvPr/>
        </p:nvSpPr>
        <p:spPr bwMode="auto">
          <a:xfrm>
            <a:off x="3810000" y="2686050"/>
            <a:ext cx="3352800" cy="828432"/>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a:r>
              <a:rPr lang="en-US" altLang="en-US" sz="2400" b="1">
                <a:latin typeface="Courier New" panose="02070309020205020404" pitchFamily="49" charset="0"/>
              </a:rPr>
              <a:t>I: add </a:t>
            </a:r>
            <a:r>
              <a:rPr lang="en-US" altLang="en-US" sz="2400" b="1">
                <a:solidFill>
                  <a:schemeClr val="hlink"/>
                </a:solidFill>
                <a:latin typeface="Courier New" panose="02070309020205020404" pitchFamily="49" charset="0"/>
              </a:rPr>
              <a:t>r1</a:t>
            </a:r>
            <a:r>
              <a:rPr lang="en-US" altLang="en-US" sz="2400" b="1">
                <a:latin typeface="Courier New" panose="02070309020205020404" pitchFamily="49" charset="0"/>
              </a:rPr>
              <a:t>,r2,r3</a:t>
            </a:r>
          </a:p>
          <a:p>
            <a:pPr algn="l"/>
            <a:r>
              <a:rPr lang="en-US" altLang="en-US" sz="2400" b="1">
                <a:latin typeface="Courier New" panose="02070309020205020404" pitchFamily="49" charset="0"/>
              </a:rPr>
              <a:t>J: sub r4,</a:t>
            </a:r>
            <a:r>
              <a:rPr lang="en-US" altLang="en-US" sz="2400" b="1">
                <a:solidFill>
                  <a:schemeClr val="hlink"/>
                </a:solidFill>
                <a:latin typeface="Courier New" panose="02070309020205020404" pitchFamily="49" charset="0"/>
              </a:rPr>
              <a:t>r1</a:t>
            </a:r>
            <a:r>
              <a:rPr lang="en-US" altLang="en-US" sz="2400" b="1">
                <a:latin typeface="Courier New" panose="02070309020205020404" pitchFamily="49" charset="0"/>
              </a:rPr>
              <a:t>,r3</a:t>
            </a:r>
          </a:p>
        </p:txBody>
      </p:sp>
      <p:sp>
        <p:nvSpPr>
          <p:cNvPr id="877573" name="Arc 5"/>
          <p:cNvSpPr>
            <a:spLocks/>
          </p:cNvSpPr>
          <p:nvPr/>
        </p:nvSpPr>
        <p:spPr bwMode="auto">
          <a:xfrm flipH="1" flipV="1">
            <a:off x="3352801" y="2838450"/>
            <a:ext cx="468313" cy="457200"/>
          </a:xfrm>
          <a:custGeom>
            <a:avLst/>
            <a:gdLst>
              <a:gd name="G0" fmla="+- 2932 0 0"/>
              <a:gd name="G1" fmla="+- 21600 0 0"/>
              <a:gd name="G2" fmla="+- 21600 0 0"/>
              <a:gd name="T0" fmla="*/ 0 w 24532"/>
              <a:gd name="T1" fmla="*/ 200 h 43200"/>
              <a:gd name="T2" fmla="*/ 870 w 24532"/>
              <a:gd name="T3" fmla="*/ 43101 h 43200"/>
              <a:gd name="T4" fmla="*/ 2932 w 24532"/>
              <a:gd name="T5" fmla="*/ 21600 h 43200"/>
            </a:gdLst>
            <a:ahLst/>
            <a:cxnLst>
              <a:cxn ang="0">
                <a:pos x="T0" y="T1"/>
              </a:cxn>
              <a:cxn ang="0">
                <a:pos x="T2" y="T3"/>
              </a:cxn>
              <a:cxn ang="0">
                <a:pos x="T4" y="T5"/>
              </a:cxn>
            </a:cxnLst>
            <a:rect l="0" t="0" r="r" b="b"/>
            <a:pathLst>
              <a:path w="24532" h="43200" fill="none" extrusionOk="0">
                <a:moveTo>
                  <a:pt x="-1" y="199"/>
                </a:moveTo>
                <a:cubicBezTo>
                  <a:pt x="971" y="66"/>
                  <a:pt x="1951" y="0"/>
                  <a:pt x="2932" y="0"/>
                </a:cubicBezTo>
                <a:cubicBezTo>
                  <a:pt x="14861" y="0"/>
                  <a:pt x="24532" y="9670"/>
                  <a:pt x="24532" y="21600"/>
                </a:cubicBezTo>
                <a:cubicBezTo>
                  <a:pt x="24532" y="33529"/>
                  <a:pt x="14861" y="43200"/>
                  <a:pt x="2932" y="43200"/>
                </a:cubicBezTo>
                <a:cubicBezTo>
                  <a:pt x="2243" y="43199"/>
                  <a:pt x="1555" y="43167"/>
                  <a:pt x="869" y="43101"/>
                </a:cubicBezTo>
              </a:path>
              <a:path w="24532" h="43200" stroke="0" extrusionOk="0">
                <a:moveTo>
                  <a:pt x="-1" y="199"/>
                </a:moveTo>
                <a:cubicBezTo>
                  <a:pt x="971" y="66"/>
                  <a:pt x="1951" y="0"/>
                  <a:pt x="2932" y="0"/>
                </a:cubicBezTo>
                <a:cubicBezTo>
                  <a:pt x="14861" y="0"/>
                  <a:pt x="24532" y="9670"/>
                  <a:pt x="24532" y="21600"/>
                </a:cubicBezTo>
                <a:cubicBezTo>
                  <a:pt x="24532" y="33529"/>
                  <a:pt x="14861" y="43200"/>
                  <a:pt x="2932" y="43200"/>
                </a:cubicBezTo>
                <a:cubicBezTo>
                  <a:pt x="2243" y="43199"/>
                  <a:pt x="1555" y="43167"/>
                  <a:pt x="869" y="43101"/>
                </a:cubicBezTo>
                <a:lnTo>
                  <a:pt x="2932" y="21600"/>
                </a:lnTo>
                <a:close/>
              </a:path>
            </a:pathLst>
          </a:custGeom>
          <a:noFill/>
          <a:ln w="28575">
            <a:solidFill>
              <a:schemeClr val="tx1"/>
            </a:solidFill>
            <a:round/>
            <a:headEnd type="triangle" w="med" len="me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854341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7757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7757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87757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87757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87757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7570"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Data Dependence</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a:t>Dependencies are a property of programs</a:t>
            </a:r>
          </a:p>
          <a:p>
            <a:pPr lvl="1"/>
            <a:r>
              <a:rPr lang="en-US" altLang="en-US" dirty="0"/>
              <a:t>Presence of dependence indicates </a:t>
            </a:r>
            <a:r>
              <a:rPr lang="en-US" altLang="en-US" dirty="0">
                <a:solidFill>
                  <a:srgbClr val="FF0000"/>
                </a:solidFill>
              </a:rPr>
              <a:t>potential</a:t>
            </a:r>
            <a:r>
              <a:rPr lang="en-US" altLang="en-US" dirty="0"/>
              <a:t> for a hazard, but actual hazard and length of any stall is a property of the </a:t>
            </a:r>
            <a:r>
              <a:rPr lang="en-US" altLang="en-US" dirty="0">
                <a:solidFill>
                  <a:srgbClr val="FF0000"/>
                </a:solidFill>
              </a:rPr>
              <a:t>pipeline</a:t>
            </a:r>
            <a:endParaRPr lang="en-US" altLang="en-US" dirty="0">
              <a:solidFill>
                <a:srgbClr val="0FEFEA"/>
              </a:solidFill>
            </a:endParaRPr>
          </a:p>
          <a:p>
            <a:pPr lvl="1"/>
            <a:r>
              <a:rPr lang="en-US" dirty="0" smtClean="0"/>
              <a:t>Pipeline </a:t>
            </a:r>
            <a:r>
              <a:rPr lang="en-US" dirty="0"/>
              <a:t>organization determines if dependence is detected and if it causes a stall</a:t>
            </a:r>
          </a:p>
          <a:p>
            <a:pPr>
              <a:lnSpc>
                <a:spcPct val="90000"/>
              </a:lnSpc>
            </a:pPr>
            <a:r>
              <a:rPr lang="en-US" dirty="0" smtClean="0"/>
              <a:t>Data </a:t>
            </a:r>
            <a:r>
              <a:rPr lang="en-US" dirty="0"/>
              <a:t>dependence conveys:</a:t>
            </a:r>
          </a:p>
          <a:p>
            <a:pPr lvl="1">
              <a:lnSpc>
                <a:spcPct val="90000"/>
              </a:lnSpc>
            </a:pPr>
            <a:r>
              <a:rPr lang="en-US" dirty="0"/>
              <a:t>Possibility of a hazard</a:t>
            </a:r>
          </a:p>
          <a:p>
            <a:pPr lvl="1">
              <a:lnSpc>
                <a:spcPct val="90000"/>
              </a:lnSpc>
            </a:pPr>
            <a:r>
              <a:rPr lang="en-US" dirty="0"/>
              <a:t>Order in which results must be calculated</a:t>
            </a:r>
          </a:p>
          <a:p>
            <a:pPr lvl="1">
              <a:lnSpc>
                <a:spcPct val="90000"/>
              </a:lnSpc>
            </a:pPr>
            <a:r>
              <a:rPr lang="en-US" dirty="0"/>
              <a:t>Upper bound on exploitable instruction level parallelism</a:t>
            </a:r>
          </a:p>
          <a:p>
            <a:pPr>
              <a:lnSpc>
                <a:spcPct val="90000"/>
              </a:lnSpc>
            </a:pPr>
            <a:r>
              <a:rPr lang="en-US" dirty="0" smtClean="0"/>
              <a:t>Dependencies </a:t>
            </a:r>
            <a:r>
              <a:rPr lang="en-US" dirty="0"/>
              <a:t>that flow through memory locations are difficult to </a:t>
            </a:r>
            <a:r>
              <a:rPr lang="en-US" dirty="0" smtClean="0"/>
              <a:t>detect</a:t>
            </a:r>
          </a:p>
          <a:p>
            <a:pPr lvl="1"/>
            <a:r>
              <a:rPr lang="en-US" dirty="0" smtClean="0"/>
              <a:t>E.g., 100(</a:t>
            </a:r>
            <a:r>
              <a:rPr lang="en-US" altLang="zh-CN" dirty="0" smtClean="0"/>
              <a:t>x4) may equal 20(x6); 20(x4) may be different from 20(x4)</a:t>
            </a:r>
            <a:endParaRPr lang="en-US" dirty="0" smtClean="0"/>
          </a:p>
        </p:txBody>
      </p:sp>
    </p:spTree>
    <p:extLst>
      <p:ext uri="{BB962C8B-B14F-4D97-AF65-F5344CB8AC3E}">
        <p14:creationId xmlns:p14="http://schemas.microsoft.com/office/powerpoint/2010/main" val="30453744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1666" name="Rectangle 2"/>
          <p:cNvSpPr>
            <a:spLocks noGrp="1" noChangeArrowheads="1"/>
          </p:cNvSpPr>
          <p:nvPr>
            <p:ph type="title"/>
          </p:nvPr>
        </p:nvSpPr>
        <p:spPr>
          <a:xfrm>
            <a:off x="1199456" y="228600"/>
            <a:ext cx="8477944" cy="1143000"/>
          </a:xfrm>
        </p:spPr>
        <p:txBody>
          <a:bodyPr/>
          <a:lstStyle/>
          <a:p>
            <a:r>
              <a:rPr lang="en-US" altLang="en-US" dirty="0"/>
              <a:t>Program order</a:t>
            </a:r>
          </a:p>
        </p:txBody>
      </p:sp>
      <p:sp>
        <p:nvSpPr>
          <p:cNvPr id="881667" name="Rectangle 3"/>
          <p:cNvSpPr>
            <a:spLocks noGrp="1" noChangeArrowheads="1"/>
          </p:cNvSpPr>
          <p:nvPr>
            <p:ph type="body" idx="1"/>
          </p:nvPr>
        </p:nvSpPr>
        <p:spPr>
          <a:xfrm>
            <a:off x="695400" y="1556792"/>
            <a:ext cx="11089232" cy="4953000"/>
          </a:xfrm>
        </p:spPr>
        <p:txBody>
          <a:bodyPr/>
          <a:lstStyle/>
          <a:p>
            <a:pPr>
              <a:lnSpc>
                <a:spcPct val="80000"/>
              </a:lnSpc>
            </a:pPr>
            <a:r>
              <a:rPr lang="en-US" altLang="en-US" dirty="0" smtClean="0"/>
              <a:t>Order </a:t>
            </a:r>
            <a:r>
              <a:rPr lang="en-US" altLang="en-US" dirty="0"/>
              <a:t>instructions would execute in if executed sequentially 1 at a time as determined by original source program</a:t>
            </a:r>
          </a:p>
          <a:p>
            <a:pPr>
              <a:lnSpc>
                <a:spcPct val="80000"/>
              </a:lnSpc>
            </a:pPr>
            <a:r>
              <a:rPr lang="en-US" altLang="en-US" dirty="0"/>
              <a:t>HW/SW goal: exploit parallelism by preserving appearance of program order </a:t>
            </a:r>
          </a:p>
          <a:p>
            <a:pPr lvl="1">
              <a:lnSpc>
                <a:spcPct val="80000"/>
              </a:lnSpc>
            </a:pPr>
            <a:r>
              <a:rPr lang="en-US" altLang="en-US" dirty="0" smtClean="0">
                <a:solidFill>
                  <a:srgbClr val="FF0000"/>
                </a:solidFill>
              </a:rPr>
              <a:t>Modify </a:t>
            </a:r>
            <a:r>
              <a:rPr lang="en-US" altLang="en-US" dirty="0">
                <a:solidFill>
                  <a:srgbClr val="FF0000"/>
                </a:solidFill>
              </a:rPr>
              <a:t>order in manner </a:t>
            </a:r>
            <a:r>
              <a:rPr lang="en-US" altLang="en-US" dirty="0" smtClean="0">
                <a:solidFill>
                  <a:srgbClr val="FF0000"/>
                </a:solidFill>
              </a:rPr>
              <a:t>that </a:t>
            </a:r>
            <a:r>
              <a:rPr lang="en-US" altLang="en-US" dirty="0">
                <a:solidFill>
                  <a:srgbClr val="FF0000"/>
                </a:solidFill>
              </a:rPr>
              <a:t>cannot be observed by program</a:t>
            </a:r>
          </a:p>
          <a:p>
            <a:pPr lvl="1">
              <a:lnSpc>
                <a:spcPct val="80000"/>
              </a:lnSpc>
            </a:pPr>
            <a:r>
              <a:rPr lang="en-US" altLang="en-US" dirty="0" smtClean="0">
                <a:solidFill>
                  <a:srgbClr val="FF0000"/>
                </a:solidFill>
              </a:rPr>
              <a:t>Must </a:t>
            </a:r>
            <a:r>
              <a:rPr lang="en-US" altLang="en-US" dirty="0">
                <a:solidFill>
                  <a:srgbClr val="FF0000"/>
                </a:solidFill>
              </a:rPr>
              <a:t>not affect the outcome of the program</a:t>
            </a:r>
          </a:p>
          <a:p>
            <a:r>
              <a:rPr lang="en-US" altLang="zh-CN" dirty="0"/>
              <a:t>Two instructions use the same name but no flow of information</a:t>
            </a:r>
          </a:p>
          <a:p>
            <a:pPr lvl="1"/>
            <a:r>
              <a:rPr lang="en-US" altLang="zh-CN" dirty="0"/>
              <a:t>Not a true data dependence, but is a problem when reordering </a:t>
            </a:r>
            <a:r>
              <a:rPr lang="en-US" altLang="zh-CN" dirty="0" smtClean="0"/>
              <a:t>instructions</a:t>
            </a:r>
            <a:endParaRPr lang="en-US" altLang="en-US" dirty="0" smtClean="0"/>
          </a:p>
          <a:p>
            <a:pPr>
              <a:lnSpc>
                <a:spcPct val="80000"/>
              </a:lnSpc>
            </a:pPr>
            <a:r>
              <a:rPr lang="en-US" altLang="en-US" dirty="0" smtClean="0"/>
              <a:t>Ex</a:t>
            </a:r>
            <a:r>
              <a:rPr lang="en-US" altLang="en-US" dirty="0"/>
              <a:t>: Instructions involved in a </a:t>
            </a:r>
            <a:r>
              <a:rPr lang="en-US" altLang="en-US" dirty="0">
                <a:solidFill>
                  <a:srgbClr val="FF0000"/>
                </a:solidFill>
              </a:rPr>
              <a:t>name dependence </a:t>
            </a:r>
            <a:r>
              <a:rPr lang="en-US" altLang="en-US" dirty="0"/>
              <a:t>can execute simultaneously </a:t>
            </a:r>
            <a:r>
              <a:rPr lang="en-US" altLang="en-US" dirty="0">
                <a:solidFill>
                  <a:srgbClr val="00B050"/>
                </a:solidFill>
              </a:rPr>
              <a:t>if name used </a:t>
            </a:r>
            <a:r>
              <a:rPr lang="en-US" altLang="en-US" dirty="0"/>
              <a:t>in instructions </a:t>
            </a:r>
            <a:r>
              <a:rPr lang="en-US" altLang="en-US" dirty="0">
                <a:solidFill>
                  <a:srgbClr val="00B050"/>
                </a:solidFill>
              </a:rPr>
              <a:t>is changed </a:t>
            </a:r>
            <a:r>
              <a:rPr lang="en-US" altLang="en-US" dirty="0"/>
              <a:t>so instructions do not conflict</a:t>
            </a:r>
          </a:p>
          <a:p>
            <a:pPr lvl="1">
              <a:lnSpc>
                <a:spcPct val="80000"/>
              </a:lnSpc>
            </a:pPr>
            <a:r>
              <a:rPr lang="en-US" altLang="en-US" dirty="0">
                <a:solidFill>
                  <a:srgbClr val="FF0000"/>
                </a:solidFill>
              </a:rPr>
              <a:t>Register renaming</a:t>
            </a:r>
            <a:r>
              <a:rPr lang="en-US" altLang="en-US" dirty="0"/>
              <a:t> resolves name dependence for </a:t>
            </a:r>
            <a:r>
              <a:rPr lang="en-US" altLang="en-US" dirty="0" smtClean="0"/>
              <a:t>registers</a:t>
            </a:r>
            <a:endParaRPr lang="en-US" altLang="en-US" dirty="0"/>
          </a:p>
          <a:p>
            <a:pPr lvl="1">
              <a:lnSpc>
                <a:spcPct val="80000"/>
              </a:lnSpc>
            </a:pPr>
            <a:r>
              <a:rPr lang="en-US" altLang="en-US" dirty="0"/>
              <a:t>Either by compiler or by </a:t>
            </a:r>
            <a:r>
              <a:rPr lang="en-US" altLang="en-US" dirty="0" smtClean="0"/>
              <a:t>HW</a:t>
            </a:r>
            <a:endParaRPr lang="en-US" altLang="en-US" dirty="0"/>
          </a:p>
        </p:txBody>
      </p:sp>
    </p:spTree>
    <p:extLst>
      <p:ext uri="{BB962C8B-B14F-4D97-AF65-F5344CB8AC3E}">
        <p14:creationId xmlns:p14="http://schemas.microsoft.com/office/powerpoint/2010/main" val="303797874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816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8166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88166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88166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88166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881667">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881667">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881667">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499"/>
                                          </p:stCondLst>
                                        </p:cTn>
                                        <p:tgtEl>
                                          <p:spTgt spid="88166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1667"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8594" name="Rectangle 2"/>
          <p:cNvSpPr>
            <a:spLocks noGrp="1" noChangeArrowheads="1"/>
          </p:cNvSpPr>
          <p:nvPr>
            <p:ph type="body" idx="1"/>
          </p:nvPr>
        </p:nvSpPr>
        <p:spPr>
          <a:xfrm>
            <a:off x="911424" y="1700808"/>
            <a:ext cx="10513168" cy="468052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en-US" dirty="0">
                <a:solidFill>
                  <a:srgbClr val="FF0000"/>
                </a:solidFill>
              </a:rPr>
              <a:t>A</a:t>
            </a:r>
            <a:r>
              <a:rPr lang="en-US" altLang="en-US" dirty="0" smtClean="0">
                <a:solidFill>
                  <a:srgbClr val="FF0000"/>
                </a:solidFill>
              </a:rPr>
              <a:t>nti-dependence</a:t>
            </a:r>
            <a:r>
              <a:rPr lang="en-US" altLang="en-US" dirty="0" smtClean="0">
                <a:solidFill>
                  <a:schemeClr val="hlink"/>
                </a:solidFill>
              </a:rPr>
              <a:t>: </a:t>
            </a:r>
            <a:r>
              <a:rPr lang="en-US" altLang="en-US" dirty="0" err="1" smtClean="0"/>
              <a:t>Instr</a:t>
            </a:r>
            <a:r>
              <a:rPr lang="en-US" altLang="en-US" baseline="-25000" dirty="0" err="1" smtClean="0"/>
              <a:t>J</a:t>
            </a:r>
            <a:r>
              <a:rPr lang="en-US" altLang="en-US" dirty="0" smtClean="0"/>
              <a:t> </a:t>
            </a:r>
            <a:r>
              <a:rPr lang="en-US" altLang="en-US" dirty="0"/>
              <a:t>writes operand </a:t>
            </a:r>
            <a:r>
              <a:rPr lang="en-US" altLang="en-US" i="1" u="sng" dirty="0">
                <a:solidFill>
                  <a:srgbClr val="FF0000"/>
                </a:solidFill>
              </a:rPr>
              <a:t>before</a:t>
            </a:r>
            <a:r>
              <a:rPr lang="en-US" altLang="en-US" dirty="0"/>
              <a:t> </a:t>
            </a:r>
            <a:r>
              <a:rPr lang="en-US" altLang="en-US" dirty="0" err="1"/>
              <a:t>Instr</a:t>
            </a:r>
            <a:r>
              <a:rPr lang="en-US" altLang="en-US" baseline="-25000" dirty="0" err="1"/>
              <a:t>I</a:t>
            </a:r>
            <a:r>
              <a:rPr lang="en-US" altLang="en-US" baseline="-25000" dirty="0"/>
              <a:t> </a:t>
            </a:r>
            <a:r>
              <a:rPr lang="en-US" altLang="en-US" dirty="0"/>
              <a:t>reads </a:t>
            </a:r>
            <a:r>
              <a:rPr lang="en-US" altLang="en-US" dirty="0" smtClean="0"/>
              <a:t>it</a:t>
            </a:r>
          </a:p>
          <a:p>
            <a:pPr lvl="1"/>
            <a:r>
              <a:rPr lang="en-US" altLang="en-US" dirty="0" smtClean="0"/>
              <a:t>This </a:t>
            </a:r>
            <a:r>
              <a:rPr lang="en-US" altLang="en-US" dirty="0"/>
              <a:t>results from reuse of the name “</a:t>
            </a:r>
            <a:r>
              <a:rPr lang="en-US" altLang="en-US" dirty="0">
                <a:solidFill>
                  <a:schemeClr val="hlink"/>
                </a:solidFill>
              </a:rPr>
              <a:t>r1</a:t>
            </a:r>
            <a:r>
              <a:rPr lang="en-US" altLang="en-US" dirty="0"/>
              <a:t>”</a:t>
            </a:r>
          </a:p>
          <a:p>
            <a:pPr lvl="1"/>
            <a:r>
              <a:rPr lang="en-US" altLang="en-US" dirty="0"/>
              <a:t>If anti-dependence caused a hazard in </a:t>
            </a:r>
            <a:r>
              <a:rPr lang="en-US" altLang="en-US" dirty="0" smtClean="0"/>
              <a:t/>
            </a:r>
            <a:br>
              <a:rPr lang="en-US" altLang="en-US" dirty="0" smtClean="0"/>
            </a:br>
            <a:r>
              <a:rPr lang="en-US" altLang="en-US" dirty="0" smtClean="0"/>
              <a:t>the </a:t>
            </a:r>
            <a:r>
              <a:rPr lang="en-US" altLang="en-US" dirty="0"/>
              <a:t>pipeline, called a </a:t>
            </a:r>
            <a:r>
              <a:rPr lang="en-US" altLang="en-US" dirty="0" smtClean="0"/>
              <a:t/>
            </a:r>
            <a:br>
              <a:rPr lang="en-US" altLang="en-US" dirty="0" smtClean="0"/>
            </a:br>
            <a:r>
              <a:rPr lang="en-US" altLang="en-US" sz="2800" dirty="0">
                <a:solidFill>
                  <a:srgbClr val="FF0000"/>
                </a:solidFill>
              </a:rPr>
              <a:t>Write After Read (WAR) hazard</a:t>
            </a:r>
          </a:p>
          <a:p>
            <a:endParaRPr lang="en-US" altLang="en-US" dirty="0" smtClean="0">
              <a:solidFill>
                <a:schemeClr val="hlink"/>
              </a:solidFill>
            </a:endParaRPr>
          </a:p>
          <a:p>
            <a:r>
              <a:rPr lang="en-US" altLang="en-US" dirty="0">
                <a:solidFill>
                  <a:srgbClr val="FF0000"/>
                </a:solidFill>
              </a:rPr>
              <a:t>Output dependence</a:t>
            </a:r>
            <a:r>
              <a:rPr lang="en-US" altLang="en-US" dirty="0" smtClean="0">
                <a:solidFill>
                  <a:schemeClr val="hlink"/>
                </a:solidFill>
              </a:rPr>
              <a:t>: </a:t>
            </a:r>
            <a:r>
              <a:rPr lang="en-US" altLang="en-US" dirty="0" err="1" smtClean="0"/>
              <a:t>Instr</a:t>
            </a:r>
            <a:r>
              <a:rPr lang="en-US" altLang="en-US" baseline="-25000" dirty="0" err="1" smtClean="0"/>
              <a:t>J</a:t>
            </a:r>
            <a:r>
              <a:rPr lang="en-US" altLang="en-US" dirty="0" smtClean="0"/>
              <a:t> </a:t>
            </a:r>
            <a:r>
              <a:rPr lang="en-US" altLang="en-US" dirty="0"/>
              <a:t>writes operand </a:t>
            </a:r>
            <a:r>
              <a:rPr lang="en-US" altLang="en-US" i="1" u="sng" dirty="0">
                <a:solidFill>
                  <a:srgbClr val="FF0000"/>
                </a:solidFill>
              </a:rPr>
              <a:t>before</a:t>
            </a:r>
            <a:r>
              <a:rPr lang="en-US" altLang="en-US" dirty="0"/>
              <a:t> </a:t>
            </a:r>
            <a:r>
              <a:rPr lang="en-US" altLang="en-US" dirty="0" err="1"/>
              <a:t>Instr</a:t>
            </a:r>
            <a:r>
              <a:rPr lang="en-US" altLang="en-US" baseline="-25000" dirty="0" err="1"/>
              <a:t>I</a:t>
            </a:r>
            <a:r>
              <a:rPr lang="en-US" altLang="en-US" baseline="-25000" dirty="0"/>
              <a:t> </a:t>
            </a:r>
            <a:r>
              <a:rPr lang="en-US" altLang="en-US" dirty="0"/>
              <a:t>writes </a:t>
            </a:r>
            <a:r>
              <a:rPr lang="en-US" altLang="en-US" dirty="0" smtClean="0"/>
              <a:t>it.</a:t>
            </a:r>
          </a:p>
          <a:p>
            <a:pPr lvl="1"/>
            <a:r>
              <a:rPr lang="en-US" altLang="en-US" dirty="0" smtClean="0"/>
              <a:t>This </a:t>
            </a:r>
            <a:r>
              <a:rPr lang="en-US" altLang="en-US" dirty="0"/>
              <a:t>also results from the reuse of name “</a:t>
            </a:r>
            <a:r>
              <a:rPr lang="en-US" altLang="en-US" dirty="0">
                <a:solidFill>
                  <a:schemeClr val="hlink"/>
                </a:solidFill>
              </a:rPr>
              <a:t>r1</a:t>
            </a:r>
            <a:r>
              <a:rPr lang="en-US" altLang="en-US" dirty="0"/>
              <a:t>”</a:t>
            </a:r>
          </a:p>
          <a:p>
            <a:pPr lvl="1"/>
            <a:r>
              <a:rPr lang="en-US" altLang="en-US" dirty="0"/>
              <a:t>If anti-dependence caused a hazard in </a:t>
            </a:r>
            <a:r>
              <a:rPr lang="en-US" altLang="en-US" dirty="0" smtClean="0"/>
              <a:t/>
            </a:r>
            <a:br>
              <a:rPr lang="en-US" altLang="en-US" dirty="0" smtClean="0"/>
            </a:br>
            <a:r>
              <a:rPr lang="en-US" altLang="en-US" dirty="0" smtClean="0"/>
              <a:t>the </a:t>
            </a:r>
            <a:r>
              <a:rPr lang="en-US" altLang="en-US" dirty="0"/>
              <a:t>pipeline, called a </a:t>
            </a:r>
            <a:r>
              <a:rPr lang="en-US" altLang="en-US" dirty="0" smtClean="0"/>
              <a:t/>
            </a:r>
            <a:br>
              <a:rPr lang="en-US" altLang="en-US" dirty="0" smtClean="0"/>
            </a:br>
            <a:r>
              <a:rPr lang="en-US" altLang="en-US" sz="2800" dirty="0">
                <a:solidFill>
                  <a:srgbClr val="FF0000"/>
                </a:solidFill>
              </a:rPr>
              <a:t>Write After Write (WAW) hazard</a:t>
            </a:r>
          </a:p>
          <a:p>
            <a:endParaRPr lang="en-US" altLang="en-US" dirty="0">
              <a:solidFill>
                <a:schemeClr val="hlink"/>
              </a:solidFill>
            </a:endParaRPr>
          </a:p>
        </p:txBody>
      </p:sp>
      <p:grpSp>
        <p:nvGrpSpPr>
          <p:cNvPr id="878595" name="Group 3"/>
          <p:cNvGrpSpPr>
            <a:grpSpLocks/>
          </p:cNvGrpSpPr>
          <p:nvPr/>
        </p:nvGrpSpPr>
        <p:grpSpPr bwMode="auto">
          <a:xfrm>
            <a:off x="7614592" y="2420888"/>
            <a:ext cx="3810000" cy="1196975"/>
            <a:chOff x="1344" y="1488"/>
            <a:chExt cx="2400" cy="754"/>
          </a:xfrm>
        </p:grpSpPr>
        <p:sp>
          <p:nvSpPr>
            <p:cNvPr id="878596" name="Rectangle 4"/>
            <p:cNvSpPr>
              <a:spLocks noChangeArrowheads="1"/>
            </p:cNvSpPr>
            <p:nvPr/>
          </p:nvSpPr>
          <p:spPr bwMode="auto">
            <a:xfrm>
              <a:off x="1632" y="1488"/>
              <a:ext cx="2112" cy="754"/>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a:r>
                <a:rPr lang="en-US" altLang="en-US" sz="2400" b="1" dirty="0">
                  <a:latin typeface="Courier New" panose="02070309020205020404" pitchFamily="49" charset="0"/>
                </a:rPr>
                <a:t>I: sub r4,</a:t>
              </a:r>
              <a:r>
                <a:rPr lang="en-US" altLang="en-US" sz="2400" b="1" dirty="0">
                  <a:solidFill>
                    <a:schemeClr val="hlink"/>
                  </a:solidFill>
                  <a:latin typeface="Courier New" panose="02070309020205020404" pitchFamily="49" charset="0"/>
                </a:rPr>
                <a:t>r1</a:t>
              </a:r>
              <a:r>
                <a:rPr lang="en-US" altLang="en-US" sz="2400" b="1" dirty="0">
                  <a:latin typeface="Courier New" panose="02070309020205020404" pitchFamily="49" charset="0"/>
                </a:rPr>
                <a:t>,r3 </a:t>
              </a:r>
            </a:p>
            <a:p>
              <a:pPr algn="l"/>
              <a:r>
                <a:rPr lang="en-US" altLang="en-US" sz="2400" b="1" dirty="0">
                  <a:latin typeface="Courier New" panose="02070309020205020404" pitchFamily="49" charset="0"/>
                </a:rPr>
                <a:t>J: add </a:t>
              </a:r>
              <a:r>
                <a:rPr lang="en-US" altLang="en-US" sz="2400" b="1" dirty="0">
                  <a:solidFill>
                    <a:schemeClr val="hlink"/>
                  </a:solidFill>
                  <a:latin typeface="Courier New" panose="02070309020205020404" pitchFamily="49" charset="0"/>
                </a:rPr>
                <a:t>r1</a:t>
              </a:r>
              <a:r>
                <a:rPr lang="en-US" altLang="en-US" sz="2400" b="1" dirty="0">
                  <a:latin typeface="Courier New" panose="02070309020205020404" pitchFamily="49" charset="0"/>
                </a:rPr>
                <a:t>,r2,r3</a:t>
              </a:r>
            </a:p>
            <a:p>
              <a:pPr algn="l"/>
              <a:r>
                <a:rPr lang="en-US" altLang="en-US" sz="2400" b="1" dirty="0">
                  <a:latin typeface="Courier New" panose="02070309020205020404" pitchFamily="49" charset="0"/>
                </a:rPr>
                <a:t>K: </a:t>
              </a:r>
              <a:r>
                <a:rPr lang="en-US" altLang="en-US" sz="2400" b="1" dirty="0" err="1">
                  <a:latin typeface="Courier New" panose="02070309020205020404" pitchFamily="49" charset="0"/>
                </a:rPr>
                <a:t>mul</a:t>
              </a:r>
              <a:r>
                <a:rPr lang="en-US" altLang="en-US" sz="2400" b="1" dirty="0">
                  <a:latin typeface="Courier New" panose="02070309020205020404" pitchFamily="49" charset="0"/>
                </a:rPr>
                <a:t> r6,r1,r7</a:t>
              </a:r>
            </a:p>
          </p:txBody>
        </p:sp>
        <p:sp>
          <p:nvSpPr>
            <p:cNvPr id="878597" name="Arc 5"/>
            <p:cNvSpPr>
              <a:spLocks/>
            </p:cNvSpPr>
            <p:nvPr/>
          </p:nvSpPr>
          <p:spPr bwMode="auto">
            <a:xfrm flipH="1" flipV="1">
              <a:off x="1344" y="1584"/>
              <a:ext cx="295" cy="288"/>
            </a:xfrm>
            <a:custGeom>
              <a:avLst/>
              <a:gdLst>
                <a:gd name="G0" fmla="+- 2932 0 0"/>
                <a:gd name="G1" fmla="+- 21600 0 0"/>
                <a:gd name="G2" fmla="+- 21600 0 0"/>
                <a:gd name="T0" fmla="*/ 0 w 24532"/>
                <a:gd name="T1" fmla="*/ 200 h 43200"/>
                <a:gd name="T2" fmla="*/ 870 w 24532"/>
                <a:gd name="T3" fmla="*/ 43101 h 43200"/>
                <a:gd name="T4" fmla="*/ 2932 w 24532"/>
                <a:gd name="T5" fmla="*/ 21600 h 43200"/>
              </a:gdLst>
              <a:ahLst/>
              <a:cxnLst>
                <a:cxn ang="0">
                  <a:pos x="T0" y="T1"/>
                </a:cxn>
                <a:cxn ang="0">
                  <a:pos x="T2" y="T3"/>
                </a:cxn>
                <a:cxn ang="0">
                  <a:pos x="T4" y="T5"/>
                </a:cxn>
              </a:cxnLst>
              <a:rect l="0" t="0" r="r" b="b"/>
              <a:pathLst>
                <a:path w="24532" h="43200" fill="none" extrusionOk="0">
                  <a:moveTo>
                    <a:pt x="-1" y="199"/>
                  </a:moveTo>
                  <a:cubicBezTo>
                    <a:pt x="971" y="66"/>
                    <a:pt x="1951" y="0"/>
                    <a:pt x="2932" y="0"/>
                  </a:cubicBezTo>
                  <a:cubicBezTo>
                    <a:pt x="14861" y="0"/>
                    <a:pt x="24532" y="9670"/>
                    <a:pt x="24532" y="21600"/>
                  </a:cubicBezTo>
                  <a:cubicBezTo>
                    <a:pt x="24532" y="33529"/>
                    <a:pt x="14861" y="43200"/>
                    <a:pt x="2932" y="43200"/>
                  </a:cubicBezTo>
                  <a:cubicBezTo>
                    <a:pt x="2243" y="43199"/>
                    <a:pt x="1555" y="43167"/>
                    <a:pt x="869" y="43101"/>
                  </a:cubicBezTo>
                </a:path>
                <a:path w="24532" h="43200" stroke="0" extrusionOk="0">
                  <a:moveTo>
                    <a:pt x="-1" y="199"/>
                  </a:moveTo>
                  <a:cubicBezTo>
                    <a:pt x="971" y="66"/>
                    <a:pt x="1951" y="0"/>
                    <a:pt x="2932" y="0"/>
                  </a:cubicBezTo>
                  <a:cubicBezTo>
                    <a:pt x="14861" y="0"/>
                    <a:pt x="24532" y="9670"/>
                    <a:pt x="24532" y="21600"/>
                  </a:cubicBezTo>
                  <a:cubicBezTo>
                    <a:pt x="24532" y="33529"/>
                    <a:pt x="14861" y="43200"/>
                    <a:pt x="2932" y="43200"/>
                  </a:cubicBezTo>
                  <a:cubicBezTo>
                    <a:pt x="2243" y="43199"/>
                    <a:pt x="1555" y="43167"/>
                    <a:pt x="869" y="43101"/>
                  </a:cubicBezTo>
                  <a:lnTo>
                    <a:pt x="2932" y="21600"/>
                  </a:lnTo>
                  <a:close/>
                </a:path>
              </a:pathLst>
            </a:custGeom>
            <a:noFill/>
            <a:ln w="28575">
              <a:solidFill>
                <a:schemeClr val="tx1"/>
              </a:solidFill>
              <a:round/>
              <a:headEn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78598" name="Rectangle 6"/>
          <p:cNvSpPr>
            <a:spLocks noGrp="1" noChangeArrowheads="1"/>
          </p:cNvSpPr>
          <p:nvPr>
            <p:ph type="title"/>
          </p:nvPr>
        </p:nvSpPr>
        <p:spPr>
          <a:xfrm>
            <a:off x="1127448" y="304800"/>
            <a:ext cx="8998768" cy="914400"/>
          </a:xfrm>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p>
            <a:r>
              <a:rPr lang="en-US" altLang="en-US" dirty="0"/>
              <a:t>Name </a:t>
            </a:r>
            <a:r>
              <a:rPr lang="en-US" altLang="en-US" dirty="0" smtClean="0"/>
              <a:t>Dependence</a:t>
            </a:r>
            <a:endParaRPr lang="en-US" altLang="en-US" dirty="0"/>
          </a:p>
        </p:txBody>
      </p:sp>
      <p:grpSp>
        <p:nvGrpSpPr>
          <p:cNvPr id="7" name="Group 4"/>
          <p:cNvGrpSpPr>
            <a:grpSpLocks/>
          </p:cNvGrpSpPr>
          <p:nvPr/>
        </p:nvGrpSpPr>
        <p:grpSpPr bwMode="auto">
          <a:xfrm>
            <a:off x="7746291" y="5085184"/>
            <a:ext cx="3810000" cy="1196975"/>
            <a:chOff x="1296" y="1680"/>
            <a:chExt cx="2400" cy="754"/>
          </a:xfrm>
        </p:grpSpPr>
        <p:sp>
          <p:nvSpPr>
            <p:cNvPr id="8" name="Rectangle 5"/>
            <p:cNvSpPr>
              <a:spLocks noChangeArrowheads="1"/>
            </p:cNvSpPr>
            <p:nvPr/>
          </p:nvSpPr>
          <p:spPr bwMode="auto">
            <a:xfrm>
              <a:off x="1584" y="1680"/>
              <a:ext cx="2112" cy="754"/>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a:r>
                <a:rPr lang="en-US" altLang="en-US" sz="2400" b="1" dirty="0">
                  <a:latin typeface="Courier New" panose="02070309020205020404" pitchFamily="49" charset="0"/>
                </a:rPr>
                <a:t>I: sub </a:t>
              </a:r>
              <a:r>
                <a:rPr lang="en-US" altLang="en-US" sz="2400" b="1" dirty="0">
                  <a:solidFill>
                    <a:schemeClr val="hlink"/>
                  </a:solidFill>
                  <a:latin typeface="Courier New" panose="02070309020205020404" pitchFamily="49" charset="0"/>
                </a:rPr>
                <a:t>r1</a:t>
              </a:r>
              <a:r>
                <a:rPr lang="en-US" altLang="en-US" sz="2400" b="1" dirty="0">
                  <a:latin typeface="Courier New" panose="02070309020205020404" pitchFamily="49" charset="0"/>
                </a:rPr>
                <a:t>,r4,r3 </a:t>
              </a:r>
            </a:p>
            <a:p>
              <a:pPr algn="l"/>
              <a:r>
                <a:rPr lang="en-US" altLang="en-US" sz="2400" b="1" dirty="0">
                  <a:latin typeface="Courier New" panose="02070309020205020404" pitchFamily="49" charset="0"/>
                </a:rPr>
                <a:t>J: add </a:t>
              </a:r>
              <a:r>
                <a:rPr lang="en-US" altLang="en-US" sz="2400" b="1" dirty="0">
                  <a:solidFill>
                    <a:schemeClr val="hlink"/>
                  </a:solidFill>
                  <a:latin typeface="Courier New" panose="02070309020205020404" pitchFamily="49" charset="0"/>
                </a:rPr>
                <a:t>r1</a:t>
              </a:r>
              <a:r>
                <a:rPr lang="en-US" altLang="en-US" sz="2400" b="1" dirty="0">
                  <a:latin typeface="Courier New" panose="02070309020205020404" pitchFamily="49" charset="0"/>
                </a:rPr>
                <a:t>,r2,r3</a:t>
              </a:r>
            </a:p>
            <a:p>
              <a:pPr algn="l"/>
              <a:r>
                <a:rPr lang="en-US" altLang="en-US" sz="2400" b="1" dirty="0">
                  <a:latin typeface="Courier New" panose="02070309020205020404" pitchFamily="49" charset="0"/>
                </a:rPr>
                <a:t>K: </a:t>
              </a:r>
              <a:r>
                <a:rPr lang="en-US" altLang="en-US" sz="2400" b="1" dirty="0" err="1">
                  <a:latin typeface="Courier New" panose="02070309020205020404" pitchFamily="49" charset="0"/>
                </a:rPr>
                <a:t>mul</a:t>
              </a:r>
              <a:r>
                <a:rPr lang="en-US" altLang="en-US" sz="2400" b="1" dirty="0">
                  <a:latin typeface="Courier New" panose="02070309020205020404" pitchFamily="49" charset="0"/>
                </a:rPr>
                <a:t> r6,r1,r7</a:t>
              </a:r>
            </a:p>
          </p:txBody>
        </p:sp>
        <p:sp>
          <p:nvSpPr>
            <p:cNvPr id="9" name="Arc 6"/>
            <p:cNvSpPr>
              <a:spLocks/>
            </p:cNvSpPr>
            <p:nvPr/>
          </p:nvSpPr>
          <p:spPr bwMode="auto">
            <a:xfrm flipH="1" flipV="1">
              <a:off x="1296" y="1776"/>
              <a:ext cx="295" cy="288"/>
            </a:xfrm>
            <a:custGeom>
              <a:avLst/>
              <a:gdLst>
                <a:gd name="G0" fmla="+- 2932 0 0"/>
                <a:gd name="G1" fmla="+- 21600 0 0"/>
                <a:gd name="G2" fmla="+- 21600 0 0"/>
                <a:gd name="T0" fmla="*/ 0 w 24532"/>
                <a:gd name="T1" fmla="*/ 200 h 43200"/>
                <a:gd name="T2" fmla="*/ 870 w 24532"/>
                <a:gd name="T3" fmla="*/ 43101 h 43200"/>
                <a:gd name="T4" fmla="*/ 2932 w 24532"/>
                <a:gd name="T5" fmla="*/ 21600 h 43200"/>
              </a:gdLst>
              <a:ahLst/>
              <a:cxnLst>
                <a:cxn ang="0">
                  <a:pos x="T0" y="T1"/>
                </a:cxn>
                <a:cxn ang="0">
                  <a:pos x="T2" y="T3"/>
                </a:cxn>
                <a:cxn ang="0">
                  <a:pos x="T4" y="T5"/>
                </a:cxn>
              </a:cxnLst>
              <a:rect l="0" t="0" r="r" b="b"/>
              <a:pathLst>
                <a:path w="24532" h="43200" fill="none" extrusionOk="0">
                  <a:moveTo>
                    <a:pt x="-1" y="199"/>
                  </a:moveTo>
                  <a:cubicBezTo>
                    <a:pt x="971" y="66"/>
                    <a:pt x="1951" y="0"/>
                    <a:pt x="2932" y="0"/>
                  </a:cubicBezTo>
                  <a:cubicBezTo>
                    <a:pt x="14861" y="0"/>
                    <a:pt x="24532" y="9670"/>
                    <a:pt x="24532" y="21600"/>
                  </a:cubicBezTo>
                  <a:cubicBezTo>
                    <a:pt x="24532" y="33529"/>
                    <a:pt x="14861" y="43200"/>
                    <a:pt x="2932" y="43200"/>
                  </a:cubicBezTo>
                  <a:cubicBezTo>
                    <a:pt x="2243" y="43199"/>
                    <a:pt x="1555" y="43167"/>
                    <a:pt x="869" y="43101"/>
                  </a:cubicBezTo>
                </a:path>
                <a:path w="24532" h="43200" stroke="0" extrusionOk="0">
                  <a:moveTo>
                    <a:pt x="-1" y="199"/>
                  </a:moveTo>
                  <a:cubicBezTo>
                    <a:pt x="971" y="66"/>
                    <a:pt x="1951" y="0"/>
                    <a:pt x="2932" y="0"/>
                  </a:cubicBezTo>
                  <a:cubicBezTo>
                    <a:pt x="14861" y="0"/>
                    <a:pt x="24532" y="9670"/>
                    <a:pt x="24532" y="21600"/>
                  </a:cubicBezTo>
                  <a:cubicBezTo>
                    <a:pt x="24532" y="33529"/>
                    <a:pt x="14861" y="43200"/>
                    <a:pt x="2932" y="43200"/>
                  </a:cubicBezTo>
                  <a:cubicBezTo>
                    <a:pt x="2243" y="43199"/>
                    <a:pt x="1555" y="43167"/>
                    <a:pt x="869" y="43101"/>
                  </a:cubicBezTo>
                  <a:lnTo>
                    <a:pt x="2932" y="21600"/>
                  </a:lnTo>
                  <a:close/>
                </a:path>
              </a:pathLst>
            </a:custGeom>
            <a:noFill/>
            <a:ln w="28575">
              <a:solidFill>
                <a:schemeClr val="tx1"/>
              </a:solidFill>
              <a:round/>
              <a:headEnd type="triangl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193892211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7859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87859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87859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87859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87859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87859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8594"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altLang="en-US" dirty="0"/>
              <a:t>Control Dependencies</a:t>
            </a:r>
            <a:endParaRPr lang="en-AU" dirty="0"/>
          </a:p>
        </p:txBody>
      </p:sp>
      <p:sp>
        <p:nvSpPr>
          <p:cNvPr id="242691" name="Rectangle 3"/>
          <p:cNvSpPr>
            <a:spLocks noGrp="1" noChangeArrowheads="1"/>
          </p:cNvSpPr>
          <p:nvPr>
            <p:ph type="body" idx="1"/>
          </p:nvPr>
        </p:nvSpPr>
        <p:spPr/>
        <p:txBody>
          <a:bodyPr/>
          <a:lstStyle/>
          <a:p>
            <a:r>
              <a:rPr lang="en-US" dirty="0" smtClean="0"/>
              <a:t>Ordering </a:t>
            </a:r>
            <a:r>
              <a:rPr lang="en-US" dirty="0"/>
              <a:t>of instruction </a:t>
            </a:r>
            <a:r>
              <a:rPr lang="en-US" dirty="0" err="1"/>
              <a:t>i</a:t>
            </a:r>
            <a:r>
              <a:rPr lang="en-US" dirty="0"/>
              <a:t> with respect to a branch instruction</a:t>
            </a:r>
          </a:p>
          <a:p>
            <a:pPr lvl="1"/>
            <a:r>
              <a:rPr lang="en-US" dirty="0"/>
              <a:t>Instruction control dependent on a branch cannot be moved before the branch so that its execution is no longer controlled by the branch</a:t>
            </a:r>
          </a:p>
          <a:p>
            <a:pPr lvl="1"/>
            <a:r>
              <a:rPr lang="en-US" dirty="0"/>
              <a:t>An instruction not control dependent on a branch cannot be moved after the branch so that its execution is controlled by the </a:t>
            </a:r>
            <a:r>
              <a:rPr lang="en-US" dirty="0" smtClean="0"/>
              <a:t>branch</a:t>
            </a:r>
          </a:p>
          <a:p>
            <a:pPr>
              <a:lnSpc>
                <a:spcPct val="80000"/>
              </a:lnSpc>
            </a:pPr>
            <a:r>
              <a:rPr lang="en-US" altLang="en-US" dirty="0" smtClean="0"/>
              <a:t>Most </a:t>
            </a:r>
            <a:r>
              <a:rPr lang="en-US" altLang="en-US" dirty="0"/>
              <a:t>instruction is control dependent on some set of branches, and, in general, these control dependencies must be preserved to preserve program order</a:t>
            </a:r>
          </a:p>
          <a:p>
            <a:pPr lvl="1">
              <a:lnSpc>
                <a:spcPct val="80000"/>
              </a:lnSpc>
            </a:pPr>
            <a:r>
              <a:rPr lang="en-US" altLang="en-US" dirty="0" smtClean="0">
                <a:latin typeface="Courier New" panose="02070309020205020404" pitchFamily="49" charset="0"/>
              </a:rPr>
              <a:t>S1</a:t>
            </a:r>
            <a:r>
              <a:rPr lang="en-US" altLang="en-US" dirty="0" smtClean="0"/>
              <a:t> </a:t>
            </a:r>
            <a:r>
              <a:rPr lang="en-US" altLang="en-US" dirty="0"/>
              <a:t>is control dependent on </a:t>
            </a:r>
            <a:r>
              <a:rPr lang="en-US" altLang="en-US" dirty="0" smtClean="0">
                <a:latin typeface="Courier New" panose="02070309020205020404" pitchFamily="49" charset="0"/>
              </a:rPr>
              <a:t>p1</a:t>
            </a:r>
            <a:br>
              <a:rPr lang="en-US" altLang="en-US" dirty="0" smtClean="0">
                <a:latin typeface="Courier New" panose="02070309020205020404" pitchFamily="49" charset="0"/>
              </a:rPr>
            </a:br>
            <a:r>
              <a:rPr lang="en-US" altLang="en-US" dirty="0" smtClean="0">
                <a:latin typeface="Courier New" panose="02070309020205020404" pitchFamily="49" charset="0"/>
              </a:rPr>
              <a:t>S2</a:t>
            </a:r>
            <a:r>
              <a:rPr lang="en-US" altLang="en-US" dirty="0" smtClean="0"/>
              <a:t> </a:t>
            </a:r>
            <a:r>
              <a:rPr lang="en-US" altLang="en-US" dirty="0"/>
              <a:t>is control dependent on </a:t>
            </a:r>
            <a:r>
              <a:rPr lang="en-US" altLang="en-US" dirty="0">
                <a:latin typeface="Courier New" panose="02070309020205020404" pitchFamily="49" charset="0"/>
              </a:rPr>
              <a:t>p2</a:t>
            </a:r>
            <a:r>
              <a:rPr lang="en-US" altLang="en-US" dirty="0"/>
              <a:t> but not on </a:t>
            </a:r>
            <a:r>
              <a:rPr lang="en-US" altLang="en-US" dirty="0" smtClean="0">
                <a:latin typeface="Courier New" panose="02070309020205020404" pitchFamily="49" charset="0"/>
              </a:rPr>
              <a:t>p1</a:t>
            </a:r>
            <a:endParaRPr lang="en-US" altLang="en-US" dirty="0"/>
          </a:p>
          <a:p>
            <a:r>
              <a:rPr lang="en-US" altLang="en-US" dirty="0"/>
              <a:t>Control dependence need not always be preserved</a:t>
            </a:r>
          </a:p>
          <a:p>
            <a:pPr lvl="1"/>
            <a:r>
              <a:rPr lang="en-US" altLang="en-US" dirty="0"/>
              <a:t>Willing to execute instructions that should not have been executed, thereby violating the control dependences, </a:t>
            </a:r>
            <a:r>
              <a:rPr lang="en-US" altLang="en-US" dirty="0">
                <a:solidFill>
                  <a:srgbClr val="FF0000"/>
                </a:solidFill>
              </a:rPr>
              <a:t>if</a:t>
            </a:r>
            <a:r>
              <a:rPr lang="en-US" altLang="en-US" dirty="0"/>
              <a:t> can do so without affecting correctness of the program </a:t>
            </a:r>
          </a:p>
        </p:txBody>
      </p:sp>
      <p:sp>
        <p:nvSpPr>
          <p:cNvPr id="3" name="矩形 2"/>
          <p:cNvSpPr/>
          <p:nvPr/>
        </p:nvSpPr>
        <p:spPr>
          <a:xfrm>
            <a:off x="10128448" y="4221088"/>
            <a:ext cx="2183904" cy="1882310"/>
          </a:xfrm>
          <a:prstGeom prst="rect">
            <a:avLst/>
          </a:prstGeom>
        </p:spPr>
        <p:txBody>
          <a:bodyPr wrap="square">
            <a:spAutoFit/>
          </a:bodyPr>
          <a:lstStyle/>
          <a:p>
            <a:pPr lvl="1">
              <a:lnSpc>
                <a:spcPct val="80000"/>
              </a:lnSpc>
              <a:buFont typeface="Wingdings" panose="05000000000000000000" pitchFamily="2" charset="2"/>
              <a:buNone/>
            </a:pPr>
            <a:r>
              <a:rPr lang="en-US" altLang="en-US" sz="2400" b="1" dirty="0">
                <a:latin typeface="Courier New" panose="02070309020205020404" pitchFamily="49" charset="0"/>
              </a:rPr>
              <a:t>if p1 {</a:t>
            </a:r>
          </a:p>
          <a:p>
            <a:pPr lvl="1">
              <a:lnSpc>
                <a:spcPct val="80000"/>
              </a:lnSpc>
              <a:buFont typeface="Wingdings" panose="05000000000000000000" pitchFamily="2" charset="2"/>
              <a:buNone/>
            </a:pPr>
            <a:r>
              <a:rPr lang="en-US" altLang="en-US" sz="2400" b="1" dirty="0">
                <a:latin typeface="Courier New" panose="02070309020205020404" pitchFamily="49" charset="0"/>
              </a:rPr>
              <a:t>	S1;</a:t>
            </a:r>
          </a:p>
          <a:p>
            <a:pPr lvl="1">
              <a:lnSpc>
                <a:spcPct val="80000"/>
              </a:lnSpc>
              <a:buFont typeface="Wingdings" panose="05000000000000000000" pitchFamily="2" charset="2"/>
              <a:buNone/>
            </a:pPr>
            <a:r>
              <a:rPr lang="en-US" altLang="en-US" sz="2400" b="1" dirty="0">
                <a:latin typeface="Courier New" panose="02070309020205020404" pitchFamily="49" charset="0"/>
              </a:rPr>
              <a:t>};</a:t>
            </a:r>
          </a:p>
          <a:p>
            <a:pPr lvl="1">
              <a:lnSpc>
                <a:spcPct val="80000"/>
              </a:lnSpc>
              <a:buFont typeface="Wingdings" panose="05000000000000000000" pitchFamily="2" charset="2"/>
              <a:buNone/>
            </a:pPr>
            <a:r>
              <a:rPr lang="en-US" altLang="en-US" sz="2400" b="1" dirty="0">
                <a:latin typeface="Courier New" panose="02070309020205020404" pitchFamily="49" charset="0"/>
              </a:rPr>
              <a:t>if p2 {</a:t>
            </a:r>
          </a:p>
          <a:p>
            <a:pPr lvl="1">
              <a:lnSpc>
                <a:spcPct val="80000"/>
              </a:lnSpc>
              <a:buFont typeface="Wingdings" panose="05000000000000000000" pitchFamily="2" charset="2"/>
              <a:buNone/>
            </a:pPr>
            <a:r>
              <a:rPr lang="en-US" altLang="en-US" sz="2400" b="1" dirty="0">
                <a:latin typeface="Courier New" panose="02070309020205020404" pitchFamily="49" charset="0"/>
              </a:rPr>
              <a:t>	S2;</a:t>
            </a:r>
          </a:p>
          <a:p>
            <a:pPr lvl="1">
              <a:lnSpc>
                <a:spcPct val="80000"/>
              </a:lnSpc>
              <a:buFont typeface="Wingdings" panose="05000000000000000000" pitchFamily="2" charset="2"/>
              <a:buNone/>
            </a:pPr>
            <a:r>
              <a:rPr lang="en-US" altLang="en-US" sz="2400" b="1" dirty="0">
                <a:latin typeface="Courier New" panose="02070309020205020404" pitchFamily="49" charset="0"/>
              </a:rPr>
              <a:t>}</a:t>
            </a:r>
            <a:endParaRPr lang="en-US" altLang="en-US" sz="2800" b="1" dirty="0"/>
          </a:p>
        </p:txBody>
      </p:sp>
    </p:spTree>
    <p:extLst>
      <p:ext uri="{BB962C8B-B14F-4D97-AF65-F5344CB8AC3E}">
        <p14:creationId xmlns:p14="http://schemas.microsoft.com/office/powerpoint/2010/main" val="27945513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4738" name="Rectangle 2"/>
          <p:cNvSpPr>
            <a:spLocks noGrp="1" noChangeArrowheads="1"/>
          </p:cNvSpPr>
          <p:nvPr>
            <p:ph type="title"/>
          </p:nvPr>
        </p:nvSpPr>
        <p:spPr/>
        <p:txBody>
          <a:bodyPr/>
          <a:lstStyle/>
          <a:p>
            <a:r>
              <a:rPr lang="en-US" altLang="en-US"/>
              <a:t>Exception Behavior</a:t>
            </a:r>
          </a:p>
        </p:txBody>
      </p:sp>
      <p:sp>
        <p:nvSpPr>
          <p:cNvPr id="884739" name="Rectangle 3"/>
          <p:cNvSpPr>
            <a:spLocks noGrp="1" noChangeArrowheads="1"/>
          </p:cNvSpPr>
          <p:nvPr>
            <p:ph type="body" idx="1"/>
          </p:nvPr>
        </p:nvSpPr>
        <p:spPr/>
        <p:txBody>
          <a:bodyPr/>
          <a:lstStyle/>
          <a:p>
            <a:r>
              <a:rPr lang="en-US" altLang="en-US" dirty="0"/>
              <a:t>2 properties critical to program correctness are </a:t>
            </a:r>
            <a:r>
              <a:rPr lang="en-US" altLang="en-US" dirty="0">
                <a:solidFill>
                  <a:srgbClr val="FF0000"/>
                </a:solidFill>
              </a:rPr>
              <a:t>exception behavior</a:t>
            </a:r>
            <a:r>
              <a:rPr lang="en-US" altLang="en-US" dirty="0"/>
              <a:t> and </a:t>
            </a:r>
            <a:r>
              <a:rPr lang="en-US" altLang="en-US" dirty="0">
                <a:solidFill>
                  <a:srgbClr val="FF0000"/>
                </a:solidFill>
              </a:rPr>
              <a:t>data </a:t>
            </a:r>
            <a:r>
              <a:rPr lang="en-US" altLang="en-US" dirty="0" smtClean="0">
                <a:solidFill>
                  <a:srgbClr val="FF0000"/>
                </a:solidFill>
              </a:rPr>
              <a:t>flow</a:t>
            </a:r>
            <a:endParaRPr lang="en-US" altLang="en-US" dirty="0" smtClean="0"/>
          </a:p>
          <a:p>
            <a:r>
              <a:rPr lang="en-US" altLang="en-US" dirty="0" smtClean="0"/>
              <a:t>Preserving </a:t>
            </a:r>
            <a:r>
              <a:rPr lang="en-US" altLang="en-US" dirty="0"/>
              <a:t>exception behavior =&gt; any changes in instruction execution order must not change how exceptions are raised in program (=&gt; no new exceptions)</a:t>
            </a:r>
          </a:p>
          <a:p>
            <a:r>
              <a:rPr lang="en-US" altLang="en-US" dirty="0"/>
              <a:t>Example:</a:t>
            </a:r>
            <a:r>
              <a:rPr lang="en-US" altLang="en-US" dirty="0">
                <a:latin typeface="Courier New" panose="02070309020205020404" pitchFamily="49" charset="0"/>
              </a:rPr>
              <a:t/>
            </a:r>
            <a:br>
              <a:rPr lang="en-US" altLang="en-US" dirty="0">
                <a:latin typeface="Courier New" panose="02070309020205020404" pitchFamily="49" charset="0"/>
              </a:rPr>
            </a:br>
            <a:r>
              <a:rPr lang="en-US" altLang="en-US" dirty="0">
                <a:latin typeface="Courier New" panose="02070309020205020404" pitchFamily="49" charset="0"/>
              </a:rPr>
              <a:t>	</a:t>
            </a:r>
            <a:r>
              <a:rPr lang="en-US" altLang="en-US" dirty="0" smtClean="0">
                <a:latin typeface="Courier New" panose="02070309020205020404" pitchFamily="49" charset="0"/>
              </a:rPr>
              <a:t>ADD</a:t>
            </a:r>
            <a:r>
              <a:rPr lang="en-US" altLang="en-US" dirty="0">
                <a:latin typeface="Courier New" panose="02070309020205020404" pitchFamily="49" charset="0"/>
              </a:rPr>
              <a:t>		</a:t>
            </a:r>
            <a:r>
              <a:rPr lang="en-US" altLang="en-US" dirty="0" smtClean="0">
                <a:latin typeface="Courier New" panose="02070309020205020404" pitchFamily="49" charset="0"/>
              </a:rPr>
              <a:t>x2,x3,x4</a:t>
            </a:r>
            <a:r>
              <a:rPr lang="en-US" altLang="en-US" dirty="0">
                <a:latin typeface="Courier New" panose="02070309020205020404" pitchFamily="49" charset="0"/>
              </a:rPr>
              <a:t/>
            </a:r>
            <a:br>
              <a:rPr lang="en-US" altLang="en-US" dirty="0">
                <a:latin typeface="Courier New" panose="02070309020205020404" pitchFamily="49" charset="0"/>
              </a:rPr>
            </a:br>
            <a:r>
              <a:rPr lang="en-US" altLang="en-US" dirty="0">
                <a:latin typeface="Courier New" panose="02070309020205020404" pitchFamily="49" charset="0"/>
              </a:rPr>
              <a:t>	</a:t>
            </a:r>
            <a:r>
              <a:rPr lang="en-US" altLang="en-US" dirty="0" smtClean="0">
                <a:latin typeface="Courier New" panose="02070309020205020404" pitchFamily="49" charset="0"/>
              </a:rPr>
              <a:t>BEQ</a:t>
            </a:r>
            <a:r>
              <a:rPr lang="en-US" altLang="en-US" dirty="0">
                <a:latin typeface="Courier New" panose="02070309020205020404" pitchFamily="49" charset="0"/>
              </a:rPr>
              <a:t>		</a:t>
            </a:r>
            <a:r>
              <a:rPr lang="en-US" altLang="en-US" dirty="0" smtClean="0">
                <a:latin typeface="Courier New" panose="02070309020205020404" pitchFamily="49" charset="0"/>
              </a:rPr>
              <a:t>x2,x0,L1</a:t>
            </a:r>
            <a:r>
              <a:rPr lang="en-US" altLang="en-US" dirty="0">
                <a:latin typeface="Courier New" panose="02070309020205020404" pitchFamily="49" charset="0"/>
              </a:rPr>
              <a:t/>
            </a:r>
            <a:br>
              <a:rPr lang="en-US" altLang="en-US" dirty="0">
                <a:latin typeface="Courier New" panose="02070309020205020404" pitchFamily="49" charset="0"/>
              </a:rPr>
            </a:br>
            <a:r>
              <a:rPr lang="en-US" altLang="en-US" dirty="0">
                <a:latin typeface="Courier New" panose="02070309020205020404" pitchFamily="49" charset="0"/>
              </a:rPr>
              <a:t>	</a:t>
            </a:r>
            <a:r>
              <a:rPr lang="en-US" altLang="en-US" dirty="0" smtClean="0">
                <a:latin typeface="Courier New" panose="02070309020205020404" pitchFamily="49" charset="0"/>
              </a:rPr>
              <a:t>LD</a:t>
            </a:r>
            <a:r>
              <a:rPr lang="en-US" altLang="en-US" dirty="0">
                <a:latin typeface="Courier New" panose="02070309020205020404" pitchFamily="49" charset="0"/>
              </a:rPr>
              <a:t>		</a:t>
            </a:r>
            <a:r>
              <a:rPr lang="en-US" altLang="en-US" dirty="0" smtClean="0">
                <a:latin typeface="Courier New" panose="02070309020205020404" pitchFamily="49" charset="0"/>
              </a:rPr>
              <a:t>x1,0(x2</a:t>
            </a:r>
            <a:r>
              <a:rPr lang="en-US" altLang="en-US" dirty="0">
                <a:latin typeface="Courier New" panose="02070309020205020404" pitchFamily="49" charset="0"/>
              </a:rPr>
              <a:t>)</a:t>
            </a:r>
            <a:br>
              <a:rPr lang="en-US" altLang="en-US" dirty="0">
                <a:latin typeface="Courier New" panose="02070309020205020404" pitchFamily="49" charset="0"/>
              </a:rPr>
            </a:br>
            <a:r>
              <a:rPr lang="en-US" altLang="en-US" dirty="0">
                <a:latin typeface="Courier New" panose="02070309020205020404" pitchFamily="49" charset="0"/>
              </a:rPr>
              <a:t>L1:</a:t>
            </a:r>
          </a:p>
          <a:p>
            <a:r>
              <a:rPr lang="en-US" altLang="en-US" dirty="0"/>
              <a:t>Problem with moving </a:t>
            </a:r>
            <a:r>
              <a:rPr lang="en-US" altLang="en-US" dirty="0" smtClean="0">
                <a:latin typeface="Courier New" panose="02070309020205020404" pitchFamily="49" charset="0"/>
              </a:rPr>
              <a:t>LD</a:t>
            </a:r>
            <a:r>
              <a:rPr lang="en-US" altLang="en-US" dirty="0" smtClean="0"/>
              <a:t> </a:t>
            </a:r>
            <a:r>
              <a:rPr lang="en-US" altLang="en-US" dirty="0"/>
              <a:t>before </a:t>
            </a:r>
            <a:r>
              <a:rPr lang="en-US" altLang="en-US" dirty="0" smtClean="0">
                <a:latin typeface="Courier New" panose="02070309020205020404" pitchFamily="49" charset="0"/>
              </a:rPr>
              <a:t>BEQ</a:t>
            </a:r>
            <a:r>
              <a:rPr lang="en-US" altLang="en-US" dirty="0" smtClean="0"/>
              <a:t>?</a:t>
            </a:r>
          </a:p>
          <a:p>
            <a:pPr lvl="1"/>
            <a:r>
              <a:rPr lang="en-US" altLang="en-US" dirty="0" smtClean="0"/>
              <a:t>May cause a memory protection exception</a:t>
            </a:r>
            <a:endParaRPr lang="en-US" altLang="en-US" dirty="0"/>
          </a:p>
        </p:txBody>
      </p:sp>
    </p:spTree>
    <p:extLst>
      <p:ext uri="{BB962C8B-B14F-4D97-AF65-F5344CB8AC3E}">
        <p14:creationId xmlns:p14="http://schemas.microsoft.com/office/powerpoint/2010/main" val="42364117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847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8473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88473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884739">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8847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4739"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5762" name="Rectangle 2"/>
          <p:cNvSpPr>
            <a:spLocks noGrp="1" noChangeArrowheads="1"/>
          </p:cNvSpPr>
          <p:nvPr>
            <p:ph type="title"/>
          </p:nvPr>
        </p:nvSpPr>
        <p:spPr/>
        <p:txBody>
          <a:bodyPr/>
          <a:lstStyle/>
          <a:p>
            <a:r>
              <a:rPr lang="en-US" altLang="en-US"/>
              <a:t>Data Flow</a:t>
            </a:r>
          </a:p>
        </p:txBody>
      </p:sp>
      <p:sp>
        <p:nvSpPr>
          <p:cNvPr id="885763" name="Rectangle 3"/>
          <p:cNvSpPr>
            <a:spLocks noGrp="1" noChangeArrowheads="1"/>
          </p:cNvSpPr>
          <p:nvPr>
            <p:ph type="body" idx="1"/>
          </p:nvPr>
        </p:nvSpPr>
        <p:spPr>
          <a:xfrm>
            <a:off x="838200" y="1700808"/>
            <a:ext cx="11017224" cy="4467200"/>
          </a:xfrm>
        </p:spPr>
        <p:txBody>
          <a:bodyPr/>
          <a:lstStyle/>
          <a:p>
            <a:r>
              <a:rPr lang="en-US" altLang="en-US" dirty="0" smtClean="0"/>
              <a:t>Actual </a:t>
            </a:r>
            <a:r>
              <a:rPr lang="en-US" altLang="en-US" dirty="0"/>
              <a:t>flow of data values among instructions that produce results and those that consume them</a:t>
            </a:r>
          </a:p>
          <a:p>
            <a:pPr lvl="1"/>
            <a:r>
              <a:rPr lang="en-US" altLang="en-US" dirty="0"/>
              <a:t>B</a:t>
            </a:r>
            <a:r>
              <a:rPr lang="en-US" altLang="en-US" dirty="0" smtClean="0"/>
              <a:t>ranches </a:t>
            </a:r>
            <a:r>
              <a:rPr lang="en-US" altLang="en-US" dirty="0"/>
              <a:t>make flow dynamic, determine which instruction is supplier of </a:t>
            </a:r>
            <a:r>
              <a:rPr lang="en-US" altLang="en-US" dirty="0" smtClean="0"/>
              <a:t>data. Program order is ensured by maintaining the control dependence</a:t>
            </a:r>
            <a:endParaRPr lang="en-US" altLang="en-US" dirty="0"/>
          </a:p>
          <a:p>
            <a:r>
              <a:rPr lang="en-US" altLang="en-US" dirty="0"/>
              <a:t>Example:</a:t>
            </a:r>
            <a:endParaRPr lang="en-US" altLang="en-US" dirty="0">
              <a:latin typeface="Courier New" panose="02070309020205020404" pitchFamily="49" charset="0"/>
            </a:endParaRPr>
          </a:p>
          <a:p>
            <a:pPr>
              <a:spcBef>
                <a:spcPct val="0"/>
              </a:spcBef>
              <a:buFont typeface="Wingdings" panose="05000000000000000000" pitchFamily="2" charset="2"/>
              <a:buNone/>
            </a:pPr>
            <a:r>
              <a:rPr lang="en-US" altLang="en-US" dirty="0">
                <a:latin typeface="Courier New" panose="02070309020205020404" pitchFamily="49" charset="0"/>
              </a:rPr>
              <a:t>	</a:t>
            </a:r>
            <a:r>
              <a:rPr lang="en-US" altLang="en-US" sz="2400" b="1" dirty="0" smtClean="0">
                <a:latin typeface="Courier New" panose="02070309020205020404" pitchFamily="49" charset="0"/>
              </a:rPr>
              <a:t>ADD</a:t>
            </a:r>
            <a:r>
              <a:rPr lang="en-US" altLang="en-US" sz="2400" b="1" dirty="0">
                <a:latin typeface="Courier New" panose="02070309020205020404" pitchFamily="49" charset="0"/>
              </a:rPr>
              <a:t>	</a:t>
            </a:r>
            <a:r>
              <a:rPr lang="en-US" altLang="en-US" sz="2400" b="1" dirty="0" smtClean="0">
                <a:latin typeface="Courier New" panose="02070309020205020404" pitchFamily="49" charset="0"/>
              </a:rPr>
              <a:t>	x1,x2,x3</a:t>
            </a:r>
            <a:r>
              <a:rPr lang="en-US" altLang="en-US" sz="2400" b="1" dirty="0">
                <a:latin typeface="Courier New" panose="02070309020205020404" pitchFamily="49" charset="0"/>
              </a:rPr>
              <a:t/>
            </a:r>
            <a:br>
              <a:rPr lang="en-US" altLang="en-US" sz="2400" b="1" dirty="0">
                <a:latin typeface="Courier New" panose="02070309020205020404" pitchFamily="49" charset="0"/>
              </a:rPr>
            </a:br>
            <a:r>
              <a:rPr lang="en-US" altLang="en-US" sz="2400" b="1" dirty="0" smtClean="0">
                <a:latin typeface="Courier New" panose="02070309020205020404" pitchFamily="49" charset="0"/>
              </a:rPr>
              <a:t>BEQ</a:t>
            </a:r>
            <a:r>
              <a:rPr lang="en-US" altLang="en-US" sz="2400" b="1" dirty="0">
                <a:latin typeface="Courier New" panose="02070309020205020404" pitchFamily="49" charset="0"/>
              </a:rPr>
              <a:t>	</a:t>
            </a:r>
            <a:r>
              <a:rPr lang="en-US" altLang="en-US" sz="2400" b="1" dirty="0" smtClean="0">
                <a:latin typeface="Courier New" panose="02070309020205020404" pitchFamily="49" charset="0"/>
              </a:rPr>
              <a:t>	x4,x0,L</a:t>
            </a:r>
            <a:r>
              <a:rPr lang="en-US" altLang="en-US" sz="2400" b="1" dirty="0">
                <a:latin typeface="Courier New" panose="02070309020205020404" pitchFamily="49" charset="0"/>
              </a:rPr>
              <a:t/>
            </a:r>
            <a:br>
              <a:rPr lang="en-US" altLang="en-US" sz="2400" b="1" dirty="0">
                <a:latin typeface="Courier New" panose="02070309020205020404" pitchFamily="49" charset="0"/>
              </a:rPr>
            </a:br>
            <a:r>
              <a:rPr lang="en-US" altLang="en-US" sz="2400" b="1" dirty="0" smtClean="0">
                <a:latin typeface="Courier New" panose="02070309020205020404" pitchFamily="49" charset="0"/>
              </a:rPr>
              <a:t>SUB</a:t>
            </a:r>
            <a:r>
              <a:rPr lang="en-US" altLang="en-US" sz="2400" b="1" dirty="0">
                <a:latin typeface="Courier New" panose="02070309020205020404" pitchFamily="49" charset="0"/>
              </a:rPr>
              <a:t>	</a:t>
            </a:r>
            <a:r>
              <a:rPr lang="en-US" altLang="en-US" sz="2400" b="1" dirty="0" smtClean="0">
                <a:latin typeface="Courier New" panose="02070309020205020404" pitchFamily="49" charset="0"/>
              </a:rPr>
              <a:t>	x1,x5,x6</a:t>
            </a:r>
            <a:r>
              <a:rPr lang="en-US" altLang="en-US" sz="2400" b="1" dirty="0">
                <a:latin typeface="Courier New" panose="02070309020205020404" pitchFamily="49" charset="0"/>
              </a:rPr>
              <a:t/>
            </a:r>
            <a:br>
              <a:rPr lang="en-US" altLang="en-US" sz="2400" b="1" dirty="0">
                <a:latin typeface="Courier New" panose="02070309020205020404" pitchFamily="49" charset="0"/>
              </a:rPr>
            </a:br>
            <a:r>
              <a:rPr lang="en-US" altLang="en-US" sz="2400" b="1" dirty="0">
                <a:latin typeface="Courier New" panose="02070309020205020404" pitchFamily="49" charset="0"/>
              </a:rPr>
              <a:t>L:	…</a:t>
            </a:r>
            <a:br>
              <a:rPr lang="en-US" altLang="en-US" sz="2400" b="1" dirty="0">
                <a:latin typeface="Courier New" panose="02070309020205020404" pitchFamily="49" charset="0"/>
              </a:rPr>
            </a:br>
            <a:r>
              <a:rPr lang="en-US" altLang="en-US" sz="2400" b="1" dirty="0">
                <a:latin typeface="Courier New" panose="02070309020205020404" pitchFamily="49" charset="0"/>
              </a:rPr>
              <a:t>OR		</a:t>
            </a:r>
            <a:r>
              <a:rPr lang="en-US" altLang="en-US" sz="2400" b="1" dirty="0" smtClean="0">
                <a:latin typeface="Courier New" panose="02070309020205020404" pitchFamily="49" charset="0"/>
              </a:rPr>
              <a:t>x7,x1,x8</a:t>
            </a:r>
            <a:endParaRPr lang="en-US" altLang="en-US" sz="2400" b="1" dirty="0">
              <a:latin typeface="Courier New" panose="02070309020205020404" pitchFamily="49" charset="0"/>
            </a:endParaRPr>
          </a:p>
          <a:p>
            <a:r>
              <a:rPr lang="en-US" altLang="en-US" dirty="0" smtClean="0"/>
              <a:t>Must </a:t>
            </a:r>
            <a:r>
              <a:rPr lang="en-US" altLang="en-US" dirty="0"/>
              <a:t>preserve data flow on </a:t>
            </a:r>
            <a:r>
              <a:rPr lang="en-US" altLang="en-US" dirty="0" smtClean="0"/>
              <a:t>execution</a:t>
            </a:r>
          </a:p>
          <a:p>
            <a:pPr lvl="1"/>
            <a:r>
              <a:rPr lang="en-US" altLang="en-US" sz="2800" dirty="0">
                <a:latin typeface="Courier New" panose="02070309020205020404" pitchFamily="49" charset="0"/>
              </a:rPr>
              <a:t>SUB</a:t>
            </a:r>
            <a:r>
              <a:rPr lang="en-US" altLang="en-US" dirty="0" smtClean="0"/>
              <a:t> and </a:t>
            </a:r>
            <a:r>
              <a:rPr lang="en-US" altLang="en-US" sz="2800" dirty="0">
                <a:latin typeface="Courier New" panose="02070309020205020404" pitchFamily="49" charset="0"/>
              </a:rPr>
              <a:t>OR</a:t>
            </a:r>
            <a:r>
              <a:rPr lang="en-US" altLang="en-US" dirty="0" smtClean="0"/>
              <a:t> control dependent on the branch </a:t>
            </a:r>
            <a:r>
              <a:rPr lang="en-US" altLang="en-US" sz="2800" dirty="0">
                <a:latin typeface="Courier New" panose="02070309020205020404" pitchFamily="49" charset="0"/>
              </a:rPr>
              <a:t>BEQ</a:t>
            </a:r>
          </a:p>
        </p:txBody>
      </p:sp>
      <p:sp>
        <p:nvSpPr>
          <p:cNvPr id="3" name="矩形 2"/>
          <p:cNvSpPr/>
          <p:nvPr/>
        </p:nvSpPr>
        <p:spPr>
          <a:xfrm>
            <a:off x="6240016" y="3934408"/>
            <a:ext cx="5233120" cy="1281120"/>
          </a:xfrm>
          <a:prstGeom prst="rect">
            <a:avLst/>
          </a:prstGeom>
        </p:spPr>
        <p:txBody>
          <a:bodyPr wrap="square">
            <a:spAutoFit/>
          </a:bodyPr>
          <a:lstStyle/>
          <a:p>
            <a:pPr marL="228600" lvl="0" indent="-228600" eaLnBrk="1" hangingPunct="1">
              <a:lnSpc>
                <a:spcPct val="90000"/>
              </a:lnSpc>
              <a:spcBef>
                <a:spcPts val="1000"/>
              </a:spcBef>
              <a:buFont typeface="Arial" panose="020B0604020202020204" pitchFamily="34" charset="0"/>
              <a:buChar char="•"/>
            </a:pPr>
            <a:r>
              <a:rPr kumimoji="0" lang="en-US" altLang="en-US" sz="2800" dirty="0">
                <a:solidFill>
                  <a:srgbClr val="0000FF"/>
                </a:solidFill>
                <a:latin typeface="Courier New" panose="02070309020205020404" pitchFamily="49" charset="0"/>
                <a:ea typeface="微软雅黑" panose="020B0503020204020204" pitchFamily="34" charset="-122"/>
                <a:cs typeface="Arial" panose="020B0604020202020204" pitchFamily="34" charset="0"/>
              </a:rPr>
              <a:t>OR</a:t>
            </a:r>
            <a:r>
              <a:rPr kumimoji="0" lang="en-US" altLang="en-US" sz="2800" dirty="0">
                <a:solidFill>
                  <a:srgbClr val="0000FF"/>
                </a:solidFill>
                <a:ea typeface="微软雅黑" panose="020B0503020204020204" pitchFamily="34" charset="-122"/>
                <a:cs typeface="Arial" panose="020B0604020202020204" pitchFamily="34" charset="0"/>
              </a:rPr>
              <a:t> depends on </a:t>
            </a:r>
            <a:r>
              <a:rPr kumimoji="0" lang="en-US" altLang="en-US" sz="2800" dirty="0">
                <a:solidFill>
                  <a:srgbClr val="0000FF"/>
                </a:solidFill>
                <a:latin typeface="Courier New" panose="02070309020205020404" pitchFamily="49" charset="0"/>
                <a:ea typeface="微软雅黑" panose="020B0503020204020204" pitchFamily="34" charset="-122"/>
                <a:cs typeface="Arial" panose="020B0604020202020204" pitchFamily="34" charset="0"/>
              </a:rPr>
              <a:t>ADD</a:t>
            </a:r>
            <a:r>
              <a:rPr kumimoji="0" lang="en-US" altLang="en-US" sz="2800" dirty="0">
                <a:solidFill>
                  <a:srgbClr val="0000FF"/>
                </a:solidFill>
                <a:ea typeface="微软雅黑" panose="020B0503020204020204" pitchFamily="34" charset="-122"/>
                <a:cs typeface="Arial" panose="020B0604020202020204" pitchFamily="34" charset="0"/>
              </a:rPr>
              <a:t> or </a:t>
            </a:r>
            <a:r>
              <a:rPr kumimoji="0" lang="en-US" altLang="en-US" sz="2800" dirty="0">
                <a:solidFill>
                  <a:srgbClr val="0000FF"/>
                </a:solidFill>
                <a:latin typeface="Courier New" panose="02070309020205020404" pitchFamily="49" charset="0"/>
                <a:ea typeface="微软雅黑" panose="020B0503020204020204" pitchFamily="34" charset="-122"/>
                <a:cs typeface="Arial" panose="020B0604020202020204" pitchFamily="34" charset="0"/>
              </a:rPr>
              <a:t>SUB</a:t>
            </a:r>
            <a:r>
              <a:rPr kumimoji="0" lang="en-US" altLang="en-US" sz="2800" dirty="0">
                <a:solidFill>
                  <a:srgbClr val="0000FF"/>
                </a:solidFill>
                <a:ea typeface="微软雅黑" panose="020B0503020204020204" pitchFamily="34" charset="-122"/>
                <a:cs typeface="Arial" panose="020B0604020202020204" pitchFamily="34" charset="0"/>
              </a:rPr>
              <a:t>? </a:t>
            </a:r>
            <a:endParaRPr kumimoji="0" lang="en-US" altLang="en-US" sz="2800" dirty="0" smtClean="0">
              <a:solidFill>
                <a:srgbClr val="0000FF"/>
              </a:solidFill>
              <a:ea typeface="微软雅黑" panose="020B0503020204020204" pitchFamily="34" charset="-122"/>
              <a:cs typeface="Arial" panose="020B0604020202020204" pitchFamily="34" charset="0"/>
            </a:endParaRPr>
          </a:p>
          <a:p>
            <a:pPr marL="685800" lvl="1" indent="-228600" eaLnBrk="1" hangingPunct="1">
              <a:lnSpc>
                <a:spcPct val="90000"/>
              </a:lnSpc>
              <a:spcBef>
                <a:spcPts val="1000"/>
              </a:spcBef>
              <a:buFont typeface="Arial" panose="020B0604020202020204" pitchFamily="34" charset="0"/>
              <a:buChar char="•"/>
            </a:pPr>
            <a:r>
              <a:rPr kumimoji="0" lang="en-US" altLang="en-US" sz="2400" dirty="0" smtClean="0">
                <a:solidFill>
                  <a:srgbClr val="0000FF"/>
                </a:solidFill>
                <a:ea typeface="微软雅黑" panose="020B0503020204020204" pitchFamily="34" charset="-122"/>
                <a:cs typeface="Arial" panose="020B0604020202020204" pitchFamily="34" charset="0"/>
              </a:rPr>
              <a:t>Both</a:t>
            </a:r>
            <a:r>
              <a:rPr kumimoji="0" lang="zh-CN" altLang="en-US" sz="2400" dirty="0">
                <a:solidFill>
                  <a:srgbClr val="0000FF"/>
                </a:solidFill>
                <a:ea typeface="微软雅黑" panose="020B0503020204020204" pitchFamily="34" charset="-122"/>
                <a:cs typeface="Arial" panose="020B0604020202020204" pitchFamily="34" charset="0"/>
              </a:rPr>
              <a:t>：</a:t>
            </a:r>
            <a:r>
              <a:rPr kumimoji="0" lang="en-US" altLang="zh-CN" sz="2400" dirty="0">
                <a:solidFill>
                  <a:srgbClr val="0000FF"/>
                </a:solidFill>
                <a:ea typeface="微软雅黑" panose="020B0503020204020204" pitchFamily="34" charset="-122"/>
                <a:cs typeface="Arial" panose="020B0604020202020204" pitchFamily="34" charset="0"/>
              </a:rPr>
              <a:t>taken </a:t>
            </a:r>
            <a:r>
              <a:rPr kumimoji="0" lang="en-US" altLang="zh-CN" sz="2400" dirty="0">
                <a:solidFill>
                  <a:srgbClr val="0000FF"/>
                </a:solidFill>
                <a:latin typeface="Courier New" panose="02070309020205020404" pitchFamily="49" charset="0"/>
                <a:ea typeface="微软雅黑" panose="020B0503020204020204" pitchFamily="34" charset="-122"/>
                <a:cs typeface="Arial" panose="020B0604020202020204" pitchFamily="34" charset="0"/>
              </a:rPr>
              <a:t>OR</a:t>
            </a:r>
            <a:r>
              <a:rPr kumimoji="0" lang="en-US" altLang="zh-CN" sz="2400" dirty="0">
                <a:solidFill>
                  <a:srgbClr val="0000FF"/>
                </a:solidFill>
                <a:ea typeface="微软雅黑" panose="020B0503020204020204" pitchFamily="34" charset="-122"/>
                <a:cs typeface="Arial" panose="020B0604020202020204" pitchFamily="34" charset="0"/>
              </a:rPr>
              <a:t> use </a:t>
            </a:r>
            <a:r>
              <a:rPr kumimoji="0" lang="en-US" altLang="zh-CN" sz="2400" dirty="0">
                <a:solidFill>
                  <a:srgbClr val="0000FF"/>
                </a:solidFill>
                <a:latin typeface="Courier New" panose="02070309020205020404" pitchFamily="49" charset="0"/>
                <a:ea typeface="微软雅黑" panose="020B0503020204020204" pitchFamily="34" charset="-122"/>
                <a:cs typeface="Arial" panose="020B0604020202020204" pitchFamily="34" charset="0"/>
              </a:rPr>
              <a:t>ADD</a:t>
            </a:r>
            <a:r>
              <a:rPr kumimoji="0" lang="en-US" altLang="zh-CN" sz="2400" dirty="0">
                <a:solidFill>
                  <a:srgbClr val="0000FF"/>
                </a:solidFill>
                <a:ea typeface="微软雅黑" panose="020B0503020204020204" pitchFamily="34" charset="-122"/>
                <a:cs typeface="Arial" panose="020B0604020202020204" pitchFamily="34" charset="0"/>
              </a:rPr>
              <a:t> result, untaken </a:t>
            </a:r>
            <a:r>
              <a:rPr kumimoji="0" lang="en-US" altLang="zh-CN" sz="2400" dirty="0">
                <a:solidFill>
                  <a:srgbClr val="0000FF"/>
                </a:solidFill>
                <a:latin typeface="Courier New" panose="02070309020205020404" pitchFamily="49" charset="0"/>
                <a:ea typeface="微软雅黑" panose="020B0503020204020204" pitchFamily="34" charset="-122"/>
                <a:cs typeface="Arial" panose="020B0604020202020204" pitchFamily="34" charset="0"/>
              </a:rPr>
              <a:t>OR</a:t>
            </a:r>
            <a:r>
              <a:rPr kumimoji="0" lang="en-US" altLang="zh-CN" sz="2400" dirty="0">
                <a:solidFill>
                  <a:srgbClr val="0000FF"/>
                </a:solidFill>
                <a:ea typeface="微软雅黑" panose="020B0503020204020204" pitchFamily="34" charset="-122"/>
                <a:cs typeface="Arial" panose="020B0604020202020204" pitchFamily="34" charset="0"/>
              </a:rPr>
              <a:t> use </a:t>
            </a:r>
            <a:r>
              <a:rPr kumimoji="0" lang="en-US" altLang="zh-CN" sz="2400" dirty="0">
                <a:solidFill>
                  <a:srgbClr val="0000FF"/>
                </a:solidFill>
                <a:latin typeface="Courier New" panose="02070309020205020404" pitchFamily="49" charset="0"/>
                <a:ea typeface="微软雅黑" panose="020B0503020204020204" pitchFamily="34" charset="-122"/>
                <a:cs typeface="Arial" panose="020B0604020202020204" pitchFamily="34" charset="0"/>
              </a:rPr>
              <a:t>SUB</a:t>
            </a:r>
            <a:r>
              <a:rPr kumimoji="0" lang="en-US" altLang="zh-CN" sz="2400" dirty="0">
                <a:solidFill>
                  <a:srgbClr val="0000FF"/>
                </a:solidFill>
                <a:ea typeface="微软雅黑" panose="020B0503020204020204" pitchFamily="34" charset="-122"/>
                <a:cs typeface="Arial" panose="020B0604020202020204" pitchFamily="34" charset="0"/>
              </a:rPr>
              <a:t> result</a:t>
            </a:r>
            <a:endParaRPr kumimoji="0" lang="en-US" altLang="en-US" sz="2400" dirty="0">
              <a:solidFill>
                <a:srgbClr val="0000FF"/>
              </a:solidFill>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126950511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8576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88576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885763">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88576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88576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88576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5763"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AU" dirty="0" smtClean="0"/>
              <a:t>Situations of violating control dependence</a:t>
            </a:r>
            <a:endParaRPr lang="en-AU" dirty="0"/>
          </a:p>
        </p:txBody>
      </p:sp>
      <p:sp>
        <p:nvSpPr>
          <p:cNvPr id="242691" name="Rectangle 3"/>
          <p:cNvSpPr>
            <a:spLocks noGrp="1" noChangeArrowheads="1"/>
          </p:cNvSpPr>
          <p:nvPr>
            <p:ph type="body" idx="1"/>
          </p:nvPr>
        </p:nvSpPr>
        <p:spPr>
          <a:xfrm>
            <a:off x="5735960" y="1700808"/>
            <a:ext cx="5328592" cy="4536480"/>
          </a:xfrm>
        </p:spPr>
        <p:txBody>
          <a:bodyPr/>
          <a:lstStyle/>
          <a:p>
            <a:pPr>
              <a:lnSpc>
                <a:spcPct val="90000"/>
              </a:lnSpc>
            </a:pPr>
            <a:r>
              <a:rPr lang="en-US" dirty="0" smtClean="0"/>
              <a:t>Assume </a:t>
            </a:r>
            <a:r>
              <a:rPr lang="en-US" dirty="0"/>
              <a:t>x4 isn’t used after skip</a:t>
            </a:r>
          </a:p>
          <a:p>
            <a:pPr lvl="1">
              <a:lnSpc>
                <a:spcPct val="90000"/>
              </a:lnSpc>
            </a:pPr>
            <a:r>
              <a:rPr lang="en-US" dirty="0"/>
              <a:t>Possible to move </a:t>
            </a:r>
            <a:r>
              <a:rPr lang="en-US" sz="2800" dirty="0">
                <a:latin typeface="Courier New" panose="02070309020205020404" pitchFamily="49" charset="0"/>
                <a:cs typeface="Courier New" panose="02070309020205020404" pitchFamily="49" charset="0"/>
              </a:rPr>
              <a:t>sub</a:t>
            </a:r>
            <a:r>
              <a:rPr lang="en-US" dirty="0"/>
              <a:t> before the </a:t>
            </a:r>
            <a:r>
              <a:rPr lang="en-US" dirty="0" smtClean="0"/>
              <a:t>branch</a:t>
            </a:r>
          </a:p>
          <a:p>
            <a:r>
              <a:rPr lang="en-US" dirty="0" smtClean="0"/>
              <a:t>Liveness of values</a:t>
            </a:r>
          </a:p>
          <a:p>
            <a:pPr lvl="1"/>
            <a:r>
              <a:rPr lang="en-US" dirty="0" smtClean="0"/>
              <a:t>Live: will be used</a:t>
            </a:r>
          </a:p>
          <a:p>
            <a:pPr lvl="1"/>
            <a:r>
              <a:rPr lang="en-US" dirty="0" smtClean="0"/>
              <a:t>Dead: will not be used</a:t>
            </a:r>
          </a:p>
          <a:p>
            <a:pPr lvl="1"/>
            <a:endParaRPr lang="en-US" dirty="0"/>
          </a:p>
          <a:p>
            <a:r>
              <a:rPr lang="en-US" dirty="0" smtClean="0"/>
              <a:t>Software Speculation</a:t>
            </a:r>
            <a:endParaRPr lang="en-US" dirty="0"/>
          </a:p>
        </p:txBody>
      </p:sp>
      <p:sp>
        <p:nvSpPr>
          <p:cNvPr id="6" name="Rectangle 3"/>
          <p:cNvSpPr txBox="1">
            <a:spLocks noChangeArrowheads="1"/>
          </p:cNvSpPr>
          <p:nvPr/>
        </p:nvSpPr>
        <p:spPr bwMode="auto">
          <a:xfrm>
            <a:off x="767408" y="1844824"/>
            <a:ext cx="4825182" cy="475171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indent="-342900" eaLnBrk="1" hangingPunct="1">
              <a:lnSpc>
                <a:spcPct val="90000"/>
              </a:lnSpc>
              <a:spcBef>
                <a:spcPct val="20000"/>
              </a:spcBef>
              <a:buClr>
                <a:srgbClr val="0033CC"/>
              </a:buClr>
              <a:buSzPct val="60000"/>
              <a:buFont typeface="Arial" pitchFamily="34" charset="0"/>
              <a:buChar char="•"/>
              <a:defRPr/>
            </a:pPr>
            <a:r>
              <a:rPr lang="en-US" sz="2800" b="1" u="sng" kern="0" dirty="0" smtClean="0">
                <a:solidFill>
                  <a:srgbClr val="003399"/>
                </a:solidFill>
                <a:latin typeface="Courier New" panose="02070309020205020404" pitchFamily="49" charset="0"/>
                <a:cs typeface="Courier New" panose="02070309020205020404" pitchFamily="49" charset="0"/>
              </a:rPr>
              <a:t>Ex:</a:t>
            </a:r>
            <a:r>
              <a:rPr lang="en-US" sz="2400" b="1" kern="0" dirty="0">
                <a:solidFill>
                  <a:srgbClr val="003399"/>
                </a:solidFill>
                <a:latin typeface="Courier New" panose="02070309020205020404" pitchFamily="49" charset="0"/>
                <a:cs typeface="Courier New" panose="02070309020205020404" pitchFamily="49" charset="0"/>
              </a:rPr>
              <a:t>	add x1,x2,x3</a:t>
            </a:r>
          </a:p>
          <a:p>
            <a:pPr marL="342900" indent="-342900" eaLnBrk="1" hangingPunct="1">
              <a:lnSpc>
                <a:spcPct val="90000"/>
              </a:lnSpc>
              <a:spcBef>
                <a:spcPct val="20000"/>
              </a:spcBef>
              <a:buClr>
                <a:srgbClr val="0033CC"/>
              </a:buClr>
              <a:buSzPct val="60000"/>
              <a:defRPr/>
            </a:pPr>
            <a:r>
              <a:rPr kumimoji="0" lang="en-US" sz="2400" b="1" kern="0" dirty="0">
                <a:solidFill>
                  <a:srgbClr val="003399"/>
                </a:solidFill>
                <a:latin typeface="Courier New" panose="02070309020205020404" pitchFamily="49" charset="0"/>
                <a:ea typeface="+mn-ea"/>
                <a:cs typeface="Courier New" panose="02070309020205020404" pitchFamily="49" charset="0"/>
              </a:rPr>
              <a:t>	</a:t>
            </a:r>
            <a:r>
              <a:rPr kumimoji="0" lang="en-US" sz="2400" b="1" kern="0" dirty="0" smtClean="0">
                <a:solidFill>
                  <a:srgbClr val="003399"/>
                </a:solidFill>
                <a:latin typeface="Courier New" panose="02070309020205020404" pitchFamily="49" charset="0"/>
                <a:ea typeface="+mn-ea"/>
                <a:cs typeface="Courier New" panose="02070309020205020404" pitchFamily="49" charset="0"/>
              </a:rPr>
              <a:t>		</a:t>
            </a:r>
            <a:r>
              <a:rPr kumimoji="0" lang="en-US" sz="2400" b="1" kern="0" dirty="0" err="1" smtClean="0">
                <a:solidFill>
                  <a:srgbClr val="003399"/>
                </a:solidFill>
                <a:latin typeface="Courier New" panose="02070309020205020404" pitchFamily="49" charset="0"/>
                <a:ea typeface="+mn-ea"/>
                <a:cs typeface="Courier New" panose="02070309020205020404" pitchFamily="49" charset="0"/>
              </a:rPr>
              <a:t>beq</a:t>
            </a:r>
            <a:r>
              <a:rPr kumimoji="0" lang="en-US" sz="2400" b="1" kern="0" dirty="0" smtClean="0">
                <a:solidFill>
                  <a:srgbClr val="003399"/>
                </a:solidFill>
                <a:latin typeface="Courier New" panose="02070309020205020404" pitchFamily="49" charset="0"/>
                <a:ea typeface="+mn-ea"/>
                <a:cs typeface="Courier New" panose="02070309020205020404" pitchFamily="49" charset="0"/>
              </a:rPr>
              <a:t> </a:t>
            </a:r>
            <a:r>
              <a:rPr kumimoji="0" lang="en-US" sz="2400" b="1" kern="0" dirty="0">
                <a:solidFill>
                  <a:srgbClr val="003399"/>
                </a:solidFill>
                <a:latin typeface="Courier New" panose="02070309020205020404" pitchFamily="49" charset="0"/>
                <a:ea typeface="+mn-ea"/>
                <a:cs typeface="Courier New" panose="02070309020205020404" pitchFamily="49" charset="0"/>
              </a:rPr>
              <a:t>x12,x0,skip</a:t>
            </a:r>
          </a:p>
          <a:p>
            <a:pPr marL="342900" indent="-342900" eaLnBrk="1" hangingPunct="1">
              <a:lnSpc>
                <a:spcPct val="90000"/>
              </a:lnSpc>
              <a:spcBef>
                <a:spcPct val="20000"/>
              </a:spcBef>
              <a:buClr>
                <a:srgbClr val="0033CC"/>
              </a:buClr>
              <a:buSzPct val="60000"/>
              <a:defRPr/>
            </a:pPr>
            <a:r>
              <a:rPr lang="en-US" sz="2400" b="1" kern="0" dirty="0">
                <a:solidFill>
                  <a:srgbClr val="003399"/>
                </a:solidFill>
                <a:latin typeface="Courier New" panose="02070309020205020404" pitchFamily="49" charset="0"/>
                <a:cs typeface="Courier New" panose="02070309020205020404" pitchFamily="49" charset="0"/>
              </a:rPr>
              <a:t>	</a:t>
            </a:r>
            <a:r>
              <a:rPr lang="en-US" sz="2400" b="1" kern="0" dirty="0" smtClean="0">
                <a:solidFill>
                  <a:srgbClr val="003399"/>
                </a:solidFill>
                <a:latin typeface="Courier New" panose="02070309020205020404" pitchFamily="49" charset="0"/>
                <a:cs typeface="Courier New" panose="02070309020205020404" pitchFamily="49" charset="0"/>
              </a:rPr>
              <a:t>		sub </a:t>
            </a:r>
            <a:r>
              <a:rPr lang="en-US" sz="2400" b="1" kern="0" dirty="0">
                <a:solidFill>
                  <a:srgbClr val="003399"/>
                </a:solidFill>
                <a:latin typeface="Courier New" panose="02070309020205020404" pitchFamily="49" charset="0"/>
                <a:cs typeface="Courier New" panose="02070309020205020404" pitchFamily="49" charset="0"/>
              </a:rPr>
              <a:t>x4,x5,x6</a:t>
            </a:r>
          </a:p>
          <a:p>
            <a:pPr marL="342900" indent="-342900" eaLnBrk="1" hangingPunct="1">
              <a:lnSpc>
                <a:spcPct val="90000"/>
              </a:lnSpc>
              <a:spcBef>
                <a:spcPct val="20000"/>
              </a:spcBef>
              <a:buClr>
                <a:srgbClr val="0033CC"/>
              </a:buClr>
              <a:buSzPct val="60000"/>
              <a:defRPr/>
            </a:pPr>
            <a:r>
              <a:rPr kumimoji="0" lang="en-US" sz="2400" b="1" kern="0" dirty="0">
                <a:solidFill>
                  <a:srgbClr val="003399"/>
                </a:solidFill>
                <a:latin typeface="Courier New" panose="02070309020205020404" pitchFamily="49" charset="0"/>
                <a:ea typeface="+mn-ea"/>
                <a:cs typeface="Courier New" panose="02070309020205020404" pitchFamily="49" charset="0"/>
              </a:rPr>
              <a:t>	</a:t>
            </a:r>
            <a:r>
              <a:rPr kumimoji="0" lang="en-US" sz="2400" b="1" kern="0" dirty="0" smtClean="0">
                <a:solidFill>
                  <a:srgbClr val="003399"/>
                </a:solidFill>
                <a:latin typeface="Courier New" panose="02070309020205020404" pitchFamily="49" charset="0"/>
                <a:ea typeface="+mn-ea"/>
                <a:cs typeface="Courier New" panose="02070309020205020404" pitchFamily="49" charset="0"/>
              </a:rPr>
              <a:t>		add </a:t>
            </a:r>
            <a:r>
              <a:rPr kumimoji="0" lang="en-US" sz="2400" b="1" kern="0" dirty="0">
                <a:solidFill>
                  <a:srgbClr val="003399"/>
                </a:solidFill>
                <a:latin typeface="Courier New" panose="02070309020205020404" pitchFamily="49" charset="0"/>
                <a:ea typeface="+mn-ea"/>
                <a:cs typeface="Courier New" panose="02070309020205020404" pitchFamily="49" charset="0"/>
              </a:rPr>
              <a:t>x5,x4,x9</a:t>
            </a:r>
          </a:p>
          <a:p>
            <a:pPr marL="342900" indent="-342900" eaLnBrk="1" hangingPunct="1">
              <a:lnSpc>
                <a:spcPct val="90000"/>
              </a:lnSpc>
              <a:spcBef>
                <a:spcPct val="20000"/>
              </a:spcBef>
              <a:buClr>
                <a:srgbClr val="0033CC"/>
              </a:buClr>
              <a:buSzPct val="60000"/>
              <a:defRPr/>
            </a:pPr>
            <a:r>
              <a:rPr lang="en-US" sz="2400" b="1" kern="0" dirty="0" smtClean="0">
                <a:solidFill>
                  <a:srgbClr val="003399"/>
                </a:solidFill>
                <a:latin typeface="Courier New" panose="02070309020205020404" pitchFamily="49" charset="0"/>
                <a:cs typeface="Courier New" panose="02070309020205020404" pitchFamily="49" charset="0"/>
              </a:rPr>
              <a:t>		skip</a:t>
            </a:r>
            <a:r>
              <a:rPr lang="en-US" sz="2400" b="1" kern="0" dirty="0">
                <a:solidFill>
                  <a:srgbClr val="003399"/>
                </a:solidFill>
                <a:latin typeface="Courier New" panose="02070309020205020404" pitchFamily="49" charset="0"/>
                <a:cs typeface="Courier New" panose="02070309020205020404" pitchFamily="49" charset="0"/>
              </a:rPr>
              <a:t>:</a:t>
            </a:r>
          </a:p>
          <a:p>
            <a:pPr marL="342900" indent="-342900" eaLnBrk="1" hangingPunct="1">
              <a:lnSpc>
                <a:spcPct val="90000"/>
              </a:lnSpc>
              <a:spcBef>
                <a:spcPct val="20000"/>
              </a:spcBef>
              <a:buClr>
                <a:srgbClr val="0033CC"/>
              </a:buClr>
              <a:buSzPct val="60000"/>
              <a:defRPr/>
            </a:pPr>
            <a:r>
              <a:rPr kumimoji="0" lang="en-US" sz="2400" b="1" kern="0" dirty="0">
                <a:solidFill>
                  <a:srgbClr val="003399"/>
                </a:solidFill>
                <a:latin typeface="Courier New" panose="02070309020205020404" pitchFamily="49" charset="0"/>
                <a:ea typeface="+mn-ea"/>
                <a:cs typeface="Courier New" panose="02070309020205020404" pitchFamily="49" charset="0"/>
              </a:rPr>
              <a:t>	</a:t>
            </a:r>
            <a:r>
              <a:rPr kumimoji="0" lang="en-US" sz="2400" b="1" kern="0" dirty="0" smtClean="0">
                <a:solidFill>
                  <a:srgbClr val="003399"/>
                </a:solidFill>
                <a:latin typeface="Courier New" panose="02070309020205020404" pitchFamily="49" charset="0"/>
                <a:ea typeface="+mn-ea"/>
                <a:cs typeface="Courier New" panose="02070309020205020404" pitchFamily="49" charset="0"/>
              </a:rPr>
              <a:t>		</a:t>
            </a:r>
            <a:r>
              <a:rPr lang="en-US" sz="2400" b="1" kern="0" dirty="0" smtClean="0">
                <a:solidFill>
                  <a:srgbClr val="003399"/>
                </a:solidFill>
                <a:latin typeface="Courier New" panose="02070309020205020404" pitchFamily="49" charset="0"/>
                <a:cs typeface="Courier New" panose="02070309020205020404" pitchFamily="49" charset="0"/>
              </a:rPr>
              <a:t>or</a:t>
            </a:r>
            <a:r>
              <a:rPr kumimoji="0" lang="en-US" sz="2400" b="1" kern="0" dirty="0" smtClean="0">
                <a:solidFill>
                  <a:srgbClr val="003399"/>
                </a:solidFill>
                <a:latin typeface="Courier New" panose="02070309020205020404" pitchFamily="49" charset="0"/>
                <a:ea typeface="+mn-ea"/>
                <a:cs typeface="Courier New" panose="02070309020205020404" pitchFamily="49" charset="0"/>
              </a:rPr>
              <a:t> </a:t>
            </a:r>
            <a:r>
              <a:rPr kumimoji="0" lang="en-US" sz="2400" b="1" kern="0" dirty="0">
                <a:solidFill>
                  <a:srgbClr val="003399"/>
                </a:solidFill>
                <a:latin typeface="Courier New" panose="02070309020205020404" pitchFamily="49" charset="0"/>
                <a:ea typeface="+mn-ea"/>
                <a:cs typeface="Courier New" panose="02070309020205020404" pitchFamily="49" charset="0"/>
              </a:rPr>
              <a:t>x7,x8,x9</a:t>
            </a:r>
          </a:p>
          <a:p>
            <a:pPr marL="342900" indent="-342900" eaLnBrk="1" hangingPunct="1">
              <a:lnSpc>
                <a:spcPct val="90000"/>
              </a:lnSpc>
              <a:spcBef>
                <a:spcPct val="20000"/>
              </a:spcBef>
              <a:buClr>
                <a:srgbClr val="0033CC"/>
              </a:buClr>
              <a:buSzPct val="60000"/>
              <a:defRPr/>
            </a:pPr>
            <a:r>
              <a:rPr kumimoji="0" lang="en-US" sz="3200" b="1" kern="0" dirty="0">
                <a:solidFill>
                  <a:srgbClr val="003399"/>
                </a:solidFill>
                <a:latin typeface="Courier New" panose="02070309020205020404" pitchFamily="49" charset="0"/>
                <a:ea typeface="+mn-ea"/>
                <a:cs typeface="Courier New" panose="02070309020205020404" pitchFamily="49" charset="0"/>
              </a:rPr>
              <a:t>	</a:t>
            </a:r>
          </a:p>
        </p:txBody>
      </p:sp>
    </p:spTree>
    <p:extLst>
      <p:ext uri="{BB962C8B-B14F-4D97-AF65-F5344CB8AC3E}">
        <p14:creationId xmlns:p14="http://schemas.microsoft.com/office/powerpoint/2010/main" val="292939924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AU" smtClean="0"/>
              <a:t>Dynamic Scheduling</a:t>
            </a:r>
            <a:endParaRPr lang="en-AU" dirty="0"/>
          </a:p>
        </p:txBody>
      </p:sp>
      <p:sp>
        <p:nvSpPr>
          <p:cNvPr id="242691" name="Rectangle 3"/>
          <p:cNvSpPr>
            <a:spLocks noGrp="1" noChangeArrowheads="1"/>
          </p:cNvSpPr>
          <p:nvPr>
            <p:ph type="body" idx="1"/>
          </p:nvPr>
        </p:nvSpPr>
        <p:spPr/>
        <p:txBody>
          <a:bodyPr/>
          <a:lstStyle/>
          <a:p>
            <a:r>
              <a:rPr lang="en-US" altLang="zh-CN" dirty="0" smtClean="0"/>
              <a:t>In runtime, using hardware to r</a:t>
            </a:r>
            <a:r>
              <a:rPr lang="en-US" dirty="0" smtClean="0"/>
              <a:t>earrange order of instructions to reduce stalls while maintaining data flow</a:t>
            </a:r>
          </a:p>
          <a:p>
            <a:r>
              <a:rPr lang="en-US" dirty="0" smtClean="0"/>
              <a:t>Advantages:</a:t>
            </a:r>
          </a:p>
          <a:p>
            <a:pPr lvl="1"/>
            <a:r>
              <a:rPr lang="en-US" altLang="zh-CN" dirty="0" smtClean="0"/>
              <a:t>Handles cases when dependences unknown at compile time </a:t>
            </a:r>
          </a:p>
          <a:p>
            <a:pPr lvl="2"/>
            <a:r>
              <a:rPr lang="en-US" altLang="zh-CN" dirty="0" smtClean="0"/>
              <a:t>(e.g., because they may involve a memory reference)</a:t>
            </a:r>
          </a:p>
          <a:p>
            <a:pPr lvl="1"/>
            <a:r>
              <a:rPr lang="en-US" altLang="zh-CN" dirty="0" smtClean="0"/>
              <a:t>It simplifies the compiler, and allows code that compiled for one pipeline to run efficiently on a different pipeline </a:t>
            </a:r>
          </a:p>
          <a:p>
            <a:pPr lvl="1"/>
            <a:r>
              <a:rPr lang="en-US" altLang="zh-CN" dirty="0" smtClean="0"/>
              <a:t>Hardware speculation, a technique with significant performance advantages, that builds on dynamic scheduling</a:t>
            </a:r>
          </a:p>
          <a:p>
            <a:r>
              <a:rPr lang="en-US" dirty="0" smtClean="0"/>
              <a:t>Disadvantage:</a:t>
            </a:r>
          </a:p>
          <a:p>
            <a:pPr lvl="1"/>
            <a:r>
              <a:rPr lang="en-US" dirty="0" smtClean="0"/>
              <a:t>Substantial increase in hardware complexity</a:t>
            </a:r>
          </a:p>
          <a:p>
            <a:pPr lvl="1"/>
            <a:r>
              <a:rPr lang="en-US" dirty="0" smtClean="0"/>
              <a:t>Complicates exceptions</a:t>
            </a:r>
          </a:p>
        </p:txBody>
      </p:sp>
    </p:spTree>
    <p:extLst>
      <p:ext uri="{BB962C8B-B14F-4D97-AF65-F5344CB8AC3E}">
        <p14:creationId xmlns:p14="http://schemas.microsoft.com/office/powerpoint/2010/main" val="39855178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983432" y="548680"/>
            <a:ext cx="8281987" cy="707886"/>
          </a:xfrm>
        </p:spPr>
        <p:txBody>
          <a:bodyPr/>
          <a:lstStyle/>
          <a:p>
            <a:r>
              <a:rPr lang="en-AU" dirty="0" smtClean="0"/>
              <a:t>Dynamic Scheduling</a:t>
            </a:r>
            <a:endParaRPr lang="en-AU" dirty="0"/>
          </a:p>
        </p:txBody>
      </p:sp>
      <p:sp>
        <p:nvSpPr>
          <p:cNvPr id="242691" name="Rectangle 3"/>
          <p:cNvSpPr>
            <a:spLocks noGrp="1" noChangeArrowheads="1"/>
          </p:cNvSpPr>
          <p:nvPr>
            <p:ph type="body" idx="1"/>
          </p:nvPr>
        </p:nvSpPr>
        <p:spPr>
          <a:xfrm>
            <a:off x="838200" y="1484784"/>
            <a:ext cx="10515600" cy="5112568"/>
          </a:xfrm>
        </p:spPr>
        <p:txBody>
          <a:bodyPr/>
          <a:lstStyle/>
          <a:p>
            <a:r>
              <a:rPr lang="en-US" altLang="zh-CN" dirty="0"/>
              <a:t>Allow instructions behind stall to </a:t>
            </a:r>
            <a:r>
              <a:rPr lang="en-US" altLang="zh-CN" dirty="0" smtClean="0"/>
              <a:t>proceed, implies</a:t>
            </a:r>
          </a:p>
          <a:p>
            <a:pPr lvl="1"/>
            <a:r>
              <a:rPr lang="en-US" dirty="0" smtClean="0"/>
              <a:t>Out-of-order execution, and Out-of-order completion</a:t>
            </a:r>
          </a:p>
          <a:p>
            <a:pPr>
              <a:lnSpc>
                <a:spcPct val="90000"/>
              </a:lnSpc>
            </a:pPr>
            <a:r>
              <a:rPr lang="en-US" dirty="0" smtClean="0"/>
              <a:t>Example 1:</a:t>
            </a:r>
            <a:endParaRPr lang="en-US" dirty="0"/>
          </a:p>
          <a:p>
            <a:pPr marL="400050" lvl="1" indent="0">
              <a:buNone/>
            </a:pPr>
            <a:r>
              <a:rPr lang="en-US" dirty="0" err="1">
                <a:latin typeface="Courier New" panose="02070309020205020404" pitchFamily="49" charset="0"/>
                <a:cs typeface="Courier New" panose="02070309020205020404" pitchFamily="49" charset="0"/>
              </a:rPr>
              <a:t>fdiv.d</a:t>
            </a:r>
            <a:r>
              <a:rPr lang="en-US" dirty="0">
                <a:latin typeface="Courier New" panose="02070309020205020404" pitchFamily="49" charset="0"/>
                <a:cs typeface="Courier New" panose="02070309020205020404" pitchFamily="49" charset="0"/>
              </a:rPr>
              <a:t> f0,f2,f4</a:t>
            </a:r>
          </a:p>
          <a:p>
            <a:pPr marL="400050" lvl="1" indent="0">
              <a:buNone/>
            </a:pPr>
            <a:r>
              <a:rPr lang="en-US" dirty="0" err="1">
                <a:latin typeface="Courier New" panose="02070309020205020404" pitchFamily="49" charset="0"/>
                <a:cs typeface="Courier New" panose="02070309020205020404" pitchFamily="49" charset="0"/>
              </a:rPr>
              <a:t>fadd.d</a:t>
            </a:r>
            <a:r>
              <a:rPr lang="en-US" dirty="0">
                <a:latin typeface="Courier New" panose="02070309020205020404" pitchFamily="49" charset="0"/>
                <a:cs typeface="Courier New" panose="02070309020205020404" pitchFamily="49" charset="0"/>
              </a:rPr>
              <a:t> f10,f0,f8</a:t>
            </a:r>
          </a:p>
          <a:p>
            <a:pPr marL="400050" lvl="1" indent="0">
              <a:buNone/>
            </a:pPr>
            <a:r>
              <a:rPr lang="en-US" dirty="0" err="1">
                <a:latin typeface="Courier New" panose="02070309020205020404" pitchFamily="49" charset="0"/>
                <a:cs typeface="Courier New" panose="02070309020205020404" pitchFamily="49" charset="0"/>
              </a:rPr>
              <a:t>fsub.d</a:t>
            </a: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f12,f8,f14</a:t>
            </a:r>
          </a:p>
          <a:p>
            <a:pPr lvl="1"/>
            <a:r>
              <a:rPr lang="en-US" dirty="0" err="1" smtClean="0">
                <a:latin typeface="Courier New" panose="02070309020205020404" pitchFamily="49" charset="0"/>
                <a:cs typeface="Courier New" panose="02070309020205020404" pitchFamily="49" charset="0"/>
              </a:rPr>
              <a:t>fsub.d</a:t>
            </a:r>
            <a:r>
              <a:rPr lang="en-US" dirty="0" smtClean="0"/>
              <a:t> </a:t>
            </a:r>
            <a:r>
              <a:rPr lang="en-US" dirty="0"/>
              <a:t>is not dependent, issue before </a:t>
            </a:r>
            <a:r>
              <a:rPr lang="en-US" dirty="0" err="1" smtClean="0">
                <a:latin typeface="Courier New" panose="02070309020205020404" pitchFamily="49" charset="0"/>
                <a:cs typeface="Courier New" panose="02070309020205020404" pitchFamily="49" charset="0"/>
              </a:rPr>
              <a:t>fadd.d</a:t>
            </a:r>
            <a:endParaRPr lang="en-US" dirty="0" smtClean="0">
              <a:latin typeface="Courier New" panose="02070309020205020404" pitchFamily="49" charset="0"/>
              <a:cs typeface="Courier New" panose="02070309020205020404" pitchFamily="49" charset="0"/>
            </a:endParaRPr>
          </a:p>
          <a:p>
            <a:r>
              <a:rPr lang="en-US" altLang="zh-CN" dirty="0"/>
              <a:t>Example 2:</a:t>
            </a:r>
          </a:p>
          <a:p>
            <a:pPr marL="457200" lvl="1" indent="0">
              <a:buNone/>
            </a:pPr>
            <a:r>
              <a:rPr lang="en-US" altLang="zh-CN" dirty="0" err="1">
                <a:latin typeface="Courier New" panose="02070309020205020404" pitchFamily="49" charset="0"/>
                <a:cs typeface="Courier New" panose="02070309020205020404" pitchFamily="49" charset="0"/>
              </a:rPr>
              <a:t>fdiv.d</a:t>
            </a:r>
            <a:r>
              <a:rPr lang="en-US" altLang="zh-CN" dirty="0">
                <a:latin typeface="Courier New" panose="02070309020205020404" pitchFamily="49" charset="0"/>
                <a:cs typeface="Courier New" panose="02070309020205020404" pitchFamily="49" charset="0"/>
              </a:rPr>
              <a:t> f0,f2,f4</a:t>
            </a:r>
          </a:p>
          <a:p>
            <a:pPr marL="457200" lvl="1" indent="0">
              <a:buNone/>
            </a:pPr>
            <a:r>
              <a:rPr lang="en-US" altLang="zh-CN" dirty="0" err="1">
                <a:latin typeface="Courier New" panose="02070309020205020404" pitchFamily="49" charset="0"/>
                <a:cs typeface="Courier New" panose="02070309020205020404" pitchFamily="49" charset="0"/>
              </a:rPr>
              <a:t>fmul.d</a:t>
            </a:r>
            <a:r>
              <a:rPr lang="en-US" altLang="zh-CN" dirty="0">
                <a:latin typeface="Courier New" panose="02070309020205020404" pitchFamily="49" charset="0"/>
                <a:cs typeface="Courier New" panose="02070309020205020404" pitchFamily="49" charset="0"/>
              </a:rPr>
              <a:t> f6,f0,f8</a:t>
            </a:r>
          </a:p>
          <a:p>
            <a:pPr marL="457200" lvl="1" indent="0">
              <a:buNone/>
            </a:pPr>
            <a:r>
              <a:rPr lang="en-US" altLang="zh-CN" dirty="0" err="1">
                <a:latin typeface="Courier New" panose="02070309020205020404" pitchFamily="49" charset="0"/>
                <a:cs typeface="Courier New" panose="02070309020205020404" pitchFamily="49" charset="0"/>
              </a:rPr>
              <a:t>fadd.d</a:t>
            </a:r>
            <a:r>
              <a:rPr lang="en-US" altLang="zh-CN" dirty="0">
                <a:latin typeface="Courier New" panose="02070309020205020404" pitchFamily="49" charset="0"/>
                <a:cs typeface="Courier New" panose="02070309020205020404" pitchFamily="49" charset="0"/>
              </a:rPr>
              <a:t> f0,f10,f14</a:t>
            </a:r>
          </a:p>
          <a:p>
            <a:pPr lvl="1"/>
            <a:r>
              <a:rPr lang="en-US" altLang="zh-CN" dirty="0" err="1" smtClean="0">
                <a:latin typeface="Courier New" panose="02070309020205020404" pitchFamily="49" charset="0"/>
                <a:cs typeface="Courier New" panose="02070309020205020404" pitchFamily="49" charset="0"/>
              </a:rPr>
              <a:t>fadd.d</a:t>
            </a:r>
            <a:r>
              <a:rPr lang="en-US" altLang="zh-CN" dirty="0" smtClean="0"/>
              <a:t> </a:t>
            </a:r>
            <a:r>
              <a:rPr lang="en-US" altLang="zh-CN" dirty="0"/>
              <a:t>is not dependent, but the anti-dependence makes it impossible to issue earlier without register </a:t>
            </a:r>
            <a:r>
              <a:rPr lang="en-US" altLang="zh-CN" dirty="0" smtClean="0"/>
              <a:t>renaming, and the output dependence</a:t>
            </a:r>
            <a:endParaRPr lang="en-US" altLang="zh-CN" dirty="0"/>
          </a:p>
        </p:txBody>
      </p:sp>
    </p:spTree>
    <p:extLst>
      <p:ext uri="{BB962C8B-B14F-4D97-AF65-F5344CB8AC3E}">
        <p14:creationId xmlns:p14="http://schemas.microsoft.com/office/powerpoint/2010/main" val="184902608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7810" name="Rectangle 2"/>
          <p:cNvSpPr>
            <a:spLocks noGrp="1" noChangeArrowheads="1"/>
          </p:cNvSpPr>
          <p:nvPr>
            <p:ph type="title"/>
          </p:nvPr>
        </p:nvSpPr>
        <p:spPr/>
        <p:txBody>
          <a:bodyPr/>
          <a:lstStyle/>
          <a:p>
            <a:r>
              <a:rPr lang="en-US" altLang="zh-CN" dirty="0" smtClean="0"/>
              <a:t>Dynamic Scheduling Step 1</a:t>
            </a:r>
            <a:endParaRPr lang="en-US" altLang="zh-CN" dirty="0"/>
          </a:p>
        </p:txBody>
      </p:sp>
      <p:sp>
        <p:nvSpPr>
          <p:cNvPr id="887811" name="Rectangle 3"/>
          <p:cNvSpPr>
            <a:spLocks noGrp="1" noChangeArrowheads="1"/>
          </p:cNvSpPr>
          <p:nvPr>
            <p:ph type="body" idx="1"/>
          </p:nvPr>
        </p:nvSpPr>
        <p:spPr/>
        <p:txBody>
          <a:bodyPr/>
          <a:lstStyle/>
          <a:p>
            <a:pPr algn="just"/>
            <a:r>
              <a:rPr lang="en-US" altLang="zh-CN" dirty="0"/>
              <a:t>Will distinguish when an instruction </a:t>
            </a:r>
            <a:r>
              <a:rPr lang="en-US" altLang="zh-CN" i="1" dirty="0">
                <a:solidFill>
                  <a:srgbClr val="FF0000"/>
                </a:solidFill>
              </a:rPr>
              <a:t>begins execution</a:t>
            </a:r>
            <a:r>
              <a:rPr lang="en-US" altLang="zh-CN" dirty="0">
                <a:solidFill>
                  <a:srgbClr val="FF0000"/>
                </a:solidFill>
              </a:rPr>
              <a:t> </a:t>
            </a:r>
            <a:r>
              <a:rPr lang="en-US" altLang="zh-CN" dirty="0"/>
              <a:t>and when it </a:t>
            </a:r>
            <a:r>
              <a:rPr lang="en-US" altLang="zh-CN" i="1" dirty="0">
                <a:solidFill>
                  <a:srgbClr val="FF0000"/>
                </a:solidFill>
              </a:rPr>
              <a:t>completes </a:t>
            </a:r>
            <a:r>
              <a:rPr lang="en-US" altLang="zh-CN" i="1" dirty="0" smtClean="0">
                <a:solidFill>
                  <a:srgbClr val="FF0000"/>
                </a:solidFill>
              </a:rPr>
              <a:t>execution</a:t>
            </a:r>
            <a:endParaRPr lang="en-US" altLang="zh-CN" dirty="0"/>
          </a:p>
          <a:p>
            <a:pPr lvl="1" algn="just"/>
            <a:r>
              <a:rPr lang="en-US" altLang="zh-CN" dirty="0"/>
              <a:t>B</a:t>
            </a:r>
            <a:r>
              <a:rPr lang="en-US" altLang="zh-CN" dirty="0" smtClean="0"/>
              <a:t>etween them, </a:t>
            </a:r>
            <a:r>
              <a:rPr lang="en-US" altLang="zh-CN" dirty="0"/>
              <a:t>the instruction is </a:t>
            </a:r>
            <a:r>
              <a:rPr lang="en-US" altLang="zh-CN" i="1" dirty="0">
                <a:solidFill>
                  <a:srgbClr val="FF0000"/>
                </a:solidFill>
              </a:rPr>
              <a:t>in execution</a:t>
            </a:r>
            <a:endParaRPr lang="en-US" altLang="zh-CN" dirty="0">
              <a:solidFill>
                <a:srgbClr val="FF0000"/>
              </a:solidFill>
            </a:endParaRPr>
          </a:p>
          <a:p>
            <a:pPr algn="just"/>
            <a:r>
              <a:rPr lang="en-US" altLang="zh-CN" dirty="0"/>
              <a:t>In a dynamically scheduled pipeline, all instructions pass through issue stage in order (</a:t>
            </a:r>
            <a:r>
              <a:rPr lang="en-US" altLang="zh-CN" dirty="0">
                <a:solidFill>
                  <a:srgbClr val="FF0000"/>
                </a:solidFill>
              </a:rPr>
              <a:t>in-order issue</a:t>
            </a:r>
            <a:r>
              <a:rPr lang="en-US" altLang="zh-CN" dirty="0"/>
              <a:t>)</a:t>
            </a:r>
          </a:p>
          <a:p>
            <a:r>
              <a:rPr lang="en-US" altLang="zh-CN" dirty="0" smtClean="0"/>
              <a:t>Simple pipeline had 1 stage to check both structural and data hazards: Instruction Decode (ID), also called Instruction Issue</a:t>
            </a:r>
          </a:p>
          <a:p>
            <a:r>
              <a:rPr lang="en-US" altLang="zh-CN" dirty="0" smtClean="0"/>
              <a:t>Split the ID pipe stage of simple 5-stage pipeline into 2 stages: </a:t>
            </a:r>
          </a:p>
          <a:p>
            <a:pPr lvl="1"/>
            <a:r>
              <a:rPr lang="en-US" altLang="zh-CN" dirty="0" smtClean="0">
                <a:solidFill>
                  <a:srgbClr val="FF0000"/>
                </a:solidFill>
              </a:rPr>
              <a:t>Issue </a:t>
            </a:r>
            <a:r>
              <a:rPr lang="en-US" altLang="zh-CN" dirty="0" smtClean="0"/>
              <a:t>— Decode instructions, check for structural hazards </a:t>
            </a:r>
          </a:p>
          <a:p>
            <a:pPr lvl="1"/>
            <a:r>
              <a:rPr lang="en-US" altLang="zh-CN" dirty="0" smtClean="0">
                <a:solidFill>
                  <a:srgbClr val="FF0000"/>
                </a:solidFill>
              </a:rPr>
              <a:t>Read operands </a:t>
            </a:r>
            <a:r>
              <a:rPr lang="en-US" altLang="zh-CN" dirty="0" smtClean="0"/>
              <a:t>— Wait until no data hazards, then read operands </a:t>
            </a:r>
            <a:endParaRPr lang="zh-CN" altLang="en-US" dirty="0"/>
          </a:p>
        </p:txBody>
      </p:sp>
    </p:spTree>
    <p:extLst>
      <p:ext uri="{BB962C8B-B14F-4D97-AF65-F5344CB8AC3E}">
        <p14:creationId xmlns:p14="http://schemas.microsoft.com/office/powerpoint/2010/main" val="222009485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878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88781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88781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887811">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887811">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887811">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8878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7811"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9858" name="Rectangle 2"/>
          <p:cNvSpPr>
            <a:spLocks noGrp="1" noChangeArrowheads="1"/>
          </p:cNvSpPr>
          <p:nvPr>
            <p:ph type="title"/>
          </p:nvPr>
        </p:nvSpPr>
        <p:spPr/>
        <p:txBody>
          <a:bodyPr/>
          <a:lstStyle/>
          <a:p>
            <a:r>
              <a:rPr lang="en-US" altLang="zh-CN" dirty="0" smtClean="0"/>
              <a:t>A Dynamic Scheduling Algorithm: </a:t>
            </a:r>
            <a:br>
              <a:rPr lang="en-US" altLang="zh-CN" dirty="0" smtClean="0"/>
            </a:br>
            <a:r>
              <a:rPr lang="en-US" altLang="zh-CN" dirty="0" err="1" smtClean="0"/>
              <a:t>Tomasulo’s</a:t>
            </a:r>
            <a:r>
              <a:rPr lang="en-US" altLang="zh-CN" dirty="0" smtClean="0"/>
              <a:t> Algorithm</a:t>
            </a:r>
            <a:endParaRPr lang="en-US" altLang="zh-CN" dirty="0"/>
          </a:p>
        </p:txBody>
      </p:sp>
      <p:sp>
        <p:nvSpPr>
          <p:cNvPr id="889859" name="Rectangle 3"/>
          <p:cNvSpPr>
            <a:spLocks noGrp="1" noChangeArrowheads="1"/>
          </p:cNvSpPr>
          <p:nvPr>
            <p:ph type="body" idx="1"/>
          </p:nvPr>
        </p:nvSpPr>
        <p:spPr/>
        <p:txBody>
          <a:bodyPr/>
          <a:lstStyle/>
          <a:p>
            <a:r>
              <a:rPr lang="en-US" altLang="zh-CN" dirty="0" smtClean="0"/>
              <a:t>First proposed for IBM 360/91 (before caches!)</a:t>
            </a:r>
          </a:p>
          <a:p>
            <a:r>
              <a:rPr lang="en-US" altLang="zh-CN" dirty="0" smtClean="0"/>
              <a:t>Goal: High Performance without special compilers</a:t>
            </a:r>
          </a:p>
          <a:p>
            <a:r>
              <a:rPr lang="en-US" altLang="zh-CN" dirty="0" smtClean="0"/>
              <a:t>Small number of floating point registers (4 in 360) prevented interesting compiler scheduling of operations</a:t>
            </a:r>
          </a:p>
          <a:p>
            <a:pPr lvl="1"/>
            <a:r>
              <a:rPr lang="en-US" altLang="zh-CN" dirty="0" smtClean="0"/>
              <a:t>This led </a:t>
            </a:r>
            <a:r>
              <a:rPr lang="en-US" altLang="zh-CN" dirty="0" err="1" smtClean="0"/>
              <a:t>Tomasulo</a:t>
            </a:r>
            <a:r>
              <a:rPr lang="en-US" altLang="zh-CN" dirty="0" smtClean="0"/>
              <a:t> to try to figure out how to get more effective registers — </a:t>
            </a:r>
            <a:r>
              <a:rPr lang="en-US" altLang="zh-CN" dirty="0" smtClean="0">
                <a:solidFill>
                  <a:srgbClr val="FF0000"/>
                </a:solidFill>
              </a:rPr>
              <a:t>renaming in hardware</a:t>
            </a:r>
            <a:r>
              <a:rPr lang="en-US" altLang="zh-CN" dirty="0" smtClean="0"/>
              <a:t>! </a:t>
            </a:r>
          </a:p>
          <a:p>
            <a:r>
              <a:rPr lang="en-US" altLang="zh-CN" dirty="0" smtClean="0"/>
              <a:t>Why Study 1966 Computer? </a:t>
            </a:r>
          </a:p>
          <a:p>
            <a:r>
              <a:rPr lang="en-US" altLang="zh-CN" dirty="0" smtClean="0"/>
              <a:t>The descendants of this have flourished!</a:t>
            </a:r>
          </a:p>
          <a:p>
            <a:pPr lvl="1"/>
            <a:r>
              <a:rPr lang="en-US" altLang="zh-CN" dirty="0" smtClean="0"/>
              <a:t>Alpha 21264, HP 8000, MIPS 10000, Pentium III, PowerPC 604, …</a:t>
            </a:r>
            <a:endParaRPr lang="en-US" altLang="zh-CN" dirty="0"/>
          </a:p>
        </p:txBody>
      </p:sp>
    </p:spTree>
    <p:extLst>
      <p:ext uri="{BB962C8B-B14F-4D97-AF65-F5344CB8AC3E}">
        <p14:creationId xmlns:p14="http://schemas.microsoft.com/office/powerpoint/2010/main" val="374899200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898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8985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889859">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889859">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889859">
                                            <p:txEl>
                                              <p:pRg st="4" end="4"/>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889859">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8898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9859"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882" name="Rectangle 2"/>
          <p:cNvSpPr>
            <a:spLocks noGrp="1" noChangeArrowheads="1"/>
          </p:cNvSpPr>
          <p:nvPr>
            <p:ph type="title"/>
          </p:nvPr>
        </p:nvSpPr>
        <p:spPr/>
        <p:txBody>
          <a:bodyPr/>
          <a:lstStyle/>
          <a:p>
            <a:r>
              <a:rPr lang="en-US" altLang="zh-CN" smtClean="0"/>
              <a:t>Tomasulo Algorithm</a:t>
            </a:r>
            <a:endParaRPr lang="en-US" altLang="zh-CN"/>
          </a:p>
        </p:txBody>
      </p:sp>
      <p:sp>
        <p:nvSpPr>
          <p:cNvPr id="890883" name="Rectangle 3"/>
          <p:cNvSpPr>
            <a:spLocks noGrp="1" noChangeArrowheads="1"/>
          </p:cNvSpPr>
          <p:nvPr>
            <p:ph type="body" idx="1"/>
          </p:nvPr>
        </p:nvSpPr>
        <p:spPr>
          <a:xfrm>
            <a:off x="838200" y="1556792"/>
            <a:ext cx="11018440" cy="5112568"/>
          </a:xfrm>
        </p:spPr>
        <p:txBody>
          <a:bodyPr/>
          <a:lstStyle/>
          <a:p>
            <a:r>
              <a:rPr lang="en-US" altLang="zh-CN" dirty="0" smtClean="0"/>
              <a:t>Control &amp; buffers distributed with </a:t>
            </a:r>
            <a:r>
              <a:rPr lang="en-US" altLang="zh-CN" dirty="0" smtClean="0">
                <a:solidFill>
                  <a:srgbClr val="FF0000"/>
                </a:solidFill>
              </a:rPr>
              <a:t>many</a:t>
            </a:r>
            <a:r>
              <a:rPr lang="en-US" altLang="zh-CN" dirty="0" smtClean="0"/>
              <a:t> Function Units (FU)</a:t>
            </a:r>
          </a:p>
          <a:p>
            <a:pPr lvl="1"/>
            <a:r>
              <a:rPr lang="en-US" altLang="zh-CN" dirty="0" smtClean="0"/>
              <a:t>FU buffers called “</a:t>
            </a:r>
            <a:r>
              <a:rPr lang="en-US" altLang="zh-CN" dirty="0" smtClean="0">
                <a:solidFill>
                  <a:srgbClr val="FF0000"/>
                </a:solidFill>
              </a:rPr>
              <a:t>reservation stations</a:t>
            </a:r>
            <a:r>
              <a:rPr lang="en-US" altLang="zh-CN" dirty="0" smtClean="0"/>
              <a:t>”; have pending operands</a:t>
            </a:r>
          </a:p>
          <a:p>
            <a:r>
              <a:rPr lang="en-US" altLang="zh-CN" dirty="0" smtClean="0"/>
              <a:t>Registers in instructions replaced by values or pointers to reservation stations (RS); </a:t>
            </a:r>
          </a:p>
          <a:p>
            <a:pPr lvl="1"/>
            <a:r>
              <a:rPr lang="en-US" altLang="zh-CN" dirty="0" smtClean="0"/>
              <a:t>form of  register renaming; avoids WAR, WAW hazards</a:t>
            </a:r>
          </a:p>
          <a:p>
            <a:pPr lvl="1"/>
            <a:r>
              <a:rPr lang="en-US" altLang="zh-CN" dirty="0" smtClean="0"/>
              <a:t>More reservation stations than registers, so can do optimizations compilers can’t</a:t>
            </a:r>
          </a:p>
          <a:p>
            <a:r>
              <a:rPr lang="en-US" altLang="zh-CN" dirty="0" smtClean="0"/>
              <a:t>Results to FU from RS, not through registers, over </a:t>
            </a:r>
            <a:r>
              <a:rPr lang="en-US" altLang="zh-CN" dirty="0" smtClean="0">
                <a:solidFill>
                  <a:srgbClr val="FF0000"/>
                </a:solidFill>
              </a:rPr>
              <a:t>Common Data Bus</a:t>
            </a:r>
            <a:r>
              <a:rPr lang="en-US" altLang="zh-CN" dirty="0" smtClean="0"/>
              <a:t> that broadcasts results to all FUs</a:t>
            </a:r>
          </a:p>
          <a:p>
            <a:r>
              <a:rPr lang="en-US" altLang="zh-CN" dirty="0" smtClean="0"/>
              <a:t>Load and Stores treated as FUs with RSs as well</a:t>
            </a:r>
          </a:p>
          <a:p>
            <a:r>
              <a:rPr lang="en-US" altLang="zh-CN" dirty="0" smtClean="0"/>
              <a:t>Integer instructions can go past branches, allowing FP ops beyond basic block in </a:t>
            </a:r>
            <a:r>
              <a:rPr lang="en-US" altLang="zh-CN" dirty="0" smtClean="0">
                <a:solidFill>
                  <a:srgbClr val="FF0000"/>
                </a:solidFill>
              </a:rPr>
              <a:t>FP queue</a:t>
            </a:r>
            <a:endParaRPr lang="en-US" altLang="zh-CN" dirty="0">
              <a:solidFill>
                <a:srgbClr val="FF0000"/>
              </a:solidFill>
            </a:endParaRPr>
          </a:p>
        </p:txBody>
      </p:sp>
    </p:spTree>
    <p:extLst>
      <p:ext uri="{BB962C8B-B14F-4D97-AF65-F5344CB8AC3E}">
        <p14:creationId xmlns:p14="http://schemas.microsoft.com/office/powerpoint/2010/main" val="227304076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908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89088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89088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89088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890883">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890883">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890883">
                                            <p:txEl>
                                              <p:pRg st="6" end="6"/>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89088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883"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1906" name="Rectangle 2"/>
          <p:cNvSpPr>
            <a:spLocks noGrp="1" noChangeArrowheads="1"/>
          </p:cNvSpPr>
          <p:nvPr>
            <p:ph type="title"/>
          </p:nvPr>
        </p:nvSpPr>
        <p:spPr/>
        <p:txBody>
          <a:bodyPr/>
          <a:lstStyle/>
          <a:p>
            <a:r>
              <a:rPr lang="en-US" altLang="zh-CN" dirty="0" err="1" smtClean="0"/>
              <a:t>Tomasulo</a:t>
            </a:r>
            <a:r>
              <a:rPr lang="en-US" altLang="zh-CN" dirty="0" smtClean="0"/>
              <a:t> Organization in IBM 360/91</a:t>
            </a:r>
            <a:endParaRPr lang="en-US" altLang="zh-CN" dirty="0"/>
          </a:p>
        </p:txBody>
      </p:sp>
      <p:grpSp>
        <p:nvGrpSpPr>
          <p:cNvPr id="891974" name="Group 70"/>
          <p:cNvGrpSpPr>
            <a:grpSpLocks/>
          </p:cNvGrpSpPr>
          <p:nvPr/>
        </p:nvGrpSpPr>
        <p:grpSpPr bwMode="auto">
          <a:xfrm>
            <a:off x="1609726" y="1486298"/>
            <a:ext cx="8943975" cy="5399086"/>
            <a:chOff x="54" y="729"/>
            <a:chExt cx="5634" cy="3401"/>
          </a:xfrm>
        </p:grpSpPr>
        <p:grpSp>
          <p:nvGrpSpPr>
            <p:cNvPr id="891907" name="Group 3"/>
            <p:cNvGrpSpPr>
              <a:grpSpLocks/>
            </p:cNvGrpSpPr>
            <p:nvPr/>
          </p:nvGrpSpPr>
          <p:grpSpPr bwMode="auto">
            <a:xfrm>
              <a:off x="457" y="1402"/>
              <a:ext cx="576" cy="768"/>
              <a:chOff x="1872" y="1584"/>
              <a:chExt cx="576" cy="864"/>
            </a:xfrm>
          </p:grpSpPr>
          <p:sp>
            <p:nvSpPr>
              <p:cNvPr id="891908" name="Rectangle 4"/>
              <p:cNvSpPr>
                <a:spLocks noChangeArrowheads="1"/>
              </p:cNvSpPr>
              <p:nvPr/>
            </p:nvSpPr>
            <p:spPr bwMode="auto">
              <a:xfrm>
                <a:off x="1872" y="1584"/>
                <a:ext cx="576" cy="144"/>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891909" name="Rectangle 5"/>
              <p:cNvSpPr>
                <a:spLocks noChangeArrowheads="1"/>
              </p:cNvSpPr>
              <p:nvPr/>
            </p:nvSpPr>
            <p:spPr bwMode="auto">
              <a:xfrm>
                <a:off x="1872" y="1728"/>
                <a:ext cx="576" cy="144"/>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891910" name="Rectangle 6"/>
              <p:cNvSpPr>
                <a:spLocks noChangeArrowheads="1"/>
              </p:cNvSpPr>
              <p:nvPr/>
            </p:nvSpPr>
            <p:spPr bwMode="auto">
              <a:xfrm>
                <a:off x="1872" y="1872"/>
                <a:ext cx="576" cy="144"/>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891911" name="Rectangle 7"/>
              <p:cNvSpPr>
                <a:spLocks noChangeArrowheads="1"/>
              </p:cNvSpPr>
              <p:nvPr/>
            </p:nvSpPr>
            <p:spPr bwMode="auto">
              <a:xfrm>
                <a:off x="1872" y="2016"/>
                <a:ext cx="576" cy="144"/>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891912" name="Rectangle 8"/>
              <p:cNvSpPr>
                <a:spLocks noChangeArrowheads="1"/>
              </p:cNvSpPr>
              <p:nvPr/>
            </p:nvSpPr>
            <p:spPr bwMode="auto">
              <a:xfrm>
                <a:off x="1872" y="2160"/>
                <a:ext cx="576" cy="144"/>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891913" name="Rectangle 9"/>
              <p:cNvSpPr>
                <a:spLocks noChangeArrowheads="1"/>
              </p:cNvSpPr>
              <p:nvPr/>
            </p:nvSpPr>
            <p:spPr bwMode="auto">
              <a:xfrm>
                <a:off x="1872" y="2304"/>
                <a:ext cx="576" cy="144"/>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grpSp>
        <p:sp>
          <p:nvSpPr>
            <p:cNvPr id="891914" name="Line 10"/>
            <p:cNvSpPr>
              <a:spLocks noChangeShapeType="1"/>
            </p:cNvSpPr>
            <p:nvPr/>
          </p:nvSpPr>
          <p:spPr bwMode="auto">
            <a:xfrm>
              <a:off x="697" y="1018"/>
              <a:ext cx="0" cy="384"/>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91915" name="Group 11"/>
            <p:cNvGrpSpPr>
              <a:grpSpLocks/>
            </p:cNvGrpSpPr>
            <p:nvPr/>
          </p:nvGrpSpPr>
          <p:grpSpPr bwMode="auto">
            <a:xfrm>
              <a:off x="2104" y="785"/>
              <a:ext cx="576" cy="768"/>
              <a:chOff x="1872" y="1584"/>
              <a:chExt cx="576" cy="864"/>
            </a:xfrm>
          </p:grpSpPr>
          <p:sp>
            <p:nvSpPr>
              <p:cNvPr id="891916" name="Rectangle 12"/>
              <p:cNvSpPr>
                <a:spLocks noChangeArrowheads="1"/>
              </p:cNvSpPr>
              <p:nvPr/>
            </p:nvSpPr>
            <p:spPr bwMode="auto">
              <a:xfrm>
                <a:off x="1872" y="1584"/>
                <a:ext cx="576" cy="144"/>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891917" name="Rectangle 13"/>
              <p:cNvSpPr>
                <a:spLocks noChangeArrowheads="1"/>
              </p:cNvSpPr>
              <p:nvPr/>
            </p:nvSpPr>
            <p:spPr bwMode="auto">
              <a:xfrm>
                <a:off x="1872" y="1728"/>
                <a:ext cx="576" cy="144"/>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891918" name="Rectangle 14"/>
              <p:cNvSpPr>
                <a:spLocks noChangeArrowheads="1"/>
              </p:cNvSpPr>
              <p:nvPr/>
            </p:nvSpPr>
            <p:spPr bwMode="auto">
              <a:xfrm>
                <a:off x="1872" y="1872"/>
                <a:ext cx="576" cy="144"/>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891919" name="Rectangle 15"/>
              <p:cNvSpPr>
                <a:spLocks noChangeArrowheads="1"/>
              </p:cNvSpPr>
              <p:nvPr/>
            </p:nvSpPr>
            <p:spPr bwMode="auto">
              <a:xfrm>
                <a:off x="1872" y="2016"/>
                <a:ext cx="576" cy="144"/>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891920" name="Rectangle 16"/>
              <p:cNvSpPr>
                <a:spLocks noChangeArrowheads="1"/>
              </p:cNvSpPr>
              <p:nvPr/>
            </p:nvSpPr>
            <p:spPr bwMode="auto">
              <a:xfrm>
                <a:off x="1872" y="2160"/>
                <a:ext cx="576" cy="144"/>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891921" name="Rectangle 17"/>
              <p:cNvSpPr>
                <a:spLocks noChangeArrowheads="1"/>
              </p:cNvSpPr>
              <p:nvPr/>
            </p:nvSpPr>
            <p:spPr bwMode="auto">
              <a:xfrm>
                <a:off x="1872" y="2304"/>
                <a:ext cx="576" cy="144"/>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grpSp>
        <p:grpSp>
          <p:nvGrpSpPr>
            <p:cNvPr id="891922" name="Group 18"/>
            <p:cNvGrpSpPr>
              <a:grpSpLocks/>
            </p:cNvGrpSpPr>
            <p:nvPr/>
          </p:nvGrpSpPr>
          <p:grpSpPr bwMode="auto">
            <a:xfrm>
              <a:off x="3256" y="929"/>
              <a:ext cx="1392" cy="512"/>
              <a:chOff x="3456" y="1200"/>
              <a:chExt cx="1392" cy="512"/>
            </a:xfrm>
          </p:grpSpPr>
          <p:sp>
            <p:nvSpPr>
              <p:cNvPr id="891923" name="Rectangle 19"/>
              <p:cNvSpPr>
                <a:spLocks noChangeArrowheads="1"/>
              </p:cNvSpPr>
              <p:nvPr/>
            </p:nvSpPr>
            <p:spPr bwMode="auto">
              <a:xfrm>
                <a:off x="3456" y="1200"/>
                <a:ext cx="1392" cy="128"/>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891924" name="Rectangle 20"/>
              <p:cNvSpPr>
                <a:spLocks noChangeArrowheads="1"/>
              </p:cNvSpPr>
              <p:nvPr/>
            </p:nvSpPr>
            <p:spPr bwMode="auto">
              <a:xfrm>
                <a:off x="3456" y="1328"/>
                <a:ext cx="1392" cy="128"/>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891925" name="Rectangle 21"/>
              <p:cNvSpPr>
                <a:spLocks noChangeArrowheads="1"/>
              </p:cNvSpPr>
              <p:nvPr/>
            </p:nvSpPr>
            <p:spPr bwMode="auto">
              <a:xfrm>
                <a:off x="3456" y="1456"/>
                <a:ext cx="1392" cy="128"/>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891926" name="Rectangle 22"/>
              <p:cNvSpPr>
                <a:spLocks noChangeArrowheads="1"/>
              </p:cNvSpPr>
              <p:nvPr/>
            </p:nvSpPr>
            <p:spPr bwMode="auto">
              <a:xfrm>
                <a:off x="3456" y="1584"/>
                <a:ext cx="1392" cy="128"/>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grpSp>
        <p:grpSp>
          <p:nvGrpSpPr>
            <p:cNvPr id="891927" name="Group 23"/>
            <p:cNvGrpSpPr>
              <a:grpSpLocks/>
            </p:cNvGrpSpPr>
            <p:nvPr/>
          </p:nvGrpSpPr>
          <p:grpSpPr bwMode="auto">
            <a:xfrm>
              <a:off x="4777" y="2122"/>
              <a:ext cx="576" cy="384"/>
              <a:chOff x="3888" y="2064"/>
              <a:chExt cx="576" cy="384"/>
            </a:xfrm>
          </p:grpSpPr>
          <p:sp>
            <p:nvSpPr>
              <p:cNvPr id="891928" name="Rectangle 24"/>
              <p:cNvSpPr>
                <a:spLocks noChangeArrowheads="1"/>
              </p:cNvSpPr>
              <p:nvPr/>
            </p:nvSpPr>
            <p:spPr bwMode="auto">
              <a:xfrm>
                <a:off x="3888" y="2064"/>
                <a:ext cx="576" cy="128"/>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891929" name="Rectangle 25"/>
              <p:cNvSpPr>
                <a:spLocks noChangeArrowheads="1"/>
              </p:cNvSpPr>
              <p:nvPr/>
            </p:nvSpPr>
            <p:spPr bwMode="auto">
              <a:xfrm>
                <a:off x="3888" y="2192"/>
                <a:ext cx="576" cy="128"/>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891930" name="Rectangle 26"/>
              <p:cNvSpPr>
                <a:spLocks noChangeArrowheads="1"/>
              </p:cNvSpPr>
              <p:nvPr/>
            </p:nvSpPr>
            <p:spPr bwMode="auto">
              <a:xfrm>
                <a:off x="3888" y="2320"/>
                <a:ext cx="576" cy="128"/>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grpSp>
        <p:grpSp>
          <p:nvGrpSpPr>
            <p:cNvPr id="891931" name="Group 27"/>
            <p:cNvGrpSpPr>
              <a:grpSpLocks/>
            </p:cNvGrpSpPr>
            <p:nvPr/>
          </p:nvGrpSpPr>
          <p:grpSpPr bwMode="auto">
            <a:xfrm>
              <a:off x="1057" y="2465"/>
              <a:ext cx="1392" cy="384"/>
              <a:chOff x="1536" y="2736"/>
              <a:chExt cx="1392" cy="384"/>
            </a:xfrm>
          </p:grpSpPr>
          <p:sp>
            <p:nvSpPr>
              <p:cNvPr id="891932" name="Rectangle 28"/>
              <p:cNvSpPr>
                <a:spLocks noChangeArrowheads="1"/>
              </p:cNvSpPr>
              <p:nvPr/>
            </p:nvSpPr>
            <p:spPr bwMode="auto">
              <a:xfrm>
                <a:off x="1536" y="2736"/>
                <a:ext cx="1392" cy="128"/>
              </a:xfrm>
              <a:prstGeom prst="rect">
                <a:avLst/>
              </a:prstGeom>
              <a:solidFill>
                <a:schemeClr val="accent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891933" name="Rectangle 29"/>
              <p:cNvSpPr>
                <a:spLocks noChangeArrowheads="1"/>
              </p:cNvSpPr>
              <p:nvPr/>
            </p:nvSpPr>
            <p:spPr bwMode="auto">
              <a:xfrm>
                <a:off x="1536" y="2864"/>
                <a:ext cx="1392" cy="128"/>
              </a:xfrm>
              <a:prstGeom prst="rect">
                <a:avLst/>
              </a:prstGeom>
              <a:solidFill>
                <a:schemeClr val="accent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891934" name="Rectangle 30"/>
              <p:cNvSpPr>
                <a:spLocks noChangeArrowheads="1"/>
              </p:cNvSpPr>
              <p:nvPr/>
            </p:nvSpPr>
            <p:spPr bwMode="auto">
              <a:xfrm>
                <a:off x="1536" y="2992"/>
                <a:ext cx="1392" cy="128"/>
              </a:xfrm>
              <a:prstGeom prst="rect">
                <a:avLst/>
              </a:prstGeom>
              <a:solidFill>
                <a:schemeClr val="accent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grpSp>
        <p:sp>
          <p:nvSpPr>
            <p:cNvPr id="891935" name="Rectangle 31"/>
            <p:cNvSpPr>
              <a:spLocks noChangeArrowheads="1"/>
            </p:cNvSpPr>
            <p:nvPr/>
          </p:nvSpPr>
          <p:spPr bwMode="auto">
            <a:xfrm>
              <a:off x="1249" y="2465"/>
              <a:ext cx="480" cy="38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936" name="Rectangle 32"/>
            <p:cNvSpPr>
              <a:spLocks noChangeArrowheads="1"/>
            </p:cNvSpPr>
            <p:nvPr/>
          </p:nvSpPr>
          <p:spPr bwMode="auto">
            <a:xfrm>
              <a:off x="1417" y="3185"/>
              <a:ext cx="672" cy="192"/>
            </a:xfrm>
            <a:prstGeom prst="rect">
              <a:avLst/>
            </a:prstGeom>
            <a:solidFill>
              <a:schemeClr val="accent1"/>
            </a:solidFill>
            <a:ln w="28575">
              <a:solidFill>
                <a:schemeClr val="tx1"/>
              </a:solidFill>
              <a:miter lim="800000"/>
              <a:headEnd/>
              <a:tailEnd/>
            </a:ln>
            <a:effectLst>
              <a:outerShdw dist="107763" dir="2700000" algn="ctr" rotWithShape="0">
                <a:schemeClr val="bg2"/>
              </a:outerShdw>
            </a:effectLst>
          </p:spPr>
          <p:txBody>
            <a:bodyPr wrap="none" anchor="ctr"/>
            <a:lstStyle/>
            <a:p>
              <a:r>
                <a:rPr lang="en-US" altLang="zh-CN" b="1"/>
                <a:t>FP adders</a:t>
              </a:r>
            </a:p>
          </p:txBody>
        </p:sp>
        <p:sp>
          <p:nvSpPr>
            <p:cNvPr id="891937" name="Text Box 33"/>
            <p:cNvSpPr txBox="1">
              <a:spLocks noChangeArrowheads="1"/>
            </p:cNvSpPr>
            <p:nvPr/>
          </p:nvSpPr>
          <p:spPr bwMode="auto">
            <a:xfrm>
              <a:off x="690" y="2418"/>
              <a:ext cx="398" cy="4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1400" b="1">
                  <a:solidFill>
                    <a:schemeClr val="hlink"/>
                  </a:solidFill>
                </a:rPr>
                <a:t>Add1</a:t>
              </a:r>
            </a:p>
            <a:p>
              <a:r>
                <a:rPr lang="en-US" altLang="zh-CN" sz="1400" b="1">
                  <a:solidFill>
                    <a:schemeClr val="hlink"/>
                  </a:solidFill>
                </a:rPr>
                <a:t>Add2</a:t>
              </a:r>
            </a:p>
            <a:p>
              <a:pPr>
                <a:lnSpc>
                  <a:spcPct val="90000"/>
                </a:lnSpc>
              </a:pPr>
              <a:r>
                <a:rPr lang="en-US" altLang="zh-CN" sz="1400" b="1">
                  <a:solidFill>
                    <a:schemeClr val="hlink"/>
                  </a:solidFill>
                </a:rPr>
                <a:t>Add3</a:t>
              </a:r>
            </a:p>
          </p:txBody>
        </p:sp>
        <p:grpSp>
          <p:nvGrpSpPr>
            <p:cNvPr id="891938" name="Group 34"/>
            <p:cNvGrpSpPr>
              <a:grpSpLocks/>
            </p:cNvGrpSpPr>
            <p:nvPr/>
          </p:nvGrpSpPr>
          <p:grpSpPr bwMode="auto">
            <a:xfrm>
              <a:off x="3064" y="2561"/>
              <a:ext cx="1392" cy="240"/>
              <a:chOff x="3312" y="2688"/>
              <a:chExt cx="1392" cy="256"/>
            </a:xfrm>
          </p:grpSpPr>
          <p:sp>
            <p:nvSpPr>
              <p:cNvPr id="891939" name="Rectangle 35"/>
              <p:cNvSpPr>
                <a:spLocks noChangeArrowheads="1"/>
              </p:cNvSpPr>
              <p:nvPr/>
            </p:nvSpPr>
            <p:spPr bwMode="auto">
              <a:xfrm>
                <a:off x="3312" y="2688"/>
                <a:ext cx="1392" cy="128"/>
              </a:xfrm>
              <a:prstGeom prst="rect">
                <a:avLst/>
              </a:prstGeom>
              <a:solidFill>
                <a:schemeClr val="accent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891940" name="Rectangle 36"/>
              <p:cNvSpPr>
                <a:spLocks noChangeArrowheads="1"/>
              </p:cNvSpPr>
              <p:nvPr/>
            </p:nvSpPr>
            <p:spPr bwMode="auto">
              <a:xfrm>
                <a:off x="3312" y="2816"/>
                <a:ext cx="1392" cy="128"/>
              </a:xfrm>
              <a:prstGeom prst="rect">
                <a:avLst/>
              </a:prstGeom>
              <a:solidFill>
                <a:schemeClr val="accent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grpSp>
        <p:sp>
          <p:nvSpPr>
            <p:cNvPr id="891941" name="Rectangle 37"/>
            <p:cNvSpPr>
              <a:spLocks noChangeArrowheads="1"/>
            </p:cNvSpPr>
            <p:nvPr/>
          </p:nvSpPr>
          <p:spPr bwMode="auto">
            <a:xfrm>
              <a:off x="3256" y="2561"/>
              <a:ext cx="480"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942" name="Rectangle 38"/>
            <p:cNvSpPr>
              <a:spLocks noChangeArrowheads="1"/>
            </p:cNvSpPr>
            <p:nvPr/>
          </p:nvSpPr>
          <p:spPr bwMode="auto">
            <a:xfrm>
              <a:off x="3352" y="3185"/>
              <a:ext cx="912" cy="192"/>
            </a:xfrm>
            <a:prstGeom prst="rect">
              <a:avLst/>
            </a:prstGeom>
            <a:solidFill>
              <a:schemeClr val="accent1"/>
            </a:solidFill>
            <a:ln w="28575">
              <a:solidFill>
                <a:schemeClr val="tx1"/>
              </a:solidFill>
              <a:miter lim="800000"/>
              <a:headEnd/>
              <a:tailEnd/>
            </a:ln>
            <a:effectLst>
              <a:outerShdw dist="107763" dir="2700000" algn="ctr" rotWithShape="0">
                <a:schemeClr val="bg2"/>
              </a:outerShdw>
            </a:effectLst>
          </p:spPr>
          <p:txBody>
            <a:bodyPr wrap="none" anchor="ctr"/>
            <a:lstStyle/>
            <a:p>
              <a:r>
                <a:rPr lang="en-US" altLang="zh-CN" b="1"/>
                <a:t>FP multipliers</a:t>
              </a:r>
            </a:p>
          </p:txBody>
        </p:sp>
        <p:sp>
          <p:nvSpPr>
            <p:cNvPr id="891943" name="Text Box 39"/>
            <p:cNvSpPr txBox="1">
              <a:spLocks noChangeArrowheads="1"/>
            </p:cNvSpPr>
            <p:nvPr/>
          </p:nvSpPr>
          <p:spPr bwMode="auto">
            <a:xfrm>
              <a:off x="2665" y="2554"/>
              <a:ext cx="425"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nSpc>
                  <a:spcPct val="90000"/>
                </a:lnSpc>
              </a:pPr>
              <a:r>
                <a:rPr lang="en-US" altLang="zh-CN" sz="1400" b="1">
                  <a:solidFill>
                    <a:schemeClr val="hlink"/>
                  </a:solidFill>
                </a:rPr>
                <a:t>Mult1</a:t>
              </a:r>
            </a:p>
            <a:p>
              <a:pPr>
                <a:lnSpc>
                  <a:spcPct val="90000"/>
                </a:lnSpc>
              </a:pPr>
              <a:r>
                <a:rPr lang="en-US" altLang="zh-CN" sz="1400" b="1">
                  <a:solidFill>
                    <a:schemeClr val="hlink"/>
                  </a:solidFill>
                </a:rPr>
                <a:t>Mult2</a:t>
              </a:r>
            </a:p>
          </p:txBody>
        </p:sp>
        <p:sp>
          <p:nvSpPr>
            <p:cNvPr id="891944" name="Line 40"/>
            <p:cNvSpPr>
              <a:spLocks noChangeShapeType="1"/>
            </p:cNvSpPr>
            <p:nvPr/>
          </p:nvSpPr>
          <p:spPr bwMode="auto">
            <a:xfrm>
              <a:off x="1528" y="2849"/>
              <a:ext cx="0" cy="33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945" name="Line 41"/>
            <p:cNvSpPr>
              <a:spLocks noChangeShapeType="1"/>
            </p:cNvSpPr>
            <p:nvPr/>
          </p:nvSpPr>
          <p:spPr bwMode="auto">
            <a:xfrm>
              <a:off x="1960" y="2849"/>
              <a:ext cx="0" cy="33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946" name="Line 42"/>
            <p:cNvSpPr>
              <a:spLocks noChangeShapeType="1"/>
            </p:cNvSpPr>
            <p:nvPr/>
          </p:nvSpPr>
          <p:spPr bwMode="auto">
            <a:xfrm>
              <a:off x="3496" y="2801"/>
              <a:ext cx="0" cy="38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947" name="Line 43"/>
            <p:cNvSpPr>
              <a:spLocks noChangeShapeType="1"/>
            </p:cNvSpPr>
            <p:nvPr/>
          </p:nvSpPr>
          <p:spPr bwMode="auto">
            <a:xfrm>
              <a:off x="4072" y="2801"/>
              <a:ext cx="0" cy="38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948" name="Freeform 44"/>
            <p:cNvSpPr>
              <a:spLocks/>
            </p:cNvSpPr>
            <p:nvPr/>
          </p:nvSpPr>
          <p:spPr bwMode="auto">
            <a:xfrm>
              <a:off x="1144" y="1553"/>
              <a:ext cx="1248" cy="912"/>
            </a:xfrm>
            <a:custGeom>
              <a:avLst/>
              <a:gdLst>
                <a:gd name="T0" fmla="*/ 1248 w 1248"/>
                <a:gd name="T1" fmla="*/ 0 h 912"/>
                <a:gd name="T2" fmla="*/ 1248 w 1248"/>
                <a:gd name="T3" fmla="*/ 672 h 912"/>
                <a:gd name="T4" fmla="*/ 0 w 1248"/>
                <a:gd name="T5" fmla="*/ 672 h 912"/>
                <a:gd name="T6" fmla="*/ 0 w 1248"/>
                <a:gd name="T7" fmla="*/ 912 h 912"/>
              </a:gdLst>
              <a:ahLst/>
              <a:cxnLst>
                <a:cxn ang="0">
                  <a:pos x="T0" y="T1"/>
                </a:cxn>
                <a:cxn ang="0">
                  <a:pos x="T2" y="T3"/>
                </a:cxn>
                <a:cxn ang="0">
                  <a:pos x="T4" y="T5"/>
                </a:cxn>
                <a:cxn ang="0">
                  <a:pos x="T6" y="T7"/>
                </a:cxn>
              </a:cxnLst>
              <a:rect l="0" t="0" r="r" b="b"/>
              <a:pathLst>
                <a:path w="1248" h="912">
                  <a:moveTo>
                    <a:pt x="1248" y="0"/>
                  </a:moveTo>
                  <a:lnTo>
                    <a:pt x="1248" y="672"/>
                  </a:lnTo>
                  <a:lnTo>
                    <a:pt x="0" y="672"/>
                  </a:lnTo>
                  <a:lnTo>
                    <a:pt x="0" y="912"/>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949" name="Freeform 45"/>
            <p:cNvSpPr>
              <a:spLocks/>
            </p:cNvSpPr>
            <p:nvPr/>
          </p:nvSpPr>
          <p:spPr bwMode="auto">
            <a:xfrm>
              <a:off x="2392" y="2225"/>
              <a:ext cx="768" cy="336"/>
            </a:xfrm>
            <a:custGeom>
              <a:avLst/>
              <a:gdLst>
                <a:gd name="T0" fmla="*/ 0 w 768"/>
                <a:gd name="T1" fmla="*/ 0 h 336"/>
                <a:gd name="T2" fmla="*/ 768 w 768"/>
                <a:gd name="T3" fmla="*/ 0 h 336"/>
                <a:gd name="T4" fmla="*/ 768 w 768"/>
                <a:gd name="T5" fmla="*/ 336 h 336"/>
              </a:gdLst>
              <a:ahLst/>
              <a:cxnLst>
                <a:cxn ang="0">
                  <a:pos x="T0" y="T1"/>
                </a:cxn>
                <a:cxn ang="0">
                  <a:pos x="T2" y="T3"/>
                </a:cxn>
                <a:cxn ang="0">
                  <a:pos x="T4" y="T5"/>
                </a:cxn>
              </a:cxnLst>
              <a:rect l="0" t="0" r="r" b="b"/>
              <a:pathLst>
                <a:path w="768" h="336">
                  <a:moveTo>
                    <a:pt x="0" y="0"/>
                  </a:moveTo>
                  <a:lnTo>
                    <a:pt x="768" y="0"/>
                  </a:lnTo>
                  <a:lnTo>
                    <a:pt x="768" y="336"/>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950" name="Freeform 46"/>
            <p:cNvSpPr>
              <a:spLocks/>
            </p:cNvSpPr>
            <p:nvPr/>
          </p:nvSpPr>
          <p:spPr bwMode="auto">
            <a:xfrm>
              <a:off x="1480" y="1457"/>
              <a:ext cx="1968" cy="1008"/>
            </a:xfrm>
            <a:custGeom>
              <a:avLst/>
              <a:gdLst>
                <a:gd name="T0" fmla="*/ 1968 w 1968"/>
                <a:gd name="T1" fmla="*/ 0 h 1008"/>
                <a:gd name="T2" fmla="*/ 1968 w 1968"/>
                <a:gd name="T3" fmla="*/ 528 h 1008"/>
                <a:gd name="T4" fmla="*/ 0 w 1968"/>
                <a:gd name="T5" fmla="*/ 528 h 1008"/>
                <a:gd name="T6" fmla="*/ 0 w 1968"/>
                <a:gd name="T7" fmla="*/ 1008 h 1008"/>
              </a:gdLst>
              <a:ahLst/>
              <a:cxnLst>
                <a:cxn ang="0">
                  <a:pos x="T0" y="T1"/>
                </a:cxn>
                <a:cxn ang="0">
                  <a:pos x="T2" y="T3"/>
                </a:cxn>
                <a:cxn ang="0">
                  <a:pos x="T4" y="T5"/>
                </a:cxn>
                <a:cxn ang="0">
                  <a:pos x="T6" y="T7"/>
                </a:cxn>
              </a:cxnLst>
              <a:rect l="0" t="0" r="r" b="b"/>
              <a:pathLst>
                <a:path w="1968" h="1008">
                  <a:moveTo>
                    <a:pt x="1968" y="0"/>
                  </a:moveTo>
                  <a:lnTo>
                    <a:pt x="1968" y="528"/>
                  </a:lnTo>
                  <a:lnTo>
                    <a:pt x="0" y="528"/>
                  </a:lnTo>
                  <a:lnTo>
                    <a:pt x="0" y="1008"/>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951" name="Line 47"/>
            <p:cNvSpPr>
              <a:spLocks noChangeShapeType="1"/>
            </p:cNvSpPr>
            <p:nvPr/>
          </p:nvSpPr>
          <p:spPr bwMode="auto">
            <a:xfrm>
              <a:off x="3448" y="1985"/>
              <a:ext cx="1" cy="57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952" name="Line 48"/>
            <p:cNvSpPr>
              <a:spLocks noChangeShapeType="1"/>
            </p:cNvSpPr>
            <p:nvPr/>
          </p:nvSpPr>
          <p:spPr bwMode="auto">
            <a:xfrm>
              <a:off x="3976" y="1457"/>
              <a:ext cx="0" cy="110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953" name="Freeform 49"/>
            <p:cNvSpPr>
              <a:spLocks/>
            </p:cNvSpPr>
            <p:nvPr/>
          </p:nvSpPr>
          <p:spPr bwMode="auto">
            <a:xfrm>
              <a:off x="2056" y="2081"/>
              <a:ext cx="1920" cy="384"/>
            </a:xfrm>
            <a:custGeom>
              <a:avLst/>
              <a:gdLst>
                <a:gd name="T0" fmla="*/ 1920 w 1920"/>
                <a:gd name="T1" fmla="*/ 0 h 384"/>
                <a:gd name="T2" fmla="*/ 0 w 1920"/>
                <a:gd name="T3" fmla="*/ 0 h 384"/>
                <a:gd name="T4" fmla="*/ 0 w 1920"/>
                <a:gd name="T5" fmla="*/ 384 h 384"/>
              </a:gdLst>
              <a:ahLst/>
              <a:cxnLst>
                <a:cxn ang="0">
                  <a:pos x="T0" y="T1"/>
                </a:cxn>
                <a:cxn ang="0">
                  <a:pos x="T2" y="T3"/>
                </a:cxn>
                <a:cxn ang="0">
                  <a:pos x="T4" y="T5"/>
                </a:cxn>
              </a:cxnLst>
              <a:rect l="0" t="0" r="r" b="b"/>
              <a:pathLst>
                <a:path w="1920" h="384">
                  <a:moveTo>
                    <a:pt x="1920" y="0"/>
                  </a:moveTo>
                  <a:lnTo>
                    <a:pt x="0" y="0"/>
                  </a:lnTo>
                  <a:lnTo>
                    <a:pt x="0" y="384"/>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954" name="Freeform 50"/>
            <p:cNvSpPr>
              <a:spLocks/>
            </p:cNvSpPr>
            <p:nvPr/>
          </p:nvSpPr>
          <p:spPr bwMode="auto">
            <a:xfrm>
              <a:off x="3961" y="1786"/>
              <a:ext cx="1104" cy="336"/>
            </a:xfrm>
            <a:custGeom>
              <a:avLst/>
              <a:gdLst>
                <a:gd name="T0" fmla="*/ 0 w 1008"/>
                <a:gd name="T1" fmla="*/ 0 h 144"/>
                <a:gd name="T2" fmla="*/ 1008 w 1008"/>
                <a:gd name="T3" fmla="*/ 0 h 144"/>
                <a:gd name="T4" fmla="*/ 1008 w 1008"/>
                <a:gd name="T5" fmla="*/ 144 h 144"/>
              </a:gdLst>
              <a:ahLst/>
              <a:cxnLst>
                <a:cxn ang="0">
                  <a:pos x="T0" y="T1"/>
                </a:cxn>
                <a:cxn ang="0">
                  <a:pos x="T2" y="T3"/>
                </a:cxn>
                <a:cxn ang="0">
                  <a:pos x="T4" y="T5"/>
                </a:cxn>
              </a:cxnLst>
              <a:rect l="0" t="0" r="r" b="b"/>
              <a:pathLst>
                <a:path w="1008" h="144">
                  <a:moveTo>
                    <a:pt x="0" y="0"/>
                  </a:moveTo>
                  <a:lnTo>
                    <a:pt x="1008" y="0"/>
                  </a:lnTo>
                  <a:lnTo>
                    <a:pt x="1008" y="144"/>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955" name="Line 51"/>
            <p:cNvSpPr>
              <a:spLocks noChangeShapeType="1"/>
            </p:cNvSpPr>
            <p:nvPr/>
          </p:nvSpPr>
          <p:spPr bwMode="auto">
            <a:xfrm>
              <a:off x="453" y="3802"/>
              <a:ext cx="5235" cy="0"/>
            </a:xfrm>
            <a:prstGeom prst="line">
              <a:avLst/>
            </a:prstGeom>
            <a:noFill/>
            <a:ln w="571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956" name="Line 52"/>
            <p:cNvSpPr>
              <a:spLocks noChangeShapeType="1"/>
            </p:cNvSpPr>
            <p:nvPr/>
          </p:nvSpPr>
          <p:spPr bwMode="auto">
            <a:xfrm flipH="1">
              <a:off x="5353" y="2314"/>
              <a:ext cx="240" cy="0"/>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957" name="Freeform 53"/>
            <p:cNvSpPr>
              <a:spLocks/>
            </p:cNvSpPr>
            <p:nvPr/>
          </p:nvSpPr>
          <p:spPr bwMode="auto">
            <a:xfrm>
              <a:off x="4633" y="1162"/>
              <a:ext cx="960" cy="2640"/>
            </a:xfrm>
            <a:custGeom>
              <a:avLst/>
              <a:gdLst>
                <a:gd name="T0" fmla="*/ 960 w 960"/>
                <a:gd name="T1" fmla="*/ 2448 h 2448"/>
                <a:gd name="T2" fmla="*/ 960 w 960"/>
                <a:gd name="T3" fmla="*/ 0 h 2448"/>
                <a:gd name="T4" fmla="*/ 0 w 960"/>
                <a:gd name="T5" fmla="*/ 0 h 2448"/>
              </a:gdLst>
              <a:ahLst/>
              <a:cxnLst>
                <a:cxn ang="0">
                  <a:pos x="T0" y="T1"/>
                </a:cxn>
                <a:cxn ang="0">
                  <a:pos x="T2" y="T3"/>
                </a:cxn>
                <a:cxn ang="0">
                  <a:pos x="T4" y="T5"/>
                </a:cxn>
              </a:cxnLst>
              <a:rect l="0" t="0" r="r" b="b"/>
              <a:pathLst>
                <a:path w="960" h="2448">
                  <a:moveTo>
                    <a:pt x="960" y="2448"/>
                  </a:moveTo>
                  <a:lnTo>
                    <a:pt x="960" y="0"/>
                  </a:lnTo>
                  <a:lnTo>
                    <a:pt x="0" y="0"/>
                  </a:lnTo>
                </a:path>
              </a:pathLst>
            </a:custGeom>
            <a:noFill/>
            <a:ln w="57150"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958" name="Line 54"/>
            <p:cNvSpPr>
              <a:spLocks noChangeShapeType="1"/>
            </p:cNvSpPr>
            <p:nvPr/>
          </p:nvSpPr>
          <p:spPr bwMode="auto">
            <a:xfrm>
              <a:off x="697" y="2170"/>
              <a:ext cx="0" cy="1632"/>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959" name="Line 55"/>
            <p:cNvSpPr>
              <a:spLocks noChangeShapeType="1"/>
            </p:cNvSpPr>
            <p:nvPr/>
          </p:nvSpPr>
          <p:spPr bwMode="auto">
            <a:xfrm>
              <a:off x="3817" y="3370"/>
              <a:ext cx="0" cy="432"/>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960" name="Line 56"/>
            <p:cNvSpPr>
              <a:spLocks noChangeShapeType="1"/>
            </p:cNvSpPr>
            <p:nvPr/>
          </p:nvSpPr>
          <p:spPr bwMode="auto">
            <a:xfrm>
              <a:off x="1753" y="3370"/>
              <a:ext cx="0" cy="432"/>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961" name="Line 57"/>
            <p:cNvSpPr>
              <a:spLocks noChangeShapeType="1"/>
            </p:cNvSpPr>
            <p:nvPr/>
          </p:nvSpPr>
          <p:spPr bwMode="auto">
            <a:xfrm>
              <a:off x="5065" y="2506"/>
              <a:ext cx="0" cy="384"/>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962" name="Text Box 58"/>
            <p:cNvSpPr txBox="1">
              <a:spLocks noChangeArrowheads="1"/>
            </p:cNvSpPr>
            <p:nvPr/>
          </p:nvSpPr>
          <p:spPr bwMode="auto">
            <a:xfrm>
              <a:off x="219" y="777"/>
              <a:ext cx="851" cy="23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b="1"/>
                <a:t>From Mem</a:t>
              </a:r>
            </a:p>
          </p:txBody>
        </p:sp>
        <p:sp>
          <p:nvSpPr>
            <p:cNvPr id="891963" name="Text Box 59"/>
            <p:cNvSpPr txBox="1">
              <a:spLocks noChangeArrowheads="1"/>
            </p:cNvSpPr>
            <p:nvPr/>
          </p:nvSpPr>
          <p:spPr bwMode="auto">
            <a:xfrm>
              <a:off x="3420" y="729"/>
              <a:ext cx="1002" cy="23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b="1"/>
                <a:t>FP Registers</a:t>
              </a:r>
            </a:p>
          </p:txBody>
        </p:sp>
        <p:sp>
          <p:nvSpPr>
            <p:cNvPr id="891964" name="Text Box 60"/>
            <p:cNvSpPr txBox="1">
              <a:spLocks noChangeArrowheads="1"/>
            </p:cNvSpPr>
            <p:nvPr/>
          </p:nvSpPr>
          <p:spPr bwMode="auto">
            <a:xfrm>
              <a:off x="2346" y="2866"/>
              <a:ext cx="980" cy="4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b="1"/>
                <a:t>Reservation </a:t>
              </a:r>
            </a:p>
            <a:p>
              <a:r>
                <a:rPr lang="en-US" altLang="zh-CN" b="1"/>
                <a:t>Stations</a:t>
              </a:r>
            </a:p>
          </p:txBody>
        </p:sp>
        <p:sp>
          <p:nvSpPr>
            <p:cNvPr id="891965" name="Line 61"/>
            <p:cNvSpPr>
              <a:spLocks noChangeShapeType="1"/>
            </p:cNvSpPr>
            <p:nvPr/>
          </p:nvSpPr>
          <p:spPr bwMode="auto">
            <a:xfrm flipV="1">
              <a:off x="2233" y="2842"/>
              <a:ext cx="0" cy="768"/>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966" name="Line 62"/>
            <p:cNvSpPr>
              <a:spLocks noChangeShapeType="1"/>
            </p:cNvSpPr>
            <p:nvPr/>
          </p:nvSpPr>
          <p:spPr bwMode="auto">
            <a:xfrm flipV="1">
              <a:off x="2233" y="2842"/>
              <a:ext cx="0" cy="960"/>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967" name="Line 63"/>
            <p:cNvSpPr>
              <a:spLocks noChangeShapeType="1"/>
            </p:cNvSpPr>
            <p:nvPr/>
          </p:nvSpPr>
          <p:spPr bwMode="auto">
            <a:xfrm flipV="1">
              <a:off x="4345" y="2794"/>
              <a:ext cx="0" cy="1008"/>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968" name="Text Box 64"/>
            <p:cNvSpPr txBox="1">
              <a:spLocks noChangeArrowheads="1"/>
            </p:cNvSpPr>
            <p:nvPr/>
          </p:nvSpPr>
          <p:spPr bwMode="auto">
            <a:xfrm>
              <a:off x="1861" y="3897"/>
              <a:ext cx="1869" cy="23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b="1"/>
                <a:t>Common Data Bus (CDB)</a:t>
              </a:r>
            </a:p>
          </p:txBody>
        </p:sp>
        <p:sp>
          <p:nvSpPr>
            <p:cNvPr id="891969" name="Text Box 65"/>
            <p:cNvSpPr txBox="1">
              <a:spLocks noChangeArrowheads="1"/>
            </p:cNvSpPr>
            <p:nvPr/>
          </p:nvSpPr>
          <p:spPr bwMode="auto">
            <a:xfrm>
              <a:off x="4706" y="2890"/>
              <a:ext cx="674"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b="1"/>
                <a:t>To Mem</a:t>
              </a:r>
            </a:p>
          </p:txBody>
        </p:sp>
        <p:sp>
          <p:nvSpPr>
            <p:cNvPr id="891970" name="Text Box 66"/>
            <p:cNvSpPr txBox="1">
              <a:spLocks noChangeArrowheads="1"/>
            </p:cNvSpPr>
            <p:nvPr/>
          </p:nvSpPr>
          <p:spPr bwMode="auto">
            <a:xfrm>
              <a:off x="1513" y="776"/>
              <a:ext cx="569" cy="4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b="1"/>
                <a:t>FP Op</a:t>
              </a:r>
            </a:p>
            <a:p>
              <a:r>
                <a:rPr lang="en-US" altLang="zh-CN" b="1"/>
                <a:t>Queue</a:t>
              </a:r>
            </a:p>
          </p:txBody>
        </p:sp>
        <p:sp>
          <p:nvSpPr>
            <p:cNvPr id="891971" name="Text Box 67"/>
            <p:cNvSpPr txBox="1">
              <a:spLocks noChangeArrowheads="1"/>
            </p:cNvSpPr>
            <p:nvPr/>
          </p:nvSpPr>
          <p:spPr bwMode="auto">
            <a:xfrm>
              <a:off x="841" y="1114"/>
              <a:ext cx="1030"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b="1"/>
                <a:t>Load Buffers</a:t>
              </a:r>
            </a:p>
          </p:txBody>
        </p:sp>
        <p:sp>
          <p:nvSpPr>
            <p:cNvPr id="891972" name="Text Box 68"/>
            <p:cNvSpPr txBox="1">
              <a:spLocks noChangeArrowheads="1"/>
            </p:cNvSpPr>
            <p:nvPr/>
          </p:nvSpPr>
          <p:spPr bwMode="auto">
            <a:xfrm>
              <a:off x="4153" y="1882"/>
              <a:ext cx="648" cy="4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b="1"/>
                <a:t>Store </a:t>
              </a:r>
            </a:p>
            <a:p>
              <a:r>
                <a:rPr lang="en-US" altLang="zh-CN" b="1"/>
                <a:t>Buffers</a:t>
              </a:r>
            </a:p>
          </p:txBody>
        </p:sp>
        <p:sp>
          <p:nvSpPr>
            <p:cNvPr id="891973" name="Text Box 69"/>
            <p:cNvSpPr txBox="1">
              <a:spLocks noChangeArrowheads="1"/>
            </p:cNvSpPr>
            <p:nvPr/>
          </p:nvSpPr>
          <p:spPr bwMode="auto">
            <a:xfrm>
              <a:off x="54" y="1388"/>
              <a:ext cx="448" cy="7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nSpc>
                  <a:spcPct val="90000"/>
                </a:lnSpc>
              </a:pPr>
              <a:r>
                <a:rPr lang="en-US" altLang="zh-CN" sz="1400" b="1">
                  <a:solidFill>
                    <a:schemeClr val="hlink"/>
                  </a:solidFill>
                </a:rPr>
                <a:t>Load1</a:t>
              </a:r>
            </a:p>
            <a:p>
              <a:pPr>
                <a:lnSpc>
                  <a:spcPct val="90000"/>
                </a:lnSpc>
              </a:pPr>
              <a:r>
                <a:rPr lang="en-US" altLang="zh-CN" sz="1400" b="1">
                  <a:solidFill>
                    <a:schemeClr val="hlink"/>
                  </a:solidFill>
                </a:rPr>
                <a:t>Load2</a:t>
              </a:r>
            </a:p>
            <a:p>
              <a:pPr>
                <a:lnSpc>
                  <a:spcPct val="90000"/>
                </a:lnSpc>
              </a:pPr>
              <a:r>
                <a:rPr lang="en-US" altLang="zh-CN" sz="1400" b="1">
                  <a:solidFill>
                    <a:schemeClr val="hlink"/>
                  </a:solidFill>
                </a:rPr>
                <a:t>Load3</a:t>
              </a:r>
            </a:p>
            <a:p>
              <a:pPr>
                <a:lnSpc>
                  <a:spcPct val="90000"/>
                </a:lnSpc>
              </a:pPr>
              <a:r>
                <a:rPr lang="en-US" altLang="zh-CN" sz="1400" b="1">
                  <a:solidFill>
                    <a:schemeClr val="hlink"/>
                  </a:solidFill>
                </a:rPr>
                <a:t>Load4</a:t>
              </a:r>
            </a:p>
            <a:p>
              <a:pPr>
                <a:lnSpc>
                  <a:spcPct val="90000"/>
                </a:lnSpc>
              </a:pPr>
              <a:r>
                <a:rPr lang="en-US" altLang="zh-CN" sz="1400" b="1">
                  <a:solidFill>
                    <a:schemeClr val="hlink"/>
                  </a:solidFill>
                </a:rPr>
                <a:t>Load5</a:t>
              </a:r>
            </a:p>
            <a:p>
              <a:pPr>
                <a:lnSpc>
                  <a:spcPct val="90000"/>
                </a:lnSpc>
              </a:pPr>
              <a:r>
                <a:rPr lang="en-US" altLang="zh-CN" sz="1400" b="1">
                  <a:solidFill>
                    <a:schemeClr val="hlink"/>
                  </a:solidFill>
                </a:rPr>
                <a:t>Load6</a:t>
              </a:r>
            </a:p>
          </p:txBody>
        </p:sp>
      </p:grpSp>
    </p:spTree>
    <p:extLst>
      <p:ext uri="{BB962C8B-B14F-4D97-AF65-F5344CB8AC3E}">
        <p14:creationId xmlns:p14="http://schemas.microsoft.com/office/powerpoint/2010/main" val="417803416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AU" dirty="0" smtClean="0"/>
              <a:t>Register Renaming</a:t>
            </a:r>
            <a:endParaRPr lang="en-AU" dirty="0"/>
          </a:p>
        </p:txBody>
      </p:sp>
      <p:sp>
        <p:nvSpPr>
          <p:cNvPr id="242691" name="Rectangle 3"/>
          <p:cNvSpPr>
            <a:spLocks noGrp="1" noChangeArrowheads="1"/>
          </p:cNvSpPr>
          <p:nvPr>
            <p:ph sz="half" idx="1"/>
          </p:nvPr>
        </p:nvSpPr>
        <p:spPr/>
        <p:txBody>
          <a:bodyPr/>
          <a:lstStyle/>
          <a:p>
            <a:pPr>
              <a:lnSpc>
                <a:spcPct val="90000"/>
              </a:lnSpc>
            </a:pPr>
            <a:r>
              <a:rPr lang="en-US" dirty="0" smtClean="0"/>
              <a:t>Example 3:</a:t>
            </a:r>
          </a:p>
          <a:p>
            <a:pPr>
              <a:lnSpc>
                <a:spcPct val="90000"/>
              </a:lnSpc>
            </a:pPr>
            <a:endParaRPr lang="en-US" dirty="0" smtClean="0"/>
          </a:p>
          <a:p>
            <a:pPr>
              <a:buNone/>
            </a:pP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fdiv.d</a:t>
            </a:r>
            <a:r>
              <a:rPr lang="en-US" sz="2400" b="1" dirty="0">
                <a:latin typeface="Courier New" panose="02070309020205020404" pitchFamily="49" charset="0"/>
                <a:cs typeface="Courier New" panose="02070309020205020404" pitchFamily="49" charset="0"/>
              </a:rPr>
              <a:t> f0,f2,f4</a:t>
            </a:r>
          </a:p>
          <a:p>
            <a:pPr>
              <a:buNone/>
            </a:pP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fadd.d</a:t>
            </a:r>
            <a:r>
              <a:rPr lang="en-US" sz="2400" b="1" dirty="0">
                <a:latin typeface="Courier New" panose="02070309020205020404" pitchFamily="49" charset="0"/>
                <a:cs typeface="Courier New" panose="02070309020205020404" pitchFamily="49" charset="0"/>
              </a:rPr>
              <a:t> </a:t>
            </a:r>
            <a:r>
              <a:rPr lang="en-US" sz="2400" b="1" dirty="0" smtClean="0">
                <a:latin typeface="Courier New" panose="02070309020205020404" pitchFamily="49" charset="0"/>
                <a:cs typeface="Courier New" panose="02070309020205020404" pitchFamily="49" charset="0"/>
              </a:rPr>
              <a:t>f6,f0,</a:t>
            </a:r>
            <a:r>
              <a:rPr lang="en-US" sz="2400" b="1" dirty="0" smtClean="0">
                <a:solidFill>
                  <a:srgbClr val="00B0F0"/>
                </a:solidFill>
                <a:latin typeface="Courier New" panose="02070309020205020404" pitchFamily="49" charset="0"/>
                <a:cs typeface="Courier New" panose="02070309020205020404" pitchFamily="49" charset="0"/>
              </a:rPr>
              <a:t>f</a:t>
            </a:r>
            <a:r>
              <a:rPr lang="en-US" altLang="zh-CN" sz="2400" b="1" dirty="0" smtClean="0">
                <a:solidFill>
                  <a:srgbClr val="00B0F0"/>
                </a:solidFill>
                <a:latin typeface="Courier New" panose="02070309020205020404" pitchFamily="49" charset="0"/>
                <a:cs typeface="Courier New" panose="02070309020205020404" pitchFamily="49" charset="0"/>
              </a:rPr>
              <a:t>8</a:t>
            </a:r>
            <a:endParaRPr lang="en-US" sz="2400" b="1" dirty="0">
              <a:solidFill>
                <a:srgbClr val="00B0F0"/>
              </a:solidFill>
              <a:latin typeface="Courier New" panose="02070309020205020404" pitchFamily="49" charset="0"/>
              <a:cs typeface="Courier New" panose="02070309020205020404" pitchFamily="49" charset="0"/>
            </a:endParaRPr>
          </a:p>
          <a:p>
            <a:pPr>
              <a:buNone/>
            </a:pP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fsd</a:t>
            </a:r>
            <a:r>
              <a:rPr lang="en-US" sz="2400" b="1" dirty="0">
                <a:latin typeface="Courier New" panose="02070309020205020404" pitchFamily="49" charset="0"/>
                <a:cs typeface="Courier New" panose="02070309020205020404" pitchFamily="49" charset="0"/>
              </a:rPr>
              <a:t> </a:t>
            </a:r>
            <a:r>
              <a:rPr lang="en-US" sz="2400" b="1" dirty="0">
                <a:solidFill>
                  <a:srgbClr val="FF0000"/>
                </a:solidFill>
                <a:latin typeface="Courier New" panose="02070309020205020404" pitchFamily="49" charset="0"/>
                <a:cs typeface="Courier New" panose="02070309020205020404" pitchFamily="49" charset="0"/>
              </a:rPr>
              <a:t>f6</a:t>
            </a:r>
            <a:r>
              <a:rPr lang="en-US" sz="2400" b="1" dirty="0">
                <a:latin typeface="Courier New" panose="02070309020205020404" pitchFamily="49" charset="0"/>
                <a:cs typeface="Courier New" panose="02070309020205020404" pitchFamily="49" charset="0"/>
              </a:rPr>
              <a:t>,0(x1)</a:t>
            </a:r>
          </a:p>
          <a:p>
            <a:pPr>
              <a:buNone/>
            </a:pP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fsub.d</a:t>
            </a:r>
            <a:r>
              <a:rPr lang="en-US" sz="2400" b="1" dirty="0">
                <a:latin typeface="Courier New" panose="02070309020205020404" pitchFamily="49" charset="0"/>
                <a:cs typeface="Courier New" panose="02070309020205020404" pitchFamily="49" charset="0"/>
              </a:rPr>
              <a:t> </a:t>
            </a:r>
            <a:r>
              <a:rPr lang="en-US" sz="2400" b="1" dirty="0">
                <a:solidFill>
                  <a:srgbClr val="00B0F0"/>
                </a:solidFill>
                <a:latin typeface="Courier New" panose="02070309020205020404" pitchFamily="49" charset="0"/>
                <a:cs typeface="Courier New" panose="02070309020205020404" pitchFamily="49" charset="0"/>
              </a:rPr>
              <a:t>f8</a:t>
            </a:r>
            <a:r>
              <a:rPr lang="en-US" sz="2400" b="1" dirty="0">
                <a:latin typeface="Courier New" panose="02070309020205020404" pitchFamily="49" charset="0"/>
                <a:cs typeface="Courier New" panose="02070309020205020404" pitchFamily="49" charset="0"/>
              </a:rPr>
              <a:t>,f10,f14</a:t>
            </a:r>
          </a:p>
          <a:p>
            <a:pPr>
              <a:buNone/>
            </a:pP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fmul.d</a:t>
            </a:r>
            <a:r>
              <a:rPr lang="en-US" sz="2400" b="1" dirty="0">
                <a:latin typeface="Courier New" panose="02070309020205020404" pitchFamily="49" charset="0"/>
                <a:cs typeface="Courier New" panose="02070309020205020404" pitchFamily="49" charset="0"/>
              </a:rPr>
              <a:t> </a:t>
            </a:r>
            <a:r>
              <a:rPr lang="en-US" sz="2400" b="1" dirty="0">
                <a:solidFill>
                  <a:srgbClr val="FF0000"/>
                </a:solidFill>
                <a:latin typeface="Courier New" panose="02070309020205020404" pitchFamily="49" charset="0"/>
                <a:cs typeface="Courier New" panose="02070309020205020404" pitchFamily="49" charset="0"/>
              </a:rPr>
              <a:t>f6</a:t>
            </a:r>
            <a:r>
              <a:rPr lang="en-US" sz="2400" b="1" dirty="0">
                <a:latin typeface="Courier New" panose="02070309020205020404" pitchFamily="49" charset="0"/>
                <a:cs typeface="Courier New" panose="02070309020205020404" pitchFamily="49" charset="0"/>
              </a:rPr>
              <a:t>,f10,f8</a:t>
            </a:r>
          </a:p>
          <a:p>
            <a:pPr>
              <a:buNone/>
            </a:pPr>
            <a:endParaRPr lang="en-US" sz="2400" dirty="0"/>
          </a:p>
          <a:p>
            <a:r>
              <a:rPr lang="en-US" altLang="zh-CN" dirty="0"/>
              <a:t>N</a:t>
            </a:r>
            <a:r>
              <a:rPr lang="en-US" dirty="0" smtClean="0"/>
              <a:t>ame </a:t>
            </a:r>
            <a:r>
              <a:rPr lang="en-US" dirty="0"/>
              <a:t>dependence with </a:t>
            </a:r>
            <a:r>
              <a:rPr lang="en-US" sz="2400" b="1" dirty="0">
                <a:latin typeface="Courier New" panose="02070309020205020404" pitchFamily="49" charset="0"/>
                <a:cs typeface="Courier New" panose="02070309020205020404" pitchFamily="49" charset="0"/>
              </a:rPr>
              <a:t>f6</a:t>
            </a:r>
            <a:r>
              <a:rPr lang="en-US" dirty="0" smtClean="0"/>
              <a:t> and </a:t>
            </a:r>
            <a:r>
              <a:rPr lang="en-US" sz="2400" b="1" dirty="0">
                <a:latin typeface="Courier New" panose="02070309020205020404" pitchFamily="49" charset="0"/>
                <a:cs typeface="Courier New" panose="02070309020205020404" pitchFamily="49" charset="0"/>
              </a:rPr>
              <a:t>f8</a:t>
            </a:r>
          </a:p>
        </p:txBody>
      </p:sp>
      <p:sp>
        <p:nvSpPr>
          <p:cNvPr id="2" name="内容占位符 1"/>
          <p:cNvSpPr>
            <a:spLocks noGrp="1"/>
          </p:cNvSpPr>
          <p:nvPr>
            <p:ph sz="half" idx="2"/>
          </p:nvPr>
        </p:nvSpPr>
        <p:spPr/>
        <p:txBody>
          <a:bodyPr/>
          <a:lstStyle/>
          <a:p>
            <a:pPr lvl="0"/>
            <a:r>
              <a:rPr lang="en-US" altLang="zh-CN" dirty="0" smtClean="0"/>
              <a:t>After Renaming:</a:t>
            </a:r>
            <a:endParaRPr lang="en-US" altLang="zh-CN" dirty="0"/>
          </a:p>
          <a:p>
            <a:pPr lvl="0"/>
            <a:endParaRPr lang="en-US" altLang="zh-CN" dirty="0"/>
          </a:p>
          <a:p>
            <a:pPr lvl="0">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fdiv.d</a:t>
            </a:r>
            <a:r>
              <a:rPr lang="en-US" altLang="zh-CN" sz="2400" b="1" dirty="0">
                <a:latin typeface="Courier New" panose="02070309020205020404" pitchFamily="49" charset="0"/>
                <a:cs typeface="Courier New" panose="02070309020205020404" pitchFamily="49" charset="0"/>
              </a:rPr>
              <a:t> f0,f2,f4</a:t>
            </a:r>
          </a:p>
          <a:p>
            <a:pPr lvl="0">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fadd.d</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S</a:t>
            </a:r>
            <a:r>
              <a:rPr lang="en-US" altLang="zh-CN" sz="2400" b="1" dirty="0">
                <a:latin typeface="Courier New" panose="02070309020205020404" pitchFamily="49" charset="0"/>
                <a:cs typeface="Courier New" panose="02070309020205020404" pitchFamily="49" charset="0"/>
              </a:rPr>
              <a:t>,f0,f8</a:t>
            </a:r>
          </a:p>
          <a:p>
            <a:pPr lvl="0">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fsd</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S</a:t>
            </a:r>
            <a:r>
              <a:rPr lang="en-US" altLang="zh-CN" sz="2400" b="1" dirty="0">
                <a:latin typeface="Courier New" panose="02070309020205020404" pitchFamily="49" charset="0"/>
                <a:cs typeface="Courier New" panose="02070309020205020404" pitchFamily="49" charset="0"/>
              </a:rPr>
              <a:t>,0(x1)</a:t>
            </a:r>
          </a:p>
          <a:p>
            <a:pPr lvl="0">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fsub.d</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B0F0"/>
                </a:solidFill>
                <a:latin typeface="Courier New" panose="02070309020205020404" pitchFamily="49" charset="0"/>
                <a:cs typeface="Courier New" panose="02070309020205020404" pitchFamily="49" charset="0"/>
              </a:rPr>
              <a:t>T</a:t>
            </a:r>
            <a:r>
              <a:rPr lang="en-US" altLang="zh-CN" sz="2400" b="1" dirty="0">
                <a:latin typeface="Courier New" panose="02070309020205020404" pitchFamily="49" charset="0"/>
                <a:cs typeface="Courier New" panose="02070309020205020404" pitchFamily="49" charset="0"/>
              </a:rPr>
              <a:t>,f10,f14</a:t>
            </a:r>
          </a:p>
          <a:p>
            <a:pPr lvl="0">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fmul.d</a:t>
            </a:r>
            <a:r>
              <a:rPr lang="en-US" altLang="zh-CN" sz="2400" b="1" dirty="0">
                <a:latin typeface="Courier New" panose="02070309020205020404" pitchFamily="49" charset="0"/>
                <a:cs typeface="Courier New" panose="02070309020205020404" pitchFamily="49" charset="0"/>
              </a:rPr>
              <a:t> f6,f10,</a:t>
            </a:r>
            <a:r>
              <a:rPr lang="en-US" altLang="zh-CN" sz="2400" b="1" dirty="0">
                <a:solidFill>
                  <a:srgbClr val="00B0F0"/>
                </a:solidFill>
                <a:latin typeface="Courier New" panose="02070309020205020404" pitchFamily="49" charset="0"/>
                <a:cs typeface="Courier New" panose="02070309020205020404" pitchFamily="49" charset="0"/>
              </a:rPr>
              <a:t>T</a:t>
            </a:r>
          </a:p>
          <a:p>
            <a:pPr lvl="0">
              <a:buNone/>
            </a:pPr>
            <a:endParaRPr lang="en-US" altLang="zh-CN" sz="2400" dirty="0">
              <a:solidFill>
                <a:srgbClr val="00B050"/>
              </a:solidFill>
            </a:endParaRPr>
          </a:p>
          <a:p>
            <a:pPr lvl="0"/>
            <a:r>
              <a:rPr lang="en-US" altLang="zh-CN" dirty="0"/>
              <a:t>Now only RAW hazards remain, which can be strictly ordered</a:t>
            </a:r>
          </a:p>
          <a:p>
            <a:endParaRPr lang="zh-CN" altLang="en-US" dirty="0"/>
          </a:p>
        </p:txBody>
      </p:sp>
    </p:spTree>
    <p:extLst>
      <p:ext uri="{BB962C8B-B14F-4D97-AF65-F5344CB8AC3E}">
        <p14:creationId xmlns:p14="http://schemas.microsoft.com/office/powerpoint/2010/main" val="366342094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altLang="zh-CN" dirty="0" err="1"/>
              <a:t>Tomasulo’s</a:t>
            </a:r>
            <a:r>
              <a:rPr lang="en-US" altLang="zh-CN" dirty="0"/>
              <a:t> </a:t>
            </a:r>
            <a:r>
              <a:rPr lang="en-AU" dirty="0" smtClean="0"/>
              <a:t>Register Renaming</a:t>
            </a:r>
            <a:endParaRPr lang="en-AU" dirty="0"/>
          </a:p>
        </p:txBody>
      </p:sp>
      <p:sp>
        <p:nvSpPr>
          <p:cNvPr id="242691" name="Rectangle 3"/>
          <p:cNvSpPr>
            <a:spLocks noGrp="1" noChangeArrowheads="1"/>
          </p:cNvSpPr>
          <p:nvPr>
            <p:ph type="body" idx="1"/>
          </p:nvPr>
        </p:nvSpPr>
        <p:spPr/>
        <p:txBody>
          <a:bodyPr/>
          <a:lstStyle/>
          <a:p>
            <a:r>
              <a:rPr lang="en-US" dirty="0" smtClean="0"/>
              <a:t>Register renaming is provided by reservation stations (RS)</a:t>
            </a:r>
          </a:p>
          <a:p>
            <a:pPr lvl="1"/>
            <a:r>
              <a:rPr lang="en-US" dirty="0" smtClean="0"/>
              <a:t>Contains the instruction, and buffered operand values (when available)</a:t>
            </a:r>
          </a:p>
          <a:p>
            <a:pPr lvl="2"/>
            <a:r>
              <a:rPr lang="en-US" dirty="0" smtClean="0"/>
              <a:t>Reservation station number of instruction providing the operand values</a:t>
            </a:r>
          </a:p>
          <a:p>
            <a:r>
              <a:rPr lang="en-US" altLang="zh-CN" sz="2400" dirty="0"/>
              <a:t>RS fetches and buffers an operand as soon as it becomes available (not necessarily involving register file)</a:t>
            </a:r>
          </a:p>
          <a:p>
            <a:r>
              <a:rPr lang="en-US" altLang="zh-CN" sz="2400" dirty="0"/>
              <a:t>Pending instructions designate the RS to which they will send their output</a:t>
            </a:r>
          </a:p>
          <a:p>
            <a:pPr lvl="1"/>
            <a:r>
              <a:rPr lang="en-US" altLang="zh-CN" sz="2000" dirty="0"/>
              <a:t>Result values broadcast on a result bus, called the common data bus (CDB)</a:t>
            </a:r>
          </a:p>
          <a:p>
            <a:pPr lvl="1"/>
            <a:r>
              <a:rPr lang="en-US" altLang="zh-CN" sz="2000" dirty="0"/>
              <a:t>Only the last output updates the register file</a:t>
            </a:r>
          </a:p>
          <a:p>
            <a:r>
              <a:rPr lang="en-US" altLang="zh-CN" sz="2400" dirty="0"/>
              <a:t>As instructions are issued, the register specifiers are renamed with the reservation station</a:t>
            </a:r>
          </a:p>
          <a:p>
            <a:pPr lvl="1"/>
            <a:r>
              <a:rPr lang="en-US" altLang="zh-CN" sz="2000" dirty="0"/>
              <a:t>May be more reservation stations than registers</a:t>
            </a:r>
          </a:p>
          <a:p>
            <a:r>
              <a:rPr lang="en-US" altLang="zh-CN" sz="2400" dirty="0"/>
              <a:t>Load and store buffers</a:t>
            </a:r>
          </a:p>
          <a:p>
            <a:pPr lvl="1"/>
            <a:r>
              <a:rPr lang="en-US" altLang="zh-CN" sz="2000" dirty="0"/>
              <a:t>Contain data and addresses, act like reservation </a:t>
            </a:r>
            <a:r>
              <a:rPr lang="en-US" altLang="zh-CN" sz="2000" dirty="0" smtClean="0"/>
              <a:t>stations</a:t>
            </a:r>
            <a:endParaRPr lang="en-US" altLang="zh-CN" sz="2000" dirty="0"/>
          </a:p>
        </p:txBody>
      </p:sp>
    </p:spTree>
    <p:extLst>
      <p:ext uri="{BB962C8B-B14F-4D97-AF65-F5344CB8AC3E}">
        <p14:creationId xmlns:p14="http://schemas.microsoft.com/office/powerpoint/2010/main" val="65250210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3954" name="Rectangle 2"/>
          <p:cNvSpPr>
            <a:spLocks noGrp="1" noChangeArrowheads="1"/>
          </p:cNvSpPr>
          <p:nvPr>
            <p:ph type="title"/>
          </p:nvPr>
        </p:nvSpPr>
        <p:spPr/>
        <p:txBody>
          <a:bodyPr/>
          <a:lstStyle/>
          <a:p>
            <a:r>
              <a:rPr lang="en-US" altLang="zh-CN" smtClean="0"/>
              <a:t>Reservation Station Components</a:t>
            </a:r>
            <a:endParaRPr lang="en-US" altLang="zh-CN"/>
          </a:p>
        </p:txBody>
      </p:sp>
      <p:sp>
        <p:nvSpPr>
          <p:cNvPr id="893955" name="Rectangle 3"/>
          <p:cNvSpPr>
            <a:spLocks noGrp="1" noChangeArrowheads="1"/>
          </p:cNvSpPr>
          <p:nvPr>
            <p:ph type="body" idx="1"/>
          </p:nvPr>
        </p:nvSpPr>
        <p:spPr/>
        <p:txBody>
          <a:bodyPr/>
          <a:lstStyle/>
          <a:p>
            <a:r>
              <a:rPr lang="en-US" altLang="zh-CN" dirty="0" smtClean="0">
                <a:solidFill>
                  <a:srgbClr val="FF0000"/>
                </a:solidFill>
              </a:rPr>
              <a:t>Op</a:t>
            </a:r>
            <a:r>
              <a:rPr lang="en-US" altLang="zh-CN" dirty="0" smtClean="0"/>
              <a:t>:	Operation to perform in the unit (e.g., + or –)</a:t>
            </a:r>
          </a:p>
          <a:p>
            <a:r>
              <a:rPr lang="en-US" altLang="zh-CN" dirty="0" err="1" smtClean="0">
                <a:solidFill>
                  <a:srgbClr val="FF0000"/>
                </a:solidFill>
              </a:rPr>
              <a:t>Vj</a:t>
            </a:r>
            <a:r>
              <a:rPr lang="en-US" altLang="zh-CN" dirty="0" smtClean="0">
                <a:solidFill>
                  <a:srgbClr val="FF0000"/>
                </a:solidFill>
              </a:rPr>
              <a:t>, </a:t>
            </a:r>
            <a:r>
              <a:rPr lang="en-US" altLang="zh-CN" dirty="0" err="1" smtClean="0">
                <a:solidFill>
                  <a:srgbClr val="FF0000"/>
                </a:solidFill>
              </a:rPr>
              <a:t>Vk</a:t>
            </a:r>
            <a:r>
              <a:rPr lang="en-US" altLang="zh-CN" dirty="0" smtClean="0"/>
              <a:t>: Value of Source operands</a:t>
            </a:r>
          </a:p>
          <a:p>
            <a:pPr lvl="1"/>
            <a:r>
              <a:rPr lang="en-US" altLang="zh-CN" dirty="0"/>
              <a:t>Load/Store buffers have </a:t>
            </a:r>
            <a:r>
              <a:rPr lang="en-US" altLang="zh-CN" dirty="0">
                <a:solidFill>
                  <a:srgbClr val="FF0000"/>
                </a:solidFill>
              </a:rPr>
              <a:t>A</a:t>
            </a:r>
            <a:r>
              <a:rPr lang="en-US" altLang="zh-CN" dirty="0"/>
              <a:t> field, information for the memory address </a:t>
            </a:r>
            <a:r>
              <a:rPr lang="en-US" altLang="zh-CN" dirty="0" smtClean="0"/>
              <a:t>calculation; Store buffers has </a:t>
            </a:r>
            <a:r>
              <a:rPr lang="en-US" altLang="zh-CN" dirty="0" smtClean="0">
                <a:solidFill>
                  <a:srgbClr val="FF0000"/>
                </a:solidFill>
              </a:rPr>
              <a:t>V</a:t>
            </a:r>
            <a:r>
              <a:rPr lang="en-US" altLang="zh-CN" dirty="0" smtClean="0"/>
              <a:t> field, result to be stored</a:t>
            </a:r>
          </a:p>
          <a:p>
            <a:r>
              <a:rPr lang="en-US" altLang="zh-CN" dirty="0" err="1" smtClean="0">
                <a:solidFill>
                  <a:srgbClr val="FF0000"/>
                </a:solidFill>
              </a:rPr>
              <a:t>Qj</a:t>
            </a:r>
            <a:r>
              <a:rPr lang="en-US" altLang="zh-CN" dirty="0" smtClean="0">
                <a:solidFill>
                  <a:srgbClr val="FF0000"/>
                </a:solidFill>
              </a:rPr>
              <a:t>, </a:t>
            </a:r>
            <a:r>
              <a:rPr lang="en-US" altLang="zh-CN" dirty="0" err="1" smtClean="0">
                <a:solidFill>
                  <a:srgbClr val="FF0000"/>
                </a:solidFill>
              </a:rPr>
              <a:t>Qk</a:t>
            </a:r>
            <a:r>
              <a:rPr lang="en-US" altLang="zh-CN" dirty="0" smtClean="0"/>
              <a:t>: Reservation stations producing source registers (value to be written)</a:t>
            </a:r>
          </a:p>
          <a:p>
            <a:pPr lvl="1"/>
            <a:r>
              <a:rPr lang="en-US" altLang="zh-CN" dirty="0" smtClean="0"/>
              <a:t>Note: </a:t>
            </a:r>
            <a:r>
              <a:rPr lang="en-US" altLang="zh-CN" dirty="0" err="1" smtClean="0"/>
              <a:t>Qj,Qk</a:t>
            </a:r>
            <a:r>
              <a:rPr lang="en-US" altLang="zh-CN" dirty="0" smtClean="0"/>
              <a:t>=0 =&gt; ready</a:t>
            </a:r>
          </a:p>
          <a:p>
            <a:pPr lvl="1"/>
            <a:r>
              <a:rPr lang="en-US" altLang="zh-CN" dirty="0" smtClean="0"/>
              <a:t>Store buffers only have Qi for RS producing result</a:t>
            </a:r>
          </a:p>
          <a:p>
            <a:r>
              <a:rPr lang="en-US" altLang="zh-CN" dirty="0" smtClean="0">
                <a:solidFill>
                  <a:srgbClr val="FF0000"/>
                </a:solidFill>
              </a:rPr>
              <a:t>Busy</a:t>
            </a:r>
            <a:r>
              <a:rPr lang="en-US" altLang="zh-CN" dirty="0" smtClean="0"/>
              <a:t>: Indicates reservation station or FU is busy</a:t>
            </a:r>
          </a:p>
          <a:p>
            <a:r>
              <a:rPr lang="en-US" altLang="zh-CN" dirty="0" smtClean="0">
                <a:solidFill>
                  <a:srgbClr val="FF0000"/>
                </a:solidFill>
              </a:rPr>
              <a:t>Register result status </a:t>
            </a:r>
            <a:r>
              <a:rPr lang="en-US" altLang="zh-CN" dirty="0" smtClean="0"/>
              <a:t>— Indicates which functional unit will write each register, if one exists. Blank when no pending instructions that will write that register. </a:t>
            </a:r>
            <a:endParaRPr lang="en-US" altLang="zh-CN" dirty="0"/>
          </a:p>
        </p:txBody>
      </p:sp>
    </p:spTree>
    <p:extLst>
      <p:ext uri="{BB962C8B-B14F-4D97-AF65-F5344CB8AC3E}">
        <p14:creationId xmlns:p14="http://schemas.microsoft.com/office/powerpoint/2010/main" val="181063425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939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9395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893955">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89395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89395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893955">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893955">
                                            <p:txEl>
                                              <p:pRg st="6" end="6"/>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89395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3955"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6002" name="Rectangle 2"/>
          <p:cNvSpPr>
            <a:spLocks noGrp="1" noChangeArrowheads="1"/>
          </p:cNvSpPr>
          <p:nvPr>
            <p:ph type="title"/>
          </p:nvPr>
        </p:nvSpPr>
        <p:spPr/>
        <p:txBody>
          <a:bodyPr/>
          <a:lstStyle/>
          <a:p>
            <a:r>
              <a:rPr lang="en-US" altLang="zh-CN" smtClean="0"/>
              <a:t>Three Stages of Tomasulo Algorithm</a:t>
            </a:r>
            <a:endParaRPr lang="en-US" altLang="zh-CN"/>
          </a:p>
        </p:txBody>
      </p:sp>
      <p:sp>
        <p:nvSpPr>
          <p:cNvPr id="896003" name="Rectangle 3"/>
          <p:cNvSpPr>
            <a:spLocks noGrp="1" noChangeArrowheads="1"/>
          </p:cNvSpPr>
          <p:nvPr>
            <p:ph type="body" idx="1"/>
          </p:nvPr>
        </p:nvSpPr>
        <p:spPr/>
        <p:txBody>
          <a:bodyPr/>
          <a:lstStyle/>
          <a:p>
            <a:pPr marL="514350" indent="-514350">
              <a:buFont typeface="+mj-lt"/>
              <a:buAutoNum type="arabicPeriod"/>
            </a:pPr>
            <a:r>
              <a:rPr lang="en-US" altLang="zh-CN" dirty="0" smtClean="0">
                <a:solidFill>
                  <a:srgbClr val="FF0000"/>
                </a:solidFill>
              </a:rPr>
              <a:t>Issue</a:t>
            </a:r>
            <a:r>
              <a:rPr lang="en-US" altLang="zh-CN" dirty="0" smtClean="0"/>
              <a:t> — get instruction from FP Op Queue</a:t>
            </a:r>
          </a:p>
          <a:p>
            <a:pPr lvl="1"/>
            <a:r>
              <a:rPr lang="en-US" altLang="zh-CN" dirty="0" smtClean="0"/>
              <a:t>If reservation station free (no structural hazard), control issues instruction &amp; sends operands to the RS (renames registers)</a:t>
            </a:r>
          </a:p>
          <a:p>
            <a:pPr lvl="2"/>
            <a:r>
              <a:rPr lang="en-US" altLang="zh-CN" dirty="0" smtClean="0"/>
              <a:t>If </a:t>
            </a:r>
            <a:r>
              <a:rPr lang="en-US" altLang="zh-CN" dirty="0"/>
              <a:t>operand values not available, stall the instruction</a:t>
            </a:r>
          </a:p>
          <a:p>
            <a:pPr marL="514350" indent="-514350">
              <a:buFont typeface="+mj-lt"/>
              <a:buAutoNum type="arabicPeriod"/>
            </a:pPr>
            <a:r>
              <a:rPr lang="en-US" altLang="zh-CN" dirty="0" smtClean="0">
                <a:solidFill>
                  <a:srgbClr val="FF0000"/>
                </a:solidFill>
              </a:rPr>
              <a:t>Execute</a:t>
            </a:r>
            <a:r>
              <a:rPr lang="en-US" altLang="zh-CN" dirty="0" smtClean="0"/>
              <a:t> — operate on operands (EX)</a:t>
            </a:r>
          </a:p>
          <a:p>
            <a:pPr lvl="1"/>
            <a:r>
              <a:rPr lang="en-US" altLang="zh-CN" dirty="0" smtClean="0"/>
              <a:t>When both operands ready then execute; if not ready, watch Common Data Bus for result</a:t>
            </a:r>
          </a:p>
          <a:p>
            <a:pPr lvl="2"/>
            <a:r>
              <a:rPr lang="en-US" altLang="zh-CN" dirty="0" smtClean="0"/>
              <a:t>Loads </a:t>
            </a:r>
            <a:r>
              <a:rPr lang="en-US" altLang="zh-CN" dirty="0"/>
              <a:t>and store maintained in program order through effective address</a:t>
            </a:r>
          </a:p>
          <a:p>
            <a:pPr lvl="2"/>
            <a:r>
              <a:rPr lang="en-US" altLang="zh-CN" dirty="0"/>
              <a:t>No instruction allowed to initiate execution until all branches that proceed it in program order have </a:t>
            </a:r>
            <a:r>
              <a:rPr lang="en-US" altLang="zh-CN" dirty="0" smtClean="0"/>
              <a:t>completed</a:t>
            </a:r>
            <a:endParaRPr lang="en-US" altLang="zh-CN" sz="2400" dirty="0" smtClean="0"/>
          </a:p>
          <a:p>
            <a:pPr marL="514350" indent="-514350">
              <a:buFont typeface="+mj-lt"/>
              <a:buAutoNum type="arabicPeriod"/>
            </a:pPr>
            <a:r>
              <a:rPr lang="en-US" altLang="zh-CN" dirty="0" smtClean="0">
                <a:solidFill>
                  <a:srgbClr val="FF0000"/>
                </a:solidFill>
              </a:rPr>
              <a:t>Write result </a:t>
            </a:r>
            <a:r>
              <a:rPr lang="en-US" altLang="zh-CN" dirty="0" smtClean="0"/>
              <a:t>— finish execution (WB)</a:t>
            </a:r>
          </a:p>
          <a:p>
            <a:pPr lvl="1"/>
            <a:r>
              <a:rPr lang="en-US" altLang="zh-CN" dirty="0" smtClean="0"/>
              <a:t>Write on Common Data Bus to all awaiting units; mark reservation station available</a:t>
            </a:r>
          </a:p>
        </p:txBody>
      </p:sp>
    </p:spTree>
    <p:extLst>
      <p:ext uri="{BB962C8B-B14F-4D97-AF65-F5344CB8AC3E}">
        <p14:creationId xmlns:p14="http://schemas.microsoft.com/office/powerpoint/2010/main" val="220371251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96003">
                                            <p:txEl>
                                              <p:pRg st="0" end="0"/>
                                            </p:txEl>
                                          </p:spTgt>
                                        </p:tgtEl>
                                        <p:attrNameLst>
                                          <p:attrName>style.visibility</p:attrName>
                                        </p:attrNameLst>
                                      </p:cBhvr>
                                      <p:to>
                                        <p:strVal val="visible"/>
                                      </p:to>
                                    </p:set>
                                    <p:anim calcmode="lin" valueType="num">
                                      <p:cBhvr additive="base">
                                        <p:cTn id="7" dur="500" fill="hold"/>
                                        <p:tgtEl>
                                          <p:spTgt spid="89600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9600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896003">
                                            <p:txEl>
                                              <p:pRg st="1" end="1"/>
                                            </p:txEl>
                                          </p:spTgt>
                                        </p:tgtEl>
                                        <p:attrNameLst>
                                          <p:attrName>style.visibility</p:attrName>
                                        </p:attrNameLst>
                                      </p:cBhvr>
                                      <p:to>
                                        <p:strVal val="visible"/>
                                      </p:to>
                                    </p:set>
                                    <p:anim calcmode="lin" valueType="num">
                                      <p:cBhvr additive="base">
                                        <p:cTn id="11" dur="500" fill="hold"/>
                                        <p:tgtEl>
                                          <p:spTgt spid="89600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89600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896003">
                                            <p:txEl>
                                              <p:pRg st="2" end="2"/>
                                            </p:txEl>
                                          </p:spTgt>
                                        </p:tgtEl>
                                        <p:attrNameLst>
                                          <p:attrName>style.visibility</p:attrName>
                                        </p:attrNameLst>
                                      </p:cBhvr>
                                      <p:to>
                                        <p:strVal val="visible"/>
                                      </p:to>
                                    </p:set>
                                    <p:anim calcmode="lin" valueType="num">
                                      <p:cBhvr additive="base">
                                        <p:cTn id="15" dur="500" fill="hold"/>
                                        <p:tgtEl>
                                          <p:spTgt spid="896003">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89600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896003">
                                            <p:txEl>
                                              <p:pRg st="3" end="3"/>
                                            </p:txEl>
                                          </p:spTgt>
                                        </p:tgtEl>
                                        <p:attrNameLst>
                                          <p:attrName>style.visibility</p:attrName>
                                        </p:attrNameLst>
                                      </p:cBhvr>
                                      <p:to>
                                        <p:strVal val="visible"/>
                                      </p:to>
                                    </p:set>
                                    <p:anim calcmode="lin" valueType="num">
                                      <p:cBhvr additive="base">
                                        <p:cTn id="21" dur="500" fill="hold"/>
                                        <p:tgtEl>
                                          <p:spTgt spid="896003">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896003">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896003">
                                            <p:txEl>
                                              <p:pRg st="4" end="4"/>
                                            </p:txEl>
                                          </p:spTgt>
                                        </p:tgtEl>
                                        <p:attrNameLst>
                                          <p:attrName>style.visibility</p:attrName>
                                        </p:attrNameLst>
                                      </p:cBhvr>
                                      <p:to>
                                        <p:strVal val="visible"/>
                                      </p:to>
                                    </p:set>
                                    <p:anim calcmode="lin" valueType="num">
                                      <p:cBhvr additive="base">
                                        <p:cTn id="25" dur="500" fill="hold"/>
                                        <p:tgtEl>
                                          <p:spTgt spid="896003">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96003">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896003">
                                            <p:txEl>
                                              <p:pRg st="5" end="5"/>
                                            </p:txEl>
                                          </p:spTgt>
                                        </p:tgtEl>
                                        <p:attrNameLst>
                                          <p:attrName>style.visibility</p:attrName>
                                        </p:attrNameLst>
                                      </p:cBhvr>
                                      <p:to>
                                        <p:strVal val="visible"/>
                                      </p:to>
                                    </p:set>
                                    <p:anim calcmode="lin" valueType="num">
                                      <p:cBhvr additive="base">
                                        <p:cTn id="29" dur="500" fill="hold"/>
                                        <p:tgtEl>
                                          <p:spTgt spid="896003">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896003">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896003">
                                            <p:txEl>
                                              <p:pRg st="6" end="6"/>
                                            </p:txEl>
                                          </p:spTgt>
                                        </p:tgtEl>
                                        <p:attrNameLst>
                                          <p:attrName>style.visibility</p:attrName>
                                        </p:attrNameLst>
                                      </p:cBhvr>
                                      <p:to>
                                        <p:strVal val="visible"/>
                                      </p:to>
                                    </p:set>
                                    <p:anim calcmode="lin" valueType="num">
                                      <p:cBhvr additive="base">
                                        <p:cTn id="33" dur="500" fill="hold"/>
                                        <p:tgtEl>
                                          <p:spTgt spid="896003">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89600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896003">
                                            <p:txEl>
                                              <p:pRg st="7" end="7"/>
                                            </p:txEl>
                                          </p:spTgt>
                                        </p:tgtEl>
                                        <p:attrNameLst>
                                          <p:attrName>style.visibility</p:attrName>
                                        </p:attrNameLst>
                                      </p:cBhvr>
                                      <p:to>
                                        <p:strVal val="visible"/>
                                      </p:to>
                                    </p:set>
                                    <p:anim calcmode="lin" valueType="num">
                                      <p:cBhvr additive="base">
                                        <p:cTn id="39" dur="500" fill="hold"/>
                                        <p:tgtEl>
                                          <p:spTgt spid="896003">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896003">
                                            <p:txEl>
                                              <p:pRg st="7" end="7"/>
                                            </p:txEl>
                                          </p:spTgt>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896003">
                                            <p:txEl>
                                              <p:pRg st="8" end="8"/>
                                            </p:txEl>
                                          </p:spTgt>
                                        </p:tgtEl>
                                        <p:attrNameLst>
                                          <p:attrName>style.visibility</p:attrName>
                                        </p:attrNameLst>
                                      </p:cBhvr>
                                      <p:to>
                                        <p:strVal val="visible"/>
                                      </p:to>
                                    </p:set>
                                    <p:anim calcmode="lin" valueType="num">
                                      <p:cBhvr additive="base">
                                        <p:cTn id="43" dur="500" fill="hold"/>
                                        <p:tgtEl>
                                          <p:spTgt spid="896003">
                                            <p:txEl>
                                              <p:pRg st="8" end="8"/>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896003">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6003"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62" name="Rectangle 2"/>
          <p:cNvSpPr>
            <a:spLocks noGrp="1" noChangeArrowheads="1"/>
          </p:cNvSpPr>
          <p:nvPr>
            <p:ph type="title"/>
          </p:nvPr>
        </p:nvSpPr>
        <p:spPr/>
        <p:txBody>
          <a:bodyPr/>
          <a:lstStyle/>
          <a:p>
            <a:r>
              <a:rPr lang="en-US" altLang="zh-CN" smtClean="0"/>
              <a:t>Common Data Bus (CDB)</a:t>
            </a:r>
            <a:endParaRPr lang="en-US" altLang="zh-CN"/>
          </a:p>
        </p:txBody>
      </p:sp>
      <p:sp>
        <p:nvSpPr>
          <p:cNvPr id="962563" name="Rectangle 3"/>
          <p:cNvSpPr>
            <a:spLocks noGrp="1" noChangeArrowheads="1"/>
          </p:cNvSpPr>
          <p:nvPr>
            <p:ph type="body" idx="1"/>
          </p:nvPr>
        </p:nvSpPr>
        <p:spPr/>
        <p:txBody>
          <a:bodyPr/>
          <a:lstStyle/>
          <a:p>
            <a:r>
              <a:rPr lang="en-US" altLang="zh-CN" dirty="0" smtClean="0"/>
              <a:t>Normal data bus: data + destination (“go to” bus)</a:t>
            </a:r>
          </a:p>
          <a:p>
            <a:r>
              <a:rPr lang="en-US" altLang="zh-CN" dirty="0" smtClean="0"/>
              <a:t>Common data bus: data + source  (“come from” bus)</a:t>
            </a:r>
          </a:p>
          <a:p>
            <a:pPr lvl="1"/>
            <a:r>
              <a:rPr lang="en-US" altLang="zh-CN" dirty="0" smtClean="0"/>
              <a:t>64 bits of data + 4 bits of Functional Unit  source address</a:t>
            </a:r>
          </a:p>
          <a:p>
            <a:pPr lvl="1"/>
            <a:r>
              <a:rPr lang="en-US" altLang="zh-CN" dirty="0" smtClean="0"/>
              <a:t>Write if matches expected Functional Unit (produces result)</a:t>
            </a:r>
          </a:p>
          <a:p>
            <a:pPr lvl="1"/>
            <a:r>
              <a:rPr lang="en-US" altLang="zh-CN" dirty="0" smtClean="0"/>
              <a:t>Does the broadcast</a:t>
            </a:r>
          </a:p>
          <a:p>
            <a:r>
              <a:rPr lang="en-US" altLang="zh-CN" dirty="0" smtClean="0"/>
              <a:t>Example speed: </a:t>
            </a:r>
            <a:br>
              <a:rPr lang="en-US" altLang="zh-CN" dirty="0" smtClean="0"/>
            </a:br>
            <a:r>
              <a:rPr lang="en-US" altLang="zh-CN" dirty="0" smtClean="0"/>
              <a:t>3 clocks for FP add; 10 for multiply; 40 </a:t>
            </a:r>
            <a:r>
              <a:rPr lang="en-US" altLang="zh-CN" dirty="0" err="1" smtClean="0"/>
              <a:t>clks</a:t>
            </a:r>
            <a:r>
              <a:rPr lang="en-US" altLang="zh-CN" dirty="0" smtClean="0"/>
              <a:t> for division</a:t>
            </a:r>
            <a:endParaRPr lang="zh-CN" altLang="en-US" dirty="0"/>
          </a:p>
        </p:txBody>
      </p:sp>
    </p:spTree>
    <p:extLst>
      <p:ext uri="{BB962C8B-B14F-4D97-AF65-F5344CB8AC3E}">
        <p14:creationId xmlns:p14="http://schemas.microsoft.com/office/powerpoint/2010/main" val="22368418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5519936" y="1498948"/>
            <a:ext cx="6480720" cy="5363673"/>
          </a:xfrm>
          <a:prstGeom prst="rect">
            <a:avLst/>
          </a:prstGeom>
        </p:spPr>
      </p:pic>
      <p:sp>
        <p:nvSpPr>
          <p:cNvPr id="242690" name="Rectangle 2"/>
          <p:cNvSpPr>
            <a:spLocks noGrp="1" noChangeArrowheads="1"/>
          </p:cNvSpPr>
          <p:nvPr>
            <p:ph type="title"/>
          </p:nvPr>
        </p:nvSpPr>
        <p:spPr/>
        <p:txBody>
          <a:bodyPr/>
          <a:lstStyle/>
          <a:p>
            <a:r>
              <a:rPr lang="en-US" dirty="0"/>
              <a:t>RISC-V floating-point unit using </a:t>
            </a:r>
            <a:r>
              <a:rPr lang="en-US" dirty="0" err="1"/>
              <a:t>Tomasulo's</a:t>
            </a:r>
            <a:r>
              <a:rPr lang="en-US" dirty="0"/>
              <a:t> algorithm</a:t>
            </a:r>
            <a:endParaRPr lang="en-AU" dirty="0"/>
          </a:p>
        </p:txBody>
      </p:sp>
      <p:sp>
        <p:nvSpPr>
          <p:cNvPr id="4" name="内容占位符 3"/>
          <p:cNvSpPr>
            <a:spLocks noGrp="1"/>
          </p:cNvSpPr>
          <p:nvPr>
            <p:ph idx="1"/>
          </p:nvPr>
        </p:nvSpPr>
        <p:spPr>
          <a:xfrm>
            <a:off x="191344" y="1556792"/>
            <a:ext cx="11162456" cy="5112568"/>
          </a:xfrm>
        </p:spPr>
        <p:txBody>
          <a:bodyPr/>
          <a:lstStyle/>
          <a:p>
            <a:r>
              <a:rPr lang="en-US" altLang="zh-CN" sz="2400" dirty="0"/>
              <a:t>Load buffers </a:t>
            </a:r>
            <a:endParaRPr lang="en-US" altLang="zh-CN" sz="2400" dirty="0" smtClean="0"/>
          </a:p>
          <a:p>
            <a:pPr lvl="1"/>
            <a:r>
              <a:rPr lang="en-US" altLang="zh-CN" sz="2000" dirty="0" smtClean="0"/>
              <a:t>hold </a:t>
            </a:r>
            <a:r>
              <a:rPr lang="en-US" altLang="zh-CN" sz="2000" dirty="0"/>
              <a:t>the components of the effective address until it is </a:t>
            </a:r>
            <a:r>
              <a:rPr lang="en-US" altLang="zh-CN" sz="2000" dirty="0" smtClean="0"/>
              <a:t>computed</a:t>
            </a:r>
          </a:p>
          <a:p>
            <a:pPr lvl="1"/>
            <a:r>
              <a:rPr lang="en-US" altLang="zh-CN" sz="2000" dirty="0" smtClean="0"/>
              <a:t>track </a:t>
            </a:r>
            <a:r>
              <a:rPr lang="en-US" altLang="zh-CN" sz="2000" dirty="0"/>
              <a:t>outstanding loads that are waiting </a:t>
            </a:r>
            <a:r>
              <a:rPr lang="en-US" altLang="zh-CN" sz="2000" dirty="0" smtClean="0"/>
              <a:t>on </a:t>
            </a:r>
            <a:r>
              <a:rPr lang="en-US" altLang="zh-CN" sz="2000" dirty="0"/>
              <a:t>the </a:t>
            </a:r>
            <a:r>
              <a:rPr lang="en-US" altLang="zh-CN" sz="2000" dirty="0" smtClean="0"/>
              <a:t>memory</a:t>
            </a:r>
          </a:p>
          <a:p>
            <a:pPr lvl="1"/>
            <a:r>
              <a:rPr lang="en-US" altLang="zh-CN" sz="2000" dirty="0" smtClean="0"/>
              <a:t>hold </a:t>
            </a:r>
            <a:r>
              <a:rPr lang="en-US" altLang="zh-CN" sz="2000" dirty="0"/>
              <a:t>the results of completed </a:t>
            </a:r>
            <a:r>
              <a:rPr lang="en-US" altLang="zh-CN" sz="2000" dirty="0" smtClean="0"/>
              <a:t>loads </a:t>
            </a:r>
            <a:r>
              <a:rPr lang="en-US" altLang="zh-CN" sz="2000" dirty="0"/>
              <a:t>that are waiting for the </a:t>
            </a:r>
            <a:r>
              <a:rPr lang="en-US" altLang="zh-CN" sz="2000" dirty="0" smtClean="0"/>
              <a:t>CDB</a:t>
            </a:r>
          </a:p>
          <a:p>
            <a:r>
              <a:rPr lang="en-US" altLang="zh-CN" sz="2400" dirty="0" smtClean="0"/>
              <a:t>Store buffers</a:t>
            </a:r>
          </a:p>
          <a:p>
            <a:pPr lvl="1"/>
            <a:r>
              <a:rPr lang="en-US" altLang="zh-CN" sz="2000" dirty="0" smtClean="0"/>
              <a:t>hold </a:t>
            </a:r>
            <a:r>
              <a:rPr lang="en-US" altLang="zh-CN" sz="2000" dirty="0"/>
              <a:t>the components of the effective address </a:t>
            </a:r>
            <a:endParaRPr lang="en-US" altLang="zh-CN" sz="2000" dirty="0" smtClean="0"/>
          </a:p>
          <a:p>
            <a:pPr lvl="1"/>
            <a:r>
              <a:rPr lang="en-US" altLang="zh-CN" sz="2000" dirty="0" smtClean="0"/>
              <a:t>hold </a:t>
            </a:r>
            <a:r>
              <a:rPr lang="en-US" altLang="zh-CN" sz="2000" dirty="0"/>
              <a:t>the destination memory addresses </a:t>
            </a:r>
            <a:r>
              <a:rPr lang="en-US" altLang="zh-CN" sz="2000" dirty="0" smtClean="0"/>
              <a:t/>
            </a:r>
            <a:br>
              <a:rPr lang="en-US" altLang="zh-CN" sz="2000" dirty="0" smtClean="0"/>
            </a:br>
            <a:r>
              <a:rPr lang="en-US" altLang="zh-CN" sz="2000" dirty="0" smtClean="0"/>
              <a:t>of </a:t>
            </a:r>
            <a:r>
              <a:rPr lang="en-US" altLang="zh-CN" sz="2000" dirty="0"/>
              <a:t>outstanding stores that are waiting </a:t>
            </a:r>
            <a:r>
              <a:rPr lang="en-US" altLang="zh-CN" sz="2000" dirty="0" smtClean="0"/>
              <a:t>for</a:t>
            </a:r>
            <a:br>
              <a:rPr lang="en-US" altLang="zh-CN" sz="2000" dirty="0" smtClean="0"/>
            </a:br>
            <a:r>
              <a:rPr lang="en-US" altLang="zh-CN" sz="2000" dirty="0" smtClean="0"/>
              <a:t>the </a:t>
            </a:r>
            <a:r>
              <a:rPr lang="en-US" altLang="zh-CN" sz="2000" dirty="0"/>
              <a:t>data value to </a:t>
            </a:r>
            <a:r>
              <a:rPr lang="en-US" altLang="zh-CN" sz="2000" dirty="0" smtClean="0"/>
              <a:t>store</a:t>
            </a:r>
          </a:p>
          <a:p>
            <a:pPr lvl="1"/>
            <a:r>
              <a:rPr lang="en-US" altLang="zh-CN" sz="2000" dirty="0" smtClean="0"/>
              <a:t>hold </a:t>
            </a:r>
            <a:r>
              <a:rPr lang="en-US" altLang="zh-CN" sz="2000" dirty="0"/>
              <a:t>the address and value to store until </a:t>
            </a:r>
            <a:r>
              <a:rPr lang="en-US" altLang="zh-CN" sz="2000" dirty="0" smtClean="0"/>
              <a:t/>
            </a:r>
            <a:br>
              <a:rPr lang="en-US" altLang="zh-CN" sz="2000" dirty="0" smtClean="0"/>
            </a:br>
            <a:r>
              <a:rPr lang="en-US" altLang="zh-CN" sz="2000" dirty="0" smtClean="0"/>
              <a:t>the </a:t>
            </a:r>
            <a:r>
              <a:rPr lang="en-US" altLang="zh-CN" sz="2000" dirty="0"/>
              <a:t>memory unit is </a:t>
            </a:r>
            <a:r>
              <a:rPr lang="en-US" altLang="zh-CN" sz="2000" dirty="0" smtClean="0"/>
              <a:t>available</a:t>
            </a:r>
          </a:p>
          <a:p>
            <a:r>
              <a:rPr lang="en-US" altLang="zh-CN" sz="2400" dirty="0" smtClean="0"/>
              <a:t>All </a:t>
            </a:r>
            <a:r>
              <a:rPr lang="en-US" altLang="zh-CN" sz="2400" dirty="0"/>
              <a:t>results </a:t>
            </a:r>
            <a:r>
              <a:rPr lang="en-US" altLang="zh-CN" sz="2400" dirty="0" smtClean="0"/>
              <a:t>are </a:t>
            </a:r>
            <a:r>
              <a:rPr lang="en-US" altLang="zh-CN" sz="2400" dirty="0"/>
              <a:t>put on the CDB, which </a:t>
            </a:r>
            <a:r>
              <a:rPr lang="en-US" altLang="zh-CN" sz="2400" dirty="0" smtClean="0"/>
              <a:t/>
            </a:r>
            <a:br>
              <a:rPr lang="en-US" altLang="zh-CN" sz="2400" dirty="0" smtClean="0"/>
            </a:br>
            <a:r>
              <a:rPr lang="en-US" altLang="zh-CN" sz="2400" dirty="0" smtClean="0"/>
              <a:t>goes </a:t>
            </a:r>
            <a:r>
              <a:rPr lang="en-US" altLang="zh-CN" sz="2400" dirty="0"/>
              <a:t>to the FP register file as well as </a:t>
            </a:r>
            <a:r>
              <a:rPr lang="en-US" altLang="zh-CN" sz="2400" dirty="0" smtClean="0"/>
              <a:t/>
            </a:r>
            <a:br>
              <a:rPr lang="en-US" altLang="zh-CN" sz="2400" dirty="0" smtClean="0"/>
            </a:br>
            <a:r>
              <a:rPr lang="en-US" altLang="zh-CN" sz="2400" dirty="0" smtClean="0"/>
              <a:t>to </a:t>
            </a:r>
            <a:r>
              <a:rPr lang="en-US" altLang="zh-CN" sz="2400" dirty="0"/>
              <a:t>the reservation stations and store </a:t>
            </a:r>
            <a:r>
              <a:rPr lang="en-US" altLang="zh-CN" sz="2400" dirty="0" smtClean="0"/>
              <a:t/>
            </a:r>
            <a:br>
              <a:rPr lang="en-US" altLang="zh-CN" sz="2400" dirty="0" smtClean="0"/>
            </a:br>
            <a:r>
              <a:rPr lang="en-US" altLang="zh-CN" sz="2400" dirty="0" smtClean="0"/>
              <a:t>buffers</a:t>
            </a:r>
            <a:endParaRPr lang="zh-CN" altLang="en-US" sz="2400" dirty="0"/>
          </a:p>
        </p:txBody>
      </p:sp>
    </p:spTree>
    <p:extLst>
      <p:ext uri="{BB962C8B-B14F-4D97-AF65-F5344CB8AC3E}">
        <p14:creationId xmlns:p14="http://schemas.microsoft.com/office/powerpoint/2010/main" val="116040905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7368" y="3140968"/>
            <a:ext cx="3313584" cy="831627"/>
          </a:xfrm>
        </p:spPr>
        <p:txBody>
          <a:bodyPr/>
          <a:lstStyle/>
          <a:p>
            <a:r>
              <a:rPr lang="en-US" altLang="zh-CN" dirty="0"/>
              <a:t>Steps in the algorithm and </a:t>
            </a:r>
            <a:r>
              <a:rPr lang="en-US" altLang="zh-CN" dirty="0" smtClean="0"/>
              <a:t>what </a:t>
            </a:r>
            <a:r>
              <a:rPr lang="en-US" altLang="zh-CN" dirty="0"/>
              <a:t>is required for each step</a:t>
            </a:r>
            <a:endParaRPr lang="zh-CN" altLang="en-US" dirty="0"/>
          </a:p>
        </p:txBody>
      </p:sp>
      <p:pic>
        <p:nvPicPr>
          <p:cNvPr id="4" name="内容占位符 3"/>
          <p:cNvPicPr>
            <a:picLocks noGrp="1" noChangeAspect="1"/>
          </p:cNvPicPr>
          <p:nvPr>
            <p:ph idx="1"/>
          </p:nvPr>
        </p:nvPicPr>
        <p:blipFill>
          <a:blip r:embed="rId3"/>
          <a:stretch>
            <a:fillRect/>
          </a:stretch>
        </p:blipFill>
        <p:spPr>
          <a:xfrm>
            <a:off x="4223792" y="25005"/>
            <a:ext cx="7848872" cy="6832995"/>
          </a:xfrm>
          <a:prstGeom prst="rect">
            <a:avLst/>
          </a:prstGeom>
        </p:spPr>
      </p:pic>
    </p:spTree>
    <p:extLst>
      <p:ext uri="{BB962C8B-B14F-4D97-AF65-F5344CB8AC3E}">
        <p14:creationId xmlns:p14="http://schemas.microsoft.com/office/powerpoint/2010/main" val="6554274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AU" dirty="0" err="1" smtClean="0"/>
              <a:t>Tomasulo</a:t>
            </a:r>
            <a:r>
              <a:rPr lang="en-AU" dirty="0"/>
              <a:t> </a:t>
            </a:r>
            <a:r>
              <a:rPr lang="en-AU" dirty="0" smtClean="0"/>
              <a:t>Example</a:t>
            </a:r>
            <a:endParaRPr lang="en-AU" dirty="0"/>
          </a:p>
        </p:txBody>
      </p:sp>
      <p:sp>
        <p:nvSpPr>
          <p:cNvPr id="242691" name="Rectangle 3"/>
          <p:cNvSpPr>
            <a:spLocks noGrp="1" noChangeArrowheads="1"/>
          </p:cNvSpPr>
          <p:nvPr>
            <p:ph type="body" idx="1"/>
          </p:nvPr>
        </p:nvSpPr>
        <p:spPr/>
        <p:txBody>
          <a:bodyPr/>
          <a:lstStyle/>
          <a:p>
            <a:r>
              <a:rPr lang="en-US" dirty="0" smtClean="0"/>
              <a:t>Example code: </a:t>
            </a:r>
          </a:p>
          <a:p>
            <a:endParaRPr lang="en-US" dirty="0" smtClean="0"/>
          </a:p>
          <a:p>
            <a:pPr marL="0" indent="0">
              <a:buNone/>
            </a:pPr>
            <a:r>
              <a:rPr lang="en-US" dirty="0" smtClean="0">
                <a:latin typeface="Courier New" panose="02070309020205020404" pitchFamily="49" charset="0"/>
                <a:cs typeface="Courier New" panose="02070309020205020404" pitchFamily="49" charset="0"/>
              </a:rPr>
              <a:t>LD </a:t>
            </a:r>
            <a:r>
              <a:rPr lang="en-US" dirty="0">
                <a:latin typeface="Courier New" panose="02070309020205020404" pitchFamily="49" charset="0"/>
                <a:cs typeface="Courier New" panose="02070309020205020404" pitchFamily="49" charset="0"/>
              </a:rPr>
              <a:t>F</a:t>
            </a:r>
            <a:r>
              <a:rPr lang="en-US" dirty="0" smtClean="0">
                <a:latin typeface="Courier New" panose="02070309020205020404" pitchFamily="49" charset="0"/>
                <a:cs typeface="Courier New" panose="02070309020205020404" pitchFamily="49" charset="0"/>
              </a:rPr>
              <a:t>6, 34(R2)</a:t>
            </a:r>
            <a:r>
              <a:rPr lang="en-US" altLang="zh-CN" dirty="0"/>
              <a:t> </a:t>
            </a:r>
            <a:r>
              <a:rPr lang="en-US" altLang="zh-CN" dirty="0" smtClean="0"/>
              <a:t>                Blue </a:t>
            </a:r>
            <a:r>
              <a:rPr lang="en-US" altLang="zh-CN" dirty="0"/>
              <a:t>line: true dependence; </a:t>
            </a:r>
            <a:endParaRPr lang="en-US" dirty="0" smtClean="0">
              <a:latin typeface="Courier New" panose="02070309020205020404" pitchFamily="49" charset="0"/>
              <a:cs typeface="Courier New" panose="02070309020205020404" pitchFamily="49" charset="0"/>
            </a:endParaRPr>
          </a:p>
          <a:p>
            <a:pPr marL="0" indent="0">
              <a:buNone/>
            </a:pPr>
            <a:r>
              <a:rPr lang="en-US" dirty="0" smtClean="0">
                <a:latin typeface="Courier New" panose="02070309020205020404" pitchFamily="49" charset="0"/>
                <a:cs typeface="Courier New" panose="02070309020205020404" pitchFamily="49" charset="0"/>
              </a:rPr>
              <a:t>LD F2, 45(R3)</a:t>
            </a:r>
          </a:p>
          <a:p>
            <a:pPr marL="0" indent="0">
              <a:buNone/>
            </a:pPr>
            <a:r>
              <a:rPr lang="en-US" dirty="0" smtClean="0">
                <a:latin typeface="Courier New" panose="02070309020205020404" pitchFamily="49" charset="0"/>
                <a:cs typeface="Courier New" panose="02070309020205020404" pitchFamily="49" charset="0"/>
              </a:rPr>
              <a:t>MULTD F0, F2, F4</a:t>
            </a:r>
          </a:p>
          <a:p>
            <a:pPr marL="0" indent="0">
              <a:buNone/>
            </a:pPr>
            <a:r>
              <a:rPr lang="en-US" dirty="0" smtClean="0">
                <a:latin typeface="Courier New" panose="02070309020205020404" pitchFamily="49" charset="0"/>
                <a:cs typeface="Courier New" panose="02070309020205020404" pitchFamily="49" charset="0"/>
              </a:rPr>
              <a:t>SUBD F8, F6, F2</a:t>
            </a:r>
          </a:p>
          <a:p>
            <a:pPr marL="0" lvl="1" indent="0">
              <a:spcBef>
                <a:spcPts val="1000"/>
              </a:spcBef>
              <a:buNone/>
            </a:pPr>
            <a:r>
              <a:rPr lang="en-US" sz="2800" dirty="0" smtClean="0">
                <a:latin typeface="Courier New" panose="02070309020205020404" pitchFamily="49" charset="0"/>
                <a:cs typeface="Courier New" panose="02070309020205020404" pitchFamily="49" charset="0"/>
              </a:rPr>
              <a:t>DIVD F10, F0, </a:t>
            </a:r>
            <a:r>
              <a:rPr lang="en-US" altLang="zh-CN" sz="2800" dirty="0" smtClean="0">
                <a:latin typeface="Courier New" panose="02070309020205020404" pitchFamily="49" charset="0"/>
                <a:cs typeface="Courier New" panose="02070309020205020404" pitchFamily="49" charset="0"/>
              </a:rPr>
              <a:t>F6        </a:t>
            </a:r>
            <a:r>
              <a:rPr lang="en-US" altLang="zh-CN" sz="2800" dirty="0" smtClean="0"/>
              <a:t>Red </a:t>
            </a:r>
            <a:r>
              <a:rPr lang="en-US" altLang="zh-CN" sz="2800" dirty="0"/>
              <a:t>line: </a:t>
            </a:r>
            <a:r>
              <a:rPr lang="en-US" altLang="zh-CN" sz="2800" dirty="0" smtClean="0"/>
              <a:t>anti-dependence</a:t>
            </a:r>
            <a:endParaRPr lang="en-US" altLang="zh-CN" dirty="0" smtClean="0">
              <a:latin typeface="Courier New" panose="02070309020205020404" pitchFamily="49" charset="0"/>
              <a:cs typeface="Courier New" panose="02070309020205020404" pitchFamily="49" charset="0"/>
            </a:endParaRPr>
          </a:p>
          <a:p>
            <a:pPr marL="0" indent="0">
              <a:buNone/>
            </a:pPr>
            <a:r>
              <a:rPr lang="en-US" dirty="0" smtClean="0">
                <a:latin typeface="Courier New" panose="02070309020205020404" pitchFamily="49" charset="0"/>
                <a:cs typeface="Courier New" panose="02070309020205020404" pitchFamily="49" charset="0"/>
              </a:rPr>
              <a:t>ADDD F6, F8, F2</a:t>
            </a:r>
            <a:endParaRPr lang="en-US" dirty="0">
              <a:latin typeface="Courier New" panose="02070309020205020404" pitchFamily="49" charset="0"/>
              <a:cs typeface="Courier New" panose="02070309020205020404" pitchFamily="49" charset="0"/>
            </a:endParaRPr>
          </a:p>
        </p:txBody>
      </p:sp>
      <p:cxnSp>
        <p:nvCxnSpPr>
          <p:cNvPr id="5" name="直接箭头连接符 4"/>
          <p:cNvCxnSpPr/>
          <p:nvPr/>
        </p:nvCxnSpPr>
        <p:spPr>
          <a:xfrm>
            <a:off x="1991544" y="3317078"/>
            <a:ext cx="1152128" cy="32794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1991544" y="2924944"/>
            <a:ext cx="936104" cy="129614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1847528" y="3481051"/>
            <a:ext cx="1800200" cy="74003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2351584" y="4437112"/>
            <a:ext cx="576064" cy="79208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2459596" y="3933056"/>
            <a:ext cx="684076" cy="79208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1991544" y="2780928"/>
            <a:ext cx="1872208" cy="194421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1919536" y="3481051"/>
            <a:ext cx="1728192" cy="182015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V="1">
            <a:off x="2459596" y="4869160"/>
            <a:ext cx="1404156" cy="43204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555633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7026" name="Rectangle 2"/>
          <p:cNvSpPr>
            <a:spLocks noGrp="1" noChangeArrowheads="1"/>
          </p:cNvSpPr>
          <p:nvPr>
            <p:ph type="title"/>
          </p:nvPr>
        </p:nvSpPr>
        <p:spPr>
          <a:xfrm>
            <a:off x="2590800" y="7620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smtClean="0"/>
              <a:t>Tomasulo Example</a:t>
            </a:r>
            <a:endParaRPr lang="en-US" altLang="zh-CN"/>
          </a:p>
        </p:txBody>
      </p:sp>
      <p:graphicFrame>
        <p:nvGraphicFramePr>
          <p:cNvPr id="897027" name="Object 3"/>
          <p:cNvGraphicFramePr>
            <a:graphicFrameLocks/>
          </p:cNvGraphicFramePr>
          <p:nvPr>
            <p:extLst/>
          </p:nvPr>
        </p:nvGraphicFramePr>
        <p:xfrm>
          <a:off x="1736726" y="1692793"/>
          <a:ext cx="8774113" cy="4995863"/>
        </p:xfrm>
        <a:graphic>
          <a:graphicData uri="http://schemas.openxmlformats.org/presentationml/2006/ole">
            <mc:AlternateContent xmlns:mc="http://schemas.openxmlformats.org/markup-compatibility/2006">
              <mc:Choice xmlns:v="urn:schemas-microsoft-com:vml" Requires="v">
                <p:oleObj spid="_x0000_s92205" name="工作表" r:id="rId3" imgW="9696901" imgH="6639166" progId="Excel.Sheet.8">
                  <p:embed/>
                </p:oleObj>
              </mc:Choice>
              <mc:Fallback>
                <p:oleObj name="工作表" r:id="rId3" imgW="9696901" imgH="6639166" progId="Excel.Sheet.8">
                  <p:embed/>
                  <p:pic>
                    <p:nvPicPr>
                      <p:cNvPr id="897027"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6" y="1692793"/>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97039" name="Group 15"/>
          <p:cNvGrpSpPr>
            <a:grpSpLocks/>
          </p:cNvGrpSpPr>
          <p:nvPr/>
        </p:nvGrpSpPr>
        <p:grpSpPr bwMode="auto">
          <a:xfrm>
            <a:off x="1474092" y="6183312"/>
            <a:ext cx="2365179" cy="674688"/>
            <a:chOff x="235" y="3408"/>
            <a:chExt cx="878" cy="425"/>
          </a:xfrm>
        </p:grpSpPr>
        <p:sp>
          <p:nvSpPr>
            <p:cNvPr id="897028" name="Text Box 4"/>
            <p:cNvSpPr txBox="1">
              <a:spLocks noChangeArrowheads="1"/>
            </p:cNvSpPr>
            <p:nvPr/>
          </p:nvSpPr>
          <p:spPr bwMode="auto">
            <a:xfrm>
              <a:off x="235" y="3600"/>
              <a:ext cx="878" cy="23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solidFill>
                    <a:srgbClr val="0000FF"/>
                  </a:solidFill>
                </a:rPr>
                <a:t>Clock </a:t>
              </a:r>
              <a:r>
                <a:rPr lang="en-US" altLang="zh-CN" b="1" dirty="0" smtClean="0">
                  <a:solidFill>
                    <a:srgbClr val="0000FF"/>
                  </a:solidFill>
                </a:rPr>
                <a:t>cycle counter</a:t>
              </a:r>
              <a:endParaRPr lang="en-US" altLang="zh-CN" b="1" dirty="0">
                <a:solidFill>
                  <a:srgbClr val="0000FF"/>
                </a:solidFill>
              </a:endParaRPr>
            </a:p>
          </p:txBody>
        </p:sp>
        <p:sp>
          <p:nvSpPr>
            <p:cNvPr id="897029" name="Line 5"/>
            <p:cNvSpPr>
              <a:spLocks noChangeShapeType="1"/>
            </p:cNvSpPr>
            <p:nvPr/>
          </p:nvSpPr>
          <p:spPr bwMode="auto">
            <a:xfrm flipV="1">
              <a:off x="432" y="3408"/>
              <a:ext cx="144" cy="192"/>
            </a:xfrm>
            <a:prstGeom prst="line">
              <a:avLst/>
            </a:prstGeom>
            <a:noFill/>
            <a:ln w="38100">
              <a:solidFill>
                <a:srgbClr val="0FEFEA"/>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solidFill>
                  <a:srgbClr val="0000FF"/>
                </a:solidFill>
              </a:endParaRPr>
            </a:p>
          </p:txBody>
        </p:sp>
      </p:grpSp>
      <p:grpSp>
        <p:nvGrpSpPr>
          <p:cNvPr id="897040" name="Group 16"/>
          <p:cNvGrpSpPr>
            <a:grpSpLocks/>
          </p:cNvGrpSpPr>
          <p:nvPr/>
        </p:nvGrpSpPr>
        <p:grpSpPr bwMode="auto">
          <a:xfrm>
            <a:off x="1828800" y="4169294"/>
            <a:ext cx="1219200" cy="874713"/>
            <a:chOff x="192" y="2160"/>
            <a:chExt cx="768" cy="551"/>
          </a:xfrm>
        </p:grpSpPr>
        <p:sp>
          <p:nvSpPr>
            <p:cNvPr id="897030" name="Text Box 6"/>
            <p:cNvSpPr txBox="1">
              <a:spLocks noChangeArrowheads="1"/>
            </p:cNvSpPr>
            <p:nvPr/>
          </p:nvSpPr>
          <p:spPr bwMode="auto">
            <a:xfrm>
              <a:off x="192" y="2304"/>
              <a:ext cx="746" cy="4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solidFill>
                    <a:srgbClr val="0000FF"/>
                  </a:solidFill>
                </a:rPr>
                <a:t>FU count</a:t>
              </a:r>
            </a:p>
            <a:p>
              <a:r>
                <a:rPr lang="en-US" altLang="zh-CN" b="1" dirty="0">
                  <a:solidFill>
                    <a:srgbClr val="0000FF"/>
                  </a:solidFill>
                </a:rPr>
                <a:t>down</a:t>
              </a:r>
            </a:p>
          </p:txBody>
        </p:sp>
        <p:sp>
          <p:nvSpPr>
            <p:cNvPr id="897031" name="Line 7"/>
            <p:cNvSpPr>
              <a:spLocks noChangeShapeType="1"/>
            </p:cNvSpPr>
            <p:nvPr/>
          </p:nvSpPr>
          <p:spPr bwMode="auto">
            <a:xfrm flipV="1">
              <a:off x="816" y="2160"/>
              <a:ext cx="144" cy="192"/>
            </a:xfrm>
            <a:prstGeom prst="line">
              <a:avLst/>
            </a:prstGeom>
            <a:noFill/>
            <a:ln w="38100">
              <a:solidFill>
                <a:srgbClr val="0FEFEA"/>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grpSp>
        <p:nvGrpSpPr>
          <p:cNvPr id="897038" name="Group 14"/>
          <p:cNvGrpSpPr>
            <a:grpSpLocks/>
          </p:cNvGrpSpPr>
          <p:nvPr/>
        </p:nvGrpSpPr>
        <p:grpSpPr bwMode="auto">
          <a:xfrm>
            <a:off x="871538" y="1427680"/>
            <a:ext cx="2265363" cy="912813"/>
            <a:chOff x="-411" y="433"/>
            <a:chExt cx="1427" cy="575"/>
          </a:xfrm>
        </p:grpSpPr>
        <p:sp>
          <p:nvSpPr>
            <p:cNvPr id="897032" name="Text Box 8"/>
            <p:cNvSpPr txBox="1">
              <a:spLocks noChangeArrowheads="1"/>
            </p:cNvSpPr>
            <p:nvPr/>
          </p:nvSpPr>
          <p:spPr bwMode="auto">
            <a:xfrm>
              <a:off x="-411" y="433"/>
              <a:ext cx="142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solidFill>
                    <a:srgbClr val="0000FF"/>
                  </a:solidFill>
                </a:rPr>
                <a:t>Instruction stream</a:t>
              </a:r>
            </a:p>
          </p:txBody>
        </p:sp>
        <p:sp>
          <p:nvSpPr>
            <p:cNvPr id="897033" name="Line 9"/>
            <p:cNvSpPr>
              <a:spLocks noChangeShapeType="1"/>
            </p:cNvSpPr>
            <p:nvPr/>
          </p:nvSpPr>
          <p:spPr bwMode="auto">
            <a:xfrm>
              <a:off x="96" y="576"/>
              <a:ext cx="240" cy="432"/>
            </a:xfrm>
            <a:prstGeom prst="line">
              <a:avLst/>
            </a:prstGeom>
            <a:noFill/>
            <a:ln w="38100">
              <a:solidFill>
                <a:srgbClr val="0FEFEA"/>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grpSp>
        <p:nvGrpSpPr>
          <p:cNvPr id="897041" name="Group 17"/>
          <p:cNvGrpSpPr>
            <a:grpSpLocks/>
          </p:cNvGrpSpPr>
          <p:nvPr/>
        </p:nvGrpSpPr>
        <p:grpSpPr bwMode="auto">
          <a:xfrm>
            <a:off x="8001000" y="2873893"/>
            <a:ext cx="1800225" cy="674688"/>
            <a:chOff x="4080" y="1344"/>
            <a:chExt cx="1134" cy="425"/>
          </a:xfrm>
        </p:grpSpPr>
        <p:sp>
          <p:nvSpPr>
            <p:cNvPr id="897035" name="Line 11"/>
            <p:cNvSpPr>
              <a:spLocks noChangeShapeType="1"/>
            </p:cNvSpPr>
            <p:nvPr/>
          </p:nvSpPr>
          <p:spPr bwMode="auto">
            <a:xfrm flipH="1" flipV="1">
              <a:off x="4416" y="1344"/>
              <a:ext cx="192" cy="192"/>
            </a:xfrm>
            <a:prstGeom prst="line">
              <a:avLst/>
            </a:prstGeom>
            <a:noFill/>
            <a:ln w="38100">
              <a:solidFill>
                <a:srgbClr val="0FEFEA"/>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897036" name="Text Box 12"/>
            <p:cNvSpPr txBox="1">
              <a:spLocks noChangeArrowheads="1"/>
            </p:cNvSpPr>
            <p:nvPr/>
          </p:nvSpPr>
          <p:spPr bwMode="auto">
            <a:xfrm>
              <a:off x="4080" y="1536"/>
              <a:ext cx="1134" cy="23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dirty="0">
                  <a:solidFill>
                    <a:srgbClr val="0000FF"/>
                  </a:solidFill>
                </a:rPr>
                <a:t>3 </a:t>
              </a:r>
              <a:r>
                <a:rPr lang="en-US" altLang="zh-CN" b="1" dirty="0">
                  <a:solidFill>
                    <a:srgbClr val="0000FF"/>
                  </a:solidFill>
                </a:rPr>
                <a:t>Load/Buffers</a:t>
              </a:r>
            </a:p>
          </p:txBody>
        </p:sp>
      </p:grpSp>
      <p:grpSp>
        <p:nvGrpSpPr>
          <p:cNvPr id="897042" name="Group 18"/>
          <p:cNvGrpSpPr>
            <a:grpSpLocks/>
          </p:cNvGrpSpPr>
          <p:nvPr/>
        </p:nvGrpSpPr>
        <p:grpSpPr bwMode="auto">
          <a:xfrm>
            <a:off x="7848601" y="4474095"/>
            <a:ext cx="2284413" cy="646113"/>
            <a:chOff x="3984" y="2352"/>
            <a:chExt cx="1439" cy="407"/>
          </a:xfrm>
        </p:grpSpPr>
        <p:sp>
          <p:nvSpPr>
            <p:cNvPr id="897034" name="Text Box 10"/>
            <p:cNvSpPr txBox="1">
              <a:spLocks noChangeArrowheads="1"/>
            </p:cNvSpPr>
            <p:nvPr/>
          </p:nvSpPr>
          <p:spPr bwMode="auto">
            <a:xfrm>
              <a:off x="4224" y="2352"/>
              <a:ext cx="1199" cy="4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dirty="0">
                  <a:solidFill>
                    <a:srgbClr val="0000FF"/>
                  </a:solidFill>
                </a:rPr>
                <a:t>3 </a:t>
              </a:r>
              <a:r>
                <a:rPr lang="en-US" altLang="zh-CN" b="1" dirty="0">
                  <a:solidFill>
                    <a:srgbClr val="0000FF"/>
                  </a:solidFill>
                </a:rPr>
                <a:t>FP Adder R.S.</a:t>
              </a:r>
            </a:p>
            <a:p>
              <a:r>
                <a:rPr lang="en-US" altLang="zh-CN" b="1" dirty="0">
                  <a:solidFill>
                    <a:srgbClr val="0000FF"/>
                  </a:solidFill>
                </a:rPr>
                <a:t>2 FP </a:t>
              </a:r>
              <a:r>
                <a:rPr lang="en-US" altLang="zh-CN" b="1" dirty="0" err="1">
                  <a:solidFill>
                    <a:srgbClr val="0000FF"/>
                  </a:solidFill>
                </a:rPr>
                <a:t>Mult</a:t>
              </a:r>
              <a:r>
                <a:rPr lang="en-US" altLang="zh-CN" b="1" dirty="0">
                  <a:solidFill>
                    <a:srgbClr val="0000FF"/>
                  </a:solidFill>
                </a:rPr>
                <a:t> R.S.</a:t>
              </a:r>
            </a:p>
          </p:txBody>
        </p:sp>
        <p:sp>
          <p:nvSpPr>
            <p:cNvPr id="897037" name="Line 13"/>
            <p:cNvSpPr>
              <a:spLocks noChangeShapeType="1"/>
            </p:cNvSpPr>
            <p:nvPr/>
          </p:nvSpPr>
          <p:spPr bwMode="auto">
            <a:xfrm flipH="1">
              <a:off x="3984" y="2544"/>
              <a:ext cx="240" cy="0"/>
            </a:xfrm>
            <a:prstGeom prst="line">
              <a:avLst/>
            </a:prstGeom>
            <a:noFill/>
            <a:ln w="28575">
              <a:solidFill>
                <a:srgbClr val="0FEFEA"/>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spTree>
    <p:extLst>
      <p:ext uri="{BB962C8B-B14F-4D97-AF65-F5344CB8AC3E}">
        <p14:creationId xmlns:p14="http://schemas.microsoft.com/office/powerpoint/2010/main" val="266796212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97039"/>
                                        </p:tgtEl>
                                        <p:attrNameLst>
                                          <p:attrName>style.visibility</p:attrName>
                                        </p:attrNameLst>
                                      </p:cBhvr>
                                      <p:to>
                                        <p:strVal val="visible"/>
                                      </p:to>
                                    </p:set>
                                    <p:anim calcmode="lin" valueType="num">
                                      <p:cBhvr additive="base">
                                        <p:cTn id="7" dur="500" fill="hold"/>
                                        <p:tgtEl>
                                          <p:spTgt spid="897039"/>
                                        </p:tgtEl>
                                        <p:attrNameLst>
                                          <p:attrName>ppt_x</p:attrName>
                                        </p:attrNameLst>
                                      </p:cBhvr>
                                      <p:tavLst>
                                        <p:tav tm="0">
                                          <p:val>
                                            <p:strVal val="0-#ppt_w/2"/>
                                          </p:val>
                                        </p:tav>
                                        <p:tav tm="100000">
                                          <p:val>
                                            <p:strVal val="#ppt_x"/>
                                          </p:val>
                                        </p:tav>
                                      </p:tavLst>
                                    </p:anim>
                                    <p:anim calcmode="lin" valueType="num">
                                      <p:cBhvr additive="base">
                                        <p:cTn id="8" dur="500" fill="hold"/>
                                        <p:tgtEl>
                                          <p:spTgt spid="89703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897041"/>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897038"/>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499"/>
                                          </p:stCondLst>
                                        </p:cTn>
                                        <p:tgtEl>
                                          <p:spTgt spid="897040"/>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897042"/>
                                        </p:tgtEl>
                                        <p:attrNameLst>
                                          <p:attrName>style.visibility</p:attrName>
                                        </p:attrNameLst>
                                      </p:cBhvr>
                                      <p:to>
                                        <p:strVal val="visible"/>
                                      </p:to>
                                    </p:set>
                                    <p:anim calcmode="lin" valueType="num">
                                      <p:cBhvr additive="base">
                                        <p:cTn id="25" dur="500" fill="hold"/>
                                        <p:tgtEl>
                                          <p:spTgt spid="897042"/>
                                        </p:tgtEl>
                                        <p:attrNameLst>
                                          <p:attrName>ppt_x</p:attrName>
                                        </p:attrNameLst>
                                      </p:cBhvr>
                                      <p:tavLst>
                                        <p:tav tm="0">
                                          <p:val>
                                            <p:strVal val="0-#ppt_w/2"/>
                                          </p:val>
                                        </p:tav>
                                        <p:tav tm="100000">
                                          <p:val>
                                            <p:strVal val="#ppt_x"/>
                                          </p:val>
                                        </p:tav>
                                      </p:tavLst>
                                    </p:anim>
                                    <p:anim calcmode="lin" valueType="num">
                                      <p:cBhvr additive="base">
                                        <p:cTn id="26" dur="500" fill="hold"/>
                                        <p:tgtEl>
                                          <p:spTgt spid="8970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050" name="Rectangle 2"/>
          <p:cNvSpPr>
            <a:spLocks noGrp="1" noChangeArrowheads="1"/>
          </p:cNvSpPr>
          <p:nvPr>
            <p:ph type="title"/>
          </p:nvPr>
        </p:nvSpPr>
        <p:spPr>
          <a:xfrm>
            <a:off x="2590800" y="7620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a:t>Tomasulo Example Cycle 1</a:t>
            </a:r>
          </a:p>
        </p:txBody>
      </p:sp>
      <p:grpSp>
        <p:nvGrpSpPr>
          <p:cNvPr id="2" name="组合 1"/>
          <p:cNvGrpSpPr/>
          <p:nvPr/>
        </p:nvGrpSpPr>
        <p:grpSpPr>
          <a:xfrm>
            <a:off x="1736726" y="1601489"/>
            <a:ext cx="8774113" cy="4995863"/>
            <a:chOff x="1736726" y="952501"/>
            <a:chExt cx="8774113" cy="4995863"/>
          </a:xfrm>
        </p:grpSpPr>
        <p:graphicFrame>
          <p:nvGraphicFramePr>
            <p:cNvPr id="898051" name="Object 3"/>
            <p:cNvGraphicFramePr>
              <a:graphicFrameLocks/>
            </p:cNvGraphicFramePr>
            <p:nvPr>
              <p:extLst/>
            </p:nvPr>
          </p:nvGraphicFramePr>
          <p:xfrm>
            <a:off x="1736726" y="952501"/>
            <a:ext cx="8774113" cy="4995863"/>
          </p:xfrm>
          <a:graphic>
            <a:graphicData uri="http://schemas.openxmlformats.org/presentationml/2006/ole">
              <mc:AlternateContent xmlns:mc="http://schemas.openxmlformats.org/markup-compatibility/2006">
                <mc:Choice xmlns:v="urn:schemas-microsoft-com:vml" Requires="v">
                  <p:oleObj spid="_x0000_s93229" name="工作表" r:id="rId3" imgW="9696901" imgH="6639166" progId="Excel.Sheet.8">
                    <p:embed/>
                  </p:oleObj>
                </mc:Choice>
                <mc:Fallback>
                  <p:oleObj name="工作表" r:id="rId3" imgW="9696901" imgH="6639166" progId="Excel.Sheet.8">
                    <p:embed/>
                    <p:pic>
                      <p:nvPicPr>
                        <p:cNvPr id="898051"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6" y="952501"/>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98052" name="AutoShape 4"/>
            <p:cNvSpPr>
              <a:spLocks noChangeArrowheads="1"/>
            </p:cNvSpPr>
            <p:nvPr/>
          </p:nvSpPr>
          <p:spPr bwMode="auto">
            <a:xfrm>
              <a:off x="4648200" y="1371600"/>
              <a:ext cx="533400" cy="4572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8053" name="AutoShape 5"/>
            <p:cNvSpPr>
              <a:spLocks noChangeArrowheads="1"/>
            </p:cNvSpPr>
            <p:nvPr/>
          </p:nvSpPr>
          <p:spPr bwMode="auto">
            <a:xfrm>
              <a:off x="7772400" y="1371600"/>
              <a:ext cx="1676400" cy="4572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8054" name="AutoShape 6"/>
            <p:cNvSpPr>
              <a:spLocks noChangeArrowheads="1"/>
            </p:cNvSpPr>
            <p:nvPr/>
          </p:nvSpPr>
          <p:spPr bwMode="auto">
            <a:xfrm>
              <a:off x="6400800" y="5181600"/>
              <a:ext cx="762000" cy="4572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08442974"/>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Rectangle 2"/>
          <p:cNvSpPr>
            <a:spLocks noGrp="1" noChangeArrowheads="1"/>
          </p:cNvSpPr>
          <p:nvPr>
            <p:ph type="title"/>
          </p:nvPr>
        </p:nvSpPr>
        <p:spPr>
          <a:xfrm>
            <a:off x="2590800" y="7620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a:t>Tomasulo Example Cycle 2</a:t>
            </a:r>
          </a:p>
        </p:txBody>
      </p:sp>
      <p:grpSp>
        <p:nvGrpSpPr>
          <p:cNvPr id="2" name="组合 1"/>
          <p:cNvGrpSpPr/>
          <p:nvPr/>
        </p:nvGrpSpPr>
        <p:grpSpPr>
          <a:xfrm>
            <a:off x="1736726" y="1601489"/>
            <a:ext cx="8774113" cy="4995863"/>
            <a:chOff x="1736726" y="952501"/>
            <a:chExt cx="8774113" cy="4995863"/>
          </a:xfrm>
        </p:grpSpPr>
        <p:graphicFrame>
          <p:nvGraphicFramePr>
            <p:cNvPr id="899075" name="Object 3"/>
            <p:cNvGraphicFramePr>
              <a:graphicFrameLocks/>
            </p:cNvGraphicFramePr>
            <p:nvPr>
              <p:extLst/>
            </p:nvPr>
          </p:nvGraphicFramePr>
          <p:xfrm>
            <a:off x="1736726" y="952501"/>
            <a:ext cx="8774113" cy="4995863"/>
          </p:xfrm>
          <a:graphic>
            <a:graphicData uri="http://schemas.openxmlformats.org/presentationml/2006/ole">
              <mc:AlternateContent xmlns:mc="http://schemas.openxmlformats.org/markup-compatibility/2006">
                <mc:Choice xmlns:v="urn:schemas-microsoft-com:vml" Requires="v">
                  <p:oleObj spid="_x0000_s94253" name="工作表" r:id="rId3" imgW="9696901" imgH="6639166" progId="Excel.Sheet.8">
                    <p:embed/>
                  </p:oleObj>
                </mc:Choice>
                <mc:Fallback>
                  <p:oleObj name="工作表" r:id="rId3" imgW="9696901" imgH="6639166" progId="Excel.Sheet.8">
                    <p:embed/>
                    <p:pic>
                      <p:nvPicPr>
                        <p:cNvPr id="899075"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6" y="952501"/>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99076" name="AutoShape 4"/>
            <p:cNvSpPr>
              <a:spLocks noChangeArrowheads="1"/>
            </p:cNvSpPr>
            <p:nvPr/>
          </p:nvSpPr>
          <p:spPr bwMode="auto">
            <a:xfrm>
              <a:off x="4648200" y="1676400"/>
              <a:ext cx="533400" cy="3048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9077" name="AutoShape 5"/>
            <p:cNvSpPr>
              <a:spLocks noChangeArrowheads="1"/>
            </p:cNvSpPr>
            <p:nvPr/>
          </p:nvSpPr>
          <p:spPr bwMode="auto">
            <a:xfrm>
              <a:off x="7772400" y="1752600"/>
              <a:ext cx="1676400" cy="2286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9078" name="AutoShape 6"/>
            <p:cNvSpPr>
              <a:spLocks noChangeArrowheads="1"/>
            </p:cNvSpPr>
            <p:nvPr/>
          </p:nvSpPr>
          <p:spPr bwMode="auto">
            <a:xfrm>
              <a:off x="5157788" y="5132388"/>
              <a:ext cx="762000" cy="4572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99079" name="Rectangle 7"/>
          <p:cNvSpPr>
            <a:spLocks noChangeArrowheads="1"/>
          </p:cNvSpPr>
          <p:nvPr/>
        </p:nvSpPr>
        <p:spPr bwMode="auto">
          <a:xfrm>
            <a:off x="8184232" y="3861048"/>
            <a:ext cx="3744416" cy="119776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7" tIns="44450" rIns="90487" bIns="44450">
            <a:spAutoFit/>
          </a:bodyPr>
          <a:lstStyle/>
          <a:p>
            <a:pPr algn="l"/>
            <a:r>
              <a:rPr lang="en-US" altLang="zh-CN" sz="2400" dirty="0">
                <a:solidFill>
                  <a:srgbClr val="FF0000"/>
                </a:solidFill>
              </a:rPr>
              <a:t>Note: Can have multiple loads outstanding</a:t>
            </a:r>
          </a:p>
          <a:p>
            <a:pPr algn="l"/>
            <a:endParaRPr lang="zh-CN" altLang="en-US" sz="2400" dirty="0">
              <a:solidFill>
                <a:srgbClr val="FF0000"/>
              </a:solidFill>
            </a:endParaRPr>
          </a:p>
        </p:txBody>
      </p:sp>
    </p:spTree>
    <p:extLst>
      <p:ext uri="{BB962C8B-B14F-4D97-AF65-F5344CB8AC3E}">
        <p14:creationId xmlns:p14="http://schemas.microsoft.com/office/powerpoint/2010/main" val="386365552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99079"/>
                                        </p:tgtEl>
                                        <p:attrNameLst>
                                          <p:attrName>style.visibility</p:attrName>
                                        </p:attrNameLst>
                                      </p:cBhvr>
                                      <p:to>
                                        <p:strVal val="visible"/>
                                      </p:to>
                                    </p:set>
                                    <p:anim calcmode="lin" valueType="num">
                                      <p:cBhvr additive="base">
                                        <p:cTn id="7" dur="500" fill="hold"/>
                                        <p:tgtEl>
                                          <p:spTgt spid="899079"/>
                                        </p:tgtEl>
                                        <p:attrNameLst>
                                          <p:attrName>ppt_x</p:attrName>
                                        </p:attrNameLst>
                                      </p:cBhvr>
                                      <p:tavLst>
                                        <p:tav tm="0">
                                          <p:val>
                                            <p:strVal val="1+#ppt_w/2"/>
                                          </p:val>
                                        </p:tav>
                                        <p:tav tm="100000">
                                          <p:val>
                                            <p:strVal val="#ppt_x"/>
                                          </p:val>
                                        </p:tav>
                                      </p:tavLst>
                                    </p:anim>
                                    <p:anim calcmode="lin" valueType="num">
                                      <p:cBhvr additive="base">
                                        <p:cTn id="8" dur="500" fill="hold"/>
                                        <p:tgtEl>
                                          <p:spTgt spid="8990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9079"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98" name="Rectangle 2"/>
          <p:cNvSpPr>
            <a:spLocks noGrp="1" noChangeArrowheads="1"/>
          </p:cNvSpPr>
          <p:nvPr>
            <p:ph type="title"/>
          </p:nvPr>
        </p:nvSpPr>
        <p:spPr>
          <a:xfrm>
            <a:off x="2590800" y="7620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a:t>Tomasulo Example Cycle 3</a:t>
            </a:r>
          </a:p>
        </p:txBody>
      </p:sp>
      <p:sp>
        <p:nvSpPr>
          <p:cNvPr id="900102" name="Rectangle 6"/>
          <p:cNvSpPr>
            <a:spLocks noChangeArrowheads="1"/>
          </p:cNvSpPr>
          <p:nvPr/>
        </p:nvSpPr>
        <p:spPr bwMode="auto">
          <a:xfrm>
            <a:off x="7924800" y="2897328"/>
            <a:ext cx="5039916" cy="520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1pPr>
            <a:lvl2pPr marL="685800" indent="-22860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2pPr>
            <a:lvl3pPr marL="1143000" indent="-22860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3pPr>
            <a:lvl4pPr marL="1543050" indent="-1714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4pPr>
            <a:lvl5pPr marL="2000250" indent="-1714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5pPr>
            <a:lvl6pPr marL="24574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6pPr>
            <a:lvl7pPr marL="29146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7pPr>
            <a:lvl8pPr marL="33718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8pPr>
            <a:lvl9pPr marL="38290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30000"/>
              </a:spcBef>
              <a:buFontTx/>
              <a:buChar char="•"/>
            </a:pPr>
            <a:r>
              <a:rPr lang="en-US" altLang="zh-CN" dirty="0">
                <a:solidFill>
                  <a:srgbClr val="FF0000"/>
                </a:solidFill>
                <a:latin typeface="Arial" panose="020B0604020202020204" pitchFamily="34" charset="0"/>
                <a:cs typeface="Arial" panose="020B0604020202020204" pitchFamily="34" charset="0"/>
              </a:rPr>
              <a:t>Note: registers names are removed (“renamed”) in </a:t>
            </a:r>
            <a:r>
              <a:rPr lang="en-US" altLang="zh-CN" dirty="0" smtClean="0">
                <a:solidFill>
                  <a:srgbClr val="FF0000"/>
                </a:solidFill>
                <a:latin typeface="Arial" panose="020B0604020202020204" pitchFamily="34" charset="0"/>
                <a:cs typeface="Arial" panose="020B0604020202020204" pitchFamily="34" charset="0"/>
              </a:rPr>
              <a:t>RS; </a:t>
            </a:r>
            <a:r>
              <a:rPr lang="en-US" altLang="zh-CN" dirty="0">
                <a:solidFill>
                  <a:srgbClr val="FF0000"/>
                </a:solidFill>
                <a:latin typeface="Arial" panose="020B0604020202020204" pitchFamily="34" charset="0"/>
                <a:cs typeface="Arial" panose="020B0604020202020204" pitchFamily="34" charset="0"/>
              </a:rPr>
              <a:t>MULT issued</a:t>
            </a:r>
          </a:p>
          <a:p>
            <a:pPr>
              <a:lnSpc>
                <a:spcPct val="90000"/>
              </a:lnSpc>
              <a:spcBef>
                <a:spcPct val="30000"/>
              </a:spcBef>
              <a:buFontTx/>
              <a:buChar char="•"/>
            </a:pPr>
            <a:r>
              <a:rPr lang="en-US" altLang="zh-CN" dirty="0">
                <a:solidFill>
                  <a:srgbClr val="FF0000"/>
                </a:solidFill>
                <a:latin typeface="Arial" panose="020B0604020202020204" pitchFamily="34" charset="0"/>
                <a:cs typeface="Arial" panose="020B0604020202020204" pitchFamily="34" charset="0"/>
              </a:rPr>
              <a:t>Load1 completing; </a:t>
            </a:r>
            <a:r>
              <a:rPr lang="en-US" altLang="zh-CN" dirty="0" smtClean="0">
                <a:solidFill>
                  <a:srgbClr val="FF0000"/>
                </a:solidFill>
                <a:latin typeface="Arial" panose="020B0604020202020204" pitchFamily="34" charset="0"/>
                <a:cs typeface="Arial" panose="020B0604020202020204" pitchFamily="34" charset="0"/>
              </a:rPr>
              <a:t/>
            </a:r>
            <a:br>
              <a:rPr lang="en-US" altLang="zh-CN" dirty="0" smtClean="0">
                <a:solidFill>
                  <a:srgbClr val="FF0000"/>
                </a:solidFill>
                <a:latin typeface="Arial" panose="020B0604020202020204" pitchFamily="34" charset="0"/>
                <a:cs typeface="Arial" panose="020B0604020202020204" pitchFamily="34" charset="0"/>
              </a:rPr>
            </a:br>
            <a:r>
              <a:rPr lang="en-US" altLang="zh-CN" dirty="0" smtClean="0">
                <a:solidFill>
                  <a:srgbClr val="FF0000"/>
                </a:solidFill>
                <a:latin typeface="Arial" panose="020B0604020202020204" pitchFamily="34" charset="0"/>
                <a:cs typeface="Arial" panose="020B0604020202020204" pitchFamily="34" charset="0"/>
              </a:rPr>
              <a:t>what </a:t>
            </a:r>
            <a:r>
              <a:rPr lang="en-US" altLang="zh-CN" dirty="0">
                <a:solidFill>
                  <a:srgbClr val="FF0000"/>
                </a:solidFill>
                <a:latin typeface="Arial" panose="020B0604020202020204" pitchFamily="34" charset="0"/>
                <a:cs typeface="Arial" panose="020B0604020202020204" pitchFamily="34" charset="0"/>
              </a:rPr>
              <a:t>is waiting for Load1? </a:t>
            </a:r>
          </a:p>
        </p:txBody>
      </p:sp>
      <p:grpSp>
        <p:nvGrpSpPr>
          <p:cNvPr id="2" name="组合 1"/>
          <p:cNvGrpSpPr/>
          <p:nvPr/>
        </p:nvGrpSpPr>
        <p:grpSpPr>
          <a:xfrm>
            <a:off x="1736726" y="1601489"/>
            <a:ext cx="8774113" cy="4995863"/>
            <a:chOff x="1736726" y="952501"/>
            <a:chExt cx="8774113" cy="4995863"/>
          </a:xfrm>
        </p:grpSpPr>
        <p:graphicFrame>
          <p:nvGraphicFramePr>
            <p:cNvPr id="900099" name="Object 3"/>
            <p:cNvGraphicFramePr>
              <a:graphicFrameLocks/>
            </p:cNvGraphicFramePr>
            <p:nvPr>
              <p:extLst/>
            </p:nvPr>
          </p:nvGraphicFramePr>
          <p:xfrm>
            <a:off x="1736726" y="952501"/>
            <a:ext cx="8774113" cy="4995863"/>
          </p:xfrm>
          <a:graphic>
            <a:graphicData uri="http://schemas.openxmlformats.org/presentationml/2006/ole">
              <mc:AlternateContent xmlns:mc="http://schemas.openxmlformats.org/markup-compatibility/2006">
                <mc:Choice xmlns:v="urn:schemas-microsoft-com:vml" Requires="v">
                  <p:oleObj spid="_x0000_s95277" name="工作表" r:id="rId3" imgW="9696901" imgH="6639166" progId="Excel.Sheet.8">
                    <p:embed/>
                  </p:oleObj>
                </mc:Choice>
                <mc:Fallback>
                  <p:oleObj name="工作表" r:id="rId3" imgW="9696901" imgH="6639166" progId="Excel.Sheet.8">
                    <p:embed/>
                    <p:pic>
                      <p:nvPicPr>
                        <p:cNvPr id="900099"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6" y="952501"/>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00100" name="AutoShape 4"/>
            <p:cNvSpPr>
              <a:spLocks noChangeArrowheads="1"/>
            </p:cNvSpPr>
            <p:nvPr/>
          </p:nvSpPr>
          <p:spPr bwMode="auto">
            <a:xfrm>
              <a:off x="3962400" y="4038600"/>
              <a:ext cx="3962400" cy="4572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0101" name="AutoShape 5"/>
            <p:cNvSpPr>
              <a:spLocks noChangeArrowheads="1"/>
            </p:cNvSpPr>
            <p:nvPr/>
          </p:nvSpPr>
          <p:spPr bwMode="auto">
            <a:xfrm>
              <a:off x="4489450" y="5132388"/>
              <a:ext cx="762000" cy="4572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0103" name="AutoShape 7"/>
            <p:cNvSpPr>
              <a:spLocks noChangeArrowheads="1"/>
            </p:cNvSpPr>
            <p:nvPr/>
          </p:nvSpPr>
          <p:spPr bwMode="auto">
            <a:xfrm>
              <a:off x="5334000" y="1447800"/>
              <a:ext cx="533400" cy="3048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08655284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00102"/>
                                        </p:tgtEl>
                                        <p:attrNameLst>
                                          <p:attrName>style.visibility</p:attrName>
                                        </p:attrNameLst>
                                      </p:cBhvr>
                                      <p:to>
                                        <p:strVal val="visible"/>
                                      </p:to>
                                    </p:set>
                                    <p:anim calcmode="lin" valueType="num">
                                      <p:cBhvr additive="base">
                                        <p:cTn id="7" dur="500" fill="hold"/>
                                        <p:tgtEl>
                                          <p:spTgt spid="900102"/>
                                        </p:tgtEl>
                                        <p:attrNameLst>
                                          <p:attrName>ppt_x</p:attrName>
                                        </p:attrNameLst>
                                      </p:cBhvr>
                                      <p:tavLst>
                                        <p:tav tm="0">
                                          <p:val>
                                            <p:strVal val="1+#ppt_w/2"/>
                                          </p:val>
                                        </p:tav>
                                        <p:tav tm="100000">
                                          <p:val>
                                            <p:strVal val="#ppt_x"/>
                                          </p:val>
                                        </p:tav>
                                      </p:tavLst>
                                    </p:anim>
                                    <p:anim calcmode="lin" valueType="num">
                                      <p:cBhvr additive="base">
                                        <p:cTn id="8" dur="500" fill="hold"/>
                                        <p:tgtEl>
                                          <p:spTgt spid="9001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0102"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2" name="Rectangle 2"/>
          <p:cNvSpPr>
            <a:spLocks noGrp="1" noChangeArrowheads="1"/>
          </p:cNvSpPr>
          <p:nvPr>
            <p:ph type="title"/>
          </p:nvPr>
        </p:nvSpPr>
        <p:spPr>
          <a:xfrm>
            <a:off x="2590800" y="7620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a:t>Tomasulo Example Cycle 4</a:t>
            </a:r>
          </a:p>
        </p:txBody>
      </p:sp>
      <p:sp>
        <p:nvSpPr>
          <p:cNvPr id="901124" name="Rectangle 4"/>
          <p:cNvSpPr>
            <a:spLocks noChangeArrowheads="1"/>
          </p:cNvSpPr>
          <p:nvPr/>
        </p:nvSpPr>
        <p:spPr bwMode="auto">
          <a:xfrm>
            <a:off x="8184232" y="3628380"/>
            <a:ext cx="4267200" cy="520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1pPr>
            <a:lvl2pPr marL="685800" indent="-22860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2pPr>
            <a:lvl3pPr marL="1143000" indent="-22860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3pPr>
            <a:lvl4pPr marL="1543050" indent="-1714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4pPr>
            <a:lvl5pPr marL="2000250" indent="-1714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5pPr>
            <a:lvl6pPr marL="24574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6pPr>
            <a:lvl7pPr marL="29146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7pPr>
            <a:lvl8pPr marL="33718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8pPr>
            <a:lvl9pPr marL="38290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30000"/>
              </a:spcBef>
              <a:buFontTx/>
              <a:buChar char="•"/>
            </a:pPr>
            <a:r>
              <a:rPr lang="en-US" altLang="zh-CN" dirty="0">
                <a:solidFill>
                  <a:srgbClr val="FF0000"/>
                </a:solidFill>
                <a:latin typeface="Arial" panose="020B0604020202020204" pitchFamily="34" charset="0"/>
                <a:cs typeface="Arial" panose="020B0604020202020204" pitchFamily="34" charset="0"/>
              </a:rPr>
              <a:t>Load2 completing; what is waiting for Load2? </a:t>
            </a:r>
          </a:p>
        </p:txBody>
      </p:sp>
      <p:grpSp>
        <p:nvGrpSpPr>
          <p:cNvPr id="2" name="组合 1"/>
          <p:cNvGrpSpPr/>
          <p:nvPr/>
        </p:nvGrpSpPr>
        <p:grpSpPr>
          <a:xfrm>
            <a:off x="1736726" y="1601489"/>
            <a:ext cx="8774113" cy="4995863"/>
            <a:chOff x="1736726" y="952501"/>
            <a:chExt cx="8774113" cy="4995863"/>
          </a:xfrm>
        </p:grpSpPr>
        <p:graphicFrame>
          <p:nvGraphicFramePr>
            <p:cNvPr id="901123" name="Object 3"/>
            <p:cNvGraphicFramePr>
              <a:graphicFrameLocks/>
            </p:cNvGraphicFramePr>
            <p:nvPr>
              <p:extLst/>
            </p:nvPr>
          </p:nvGraphicFramePr>
          <p:xfrm>
            <a:off x="1736726" y="952501"/>
            <a:ext cx="8774113" cy="4995863"/>
          </p:xfrm>
          <a:graphic>
            <a:graphicData uri="http://schemas.openxmlformats.org/presentationml/2006/ole">
              <mc:AlternateContent xmlns:mc="http://schemas.openxmlformats.org/markup-compatibility/2006">
                <mc:Choice xmlns:v="urn:schemas-microsoft-com:vml" Requires="v">
                  <p:oleObj spid="_x0000_s96301" name="工作表" r:id="rId3" imgW="9696901" imgH="6639166" progId="Excel.Sheet.8">
                    <p:embed/>
                  </p:oleObj>
                </mc:Choice>
                <mc:Fallback>
                  <p:oleObj name="工作表" r:id="rId3" imgW="9696901" imgH="6639166" progId="Excel.Sheet.8">
                    <p:embed/>
                    <p:pic>
                      <p:nvPicPr>
                        <p:cNvPr id="901123"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6" y="952501"/>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01125" name="AutoShape 5"/>
            <p:cNvSpPr>
              <a:spLocks noChangeArrowheads="1"/>
            </p:cNvSpPr>
            <p:nvPr/>
          </p:nvSpPr>
          <p:spPr bwMode="auto">
            <a:xfrm>
              <a:off x="5334000" y="1676400"/>
              <a:ext cx="533400" cy="3048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126" name="AutoShape 6"/>
            <p:cNvSpPr>
              <a:spLocks noChangeArrowheads="1"/>
            </p:cNvSpPr>
            <p:nvPr/>
          </p:nvSpPr>
          <p:spPr bwMode="auto">
            <a:xfrm>
              <a:off x="5943600" y="1447800"/>
              <a:ext cx="533400" cy="3048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127" name="AutoShape 7"/>
            <p:cNvSpPr>
              <a:spLocks noChangeArrowheads="1"/>
            </p:cNvSpPr>
            <p:nvPr/>
          </p:nvSpPr>
          <p:spPr bwMode="auto">
            <a:xfrm>
              <a:off x="4648200" y="2133600"/>
              <a:ext cx="533400" cy="3048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128" name="AutoShape 8"/>
            <p:cNvSpPr>
              <a:spLocks noChangeArrowheads="1"/>
            </p:cNvSpPr>
            <p:nvPr/>
          </p:nvSpPr>
          <p:spPr bwMode="auto">
            <a:xfrm>
              <a:off x="3962400" y="3429000"/>
              <a:ext cx="3962400" cy="3048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88666669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01124"/>
                                        </p:tgtEl>
                                        <p:attrNameLst>
                                          <p:attrName>style.visibility</p:attrName>
                                        </p:attrNameLst>
                                      </p:cBhvr>
                                      <p:to>
                                        <p:strVal val="visible"/>
                                      </p:to>
                                    </p:set>
                                    <p:anim calcmode="lin" valueType="num">
                                      <p:cBhvr additive="base">
                                        <p:cTn id="7" dur="500" fill="hold"/>
                                        <p:tgtEl>
                                          <p:spTgt spid="901124"/>
                                        </p:tgtEl>
                                        <p:attrNameLst>
                                          <p:attrName>ppt_x</p:attrName>
                                        </p:attrNameLst>
                                      </p:cBhvr>
                                      <p:tavLst>
                                        <p:tav tm="0">
                                          <p:val>
                                            <p:strVal val="1+#ppt_w/2"/>
                                          </p:val>
                                        </p:tav>
                                        <p:tav tm="100000">
                                          <p:val>
                                            <p:strVal val="#ppt_x"/>
                                          </p:val>
                                        </p:tav>
                                      </p:tavLst>
                                    </p:anim>
                                    <p:anim calcmode="lin" valueType="num">
                                      <p:cBhvr additive="base">
                                        <p:cTn id="8" dur="500" fill="hold"/>
                                        <p:tgtEl>
                                          <p:spTgt spid="9011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24"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AU" dirty="0"/>
              <a:t>Reservation stations and register tags</a:t>
            </a:r>
          </a:p>
        </p:txBody>
      </p:sp>
      <p:sp>
        <p:nvSpPr>
          <p:cNvPr id="4" name="内容占位符 3"/>
          <p:cNvSpPr>
            <a:spLocks noGrp="1"/>
          </p:cNvSpPr>
          <p:nvPr>
            <p:ph idx="1"/>
          </p:nvPr>
        </p:nvSpPr>
        <p:spPr>
          <a:xfrm>
            <a:off x="263352" y="1556792"/>
            <a:ext cx="11090448" cy="5112568"/>
          </a:xfrm>
        </p:spPr>
        <p:txBody>
          <a:bodyPr/>
          <a:lstStyle/>
          <a:p>
            <a:r>
              <a:rPr lang="en-US" altLang="zh-CN" dirty="0" smtClean="0"/>
              <a:t>All instructions issued</a:t>
            </a:r>
          </a:p>
          <a:p>
            <a:pPr lvl="1"/>
            <a:r>
              <a:rPr lang="en-US" altLang="zh-CN" dirty="0" smtClean="0"/>
              <a:t>Only </a:t>
            </a:r>
            <a:r>
              <a:rPr lang="en-US" altLang="zh-CN" dirty="0"/>
              <a:t>the first load instruction </a:t>
            </a:r>
            <a:r>
              <a:rPr lang="en-US" altLang="zh-CN" dirty="0" smtClean="0"/>
              <a:t/>
            </a:r>
            <a:br>
              <a:rPr lang="en-US" altLang="zh-CN" dirty="0" smtClean="0"/>
            </a:br>
            <a:r>
              <a:rPr lang="en-US" altLang="zh-CN" dirty="0" smtClean="0"/>
              <a:t>has </a:t>
            </a:r>
            <a:r>
              <a:rPr lang="en-US" altLang="zh-CN" dirty="0"/>
              <a:t>completed and written its </a:t>
            </a:r>
            <a:r>
              <a:rPr lang="en-US" altLang="zh-CN" dirty="0" smtClean="0"/>
              <a:t/>
            </a:r>
            <a:br>
              <a:rPr lang="en-US" altLang="zh-CN" dirty="0" smtClean="0"/>
            </a:br>
            <a:r>
              <a:rPr lang="en-US" altLang="zh-CN" dirty="0" smtClean="0"/>
              <a:t>result </a:t>
            </a:r>
            <a:r>
              <a:rPr lang="en-US" altLang="zh-CN" dirty="0"/>
              <a:t>to the </a:t>
            </a:r>
            <a:r>
              <a:rPr lang="en-US" altLang="zh-CN" dirty="0" smtClean="0"/>
              <a:t>CDB</a:t>
            </a:r>
          </a:p>
          <a:p>
            <a:pPr lvl="1"/>
            <a:r>
              <a:rPr lang="en-US" altLang="zh-CN" dirty="0" smtClean="0"/>
              <a:t>The </a:t>
            </a:r>
            <a:r>
              <a:rPr lang="en-US" altLang="zh-CN" dirty="0"/>
              <a:t>second load </a:t>
            </a:r>
            <a:r>
              <a:rPr lang="en-US" altLang="zh-CN" dirty="0" smtClean="0"/>
              <a:t>completed </a:t>
            </a:r>
            <a:br>
              <a:rPr lang="en-US" altLang="zh-CN" dirty="0" smtClean="0"/>
            </a:br>
            <a:r>
              <a:rPr lang="en-US" altLang="zh-CN" dirty="0" smtClean="0"/>
              <a:t>effective </a:t>
            </a:r>
            <a:r>
              <a:rPr lang="en-US" altLang="zh-CN" dirty="0"/>
              <a:t>address </a:t>
            </a:r>
            <a:r>
              <a:rPr lang="en-US" altLang="zh-CN" dirty="0" smtClean="0"/>
              <a:t>calculation &amp; </a:t>
            </a:r>
            <a:br>
              <a:rPr lang="en-US" altLang="zh-CN" dirty="0" smtClean="0"/>
            </a:br>
            <a:r>
              <a:rPr lang="en-US" altLang="zh-CN" dirty="0" smtClean="0"/>
              <a:t>waiting </a:t>
            </a:r>
            <a:r>
              <a:rPr lang="en-US" altLang="zh-CN" dirty="0"/>
              <a:t>on the memory </a:t>
            </a:r>
            <a:r>
              <a:rPr lang="en-US" altLang="zh-CN" dirty="0" smtClean="0"/>
              <a:t>unit</a:t>
            </a:r>
          </a:p>
          <a:p>
            <a:pPr lvl="1"/>
            <a:r>
              <a:rPr lang="en-US" altLang="zh-CN" dirty="0"/>
              <a:t>T</a:t>
            </a:r>
            <a:r>
              <a:rPr lang="en-US" altLang="zh-CN" dirty="0" smtClean="0"/>
              <a:t>he </a:t>
            </a:r>
            <a:r>
              <a:rPr lang="en-US" altLang="zh-CN" dirty="0" err="1">
                <a:latin typeface="Courier New" panose="02070309020205020404" pitchFamily="49" charset="0"/>
                <a:cs typeface="Courier New" panose="02070309020205020404" pitchFamily="49" charset="0"/>
              </a:rPr>
              <a:t>fadd.d</a:t>
            </a:r>
            <a:r>
              <a:rPr lang="en-US" altLang="zh-CN" dirty="0"/>
              <a:t> </a:t>
            </a:r>
            <a:r>
              <a:rPr lang="en-US" altLang="zh-CN" dirty="0" smtClean="0"/>
              <a:t>instruction has </a:t>
            </a:r>
            <a:r>
              <a:rPr lang="en-US" altLang="zh-CN" dirty="0"/>
              <a:t>a </a:t>
            </a:r>
            <a:r>
              <a:rPr lang="en-US" altLang="zh-CN" dirty="0" smtClean="0"/>
              <a:t/>
            </a:r>
            <a:br>
              <a:rPr lang="en-US" altLang="zh-CN" dirty="0" smtClean="0"/>
            </a:br>
            <a:r>
              <a:rPr lang="en-US" altLang="zh-CN" dirty="0" smtClean="0"/>
              <a:t>WAR </a:t>
            </a:r>
            <a:r>
              <a:rPr lang="en-US" altLang="zh-CN" dirty="0"/>
              <a:t>hazard at the WB </a:t>
            </a:r>
            <a:r>
              <a:rPr lang="en-US" altLang="zh-CN" dirty="0" smtClean="0"/>
              <a:t>stage</a:t>
            </a:r>
          </a:p>
          <a:p>
            <a:pPr lvl="2"/>
            <a:r>
              <a:rPr lang="en-US" altLang="zh-CN" dirty="0" smtClean="0"/>
              <a:t>has </a:t>
            </a:r>
            <a:r>
              <a:rPr lang="en-US" altLang="zh-CN" dirty="0"/>
              <a:t>issued and could complete </a:t>
            </a:r>
            <a:r>
              <a:rPr lang="en-US" altLang="zh-CN" dirty="0" smtClean="0"/>
              <a:t/>
            </a:r>
            <a:br>
              <a:rPr lang="en-US" altLang="zh-CN" dirty="0" smtClean="0"/>
            </a:br>
            <a:r>
              <a:rPr lang="en-US" altLang="zh-CN" dirty="0" smtClean="0"/>
              <a:t>before </a:t>
            </a:r>
            <a:r>
              <a:rPr lang="en-US" altLang="zh-CN" dirty="0"/>
              <a:t>the </a:t>
            </a:r>
            <a:r>
              <a:rPr lang="en-US" altLang="zh-CN" dirty="0" err="1">
                <a:latin typeface="Courier New" panose="02070309020205020404" pitchFamily="49" charset="0"/>
                <a:cs typeface="Courier New" panose="02070309020205020404" pitchFamily="49" charset="0"/>
              </a:rPr>
              <a:t>fdiv.d</a:t>
            </a:r>
            <a:r>
              <a:rPr lang="en-US" altLang="zh-CN" dirty="0"/>
              <a:t> initiates.</a:t>
            </a:r>
          </a:p>
          <a:p>
            <a:endParaRPr lang="zh-CN" altLang="en-US" dirty="0"/>
          </a:p>
        </p:txBody>
      </p:sp>
      <p:pic>
        <p:nvPicPr>
          <p:cNvPr id="2" name="图片 1"/>
          <p:cNvPicPr>
            <a:picLocks noChangeAspect="1"/>
          </p:cNvPicPr>
          <p:nvPr/>
        </p:nvPicPr>
        <p:blipFill>
          <a:blip r:embed="rId3"/>
          <a:stretch>
            <a:fillRect/>
          </a:stretch>
        </p:blipFill>
        <p:spPr>
          <a:xfrm>
            <a:off x="5303912" y="1494063"/>
            <a:ext cx="6697822" cy="5346358"/>
          </a:xfrm>
          <a:prstGeom prst="rect">
            <a:avLst/>
          </a:prstGeom>
        </p:spPr>
      </p:pic>
    </p:spTree>
    <p:extLst>
      <p:ext uri="{BB962C8B-B14F-4D97-AF65-F5344CB8AC3E}">
        <p14:creationId xmlns:p14="http://schemas.microsoft.com/office/powerpoint/2010/main" val="216981749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146" name="Rectangle 2"/>
          <p:cNvSpPr>
            <a:spLocks noGrp="1" noChangeArrowheads="1"/>
          </p:cNvSpPr>
          <p:nvPr>
            <p:ph type="title"/>
          </p:nvPr>
        </p:nvSpPr>
        <p:spPr>
          <a:xfrm>
            <a:off x="2590800" y="7620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a:t>Tomasulo Example Cycle 5</a:t>
            </a:r>
          </a:p>
        </p:txBody>
      </p:sp>
      <p:sp>
        <p:nvSpPr>
          <p:cNvPr id="902148" name="Rectangle 4"/>
          <p:cNvSpPr>
            <a:spLocks noChangeArrowheads="1"/>
          </p:cNvSpPr>
          <p:nvPr/>
        </p:nvSpPr>
        <p:spPr bwMode="auto">
          <a:xfrm>
            <a:off x="8544272" y="3296557"/>
            <a:ext cx="3384376" cy="520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1pPr>
            <a:lvl2pPr marL="685800" indent="-22860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2pPr>
            <a:lvl3pPr marL="1143000" indent="-22860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3pPr>
            <a:lvl4pPr marL="1543050" indent="-1714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4pPr>
            <a:lvl5pPr marL="2000250" indent="-1714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5pPr>
            <a:lvl6pPr marL="24574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6pPr>
            <a:lvl7pPr marL="29146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7pPr>
            <a:lvl8pPr marL="33718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8pPr>
            <a:lvl9pPr marL="38290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30000"/>
              </a:spcBef>
              <a:buFontTx/>
              <a:buChar char="•"/>
            </a:pPr>
            <a:r>
              <a:rPr lang="en-US" altLang="zh-CN" dirty="0">
                <a:solidFill>
                  <a:srgbClr val="FF0000"/>
                </a:solidFill>
                <a:latin typeface="Arial" panose="020B0604020202020204" pitchFamily="34" charset="0"/>
                <a:cs typeface="Arial" panose="020B0604020202020204" pitchFamily="34" charset="0"/>
              </a:rPr>
              <a:t>Timer starts down for Add1, Mult1</a:t>
            </a:r>
          </a:p>
        </p:txBody>
      </p:sp>
      <p:grpSp>
        <p:nvGrpSpPr>
          <p:cNvPr id="2" name="组合 1"/>
          <p:cNvGrpSpPr/>
          <p:nvPr/>
        </p:nvGrpSpPr>
        <p:grpSpPr>
          <a:xfrm>
            <a:off x="1736726" y="1601489"/>
            <a:ext cx="8774113" cy="4995863"/>
            <a:chOff x="1736726" y="952501"/>
            <a:chExt cx="8774113" cy="4995863"/>
          </a:xfrm>
        </p:grpSpPr>
        <p:graphicFrame>
          <p:nvGraphicFramePr>
            <p:cNvPr id="902147" name="Object 3"/>
            <p:cNvGraphicFramePr>
              <a:graphicFrameLocks/>
            </p:cNvGraphicFramePr>
            <p:nvPr>
              <p:extLst/>
            </p:nvPr>
          </p:nvGraphicFramePr>
          <p:xfrm>
            <a:off x="1736726" y="952501"/>
            <a:ext cx="8774113" cy="4995863"/>
          </p:xfrm>
          <a:graphic>
            <a:graphicData uri="http://schemas.openxmlformats.org/presentationml/2006/ole">
              <mc:AlternateContent xmlns:mc="http://schemas.openxmlformats.org/markup-compatibility/2006">
                <mc:Choice xmlns:v="urn:schemas-microsoft-com:vml" Requires="v">
                  <p:oleObj spid="_x0000_s97325" name="工作表" r:id="rId3" imgW="9696901" imgH="6639166" progId="Excel.Sheet.8">
                    <p:embed/>
                  </p:oleObj>
                </mc:Choice>
                <mc:Fallback>
                  <p:oleObj name="工作表" r:id="rId3" imgW="9696901" imgH="6639166" progId="Excel.Sheet.8">
                    <p:embed/>
                    <p:pic>
                      <p:nvPicPr>
                        <p:cNvPr id="902147"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6" y="952501"/>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02149" name="AutoShape 5"/>
            <p:cNvSpPr>
              <a:spLocks noChangeArrowheads="1"/>
            </p:cNvSpPr>
            <p:nvPr/>
          </p:nvSpPr>
          <p:spPr bwMode="auto">
            <a:xfrm>
              <a:off x="2895600" y="3200400"/>
              <a:ext cx="533400" cy="12192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2150" name="AutoShape 6"/>
            <p:cNvSpPr>
              <a:spLocks noChangeArrowheads="1"/>
            </p:cNvSpPr>
            <p:nvPr/>
          </p:nvSpPr>
          <p:spPr bwMode="auto">
            <a:xfrm>
              <a:off x="5867400" y="3429000"/>
              <a:ext cx="685800" cy="3048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2151" name="AutoShape 7"/>
            <p:cNvSpPr>
              <a:spLocks noChangeArrowheads="1"/>
            </p:cNvSpPr>
            <p:nvPr/>
          </p:nvSpPr>
          <p:spPr bwMode="auto">
            <a:xfrm>
              <a:off x="5257800" y="4114800"/>
              <a:ext cx="685800" cy="3048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73704287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02148"/>
                                        </p:tgtEl>
                                        <p:attrNameLst>
                                          <p:attrName>style.visibility</p:attrName>
                                        </p:attrNameLst>
                                      </p:cBhvr>
                                      <p:to>
                                        <p:strVal val="visible"/>
                                      </p:to>
                                    </p:set>
                                    <p:anim calcmode="lin" valueType="num">
                                      <p:cBhvr additive="base">
                                        <p:cTn id="7" dur="500" fill="hold"/>
                                        <p:tgtEl>
                                          <p:spTgt spid="902148"/>
                                        </p:tgtEl>
                                        <p:attrNameLst>
                                          <p:attrName>ppt_x</p:attrName>
                                        </p:attrNameLst>
                                      </p:cBhvr>
                                      <p:tavLst>
                                        <p:tav tm="0">
                                          <p:val>
                                            <p:strVal val="1+#ppt_w/2"/>
                                          </p:val>
                                        </p:tav>
                                        <p:tav tm="100000">
                                          <p:val>
                                            <p:strVal val="#ppt_x"/>
                                          </p:val>
                                        </p:tav>
                                      </p:tavLst>
                                    </p:anim>
                                    <p:anim calcmode="lin" valueType="num">
                                      <p:cBhvr additive="base">
                                        <p:cTn id="8" dur="500" fill="hold"/>
                                        <p:tgtEl>
                                          <p:spTgt spid="9021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2148"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170" name="Rectangle 2"/>
          <p:cNvSpPr>
            <a:spLocks noGrp="1" noChangeArrowheads="1"/>
          </p:cNvSpPr>
          <p:nvPr>
            <p:ph type="title"/>
          </p:nvPr>
        </p:nvSpPr>
        <p:spPr>
          <a:xfrm>
            <a:off x="2590800" y="7620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a:t>Tomasulo Example Cycle 6</a:t>
            </a:r>
          </a:p>
        </p:txBody>
      </p:sp>
      <p:sp>
        <p:nvSpPr>
          <p:cNvPr id="903172" name="Rectangle 4"/>
          <p:cNvSpPr>
            <a:spLocks noChangeArrowheads="1"/>
          </p:cNvSpPr>
          <p:nvPr/>
        </p:nvSpPr>
        <p:spPr bwMode="auto">
          <a:xfrm>
            <a:off x="8040216" y="3335453"/>
            <a:ext cx="4555232" cy="520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1pPr>
            <a:lvl2pPr marL="685800" indent="-22860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2pPr>
            <a:lvl3pPr marL="1143000" indent="-22860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3pPr>
            <a:lvl4pPr marL="1543050" indent="-1714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4pPr>
            <a:lvl5pPr marL="2000250" indent="-1714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5pPr>
            <a:lvl6pPr marL="24574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6pPr>
            <a:lvl7pPr marL="29146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7pPr>
            <a:lvl8pPr marL="33718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8pPr>
            <a:lvl9pPr marL="38290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30000"/>
              </a:spcBef>
              <a:buFontTx/>
              <a:buChar char="•"/>
            </a:pPr>
            <a:r>
              <a:rPr lang="en-US" altLang="zh-CN" dirty="0">
                <a:solidFill>
                  <a:srgbClr val="FF0000"/>
                </a:solidFill>
                <a:latin typeface="Arial" panose="020B0604020202020204" pitchFamily="34" charset="0"/>
                <a:cs typeface="Arial" panose="020B0604020202020204" pitchFamily="34" charset="0"/>
              </a:rPr>
              <a:t>Issue ADDD here despite name dependency on F6? </a:t>
            </a:r>
          </a:p>
        </p:txBody>
      </p:sp>
      <p:grpSp>
        <p:nvGrpSpPr>
          <p:cNvPr id="2" name="组合 1"/>
          <p:cNvGrpSpPr/>
          <p:nvPr/>
        </p:nvGrpSpPr>
        <p:grpSpPr>
          <a:xfrm>
            <a:off x="1736726" y="1601489"/>
            <a:ext cx="8774113" cy="4995863"/>
            <a:chOff x="1736726" y="952501"/>
            <a:chExt cx="8774113" cy="4995863"/>
          </a:xfrm>
        </p:grpSpPr>
        <p:graphicFrame>
          <p:nvGraphicFramePr>
            <p:cNvPr id="903171" name="Object 3"/>
            <p:cNvGraphicFramePr>
              <a:graphicFrameLocks/>
            </p:cNvGraphicFramePr>
            <p:nvPr>
              <p:extLst/>
            </p:nvPr>
          </p:nvGraphicFramePr>
          <p:xfrm>
            <a:off x="1736726" y="952501"/>
            <a:ext cx="8774113" cy="4995863"/>
          </p:xfrm>
          <a:graphic>
            <a:graphicData uri="http://schemas.openxmlformats.org/presentationml/2006/ole">
              <mc:AlternateContent xmlns:mc="http://schemas.openxmlformats.org/markup-compatibility/2006">
                <mc:Choice xmlns:v="urn:schemas-microsoft-com:vml" Requires="v">
                  <p:oleObj spid="_x0000_s98349" name="工作表" r:id="rId3" imgW="9696901" imgH="6639166" progId="Excel.Sheet.8">
                    <p:embed/>
                  </p:oleObj>
                </mc:Choice>
                <mc:Fallback>
                  <p:oleObj name="工作表" r:id="rId3" imgW="9696901" imgH="6639166" progId="Excel.Sheet.8">
                    <p:embed/>
                    <p:pic>
                      <p:nvPicPr>
                        <p:cNvPr id="903171"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6" y="952501"/>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03173" name="AutoShape 5"/>
            <p:cNvSpPr>
              <a:spLocks noChangeArrowheads="1"/>
            </p:cNvSpPr>
            <p:nvPr/>
          </p:nvSpPr>
          <p:spPr bwMode="auto">
            <a:xfrm>
              <a:off x="4495800" y="2590800"/>
              <a:ext cx="533400" cy="3048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3174" name="AutoShape 6"/>
            <p:cNvSpPr>
              <a:spLocks noChangeArrowheads="1"/>
            </p:cNvSpPr>
            <p:nvPr/>
          </p:nvSpPr>
          <p:spPr bwMode="auto">
            <a:xfrm>
              <a:off x="3962400" y="3657600"/>
              <a:ext cx="3962400" cy="3048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64901489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03172"/>
                                        </p:tgtEl>
                                        <p:attrNameLst>
                                          <p:attrName>style.visibility</p:attrName>
                                        </p:attrNameLst>
                                      </p:cBhvr>
                                      <p:to>
                                        <p:strVal val="visible"/>
                                      </p:to>
                                    </p:set>
                                    <p:anim calcmode="lin" valueType="num">
                                      <p:cBhvr additive="base">
                                        <p:cTn id="7" dur="500" fill="hold"/>
                                        <p:tgtEl>
                                          <p:spTgt spid="903172"/>
                                        </p:tgtEl>
                                        <p:attrNameLst>
                                          <p:attrName>ppt_x</p:attrName>
                                        </p:attrNameLst>
                                      </p:cBhvr>
                                      <p:tavLst>
                                        <p:tav tm="0">
                                          <p:val>
                                            <p:strVal val="1+#ppt_w/2"/>
                                          </p:val>
                                        </p:tav>
                                        <p:tav tm="100000">
                                          <p:val>
                                            <p:strVal val="#ppt_x"/>
                                          </p:val>
                                        </p:tav>
                                      </p:tavLst>
                                    </p:anim>
                                    <p:anim calcmode="lin" valueType="num">
                                      <p:cBhvr additive="base">
                                        <p:cTn id="8" dur="500" fill="hold"/>
                                        <p:tgtEl>
                                          <p:spTgt spid="9031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3172"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194" name="Rectangle 2"/>
          <p:cNvSpPr>
            <a:spLocks noGrp="1" noChangeArrowheads="1"/>
          </p:cNvSpPr>
          <p:nvPr>
            <p:ph type="title"/>
          </p:nvPr>
        </p:nvSpPr>
        <p:spPr>
          <a:xfrm>
            <a:off x="2590800" y="7620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a:t>Tomasulo Example Cycle 7</a:t>
            </a:r>
          </a:p>
        </p:txBody>
      </p:sp>
      <p:sp>
        <p:nvSpPr>
          <p:cNvPr id="904196" name="Rectangle 4"/>
          <p:cNvSpPr>
            <a:spLocks noChangeArrowheads="1"/>
          </p:cNvSpPr>
          <p:nvPr/>
        </p:nvSpPr>
        <p:spPr bwMode="auto">
          <a:xfrm>
            <a:off x="7896200" y="3105005"/>
            <a:ext cx="4176464" cy="520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1pPr>
            <a:lvl2pPr marL="685800" indent="-22860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2pPr>
            <a:lvl3pPr marL="1143000" indent="-22860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3pPr>
            <a:lvl4pPr marL="1543050" indent="-1714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4pPr>
            <a:lvl5pPr marL="2000250" indent="-1714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5pPr>
            <a:lvl6pPr marL="24574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6pPr>
            <a:lvl7pPr marL="29146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7pPr>
            <a:lvl8pPr marL="33718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8pPr>
            <a:lvl9pPr marL="38290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30000"/>
              </a:spcBef>
              <a:buFontTx/>
              <a:buChar char="•"/>
            </a:pPr>
            <a:r>
              <a:rPr lang="en-US" altLang="zh-CN" dirty="0">
                <a:solidFill>
                  <a:srgbClr val="FF0000"/>
                </a:solidFill>
                <a:latin typeface="Arial" panose="020B0604020202020204" pitchFamily="34" charset="0"/>
                <a:cs typeface="Arial" panose="020B0604020202020204" pitchFamily="34" charset="0"/>
              </a:rPr>
              <a:t>Add1 (SUBD) completing; </a:t>
            </a:r>
            <a:r>
              <a:rPr lang="en-US" altLang="zh-CN" dirty="0" smtClean="0">
                <a:solidFill>
                  <a:srgbClr val="FF0000"/>
                </a:solidFill>
                <a:latin typeface="Arial" panose="020B0604020202020204" pitchFamily="34" charset="0"/>
                <a:cs typeface="Arial" panose="020B0604020202020204" pitchFamily="34" charset="0"/>
              </a:rPr>
              <a:t/>
            </a:r>
            <a:br>
              <a:rPr lang="en-US" altLang="zh-CN" dirty="0" smtClean="0">
                <a:solidFill>
                  <a:srgbClr val="FF0000"/>
                </a:solidFill>
                <a:latin typeface="Arial" panose="020B0604020202020204" pitchFamily="34" charset="0"/>
                <a:cs typeface="Arial" panose="020B0604020202020204" pitchFamily="34" charset="0"/>
              </a:rPr>
            </a:br>
            <a:r>
              <a:rPr lang="en-US" altLang="zh-CN" dirty="0" smtClean="0">
                <a:solidFill>
                  <a:srgbClr val="FF0000"/>
                </a:solidFill>
                <a:latin typeface="Arial" panose="020B0604020202020204" pitchFamily="34" charset="0"/>
                <a:cs typeface="Arial" panose="020B0604020202020204" pitchFamily="34" charset="0"/>
              </a:rPr>
              <a:t>what </a:t>
            </a:r>
            <a:r>
              <a:rPr lang="en-US" altLang="zh-CN" dirty="0">
                <a:solidFill>
                  <a:srgbClr val="FF0000"/>
                </a:solidFill>
                <a:latin typeface="Arial" panose="020B0604020202020204" pitchFamily="34" charset="0"/>
                <a:cs typeface="Arial" panose="020B0604020202020204" pitchFamily="34" charset="0"/>
              </a:rPr>
              <a:t>is waiting for it? </a:t>
            </a:r>
          </a:p>
        </p:txBody>
      </p:sp>
      <p:grpSp>
        <p:nvGrpSpPr>
          <p:cNvPr id="2" name="组合 1"/>
          <p:cNvGrpSpPr/>
          <p:nvPr/>
        </p:nvGrpSpPr>
        <p:grpSpPr>
          <a:xfrm>
            <a:off x="1736726" y="1601489"/>
            <a:ext cx="8774113" cy="4995863"/>
            <a:chOff x="1736726" y="952501"/>
            <a:chExt cx="8774113" cy="4995863"/>
          </a:xfrm>
        </p:grpSpPr>
        <p:graphicFrame>
          <p:nvGraphicFramePr>
            <p:cNvPr id="904195" name="Object 3"/>
            <p:cNvGraphicFramePr>
              <a:graphicFrameLocks/>
            </p:cNvGraphicFramePr>
            <p:nvPr>
              <p:extLst/>
            </p:nvPr>
          </p:nvGraphicFramePr>
          <p:xfrm>
            <a:off x="1736726" y="952501"/>
            <a:ext cx="8774113" cy="4995863"/>
          </p:xfrm>
          <a:graphic>
            <a:graphicData uri="http://schemas.openxmlformats.org/presentationml/2006/ole">
              <mc:AlternateContent xmlns:mc="http://schemas.openxmlformats.org/markup-compatibility/2006">
                <mc:Choice xmlns:v="urn:schemas-microsoft-com:vml" Requires="v">
                  <p:oleObj spid="_x0000_s99373" name="工作表" r:id="rId3" imgW="9696901" imgH="6639166" progId="Excel.Sheet.8">
                    <p:embed/>
                  </p:oleObj>
                </mc:Choice>
                <mc:Fallback>
                  <p:oleObj name="工作表" r:id="rId3" imgW="9696901" imgH="6639166" progId="Excel.Sheet.8">
                    <p:embed/>
                    <p:pic>
                      <p:nvPicPr>
                        <p:cNvPr id="904195"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6" y="952501"/>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04198" name="AutoShape 6"/>
            <p:cNvSpPr>
              <a:spLocks noChangeArrowheads="1"/>
            </p:cNvSpPr>
            <p:nvPr/>
          </p:nvSpPr>
          <p:spPr bwMode="auto">
            <a:xfrm>
              <a:off x="5334000" y="2133600"/>
              <a:ext cx="533400" cy="3048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121649070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04196"/>
                                        </p:tgtEl>
                                        <p:attrNameLst>
                                          <p:attrName>style.visibility</p:attrName>
                                        </p:attrNameLst>
                                      </p:cBhvr>
                                      <p:to>
                                        <p:strVal val="visible"/>
                                      </p:to>
                                    </p:set>
                                    <p:anim calcmode="lin" valueType="num">
                                      <p:cBhvr additive="base">
                                        <p:cTn id="7" dur="500" fill="hold"/>
                                        <p:tgtEl>
                                          <p:spTgt spid="904196"/>
                                        </p:tgtEl>
                                        <p:attrNameLst>
                                          <p:attrName>ppt_x</p:attrName>
                                        </p:attrNameLst>
                                      </p:cBhvr>
                                      <p:tavLst>
                                        <p:tav tm="0">
                                          <p:val>
                                            <p:strVal val="1+#ppt_w/2"/>
                                          </p:val>
                                        </p:tav>
                                        <p:tav tm="100000">
                                          <p:val>
                                            <p:strVal val="#ppt_x"/>
                                          </p:val>
                                        </p:tav>
                                      </p:tavLst>
                                    </p:anim>
                                    <p:anim calcmode="lin" valueType="num">
                                      <p:cBhvr additive="base">
                                        <p:cTn id="8" dur="500" fill="hold"/>
                                        <p:tgtEl>
                                          <p:spTgt spid="9041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4196"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218" name="Rectangle 2"/>
          <p:cNvSpPr>
            <a:spLocks noGrp="1" noChangeArrowheads="1"/>
          </p:cNvSpPr>
          <p:nvPr>
            <p:ph type="title"/>
          </p:nvPr>
        </p:nvSpPr>
        <p:spPr>
          <a:xfrm>
            <a:off x="2590800" y="7620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a:t>Tomasulo Example Cycle 8</a:t>
            </a:r>
          </a:p>
        </p:txBody>
      </p:sp>
      <p:grpSp>
        <p:nvGrpSpPr>
          <p:cNvPr id="2" name="组合 1"/>
          <p:cNvGrpSpPr/>
          <p:nvPr/>
        </p:nvGrpSpPr>
        <p:grpSpPr>
          <a:xfrm>
            <a:off x="1736726" y="1601489"/>
            <a:ext cx="8774113" cy="4995863"/>
            <a:chOff x="1736726" y="952501"/>
            <a:chExt cx="8774113" cy="4995863"/>
          </a:xfrm>
        </p:grpSpPr>
        <p:graphicFrame>
          <p:nvGraphicFramePr>
            <p:cNvPr id="905219" name="Object 3"/>
            <p:cNvGraphicFramePr>
              <a:graphicFrameLocks/>
            </p:cNvGraphicFramePr>
            <p:nvPr>
              <p:extLst/>
            </p:nvPr>
          </p:nvGraphicFramePr>
          <p:xfrm>
            <a:off x="1736726" y="952501"/>
            <a:ext cx="8774113" cy="4995863"/>
          </p:xfrm>
          <a:graphic>
            <a:graphicData uri="http://schemas.openxmlformats.org/presentationml/2006/ole">
              <mc:AlternateContent xmlns:mc="http://schemas.openxmlformats.org/markup-compatibility/2006">
                <mc:Choice xmlns:v="urn:schemas-microsoft-com:vml" Requires="v">
                  <p:oleObj spid="_x0000_s100397" name="工作表" r:id="rId3" imgW="9696901" imgH="6639166" progId="Excel.Sheet.8">
                    <p:embed/>
                  </p:oleObj>
                </mc:Choice>
                <mc:Fallback>
                  <p:oleObj name="工作表" r:id="rId3" imgW="9696901" imgH="6639166" progId="Excel.Sheet.8">
                    <p:embed/>
                    <p:pic>
                      <p:nvPicPr>
                        <p:cNvPr id="905219"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6" y="952501"/>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05220" name="AutoShape 4"/>
            <p:cNvSpPr>
              <a:spLocks noChangeArrowheads="1"/>
            </p:cNvSpPr>
            <p:nvPr/>
          </p:nvSpPr>
          <p:spPr bwMode="auto">
            <a:xfrm>
              <a:off x="5257800" y="3657600"/>
              <a:ext cx="685800" cy="3048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5221" name="AutoShape 5"/>
            <p:cNvSpPr>
              <a:spLocks noChangeArrowheads="1"/>
            </p:cNvSpPr>
            <p:nvPr/>
          </p:nvSpPr>
          <p:spPr bwMode="auto">
            <a:xfrm>
              <a:off x="7162800" y="5257800"/>
              <a:ext cx="685800" cy="3048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067777114"/>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242" name="Rectangle 2"/>
          <p:cNvSpPr>
            <a:spLocks noGrp="1" noChangeArrowheads="1"/>
          </p:cNvSpPr>
          <p:nvPr>
            <p:ph type="title"/>
          </p:nvPr>
        </p:nvSpPr>
        <p:spPr>
          <a:xfrm>
            <a:off x="2590800" y="7620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a:t>Tomasulo Example Cycle 9</a:t>
            </a:r>
          </a:p>
        </p:txBody>
      </p:sp>
      <p:graphicFrame>
        <p:nvGraphicFramePr>
          <p:cNvPr id="906243" name="Object 3"/>
          <p:cNvGraphicFramePr>
            <a:graphicFrameLocks/>
          </p:cNvGraphicFramePr>
          <p:nvPr>
            <p:extLst/>
          </p:nvPr>
        </p:nvGraphicFramePr>
        <p:xfrm>
          <a:off x="1736726" y="1601489"/>
          <a:ext cx="8774113" cy="4995863"/>
        </p:xfrm>
        <a:graphic>
          <a:graphicData uri="http://schemas.openxmlformats.org/presentationml/2006/ole">
            <mc:AlternateContent xmlns:mc="http://schemas.openxmlformats.org/markup-compatibility/2006">
              <mc:Choice xmlns:v="urn:schemas-microsoft-com:vml" Requires="v">
                <p:oleObj spid="_x0000_s101421" name="工作表" r:id="rId3" imgW="9696901" imgH="6639166" progId="Excel.Sheet.8">
                  <p:embed/>
                </p:oleObj>
              </mc:Choice>
              <mc:Fallback>
                <p:oleObj name="工作表" r:id="rId3" imgW="9696901" imgH="6639166" progId="Excel.Sheet.8">
                  <p:embed/>
                  <p:pic>
                    <p:nvPicPr>
                      <p:cNvPr id="906243"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6" y="1601489"/>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504638297"/>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66" name="Rectangle 2"/>
          <p:cNvSpPr>
            <a:spLocks noGrp="1" noChangeArrowheads="1"/>
          </p:cNvSpPr>
          <p:nvPr>
            <p:ph type="title"/>
          </p:nvPr>
        </p:nvSpPr>
        <p:spPr>
          <a:xfrm>
            <a:off x="1847528" y="260648"/>
            <a:ext cx="7906072"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err="1"/>
              <a:t>Tomasulo</a:t>
            </a:r>
            <a:r>
              <a:rPr lang="en-US" altLang="zh-CN" dirty="0"/>
              <a:t> Example Cycle 10</a:t>
            </a:r>
          </a:p>
        </p:txBody>
      </p:sp>
      <p:graphicFrame>
        <p:nvGraphicFramePr>
          <p:cNvPr id="907267" name="Object 3"/>
          <p:cNvGraphicFramePr>
            <a:graphicFrameLocks/>
          </p:cNvGraphicFramePr>
          <p:nvPr>
            <p:extLst/>
          </p:nvPr>
        </p:nvGraphicFramePr>
        <p:xfrm>
          <a:off x="1736726" y="1601489"/>
          <a:ext cx="8774113" cy="4995863"/>
        </p:xfrm>
        <a:graphic>
          <a:graphicData uri="http://schemas.openxmlformats.org/presentationml/2006/ole">
            <mc:AlternateContent xmlns:mc="http://schemas.openxmlformats.org/markup-compatibility/2006">
              <mc:Choice xmlns:v="urn:schemas-microsoft-com:vml" Requires="v">
                <p:oleObj spid="_x0000_s102445" name="工作表" r:id="rId3" imgW="9696901" imgH="6639166" progId="Excel.Sheet.8">
                  <p:embed/>
                </p:oleObj>
              </mc:Choice>
              <mc:Fallback>
                <p:oleObj name="工作表" r:id="rId3" imgW="9696901" imgH="6639166" progId="Excel.Sheet.8">
                  <p:embed/>
                  <p:pic>
                    <p:nvPicPr>
                      <p:cNvPr id="907267"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6" y="1601489"/>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07268" name="Rectangle 4"/>
          <p:cNvSpPr>
            <a:spLocks noChangeArrowheads="1"/>
          </p:cNvSpPr>
          <p:nvPr/>
        </p:nvSpPr>
        <p:spPr bwMode="auto">
          <a:xfrm>
            <a:off x="8040216" y="2949010"/>
            <a:ext cx="4339208" cy="520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1pPr>
            <a:lvl2pPr marL="685800" indent="-22860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2pPr>
            <a:lvl3pPr marL="1143000" indent="-22860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3pPr>
            <a:lvl4pPr marL="1543050" indent="-1714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4pPr>
            <a:lvl5pPr marL="2000250" indent="-1714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5pPr>
            <a:lvl6pPr marL="24574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6pPr>
            <a:lvl7pPr marL="29146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7pPr>
            <a:lvl8pPr marL="33718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8pPr>
            <a:lvl9pPr marL="38290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30000"/>
              </a:spcBef>
              <a:buFontTx/>
              <a:buChar char="•"/>
            </a:pPr>
            <a:r>
              <a:rPr lang="en-US" altLang="zh-CN" dirty="0">
                <a:solidFill>
                  <a:srgbClr val="FF0000"/>
                </a:solidFill>
                <a:latin typeface="Arial" panose="020B0604020202020204" pitchFamily="34" charset="0"/>
                <a:cs typeface="Arial" panose="020B0604020202020204" pitchFamily="34" charset="0"/>
              </a:rPr>
              <a:t>Add2 (ADDD) completing; what is waiting for it? </a:t>
            </a:r>
          </a:p>
        </p:txBody>
      </p:sp>
    </p:spTree>
    <p:extLst>
      <p:ext uri="{BB962C8B-B14F-4D97-AF65-F5344CB8AC3E}">
        <p14:creationId xmlns:p14="http://schemas.microsoft.com/office/powerpoint/2010/main" val="412325748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07268"/>
                                        </p:tgtEl>
                                        <p:attrNameLst>
                                          <p:attrName>style.visibility</p:attrName>
                                        </p:attrNameLst>
                                      </p:cBhvr>
                                      <p:to>
                                        <p:strVal val="visible"/>
                                      </p:to>
                                    </p:set>
                                    <p:anim calcmode="lin" valueType="num">
                                      <p:cBhvr additive="base">
                                        <p:cTn id="7" dur="500" fill="hold"/>
                                        <p:tgtEl>
                                          <p:spTgt spid="907268"/>
                                        </p:tgtEl>
                                        <p:attrNameLst>
                                          <p:attrName>ppt_x</p:attrName>
                                        </p:attrNameLst>
                                      </p:cBhvr>
                                      <p:tavLst>
                                        <p:tav tm="0">
                                          <p:val>
                                            <p:strVal val="1+#ppt_w/2"/>
                                          </p:val>
                                        </p:tav>
                                        <p:tav tm="100000">
                                          <p:val>
                                            <p:strVal val="#ppt_x"/>
                                          </p:val>
                                        </p:tav>
                                      </p:tavLst>
                                    </p:anim>
                                    <p:anim calcmode="lin" valueType="num">
                                      <p:cBhvr additive="base">
                                        <p:cTn id="8" dur="500" fill="hold"/>
                                        <p:tgtEl>
                                          <p:spTgt spid="9072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7268"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290" name="Rectangle 2"/>
          <p:cNvSpPr>
            <a:spLocks noGrp="1" noChangeArrowheads="1"/>
          </p:cNvSpPr>
          <p:nvPr>
            <p:ph type="title"/>
          </p:nvPr>
        </p:nvSpPr>
        <p:spPr>
          <a:xfrm>
            <a:off x="1559496" y="260648"/>
            <a:ext cx="8194104"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err="1"/>
              <a:t>Tomasulo</a:t>
            </a:r>
            <a:r>
              <a:rPr lang="en-US" altLang="zh-CN" dirty="0"/>
              <a:t> Example Cycle 11</a:t>
            </a:r>
          </a:p>
        </p:txBody>
      </p:sp>
      <p:sp>
        <p:nvSpPr>
          <p:cNvPr id="908292" name="Rectangle 4"/>
          <p:cNvSpPr>
            <a:spLocks noChangeArrowheads="1"/>
          </p:cNvSpPr>
          <p:nvPr/>
        </p:nvSpPr>
        <p:spPr bwMode="auto">
          <a:xfrm>
            <a:off x="7968208" y="3268340"/>
            <a:ext cx="4464496" cy="520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1pPr>
            <a:lvl2pPr marL="685800" indent="-22860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2pPr>
            <a:lvl3pPr marL="1143000" indent="-22860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3pPr>
            <a:lvl4pPr marL="1543050" indent="-1714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4pPr>
            <a:lvl5pPr marL="2000250" indent="-1714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5pPr>
            <a:lvl6pPr marL="24574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6pPr>
            <a:lvl7pPr marL="29146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7pPr>
            <a:lvl8pPr marL="33718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8pPr>
            <a:lvl9pPr marL="38290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30000"/>
              </a:spcBef>
              <a:buFontTx/>
              <a:buChar char="•"/>
            </a:pPr>
            <a:r>
              <a:rPr lang="en-US" altLang="zh-CN" dirty="0">
                <a:solidFill>
                  <a:srgbClr val="FF0000"/>
                </a:solidFill>
                <a:latin typeface="Arial" panose="020B0604020202020204" pitchFamily="34" charset="0"/>
                <a:cs typeface="Arial" panose="020B0604020202020204" pitchFamily="34" charset="0"/>
              </a:rPr>
              <a:t>Write result of ADDD here?</a:t>
            </a:r>
          </a:p>
          <a:p>
            <a:pPr>
              <a:lnSpc>
                <a:spcPct val="90000"/>
              </a:lnSpc>
              <a:spcBef>
                <a:spcPct val="30000"/>
              </a:spcBef>
              <a:buFontTx/>
              <a:buChar char="•"/>
            </a:pPr>
            <a:r>
              <a:rPr lang="en-US" altLang="zh-CN" dirty="0">
                <a:solidFill>
                  <a:srgbClr val="FF0000"/>
                </a:solidFill>
                <a:latin typeface="Arial" panose="020B0604020202020204" pitchFamily="34" charset="0"/>
                <a:cs typeface="Arial" panose="020B0604020202020204" pitchFamily="34" charset="0"/>
              </a:rPr>
              <a:t>All quick instructions complete in this cycle!</a:t>
            </a:r>
          </a:p>
        </p:txBody>
      </p:sp>
      <p:grpSp>
        <p:nvGrpSpPr>
          <p:cNvPr id="2" name="组合 1"/>
          <p:cNvGrpSpPr/>
          <p:nvPr/>
        </p:nvGrpSpPr>
        <p:grpSpPr>
          <a:xfrm>
            <a:off x="1736726" y="1601489"/>
            <a:ext cx="8774113" cy="4995863"/>
            <a:chOff x="1736726" y="952501"/>
            <a:chExt cx="8774113" cy="4995863"/>
          </a:xfrm>
        </p:grpSpPr>
        <p:graphicFrame>
          <p:nvGraphicFramePr>
            <p:cNvPr id="908291" name="Object 3"/>
            <p:cNvGraphicFramePr>
              <a:graphicFrameLocks/>
            </p:cNvGraphicFramePr>
            <p:nvPr>
              <p:extLst/>
            </p:nvPr>
          </p:nvGraphicFramePr>
          <p:xfrm>
            <a:off x="1736726" y="952501"/>
            <a:ext cx="8774113" cy="4995863"/>
          </p:xfrm>
          <a:graphic>
            <a:graphicData uri="http://schemas.openxmlformats.org/presentationml/2006/ole">
              <mc:AlternateContent xmlns:mc="http://schemas.openxmlformats.org/markup-compatibility/2006">
                <mc:Choice xmlns:v="urn:schemas-microsoft-com:vml" Requires="v">
                  <p:oleObj spid="_x0000_s103469" name="工作表" r:id="rId3" imgW="9696901" imgH="6639166" progId="Excel.Sheet.8">
                    <p:embed/>
                  </p:oleObj>
                </mc:Choice>
                <mc:Fallback>
                  <p:oleObj name="工作表" r:id="rId3" imgW="9696901" imgH="6639166" progId="Excel.Sheet.8">
                    <p:embed/>
                    <p:pic>
                      <p:nvPicPr>
                        <p:cNvPr id="908291"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6" y="952501"/>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08293" name="AutoShape 5"/>
            <p:cNvSpPr>
              <a:spLocks noChangeArrowheads="1"/>
            </p:cNvSpPr>
            <p:nvPr/>
          </p:nvSpPr>
          <p:spPr bwMode="auto">
            <a:xfrm>
              <a:off x="6324600" y="5257800"/>
              <a:ext cx="914400" cy="3048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4796561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08292"/>
                                        </p:tgtEl>
                                        <p:attrNameLst>
                                          <p:attrName>style.visibility</p:attrName>
                                        </p:attrNameLst>
                                      </p:cBhvr>
                                      <p:to>
                                        <p:strVal val="visible"/>
                                      </p:to>
                                    </p:set>
                                    <p:anim calcmode="lin" valueType="num">
                                      <p:cBhvr additive="base">
                                        <p:cTn id="7" dur="500" fill="hold"/>
                                        <p:tgtEl>
                                          <p:spTgt spid="908292"/>
                                        </p:tgtEl>
                                        <p:attrNameLst>
                                          <p:attrName>ppt_x</p:attrName>
                                        </p:attrNameLst>
                                      </p:cBhvr>
                                      <p:tavLst>
                                        <p:tav tm="0">
                                          <p:val>
                                            <p:strVal val="1+#ppt_w/2"/>
                                          </p:val>
                                        </p:tav>
                                        <p:tav tm="100000">
                                          <p:val>
                                            <p:strVal val="#ppt_x"/>
                                          </p:val>
                                        </p:tav>
                                      </p:tavLst>
                                    </p:anim>
                                    <p:anim calcmode="lin" valueType="num">
                                      <p:cBhvr additive="base">
                                        <p:cTn id="8" dur="500" fill="hold"/>
                                        <p:tgtEl>
                                          <p:spTgt spid="90829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8292"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4" name="Rectangle 2"/>
          <p:cNvSpPr>
            <a:spLocks noGrp="1" noChangeArrowheads="1"/>
          </p:cNvSpPr>
          <p:nvPr>
            <p:ph type="title"/>
          </p:nvPr>
        </p:nvSpPr>
        <p:spPr>
          <a:xfrm>
            <a:off x="1847528" y="332656"/>
            <a:ext cx="7906072"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err="1"/>
              <a:t>Tomasulo</a:t>
            </a:r>
            <a:r>
              <a:rPr lang="en-US" altLang="zh-CN" dirty="0"/>
              <a:t> Example Cycle 12</a:t>
            </a:r>
          </a:p>
        </p:txBody>
      </p:sp>
      <p:graphicFrame>
        <p:nvGraphicFramePr>
          <p:cNvPr id="909315" name="Object 3"/>
          <p:cNvGraphicFramePr>
            <a:graphicFrameLocks/>
          </p:cNvGraphicFramePr>
          <p:nvPr>
            <p:extLst/>
          </p:nvPr>
        </p:nvGraphicFramePr>
        <p:xfrm>
          <a:off x="1736726" y="1601489"/>
          <a:ext cx="8774113" cy="4995863"/>
        </p:xfrm>
        <a:graphic>
          <a:graphicData uri="http://schemas.openxmlformats.org/presentationml/2006/ole">
            <mc:AlternateContent xmlns:mc="http://schemas.openxmlformats.org/markup-compatibility/2006">
              <mc:Choice xmlns:v="urn:schemas-microsoft-com:vml" Requires="v">
                <p:oleObj spid="_x0000_s104493" name="工作表" r:id="rId3" imgW="9696901" imgH="6639166" progId="Excel.Sheet.8">
                  <p:embed/>
                </p:oleObj>
              </mc:Choice>
              <mc:Fallback>
                <p:oleObj name="工作表" r:id="rId3" imgW="9696901" imgH="6639166" progId="Excel.Sheet.8">
                  <p:embed/>
                  <p:pic>
                    <p:nvPicPr>
                      <p:cNvPr id="909315"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6" y="1601489"/>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074774734"/>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338" name="Rectangle 2"/>
          <p:cNvSpPr>
            <a:spLocks noGrp="1" noChangeArrowheads="1"/>
          </p:cNvSpPr>
          <p:nvPr>
            <p:ph type="title"/>
          </p:nvPr>
        </p:nvSpPr>
        <p:spPr>
          <a:xfrm>
            <a:off x="2351584" y="260648"/>
            <a:ext cx="7402016"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err="1"/>
              <a:t>Tomasulo</a:t>
            </a:r>
            <a:r>
              <a:rPr lang="en-US" altLang="zh-CN" dirty="0"/>
              <a:t> Example Cycle 13</a:t>
            </a:r>
          </a:p>
        </p:txBody>
      </p:sp>
      <p:graphicFrame>
        <p:nvGraphicFramePr>
          <p:cNvPr id="910339" name="Object 3"/>
          <p:cNvGraphicFramePr>
            <a:graphicFrameLocks/>
          </p:cNvGraphicFramePr>
          <p:nvPr>
            <p:extLst/>
          </p:nvPr>
        </p:nvGraphicFramePr>
        <p:xfrm>
          <a:off x="1736726" y="1601489"/>
          <a:ext cx="8774113" cy="4995863"/>
        </p:xfrm>
        <a:graphic>
          <a:graphicData uri="http://schemas.openxmlformats.org/presentationml/2006/ole">
            <mc:AlternateContent xmlns:mc="http://schemas.openxmlformats.org/markup-compatibility/2006">
              <mc:Choice xmlns:v="urn:schemas-microsoft-com:vml" Requires="v">
                <p:oleObj spid="_x0000_s105517" name="工作表" r:id="rId3" imgW="9696901" imgH="6639166" progId="Excel.Sheet.8">
                  <p:embed/>
                </p:oleObj>
              </mc:Choice>
              <mc:Fallback>
                <p:oleObj name="工作表" r:id="rId3" imgW="9696901" imgH="6639166" progId="Excel.Sheet.8">
                  <p:embed/>
                  <p:pic>
                    <p:nvPicPr>
                      <p:cNvPr id="910339"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6" y="1601489"/>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98591434"/>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62" name="Rectangle 2"/>
          <p:cNvSpPr>
            <a:spLocks noGrp="1" noChangeArrowheads="1"/>
          </p:cNvSpPr>
          <p:nvPr>
            <p:ph type="title"/>
          </p:nvPr>
        </p:nvSpPr>
        <p:spPr>
          <a:xfrm>
            <a:off x="2207568" y="269776"/>
            <a:ext cx="7546032"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err="1"/>
              <a:t>Tomasulo</a:t>
            </a:r>
            <a:r>
              <a:rPr lang="en-US" altLang="zh-CN" dirty="0"/>
              <a:t> Example Cycle 14</a:t>
            </a:r>
          </a:p>
        </p:txBody>
      </p:sp>
      <p:graphicFrame>
        <p:nvGraphicFramePr>
          <p:cNvPr id="911363" name="Object 3"/>
          <p:cNvGraphicFramePr>
            <a:graphicFrameLocks/>
          </p:cNvGraphicFramePr>
          <p:nvPr>
            <p:extLst/>
          </p:nvPr>
        </p:nvGraphicFramePr>
        <p:xfrm>
          <a:off x="1736726" y="1601489"/>
          <a:ext cx="8774113" cy="4995863"/>
        </p:xfrm>
        <a:graphic>
          <a:graphicData uri="http://schemas.openxmlformats.org/presentationml/2006/ole">
            <mc:AlternateContent xmlns:mc="http://schemas.openxmlformats.org/markup-compatibility/2006">
              <mc:Choice xmlns:v="urn:schemas-microsoft-com:vml" Requires="v">
                <p:oleObj spid="_x0000_s106541" name="工作表" r:id="rId3" imgW="9696901" imgH="6639166" progId="Excel.Sheet.8">
                  <p:embed/>
                </p:oleObj>
              </mc:Choice>
              <mc:Fallback>
                <p:oleObj name="工作表" r:id="rId3" imgW="9696901" imgH="6639166" progId="Excel.Sheet.8">
                  <p:embed/>
                  <p:pic>
                    <p:nvPicPr>
                      <p:cNvPr id="911363"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6" y="1601489"/>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819307272"/>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2386" name="Rectangle 2"/>
          <p:cNvSpPr>
            <a:spLocks noGrp="1" noChangeArrowheads="1"/>
          </p:cNvSpPr>
          <p:nvPr>
            <p:ph type="title"/>
          </p:nvPr>
        </p:nvSpPr>
        <p:spPr>
          <a:xfrm>
            <a:off x="1991544" y="260648"/>
            <a:ext cx="7762056"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a:t>Tomasulo Example Cycle 15</a:t>
            </a:r>
          </a:p>
        </p:txBody>
      </p:sp>
      <p:graphicFrame>
        <p:nvGraphicFramePr>
          <p:cNvPr id="912387" name="Object 3"/>
          <p:cNvGraphicFramePr>
            <a:graphicFrameLocks/>
          </p:cNvGraphicFramePr>
          <p:nvPr>
            <p:extLst/>
          </p:nvPr>
        </p:nvGraphicFramePr>
        <p:xfrm>
          <a:off x="1736726" y="1601489"/>
          <a:ext cx="8774113" cy="4995863"/>
        </p:xfrm>
        <a:graphic>
          <a:graphicData uri="http://schemas.openxmlformats.org/presentationml/2006/ole">
            <mc:AlternateContent xmlns:mc="http://schemas.openxmlformats.org/markup-compatibility/2006">
              <mc:Choice xmlns:v="urn:schemas-microsoft-com:vml" Requires="v">
                <p:oleObj spid="_x0000_s107565" name="工作表" r:id="rId3" imgW="9696901" imgH="6639166" progId="Excel.Sheet.8">
                  <p:embed/>
                </p:oleObj>
              </mc:Choice>
              <mc:Fallback>
                <p:oleObj name="工作表" r:id="rId3" imgW="9696901" imgH="6639166" progId="Excel.Sheet.8">
                  <p:embed/>
                  <p:pic>
                    <p:nvPicPr>
                      <p:cNvPr id="912387"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6" y="1601489"/>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12388" name="Rectangle 4"/>
          <p:cNvSpPr>
            <a:spLocks noChangeArrowheads="1"/>
          </p:cNvSpPr>
          <p:nvPr/>
        </p:nvSpPr>
        <p:spPr bwMode="auto">
          <a:xfrm>
            <a:off x="7968208" y="2802732"/>
            <a:ext cx="4483224" cy="520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1pPr>
            <a:lvl2pPr marL="685800" indent="-22860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2pPr>
            <a:lvl3pPr marL="1143000" indent="-22860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3pPr>
            <a:lvl4pPr marL="1543050" indent="-1714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4pPr>
            <a:lvl5pPr marL="2000250" indent="-1714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5pPr>
            <a:lvl6pPr marL="24574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6pPr>
            <a:lvl7pPr marL="29146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7pPr>
            <a:lvl8pPr marL="33718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8pPr>
            <a:lvl9pPr marL="38290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30000"/>
              </a:spcBef>
              <a:buFontTx/>
              <a:buChar char="•"/>
            </a:pPr>
            <a:r>
              <a:rPr lang="en-US" altLang="zh-CN" dirty="0">
                <a:solidFill>
                  <a:srgbClr val="FF0000"/>
                </a:solidFill>
                <a:latin typeface="Arial" panose="020B0604020202020204" pitchFamily="34" charset="0"/>
                <a:cs typeface="Arial" panose="020B0604020202020204" pitchFamily="34" charset="0"/>
              </a:rPr>
              <a:t>Mult1 (MULTD) completing; what is waiting for it? </a:t>
            </a:r>
          </a:p>
        </p:txBody>
      </p:sp>
    </p:spTree>
    <p:extLst>
      <p:ext uri="{BB962C8B-B14F-4D97-AF65-F5344CB8AC3E}">
        <p14:creationId xmlns:p14="http://schemas.microsoft.com/office/powerpoint/2010/main" val="241182314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12388"/>
                                        </p:tgtEl>
                                        <p:attrNameLst>
                                          <p:attrName>style.visibility</p:attrName>
                                        </p:attrNameLst>
                                      </p:cBhvr>
                                      <p:to>
                                        <p:strVal val="visible"/>
                                      </p:to>
                                    </p:set>
                                    <p:anim calcmode="lin" valueType="num">
                                      <p:cBhvr additive="base">
                                        <p:cTn id="7" dur="500" fill="hold"/>
                                        <p:tgtEl>
                                          <p:spTgt spid="912388"/>
                                        </p:tgtEl>
                                        <p:attrNameLst>
                                          <p:attrName>ppt_x</p:attrName>
                                        </p:attrNameLst>
                                      </p:cBhvr>
                                      <p:tavLst>
                                        <p:tav tm="0">
                                          <p:val>
                                            <p:strVal val="1+#ppt_w/2"/>
                                          </p:val>
                                        </p:tav>
                                        <p:tav tm="100000">
                                          <p:val>
                                            <p:strVal val="#ppt_x"/>
                                          </p:val>
                                        </p:tav>
                                      </p:tavLst>
                                    </p:anim>
                                    <p:anim calcmode="lin" valueType="num">
                                      <p:cBhvr additive="base">
                                        <p:cTn id="8" dur="500" fill="hold"/>
                                        <p:tgtEl>
                                          <p:spTgt spid="9123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2388"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AU" altLang="zh-CN" dirty="0"/>
              <a:t>Reservation stations and register tags</a:t>
            </a:r>
            <a:endParaRPr lang="en-AU" dirty="0"/>
          </a:p>
        </p:txBody>
      </p:sp>
      <p:sp>
        <p:nvSpPr>
          <p:cNvPr id="4" name="内容占位符 3"/>
          <p:cNvSpPr>
            <a:spLocks noGrp="1"/>
          </p:cNvSpPr>
          <p:nvPr>
            <p:ph idx="1"/>
          </p:nvPr>
        </p:nvSpPr>
        <p:spPr/>
        <p:txBody>
          <a:bodyPr/>
          <a:lstStyle/>
          <a:p>
            <a:r>
              <a:rPr lang="en-US" altLang="zh-CN" dirty="0"/>
              <a:t>Multiply and divide are </a:t>
            </a:r>
            <a:r>
              <a:rPr lang="en-US" altLang="zh-CN" dirty="0" smtClean="0"/>
              <a:t/>
            </a:r>
            <a:br>
              <a:rPr lang="en-US" altLang="zh-CN" dirty="0" smtClean="0"/>
            </a:br>
            <a:r>
              <a:rPr lang="en-US" altLang="zh-CN" dirty="0" smtClean="0"/>
              <a:t>the </a:t>
            </a:r>
            <a:r>
              <a:rPr lang="en-US" altLang="zh-CN" dirty="0"/>
              <a:t>only instructions </a:t>
            </a:r>
            <a:r>
              <a:rPr lang="en-US" altLang="zh-CN" dirty="0" smtClean="0"/>
              <a:t/>
            </a:r>
            <a:br>
              <a:rPr lang="en-US" altLang="zh-CN" dirty="0" smtClean="0"/>
            </a:br>
            <a:r>
              <a:rPr lang="en-US" altLang="zh-CN" dirty="0" smtClean="0"/>
              <a:t>not </a:t>
            </a:r>
            <a:r>
              <a:rPr lang="en-US" altLang="zh-CN" dirty="0"/>
              <a:t>finished</a:t>
            </a:r>
            <a:endParaRPr lang="zh-CN" altLang="en-US" dirty="0"/>
          </a:p>
        </p:txBody>
      </p:sp>
      <p:pic>
        <p:nvPicPr>
          <p:cNvPr id="2" name="图片 1"/>
          <p:cNvPicPr>
            <a:picLocks noChangeAspect="1"/>
          </p:cNvPicPr>
          <p:nvPr/>
        </p:nvPicPr>
        <p:blipFill>
          <a:blip r:embed="rId3"/>
          <a:stretch>
            <a:fillRect/>
          </a:stretch>
        </p:blipFill>
        <p:spPr>
          <a:xfrm>
            <a:off x="5303912" y="1484784"/>
            <a:ext cx="6693924" cy="5335990"/>
          </a:xfrm>
          <a:prstGeom prst="rect">
            <a:avLst/>
          </a:prstGeom>
        </p:spPr>
      </p:pic>
    </p:spTree>
    <p:extLst>
      <p:ext uri="{BB962C8B-B14F-4D97-AF65-F5344CB8AC3E}">
        <p14:creationId xmlns:p14="http://schemas.microsoft.com/office/powerpoint/2010/main" val="398144675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410" name="Rectangle 2"/>
          <p:cNvSpPr>
            <a:spLocks noGrp="1" noChangeArrowheads="1"/>
          </p:cNvSpPr>
          <p:nvPr>
            <p:ph type="title"/>
          </p:nvPr>
        </p:nvSpPr>
        <p:spPr>
          <a:xfrm>
            <a:off x="2134580" y="254582"/>
            <a:ext cx="761804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err="1"/>
              <a:t>Tomasulo</a:t>
            </a:r>
            <a:r>
              <a:rPr lang="en-US" altLang="zh-CN" dirty="0"/>
              <a:t> Example Cycle 16</a:t>
            </a:r>
          </a:p>
        </p:txBody>
      </p:sp>
      <p:grpSp>
        <p:nvGrpSpPr>
          <p:cNvPr id="2" name="组合 1"/>
          <p:cNvGrpSpPr/>
          <p:nvPr/>
        </p:nvGrpSpPr>
        <p:grpSpPr>
          <a:xfrm>
            <a:off x="1736726" y="1673497"/>
            <a:ext cx="8774113" cy="4995863"/>
            <a:chOff x="1736726" y="952501"/>
            <a:chExt cx="8774113" cy="4995863"/>
          </a:xfrm>
        </p:grpSpPr>
        <p:graphicFrame>
          <p:nvGraphicFramePr>
            <p:cNvPr id="913411" name="Object 3"/>
            <p:cNvGraphicFramePr>
              <a:graphicFrameLocks/>
            </p:cNvGraphicFramePr>
            <p:nvPr>
              <p:extLst/>
            </p:nvPr>
          </p:nvGraphicFramePr>
          <p:xfrm>
            <a:off x="1736726" y="952501"/>
            <a:ext cx="8774113" cy="4995863"/>
          </p:xfrm>
          <a:graphic>
            <a:graphicData uri="http://schemas.openxmlformats.org/presentationml/2006/ole">
              <mc:AlternateContent xmlns:mc="http://schemas.openxmlformats.org/markup-compatibility/2006">
                <mc:Choice xmlns:v="urn:schemas-microsoft-com:vml" Requires="v">
                  <p:oleObj spid="_x0000_s108589" name="工作表" r:id="rId3" imgW="9696901" imgH="6639166" progId="Excel.Sheet.8">
                    <p:embed/>
                  </p:oleObj>
                </mc:Choice>
                <mc:Fallback>
                  <p:oleObj name="工作表" r:id="rId3" imgW="9696901" imgH="6639166" progId="Excel.Sheet.8">
                    <p:embed/>
                    <p:pic>
                      <p:nvPicPr>
                        <p:cNvPr id="913411"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6" y="952501"/>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13412" name="AutoShape 4"/>
            <p:cNvSpPr>
              <a:spLocks noChangeArrowheads="1"/>
            </p:cNvSpPr>
            <p:nvPr/>
          </p:nvSpPr>
          <p:spPr bwMode="auto">
            <a:xfrm>
              <a:off x="4572000" y="5257800"/>
              <a:ext cx="685800" cy="3048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3413" name="AutoShape 5"/>
            <p:cNvSpPr>
              <a:spLocks noChangeArrowheads="1"/>
            </p:cNvSpPr>
            <p:nvPr/>
          </p:nvSpPr>
          <p:spPr bwMode="auto">
            <a:xfrm>
              <a:off x="5257800" y="4343400"/>
              <a:ext cx="685800" cy="3048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13414" name="Rectangle 6"/>
          <p:cNvSpPr>
            <a:spLocks noChangeArrowheads="1"/>
          </p:cNvSpPr>
          <p:nvPr/>
        </p:nvSpPr>
        <p:spPr bwMode="auto">
          <a:xfrm>
            <a:off x="7824192" y="3323432"/>
            <a:ext cx="4483224" cy="520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1pPr>
            <a:lvl2pPr marL="685800" indent="-22860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2pPr>
            <a:lvl3pPr marL="1143000" indent="-22860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3pPr>
            <a:lvl4pPr marL="1543050" indent="-1714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4pPr>
            <a:lvl5pPr marL="2000250" indent="-1714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5pPr>
            <a:lvl6pPr marL="24574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6pPr>
            <a:lvl7pPr marL="29146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7pPr>
            <a:lvl8pPr marL="33718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8pPr>
            <a:lvl9pPr marL="38290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30000"/>
              </a:spcBef>
              <a:buFontTx/>
              <a:buChar char="•"/>
            </a:pPr>
            <a:r>
              <a:rPr lang="en-US" altLang="zh-CN" dirty="0">
                <a:solidFill>
                  <a:srgbClr val="FF0000"/>
                </a:solidFill>
                <a:latin typeface="Arial" panose="020B0604020202020204" pitchFamily="34" charset="0"/>
                <a:cs typeface="Arial" panose="020B0604020202020204" pitchFamily="34" charset="0"/>
              </a:rPr>
              <a:t>Just waiting for Mult2 (DIVD) to complete</a:t>
            </a:r>
          </a:p>
        </p:txBody>
      </p:sp>
    </p:spTree>
    <p:extLst>
      <p:ext uri="{BB962C8B-B14F-4D97-AF65-F5344CB8AC3E}">
        <p14:creationId xmlns:p14="http://schemas.microsoft.com/office/powerpoint/2010/main" val="210615680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13414"/>
                                        </p:tgtEl>
                                        <p:attrNameLst>
                                          <p:attrName>style.visibility</p:attrName>
                                        </p:attrNameLst>
                                      </p:cBhvr>
                                      <p:to>
                                        <p:strVal val="visible"/>
                                      </p:to>
                                    </p:set>
                                    <p:anim calcmode="lin" valueType="num">
                                      <p:cBhvr additive="base">
                                        <p:cTn id="7" dur="500" fill="hold"/>
                                        <p:tgtEl>
                                          <p:spTgt spid="913414"/>
                                        </p:tgtEl>
                                        <p:attrNameLst>
                                          <p:attrName>ppt_x</p:attrName>
                                        </p:attrNameLst>
                                      </p:cBhvr>
                                      <p:tavLst>
                                        <p:tav tm="0">
                                          <p:val>
                                            <p:strVal val="1+#ppt_w/2"/>
                                          </p:val>
                                        </p:tav>
                                        <p:tav tm="100000">
                                          <p:val>
                                            <p:strVal val="#ppt_x"/>
                                          </p:val>
                                        </p:tav>
                                      </p:tavLst>
                                    </p:anim>
                                    <p:anim calcmode="lin" valueType="num">
                                      <p:cBhvr additive="base">
                                        <p:cTn id="8" dur="500" fill="hold"/>
                                        <p:tgtEl>
                                          <p:spTgt spid="9134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3414"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4434" name="Rectangle 2"/>
          <p:cNvSpPr>
            <a:spLocks noGrp="1" noChangeArrowheads="1"/>
          </p:cNvSpPr>
          <p:nvPr>
            <p:ph type="title"/>
          </p:nvPr>
        </p:nvSpPr>
        <p:spPr>
          <a:xfrm>
            <a:off x="2362200" y="1981200"/>
            <a:ext cx="7162800" cy="1143000"/>
          </a:xfrm>
        </p:spPr>
        <p:txBody>
          <a:bodyPr/>
          <a:lstStyle/>
          <a:p>
            <a:r>
              <a:rPr lang="en-US" altLang="zh-CN"/>
              <a:t>Faster than light computation</a:t>
            </a:r>
            <a:br>
              <a:rPr lang="en-US" altLang="zh-CN"/>
            </a:br>
            <a:r>
              <a:rPr lang="en-US" altLang="zh-CN"/>
              <a:t>(skip a couple of cycles)</a:t>
            </a:r>
          </a:p>
        </p:txBody>
      </p:sp>
    </p:spTree>
    <p:extLst>
      <p:ext uri="{BB962C8B-B14F-4D97-AF65-F5344CB8AC3E}">
        <p14:creationId xmlns:p14="http://schemas.microsoft.com/office/powerpoint/2010/main" val="35201665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5458" name="Rectangle 2"/>
          <p:cNvSpPr>
            <a:spLocks noGrp="1" noChangeArrowheads="1"/>
          </p:cNvSpPr>
          <p:nvPr>
            <p:ph type="title"/>
          </p:nvPr>
        </p:nvSpPr>
        <p:spPr>
          <a:xfrm>
            <a:off x="1991544" y="260648"/>
            <a:ext cx="7762056"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err="1"/>
              <a:t>Tomasulo</a:t>
            </a:r>
            <a:r>
              <a:rPr lang="en-US" altLang="zh-CN" dirty="0"/>
              <a:t> Example Cycle 55</a:t>
            </a:r>
          </a:p>
        </p:txBody>
      </p:sp>
      <p:graphicFrame>
        <p:nvGraphicFramePr>
          <p:cNvPr id="915459" name="Object 3"/>
          <p:cNvGraphicFramePr>
            <a:graphicFrameLocks/>
          </p:cNvGraphicFramePr>
          <p:nvPr>
            <p:extLst/>
          </p:nvPr>
        </p:nvGraphicFramePr>
        <p:xfrm>
          <a:off x="1736726" y="1673497"/>
          <a:ext cx="8774113" cy="4995863"/>
        </p:xfrm>
        <a:graphic>
          <a:graphicData uri="http://schemas.openxmlformats.org/presentationml/2006/ole">
            <mc:AlternateContent xmlns:mc="http://schemas.openxmlformats.org/markup-compatibility/2006">
              <mc:Choice xmlns:v="urn:schemas-microsoft-com:vml" Requires="v">
                <p:oleObj spid="_x0000_s109613" name="工作表" r:id="rId3" imgW="9696901" imgH="6639166" progId="Excel.Sheet.8">
                  <p:embed/>
                </p:oleObj>
              </mc:Choice>
              <mc:Fallback>
                <p:oleObj name="工作表" r:id="rId3" imgW="9696901" imgH="6639166" progId="Excel.Sheet.8">
                  <p:embed/>
                  <p:pic>
                    <p:nvPicPr>
                      <p:cNvPr id="915459"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6" y="1673497"/>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165259949"/>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6482" name="Rectangle 2"/>
          <p:cNvSpPr>
            <a:spLocks noGrp="1" noChangeArrowheads="1"/>
          </p:cNvSpPr>
          <p:nvPr>
            <p:ph type="title"/>
          </p:nvPr>
        </p:nvSpPr>
        <p:spPr>
          <a:xfrm>
            <a:off x="2590800" y="7620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a:t>Tomasulo Example Cycle 56</a:t>
            </a:r>
          </a:p>
        </p:txBody>
      </p:sp>
      <p:graphicFrame>
        <p:nvGraphicFramePr>
          <p:cNvPr id="916483" name="Object 3"/>
          <p:cNvGraphicFramePr>
            <a:graphicFrameLocks/>
          </p:cNvGraphicFramePr>
          <p:nvPr>
            <p:extLst/>
          </p:nvPr>
        </p:nvGraphicFramePr>
        <p:xfrm>
          <a:off x="1736726" y="1601489"/>
          <a:ext cx="8774113" cy="4995863"/>
        </p:xfrm>
        <a:graphic>
          <a:graphicData uri="http://schemas.openxmlformats.org/presentationml/2006/ole">
            <mc:AlternateContent xmlns:mc="http://schemas.openxmlformats.org/markup-compatibility/2006">
              <mc:Choice xmlns:v="urn:schemas-microsoft-com:vml" Requires="v">
                <p:oleObj spid="_x0000_s110637" name="工作表" r:id="rId3" imgW="9696901" imgH="6639166" progId="Excel.Sheet.8">
                  <p:embed/>
                </p:oleObj>
              </mc:Choice>
              <mc:Fallback>
                <p:oleObj name="工作表" r:id="rId3" imgW="9696901" imgH="6639166" progId="Excel.Sheet.8">
                  <p:embed/>
                  <p:pic>
                    <p:nvPicPr>
                      <p:cNvPr id="916483"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6" y="1601489"/>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16484" name="Rectangle 4"/>
          <p:cNvSpPr>
            <a:spLocks noChangeArrowheads="1"/>
          </p:cNvSpPr>
          <p:nvPr/>
        </p:nvSpPr>
        <p:spPr bwMode="auto">
          <a:xfrm>
            <a:off x="7968208" y="3284984"/>
            <a:ext cx="4411216" cy="520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1pPr>
            <a:lvl2pPr marL="685800" indent="-22860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2pPr>
            <a:lvl3pPr marL="1143000" indent="-22860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3pPr>
            <a:lvl4pPr marL="1543050" indent="-1714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4pPr>
            <a:lvl5pPr marL="2000250" indent="-1714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5pPr>
            <a:lvl6pPr marL="24574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6pPr>
            <a:lvl7pPr marL="29146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7pPr>
            <a:lvl8pPr marL="33718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8pPr>
            <a:lvl9pPr marL="38290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30000"/>
              </a:spcBef>
              <a:buFontTx/>
              <a:buChar char="•"/>
            </a:pPr>
            <a:r>
              <a:rPr lang="en-US" altLang="zh-CN" dirty="0">
                <a:solidFill>
                  <a:srgbClr val="FF0000"/>
                </a:solidFill>
                <a:latin typeface="Arial" panose="020B0604020202020204" pitchFamily="34" charset="0"/>
                <a:cs typeface="Arial" panose="020B0604020202020204" pitchFamily="34" charset="0"/>
              </a:rPr>
              <a:t>Mult2 (DIVD) is completing; what is waiting for it? </a:t>
            </a:r>
          </a:p>
        </p:txBody>
      </p:sp>
    </p:spTree>
    <p:extLst>
      <p:ext uri="{BB962C8B-B14F-4D97-AF65-F5344CB8AC3E}">
        <p14:creationId xmlns:p14="http://schemas.microsoft.com/office/powerpoint/2010/main" val="328359470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16484"/>
                                        </p:tgtEl>
                                        <p:attrNameLst>
                                          <p:attrName>style.visibility</p:attrName>
                                        </p:attrNameLst>
                                      </p:cBhvr>
                                      <p:to>
                                        <p:strVal val="visible"/>
                                      </p:to>
                                    </p:set>
                                    <p:anim calcmode="lin" valueType="num">
                                      <p:cBhvr additive="base">
                                        <p:cTn id="7" dur="500" fill="hold"/>
                                        <p:tgtEl>
                                          <p:spTgt spid="916484"/>
                                        </p:tgtEl>
                                        <p:attrNameLst>
                                          <p:attrName>ppt_x</p:attrName>
                                        </p:attrNameLst>
                                      </p:cBhvr>
                                      <p:tavLst>
                                        <p:tav tm="0">
                                          <p:val>
                                            <p:strVal val="1+#ppt_w/2"/>
                                          </p:val>
                                        </p:tav>
                                        <p:tav tm="100000">
                                          <p:val>
                                            <p:strVal val="#ppt_x"/>
                                          </p:val>
                                        </p:tav>
                                      </p:tavLst>
                                    </p:anim>
                                    <p:anim calcmode="lin" valueType="num">
                                      <p:cBhvr additive="base">
                                        <p:cTn id="8" dur="500" fill="hold"/>
                                        <p:tgtEl>
                                          <p:spTgt spid="9164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6484"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506" name="Rectangle 2"/>
          <p:cNvSpPr>
            <a:spLocks noGrp="1" noChangeArrowheads="1"/>
          </p:cNvSpPr>
          <p:nvPr>
            <p:ph type="title"/>
          </p:nvPr>
        </p:nvSpPr>
        <p:spPr>
          <a:xfrm>
            <a:off x="1991544" y="287040"/>
            <a:ext cx="7762056"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err="1"/>
              <a:t>Tomasulo</a:t>
            </a:r>
            <a:r>
              <a:rPr lang="en-US" altLang="zh-CN" dirty="0"/>
              <a:t> Example Cycle 57</a:t>
            </a:r>
          </a:p>
        </p:txBody>
      </p:sp>
      <p:sp>
        <p:nvSpPr>
          <p:cNvPr id="917508" name="Rectangle 4"/>
          <p:cNvSpPr>
            <a:spLocks noChangeArrowheads="1"/>
          </p:cNvSpPr>
          <p:nvPr/>
        </p:nvSpPr>
        <p:spPr bwMode="auto">
          <a:xfrm>
            <a:off x="7896200" y="3357225"/>
            <a:ext cx="4339208" cy="520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1pPr>
            <a:lvl2pPr marL="685800" indent="-22860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2pPr>
            <a:lvl3pPr marL="1143000" indent="-22860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3pPr>
            <a:lvl4pPr marL="1543050" indent="-1714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4pPr>
            <a:lvl5pPr marL="2000250" indent="-1714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5pPr>
            <a:lvl6pPr marL="24574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6pPr>
            <a:lvl7pPr marL="29146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7pPr>
            <a:lvl8pPr marL="33718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8pPr>
            <a:lvl9pPr marL="38290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30000"/>
              </a:spcBef>
              <a:buFontTx/>
              <a:buChar char="•"/>
            </a:pPr>
            <a:r>
              <a:rPr lang="en-US" altLang="zh-CN" dirty="0">
                <a:solidFill>
                  <a:srgbClr val="FF0000"/>
                </a:solidFill>
                <a:latin typeface="Arial" panose="020B0604020202020204" pitchFamily="34" charset="0"/>
                <a:cs typeface="Arial" panose="020B0604020202020204" pitchFamily="34" charset="0"/>
              </a:rPr>
              <a:t>Once again: In-order issue, out-of-order execution and out-of-order completion.</a:t>
            </a:r>
          </a:p>
        </p:txBody>
      </p:sp>
      <p:grpSp>
        <p:nvGrpSpPr>
          <p:cNvPr id="2" name="组合 1"/>
          <p:cNvGrpSpPr/>
          <p:nvPr/>
        </p:nvGrpSpPr>
        <p:grpSpPr>
          <a:xfrm>
            <a:off x="1736726" y="1601489"/>
            <a:ext cx="8774113" cy="4995863"/>
            <a:chOff x="1736726" y="952501"/>
            <a:chExt cx="8774113" cy="4995863"/>
          </a:xfrm>
        </p:grpSpPr>
        <p:graphicFrame>
          <p:nvGraphicFramePr>
            <p:cNvPr id="917507" name="Object 3"/>
            <p:cNvGraphicFramePr>
              <a:graphicFrameLocks/>
            </p:cNvGraphicFramePr>
            <p:nvPr>
              <p:extLst/>
            </p:nvPr>
          </p:nvGraphicFramePr>
          <p:xfrm>
            <a:off x="1736726" y="952501"/>
            <a:ext cx="8774113" cy="4995863"/>
          </p:xfrm>
          <a:graphic>
            <a:graphicData uri="http://schemas.openxmlformats.org/presentationml/2006/ole">
              <mc:AlternateContent xmlns:mc="http://schemas.openxmlformats.org/markup-compatibility/2006">
                <mc:Choice xmlns:v="urn:schemas-microsoft-com:vml" Requires="v">
                  <p:oleObj spid="_x0000_s111661" name="工作表" r:id="rId3" imgW="9696901" imgH="6639166" progId="Excel.Sheet.8">
                    <p:embed/>
                  </p:oleObj>
                </mc:Choice>
                <mc:Fallback>
                  <p:oleObj name="工作表" r:id="rId3" imgW="9696901" imgH="6639166" progId="Excel.Sheet.8">
                    <p:embed/>
                    <p:pic>
                      <p:nvPicPr>
                        <p:cNvPr id="917507"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6" y="952501"/>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17510" name="AutoShape 6"/>
            <p:cNvSpPr>
              <a:spLocks noChangeArrowheads="1"/>
            </p:cNvSpPr>
            <p:nvPr/>
          </p:nvSpPr>
          <p:spPr bwMode="auto">
            <a:xfrm>
              <a:off x="4648200" y="1295400"/>
              <a:ext cx="457200" cy="16764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7511" name="AutoShape 7"/>
            <p:cNvSpPr>
              <a:spLocks noChangeArrowheads="1"/>
            </p:cNvSpPr>
            <p:nvPr/>
          </p:nvSpPr>
          <p:spPr bwMode="auto">
            <a:xfrm>
              <a:off x="5334000" y="1905000"/>
              <a:ext cx="457200" cy="10668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7512" name="AutoShape 8"/>
            <p:cNvSpPr>
              <a:spLocks noChangeArrowheads="1"/>
            </p:cNvSpPr>
            <p:nvPr/>
          </p:nvSpPr>
          <p:spPr bwMode="auto">
            <a:xfrm>
              <a:off x="5943600" y="1295400"/>
              <a:ext cx="457200" cy="16764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43778158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17508"/>
                                        </p:tgtEl>
                                        <p:attrNameLst>
                                          <p:attrName>style.visibility</p:attrName>
                                        </p:attrNameLst>
                                      </p:cBhvr>
                                      <p:to>
                                        <p:strVal val="visible"/>
                                      </p:to>
                                    </p:set>
                                    <p:anim calcmode="lin" valueType="num">
                                      <p:cBhvr additive="base">
                                        <p:cTn id="7" dur="500" fill="hold"/>
                                        <p:tgtEl>
                                          <p:spTgt spid="917508"/>
                                        </p:tgtEl>
                                        <p:attrNameLst>
                                          <p:attrName>ppt_x</p:attrName>
                                        </p:attrNameLst>
                                      </p:cBhvr>
                                      <p:tavLst>
                                        <p:tav tm="0">
                                          <p:val>
                                            <p:strVal val="1+#ppt_w/2"/>
                                          </p:val>
                                        </p:tav>
                                        <p:tav tm="100000">
                                          <p:val>
                                            <p:strVal val="#ppt_x"/>
                                          </p:val>
                                        </p:tav>
                                      </p:tavLst>
                                    </p:anim>
                                    <p:anim calcmode="lin" valueType="num">
                                      <p:cBhvr additive="base">
                                        <p:cTn id="8" dur="500" fill="hold"/>
                                        <p:tgtEl>
                                          <p:spTgt spid="9175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7508"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0578" name="Rectangle 2"/>
          <p:cNvSpPr>
            <a:spLocks noGrp="1" noChangeArrowheads="1"/>
          </p:cNvSpPr>
          <p:nvPr>
            <p:ph type="title"/>
          </p:nvPr>
        </p:nvSpPr>
        <p:spPr/>
        <p:txBody>
          <a:bodyPr/>
          <a:lstStyle/>
          <a:p>
            <a:r>
              <a:rPr lang="en-US" altLang="zh-CN" smtClean="0"/>
              <a:t>Tomasulo Drawbacks</a:t>
            </a:r>
            <a:endParaRPr lang="en-US" altLang="zh-CN"/>
          </a:p>
        </p:txBody>
      </p:sp>
      <p:sp>
        <p:nvSpPr>
          <p:cNvPr id="920579" name="Rectangle 3"/>
          <p:cNvSpPr>
            <a:spLocks noGrp="1" noChangeArrowheads="1"/>
          </p:cNvSpPr>
          <p:nvPr>
            <p:ph type="body" idx="1"/>
          </p:nvPr>
        </p:nvSpPr>
        <p:spPr>
          <a:xfrm>
            <a:off x="838200" y="1556792"/>
            <a:ext cx="10946432" cy="5112568"/>
          </a:xfrm>
        </p:spPr>
        <p:txBody>
          <a:bodyPr/>
          <a:lstStyle/>
          <a:p>
            <a:r>
              <a:rPr lang="en-US" altLang="zh-CN" sz="3200" dirty="0" smtClean="0"/>
              <a:t>Complexity</a:t>
            </a:r>
          </a:p>
          <a:p>
            <a:pPr lvl="1"/>
            <a:r>
              <a:rPr lang="en-US" altLang="zh-CN" sz="2800" dirty="0" smtClean="0"/>
              <a:t>delays of 360/91, MIPS 10000, Alpha 21264, IBM PPC 620</a:t>
            </a:r>
          </a:p>
          <a:p>
            <a:r>
              <a:rPr lang="en-US" altLang="zh-CN" sz="3200" dirty="0" smtClean="0"/>
              <a:t>Many associative stores (CDB) at high speed</a:t>
            </a:r>
          </a:p>
          <a:p>
            <a:r>
              <a:rPr lang="en-US" altLang="zh-CN" sz="3200" dirty="0" smtClean="0"/>
              <a:t>Performance limited by Common Data Bus</a:t>
            </a:r>
          </a:p>
          <a:p>
            <a:pPr lvl="1"/>
            <a:r>
              <a:rPr lang="en-US" altLang="zh-CN" sz="2800" dirty="0" smtClean="0"/>
              <a:t>Each CDB must go to multiple functional units </a:t>
            </a:r>
            <a:br>
              <a:rPr lang="en-US" altLang="zh-CN" sz="2800" dirty="0" smtClean="0"/>
            </a:br>
            <a:r>
              <a:rPr lang="en-US" altLang="zh-CN" sz="2800" dirty="0" smtClean="0">
                <a:sym typeface="Symbol" panose="05050102010706020507" pitchFamily="18" charset="2"/>
              </a:rPr>
              <a:t>high capacitance, high wiring density</a:t>
            </a:r>
          </a:p>
          <a:p>
            <a:pPr lvl="1"/>
            <a:r>
              <a:rPr lang="en-US" altLang="zh-CN" sz="2800" dirty="0" smtClean="0">
                <a:sym typeface="Symbol" panose="05050102010706020507" pitchFamily="18" charset="2"/>
              </a:rPr>
              <a:t>Number of functional units that can complete per cycle limited to one!</a:t>
            </a:r>
          </a:p>
          <a:p>
            <a:pPr lvl="2"/>
            <a:r>
              <a:rPr lang="en-US" altLang="zh-CN" sz="2400" dirty="0" smtClean="0"/>
              <a:t>Multiple CDBs </a:t>
            </a:r>
            <a:r>
              <a:rPr lang="en-US" altLang="zh-CN" sz="2400" dirty="0" smtClean="0">
                <a:sym typeface="Symbol" panose="05050102010706020507" pitchFamily="18" charset="2"/>
              </a:rPr>
              <a:t></a:t>
            </a:r>
            <a:r>
              <a:rPr lang="en-US" altLang="zh-CN" sz="2400" dirty="0" smtClean="0"/>
              <a:t> more FU logic for parallel </a:t>
            </a:r>
            <a:r>
              <a:rPr lang="en-US" altLang="zh-CN" sz="2400" dirty="0" err="1" smtClean="0"/>
              <a:t>assoc</a:t>
            </a:r>
            <a:r>
              <a:rPr lang="en-US" altLang="zh-CN" sz="2400" dirty="0" smtClean="0"/>
              <a:t> stores</a:t>
            </a:r>
          </a:p>
          <a:p>
            <a:r>
              <a:rPr lang="en-US" altLang="zh-CN" sz="3200" dirty="0" smtClean="0"/>
              <a:t>How about precise interrupts?</a:t>
            </a:r>
          </a:p>
        </p:txBody>
      </p:sp>
    </p:spTree>
    <p:extLst>
      <p:ext uri="{BB962C8B-B14F-4D97-AF65-F5344CB8AC3E}">
        <p14:creationId xmlns:p14="http://schemas.microsoft.com/office/powerpoint/2010/main" val="73627720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20579">
                                            <p:txEl>
                                              <p:pRg st="0" end="0"/>
                                            </p:txEl>
                                          </p:spTgt>
                                        </p:tgtEl>
                                        <p:attrNameLst>
                                          <p:attrName>style.visibility</p:attrName>
                                        </p:attrNameLst>
                                      </p:cBhvr>
                                      <p:to>
                                        <p:strVal val="visible"/>
                                      </p:to>
                                    </p:set>
                                    <p:anim calcmode="lin" valueType="num">
                                      <p:cBhvr additive="base">
                                        <p:cTn id="7" dur="500" fill="hold"/>
                                        <p:tgtEl>
                                          <p:spTgt spid="92057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2057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920579">
                                            <p:txEl>
                                              <p:pRg st="1" end="1"/>
                                            </p:txEl>
                                          </p:spTgt>
                                        </p:tgtEl>
                                        <p:attrNameLst>
                                          <p:attrName>style.visibility</p:attrName>
                                        </p:attrNameLst>
                                      </p:cBhvr>
                                      <p:to>
                                        <p:strVal val="visible"/>
                                      </p:to>
                                    </p:set>
                                    <p:anim calcmode="lin" valueType="num">
                                      <p:cBhvr additive="base">
                                        <p:cTn id="11" dur="500" fill="hold"/>
                                        <p:tgtEl>
                                          <p:spTgt spid="920579">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92057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920579">
                                            <p:txEl>
                                              <p:pRg st="2" end="2"/>
                                            </p:txEl>
                                          </p:spTgt>
                                        </p:tgtEl>
                                        <p:attrNameLst>
                                          <p:attrName>style.visibility</p:attrName>
                                        </p:attrNameLst>
                                      </p:cBhvr>
                                      <p:to>
                                        <p:strVal val="visible"/>
                                      </p:to>
                                    </p:set>
                                    <p:anim calcmode="lin" valueType="num">
                                      <p:cBhvr additive="base">
                                        <p:cTn id="17" dur="500" fill="hold"/>
                                        <p:tgtEl>
                                          <p:spTgt spid="920579">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92057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920579">
                                            <p:txEl>
                                              <p:pRg st="3" end="3"/>
                                            </p:txEl>
                                          </p:spTgt>
                                        </p:tgtEl>
                                        <p:attrNameLst>
                                          <p:attrName>style.visibility</p:attrName>
                                        </p:attrNameLst>
                                      </p:cBhvr>
                                      <p:to>
                                        <p:strVal val="visible"/>
                                      </p:to>
                                    </p:set>
                                    <p:anim calcmode="lin" valueType="num">
                                      <p:cBhvr additive="base">
                                        <p:cTn id="23" dur="500" fill="hold"/>
                                        <p:tgtEl>
                                          <p:spTgt spid="920579">
                                            <p:txEl>
                                              <p:pRg st="3" end="3"/>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920579">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920579">
                                            <p:txEl>
                                              <p:pRg st="4" end="4"/>
                                            </p:txEl>
                                          </p:spTgt>
                                        </p:tgtEl>
                                        <p:attrNameLst>
                                          <p:attrName>style.visibility</p:attrName>
                                        </p:attrNameLst>
                                      </p:cBhvr>
                                      <p:to>
                                        <p:strVal val="visible"/>
                                      </p:to>
                                    </p:set>
                                    <p:anim calcmode="lin" valueType="num">
                                      <p:cBhvr additive="base">
                                        <p:cTn id="27" dur="500" fill="hold"/>
                                        <p:tgtEl>
                                          <p:spTgt spid="920579">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920579">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920579">
                                            <p:txEl>
                                              <p:pRg st="5" end="5"/>
                                            </p:txEl>
                                          </p:spTgt>
                                        </p:tgtEl>
                                        <p:attrNameLst>
                                          <p:attrName>style.visibility</p:attrName>
                                        </p:attrNameLst>
                                      </p:cBhvr>
                                      <p:to>
                                        <p:strVal val="visible"/>
                                      </p:to>
                                    </p:set>
                                    <p:anim calcmode="lin" valueType="num">
                                      <p:cBhvr additive="base">
                                        <p:cTn id="31" dur="500" fill="hold"/>
                                        <p:tgtEl>
                                          <p:spTgt spid="920579">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920579">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920579">
                                            <p:txEl>
                                              <p:pRg st="6" end="6"/>
                                            </p:txEl>
                                          </p:spTgt>
                                        </p:tgtEl>
                                        <p:attrNameLst>
                                          <p:attrName>style.visibility</p:attrName>
                                        </p:attrNameLst>
                                      </p:cBhvr>
                                      <p:to>
                                        <p:strVal val="visible"/>
                                      </p:to>
                                    </p:set>
                                    <p:anim calcmode="lin" valueType="num">
                                      <p:cBhvr additive="base">
                                        <p:cTn id="35" dur="500" fill="hold"/>
                                        <p:tgtEl>
                                          <p:spTgt spid="920579">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92057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920579">
                                            <p:txEl>
                                              <p:pRg st="7" end="7"/>
                                            </p:txEl>
                                          </p:spTgt>
                                        </p:tgtEl>
                                        <p:attrNameLst>
                                          <p:attrName>style.visibility</p:attrName>
                                        </p:attrNameLst>
                                      </p:cBhvr>
                                      <p:to>
                                        <p:strVal val="visible"/>
                                      </p:to>
                                    </p:set>
                                    <p:anim calcmode="lin" valueType="num">
                                      <p:cBhvr additive="base">
                                        <p:cTn id="41" dur="500" fill="hold"/>
                                        <p:tgtEl>
                                          <p:spTgt spid="920579">
                                            <p:txEl>
                                              <p:pRg st="7" end="7"/>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920579">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0579"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Difficulties of interrupt handling</a:t>
            </a:r>
            <a:endParaRPr lang="zh-CN" altLang="en-US" dirty="0"/>
          </a:p>
        </p:txBody>
      </p:sp>
      <p:sp>
        <p:nvSpPr>
          <p:cNvPr id="3" name="内容占位符 2"/>
          <p:cNvSpPr>
            <a:spLocks noGrp="1"/>
          </p:cNvSpPr>
          <p:nvPr>
            <p:ph idx="1"/>
          </p:nvPr>
        </p:nvSpPr>
        <p:spPr/>
        <p:txBody>
          <a:bodyPr/>
          <a:lstStyle/>
          <a:p>
            <a:r>
              <a:rPr lang="en-US" altLang="zh-CN" dirty="0"/>
              <a:t>Dynamic scheduling with out-of-order completion must preserve </a:t>
            </a:r>
            <a:r>
              <a:rPr lang="en-US" altLang="zh-CN" dirty="0" smtClean="0"/>
              <a:t>exception behavior </a:t>
            </a:r>
            <a:r>
              <a:rPr lang="en-US" altLang="zh-CN" dirty="0"/>
              <a:t>in the sense that exactly those exceptions that would arise if the </a:t>
            </a:r>
            <a:r>
              <a:rPr lang="en-US" altLang="zh-CN" dirty="0" smtClean="0"/>
              <a:t>program were </a:t>
            </a:r>
            <a:r>
              <a:rPr lang="en-US" altLang="zh-CN" dirty="0"/>
              <a:t>executed in </a:t>
            </a:r>
            <a:r>
              <a:rPr lang="en-US" altLang="zh-CN" dirty="0">
                <a:solidFill>
                  <a:srgbClr val="FF0000"/>
                </a:solidFill>
              </a:rPr>
              <a:t>strict program order</a:t>
            </a:r>
            <a:r>
              <a:rPr lang="en-US" altLang="zh-CN" dirty="0"/>
              <a:t> actually do </a:t>
            </a:r>
            <a:r>
              <a:rPr lang="en-US" altLang="zh-CN" dirty="0" smtClean="0"/>
              <a:t>arise</a:t>
            </a:r>
          </a:p>
          <a:p>
            <a:r>
              <a:rPr lang="en-US" altLang="zh-CN" dirty="0"/>
              <a:t>D</a:t>
            </a:r>
            <a:r>
              <a:rPr lang="en-US" altLang="zh-CN" dirty="0" smtClean="0"/>
              <a:t>ynamically </a:t>
            </a:r>
            <a:r>
              <a:rPr lang="en-US" altLang="zh-CN" dirty="0"/>
              <a:t>scheduled </a:t>
            </a:r>
            <a:r>
              <a:rPr lang="en-US" altLang="zh-CN" dirty="0" smtClean="0"/>
              <a:t>processors could </a:t>
            </a:r>
            <a:r>
              <a:rPr lang="en-US" altLang="zh-CN" dirty="0"/>
              <a:t>generate imprecise </a:t>
            </a:r>
            <a:r>
              <a:rPr lang="en-US" altLang="zh-CN" dirty="0" smtClean="0"/>
              <a:t>exceptions, because</a:t>
            </a:r>
          </a:p>
          <a:p>
            <a:pPr lvl="1"/>
            <a:r>
              <a:rPr lang="en-US" altLang="zh-CN" dirty="0"/>
              <a:t>The pipeline may have </a:t>
            </a:r>
            <a:r>
              <a:rPr lang="en-US" altLang="zh-CN" dirty="0">
                <a:solidFill>
                  <a:srgbClr val="FF0000"/>
                </a:solidFill>
              </a:rPr>
              <a:t>already completed</a:t>
            </a:r>
            <a:r>
              <a:rPr lang="en-US" altLang="zh-CN" dirty="0"/>
              <a:t> instructions that are </a:t>
            </a:r>
            <a:r>
              <a:rPr lang="en-US" altLang="zh-CN" dirty="0">
                <a:solidFill>
                  <a:srgbClr val="FF0000"/>
                </a:solidFill>
              </a:rPr>
              <a:t>later</a:t>
            </a:r>
            <a:r>
              <a:rPr lang="en-US" altLang="zh-CN" dirty="0"/>
              <a:t> in </a:t>
            </a:r>
            <a:r>
              <a:rPr lang="en-US" altLang="zh-CN" dirty="0" smtClean="0"/>
              <a:t>program order </a:t>
            </a:r>
            <a:r>
              <a:rPr lang="en-US" altLang="zh-CN" dirty="0"/>
              <a:t>than the instruction causing the </a:t>
            </a:r>
            <a:r>
              <a:rPr lang="en-US" altLang="zh-CN" dirty="0" smtClean="0"/>
              <a:t>exception</a:t>
            </a:r>
            <a:endParaRPr lang="en-US" altLang="zh-CN" dirty="0"/>
          </a:p>
          <a:p>
            <a:pPr lvl="1"/>
            <a:r>
              <a:rPr lang="en-US" altLang="zh-CN" dirty="0" smtClean="0"/>
              <a:t>The </a:t>
            </a:r>
            <a:r>
              <a:rPr lang="en-US" altLang="zh-CN" dirty="0"/>
              <a:t>pipeline may have </a:t>
            </a:r>
            <a:r>
              <a:rPr lang="en-US" altLang="zh-CN" dirty="0">
                <a:solidFill>
                  <a:srgbClr val="FF0000"/>
                </a:solidFill>
              </a:rPr>
              <a:t>not yet completed</a:t>
            </a:r>
            <a:r>
              <a:rPr lang="en-US" altLang="zh-CN" dirty="0"/>
              <a:t> some instructions that are </a:t>
            </a:r>
            <a:r>
              <a:rPr lang="en-US" altLang="zh-CN" dirty="0">
                <a:solidFill>
                  <a:srgbClr val="FF0000"/>
                </a:solidFill>
              </a:rPr>
              <a:t>earlier</a:t>
            </a:r>
            <a:r>
              <a:rPr lang="en-US" altLang="zh-CN" dirty="0"/>
              <a:t> </a:t>
            </a:r>
            <a:r>
              <a:rPr lang="en-US" altLang="zh-CN" dirty="0" smtClean="0"/>
              <a:t>in program </a:t>
            </a:r>
            <a:r>
              <a:rPr lang="en-US" altLang="zh-CN" dirty="0"/>
              <a:t>order than the instruction causing the </a:t>
            </a:r>
            <a:r>
              <a:rPr lang="en-US" altLang="zh-CN" dirty="0" smtClean="0"/>
              <a:t>exception</a:t>
            </a:r>
          </a:p>
          <a:p>
            <a:r>
              <a:rPr lang="en-US" altLang="zh-CN" dirty="0"/>
              <a:t>Imprecise exceptions make it difficult to restart execution after an </a:t>
            </a:r>
            <a:r>
              <a:rPr lang="en-US" altLang="zh-CN" dirty="0" smtClean="0"/>
              <a:t>exception</a:t>
            </a:r>
          </a:p>
          <a:p>
            <a:pPr lvl="1"/>
            <a:r>
              <a:rPr lang="en-US" altLang="zh-CN" dirty="0"/>
              <a:t>We will address </a:t>
            </a:r>
            <a:r>
              <a:rPr lang="en-US" altLang="zh-CN" dirty="0" smtClean="0"/>
              <a:t>the issue and the solution later</a:t>
            </a:r>
            <a:endParaRPr lang="en-US" altLang="zh-CN" dirty="0"/>
          </a:p>
        </p:txBody>
      </p:sp>
    </p:spTree>
    <p:extLst>
      <p:ext uri="{BB962C8B-B14F-4D97-AF65-F5344CB8AC3E}">
        <p14:creationId xmlns:p14="http://schemas.microsoft.com/office/powerpoint/2010/main" val="24200465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50" name="Rectangle 2"/>
          <p:cNvSpPr>
            <a:spLocks noGrp="1" noChangeArrowheads="1"/>
          </p:cNvSpPr>
          <p:nvPr>
            <p:ph type="title"/>
          </p:nvPr>
        </p:nvSpPr>
        <p:spPr/>
        <p:txBody>
          <a:bodyPr/>
          <a:lstStyle/>
          <a:p>
            <a:r>
              <a:rPr lang="en-US" altLang="zh-CN" smtClean="0"/>
              <a:t>Tomasulo Loop Example</a:t>
            </a:r>
            <a:endParaRPr lang="en-US" altLang="zh-CN"/>
          </a:p>
        </p:txBody>
      </p:sp>
      <p:sp>
        <p:nvSpPr>
          <p:cNvPr id="923651" name="Rectangle 3"/>
          <p:cNvSpPr>
            <a:spLocks noGrp="1" noChangeArrowheads="1"/>
          </p:cNvSpPr>
          <p:nvPr>
            <p:ph type="body" idx="1"/>
          </p:nvPr>
        </p:nvSpPr>
        <p:spPr>
          <a:xfrm>
            <a:off x="838200" y="1556792"/>
            <a:ext cx="10515600" cy="5112568"/>
          </a:xfrm>
        </p:spPr>
        <p:txBody>
          <a:bodyPr/>
          <a:lstStyle/>
          <a:p>
            <a:r>
              <a:rPr lang="en-US" altLang="zh-CN" dirty="0" smtClean="0"/>
              <a:t>This time assume Multiply takes 4 clocks</a:t>
            </a:r>
          </a:p>
          <a:p>
            <a:r>
              <a:rPr lang="en-US" altLang="zh-CN" dirty="0" smtClean="0"/>
              <a:t>Assume 1st load takes 8 clocks (L1 cache miss), </a:t>
            </a:r>
            <a:br>
              <a:rPr lang="en-US" altLang="zh-CN" dirty="0" smtClean="0"/>
            </a:br>
            <a:r>
              <a:rPr lang="en-US" altLang="zh-CN" dirty="0" smtClean="0"/>
              <a:t>2nd load takes 1 clock (hit)</a:t>
            </a:r>
          </a:p>
          <a:p>
            <a:r>
              <a:rPr lang="en-US" altLang="zh-CN" dirty="0" smtClean="0"/>
              <a:t>To be clear, will show clocks for SUBI, BNEZ</a:t>
            </a:r>
          </a:p>
          <a:p>
            <a:pPr lvl="1"/>
            <a:r>
              <a:rPr lang="en-US" altLang="zh-CN" dirty="0" smtClean="0"/>
              <a:t>Reality: integer instructions ahead of Fl. Pt. Instructions</a:t>
            </a:r>
          </a:p>
          <a:p>
            <a:r>
              <a:rPr lang="en-US" altLang="zh-CN" dirty="0" smtClean="0"/>
              <a:t>Show 2 iterations</a:t>
            </a:r>
            <a:endParaRPr lang="en-US" altLang="zh-CN" dirty="0"/>
          </a:p>
        </p:txBody>
      </p:sp>
      <p:sp>
        <p:nvSpPr>
          <p:cNvPr id="4" name="矩形 3"/>
          <p:cNvSpPr/>
          <p:nvPr/>
        </p:nvSpPr>
        <p:spPr>
          <a:xfrm>
            <a:off x="4968552" y="4077072"/>
            <a:ext cx="7032104" cy="2544286"/>
          </a:xfrm>
          <a:prstGeom prst="rect">
            <a:avLst/>
          </a:prstGeom>
        </p:spPr>
        <p:txBody>
          <a:bodyPr wrap="square">
            <a:spAutoFit/>
          </a:bodyPr>
          <a:lstStyle/>
          <a:p>
            <a:pPr marL="228600" lvl="0" indent="-228600" eaLnBrk="1" hangingPunct="1">
              <a:lnSpc>
                <a:spcPct val="90000"/>
              </a:lnSpc>
              <a:spcBef>
                <a:spcPts val="1000"/>
              </a:spcBef>
            </a:pPr>
            <a:r>
              <a:rPr kumimoji="0" lang="en-US" altLang="zh-CN" sz="2800" b="1" dirty="0">
                <a:solidFill>
                  <a:srgbClr val="0000FF"/>
                </a:solidFill>
                <a:latin typeface="Courier New" panose="02070309020205020404" pitchFamily="49" charset="0"/>
                <a:ea typeface="微软雅黑" panose="020B0503020204020204" pitchFamily="34" charset="-122"/>
                <a:cs typeface="Arial" panose="020B0604020202020204" pitchFamily="34" charset="0"/>
              </a:rPr>
              <a:t>Loop:	LD		F0	0	R1</a:t>
            </a:r>
          </a:p>
          <a:p>
            <a:pPr marL="228600" lvl="0" indent="-228600" eaLnBrk="1" hangingPunct="1">
              <a:lnSpc>
                <a:spcPct val="90000"/>
              </a:lnSpc>
              <a:spcBef>
                <a:spcPts val="1000"/>
              </a:spcBef>
            </a:pPr>
            <a:r>
              <a:rPr kumimoji="0" lang="en-US" altLang="zh-CN" sz="2800" b="1" dirty="0">
                <a:solidFill>
                  <a:srgbClr val="0000FF"/>
                </a:solidFill>
                <a:latin typeface="Courier New" panose="02070309020205020404" pitchFamily="49" charset="0"/>
                <a:ea typeface="微软雅黑" panose="020B0503020204020204" pitchFamily="34" charset="-122"/>
                <a:cs typeface="Arial" panose="020B0604020202020204" pitchFamily="34" charset="0"/>
              </a:rPr>
              <a:t> 			MULTD	</a:t>
            </a:r>
            <a:r>
              <a:rPr kumimoji="0" lang="en-US" altLang="zh-CN" sz="2800" b="1" dirty="0" smtClean="0">
                <a:solidFill>
                  <a:srgbClr val="0000FF"/>
                </a:solidFill>
                <a:latin typeface="Courier New" panose="02070309020205020404" pitchFamily="49" charset="0"/>
                <a:ea typeface="微软雅黑" panose="020B0503020204020204" pitchFamily="34" charset="-122"/>
                <a:cs typeface="Arial" panose="020B0604020202020204" pitchFamily="34" charset="0"/>
              </a:rPr>
              <a:t>F4</a:t>
            </a:r>
            <a:r>
              <a:rPr kumimoji="0" lang="en-US" altLang="zh-CN" sz="2800" b="1" dirty="0">
                <a:solidFill>
                  <a:srgbClr val="0000FF"/>
                </a:solidFill>
                <a:latin typeface="Courier New" panose="02070309020205020404" pitchFamily="49" charset="0"/>
                <a:ea typeface="微软雅黑" panose="020B0503020204020204" pitchFamily="34" charset="-122"/>
                <a:cs typeface="Arial" panose="020B0604020202020204" pitchFamily="34" charset="0"/>
              </a:rPr>
              <a:t>	F0	F2</a:t>
            </a:r>
          </a:p>
          <a:p>
            <a:pPr marL="228600" lvl="0" indent="-228600" eaLnBrk="1" hangingPunct="1">
              <a:lnSpc>
                <a:spcPct val="90000"/>
              </a:lnSpc>
              <a:spcBef>
                <a:spcPts val="1000"/>
              </a:spcBef>
            </a:pPr>
            <a:r>
              <a:rPr kumimoji="0" lang="en-US" altLang="zh-CN" sz="2800" b="1" dirty="0">
                <a:solidFill>
                  <a:srgbClr val="0000FF"/>
                </a:solidFill>
                <a:latin typeface="Courier New" panose="02070309020205020404" pitchFamily="49" charset="0"/>
                <a:ea typeface="微软雅黑" panose="020B0503020204020204" pitchFamily="34" charset="-122"/>
                <a:cs typeface="Arial" panose="020B0604020202020204" pitchFamily="34" charset="0"/>
              </a:rPr>
              <a:t> 			SD		F4	0	R1</a:t>
            </a:r>
          </a:p>
          <a:p>
            <a:pPr marL="228600" lvl="0" indent="-228600" eaLnBrk="1" hangingPunct="1">
              <a:lnSpc>
                <a:spcPct val="90000"/>
              </a:lnSpc>
              <a:spcBef>
                <a:spcPts val="1000"/>
              </a:spcBef>
            </a:pPr>
            <a:r>
              <a:rPr kumimoji="0" lang="en-US" altLang="zh-CN" sz="2800" b="1" dirty="0">
                <a:solidFill>
                  <a:srgbClr val="0000FF"/>
                </a:solidFill>
                <a:latin typeface="Courier New" panose="02070309020205020404" pitchFamily="49" charset="0"/>
                <a:ea typeface="微软雅黑" panose="020B0503020204020204" pitchFamily="34" charset="-122"/>
                <a:cs typeface="Arial" panose="020B0604020202020204" pitchFamily="34" charset="0"/>
              </a:rPr>
              <a:t> 			SUBI		R1	R1	#8</a:t>
            </a:r>
          </a:p>
          <a:p>
            <a:pPr marL="228600" lvl="0" indent="-228600" eaLnBrk="1" hangingPunct="1">
              <a:lnSpc>
                <a:spcPct val="90000"/>
              </a:lnSpc>
              <a:spcBef>
                <a:spcPts val="1000"/>
              </a:spcBef>
            </a:pPr>
            <a:r>
              <a:rPr kumimoji="0" lang="en-US" altLang="zh-CN" sz="2800" b="1" dirty="0">
                <a:solidFill>
                  <a:srgbClr val="0000FF"/>
                </a:solidFill>
                <a:latin typeface="Courier New" panose="02070309020205020404" pitchFamily="49" charset="0"/>
                <a:ea typeface="微软雅黑" panose="020B0503020204020204" pitchFamily="34" charset="-122"/>
                <a:cs typeface="Arial" panose="020B0604020202020204" pitchFamily="34" charset="0"/>
              </a:rPr>
              <a:t> 			BNEZ		R1	Loop</a:t>
            </a:r>
            <a:endParaRPr kumimoji="0" lang="en-US" altLang="zh-CN" sz="2800" dirty="0">
              <a:solidFill>
                <a:srgbClr val="0000FF"/>
              </a:solidFill>
              <a:latin typeface="Courier New" panose="02070309020205020404" pitchFamily="49"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966365893"/>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674" name="Rectangle 2"/>
          <p:cNvSpPr>
            <a:spLocks noGrp="1" noChangeArrowheads="1"/>
          </p:cNvSpPr>
          <p:nvPr>
            <p:ph type="title"/>
          </p:nvPr>
        </p:nvSpPr>
        <p:spPr>
          <a:xfrm>
            <a:off x="2286001" y="629050"/>
            <a:ext cx="7162800" cy="685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err="1" smtClean="0"/>
              <a:t>Tomasulo</a:t>
            </a:r>
            <a:r>
              <a:rPr lang="en-US" altLang="zh-CN" dirty="0" smtClean="0"/>
              <a:t> Loop </a:t>
            </a:r>
            <a:r>
              <a:rPr lang="en-US" altLang="zh-CN" dirty="0"/>
              <a:t>Example</a:t>
            </a:r>
          </a:p>
        </p:txBody>
      </p:sp>
      <p:grpSp>
        <p:nvGrpSpPr>
          <p:cNvPr id="3" name="组合 2"/>
          <p:cNvGrpSpPr/>
          <p:nvPr/>
        </p:nvGrpSpPr>
        <p:grpSpPr>
          <a:xfrm>
            <a:off x="1676400" y="1469528"/>
            <a:ext cx="8712199" cy="5456241"/>
            <a:chOff x="1676400" y="838201"/>
            <a:chExt cx="8712199" cy="5456241"/>
          </a:xfrm>
        </p:grpSpPr>
        <p:graphicFrame>
          <p:nvGraphicFramePr>
            <p:cNvPr id="924675" name="Object 3"/>
            <p:cNvGraphicFramePr>
              <a:graphicFrameLocks noChangeAspect="1"/>
            </p:cNvGraphicFramePr>
            <p:nvPr>
              <p:extLst/>
            </p:nvPr>
          </p:nvGraphicFramePr>
          <p:xfrm>
            <a:off x="1905000" y="838201"/>
            <a:ext cx="8013700" cy="5083175"/>
          </p:xfrm>
          <a:graphic>
            <a:graphicData uri="http://schemas.openxmlformats.org/presentationml/2006/ole">
              <mc:AlternateContent xmlns:mc="http://schemas.openxmlformats.org/markup-compatibility/2006">
                <mc:Choice xmlns:v="urn:schemas-microsoft-com:vml" Requires="v">
                  <p:oleObj spid="_x0000_s112685" name="工作表" r:id="rId3" imgW="8906372" imgH="5848832" progId="Excel.Sheet.8">
                    <p:embed/>
                  </p:oleObj>
                </mc:Choice>
                <mc:Fallback>
                  <p:oleObj name="工作表" r:id="rId3" imgW="8906372" imgH="5848832" progId="Excel.Sheet.8">
                    <p:embed/>
                    <p:pic>
                      <p:nvPicPr>
                        <p:cNvPr id="92467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838201"/>
                          <a:ext cx="8013700" cy="5083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24682" name="Group 10"/>
            <p:cNvGrpSpPr>
              <a:grpSpLocks/>
            </p:cNvGrpSpPr>
            <p:nvPr/>
          </p:nvGrpSpPr>
          <p:grpSpPr bwMode="auto">
            <a:xfrm>
              <a:off x="7619999" y="2971801"/>
              <a:ext cx="2768600" cy="522288"/>
              <a:chOff x="3840" y="1872"/>
              <a:chExt cx="1744" cy="329"/>
            </a:xfrm>
          </p:grpSpPr>
          <p:sp>
            <p:nvSpPr>
              <p:cNvPr id="924678" name="Line 6"/>
              <p:cNvSpPr>
                <a:spLocks noChangeShapeType="1"/>
              </p:cNvSpPr>
              <p:nvPr/>
            </p:nvSpPr>
            <p:spPr bwMode="auto">
              <a:xfrm flipH="1" flipV="1">
                <a:off x="3840" y="1872"/>
                <a:ext cx="288" cy="192"/>
              </a:xfrm>
              <a:prstGeom prst="line">
                <a:avLst/>
              </a:prstGeom>
              <a:noFill/>
              <a:ln w="38100">
                <a:solidFill>
                  <a:srgbClr val="0FEFEA"/>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24679" name="Text Box 7"/>
              <p:cNvSpPr txBox="1">
                <a:spLocks noChangeArrowheads="1"/>
              </p:cNvSpPr>
              <p:nvPr/>
            </p:nvSpPr>
            <p:spPr bwMode="auto">
              <a:xfrm>
                <a:off x="4054" y="1968"/>
                <a:ext cx="1530" cy="23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solidFill>
                      <a:srgbClr val="FF0000"/>
                    </a:solidFill>
                  </a:rPr>
                  <a:t>Added Store Buffers</a:t>
                </a:r>
              </a:p>
            </p:txBody>
          </p:sp>
        </p:grpSp>
        <p:grpSp>
          <p:nvGrpSpPr>
            <p:cNvPr id="924685" name="Group 13"/>
            <p:cNvGrpSpPr>
              <a:grpSpLocks/>
            </p:cNvGrpSpPr>
            <p:nvPr/>
          </p:nvGrpSpPr>
          <p:grpSpPr bwMode="auto">
            <a:xfrm>
              <a:off x="3276600" y="5924554"/>
              <a:ext cx="6346826" cy="369888"/>
              <a:chOff x="1104" y="3732"/>
              <a:chExt cx="3998" cy="233"/>
            </a:xfrm>
          </p:grpSpPr>
          <p:sp>
            <p:nvSpPr>
              <p:cNvPr id="924680" name="Line 8"/>
              <p:cNvSpPr>
                <a:spLocks noChangeShapeType="1"/>
              </p:cNvSpPr>
              <p:nvPr/>
            </p:nvSpPr>
            <p:spPr bwMode="auto">
              <a:xfrm flipH="1" flipV="1">
                <a:off x="1104" y="3744"/>
                <a:ext cx="303" cy="105"/>
              </a:xfrm>
              <a:prstGeom prst="line">
                <a:avLst/>
              </a:prstGeom>
              <a:noFill/>
              <a:ln w="38100">
                <a:solidFill>
                  <a:srgbClr val="0FEFEA"/>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24681" name="Text Box 9"/>
              <p:cNvSpPr txBox="1">
                <a:spLocks noChangeArrowheads="1"/>
              </p:cNvSpPr>
              <p:nvPr/>
            </p:nvSpPr>
            <p:spPr bwMode="auto">
              <a:xfrm>
                <a:off x="1407" y="3732"/>
                <a:ext cx="3695" cy="23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solidFill>
                      <a:srgbClr val="FF0000"/>
                    </a:solidFill>
                  </a:rPr>
                  <a:t>Value of Register used for address, iteration control</a:t>
                </a:r>
              </a:p>
            </p:txBody>
          </p:sp>
        </p:grpSp>
        <p:grpSp>
          <p:nvGrpSpPr>
            <p:cNvPr id="924684" name="Group 12"/>
            <p:cNvGrpSpPr>
              <a:grpSpLocks/>
            </p:cNvGrpSpPr>
            <p:nvPr/>
          </p:nvGrpSpPr>
          <p:grpSpPr bwMode="auto">
            <a:xfrm>
              <a:off x="7772401" y="4724401"/>
              <a:ext cx="2525713" cy="519113"/>
              <a:chOff x="3936" y="2976"/>
              <a:chExt cx="1591" cy="327"/>
            </a:xfrm>
          </p:grpSpPr>
          <p:sp>
            <p:nvSpPr>
              <p:cNvPr id="924677" name="Text Box 5"/>
              <p:cNvSpPr txBox="1">
                <a:spLocks noChangeArrowheads="1"/>
              </p:cNvSpPr>
              <p:nvPr/>
            </p:nvSpPr>
            <p:spPr bwMode="auto">
              <a:xfrm>
                <a:off x="4272" y="3072"/>
                <a:ext cx="1255"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solidFill>
                      <a:srgbClr val="FF0000"/>
                    </a:solidFill>
                  </a:rPr>
                  <a:t>Instruction Loop</a:t>
                </a:r>
              </a:p>
            </p:txBody>
          </p:sp>
          <p:sp>
            <p:nvSpPr>
              <p:cNvPr id="924683" name="Line 11"/>
              <p:cNvSpPr>
                <a:spLocks noChangeShapeType="1"/>
              </p:cNvSpPr>
              <p:nvPr/>
            </p:nvSpPr>
            <p:spPr bwMode="auto">
              <a:xfrm flipH="1" flipV="1">
                <a:off x="3936" y="2976"/>
                <a:ext cx="288" cy="192"/>
              </a:xfrm>
              <a:prstGeom prst="line">
                <a:avLst/>
              </a:prstGeom>
              <a:noFill/>
              <a:ln w="38100">
                <a:solidFill>
                  <a:srgbClr val="0FEFEA"/>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grpSp>
          <p:nvGrpSpPr>
            <p:cNvPr id="924689" name="Group 17"/>
            <p:cNvGrpSpPr>
              <a:grpSpLocks/>
            </p:cNvGrpSpPr>
            <p:nvPr/>
          </p:nvGrpSpPr>
          <p:grpSpPr bwMode="auto">
            <a:xfrm>
              <a:off x="1676400" y="1524001"/>
              <a:ext cx="850901" cy="1457326"/>
              <a:chOff x="96" y="960"/>
              <a:chExt cx="536" cy="918"/>
            </a:xfrm>
          </p:grpSpPr>
          <p:sp>
            <p:nvSpPr>
              <p:cNvPr id="924687" name="Text Box 15"/>
              <p:cNvSpPr txBox="1">
                <a:spLocks noChangeArrowheads="1"/>
              </p:cNvSpPr>
              <p:nvPr/>
            </p:nvSpPr>
            <p:spPr bwMode="auto">
              <a:xfrm>
                <a:off x="96" y="1296"/>
                <a:ext cx="536" cy="58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err="1">
                    <a:solidFill>
                      <a:srgbClr val="FF0000"/>
                    </a:solidFill>
                  </a:rPr>
                  <a:t>Iter</a:t>
                </a:r>
                <a:r>
                  <a:rPr lang="en-US" altLang="zh-CN" b="1" dirty="0">
                    <a:solidFill>
                      <a:srgbClr val="FF0000"/>
                    </a:solidFill>
                  </a:rPr>
                  <a:t>-</a:t>
                </a:r>
              </a:p>
              <a:p>
                <a:pPr algn="l"/>
                <a:r>
                  <a:rPr lang="en-US" altLang="zh-CN" b="1" dirty="0" err="1">
                    <a:solidFill>
                      <a:srgbClr val="FF0000"/>
                    </a:solidFill>
                  </a:rPr>
                  <a:t>ation</a:t>
                </a:r>
                <a:endParaRPr lang="en-US" altLang="zh-CN" b="1" dirty="0">
                  <a:solidFill>
                    <a:srgbClr val="FF0000"/>
                  </a:solidFill>
                </a:endParaRPr>
              </a:p>
              <a:p>
                <a:pPr algn="l"/>
                <a:r>
                  <a:rPr lang="en-US" altLang="zh-CN" b="1" dirty="0">
                    <a:solidFill>
                      <a:srgbClr val="FF0000"/>
                    </a:solidFill>
                  </a:rPr>
                  <a:t>Count</a:t>
                </a:r>
              </a:p>
            </p:txBody>
          </p:sp>
          <p:sp>
            <p:nvSpPr>
              <p:cNvPr id="924688" name="Line 16"/>
              <p:cNvSpPr>
                <a:spLocks noChangeShapeType="1"/>
              </p:cNvSpPr>
              <p:nvPr/>
            </p:nvSpPr>
            <p:spPr bwMode="auto">
              <a:xfrm flipV="1">
                <a:off x="384" y="960"/>
                <a:ext cx="192" cy="288"/>
              </a:xfrm>
              <a:prstGeom prst="line">
                <a:avLst/>
              </a:prstGeom>
              <a:noFill/>
              <a:ln w="38100">
                <a:solidFill>
                  <a:srgbClr val="0FEFEA"/>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grpSp>
    </p:spTree>
    <p:extLst>
      <p:ext uri="{BB962C8B-B14F-4D97-AF65-F5344CB8AC3E}">
        <p14:creationId xmlns:p14="http://schemas.microsoft.com/office/powerpoint/2010/main" val="2759988462"/>
      </p:ext>
    </p:extLst>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5698" name="Rectangle 2"/>
          <p:cNvSpPr>
            <a:spLocks noGrp="1" noChangeArrowheads="1"/>
          </p:cNvSpPr>
          <p:nvPr>
            <p:ph type="title"/>
          </p:nvPr>
        </p:nvSpPr>
        <p:spPr>
          <a:xfrm>
            <a:off x="2495600" y="623145"/>
            <a:ext cx="7162800" cy="685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a:t>Loop Example Cycle 1</a:t>
            </a:r>
          </a:p>
        </p:txBody>
      </p:sp>
      <p:grpSp>
        <p:nvGrpSpPr>
          <p:cNvPr id="2" name="组合 1"/>
          <p:cNvGrpSpPr/>
          <p:nvPr/>
        </p:nvGrpSpPr>
        <p:grpSpPr>
          <a:xfrm>
            <a:off x="1905000" y="1555577"/>
            <a:ext cx="8458200" cy="5257799"/>
            <a:chOff x="1905000" y="838201"/>
            <a:chExt cx="8458200" cy="5257799"/>
          </a:xfrm>
        </p:grpSpPr>
        <p:graphicFrame>
          <p:nvGraphicFramePr>
            <p:cNvPr id="925699" name="Object 3"/>
            <p:cNvGraphicFramePr>
              <a:graphicFrameLocks noChangeAspect="1"/>
            </p:cNvGraphicFramePr>
            <p:nvPr>
              <p:extLst/>
            </p:nvPr>
          </p:nvGraphicFramePr>
          <p:xfrm>
            <a:off x="1905000" y="838201"/>
            <a:ext cx="8013700" cy="5083175"/>
          </p:xfrm>
          <a:graphic>
            <a:graphicData uri="http://schemas.openxmlformats.org/presentationml/2006/ole">
              <mc:AlternateContent xmlns:mc="http://schemas.openxmlformats.org/markup-compatibility/2006">
                <mc:Choice xmlns:v="urn:schemas-microsoft-com:vml" Requires="v">
                  <p:oleObj spid="_x0000_s113709" name="工作表" r:id="rId3" imgW="8925266" imgH="5848556" progId="Excel.Sheet.8">
                    <p:embed/>
                  </p:oleObj>
                </mc:Choice>
                <mc:Fallback>
                  <p:oleObj name="工作表" r:id="rId3" imgW="8925266" imgH="5848556" progId="Excel.Sheet.8">
                    <p:embed/>
                    <p:pic>
                      <p:nvPicPr>
                        <p:cNvPr id="92569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838201"/>
                          <a:ext cx="8013700" cy="5083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5700" name="AutoShape 4"/>
            <p:cNvSpPr>
              <a:spLocks noChangeArrowheads="1"/>
            </p:cNvSpPr>
            <p:nvPr/>
          </p:nvSpPr>
          <p:spPr bwMode="auto">
            <a:xfrm>
              <a:off x="7162800" y="1447800"/>
              <a:ext cx="2286000" cy="3810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701" name="AutoShape 5"/>
            <p:cNvSpPr>
              <a:spLocks noChangeArrowheads="1"/>
            </p:cNvSpPr>
            <p:nvPr/>
          </p:nvSpPr>
          <p:spPr bwMode="auto">
            <a:xfrm>
              <a:off x="4038600" y="5257800"/>
              <a:ext cx="762000" cy="8382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702" name="Line 6"/>
            <p:cNvSpPr>
              <a:spLocks noChangeShapeType="1"/>
            </p:cNvSpPr>
            <p:nvPr/>
          </p:nvSpPr>
          <p:spPr bwMode="auto">
            <a:xfrm>
              <a:off x="9829800" y="3733800"/>
              <a:ext cx="533400" cy="0"/>
            </a:xfrm>
            <a:prstGeom prst="line">
              <a:avLst/>
            </a:prstGeom>
            <a:noFill/>
            <a:ln w="57150">
              <a:solidFill>
                <a:srgbClr val="0FEFE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4272223092"/>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722" name="Rectangle 2"/>
          <p:cNvSpPr>
            <a:spLocks noGrp="1" noChangeArrowheads="1"/>
          </p:cNvSpPr>
          <p:nvPr>
            <p:ph type="title"/>
          </p:nvPr>
        </p:nvSpPr>
        <p:spPr>
          <a:xfrm>
            <a:off x="2514600" y="582960"/>
            <a:ext cx="7162800" cy="685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a:t>Loop Example Cycle 2</a:t>
            </a:r>
          </a:p>
        </p:txBody>
      </p:sp>
      <p:grpSp>
        <p:nvGrpSpPr>
          <p:cNvPr id="2" name="组合 1"/>
          <p:cNvGrpSpPr/>
          <p:nvPr/>
        </p:nvGrpSpPr>
        <p:grpSpPr>
          <a:xfrm>
            <a:off x="1905000" y="1627585"/>
            <a:ext cx="8458200" cy="5257799"/>
            <a:chOff x="1905000" y="838201"/>
            <a:chExt cx="8458200" cy="5257799"/>
          </a:xfrm>
        </p:grpSpPr>
        <p:graphicFrame>
          <p:nvGraphicFramePr>
            <p:cNvPr id="926723" name="Object 3"/>
            <p:cNvGraphicFramePr>
              <a:graphicFrameLocks noChangeAspect="1"/>
            </p:cNvGraphicFramePr>
            <p:nvPr>
              <p:extLst/>
            </p:nvPr>
          </p:nvGraphicFramePr>
          <p:xfrm>
            <a:off x="1905000" y="838201"/>
            <a:ext cx="8013700" cy="5083175"/>
          </p:xfrm>
          <a:graphic>
            <a:graphicData uri="http://schemas.openxmlformats.org/presentationml/2006/ole">
              <mc:AlternateContent xmlns:mc="http://schemas.openxmlformats.org/markup-compatibility/2006">
                <mc:Choice xmlns:v="urn:schemas-microsoft-com:vml" Requires="v">
                  <p:oleObj spid="_x0000_s114733" name="工作表" r:id="rId3" imgW="8925266" imgH="5848556" progId="Excel.Sheet.8">
                    <p:embed/>
                  </p:oleObj>
                </mc:Choice>
                <mc:Fallback>
                  <p:oleObj name="工作表" r:id="rId3" imgW="8925266" imgH="5848556" progId="Excel.Sheet.8">
                    <p:embed/>
                    <p:pic>
                      <p:nvPicPr>
                        <p:cNvPr id="92672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838201"/>
                          <a:ext cx="8013700" cy="5083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6724" name="AutoShape 4"/>
            <p:cNvSpPr>
              <a:spLocks noChangeArrowheads="1"/>
            </p:cNvSpPr>
            <p:nvPr/>
          </p:nvSpPr>
          <p:spPr bwMode="auto">
            <a:xfrm>
              <a:off x="2819400" y="4343400"/>
              <a:ext cx="4191000" cy="3810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725" name="AutoShape 5"/>
            <p:cNvSpPr>
              <a:spLocks noChangeArrowheads="1"/>
            </p:cNvSpPr>
            <p:nvPr/>
          </p:nvSpPr>
          <p:spPr bwMode="auto">
            <a:xfrm>
              <a:off x="5257800" y="5257800"/>
              <a:ext cx="762000" cy="8382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726" name="Line 6"/>
            <p:cNvSpPr>
              <a:spLocks noChangeShapeType="1"/>
            </p:cNvSpPr>
            <p:nvPr/>
          </p:nvSpPr>
          <p:spPr bwMode="auto">
            <a:xfrm>
              <a:off x="9829800" y="3962400"/>
              <a:ext cx="533400" cy="0"/>
            </a:xfrm>
            <a:prstGeom prst="line">
              <a:avLst/>
            </a:prstGeom>
            <a:noFill/>
            <a:ln w="57150">
              <a:solidFill>
                <a:srgbClr val="0FEFE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1829309601"/>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7746" name="Rectangle 2"/>
          <p:cNvSpPr>
            <a:spLocks noGrp="1" noChangeArrowheads="1"/>
          </p:cNvSpPr>
          <p:nvPr>
            <p:ph type="title"/>
          </p:nvPr>
        </p:nvSpPr>
        <p:spPr>
          <a:xfrm>
            <a:off x="2514600" y="582960"/>
            <a:ext cx="7162800" cy="685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a:t>Loop Example Cycle 3</a:t>
            </a:r>
          </a:p>
        </p:txBody>
      </p:sp>
      <p:sp>
        <p:nvSpPr>
          <p:cNvPr id="927748" name="Rectangle 4"/>
          <p:cNvSpPr>
            <a:spLocks noGrp="1" noChangeArrowheads="1"/>
          </p:cNvSpPr>
          <p:nvPr>
            <p:ph type="body" idx="1"/>
          </p:nvPr>
        </p:nvSpPr>
        <p:spPr>
          <a:xfrm>
            <a:off x="216024" y="2852936"/>
            <a:ext cx="4444876" cy="444500"/>
          </a:xfrm>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7" tIns="44450" rIns="90487" bIns="44450" numCol="1" anchor="t" anchorCtr="0" compatLnSpc="1">
            <a:prstTxWarp prst="textNoShape">
              <a:avLst/>
            </a:prstTxWarp>
          </a:bodyPr>
          <a:lstStyle/>
          <a:p>
            <a:r>
              <a:rPr lang="en-US" altLang="zh-CN" dirty="0">
                <a:solidFill>
                  <a:srgbClr val="FF0000"/>
                </a:solidFill>
              </a:rPr>
              <a:t>Implicit renaming sets up data flow graph</a:t>
            </a:r>
          </a:p>
        </p:txBody>
      </p:sp>
      <p:grpSp>
        <p:nvGrpSpPr>
          <p:cNvPr id="2" name="组合 1"/>
          <p:cNvGrpSpPr/>
          <p:nvPr/>
        </p:nvGrpSpPr>
        <p:grpSpPr>
          <a:xfrm>
            <a:off x="1905000" y="1514177"/>
            <a:ext cx="8382000" cy="5083175"/>
            <a:chOff x="1905000" y="838201"/>
            <a:chExt cx="8382000" cy="5083175"/>
          </a:xfrm>
        </p:grpSpPr>
        <p:graphicFrame>
          <p:nvGraphicFramePr>
            <p:cNvPr id="927747" name="Object 3"/>
            <p:cNvGraphicFramePr>
              <a:graphicFrameLocks noChangeAspect="1"/>
            </p:cNvGraphicFramePr>
            <p:nvPr>
              <p:extLst/>
            </p:nvPr>
          </p:nvGraphicFramePr>
          <p:xfrm>
            <a:off x="1905000" y="838201"/>
            <a:ext cx="8013700" cy="5083175"/>
          </p:xfrm>
          <a:graphic>
            <a:graphicData uri="http://schemas.openxmlformats.org/presentationml/2006/ole">
              <mc:AlternateContent xmlns:mc="http://schemas.openxmlformats.org/markup-compatibility/2006">
                <mc:Choice xmlns:v="urn:schemas-microsoft-com:vml" Requires="v">
                  <p:oleObj spid="_x0000_s115757" name="工作表" r:id="rId3" imgW="8925266" imgH="5848556" progId="Excel.Sheet.8">
                    <p:embed/>
                  </p:oleObj>
                </mc:Choice>
                <mc:Fallback>
                  <p:oleObj name="工作表" r:id="rId3" imgW="8925266" imgH="5848556" progId="Excel.Sheet.8">
                    <p:embed/>
                    <p:pic>
                      <p:nvPicPr>
                        <p:cNvPr id="92774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838201"/>
                          <a:ext cx="8013700" cy="5083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27749" name="Group 5"/>
            <p:cNvGrpSpPr>
              <a:grpSpLocks/>
            </p:cNvGrpSpPr>
            <p:nvPr/>
          </p:nvGrpSpPr>
          <p:grpSpPr bwMode="auto">
            <a:xfrm>
              <a:off x="5029200" y="1676400"/>
              <a:ext cx="4191000" cy="2819400"/>
              <a:chOff x="2208" y="1056"/>
              <a:chExt cx="2640" cy="1776"/>
            </a:xfrm>
          </p:grpSpPr>
          <p:sp>
            <p:nvSpPr>
              <p:cNvPr id="927750" name="Line 6"/>
              <p:cNvSpPr>
                <a:spLocks noChangeShapeType="1"/>
              </p:cNvSpPr>
              <p:nvPr/>
            </p:nvSpPr>
            <p:spPr bwMode="auto">
              <a:xfrm flipH="1">
                <a:off x="2208" y="1056"/>
                <a:ext cx="1824" cy="1776"/>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751" name="Line 7"/>
              <p:cNvSpPr>
                <a:spLocks noChangeShapeType="1"/>
              </p:cNvSpPr>
              <p:nvPr/>
            </p:nvSpPr>
            <p:spPr bwMode="auto">
              <a:xfrm flipV="1">
                <a:off x="2256" y="1536"/>
                <a:ext cx="2592" cy="1296"/>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27752" name="AutoShape 8"/>
            <p:cNvSpPr>
              <a:spLocks noChangeArrowheads="1"/>
            </p:cNvSpPr>
            <p:nvPr/>
          </p:nvSpPr>
          <p:spPr bwMode="auto">
            <a:xfrm>
              <a:off x="7239000" y="2209800"/>
              <a:ext cx="2743200" cy="3810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753" name="Line 9"/>
            <p:cNvSpPr>
              <a:spLocks noChangeShapeType="1"/>
            </p:cNvSpPr>
            <p:nvPr/>
          </p:nvSpPr>
          <p:spPr bwMode="auto">
            <a:xfrm>
              <a:off x="9753600" y="4267200"/>
              <a:ext cx="533400" cy="0"/>
            </a:xfrm>
            <a:prstGeom prst="line">
              <a:avLst/>
            </a:prstGeom>
            <a:noFill/>
            <a:ln w="57150">
              <a:solidFill>
                <a:srgbClr val="0FEFE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271512666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27748">
                                            <p:txEl>
                                              <p:pRg st="0" end="0"/>
                                            </p:txEl>
                                          </p:spTgt>
                                        </p:tgtEl>
                                        <p:attrNameLst>
                                          <p:attrName>style.visibility</p:attrName>
                                        </p:attrNameLst>
                                      </p:cBhvr>
                                      <p:to>
                                        <p:strVal val="visible"/>
                                      </p:to>
                                    </p:set>
                                    <p:anim calcmode="lin" valueType="num">
                                      <p:cBhvr additive="base">
                                        <p:cTn id="7" dur="500" fill="hold"/>
                                        <p:tgtEl>
                                          <p:spTgt spid="92774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2774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7748" grpId="0" build="p"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8770" name="Rectangle 2"/>
          <p:cNvSpPr>
            <a:spLocks noGrp="1" noChangeArrowheads="1"/>
          </p:cNvSpPr>
          <p:nvPr>
            <p:ph type="title"/>
          </p:nvPr>
        </p:nvSpPr>
        <p:spPr>
          <a:xfrm>
            <a:off x="2514600" y="582960"/>
            <a:ext cx="7162800" cy="685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a:t>Loop Example Cycle 4</a:t>
            </a:r>
          </a:p>
        </p:txBody>
      </p:sp>
      <p:sp>
        <p:nvSpPr>
          <p:cNvPr id="928772" name="Rectangle 4"/>
          <p:cNvSpPr>
            <a:spLocks noGrp="1" noChangeArrowheads="1"/>
          </p:cNvSpPr>
          <p:nvPr>
            <p:ph type="body" idx="1"/>
          </p:nvPr>
        </p:nvSpPr>
        <p:spPr>
          <a:xfrm>
            <a:off x="191344" y="2852936"/>
            <a:ext cx="4978896" cy="444500"/>
          </a:xfrm>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7" tIns="44450" rIns="90487" bIns="44450" numCol="1" anchor="t" anchorCtr="0" compatLnSpc="1">
            <a:prstTxWarp prst="textNoShape">
              <a:avLst/>
            </a:prstTxWarp>
          </a:bodyPr>
          <a:lstStyle/>
          <a:p>
            <a:r>
              <a:rPr lang="en-US" altLang="zh-CN" dirty="0">
                <a:solidFill>
                  <a:srgbClr val="FF0000"/>
                </a:solidFill>
              </a:rPr>
              <a:t>Dispatching SUBI Instruction (not in FP queue)</a:t>
            </a:r>
          </a:p>
        </p:txBody>
      </p:sp>
      <p:grpSp>
        <p:nvGrpSpPr>
          <p:cNvPr id="2" name="组合 1"/>
          <p:cNvGrpSpPr/>
          <p:nvPr/>
        </p:nvGrpSpPr>
        <p:grpSpPr>
          <a:xfrm>
            <a:off x="1905000" y="1514177"/>
            <a:ext cx="8458200" cy="5083175"/>
            <a:chOff x="1905000" y="838201"/>
            <a:chExt cx="8458200" cy="5083175"/>
          </a:xfrm>
        </p:grpSpPr>
        <p:graphicFrame>
          <p:nvGraphicFramePr>
            <p:cNvPr id="928771" name="Object 3"/>
            <p:cNvGraphicFramePr>
              <a:graphicFrameLocks noChangeAspect="1"/>
            </p:cNvGraphicFramePr>
            <p:nvPr>
              <p:extLst/>
            </p:nvPr>
          </p:nvGraphicFramePr>
          <p:xfrm>
            <a:off x="1905000" y="838201"/>
            <a:ext cx="8013700" cy="5083175"/>
          </p:xfrm>
          <a:graphic>
            <a:graphicData uri="http://schemas.openxmlformats.org/presentationml/2006/ole">
              <mc:AlternateContent xmlns:mc="http://schemas.openxmlformats.org/markup-compatibility/2006">
                <mc:Choice xmlns:v="urn:schemas-microsoft-com:vml" Requires="v">
                  <p:oleObj spid="_x0000_s116781" name="工作表" r:id="rId3" imgW="8925266" imgH="5848556" progId="Excel.Sheet.8">
                    <p:embed/>
                  </p:oleObj>
                </mc:Choice>
                <mc:Fallback>
                  <p:oleObj name="工作表" r:id="rId3" imgW="8925266" imgH="5848556" progId="Excel.Sheet.8">
                    <p:embed/>
                    <p:pic>
                      <p:nvPicPr>
                        <p:cNvPr id="92877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838201"/>
                          <a:ext cx="8013700" cy="5083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8773" name="Line 5"/>
            <p:cNvSpPr>
              <a:spLocks noChangeShapeType="1"/>
            </p:cNvSpPr>
            <p:nvPr/>
          </p:nvSpPr>
          <p:spPr bwMode="auto">
            <a:xfrm>
              <a:off x="9829800" y="4495800"/>
              <a:ext cx="533400" cy="0"/>
            </a:xfrm>
            <a:prstGeom prst="line">
              <a:avLst/>
            </a:prstGeom>
            <a:noFill/>
            <a:ln w="57150">
              <a:solidFill>
                <a:srgbClr val="0FEFE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40759549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28772">
                                            <p:txEl>
                                              <p:pRg st="0" end="0"/>
                                            </p:txEl>
                                          </p:spTgt>
                                        </p:tgtEl>
                                        <p:attrNameLst>
                                          <p:attrName>style.visibility</p:attrName>
                                        </p:attrNameLst>
                                      </p:cBhvr>
                                      <p:to>
                                        <p:strVal val="visible"/>
                                      </p:to>
                                    </p:set>
                                    <p:anim calcmode="lin" valueType="num">
                                      <p:cBhvr additive="base">
                                        <p:cTn id="7" dur="500" fill="hold"/>
                                        <p:tgtEl>
                                          <p:spTgt spid="92877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28772">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8772" grpId="0" build="p"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9794" name="Rectangle 2"/>
          <p:cNvSpPr>
            <a:spLocks noGrp="1" noChangeArrowheads="1"/>
          </p:cNvSpPr>
          <p:nvPr>
            <p:ph type="title"/>
          </p:nvPr>
        </p:nvSpPr>
        <p:spPr>
          <a:xfrm>
            <a:off x="2514600" y="582960"/>
            <a:ext cx="7162800" cy="685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a:t>Loop Example Cycle 5</a:t>
            </a:r>
          </a:p>
        </p:txBody>
      </p:sp>
      <p:sp>
        <p:nvSpPr>
          <p:cNvPr id="929796" name="Rectangle 4"/>
          <p:cNvSpPr>
            <a:spLocks noGrp="1" noChangeArrowheads="1"/>
          </p:cNvSpPr>
          <p:nvPr>
            <p:ph type="body" idx="1"/>
          </p:nvPr>
        </p:nvSpPr>
        <p:spPr>
          <a:xfrm>
            <a:off x="191344" y="2924944"/>
            <a:ext cx="4258816" cy="444500"/>
          </a:xfrm>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7" tIns="44450" rIns="90487" bIns="44450" numCol="1" anchor="t" anchorCtr="0" compatLnSpc="1">
            <a:prstTxWarp prst="textNoShape">
              <a:avLst/>
            </a:prstTxWarp>
          </a:bodyPr>
          <a:lstStyle/>
          <a:p>
            <a:r>
              <a:rPr lang="en-US" altLang="zh-CN" dirty="0">
                <a:solidFill>
                  <a:srgbClr val="FF0000"/>
                </a:solidFill>
              </a:rPr>
              <a:t>And, BNEZ instruction (not in FP queue)</a:t>
            </a:r>
          </a:p>
        </p:txBody>
      </p:sp>
      <p:grpSp>
        <p:nvGrpSpPr>
          <p:cNvPr id="2" name="组合 1"/>
          <p:cNvGrpSpPr/>
          <p:nvPr/>
        </p:nvGrpSpPr>
        <p:grpSpPr>
          <a:xfrm>
            <a:off x="1905000" y="1559769"/>
            <a:ext cx="8534400" cy="5181599"/>
            <a:chOff x="1905000" y="838201"/>
            <a:chExt cx="8534400" cy="5181599"/>
          </a:xfrm>
        </p:grpSpPr>
        <p:graphicFrame>
          <p:nvGraphicFramePr>
            <p:cNvPr id="929795" name="Object 3"/>
            <p:cNvGraphicFramePr>
              <a:graphicFrameLocks noChangeAspect="1"/>
            </p:cNvGraphicFramePr>
            <p:nvPr>
              <p:extLst/>
            </p:nvPr>
          </p:nvGraphicFramePr>
          <p:xfrm>
            <a:off x="1905000" y="838201"/>
            <a:ext cx="8013700" cy="5083175"/>
          </p:xfrm>
          <a:graphic>
            <a:graphicData uri="http://schemas.openxmlformats.org/presentationml/2006/ole">
              <mc:AlternateContent xmlns:mc="http://schemas.openxmlformats.org/markup-compatibility/2006">
                <mc:Choice xmlns:v="urn:schemas-microsoft-com:vml" Requires="v">
                  <p:oleObj spid="_x0000_s117805" name="工作表" r:id="rId3" imgW="8925266" imgH="5848556" progId="Excel.Sheet.8">
                    <p:embed/>
                  </p:oleObj>
                </mc:Choice>
                <mc:Fallback>
                  <p:oleObj name="工作表" r:id="rId3" imgW="8925266" imgH="5848556" progId="Excel.Sheet.8">
                    <p:embed/>
                    <p:pic>
                      <p:nvPicPr>
                        <p:cNvPr id="92979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838201"/>
                          <a:ext cx="8013700" cy="5083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9797" name="AutoShape 5"/>
            <p:cNvSpPr>
              <a:spLocks noChangeArrowheads="1"/>
            </p:cNvSpPr>
            <p:nvPr/>
          </p:nvSpPr>
          <p:spPr bwMode="auto">
            <a:xfrm>
              <a:off x="2971800" y="5638800"/>
              <a:ext cx="533400" cy="3810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798" name="Line 6"/>
            <p:cNvSpPr>
              <a:spLocks noChangeShapeType="1"/>
            </p:cNvSpPr>
            <p:nvPr/>
          </p:nvSpPr>
          <p:spPr bwMode="auto">
            <a:xfrm>
              <a:off x="9906000" y="4800600"/>
              <a:ext cx="533400" cy="0"/>
            </a:xfrm>
            <a:prstGeom prst="line">
              <a:avLst/>
            </a:prstGeom>
            <a:noFill/>
            <a:ln w="57150">
              <a:solidFill>
                <a:srgbClr val="0FEFE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400111272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29796">
                                            <p:txEl>
                                              <p:pRg st="0" end="0"/>
                                            </p:txEl>
                                          </p:spTgt>
                                        </p:tgtEl>
                                        <p:attrNameLst>
                                          <p:attrName>style.visibility</p:attrName>
                                        </p:attrNameLst>
                                      </p:cBhvr>
                                      <p:to>
                                        <p:strVal val="visible"/>
                                      </p:to>
                                    </p:set>
                                    <p:anim calcmode="lin" valueType="num">
                                      <p:cBhvr additive="base">
                                        <p:cTn id="7" dur="500" fill="hold"/>
                                        <p:tgtEl>
                                          <p:spTgt spid="92979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2979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9796" grpId="0" build="p"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0818" name="Rectangle 2"/>
          <p:cNvSpPr>
            <a:spLocks noGrp="1" noChangeArrowheads="1"/>
          </p:cNvSpPr>
          <p:nvPr>
            <p:ph type="title"/>
          </p:nvPr>
        </p:nvSpPr>
        <p:spPr>
          <a:xfrm>
            <a:off x="2514600" y="582960"/>
            <a:ext cx="7162800" cy="685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a:t>Loop Example Cycle 6</a:t>
            </a:r>
          </a:p>
        </p:txBody>
      </p:sp>
      <p:sp>
        <p:nvSpPr>
          <p:cNvPr id="930820" name="Rectangle 4"/>
          <p:cNvSpPr>
            <a:spLocks noGrp="1" noChangeArrowheads="1"/>
          </p:cNvSpPr>
          <p:nvPr>
            <p:ph type="body" idx="1"/>
          </p:nvPr>
        </p:nvSpPr>
        <p:spPr>
          <a:xfrm>
            <a:off x="335360" y="2996952"/>
            <a:ext cx="4690864" cy="444500"/>
          </a:xfrm>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7" tIns="44450" rIns="90487" bIns="44450" numCol="1" anchor="t" anchorCtr="0" compatLnSpc="1">
            <a:prstTxWarp prst="textNoShape">
              <a:avLst/>
            </a:prstTxWarp>
          </a:bodyPr>
          <a:lstStyle/>
          <a:p>
            <a:r>
              <a:rPr lang="en-US" altLang="zh-CN" dirty="0">
                <a:solidFill>
                  <a:srgbClr val="FF0000"/>
                </a:solidFill>
              </a:rPr>
              <a:t>Notice that F0 never sees Load from location 80</a:t>
            </a:r>
          </a:p>
        </p:txBody>
      </p:sp>
      <p:grpSp>
        <p:nvGrpSpPr>
          <p:cNvPr id="2" name="组合 1"/>
          <p:cNvGrpSpPr/>
          <p:nvPr/>
        </p:nvGrpSpPr>
        <p:grpSpPr>
          <a:xfrm>
            <a:off x="1905000" y="1555577"/>
            <a:ext cx="8458200" cy="5257799"/>
            <a:chOff x="1905000" y="838201"/>
            <a:chExt cx="8458200" cy="5257799"/>
          </a:xfrm>
        </p:grpSpPr>
        <p:graphicFrame>
          <p:nvGraphicFramePr>
            <p:cNvPr id="930819" name="Object 3"/>
            <p:cNvGraphicFramePr>
              <a:graphicFrameLocks noChangeAspect="1"/>
            </p:cNvGraphicFramePr>
            <p:nvPr>
              <p:extLst/>
            </p:nvPr>
          </p:nvGraphicFramePr>
          <p:xfrm>
            <a:off x="1905000" y="838201"/>
            <a:ext cx="8013700" cy="5083175"/>
          </p:xfrm>
          <a:graphic>
            <a:graphicData uri="http://schemas.openxmlformats.org/presentationml/2006/ole">
              <mc:AlternateContent xmlns:mc="http://schemas.openxmlformats.org/markup-compatibility/2006">
                <mc:Choice xmlns:v="urn:schemas-microsoft-com:vml" Requires="v">
                  <p:oleObj spid="_x0000_s118829" name="工作表" r:id="rId3" imgW="8925266" imgH="5848556" progId="Excel.Sheet.8">
                    <p:embed/>
                  </p:oleObj>
                </mc:Choice>
                <mc:Fallback>
                  <p:oleObj name="工作表" r:id="rId3" imgW="8925266" imgH="5848556" progId="Excel.Sheet.8">
                    <p:embed/>
                    <p:pic>
                      <p:nvPicPr>
                        <p:cNvPr id="93081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838201"/>
                          <a:ext cx="8013700" cy="5083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30821" name="AutoShape 5"/>
            <p:cNvSpPr>
              <a:spLocks noChangeArrowheads="1"/>
            </p:cNvSpPr>
            <p:nvPr/>
          </p:nvSpPr>
          <p:spPr bwMode="auto">
            <a:xfrm>
              <a:off x="7239000" y="1676400"/>
              <a:ext cx="2286000" cy="3810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0822" name="AutoShape 6"/>
            <p:cNvSpPr>
              <a:spLocks noChangeArrowheads="1"/>
            </p:cNvSpPr>
            <p:nvPr/>
          </p:nvSpPr>
          <p:spPr bwMode="auto">
            <a:xfrm>
              <a:off x="4038600" y="5257800"/>
              <a:ext cx="762000" cy="8382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0823" name="Line 7"/>
            <p:cNvSpPr>
              <a:spLocks noChangeShapeType="1"/>
            </p:cNvSpPr>
            <p:nvPr/>
          </p:nvSpPr>
          <p:spPr bwMode="auto">
            <a:xfrm>
              <a:off x="9829800" y="3733800"/>
              <a:ext cx="533400" cy="0"/>
            </a:xfrm>
            <a:prstGeom prst="line">
              <a:avLst/>
            </a:prstGeom>
            <a:noFill/>
            <a:ln w="57150">
              <a:solidFill>
                <a:srgbClr val="0FEFE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142550515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30820">
                                            <p:txEl>
                                              <p:pRg st="0" end="0"/>
                                            </p:txEl>
                                          </p:spTgt>
                                        </p:tgtEl>
                                        <p:attrNameLst>
                                          <p:attrName>style.visibility</p:attrName>
                                        </p:attrNameLst>
                                      </p:cBhvr>
                                      <p:to>
                                        <p:strVal val="visible"/>
                                      </p:to>
                                    </p:set>
                                    <p:anim calcmode="lin" valueType="num">
                                      <p:cBhvr additive="base">
                                        <p:cTn id="7" dur="500" fill="hold"/>
                                        <p:tgtEl>
                                          <p:spTgt spid="93082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30820">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0820" grpId="0" build="p"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a:xfrm>
            <a:off x="5562600" y="582960"/>
            <a:ext cx="6078016" cy="685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a:t>Loop Example Cycle 7</a:t>
            </a:r>
          </a:p>
        </p:txBody>
      </p:sp>
      <p:grpSp>
        <p:nvGrpSpPr>
          <p:cNvPr id="2" name="组合 1"/>
          <p:cNvGrpSpPr/>
          <p:nvPr/>
        </p:nvGrpSpPr>
        <p:grpSpPr>
          <a:xfrm>
            <a:off x="1905000" y="1563961"/>
            <a:ext cx="8458200" cy="5105399"/>
            <a:chOff x="1905000" y="838201"/>
            <a:chExt cx="8458200" cy="5105399"/>
          </a:xfrm>
        </p:grpSpPr>
        <p:graphicFrame>
          <p:nvGraphicFramePr>
            <p:cNvPr id="931843" name="Object 3"/>
            <p:cNvGraphicFramePr>
              <a:graphicFrameLocks noChangeAspect="1"/>
            </p:cNvGraphicFramePr>
            <p:nvPr>
              <p:extLst/>
            </p:nvPr>
          </p:nvGraphicFramePr>
          <p:xfrm>
            <a:off x="1905000" y="838201"/>
            <a:ext cx="8013700" cy="5083175"/>
          </p:xfrm>
          <a:graphic>
            <a:graphicData uri="http://schemas.openxmlformats.org/presentationml/2006/ole">
              <mc:AlternateContent xmlns:mc="http://schemas.openxmlformats.org/markup-compatibility/2006">
                <mc:Choice xmlns:v="urn:schemas-microsoft-com:vml" Requires="v">
                  <p:oleObj spid="_x0000_s119853" name="工作表" r:id="rId3" imgW="8925266" imgH="5848556" progId="Excel.Sheet.8">
                    <p:embed/>
                  </p:oleObj>
                </mc:Choice>
                <mc:Fallback>
                  <p:oleObj name="工作表" r:id="rId3" imgW="8925266" imgH="5848556" progId="Excel.Sheet.8">
                    <p:embed/>
                    <p:pic>
                      <p:nvPicPr>
                        <p:cNvPr id="93184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838201"/>
                          <a:ext cx="8013700" cy="5083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31845" name="AutoShape 5"/>
            <p:cNvSpPr>
              <a:spLocks noChangeArrowheads="1"/>
            </p:cNvSpPr>
            <p:nvPr/>
          </p:nvSpPr>
          <p:spPr bwMode="auto">
            <a:xfrm>
              <a:off x="2819400" y="4648200"/>
              <a:ext cx="4267200" cy="3810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1846" name="AutoShape 6"/>
            <p:cNvSpPr>
              <a:spLocks noChangeArrowheads="1"/>
            </p:cNvSpPr>
            <p:nvPr/>
          </p:nvSpPr>
          <p:spPr bwMode="auto">
            <a:xfrm>
              <a:off x="5181600" y="5105400"/>
              <a:ext cx="762000" cy="8382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1847" name="Line 7"/>
            <p:cNvSpPr>
              <a:spLocks noChangeShapeType="1"/>
            </p:cNvSpPr>
            <p:nvPr/>
          </p:nvSpPr>
          <p:spPr bwMode="auto">
            <a:xfrm>
              <a:off x="9829800" y="4038600"/>
              <a:ext cx="533400" cy="0"/>
            </a:xfrm>
            <a:prstGeom prst="line">
              <a:avLst/>
            </a:prstGeom>
            <a:noFill/>
            <a:ln w="57150">
              <a:solidFill>
                <a:srgbClr val="0FEFE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31844" name="Rectangle 4"/>
          <p:cNvSpPr>
            <a:spLocks noGrp="1" noChangeArrowheads="1"/>
          </p:cNvSpPr>
          <p:nvPr>
            <p:ph type="body" idx="1"/>
          </p:nvPr>
        </p:nvSpPr>
        <p:spPr>
          <a:xfrm>
            <a:off x="594048" y="205780"/>
            <a:ext cx="4968552" cy="1440160"/>
          </a:xfrm>
          <a:solidFill>
            <a:schemeClr val="bg1"/>
          </a:solidFill>
          <a:ln/>
          <a:extLst/>
        </p:spPr>
        <p:txBody>
          <a:bodyPr vert="horz" wrap="square" lIns="90487" tIns="44450" rIns="90487" bIns="44450" numCol="1" anchor="t" anchorCtr="0" compatLnSpc="1">
            <a:prstTxWarp prst="textNoShape">
              <a:avLst/>
            </a:prstTxWarp>
          </a:bodyPr>
          <a:lstStyle/>
          <a:p>
            <a:pPr>
              <a:lnSpc>
                <a:spcPct val="80000"/>
              </a:lnSpc>
            </a:pPr>
            <a:r>
              <a:rPr lang="en-US" altLang="zh-CN" sz="2400" dirty="0">
                <a:solidFill>
                  <a:srgbClr val="FF0000"/>
                </a:solidFill>
              </a:rPr>
              <a:t>Register file completely detached from computation</a:t>
            </a:r>
          </a:p>
          <a:p>
            <a:pPr>
              <a:lnSpc>
                <a:spcPct val="70000"/>
              </a:lnSpc>
            </a:pPr>
            <a:r>
              <a:rPr lang="en-US" altLang="zh-CN" sz="2400" dirty="0">
                <a:solidFill>
                  <a:srgbClr val="FF0000"/>
                </a:solidFill>
              </a:rPr>
              <a:t>First and Second iteration completely overlapped</a:t>
            </a:r>
          </a:p>
        </p:txBody>
      </p:sp>
    </p:spTree>
    <p:extLst>
      <p:ext uri="{BB962C8B-B14F-4D97-AF65-F5344CB8AC3E}">
        <p14:creationId xmlns:p14="http://schemas.microsoft.com/office/powerpoint/2010/main" val="128556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31844">
                                            <p:txEl>
                                              <p:pRg st="0" end="0"/>
                                            </p:txEl>
                                          </p:spTgt>
                                        </p:tgtEl>
                                        <p:attrNameLst>
                                          <p:attrName>style.visibility</p:attrName>
                                        </p:attrNameLst>
                                      </p:cBhvr>
                                      <p:to>
                                        <p:strVal val="visible"/>
                                      </p:to>
                                    </p:set>
                                    <p:anim calcmode="lin" valueType="num">
                                      <p:cBhvr additive="base">
                                        <p:cTn id="7" dur="500" fill="hold"/>
                                        <p:tgtEl>
                                          <p:spTgt spid="93184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3184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931844">
                                            <p:txEl>
                                              <p:pRg st="1" end="1"/>
                                            </p:txEl>
                                          </p:spTgt>
                                        </p:tgtEl>
                                        <p:attrNameLst>
                                          <p:attrName>style.visibility</p:attrName>
                                        </p:attrNameLst>
                                      </p:cBhvr>
                                      <p:to>
                                        <p:strVal val="visible"/>
                                      </p:to>
                                    </p:set>
                                    <p:anim calcmode="lin" valueType="num">
                                      <p:cBhvr additive="base">
                                        <p:cTn id="13" dur="500" fill="hold"/>
                                        <p:tgtEl>
                                          <p:spTgt spid="931844">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931844">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44" grpId="0" build="p"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866" name="Rectangle 2"/>
          <p:cNvSpPr>
            <a:spLocks noGrp="1" noChangeArrowheads="1"/>
          </p:cNvSpPr>
          <p:nvPr>
            <p:ph type="title"/>
          </p:nvPr>
        </p:nvSpPr>
        <p:spPr>
          <a:xfrm>
            <a:off x="2514600" y="582960"/>
            <a:ext cx="7162800" cy="685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a:t>Loop Example Cycle 8</a:t>
            </a:r>
          </a:p>
        </p:txBody>
      </p:sp>
      <p:grpSp>
        <p:nvGrpSpPr>
          <p:cNvPr id="2" name="组合 1"/>
          <p:cNvGrpSpPr/>
          <p:nvPr/>
        </p:nvGrpSpPr>
        <p:grpSpPr>
          <a:xfrm>
            <a:off x="1905000" y="1514177"/>
            <a:ext cx="8382000" cy="5083175"/>
            <a:chOff x="1905000" y="838201"/>
            <a:chExt cx="8382000" cy="5083175"/>
          </a:xfrm>
        </p:grpSpPr>
        <p:graphicFrame>
          <p:nvGraphicFramePr>
            <p:cNvPr id="932867" name="Object 3"/>
            <p:cNvGraphicFramePr>
              <a:graphicFrameLocks noChangeAspect="1"/>
            </p:cNvGraphicFramePr>
            <p:nvPr>
              <p:extLst/>
            </p:nvPr>
          </p:nvGraphicFramePr>
          <p:xfrm>
            <a:off x="1905000" y="838201"/>
            <a:ext cx="8013700" cy="5083175"/>
          </p:xfrm>
          <a:graphic>
            <a:graphicData uri="http://schemas.openxmlformats.org/presentationml/2006/ole">
              <mc:AlternateContent xmlns:mc="http://schemas.openxmlformats.org/markup-compatibility/2006">
                <mc:Choice xmlns:v="urn:schemas-microsoft-com:vml" Requires="v">
                  <p:oleObj spid="_x0000_s120877" name="工作表" r:id="rId3" imgW="8925151" imgH="5848832" progId="Excel.Sheet.8">
                    <p:embed/>
                  </p:oleObj>
                </mc:Choice>
                <mc:Fallback>
                  <p:oleObj name="工作表" r:id="rId3" imgW="8925151" imgH="5848832" progId="Excel.Sheet.8">
                    <p:embed/>
                    <p:pic>
                      <p:nvPicPr>
                        <p:cNvPr id="93286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838201"/>
                          <a:ext cx="8013700" cy="5083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32868" name="AutoShape 4"/>
            <p:cNvSpPr>
              <a:spLocks noChangeArrowheads="1"/>
            </p:cNvSpPr>
            <p:nvPr/>
          </p:nvSpPr>
          <p:spPr bwMode="auto">
            <a:xfrm>
              <a:off x="7239000" y="2514600"/>
              <a:ext cx="2819400" cy="3048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869" name="Line 5"/>
            <p:cNvSpPr>
              <a:spLocks noChangeShapeType="1"/>
            </p:cNvSpPr>
            <p:nvPr/>
          </p:nvSpPr>
          <p:spPr bwMode="auto">
            <a:xfrm>
              <a:off x="9753600" y="4267200"/>
              <a:ext cx="533400" cy="0"/>
            </a:xfrm>
            <a:prstGeom prst="line">
              <a:avLst/>
            </a:prstGeom>
            <a:noFill/>
            <a:ln w="57150">
              <a:solidFill>
                <a:srgbClr val="0FEFE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541710825"/>
      </p:ext>
    </p:extLst>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3890" name="Rectangle 2"/>
          <p:cNvSpPr>
            <a:spLocks noGrp="1" noChangeArrowheads="1"/>
          </p:cNvSpPr>
          <p:nvPr>
            <p:ph type="title"/>
          </p:nvPr>
        </p:nvSpPr>
        <p:spPr>
          <a:xfrm>
            <a:off x="6210300" y="593011"/>
            <a:ext cx="5885656" cy="685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a:t>Loop Example Cycle 9</a:t>
            </a:r>
          </a:p>
        </p:txBody>
      </p:sp>
      <p:grpSp>
        <p:nvGrpSpPr>
          <p:cNvPr id="2" name="组合 1"/>
          <p:cNvGrpSpPr/>
          <p:nvPr/>
        </p:nvGrpSpPr>
        <p:grpSpPr>
          <a:xfrm>
            <a:off x="1905000" y="1514177"/>
            <a:ext cx="8458200" cy="5083175"/>
            <a:chOff x="1905000" y="838201"/>
            <a:chExt cx="8458200" cy="5083175"/>
          </a:xfrm>
        </p:grpSpPr>
        <p:graphicFrame>
          <p:nvGraphicFramePr>
            <p:cNvPr id="933891" name="Object 3"/>
            <p:cNvGraphicFramePr>
              <a:graphicFrameLocks noChangeAspect="1"/>
            </p:cNvGraphicFramePr>
            <p:nvPr>
              <p:extLst/>
            </p:nvPr>
          </p:nvGraphicFramePr>
          <p:xfrm>
            <a:off x="1905000" y="838201"/>
            <a:ext cx="8013700" cy="5083175"/>
          </p:xfrm>
          <a:graphic>
            <a:graphicData uri="http://schemas.openxmlformats.org/presentationml/2006/ole">
              <mc:AlternateContent xmlns:mc="http://schemas.openxmlformats.org/markup-compatibility/2006">
                <mc:Choice xmlns:v="urn:schemas-microsoft-com:vml" Requires="v">
                  <p:oleObj spid="_x0000_s121901" name="工作表" r:id="rId3" imgW="8925266" imgH="5848556" progId="Excel.Sheet.8">
                    <p:embed/>
                  </p:oleObj>
                </mc:Choice>
                <mc:Fallback>
                  <p:oleObj name="工作表" r:id="rId3" imgW="8925266" imgH="5848556" progId="Excel.Sheet.8">
                    <p:embed/>
                    <p:pic>
                      <p:nvPicPr>
                        <p:cNvPr id="93389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838201"/>
                          <a:ext cx="8013700" cy="5083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33893" name="AutoShape 5"/>
            <p:cNvSpPr>
              <a:spLocks noChangeArrowheads="1"/>
            </p:cNvSpPr>
            <p:nvPr/>
          </p:nvSpPr>
          <p:spPr bwMode="auto">
            <a:xfrm>
              <a:off x="5943600" y="1447800"/>
              <a:ext cx="533400" cy="3810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3894" name="Line 6"/>
            <p:cNvSpPr>
              <a:spLocks noChangeShapeType="1"/>
            </p:cNvSpPr>
            <p:nvPr/>
          </p:nvSpPr>
          <p:spPr bwMode="auto">
            <a:xfrm>
              <a:off x="9829800" y="4495800"/>
              <a:ext cx="533400" cy="0"/>
            </a:xfrm>
            <a:prstGeom prst="line">
              <a:avLst/>
            </a:prstGeom>
            <a:noFill/>
            <a:ln w="57150">
              <a:solidFill>
                <a:srgbClr val="0FEFE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33892" name="Rectangle 4"/>
          <p:cNvSpPr>
            <a:spLocks noGrp="1" noChangeArrowheads="1"/>
          </p:cNvSpPr>
          <p:nvPr>
            <p:ph type="body" idx="1"/>
          </p:nvPr>
        </p:nvSpPr>
        <p:spPr>
          <a:xfrm>
            <a:off x="351433" y="485086"/>
            <a:ext cx="5858867" cy="901650"/>
          </a:xfrm>
          <a:solidFill>
            <a:schemeClr val="bg1"/>
          </a:solidFill>
          <a:ln/>
          <a:extLst/>
        </p:spPr>
        <p:txBody>
          <a:bodyPr vert="horz" wrap="square" lIns="90487" tIns="44450" rIns="90487" bIns="44450" numCol="1" anchor="t" anchorCtr="0" compatLnSpc="1">
            <a:prstTxWarp prst="textNoShape">
              <a:avLst/>
            </a:prstTxWarp>
          </a:bodyPr>
          <a:lstStyle/>
          <a:p>
            <a:pPr>
              <a:lnSpc>
                <a:spcPct val="70000"/>
              </a:lnSpc>
            </a:pPr>
            <a:r>
              <a:rPr lang="en-US" altLang="zh-CN" dirty="0">
                <a:solidFill>
                  <a:srgbClr val="FF0000"/>
                </a:solidFill>
              </a:rPr>
              <a:t>Load1 completing: who is waiting?</a:t>
            </a:r>
          </a:p>
          <a:p>
            <a:pPr>
              <a:lnSpc>
                <a:spcPct val="70000"/>
              </a:lnSpc>
            </a:pPr>
            <a:r>
              <a:rPr lang="en-US" altLang="zh-CN" dirty="0">
                <a:solidFill>
                  <a:srgbClr val="FF0000"/>
                </a:solidFill>
              </a:rPr>
              <a:t>Note: Dispatching SUBI</a:t>
            </a:r>
          </a:p>
        </p:txBody>
      </p:sp>
    </p:spTree>
    <p:extLst>
      <p:ext uri="{BB962C8B-B14F-4D97-AF65-F5344CB8AC3E}">
        <p14:creationId xmlns:p14="http://schemas.microsoft.com/office/powerpoint/2010/main" val="67243027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33892">
                                            <p:txEl>
                                              <p:pRg st="0" end="0"/>
                                            </p:txEl>
                                          </p:spTgt>
                                        </p:tgtEl>
                                        <p:attrNameLst>
                                          <p:attrName>style.visibility</p:attrName>
                                        </p:attrNameLst>
                                      </p:cBhvr>
                                      <p:to>
                                        <p:strVal val="visible"/>
                                      </p:to>
                                    </p:set>
                                    <p:anim calcmode="lin" valueType="num">
                                      <p:cBhvr additive="base">
                                        <p:cTn id="7" dur="500" fill="hold"/>
                                        <p:tgtEl>
                                          <p:spTgt spid="93389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3389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933892">
                                            <p:txEl>
                                              <p:pRg st="1" end="1"/>
                                            </p:txEl>
                                          </p:spTgt>
                                        </p:tgtEl>
                                        <p:attrNameLst>
                                          <p:attrName>style.visibility</p:attrName>
                                        </p:attrNameLst>
                                      </p:cBhvr>
                                      <p:to>
                                        <p:strVal val="visible"/>
                                      </p:to>
                                    </p:set>
                                    <p:anim calcmode="lin" valueType="num">
                                      <p:cBhvr additive="base">
                                        <p:cTn id="13" dur="500" fill="hold"/>
                                        <p:tgtEl>
                                          <p:spTgt spid="933892">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933892">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3892" grpId="0" build="p"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4151784" y="44624"/>
            <a:ext cx="7776864" cy="6698982"/>
          </a:xfrm>
          <a:prstGeom prst="rect">
            <a:avLst/>
          </a:prstGeom>
        </p:spPr>
      </p:pic>
      <p:sp>
        <p:nvSpPr>
          <p:cNvPr id="4" name="矩形 3"/>
          <p:cNvSpPr/>
          <p:nvPr/>
        </p:nvSpPr>
        <p:spPr>
          <a:xfrm>
            <a:off x="0" y="1628800"/>
            <a:ext cx="4079776" cy="3785652"/>
          </a:xfrm>
          <a:prstGeom prst="rect">
            <a:avLst/>
          </a:prstGeom>
        </p:spPr>
        <p:txBody>
          <a:bodyPr wrap="square">
            <a:spAutoFit/>
          </a:bodyPr>
          <a:lstStyle/>
          <a:p>
            <a:pPr marL="457200" indent="-457200">
              <a:buFont typeface="Arial" panose="020B0604020202020204" pitchFamily="34" charset="0"/>
              <a:buChar char="•"/>
            </a:pPr>
            <a:r>
              <a:rPr lang="en-US" altLang="zh-CN" sz="2400" dirty="0">
                <a:solidFill>
                  <a:srgbClr val="0000FF"/>
                </a:solidFill>
              </a:rPr>
              <a:t>Entries in the multiplier reservation stations indicate that the outstanding loads are the </a:t>
            </a:r>
            <a:r>
              <a:rPr lang="en-US" altLang="zh-CN" sz="2400" dirty="0" smtClean="0">
                <a:solidFill>
                  <a:srgbClr val="0000FF"/>
                </a:solidFill>
              </a:rPr>
              <a:t>sources</a:t>
            </a:r>
          </a:p>
          <a:p>
            <a:pPr marL="457200" indent="-457200">
              <a:buFont typeface="Arial" panose="020B0604020202020204" pitchFamily="34" charset="0"/>
              <a:buChar char="•"/>
            </a:pPr>
            <a:r>
              <a:rPr lang="en-US" altLang="zh-CN" sz="2400" dirty="0" smtClean="0">
                <a:solidFill>
                  <a:srgbClr val="0000FF"/>
                </a:solidFill>
              </a:rPr>
              <a:t>The </a:t>
            </a:r>
            <a:r>
              <a:rPr lang="en-US" altLang="zh-CN" sz="2400" dirty="0">
                <a:solidFill>
                  <a:srgbClr val="0000FF"/>
                </a:solidFill>
              </a:rPr>
              <a:t>store reservation stations indicate that the multiply destination is the source of the value to </a:t>
            </a:r>
            <a:r>
              <a:rPr lang="en-US" altLang="zh-CN" sz="2400" dirty="0" smtClean="0">
                <a:solidFill>
                  <a:srgbClr val="0000FF"/>
                </a:solidFill>
              </a:rPr>
              <a:t>store</a:t>
            </a:r>
            <a:endParaRPr lang="zh-CN" altLang="en-US" sz="2400" dirty="0"/>
          </a:p>
        </p:txBody>
      </p:sp>
    </p:spTree>
    <p:extLst>
      <p:ext uri="{BB962C8B-B14F-4D97-AF65-F5344CB8AC3E}">
        <p14:creationId xmlns:p14="http://schemas.microsoft.com/office/powerpoint/2010/main" val="254149092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4914" name="Rectangle 2"/>
          <p:cNvSpPr>
            <a:spLocks noGrp="1" noChangeArrowheads="1"/>
          </p:cNvSpPr>
          <p:nvPr>
            <p:ph type="title"/>
          </p:nvPr>
        </p:nvSpPr>
        <p:spPr>
          <a:xfrm>
            <a:off x="5879976" y="582960"/>
            <a:ext cx="6120680" cy="685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a:t>Loop Example Cycle 10</a:t>
            </a:r>
          </a:p>
        </p:txBody>
      </p:sp>
      <p:sp>
        <p:nvSpPr>
          <p:cNvPr id="934916" name="Rectangle 4"/>
          <p:cNvSpPr>
            <a:spLocks noGrp="1" noChangeArrowheads="1"/>
          </p:cNvSpPr>
          <p:nvPr>
            <p:ph type="body" idx="1"/>
          </p:nvPr>
        </p:nvSpPr>
        <p:spPr>
          <a:xfrm>
            <a:off x="94824" y="463341"/>
            <a:ext cx="5904656" cy="829642"/>
          </a:xfrm>
          <a:solidFill>
            <a:schemeClr val="bg1"/>
          </a:solidFill>
          <a:ln/>
          <a:extLst/>
        </p:spPr>
        <p:txBody>
          <a:bodyPr vert="horz" wrap="square" lIns="90487" tIns="44450" rIns="90487" bIns="44450" numCol="1" anchor="t" anchorCtr="0" compatLnSpc="1">
            <a:prstTxWarp prst="textNoShape">
              <a:avLst/>
            </a:prstTxWarp>
          </a:bodyPr>
          <a:lstStyle/>
          <a:p>
            <a:pPr>
              <a:lnSpc>
                <a:spcPct val="70000"/>
              </a:lnSpc>
            </a:pPr>
            <a:r>
              <a:rPr lang="en-US" altLang="zh-CN" dirty="0">
                <a:solidFill>
                  <a:srgbClr val="FF0000"/>
                </a:solidFill>
              </a:rPr>
              <a:t>Load2 completing: who is waiting?</a:t>
            </a:r>
          </a:p>
          <a:p>
            <a:pPr>
              <a:lnSpc>
                <a:spcPct val="70000"/>
              </a:lnSpc>
            </a:pPr>
            <a:r>
              <a:rPr lang="en-US" altLang="zh-CN" dirty="0">
                <a:solidFill>
                  <a:srgbClr val="FF0000"/>
                </a:solidFill>
              </a:rPr>
              <a:t>Note: Dispatching BNEZ</a:t>
            </a:r>
          </a:p>
        </p:txBody>
      </p:sp>
      <p:grpSp>
        <p:nvGrpSpPr>
          <p:cNvPr id="2" name="组合 1"/>
          <p:cNvGrpSpPr/>
          <p:nvPr/>
        </p:nvGrpSpPr>
        <p:grpSpPr>
          <a:xfrm>
            <a:off x="1905000" y="1563961"/>
            <a:ext cx="8458200" cy="5105399"/>
            <a:chOff x="1905000" y="838201"/>
            <a:chExt cx="8458200" cy="5105399"/>
          </a:xfrm>
        </p:grpSpPr>
        <p:graphicFrame>
          <p:nvGraphicFramePr>
            <p:cNvPr id="934915" name="Object 3"/>
            <p:cNvGraphicFramePr>
              <a:graphicFrameLocks noChangeAspect="1"/>
            </p:cNvGraphicFramePr>
            <p:nvPr>
              <p:extLst/>
            </p:nvPr>
          </p:nvGraphicFramePr>
          <p:xfrm>
            <a:off x="1905000" y="838201"/>
            <a:ext cx="8013700" cy="5083175"/>
          </p:xfrm>
          <a:graphic>
            <a:graphicData uri="http://schemas.openxmlformats.org/presentationml/2006/ole">
              <mc:AlternateContent xmlns:mc="http://schemas.openxmlformats.org/markup-compatibility/2006">
                <mc:Choice xmlns:v="urn:schemas-microsoft-com:vml" Requires="v">
                  <p:oleObj spid="_x0000_s122925" name="工作表" r:id="rId3" imgW="8925151" imgH="5848832" progId="Excel.Sheet.8">
                    <p:embed/>
                  </p:oleObj>
                </mc:Choice>
                <mc:Fallback>
                  <p:oleObj name="工作表" r:id="rId3" imgW="8925151" imgH="5848832" progId="Excel.Sheet.8">
                    <p:embed/>
                    <p:pic>
                      <p:nvPicPr>
                        <p:cNvPr id="93491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838201"/>
                          <a:ext cx="8013700" cy="5083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34917" name="AutoShape 5"/>
            <p:cNvSpPr>
              <a:spLocks noChangeArrowheads="1"/>
            </p:cNvSpPr>
            <p:nvPr/>
          </p:nvSpPr>
          <p:spPr bwMode="auto">
            <a:xfrm>
              <a:off x="4648200" y="4343400"/>
              <a:ext cx="762000" cy="3810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4918" name="AutoShape 6"/>
            <p:cNvSpPr>
              <a:spLocks noChangeArrowheads="1"/>
            </p:cNvSpPr>
            <p:nvPr/>
          </p:nvSpPr>
          <p:spPr bwMode="auto">
            <a:xfrm>
              <a:off x="7239000" y="1447800"/>
              <a:ext cx="1219200" cy="3048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4919" name="AutoShape 7"/>
            <p:cNvSpPr>
              <a:spLocks noChangeArrowheads="1"/>
            </p:cNvSpPr>
            <p:nvPr/>
          </p:nvSpPr>
          <p:spPr bwMode="auto">
            <a:xfrm>
              <a:off x="6477000" y="1447800"/>
              <a:ext cx="533400" cy="3810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4920" name="AutoShape 8"/>
            <p:cNvSpPr>
              <a:spLocks noChangeArrowheads="1"/>
            </p:cNvSpPr>
            <p:nvPr/>
          </p:nvSpPr>
          <p:spPr bwMode="auto">
            <a:xfrm>
              <a:off x="5943600" y="2209800"/>
              <a:ext cx="533400" cy="3810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4921" name="AutoShape 9"/>
            <p:cNvSpPr>
              <a:spLocks noChangeArrowheads="1"/>
            </p:cNvSpPr>
            <p:nvPr/>
          </p:nvSpPr>
          <p:spPr bwMode="auto">
            <a:xfrm>
              <a:off x="2895600" y="5562600"/>
              <a:ext cx="533400" cy="3810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4922" name="Line 10"/>
            <p:cNvSpPr>
              <a:spLocks noChangeShapeType="1"/>
            </p:cNvSpPr>
            <p:nvPr/>
          </p:nvSpPr>
          <p:spPr bwMode="auto">
            <a:xfrm>
              <a:off x="9829800" y="4876800"/>
              <a:ext cx="533400" cy="0"/>
            </a:xfrm>
            <a:prstGeom prst="line">
              <a:avLst/>
            </a:prstGeom>
            <a:noFill/>
            <a:ln w="57150">
              <a:solidFill>
                <a:srgbClr val="0FEFE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100960086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34916">
                                            <p:txEl>
                                              <p:pRg st="0" end="0"/>
                                            </p:txEl>
                                          </p:spTgt>
                                        </p:tgtEl>
                                        <p:attrNameLst>
                                          <p:attrName>style.visibility</p:attrName>
                                        </p:attrNameLst>
                                      </p:cBhvr>
                                      <p:to>
                                        <p:strVal val="visible"/>
                                      </p:to>
                                    </p:set>
                                    <p:anim calcmode="lin" valueType="num">
                                      <p:cBhvr additive="base">
                                        <p:cTn id="7" dur="500" fill="hold"/>
                                        <p:tgtEl>
                                          <p:spTgt spid="93491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3491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934916">
                                            <p:txEl>
                                              <p:pRg st="1" end="1"/>
                                            </p:txEl>
                                          </p:spTgt>
                                        </p:tgtEl>
                                        <p:attrNameLst>
                                          <p:attrName>style.visibility</p:attrName>
                                        </p:attrNameLst>
                                      </p:cBhvr>
                                      <p:to>
                                        <p:strVal val="visible"/>
                                      </p:to>
                                    </p:set>
                                    <p:anim calcmode="lin" valueType="num">
                                      <p:cBhvr additive="base">
                                        <p:cTn id="13" dur="500" fill="hold"/>
                                        <p:tgtEl>
                                          <p:spTgt spid="934916">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934916">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4916" grpId="0" build="p"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5938" name="Rectangle 2"/>
          <p:cNvSpPr>
            <a:spLocks noGrp="1" noChangeArrowheads="1"/>
          </p:cNvSpPr>
          <p:nvPr>
            <p:ph type="title"/>
          </p:nvPr>
        </p:nvSpPr>
        <p:spPr>
          <a:xfrm>
            <a:off x="2514600" y="582960"/>
            <a:ext cx="7162800" cy="685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a:t>Loop Example Cycle 11</a:t>
            </a:r>
          </a:p>
        </p:txBody>
      </p:sp>
      <p:sp>
        <p:nvSpPr>
          <p:cNvPr id="935940" name="Rectangle 4"/>
          <p:cNvSpPr>
            <a:spLocks noGrp="1" noChangeArrowheads="1"/>
          </p:cNvSpPr>
          <p:nvPr>
            <p:ph type="body" idx="1"/>
          </p:nvPr>
        </p:nvSpPr>
        <p:spPr>
          <a:xfrm>
            <a:off x="119336" y="2863552"/>
            <a:ext cx="2304256" cy="444500"/>
          </a:xfrm>
          <a:solidFill>
            <a:schemeClr val="bg1"/>
          </a:solidFill>
          <a:ln/>
          <a:extLst/>
        </p:spPr>
        <p:txBody>
          <a:bodyPr vert="horz" wrap="square" lIns="90487" tIns="44450" rIns="90487" bIns="44450" numCol="1" anchor="t" anchorCtr="0" compatLnSpc="1">
            <a:prstTxWarp prst="textNoShape">
              <a:avLst/>
            </a:prstTxWarp>
          </a:bodyPr>
          <a:lstStyle/>
          <a:p>
            <a:pPr>
              <a:lnSpc>
                <a:spcPct val="70000"/>
              </a:lnSpc>
            </a:pPr>
            <a:r>
              <a:rPr lang="en-US" altLang="zh-CN" dirty="0">
                <a:solidFill>
                  <a:srgbClr val="FF0000"/>
                </a:solidFill>
              </a:rPr>
              <a:t>Next load in sequence</a:t>
            </a:r>
          </a:p>
        </p:txBody>
      </p:sp>
      <p:grpSp>
        <p:nvGrpSpPr>
          <p:cNvPr id="3" name="组合 2"/>
          <p:cNvGrpSpPr/>
          <p:nvPr/>
        </p:nvGrpSpPr>
        <p:grpSpPr>
          <a:xfrm>
            <a:off x="1905000" y="1563961"/>
            <a:ext cx="8458200" cy="5105399"/>
            <a:chOff x="1905000" y="1491953"/>
            <a:chExt cx="8458200" cy="5105399"/>
          </a:xfrm>
        </p:grpSpPr>
        <p:grpSp>
          <p:nvGrpSpPr>
            <p:cNvPr id="2" name="组合 1"/>
            <p:cNvGrpSpPr/>
            <p:nvPr/>
          </p:nvGrpSpPr>
          <p:grpSpPr>
            <a:xfrm>
              <a:off x="1905000" y="1491953"/>
              <a:ext cx="8013700" cy="5105399"/>
              <a:chOff x="1905000" y="838201"/>
              <a:chExt cx="8013700" cy="5105399"/>
            </a:xfrm>
          </p:grpSpPr>
          <p:graphicFrame>
            <p:nvGraphicFramePr>
              <p:cNvPr id="935939" name="Object 3"/>
              <p:cNvGraphicFramePr>
                <a:graphicFrameLocks noChangeAspect="1"/>
              </p:cNvGraphicFramePr>
              <p:nvPr>
                <p:extLst/>
              </p:nvPr>
            </p:nvGraphicFramePr>
            <p:xfrm>
              <a:off x="1905000" y="838201"/>
              <a:ext cx="8013700" cy="5083175"/>
            </p:xfrm>
            <a:graphic>
              <a:graphicData uri="http://schemas.openxmlformats.org/presentationml/2006/ole">
                <mc:AlternateContent xmlns:mc="http://schemas.openxmlformats.org/markup-compatibility/2006">
                  <mc:Choice xmlns:v="urn:schemas-microsoft-com:vml" Requires="v">
                    <p:oleObj spid="_x0000_s123949" name="工作表" r:id="rId3" imgW="8925151" imgH="5848832" progId="Excel.Sheet.8">
                      <p:embed/>
                    </p:oleObj>
                  </mc:Choice>
                  <mc:Fallback>
                    <p:oleObj name="工作表" r:id="rId3" imgW="8925151" imgH="5848832" progId="Excel.Sheet.8">
                      <p:embed/>
                      <p:pic>
                        <p:nvPicPr>
                          <p:cNvPr id="93593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838201"/>
                            <a:ext cx="8013700" cy="5083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35941" name="AutoShape 5"/>
              <p:cNvSpPr>
                <a:spLocks noChangeArrowheads="1"/>
              </p:cNvSpPr>
              <p:nvPr/>
            </p:nvSpPr>
            <p:spPr bwMode="auto">
              <a:xfrm>
                <a:off x="4648200" y="4648200"/>
                <a:ext cx="762000" cy="3810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5942" name="AutoShape 6"/>
              <p:cNvSpPr>
                <a:spLocks noChangeArrowheads="1"/>
              </p:cNvSpPr>
              <p:nvPr/>
            </p:nvSpPr>
            <p:spPr bwMode="auto">
              <a:xfrm>
                <a:off x="7239000" y="1752600"/>
                <a:ext cx="1219200" cy="2286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5943" name="AutoShape 7"/>
              <p:cNvSpPr>
                <a:spLocks noChangeArrowheads="1"/>
              </p:cNvSpPr>
              <p:nvPr/>
            </p:nvSpPr>
            <p:spPr bwMode="auto">
              <a:xfrm>
                <a:off x="4114801" y="5181600"/>
                <a:ext cx="695325" cy="7620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5944" name="AutoShape 8"/>
              <p:cNvSpPr>
                <a:spLocks noChangeArrowheads="1"/>
              </p:cNvSpPr>
              <p:nvPr/>
            </p:nvSpPr>
            <p:spPr bwMode="auto">
              <a:xfrm>
                <a:off x="7162800" y="1981200"/>
                <a:ext cx="2209800" cy="3048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5945" name="AutoShape 9"/>
              <p:cNvSpPr>
                <a:spLocks noChangeArrowheads="1"/>
              </p:cNvSpPr>
              <p:nvPr/>
            </p:nvSpPr>
            <p:spPr bwMode="auto">
              <a:xfrm>
                <a:off x="6477000" y="2209800"/>
                <a:ext cx="533400" cy="3810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35946" name="Line 10"/>
            <p:cNvSpPr>
              <a:spLocks noChangeShapeType="1"/>
            </p:cNvSpPr>
            <p:nvPr/>
          </p:nvSpPr>
          <p:spPr bwMode="auto">
            <a:xfrm>
              <a:off x="9829800" y="4365104"/>
              <a:ext cx="533400" cy="0"/>
            </a:xfrm>
            <a:prstGeom prst="line">
              <a:avLst/>
            </a:prstGeom>
            <a:noFill/>
            <a:ln w="57150">
              <a:solidFill>
                <a:srgbClr val="0FEFE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07193431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35940">
                                            <p:txEl>
                                              <p:pRg st="0" end="0"/>
                                            </p:txEl>
                                          </p:spTgt>
                                        </p:tgtEl>
                                        <p:attrNameLst>
                                          <p:attrName>style.visibility</p:attrName>
                                        </p:attrNameLst>
                                      </p:cBhvr>
                                      <p:to>
                                        <p:strVal val="visible"/>
                                      </p:to>
                                    </p:set>
                                    <p:anim calcmode="lin" valueType="num">
                                      <p:cBhvr additive="base">
                                        <p:cTn id="7" dur="500" fill="hold"/>
                                        <p:tgtEl>
                                          <p:spTgt spid="93594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35940">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5940" grpId="0" build="p"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6962" name="Rectangle 2"/>
          <p:cNvSpPr>
            <a:spLocks noGrp="1" noChangeArrowheads="1"/>
          </p:cNvSpPr>
          <p:nvPr>
            <p:ph type="title"/>
          </p:nvPr>
        </p:nvSpPr>
        <p:spPr>
          <a:xfrm>
            <a:off x="2514600" y="582960"/>
            <a:ext cx="7162800" cy="685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a:t>Loop Example Cycle 12</a:t>
            </a:r>
          </a:p>
        </p:txBody>
      </p:sp>
      <p:sp>
        <p:nvSpPr>
          <p:cNvPr id="936964" name="Rectangle 4"/>
          <p:cNvSpPr>
            <a:spLocks noGrp="1" noChangeArrowheads="1"/>
          </p:cNvSpPr>
          <p:nvPr>
            <p:ph type="body" idx="1"/>
          </p:nvPr>
        </p:nvSpPr>
        <p:spPr>
          <a:xfrm>
            <a:off x="248704" y="2348880"/>
            <a:ext cx="2423592" cy="444500"/>
          </a:xfrm>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7" tIns="44450" rIns="90487" bIns="44450" numCol="1" anchor="t" anchorCtr="0" compatLnSpc="1">
            <a:prstTxWarp prst="textNoShape">
              <a:avLst/>
            </a:prstTxWarp>
          </a:bodyPr>
          <a:lstStyle/>
          <a:p>
            <a:pPr>
              <a:lnSpc>
                <a:spcPct val="70000"/>
              </a:lnSpc>
            </a:pPr>
            <a:r>
              <a:rPr lang="en-US" altLang="zh-CN" dirty="0">
                <a:solidFill>
                  <a:srgbClr val="FF0000"/>
                </a:solidFill>
              </a:rPr>
              <a:t>Why not issue third multiply?</a:t>
            </a:r>
          </a:p>
        </p:txBody>
      </p:sp>
      <p:grpSp>
        <p:nvGrpSpPr>
          <p:cNvPr id="2" name="组合 1"/>
          <p:cNvGrpSpPr/>
          <p:nvPr/>
        </p:nvGrpSpPr>
        <p:grpSpPr>
          <a:xfrm>
            <a:off x="1905000" y="1514177"/>
            <a:ext cx="8458200" cy="5083175"/>
            <a:chOff x="1905000" y="838201"/>
            <a:chExt cx="8458200" cy="5083175"/>
          </a:xfrm>
        </p:grpSpPr>
        <p:graphicFrame>
          <p:nvGraphicFramePr>
            <p:cNvPr id="936963" name="Object 3"/>
            <p:cNvGraphicFramePr>
              <a:graphicFrameLocks noChangeAspect="1"/>
            </p:cNvGraphicFramePr>
            <p:nvPr>
              <p:extLst/>
            </p:nvPr>
          </p:nvGraphicFramePr>
          <p:xfrm>
            <a:off x="1905000" y="838201"/>
            <a:ext cx="8013700" cy="5083175"/>
          </p:xfrm>
          <a:graphic>
            <a:graphicData uri="http://schemas.openxmlformats.org/presentationml/2006/ole">
              <mc:AlternateContent xmlns:mc="http://schemas.openxmlformats.org/markup-compatibility/2006">
                <mc:Choice xmlns:v="urn:schemas-microsoft-com:vml" Requires="v">
                  <p:oleObj spid="_x0000_s124973" name="工作表" r:id="rId3" imgW="8925151" imgH="5848832" progId="Excel.Sheet.8">
                    <p:embed/>
                  </p:oleObj>
                </mc:Choice>
                <mc:Fallback>
                  <p:oleObj name="工作表" r:id="rId3" imgW="8925151" imgH="5848832" progId="Excel.Sheet.8">
                    <p:embed/>
                    <p:pic>
                      <p:nvPicPr>
                        <p:cNvPr id="93696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838201"/>
                          <a:ext cx="8013700" cy="5083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36965" name="Line 5"/>
            <p:cNvSpPr>
              <a:spLocks noChangeShapeType="1"/>
            </p:cNvSpPr>
            <p:nvPr/>
          </p:nvSpPr>
          <p:spPr bwMode="auto">
            <a:xfrm>
              <a:off x="9829800" y="3962400"/>
              <a:ext cx="533400" cy="0"/>
            </a:xfrm>
            <a:prstGeom prst="line">
              <a:avLst/>
            </a:prstGeom>
            <a:noFill/>
            <a:ln w="57150">
              <a:solidFill>
                <a:srgbClr val="0FEFE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41218806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36964">
                                            <p:txEl>
                                              <p:pRg st="0" end="0"/>
                                            </p:txEl>
                                          </p:spTgt>
                                        </p:tgtEl>
                                        <p:attrNameLst>
                                          <p:attrName>style.visibility</p:attrName>
                                        </p:attrNameLst>
                                      </p:cBhvr>
                                      <p:to>
                                        <p:strVal val="visible"/>
                                      </p:to>
                                    </p:set>
                                    <p:anim calcmode="lin" valueType="num">
                                      <p:cBhvr additive="base">
                                        <p:cTn id="7" dur="500" fill="hold"/>
                                        <p:tgtEl>
                                          <p:spTgt spid="93696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3696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6964" grpId="0" build="p"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7986" name="Rectangle 2"/>
          <p:cNvSpPr>
            <a:spLocks noGrp="1" noChangeArrowheads="1"/>
          </p:cNvSpPr>
          <p:nvPr>
            <p:ph type="title"/>
          </p:nvPr>
        </p:nvSpPr>
        <p:spPr>
          <a:xfrm>
            <a:off x="2514600" y="582960"/>
            <a:ext cx="7162800" cy="685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a:t>Loop Example Cycle 13</a:t>
            </a:r>
          </a:p>
        </p:txBody>
      </p:sp>
      <p:sp>
        <p:nvSpPr>
          <p:cNvPr id="937988" name="Rectangle 4"/>
          <p:cNvSpPr>
            <a:spLocks noGrp="1" noChangeArrowheads="1"/>
          </p:cNvSpPr>
          <p:nvPr>
            <p:ph type="body" idx="1"/>
          </p:nvPr>
        </p:nvSpPr>
        <p:spPr>
          <a:xfrm>
            <a:off x="256133" y="2492896"/>
            <a:ext cx="2258467" cy="444500"/>
          </a:xfrm>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7" tIns="44450" rIns="90487" bIns="44450" numCol="1" anchor="t" anchorCtr="0" compatLnSpc="1">
            <a:prstTxWarp prst="textNoShape">
              <a:avLst/>
            </a:prstTxWarp>
          </a:bodyPr>
          <a:lstStyle/>
          <a:p>
            <a:pPr>
              <a:lnSpc>
                <a:spcPct val="70000"/>
              </a:lnSpc>
            </a:pPr>
            <a:r>
              <a:rPr lang="en-US" altLang="zh-CN" dirty="0">
                <a:solidFill>
                  <a:srgbClr val="FF0000"/>
                </a:solidFill>
              </a:rPr>
              <a:t>Why not issue third store?</a:t>
            </a:r>
          </a:p>
        </p:txBody>
      </p:sp>
      <p:grpSp>
        <p:nvGrpSpPr>
          <p:cNvPr id="2" name="组合 1"/>
          <p:cNvGrpSpPr/>
          <p:nvPr/>
        </p:nvGrpSpPr>
        <p:grpSpPr>
          <a:xfrm>
            <a:off x="1905000" y="1514177"/>
            <a:ext cx="8458200" cy="5083175"/>
            <a:chOff x="1905000" y="838201"/>
            <a:chExt cx="8458200" cy="5083175"/>
          </a:xfrm>
        </p:grpSpPr>
        <p:graphicFrame>
          <p:nvGraphicFramePr>
            <p:cNvPr id="937987" name="Object 3"/>
            <p:cNvGraphicFramePr>
              <a:graphicFrameLocks noChangeAspect="1"/>
            </p:cNvGraphicFramePr>
            <p:nvPr>
              <p:extLst/>
            </p:nvPr>
          </p:nvGraphicFramePr>
          <p:xfrm>
            <a:off x="1905000" y="838201"/>
            <a:ext cx="8013700" cy="5083175"/>
          </p:xfrm>
          <a:graphic>
            <a:graphicData uri="http://schemas.openxmlformats.org/presentationml/2006/ole">
              <mc:AlternateContent xmlns:mc="http://schemas.openxmlformats.org/markup-compatibility/2006">
                <mc:Choice xmlns:v="urn:schemas-microsoft-com:vml" Requires="v">
                  <p:oleObj spid="_x0000_s125997" name="工作表" r:id="rId3" imgW="8925151" imgH="5848832" progId="Excel.Sheet.8">
                    <p:embed/>
                  </p:oleObj>
                </mc:Choice>
                <mc:Fallback>
                  <p:oleObj name="工作表" r:id="rId3" imgW="8925151" imgH="5848832" progId="Excel.Sheet.8">
                    <p:embed/>
                    <p:pic>
                      <p:nvPicPr>
                        <p:cNvPr id="93798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838201"/>
                          <a:ext cx="8013700" cy="5083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37989" name="Line 5"/>
            <p:cNvSpPr>
              <a:spLocks noChangeShapeType="1"/>
            </p:cNvSpPr>
            <p:nvPr/>
          </p:nvSpPr>
          <p:spPr bwMode="auto">
            <a:xfrm>
              <a:off x="9829800" y="3962400"/>
              <a:ext cx="533400" cy="0"/>
            </a:xfrm>
            <a:prstGeom prst="line">
              <a:avLst/>
            </a:prstGeom>
            <a:noFill/>
            <a:ln w="57150">
              <a:solidFill>
                <a:srgbClr val="0FEFE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169569027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37988">
                                            <p:txEl>
                                              <p:pRg st="0" end="0"/>
                                            </p:txEl>
                                          </p:spTgt>
                                        </p:tgtEl>
                                        <p:attrNameLst>
                                          <p:attrName>style.visibility</p:attrName>
                                        </p:attrNameLst>
                                      </p:cBhvr>
                                      <p:to>
                                        <p:strVal val="visible"/>
                                      </p:to>
                                    </p:set>
                                    <p:anim calcmode="lin" valueType="num">
                                      <p:cBhvr additive="base">
                                        <p:cTn id="7" dur="500" fill="hold"/>
                                        <p:tgtEl>
                                          <p:spTgt spid="93798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3798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7988" grpId="0" build="p"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9010" name="Rectangle 2"/>
          <p:cNvSpPr>
            <a:spLocks noGrp="1" noChangeArrowheads="1"/>
          </p:cNvSpPr>
          <p:nvPr>
            <p:ph type="title"/>
          </p:nvPr>
        </p:nvSpPr>
        <p:spPr>
          <a:xfrm>
            <a:off x="4367808" y="654968"/>
            <a:ext cx="6624736" cy="685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a:t>Loop Example Cycle 14</a:t>
            </a:r>
          </a:p>
        </p:txBody>
      </p:sp>
      <p:sp>
        <p:nvSpPr>
          <p:cNvPr id="939012" name="Rectangle 4"/>
          <p:cNvSpPr>
            <a:spLocks noGrp="1" noChangeArrowheads="1"/>
          </p:cNvSpPr>
          <p:nvPr>
            <p:ph type="body" idx="1"/>
          </p:nvPr>
        </p:nvSpPr>
        <p:spPr>
          <a:xfrm>
            <a:off x="407368" y="632743"/>
            <a:ext cx="3698627" cy="730250"/>
          </a:xfrm>
          <a:solidFill>
            <a:schemeClr val="bg1"/>
          </a:solidFill>
          <a:ln/>
          <a:extLst/>
        </p:spPr>
        <p:txBody>
          <a:bodyPr vert="horz" wrap="square" lIns="90487" tIns="44450" rIns="90487" bIns="44450" numCol="1" anchor="t" anchorCtr="0" compatLnSpc="1">
            <a:prstTxWarp prst="textNoShape">
              <a:avLst/>
            </a:prstTxWarp>
          </a:bodyPr>
          <a:lstStyle/>
          <a:p>
            <a:pPr>
              <a:lnSpc>
                <a:spcPct val="70000"/>
              </a:lnSpc>
            </a:pPr>
            <a:r>
              <a:rPr lang="en-US" altLang="zh-CN" dirty="0">
                <a:solidFill>
                  <a:srgbClr val="FF0000"/>
                </a:solidFill>
              </a:rPr>
              <a:t>Mult1 completing.  Who is waiting?</a:t>
            </a:r>
          </a:p>
        </p:txBody>
      </p:sp>
      <p:grpSp>
        <p:nvGrpSpPr>
          <p:cNvPr id="2" name="组合 1"/>
          <p:cNvGrpSpPr/>
          <p:nvPr/>
        </p:nvGrpSpPr>
        <p:grpSpPr>
          <a:xfrm>
            <a:off x="1905000" y="1514177"/>
            <a:ext cx="8458200" cy="5083175"/>
            <a:chOff x="1905000" y="838201"/>
            <a:chExt cx="8458200" cy="5083175"/>
          </a:xfrm>
        </p:grpSpPr>
        <p:graphicFrame>
          <p:nvGraphicFramePr>
            <p:cNvPr id="939011" name="Object 3"/>
            <p:cNvGraphicFramePr>
              <a:graphicFrameLocks noChangeAspect="1"/>
            </p:cNvGraphicFramePr>
            <p:nvPr>
              <p:extLst/>
            </p:nvPr>
          </p:nvGraphicFramePr>
          <p:xfrm>
            <a:off x="1905000" y="838201"/>
            <a:ext cx="8013700" cy="5083175"/>
          </p:xfrm>
          <a:graphic>
            <a:graphicData uri="http://schemas.openxmlformats.org/presentationml/2006/ole">
              <mc:AlternateContent xmlns:mc="http://schemas.openxmlformats.org/markup-compatibility/2006">
                <mc:Choice xmlns:v="urn:schemas-microsoft-com:vml" Requires="v">
                  <p:oleObj spid="_x0000_s127021" name="工作表" r:id="rId3" imgW="8925266" imgH="5848556" progId="Excel.Sheet.8">
                    <p:embed/>
                  </p:oleObj>
                </mc:Choice>
                <mc:Fallback>
                  <p:oleObj name="工作表" r:id="rId3" imgW="8925266" imgH="5848556" progId="Excel.Sheet.8">
                    <p:embed/>
                    <p:pic>
                      <p:nvPicPr>
                        <p:cNvPr id="93901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838201"/>
                          <a:ext cx="8013700" cy="5083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39013" name="AutoShape 5"/>
            <p:cNvSpPr>
              <a:spLocks noChangeArrowheads="1"/>
            </p:cNvSpPr>
            <p:nvPr/>
          </p:nvSpPr>
          <p:spPr bwMode="auto">
            <a:xfrm>
              <a:off x="5943600" y="1676400"/>
              <a:ext cx="533400" cy="3810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9014" name="Line 6"/>
            <p:cNvSpPr>
              <a:spLocks noChangeShapeType="1"/>
            </p:cNvSpPr>
            <p:nvPr/>
          </p:nvSpPr>
          <p:spPr bwMode="auto">
            <a:xfrm>
              <a:off x="9829800" y="3962400"/>
              <a:ext cx="533400" cy="0"/>
            </a:xfrm>
            <a:prstGeom prst="line">
              <a:avLst/>
            </a:prstGeom>
            <a:noFill/>
            <a:ln w="57150">
              <a:solidFill>
                <a:srgbClr val="0FEFE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232565795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39012">
                                            <p:txEl>
                                              <p:pRg st="0" end="0"/>
                                            </p:txEl>
                                          </p:spTgt>
                                        </p:tgtEl>
                                        <p:attrNameLst>
                                          <p:attrName>style.visibility</p:attrName>
                                        </p:attrNameLst>
                                      </p:cBhvr>
                                      <p:to>
                                        <p:strVal val="visible"/>
                                      </p:to>
                                    </p:set>
                                    <p:anim calcmode="lin" valueType="num">
                                      <p:cBhvr additive="base">
                                        <p:cTn id="7" dur="500" fill="hold"/>
                                        <p:tgtEl>
                                          <p:spTgt spid="93901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39012">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9012" grpId="0" build="p"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0034" name="Rectangle 2"/>
          <p:cNvSpPr>
            <a:spLocks noGrp="1" noChangeArrowheads="1"/>
          </p:cNvSpPr>
          <p:nvPr>
            <p:ph type="title"/>
          </p:nvPr>
        </p:nvSpPr>
        <p:spPr>
          <a:xfrm>
            <a:off x="4223792" y="582960"/>
            <a:ext cx="6408712" cy="685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a:t>Loop Example Cycle 15</a:t>
            </a:r>
          </a:p>
        </p:txBody>
      </p:sp>
      <p:sp>
        <p:nvSpPr>
          <p:cNvPr id="940036" name="Rectangle 4"/>
          <p:cNvSpPr>
            <a:spLocks noGrp="1" noChangeArrowheads="1"/>
          </p:cNvSpPr>
          <p:nvPr>
            <p:ph type="body" idx="1"/>
          </p:nvPr>
        </p:nvSpPr>
        <p:spPr>
          <a:xfrm>
            <a:off x="263352" y="538510"/>
            <a:ext cx="3482603" cy="730250"/>
          </a:xfrm>
          <a:solidFill>
            <a:schemeClr val="bg1"/>
          </a:solidFill>
          <a:ln/>
          <a:extLst/>
        </p:spPr>
        <p:txBody>
          <a:bodyPr vert="horz" wrap="square" lIns="90487" tIns="44450" rIns="90487" bIns="44450" numCol="1" anchor="t" anchorCtr="0" compatLnSpc="1">
            <a:prstTxWarp prst="textNoShape">
              <a:avLst/>
            </a:prstTxWarp>
          </a:bodyPr>
          <a:lstStyle/>
          <a:p>
            <a:pPr>
              <a:lnSpc>
                <a:spcPct val="70000"/>
              </a:lnSpc>
            </a:pPr>
            <a:r>
              <a:rPr lang="en-US" altLang="zh-CN" dirty="0">
                <a:solidFill>
                  <a:srgbClr val="FF0000"/>
                </a:solidFill>
              </a:rPr>
              <a:t>Mult2 completing.  Who is waiting?</a:t>
            </a:r>
          </a:p>
        </p:txBody>
      </p:sp>
      <p:grpSp>
        <p:nvGrpSpPr>
          <p:cNvPr id="2" name="组合 1"/>
          <p:cNvGrpSpPr/>
          <p:nvPr/>
        </p:nvGrpSpPr>
        <p:grpSpPr>
          <a:xfrm>
            <a:off x="1905000" y="1514177"/>
            <a:ext cx="8458200" cy="5083175"/>
            <a:chOff x="1905000" y="838201"/>
            <a:chExt cx="8458200" cy="5083175"/>
          </a:xfrm>
        </p:grpSpPr>
        <p:graphicFrame>
          <p:nvGraphicFramePr>
            <p:cNvPr id="940035" name="Object 3"/>
            <p:cNvGraphicFramePr>
              <a:graphicFrameLocks noChangeAspect="1"/>
            </p:cNvGraphicFramePr>
            <p:nvPr>
              <p:extLst/>
            </p:nvPr>
          </p:nvGraphicFramePr>
          <p:xfrm>
            <a:off x="1905000" y="838201"/>
            <a:ext cx="8013700" cy="5083175"/>
          </p:xfrm>
          <a:graphic>
            <a:graphicData uri="http://schemas.openxmlformats.org/presentationml/2006/ole">
              <mc:AlternateContent xmlns:mc="http://schemas.openxmlformats.org/markup-compatibility/2006">
                <mc:Choice xmlns:v="urn:schemas-microsoft-com:vml" Requires="v">
                  <p:oleObj spid="_x0000_s128045" name="工作表" r:id="rId3" imgW="8925151" imgH="5848832" progId="Excel.Sheet.8">
                    <p:embed/>
                  </p:oleObj>
                </mc:Choice>
                <mc:Fallback>
                  <p:oleObj name="工作表" r:id="rId3" imgW="8925151" imgH="5848832" progId="Excel.Sheet.8">
                    <p:embed/>
                    <p:pic>
                      <p:nvPicPr>
                        <p:cNvPr id="94003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838201"/>
                          <a:ext cx="8013700" cy="5083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40037" name="AutoShape 5"/>
            <p:cNvSpPr>
              <a:spLocks noChangeArrowheads="1"/>
            </p:cNvSpPr>
            <p:nvPr/>
          </p:nvSpPr>
          <p:spPr bwMode="auto">
            <a:xfrm>
              <a:off x="6477000" y="1676400"/>
              <a:ext cx="533400" cy="3810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0039" name="AutoShape 7"/>
            <p:cNvSpPr>
              <a:spLocks noChangeArrowheads="1"/>
            </p:cNvSpPr>
            <p:nvPr/>
          </p:nvSpPr>
          <p:spPr bwMode="auto">
            <a:xfrm>
              <a:off x="5943600" y="2514600"/>
              <a:ext cx="533400" cy="3810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0040" name="AutoShape 8"/>
            <p:cNvSpPr>
              <a:spLocks noChangeArrowheads="1"/>
            </p:cNvSpPr>
            <p:nvPr/>
          </p:nvSpPr>
          <p:spPr bwMode="auto">
            <a:xfrm>
              <a:off x="9067800" y="2209800"/>
              <a:ext cx="990600" cy="3048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0041" name="Line 9"/>
            <p:cNvSpPr>
              <a:spLocks noChangeShapeType="1"/>
            </p:cNvSpPr>
            <p:nvPr/>
          </p:nvSpPr>
          <p:spPr bwMode="auto">
            <a:xfrm>
              <a:off x="9829800" y="3962400"/>
              <a:ext cx="533400" cy="0"/>
            </a:xfrm>
            <a:prstGeom prst="line">
              <a:avLst/>
            </a:prstGeom>
            <a:noFill/>
            <a:ln w="57150">
              <a:solidFill>
                <a:srgbClr val="0FEFE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0475821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40036">
                                            <p:txEl>
                                              <p:pRg st="0" end="0"/>
                                            </p:txEl>
                                          </p:spTgt>
                                        </p:tgtEl>
                                        <p:attrNameLst>
                                          <p:attrName>style.visibility</p:attrName>
                                        </p:attrNameLst>
                                      </p:cBhvr>
                                      <p:to>
                                        <p:strVal val="visible"/>
                                      </p:to>
                                    </p:set>
                                    <p:anim calcmode="lin" valueType="num">
                                      <p:cBhvr additive="base">
                                        <p:cTn id="7" dur="500" fill="hold"/>
                                        <p:tgtEl>
                                          <p:spTgt spid="94003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4003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0036" grpId="0" build="p"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1058" name="Rectangle 2"/>
          <p:cNvSpPr>
            <a:spLocks noGrp="1" noChangeArrowheads="1"/>
          </p:cNvSpPr>
          <p:nvPr>
            <p:ph type="title"/>
          </p:nvPr>
        </p:nvSpPr>
        <p:spPr>
          <a:xfrm>
            <a:off x="2514600" y="582960"/>
            <a:ext cx="7162800" cy="685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a:t>Loop Example Cycle 16</a:t>
            </a:r>
          </a:p>
        </p:txBody>
      </p:sp>
      <p:grpSp>
        <p:nvGrpSpPr>
          <p:cNvPr id="2" name="组合 1"/>
          <p:cNvGrpSpPr/>
          <p:nvPr/>
        </p:nvGrpSpPr>
        <p:grpSpPr>
          <a:xfrm>
            <a:off x="1905000" y="1514177"/>
            <a:ext cx="8458200" cy="5083175"/>
            <a:chOff x="1905000" y="838201"/>
            <a:chExt cx="8458200" cy="5083175"/>
          </a:xfrm>
        </p:grpSpPr>
        <p:graphicFrame>
          <p:nvGraphicFramePr>
            <p:cNvPr id="941059" name="Object 3"/>
            <p:cNvGraphicFramePr>
              <a:graphicFrameLocks noChangeAspect="1"/>
            </p:cNvGraphicFramePr>
            <p:nvPr>
              <p:extLst/>
            </p:nvPr>
          </p:nvGraphicFramePr>
          <p:xfrm>
            <a:off x="1905000" y="838201"/>
            <a:ext cx="8013700" cy="5083175"/>
          </p:xfrm>
          <a:graphic>
            <a:graphicData uri="http://schemas.openxmlformats.org/presentationml/2006/ole">
              <mc:AlternateContent xmlns:mc="http://schemas.openxmlformats.org/markup-compatibility/2006">
                <mc:Choice xmlns:v="urn:schemas-microsoft-com:vml" Requires="v">
                  <p:oleObj spid="_x0000_s129069" name="工作表" r:id="rId3" imgW="8925266" imgH="5848556" progId="Excel.Sheet.8">
                    <p:embed/>
                  </p:oleObj>
                </mc:Choice>
                <mc:Fallback>
                  <p:oleObj name="工作表" r:id="rId3" imgW="8925266" imgH="5848556" progId="Excel.Sheet.8">
                    <p:embed/>
                    <p:pic>
                      <p:nvPicPr>
                        <p:cNvPr id="94105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838201"/>
                          <a:ext cx="8013700" cy="5083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41060" name="AutoShape 4"/>
            <p:cNvSpPr>
              <a:spLocks noChangeArrowheads="1"/>
            </p:cNvSpPr>
            <p:nvPr/>
          </p:nvSpPr>
          <p:spPr bwMode="auto">
            <a:xfrm>
              <a:off x="6477000" y="2438400"/>
              <a:ext cx="533400" cy="3810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1061" name="AutoShape 5"/>
            <p:cNvSpPr>
              <a:spLocks noChangeArrowheads="1"/>
            </p:cNvSpPr>
            <p:nvPr/>
          </p:nvSpPr>
          <p:spPr bwMode="auto">
            <a:xfrm>
              <a:off x="9067800" y="2438400"/>
              <a:ext cx="990600" cy="3810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1062" name="AutoShape 6"/>
            <p:cNvSpPr>
              <a:spLocks noChangeArrowheads="1"/>
            </p:cNvSpPr>
            <p:nvPr/>
          </p:nvSpPr>
          <p:spPr bwMode="auto">
            <a:xfrm>
              <a:off x="2895600" y="4343400"/>
              <a:ext cx="4114800" cy="3810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1063" name="Line 7"/>
            <p:cNvSpPr>
              <a:spLocks noChangeShapeType="1"/>
            </p:cNvSpPr>
            <p:nvPr/>
          </p:nvSpPr>
          <p:spPr bwMode="auto">
            <a:xfrm>
              <a:off x="9829800" y="3962400"/>
              <a:ext cx="533400" cy="0"/>
            </a:xfrm>
            <a:prstGeom prst="line">
              <a:avLst/>
            </a:prstGeom>
            <a:noFill/>
            <a:ln w="57150">
              <a:solidFill>
                <a:srgbClr val="0FEFE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1201506374"/>
      </p:ext>
    </p:extLst>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82" name="Rectangle 2"/>
          <p:cNvSpPr>
            <a:spLocks noGrp="1" noChangeArrowheads="1"/>
          </p:cNvSpPr>
          <p:nvPr>
            <p:ph type="title"/>
          </p:nvPr>
        </p:nvSpPr>
        <p:spPr>
          <a:xfrm>
            <a:off x="2514600" y="582960"/>
            <a:ext cx="7162800" cy="685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a:t>Loop Example Cycle 17</a:t>
            </a:r>
          </a:p>
        </p:txBody>
      </p:sp>
      <p:grpSp>
        <p:nvGrpSpPr>
          <p:cNvPr id="3" name="组合 2"/>
          <p:cNvGrpSpPr/>
          <p:nvPr/>
        </p:nvGrpSpPr>
        <p:grpSpPr>
          <a:xfrm>
            <a:off x="1905000" y="1514177"/>
            <a:ext cx="8458200" cy="5083175"/>
            <a:chOff x="1905000" y="838201"/>
            <a:chExt cx="8458200" cy="5083175"/>
          </a:xfrm>
        </p:grpSpPr>
        <p:graphicFrame>
          <p:nvGraphicFramePr>
            <p:cNvPr id="942083" name="Object 3"/>
            <p:cNvGraphicFramePr>
              <a:graphicFrameLocks noChangeAspect="1"/>
            </p:cNvGraphicFramePr>
            <p:nvPr>
              <p:extLst/>
            </p:nvPr>
          </p:nvGraphicFramePr>
          <p:xfrm>
            <a:off x="1905000" y="838201"/>
            <a:ext cx="8013700" cy="5083175"/>
          </p:xfrm>
          <a:graphic>
            <a:graphicData uri="http://schemas.openxmlformats.org/presentationml/2006/ole">
              <mc:AlternateContent xmlns:mc="http://schemas.openxmlformats.org/markup-compatibility/2006">
                <mc:Choice xmlns:v="urn:schemas-microsoft-com:vml" Requires="v">
                  <p:oleObj spid="_x0000_s130093" name="工作表" r:id="rId3" imgW="8925151" imgH="5848832" progId="Excel.Sheet.8">
                    <p:embed/>
                  </p:oleObj>
                </mc:Choice>
                <mc:Fallback>
                  <p:oleObj name="工作表" r:id="rId3" imgW="8925151" imgH="5848832" progId="Excel.Sheet.8">
                    <p:embed/>
                    <p:pic>
                      <p:nvPicPr>
                        <p:cNvPr id="94208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838201"/>
                          <a:ext cx="8013700" cy="5083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42084" name="AutoShape 4"/>
            <p:cNvSpPr>
              <a:spLocks noChangeArrowheads="1"/>
            </p:cNvSpPr>
            <p:nvPr/>
          </p:nvSpPr>
          <p:spPr bwMode="auto">
            <a:xfrm>
              <a:off x="9067800" y="2743200"/>
              <a:ext cx="990600" cy="3810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085" name="Line 5"/>
            <p:cNvSpPr>
              <a:spLocks noChangeShapeType="1"/>
            </p:cNvSpPr>
            <p:nvPr/>
          </p:nvSpPr>
          <p:spPr bwMode="auto">
            <a:xfrm>
              <a:off x="9829800" y="4267200"/>
              <a:ext cx="533400" cy="0"/>
            </a:xfrm>
            <a:prstGeom prst="line">
              <a:avLst/>
            </a:prstGeom>
            <a:noFill/>
            <a:ln w="57150">
              <a:solidFill>
                <a:srgbClr val="0FEFE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2340068962"/>
      </p:ext>
    </p:extLst>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3106" name="Rectangle 2"/>
          <p:cNvSpPr>
            <a:spLocks noGrp="1" noChangeArrowheads="1"/>
          </p:cNvSpPr>
          <p:nvPr>
            <p:ph type="title"/>
          </p:nvPr>
        </p:nvSpPr>
        <p:spPr>
          <a:xfrm>
            <a:off x="2514600" y="582960"/>
            <a:ext cx="7162800" cy="685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a:t>Loop Example Cycle 18</a:t>
            </a:r>
          </a:p>
        </p:txBody>
      </p:sp>
      <p:grpSp>
        <p:nvGrpSpPr>
          <p:cNvPr id="2" name="组合 1"/>
          <p:cNvGrpSpPr/>
          <p:nvPr/>
        </p:nvGrpSpPr>
        <p:grpSpPr>
          <a:xfrm>
            <a:off x="1905000" y="1514177"/>
            <a:ext cx="8382000" cy="5083175"/>
            <a:chOff x="1905000" y="838201"/>
            <a:chExt cx="8382000" cy="5083175"/>
          </a:xfrm>
        </p:grpSpPr>
        <p:graphicFrame>
          <p:nvGraphicFramePr>
            <p:cNvPr id="943107" name="Object 3"/>
            <p:cNvGraphicFramePr>
              <a:graphicFrameLocks noChangeAspect="1"/>
            </p:cNvGraphicFramePr>
            <p:nvPr>
              <p:extLst/>
            </p:nvPr>
          </p:nvGraphicFramePr>
          <p:xfrm>
            <a:off x="1905000" y="838201"/>
            <a:ext cx="8013700" cy="5083175"/>
          </p:xfrm>
          <a:graphic>
            <a:graphicData uri="http://schemas.openxmlformats.org/presentationml/2006/ole">
              <mc:AlternateContent xmlns:mc="http://schemas.openxmlformats.org/markup-compatibility/2006">
                <mc:Choice xmlns:v="urn:schemas-microsoft-com:vml" Requires="v">
                  <p:oleObj spid="_x0000_s131117" name="工作表" r:id="rId3" imgW="8925151" imgH="5848832" progId="Excel.Sheet.8">
                    <p:embed/>
                  </p:oleObj>
                </mc:Choice>
                <mc:Fallback>
                  <p:oleObj name="工作表" r:id="rId3" imgW="8925151" imgH="5848832" progId="Excel.Sheet.8">
                    <p:embed/>
                    <p:pic>
                      <p:nvPicPr>
                        <p:cNvPr id="94310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838201"/>
                          <a:ext cx="8013700" cy="5083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43108" name="AutoShape 4"/>
            <p:cNvSpPr>
              <a:spLocks noChangeArrowheads="1"/>
            </p:cNvSpPr>
            <p:nvPr/>
          </p:nvSpPr>
          <p:spPr bwMode="auto">
            <a:xfrm>
              <a:off x="5943600" y="1905000"/>
              <a:ext cx="533400" cy="3810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3109" name="Line 5"/>
            <p:cNvSpPr>
              <a:spLocks noChangeShapeType="1"/>
            </p:cNvSpPr>
            <p:nvPr/>
          </p:nvSpPr>
          <p:spPr bwMode="auto">
            <a:xfrm>
              <a:off x="9753600" y="4572000"/>
              <a:ext cx="533400" cy="0"/>
            </a:xfrm>
            <a:prstGeom prst="line">
              <a:avLst/>
            </a:prstGeom>
            <a:noFill/>
            <a:ln w="57150">
              <a:solidFill>
                <a:srgbClr val="0FEFE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754862972"/>
      </p:ext>
    </p:extLst>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4130" name="Rectangle 2"/>
          <p:cNvSpPr>
            <a:spLocks noGrp="1" noChangeArrowheads="1"/>
          </p:cNvSpPr>
          <p:nvPr>
            <p:ph type="title"/>
          </p:nvPr>
        </p:nvSpPr>
        <p:spPr>
          <a:xfrm>
            <a:off x="2514600" y="582960"/>
            <a:ext cx="7162800" cy="685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a:t>Loop Example Cycle 19</a:t>
            </a:r>
          </a:p>
        </p:txBody>
      </p:sp>
      <p:grpSp>
        <p:nvGrpSpPr>
          <p:cNvPr id="2" name="组合 1"/>
          <p:cNvGrpSpPr/>
          <p:nvPr/>
        </p:nvGrpSpPr>
        <p:grpSpPr>
          <a:xfrm>
            <a:off x="1905000" y="1514177"/>
            <a:ext cx="8534400" cy="5083175"/>
            <a:chOff x="1905000" y="838201"/>
            <a:chExt cx="8534400" cy="5083175"/>
          </a:xfrm>
        </p:grpSpPr>
        <p:graphicFrame>
          <p:nvGraphicFramePr>
            <p:cNvPr id="944131" name="Object 3"/>
            <p:cNvGraphicFramePr>
              <a:graphicFrameLocks noChangeAspect="1"/>
            </p:cNvGraphicFramePr>
            <p:nvPr>
              <p:extLst/>
            </p:nvPr>
          </p:nvGraphicFramePr>
          <p:xfrm>
            <a:off x="1905000" y="838201"/>
            <a:ext cx="8013700" cy="5083175"/>
          </p:xfrm>
          <a:graphic>
            <a:graphicData uri="http://schemas.openxmlformats.org/presentationml/2006/ole">
              <mc:AlternateContent xmlns:mc="http://schemas.openxmlformats.org/markup-compatibility/2006">
                <mc:Choice xmlns:v="urn:schemas-microsoft-com:vml" Requires="v">
                  <p:oleObj spid="_x0000_s132141" name="工作表" r:id="rId3" imgW="8925266" imgH="5848556" progId="Excel.Sheet.8">
                    <p:embed/>
                  </p:oleObj>
                </mc:Choice>
                <mc:Fallback>
                  <p:oleObj name="工作表" r:id="rId3" imgW="8925266" imgH="5848556" progId="Excel.Sheet.8">
                    <p:embed/>
                    <p:pic>
                      <p:nvPicPr>
                        <p:cNvPr id="94413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838201"/>
                          <a:ext cx="8013700" cy="5083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44132" name="AutoShape 4"/>
            <p:cNvSpPr>
              <a:spLocks noChangeArrowheads="1"/>
            </p:cNvSpPr>
            <p:nvPr/>
          </p:nvSpPr>
          <p:spPr bwMode="auto">
            <a:xfrm>
              <a:off x="6477000" y="1905000"/>
              <a:ext cx="533400" cy="3810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4133" name="AutoShape 5"/>
            <p:cNvSpPr>
              <a:spLocks noChangeArrowheads="1"/>
            </p:cNvSpPr>
            <p:nvPr/>
          </p:nvSpPr>
          <p:spPr bwMode="auto">
            <a:xfrm>
              <a:off x="5943600" y="2667000"/>
              <a:ext cx="533400" cy="3810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4134" name="Line 6"/>
            <p:cNvSpPr>
              <a:spLocks noChangeShapeType="1"/>
            </p:cNvSpPr>
            <p:nvPr/>
          </p:nvSpPr>
          <p:spPr bwMode="auto">
            <a:xfrm>
              <a:off x="9906000" y="4800600"/>
              <a:ext cx="533400" cy="0"/>
            </a:xfrm>
            <a:prstGeom prst="line">
              <a:avLst/>
            </a:prstGeom>
            <a:noFill/>
            <a:ln w="57150">
              <a:solidFill>
                <a:srgbClr val="0FEFE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1758463220"/>
      </p:ext>
    </p:extLst>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5154" name="Rectangle 2"/>
          <p:cNvSpPr>
            <a:spLocks noGrp="1" noChangeArrowheads="1"/>
          </p:cNvSpPr>
          <p:nvPr>
            <p:ph type="title"/>
          </p:nvPr>
        </p:nvSpPr>
        <p:spPr>
          <a:xfrm>
            <a:off x="6197058" y="512216"/>
            <a:ext cx="5731590" cy="685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a:t>Loop Example Cycle 20</a:t>
            </a:r>
          </a:p>
        </p:txBody>
      </p:sp>
      <p:sp>
        <p:nvSpPr>
          <p:cNvPr id="945159" name="Rectangle 7"/>
          <p:cNvSpPr>
            <a:spLocks noChangeArrowheads="1"/>
          </p:cNvSpPr>
          <p:nvPr/>
        </p:nvSpPr>
        <p:spPr bwMode="auto">
          <a:xfrm>
            <a:off x="345682" y="345232"/>
            <a:ext cx="5851376" cy="797768"/>
          </a:xfrm>
          <a:prstGeom prst="rect">
            <a:avLst/>
          </a:prstGeom>
          <a:solidFill>
            <a:schemeClr val="bg1"/>
          </a:solidFill>
          <a:ln>
            <a:noFill/>
          </a:ln>
          <a:effectLst/>
          <a:extLst/>
        </p:spPr>
        <p:txBody>
          <a:bodyPr lIns="90487" tIns="44450" rIns="90487" bIns="44450"/>
          <a:lstStyle>
            <a:lvl1pPr marL="285750" indent="-2857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1pPr>
            <a:lvl2pPr marL="685800" indent="-22860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2pPr>
            <a:lvl3pPr marL="1143000" indent="-22860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3pPr>
            <a:lvl4pPr marL="1543050" indent="-1714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4pPr>
            <a:lvl5pPr marL="2000250" indent="-171450" algn="l">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5pPr>
            <a:lvl6pPr marL="24574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6pPr>
            <a:lvl7pPr marL="29146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7pPr>
            <a:lvl8pPr marL="33718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8pPr>
            <a:lvl9pPr marL="38290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30000"/>
              </a:spcBef>
              <a:buFontTx/>
              <a:buChar char="•"/>
            </a:pPr>
            <a:r>
              <a:rPr lang="en-US" altLang="zh-CN" dirty="0">
                <a:solidFill>
                  <a:srgbClr val="FF0000"/>
                </a:solidFill>
                <a:latin typeface="Arial" panose="020B0604020202020204" pitchFamily="34" charset="0"/>
                <a:cs typeface="Arial" panose="020B0604020202020204" pitchFamily="34" charset="0"/>
              </a:rPr>
              <a:t>Once again: In-order issue, out-of-order execution and out-of-order completion.</a:t>
            </a:r>
          </a:p>
        </p:txBody>
      </p:sp>
      <p:grpSp>
        <p:nvGrpSpPr>
          <p:cNvPr id="2" name="组合 1"/>
          <p:cNvGrpSpPr/>
          <p:nvPr/>
        </p:nvGrpSpPr>
        <p:grpSpPr>
          <a:xfrm>
            <a:off x="1905000" y="1556792"/>
            <a:ext cx="8534400" cy="5083175"/>
            <a:chOff x="1905000" y="838201"/>
            <a:chExt cx="8534400" cy="5083175"/>
          </a:xfrm>
        </p:grpSpPr>
        <p:graphicFrame>
          <p:nvGraphicFramePr>
            <p:cNvPr id="945155" name="Object 3"/>
            <p:cNvGraphicFramePr>
              <a:graphicFrameLocks noChangeAspect="1"/>
            </p:cNvGraphicFramePr>
            <p:nvPr>
              <p:extLst/>
            </p:nvPr>
          </p:nvGraphicFramePr>
          <p:xfrm>
            <a:off x="1905000" y="838201"/>
            <a:ext cx="8013700" cy="5083175"/>
          </p:xfrm>
          <a:graphic>
            <a:graphicData uri="http://schemas.openxmlformats.org/presentationml/2006/ole">
              <mc:AlternateContent xmlns:mc="http://schemas.openxmlformats.org/markup-compatibility/2006">
                <mc:Choice xmlns:v="urn:schemas-microsoft-com:vml" Requires="v">
                  <p:oleObj spid="_x0000_s133165" name="工作表" r:id="rId3" imgW="8925266" imgH="5848556" progId="Excel.Sheet.8">
                    <p:embed/>
                  </p:oleObj>
                </mc:Choice>
                <mc:Fallback>
                  <p:oleObj name="工作表" r:id="rId3" imgW="8925266" imgH="5848556" progId="Excel.Sheet.8">
                    <p:embed/>
                    <p:pic>
                      <p:nvPicPr>
                        <p:cNvPr id="94515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838201"/>
                          <a:ext cx="8013700" cy="5083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45160" name="AutoShape 8"/>
            <p:cNvSpPr>
              <a:spLocks noChangeArrowheads="1"/>
            </p:cNvSpPr>
            <p:nvPr/>
          </p:nvSpPr>
          <p:spPr bwMode="auto">
            <a:xfrm>
              <a:off x="5257800" y="1371600"/>
              <a:ext cx="457200" cy="16764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5161" name="AutoShape 9"/>
            <p:cNvSpPr>
              <a:spLocks noChangeArrowheads="1"/>
            </p:cNvSpPr>
            <p:nvPr/>
          </p:nvSpPr>
          <p:spPr bwMode="auto">
            <a:xfrm>
              <a:off x="5943600" y="1981200"/>
              <a:ext cx="457200" cy="10668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5162" name="AutoShape 10"/>
            <p:cNvSpPr>
              <a:spLocks noChangeArrowheads="1"/>
            </p:cNvSpPr>
            <p:nvPr/>
          </p:nvSpPr>
          <p:spPr bwMode="auto">
            <a:xfrm>
              <a:off x="6553200" y="1981200"/>
              <a:ext cx="457200" cy="10668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5163" name="Line 11"/>
            <p:cNvSpPr>
              <a:spLocks noChangeShapeType="1"/>
            </p:cNvSpPr>
            <p:nvPr/>
          </p:nvSpPr>
          <p:spPr bwMode="auto">
            <a:xfrm>
              <a:off x="9906000" y="3733800"/>
              <a:ext cx="533400" cy="0"/>
            </a:xfrm>
            <a:prstGeom prst="line">
              <a:avLst/>
            </a:prstGeom>
            <a:noFill/>
            <a:ln w="57150">
              <a:solidFill>
                <a:srgbClr val="0FEFE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260015293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45159"/>
                                        </p:tgtEl>
                                        <p:attrNameLst>
                                          <p:attrName>style.visibility</p:attrName>
                                        </p:attrNameLst>
                                      </p:cBhvr>
                                      <p:to>
                                        <p:strVal val="visible"/>
                                      </p:to>
                                    </p:set>
                                    <p:anim calcmode="lin" valueType="num">
                                      <p:cBhvr additive="base">
                                        <p:cTn id="7" dur="500" fill="hold"/>
                                        <p:tgtEl>
                                          <p:spTgt spid="945159"/>
                                        </p:tgtEl>
                                        <p:attrNameLst>
                                          <p:attrName>ppt_x</p:attrName>
                                        </p:attrNameLst>
                                      </p:cBhvr>
                                      <p:tavLst>
                                        <p:tav tm="0">
                                          <p:val>
                                            <p:strVal val="1+#ppt_w/2"/>
                                          </p:val>
                                        </p:tav>
                                        <p:tav tm="100000">
                                          <p:val>
                                            <p:strVal val="#ppt_x"/>
                                          </p:val>
                                        </p:tav>
                                      </p:tavLst>
                                    </p:anim>
                                    <p:anim calcmode="lin" valueType="num">
                                      <p:cBhvr additive="base">
                                        <p:cTn id="8" dur="500" fill="hold"/>
                                        <p:tgtEl>
                                          <p:spTgt spid="9451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5159" grpId="0" animBg="1"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178" name="Rectangle 2"/>
          <p:cNvSpPr>
            <a:spLocks noGrp="1" noChangeArrowheads="1"/>
          </p:cNvSpPr>
          <p:nvPr>
            <p:ph type="title"/>
          </p:nvPr>
        </p:nvSpPr>
        <p:spPr/>
        <p:txBody>
          <a:bodyPr/>
          <a:lstStyle/>
          <a:p>
            <a:r>
              <a:rPr lang="en-US" altLang="zh-CN" smtClean="0"/>
              <a:t>Why can Tomasulo overlap iterations of loops?</a:t>
            </a:r>
            <a:endParaRPr lang="en-US" altLang="zh-CN"/>
          </a:p>
        </p:txBody>
      </p:sp>
      <p:sp>
        <p:nvSpPr>
          <p:cNvPr id="946179" name="Rectangle 3"/>
          <p:cNvSpPr>
            <a:spLocks noGrp="1" noChangeArrowheads="1"/>
          </p:cNvSpPr>
          <p:nvPr>
            <p:ph type="body" idx="1"/>
          </p:nvPr>
        </p:nvSpPr>
        <p:spPr/>
        <p:txBody>
          <a:bodyPr/>
          <a:lstStyle/>
          <a:p>
            <a:r>
              <a:rPr lang="en-US" altLang="zh-CN" smtClean="0"/>
              <a:t>Register renaming</a:t>
            </a:r>
          </a:p>
          <a:p>
            <a:pPr lvl="1"/>
            <a:r>
              <a:rPr lang="en-US" altLang="zh-CN" smtClean="0"/>
              <a:t>Multiple iterations use different physical destinations for registers (dynamic loop unrolling).</a:t>
            </a:r>
          </a:p>
          <a:p>
            <a:r>
              <a:rPr lang="en-US" altLang="zh-CN" smtClean="0"/>
              <a:t>Reservation stations </a:t>
            </a:r>
          </a:p>
          <a:p>
            <a:pPr lvl="1"/>
            <a:r>
              <a:rPr lang="en-US" altLang="zh-CN" smtClean="0"/>
              <a:t>Permit instruction issue to advance past integer control flow operations</a:t>
            </a:r>
          </a:p>
          <a:p>
            <a:pPr lvl="1"/>
            <a:r>
              <a:rPr lang="en-US" altLang="zh-CN" smtClean="0"/>
              <a:t>Also buffer old values of registers - totally avoiding the WAR stall that we saw in the scoreboard.</a:t>
            </a:r>
          </a:p>
          <a:p>
            <a:r>
              <a:rPr lang="en-US" altLang="zh-CN" smtClean="0"/>
              <a:t>Other perspective: Tomasulo building data flow dependency graph on the fly.</a:t>
            </a:r>
          </a:p>
          <a:p>
            <a:endParaRPr lang="en-US" altLang="zh-CN"/>
          </a:p>
        </p:txBody>
      </p:sp>
    </p:spTree>
    <p:extLst>
      <p:ext uri="{BB962C8B-B14F-4D97-AF65-F5344CB8AC3E}">
        <p14:creationId xmlns:p14="http://schemas.microsoft.com/office/powerpoint/2010/main" val="427968186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6420" name="Rectangle 4"/>
          <p:cNvSpPr>
            <a:spLocks noGrp="1" noChangeArrowheads="1"/>
          </p:cNvSpPr>
          <p:nvPr>
            <p:ph type="title"/>
          </p:nvPr>
        </p:nvSpPr>
        <p:spPr/>
        <p:txBody>
          <a:bodyPr/>
          <a:lstStyle/>
          <a:p>
            <a:r>
              <a:rPr lang="en-US" altLang="zh-CN" smtClean="0"/>
              <a:t>Tomasulo’s scheme offers 2 major advantages</a:t>
            </a:r>
            <a:endParaRPr lang="en-US" altLang="zh-CN"/>
          </a:p>
        </p:txBody>
      </p:sp>
      <p:sp>
        <p:nvSpPr>
          <p:cNvPr id="956421" name="Rectangle 5"/>
          <p:cNvSpPr>
            <a:spLocks noGrp="1" noChangeArrowheads="1"/>
          </p:cNvSpPr>
          <p:nvPr>
            <p:ph type="body" idx="1"/>
          </p:nvPr>
        </p:nvSpPr>
        <p:spPr/>
        <p:txBody>
          <a:bodyPr/>
          <a:lstStyle/>
          <a:p>
            <a:r>
              <a:rPr lang="en-US" altLang="zh-CN" dirty="0"/>
              <a:t>T</a:t>
            </a:r>
            <a:r>
              <a:rPr lang="en-US" altLang="zh-CN" dirty="0" smtClean="0"/>
              <a:t>he distribution of the hazard detection logic</a:t>
            </a:r>
          </a:p>
          <a:p>
            <a:pPr lvl="1"/>
            <a:r>
              <a:rPr lang="en-US" altLang="zh-CN" dirty="0" smtClean="0"/>
              <a:t>distributed reservation stations and the CDB</a:t>
            </a:r>
          </a:p>
          <a:p>
            <a:pPr lvl="1"/>
            <a:r>
              <a:rPr lang="en-US" altLang="zh-CN" dirty="0" smtClean="0"/>
              <a:t>If multiple instructions waiting on single result, &amp; each instruction has other operand, then instructions can be released simultaneously by broadcast on CDB </a:t>
            </a:r>
          </a:p>
          <a:p>
            <a:pPr lvl="1"/>
            <a:r>
              <a:rPr lang="en-US" altLang="zh-CN" dirty="0" smtClean="0"/>
              <a:t>If a centralized register file were used, the units would have to read their results from the registers when register buses are available.</a:t>
            </a:r>
          </a:p>
          <a:p>
            <a:r>
              <a:rPr lang="en-US" altLang="zh-CN" dirty="0"/>
              <a:t>T</a:t>
            </a:r>
            <a:r>
              <a:rPr lang="en-US" altLang="zh-CN" dirty="0" smtClean="0"/>
              <a:t>he elimination of stalls for WAW and WAR hazards</a:t>
            </a:r>
            <a:endParaRPr lang="en-US" altLang="zh-CN" dirty="0"/>
          </a:p>
        </p:txBody>
      </p:sp>
    </p:spTree>
    <p:extLst>
      <p:ext uri="{BB962C8B-B14F-4D97-AF65-F5344CB8AC3E}">
        <p14:creationId xmlns:p14="http://schemas.microsoft.com/office/powerpoint/2010/main" val="2665469522"/>
      </p:ext>
    </p:extLst>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5394" name="Rectangle 2"/>
          <p:cNvSpPr>
            <a:spLocks noGrp="1" noChangeArrowheads="1"/>
          </p:cNvSpPr>
          <p:nvPr>
            <p:ph type="title"/>
          </p:nvPr>
        </p:nvSpPr>
        <p:spPr/>
        <p:txBody>
          <a:bodyPr/>
          <a:lstStyle/>
          <a:p>
            <a:r>
              <a:rPr lang="en-US" altLang="zh-CN" smtClean="0"/>
              <a:t>Summary</a:t>
            </a:r>
            <a:endParaRPr lang="en-US" altLang="zh-CN"/>
          </a:p>
        </p:txBody>
      </p:sp>
      <p:sp>
        <p:nvSpPr>
          <p:cNvPr id="955395" name="Rectangle 3"/>
          <p:cNvSpPr>
            <a:spLocks noGrp="1" noChangeArrowheads="1"/>
          </p:cNvSpPr>
          <p:nvPr>
            <p:ph type="body" idx="1"/>
          </p:nvPr>
        </p:nvSpPr>
        <p:spPr/>
        <p:txBody>
          <a:bodyPr/>
          <a:lstStyle/>
          <a:p>
            <a:r>
              <a:rPr lang="en-US" altLang="zh-CN" dirty="0" smtClean="0"/>
              <a:t>Reservations stations: implicit register renaming to larger set of registers + buffering source operands</a:t>
            </a:r>
          </a:p>
          <a:p>
            <a:pPr lvl="1"/>
            <a:r>
              <a:rPr lang="en-US" altLang="zh-CN" dirty="0" smtClean="0"/>
              <a:t>Prevents registers as bottleneck</a:t>
            </a:r>
          </a:p>
          <a:p>
            <a:pPr lvl="1"/>
            <a:r>
              <a:rPr lang="en-US" altLang="zh-CN" dirty="0" smtClean="0"/>
              <a:t>Avoids WAR, WAW hazards of Scoreboard</a:t>
            </a:r>
          </a:p>
          <a:p>
            <a:pPr lvl="1"/>
            <a:r>
              <a:rPr lang="en-US" altLang="zh-CN" dirty="0" smtClean="0"/>
              <a:t>Allows loop unrolling in HW</a:t>
            </a:r>
          </a:p>
          <a:p>
            <a:r>
              <a:rPr lang="en-US" altLang="zh-CN" dirty="0" smtClean="0"/>
              <a:t>Not limited to basic blocks </a:t>
            </a:r>
            <a:br>
              <a:rPr lang="en-US" altLang="zh-CN" dirty="0" smtClean="0"/>
            </a:br>
            <a:r>
              <a:rPr lang="en-US" altLang="zh-CN" dirty="0" smtClean="0"/>
              <a:t>(integer units gets ahead, beyond branches)</a:t>
            </a:r>
          </a:p>
          <a:p>
            <a:r>
              <a:rPr lang="en-US" altLang="zh-CN" dirty="0" smtClean="0"/>
              <a:t>Today, helps cache misses as well</a:t>
            </a:r>
          </a:p>
          <a:p>
            <a:pPr lvl="1"/>
            <a:r>
              <a:rPr lang="en-US" altLang="zh-CN" dirty="0" smtClean="0"/>
              <a:t>Don’t stall for L1 Data cache miss (insufficient ILP for L2 miss?)</a:t>
            </a:r>
          </a:p>
          <a:p>
            <a:r>
              <a:rPr lang="en-US" altLang="zh-CN" dirty="0" smtClean="0"/>
              <a:t>Lasting Contributions</a:t>
            </a:r>
          </a:p>
          <a:p>
            <a:pPr lvl="1"/>
            <a:r>
              <a:rPr lang="en-US" altLang="zh-CN" dirty="0" smtClean="0"/>
              <a:t>Dynamic scheduling, Register renaming, Load/store disambiguation</a:t>
            </a:r>
          </a:p>
          <a:p>
            <a:r>
              <a:rPr lang="en-US" altLang="zh-CN" dirty="0" smtClean="0"/>
              <a:t>360/91 descendants are modern microprocessors</a:t>
            </a:r>
            <a:endParaRPr lang="en-US" altLang="zh-CN" dirty="0"/>
          </a:p>
        </p:txBody>
      </p:sp>
    </p:spTree>
    <p:extLst>
      <p:ext uri="{BB962C8B-B14F-4D97-AF65-F5344CB8AC3E}">
        <p14:creationId xmlns:p14="http://schemas.microsoft.com/office/powerpoint/2010/main" val="423940226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55395">
                                            <p:txEl>
                                              <p:pRg st="0" end="0"/>
                                            </p:txEl>
                                          </p:spTgt>
                                        </p:tgtEl>
                                        <p:attrNameLst>
                                          <p:attrName>style.visibility</p:attrName>
                                        </p:attrNameLst>
                                      </p:cBhvr>
                                      <p:to>
                                        <p:strVal val="visible"/>
                                      </p:to>
                                    </p:set>
                                    <p:anim calcmode="lin" valueType="num">
                                      <p:cBhvr additive="base">
                                        <p:cTn id="7" dur="500" fill="hold"/>
                                        <p:tgtEl>
                                          <p:spTgt spid="95539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5539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955395">
                                            <p:txEl>
                                              <p:pRg st="1" end="1"/>
                                            </p:txEl>
                                          </p:spTgt>
                                        </p:tgtEl>
                                        <p:attrNameLst>
                                          <p:attrName>style.visibility</p:attrName>
                                        </p:attrNameLst>
                                      </p:cBhvr>
                                      <p:to>
                                        <p:strVal val="visible"/>
                                      </p:to>
                                    </p:set>
                                    <p:anim calcmode="lin" valueType="num">
                                      <p:cBhvr additive="base">
                                        <p:cTn id="11" dur="500" fill="hold"/>
                                        <p:tgtEl>
                                          <p:spTgt spid="955395">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955395">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955395">
                                            <p:txEl>
                                              <p:pRg st="2" end="2"/>
                                            </p:txEl>
                                          </p:spTgt>
                                        </p:tgtEl>
                                        <p:attrNameLst>
                                          <p:attrName>style.visibility</p:attrName>
                                        </p:attrNameLst>
                                      </p:cBhvr>
                                      <p:to>
                                        <p:strVal val="visible"/>
                                      </p:to>
                                    </p:set>
                                    <p:anim calcmode="lin" valueType="num">
                                      <p:cBhvr additive="base">
                                        <p:cTn id="15" dur="500" fill="hold"/>
                                        <p:tgtEl>
                                          <p:spTgt spid="955395">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955395">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955395">
                                            <p:txEl>
                                              <p:pRg st="3" end="3"/>
                                            </p:txEl>
                                          </p:spTgt>
                                        </p:tgtEl>
                                        <p:attrNameLst>
                                          <p:attrName>style.visibility</p:attrName>
                                        </p:attrNameLst>
                                      </p:cBhvr>
                                      <p:to>
                                        <p:strVal val="visible"/>
                                      </p:to>
                                    </p:set>
                                    <p:anim calcmode="lin" valueType="num">
                                      <p:cBhvr additive="base">
                                        <p:cTn id="19" dur="500" fill="hold"/>
                                        <p:tgtEl>
                                          <p:spTgt spid="955395">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95539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955395">
                                            <p:txEl>
                                              <p:pRg st="4" end="4"/>
                                            </p:txEl>
                                          </p:spTgt>
                                        </p:tgtEl>
                                        <p:attrNameLst>
                                          <p:attrName>style.visibility</p:attrName>
                                        </p:attrNameLst>
                                      </p:cBhvr>
                                      <p:to>
                                        <p:strVal val="visible"/>
                                      </p:to>
                                    </p:set>
                                    <p:anim calcmode="lin" valueType="num">
                                      <p:cBhvr additive="base">
                                        <p:cTn id="25" dur="500" fill="hold"/>
                                        <p:tgtEl>
                                          <p:spTgt spid="955395">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95539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955395">
                                            <p:txEl>
                                              <p:pRg st="5" end="5"/>
                                            </p:txEl>
                                          </p:spTgt>
                                        </p:tgtEl>
                                        <p:attrNameLst>
                                          <p:attrName>style.visibility</p:attrName>
                                        </p:attrNameLst>
                                      </p:cBhvr>
                                      <p:to>
                                        <p:strVal val="visible"/>
                                      </p:to>
                                    </p:set>
                                    <p:anim calcmode="lin" valueType="num">
                                      <p:cBhvr additive="base">
                                        <p:cTn id="31" dur="500" fill="hold"/>
                                        <p:tgtEl>
                                          <p:spTgt spid="955395">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955395">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955395">
                                            <p:txEl>
                                              <p:pRg st="6" end="6"/>
                                            </p:txEl>
                                          </p:spTgt>
                                        </p:tgtEl>
                                        <p:attrNameLst>
                                          <p:attrName>style.visibility</p:attrName>
                                        </p:attrNameLst>
                                      </p:cBhvr>
                                      <p:to>
                                        <p:strVal val="visible"/>
                                      </p:to>
                                    </p:set>
                                    <p:anim calcmode="lin" valueType="num">
                                      <p:cBhvr additive="base">
                                        <p:cTn id="35" dur="500" fill="hold"/>
                                        <p:tgtEl>
                                          <p:spTgt spid="955395">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95539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955395">
                                            <p:txEl>
                                              <p:pRg st="7" end="7"/>
                                            </p:txEl>
                                          </p:spTgt>
                                        </p:tgtEl>
                                        <p:attrNameLst>
                                          <p:attrName>style.visibility</p:attrName>
                                        </p:attrNameLst>
                                      </p:cBhvr>
                                      <p:to>
                                        <p:strVal val="visible"/>
                                      </p:to>
                                    </p:set>
                                    <p:anim calcmode="lin" valueType="num">
                                      <p:cBhvr additive="base">
                                        <p:cTn id="41" dur="500" fill="hold"/>
                                        <p:tgtEl>
                                          <p:spTgt spid="955395">
                                            <p:txEl>
                                              <p:pRg st="7" end="7"/>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955395">
                                            <p:txEl>
                                              <p:pRg st="7" end="7"/>
                                            </p:txEl>
                                          </p:spTgt>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955395">
                                            <p:txEl>
                                              <p:pRg st="8" end="8"/>
                                            </p:txEl>
                                          </p:spTgt>
                                        </p:tgtEl>
                                        <p:attrNameLst>
                                          <p:attrName>style.visibility</p:attrName>
                                        </p:attrNameLst>
                                      </p:cBhvr>
                                      <p:to>
                                        <p:strVal val="visible"/>
                                      </p:to>
                                    </p:set>
                                    <p:anim calcmode="lin" valueType="num">
                                      <p:cBhvr additive="base">
                                        <p:cTn id="45" dur="500" fill="hold"/>
                                        <p:tgtEl>
                                          <p:spTgt spid="955395">
                                            <p:txEl>
                                              <p:pRg st="8" end="8"/>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955395">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2" fill="hold" grpId="0" nodeType="clickEffect">
                                  <p:stCondLst>
                                    <p:cond delay="0"/>
                                  </p:stCondLst>
                                  <p:childTnLst>
                                    <p:set>
                                      <p:cBhvr>
                                        <p:cTn id="50" dur="1" fill="hold">
                                          <p:stCondLst>
                                            <p:cond delay="0"/>
                                          </p:stCondLst>
                                        </p:cTn>
                                        <p:tgtEl>
                                          <p:spTgt spid="955395">
                                            <p:txEl>
                                              <p:pRg st="9" end="9"/>
                                            </p:txEl>
                                          </p:spTgt>
                                        </p:tgtEl>
                                        <p:attrNameLst>
                                          <p:attrName>style.visibility</p:attrName>
                                        </p:attrNameLst>
                                      </p:cBhvr>
                                      <p:to>
                                        <p:strVal val="visible"/>
                                      </p:to>
                                    </p:set>
                                    <p:anim calcmode="lin" valueType="num">
                                      <p:cBhvr additive="base">
                                        <p:cTn id="51" dur="500" fill="hold"/>
                                        <p:tgtEl>
                                          <p:spTgt spid="955395">
                                            <p:txEl>
                                              <p:pRg st="9" end="9"/>
                                            </p:tx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955395">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5395" grpId="0" build="p"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AU" smtClean="0"/>
              <a:t>Compiler Techniques for Exposing ILP</a:t>
            </a:r>
            <a:endParaRPr lang="en-AU" dirty="0"/>
          </a:p>
        </p:txBody>
      </p:sp>
      <p:sp>
        <p:nvSpPr>
          <p:cNvPr id="242691" name="Rectangle 3"/>
          <p:cNvSpPr>
            <a:spLocks noGrp="1" noChangeArrowheads="1"/>
          </p:cNvSpPr>
          <p:nvPr>
            <p:ph type="body" idx="1"/>
          </p:nvPr>
        </p:nvSpPr>
        <p:spPr/>
        <p:txBody>
          <a:bodyPr/>
          <a:lstStyle/>
          <a:p>
            <a:r>
              <a:rPr lang="en-US" dirty="0" smtClean="0"/>
              <a:t>Pipeline scheduling</a:t>
            </a:r>
          </a:p>
          <a:p>
            <a:pPr lvl="1"/>
            <a:r>
              <a:rPr lang="en-US" dirty="0" smtClean="0"/>
              <a:t>Separate dependent instruction from the source instruction by the pipeline latency of the source instruction</a:t>
            </a:r>
          </a:p>
          <a:p>
            <a:r>
              <a:rPr lang="en-US" dirty="0" smtClean="0"/>
              <a:t>Example:</a:t>
            </a:r>
          </a:p>
          <a:p>
            <a:pPr lvl="1"/>
            <a:r>
              <a:rPr lang="en-US" dirty="0" smtClean="0">
                <a:latin typeface="Courier New" panose="02070309020205020404" pitchFamily="49" charset="0"/>
                <a:cs typeface="Courier New" panose="02070309020205020404" pitchFamily="49" charset="0"/>
              </a:rPr>
              <a:t>for (</a:t>
            </a:r>
            <a:r>
              <a:rPr lang="en-US" dirty="0" err="1" smtClean="0">
                <a:latin typeface="Courier New" panose="02070309020205020404" pitchFamily="49" charset="0"/>
                <a:cs typeface="Courier New" panose="02070309020205020404" pitchFamily="49" charset="0"/>
              </a:rPr>
              <a:t>i</a:t>
            </a:r>
            <a:r>
              <a:rPr lang="en-US" dirty="0" smtClean="0">
                <a:latin typeface="Courier New" panose="02070309020205020404" pitchFamily="49" charset="0"/>
                <a:cs typeface="Courier New" panose="02070309020205020404" pitchFamily="49" charset="0"/>
              </a:rPr>
              <a:t>=999; </a:t>
            </a:r>
            <a:r>
              <a:rPr lang="en-US" dirty="0" err="1" smtClean="0">
                <a:latin typeface="Courier New" panose="02070309020205020404" pitchFamily="49" charset="0"/>
                <a:cs typeface="Courier New" panose="02070309020205020404" pitchFamily="49" charset="0"/>
              </a:rPr>
              <a:t>i</a:t>
            </a:r>
            <a:r>
              <a:rPr lang="en-US" dirty="0" smtClean="0">
                <a:latin typeface="Courier New" panose="02070309020205020404" pitchFamily="49" charset="0"/>
                <a:cs typeface="Courier New" panose="02070309020205020404" pitchFamily="49" charset="0"/>
              </a:rPr>
              <a:t>&gt;=0; </a:t>
            </a:r>
            <a:r>
              <a:rPr lang="en-US" dirty="0" err="1" smtClean="0">
                <a:latin typeface="Courier New" panose="02070309020205020404" pitchFamily="49" charset="0"/>
                <a:cs typeface="Courier New" panose="02070309020205020404" pitchFamily="49" charset="0"/>
              </a:rPr>
              <a:t>i</a:t>
            </a:r>
            <a:r>
              <a:rPr lang="en-US" dirty="0" smtClean="0">
                <a:latin typeface="Courier New" panose="02070309020205020404" pitchFamily="49" charset="0"/>
                <a:cs typeface="Courier New" panose="02070309020205020404" pitchFamily="49" charset="0"/>
              </a:rPr>
              <a:t>=i-1)</a:t>
            </a:r>
          </a:p>
          <a:p>
            <a:pPr lvl="1"/>
            <a:r>
              <a:rPr lang="en-US" dirty="0" smtClean="0">
                <a:latin typeface="Courier New" panose="02070309020205020404" pitchFamily="49" charset="0"/>
                <a:cs typeface="Courier New" panose="02070309020205020404" pitchFamily="49" charset="0"/>
              </a:rPr>
              <a:t>  	x[</a:t>
            </a:r>
            <a:r>
              <a:rPr lang="en-US" dirty="0" err="1" smtClean="0">
                <a:latin typeface="Courier New" panose="02070309020205020404" pitchFamily="49" charset="0"/>
                <a:cs typeface="Courier New" panose="02070309020205020404" pitchFamily="49" charset="0"/>
              </a:rPr>
              <a:t>i</a:t>
            </a:r>
            <a:r>
              <a:rPr lang="en-US" dirty="0" smtClean="0">
                <a:latin typeface="Courier New" panose="02070309020205020404" pitchFamily="49" charset="0"/>
                <a:cs typeface="Courier New" panose="02070309020205020404" pitchFamily="49" charset="0"/>
              </a:rPr>
              <a:t>] = x[</a:t>
            </a:r>
            <a:r>
              <a:rPr lang="en-US" dirty="0" err="1" smtClean="0">
                <a:latin typeface="Courier New" panose="02070309020205020404" pitchFamily="49" charset="0"/>
                <a:cs typeface="Courier New" panose="02070309020205020404" pitchFamily="49" charset="0"/>
              </a:rPr>
              <a:t>i</a:t>
            </a:r>
            <a:r>
              <a:rPr lang="en-US" dirty="0" smtClean="0">
                <a:latin typeface="Courier New" panose="02070309020205020404" pitchFamily="49" charset="0"/>
                <a:cs typeface="Courier New" panose="02070309020205020404" pitchFamily="49" charset="0"/>
              </a:rPr>
              <a:t>] + s;    // </a:t>
            </a:r>
            <a:r>
              <a:rPr lang="en-US" dirty="0" smtClean="0"/>
              <a:t>independent loop iterations</a:t>
            </a:r>
          </a:p>
          <a:p>
            <a:pPr lvl="1"/>
            <a:r>
              <a:rPr lang="en-US" altLang="en-US" dirty="0" smtClean="0"/>
              <a:t>Assume the following number </a:t>
            </a:r>
            <a:r>
              <a:rPr lang="en-US" altLang="en-US" dirty="0"/>
              <a:t>of intervening clock cycles needed to avoid a stall</a:t>
            </a:r>
            <a:endParaRPr lang="en-US" dirty="0" smtClean="0"/>
          </a:p>
        </p:txBody>
      </p:sp>
      <p:pic>
        <p:nvPicPr>
          <p:cNvPr id="7" name="Picture 2" descr="C:\Users\202510\Desktop\GR0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9696" y="4725144"/>
            <a:ext cx="7749436" cy="1835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93680269"/>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AU" dirty="0" smtClean="0"/>
              <a:t>Pipeline Stalls</a:t>
            </a:r>
            <a:endParaRPr lang="en-AU" sz="3200" dirty="0"/>
          </a:p>
        </p:txBody>
      </p:sp>
      <p:sp>
        <p:nvSpPr>
          <p:cNvPr id="242691" name="Rectangle 3"/>
          <p:cNvSpPr>
            <a:spLocks noGrp="1" noChangeArrowheads="1"/>
          </p:cNvSpPr>
          <p:nvPr>
            <p:ph idx="1"/>
          </p:nvPr>
        </p:nvSpPr>
        <p:spPr/>
        <p:txBody>
          <a:bodyPr/>
          <a:lstStyle/>
          <a:p>
            <a:pPr>
              <a:lnSpc>
                <a:spcPct val="90000"/>
              </a:lnSpc>
              <a:buNone/>
            </a:pPr>
            <a:r>
              <a:rPr lang="en-US" altLang="zh-CN" sz="2400" dirty="0" smtClean="0"/>
              <a:t>Assume</a:t>
            </a:r>
            <a:r>
              <a:rPr lang="en-US" altLang="zh-CN" sz="2400" dirty="0" smtClean="0">
                <a:latin typeface="Courier New" panose="02070309020205020404" pitchFamily="49" charset="0"/>
                <a:cs typeface="Courier New" panose="02070309020205020404" pitchFamily="49" charset="0"/>
              </a:rPr>
              <a:t>: 	</a:t>
            </a:r>
            <a:r>
              <a:rPr lang="en-US" altLang="zh-CN" sz="2400" dirty="0" err="1" smtClean="0">
                <a:latin typeface="Courier New" panose="02070309020205020404" pitchFamily="49" charset="0"/>
                <a:cs typeface="Courier New" panose="02070309020205020404" pitchFamily="49" charset="0"/>
              </a:rPr>
              <a:t>i</a:t>
            </a:r>
            <a:r>
              <a:rPr lang="en-US" altLang="zh-CN" sz="2400" dirty="0" smtClean="0">
                <a:latin typeface="Courier New" panose="02070309020205020404" pitchFamily="49" charset="0"/>
                <a:cs typeface="Courier New" panose="02070309020205020404" pitchFamily="49" charset="0"/>
              </a:rPr>
              <a:t> </a:t>
            </a:r>
            <a:r>
              <a:rPr lang="en-US" altLang="zh-CN" sz="2400" dirty="0" smtClean="0"/>
              <a:t>in</a:t>
            </a:r>
            <a:r>
              <a:rPr lang="en-US" altLang="zh-CN" sz="2400" dirty="0" smtClean="0">
                <a:latin typeface="Courier New" panose="02070309020205020404" pitchFamily="49" charset="0"/>
                <a:cs typeface="Courier New" panose="02070309020205020404" pitchFamily="49" charset="0"/>
              </a:rPr>
              <a:t> x1, -1 </a:t>
            </a:r>
            <a:r>
              <a:rPr lang="en-US" altLang="zh-CN" sz="2400" dirty="0" smtClean="0"/>
              <a:t>in</a:t>
            </a:r>
            <a:r>
              <a:rPr lang="en-US" altLang="zh-CN" sz="2400" dirty="0" smtClean="0">
                <a:latin typeface="Courier New" panose="02070309020205020404" pitchFamily="49" charset="0"/>
                <a:cs typeface="Courier New" panose="02070309020205020404" pitchFamily="49" charset="0"/>
              </a:rPr>
              <a:t> x2</a:t>
            </a:r>
            <a:endParaRPr lang="en-US" sz="2400" dirty="0" smtClean="0">
              <a:latin typeface="Courier New" panose="02070309020205020404" pitchFamily="49" charset="0"/>
              <a:cs typeface="Courier New" panose="02070309020205020404" pitchFamily="49" charset="0"/>
            </a:endParaRPr>
          </a:p>
          <a:p>
            <a:pPr>
              <a:lnSpc>
                <a:spcPct val="90000"/>
              </a:lnSpc>
              <a:buNone/>
            </a:pPr>
            <a:r>
              <a:rPr lang="en-US" sz="2400" dirty="0" smtClean="0">
                <a:latin typeface="Courier New" panose="02070309020205020404" pitchFamily="49" charset="0"/>
                <a:cs typeface="Courier New" panose="02070309020205020404" pitchFamily="49" charset="0"/>
              </a:rPr>
              <a:t>			a </a:t>
            </a:r>
            <a:r>
              <a:rPr lang="en-US" sz="2400" dirty="0" smtClean="0"/>
              <a:t>in</a:t>
            </a:r>
            <a:r>
              <a:rPr lang="en-US" sz="2400" dirty="0" smtClean="0">
                <a:latin typeface="Courier New" panose="02070309020205020404" pitchFamily="49" charset="0"/>
                <a:cs typeface="Courier New" panose="02070309020205020404" pitchFamily="49" charset="0"/>
              </a:rPr>
              <a:t> f2</a:t>
            </a:r>
            <a:endParaRPr lang="en-US" sz="2400" dirty="0">
              <a:latin typeface="Courier New" panose="02070309020205020404" pitchFamily="49" charset="0"/>
              <a:cs typeface="Courier New" panose="02070309020205020404" pitchFamily="49" charset="0"/>
            </a:endParaRPr>
          </a:p>
          <a:p>
            <a:pPr>
              <a:lnSpc>
                <a:spcPct val="90000"/>
              </a:lnSpc>
              <a:buNone/>
            </a:pPr>
            <a:r>
              <a:rPr lang="en-US" sz="2400" dirty="0" smtClean="0">
                <a:latin typeface="Courier New" panose="02070309020205020404" pitchFamily="49" charset="0"/>
                <a:cs typeface="Courier New" panose="02070309020205020404" pitchFamily="49" charset="0"/>
              </a:rPr>
              <a:t>Loop</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fld</a:t>
            </a:r>
            <a:r>
              <a:rPr lang="en-US" sz="2400" dirty="0">
                <a:latin typeface="Courier New" panose="02070309020205020404" pitchFamily="49" charset="0"/>
                <a:cs typeface="Courier New" panose="02070309020205020404" pitchFamily="49" charset="0"/>
              </a:rPr>
              <a:t>	f0,0(x1)</a:t>
            </a:r>
          </a:p>
          <a:p>
            <a:pPr>
              <a:lnSpc>
                <a:spcPct val="90000"/>
              </a:lnSpc>
              <a:buNone/>
            </a:pPr>
            <a:r>
              <a:rPr lang="en-US" sz="2400" dirty="0">
                <a:latin typeface="Courier New" panose="02070309020205020404" pitchFamily="49" charset="0"/>
                <a:cs typeface="Courier New" panose="02070309020205020404" pitchFamily="49" charset="0"/>
              </a:rPr>
              <a:t>		</a:t>
            </a:r>
            <a:r>
              <a:rPr lang="en-US" sz="2400" dirty="0">
                <a:solidFill>
                  <a:srgbClr val="FF0000"/>
                </a:solidFill>
                <a:latin typeface="Courier New" panose="02070309020205020404" pitchFamily="49" charset="0"/>
                <a:cs typeface="Courier New" panose="02070309020205020404" pitchFamily="49" charset="0"/>
              </a:rPr>
              <a:t>stall</a:t>
            </a:r>
          </a:p>
          <a:p>
            <a:pPr>
              <a:lnSpc>
                <a:spcPct val="90000"/>
              </a:lnSpc>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fadd.d</a:t>
            </a:r>
            <a:r>
              <a:rPr lang="en-US" sz="2400" dirty="0">
                <a:latin typeface="Courier New" panose="02070309020205020404" pitchFamily="49" charset="0"/>
                <a:cs typeface="Courier New" panose="02070309020205020404" pitchFamily="49" charset="0"/>
              </a:rPr>
              <a:t> f4,f0,f2</a:t>
            </a:r>
            <a:endParaRPr lang="en-US" sz="3600" dirty="0" smtClean="0">
              <a:latin typeface="Courier New" panose="02070309020205020404" pitchFamily="49" charset="0"/>
              <a:cs typeface="Courier New" panose="02070309020205020404" pitchFamily="49" charset="0"/>
            </a:endParaRPr>
          </a:p>
          <a:p>
            <a:pPr>
              <a:lnSpc>
                <a:spcPct val="90000"/>
              </a:lnSpc>
              <a:buNone/>
            </a:pPr>
            <a:r>
              <a:rPr lang="en-US" sz="2400" dirty="0">
                <a:latin typeface="Courier New" panose="02070309020205020404" pitchFamily="49" charset="0"/>
                <a:cs typeface="Courier New" panose="02070309020205020404" pitchFamily="49" charset="0"/>
              </a:rPr>
              <a:t>		</a:t>
            </a:r>
            <a:r>
              <a:rPr lang="en-US" sz="2400" dirty="0">
                <a:solidFill>
                  <a:srgbClr val="FF0000"/>
                </a:solidFill>
                <a:latin typeface="Courier New" panose="02070309020205020404" pitchFamily="49" charset="0"/>
                <a:cs typeface="Courier New" panose="02070309020205020404" pitchFamily="49" charset="0"/>
              </a:rPr>
              <a:t>stall</a:t>
            </a:r>
          </a:p>
          <a:p>
            <a:pPr>
              <a:lnSpc>
                <a:spcPct val="90000"/>
              </a:lnSpc>
              <a:buNone/>
            </a:pPr>
            <a:r>
              <a:rPr lang="en-US" sz="2400" dirty="0">
                <a:latin typeface="Courier New" panose="02070309020205020404" pitchFamily="49" charset="0"/>
                <a:cs typeface="Courier New" panose="02070309020205020404" pitchFamily="49" charset="0"/>
              </a:rPr>
              <a:t>		</a:t>
            </a:r>
            <a:r>
              <a:rPr lang="en-US" sz="2400" dirty="0">
                <a:solidFill>
                  <a:srgbClr val="FF0000"/>
                </a:solidFill>
                <a:latin typeface="Courier New" panose="02070309020205020404" pitchFamily="49" charset="0"/>
                <a:cs typeface="Courier New" panose="02070309020205020404" pitchFamily="49" charset="0"/>
              </a:rPr>
              <a:t>stall</a:t>
            </a:r>
          </a:p>
          <a:p>
            <a:pPr>
              <a:lnSpc>
                <a:spcPct val="90000"/>
              </a:lnSpc>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fsd</a:t>
            </a:r>
            <a:r>
              <a:rPr lang="en-US" sz="2400" dirty="0">
                <a:latin typeface="Courier New" panose="02070309020205020404" pitchFamily="49" charset="0"/>
                <a:cs typeface="Courier New" panose="02070309020205020404" pitchFamily="49" charset="0"/>
              </a:rPr>
              <a:t> f4,0(x1)</a:t>
            </a:r>
          </a:p>
          <a:p>
            <a:pPr>
              <a:lnSpc>
                <a:spcPct val="90000"/>
              </a:lnSpc>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addi</a:t>
            </a:r>
            <a:r>
              <a:rPr lang="en-US" sz="2400" dirty="0">
                <a:latin typeface="Courier New" panose="02070309020205020404" pitchFamily="49" charset="0"/>
                <a:cs typeface="Courier New" panose="02070309020205020404" pitchFamily="49" charset="0"/>
              </a:rPr>
              <a:t> x1,x1,-8</a:t>
            </a:r>
          </a:p>
          <a:p>
            <a:pPr>
              <a:lnSpc>
                <a:spcPct val="90000"/>
              </a:lnSpc>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bne</a:t>
            </a:r>
            <a:r>
              <a:rPr lang="en-US" sz="2400" dirty="0">
                <a:latin typeface="Courier New" panose="02070309020205020404" pitchFamily="49" charset="0"/>
                <a:cs typeface="Courier New" panose="02070309020205020404" pitchFamily="49" charset="0"/>
              </a:rPr>
              <a:t> </a:t>
            </a:r>
            <a:r>
              <a:rPr lang="en-US" sz="2400" dirty="0" smtClean="0">
                <a:latin typeface="Courier New" panose="02070309020205020404" pitchFamily="49" charset="0"/>
                <a:cs typeface="Courier New" panose="02070309020205020404" pitchFamily="49" charset="0"/>
              </a:rPr>
              <a:t>x1,x2,Loop</a:t>
            </a:r>
          </a:p>
          <a:p>
            <a:pPr>
              <a:lnSpc>
                <a:spcPct val="90000"/>
              </a:lnSpc>
              <a:buNone/>
            </a:pPr>
            <a:r>
              <a:rPr lang="en-US" sz="2400" dirty="0" smtClean="0">
                <a:latin typeface="Courier New" panose="02070309020205020404" pitchFamily="49" charset="0"/>
                <a:cs typeface="Courier New" panose="02070309020205020404" pitchFamily="49" charset="0"/>
              </a:rPr>
              <a:t>// </a:t>
            </a:r>
            <a:r>
              <a:rPr lang="en-US" sz="2400" dirty="0" smtClean="0"/>
              <a:t>8 cycles/element</a:t>
            </a:r>
            <a:endParaRPr lang="en-US" sz="2400" dirty="0"/>
          </a:p>
        </p:txBody>
      </p:sp>
      <p:sp>
        <p:nvSpPr>
          <p:cNvPr id="7" name="Rectangle 3"/>
          <p:cNvSpPr txBox="1">
            <a:spLocks noChangeArrowheads="1"/>
          </p:cNvSpPr>
          <p:nvPr/>
        </p:nvSpPr>
        <p:spPr bwMode="auto">
          <a:xfrm>
            <a:off x="7368572" y="2204864"/>
            <a:ext cx="4176464" cy="309156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rgbClr val="0033CC"/>
              </a:buClr>
              <a:buSzPct val="60000"/>
              <a:buFont typeface="Wingdings" pitchFamily="2" charset="2"/>
              <a:buChar char="n"/>
              <a:defRPr sz="2800">
                <a:solidFill>
                  <a:srgbClr val="003399"/>
                </a:solidFill>
                <a:latin typeface="+mn-lt"/>
                <a:ea typeface="+mn-ea"/>
                <a:cs typeface="+mn-cs"/>
              </a:defRPr>
            </a:lvl1pPr>
            <a:lvl2pPr marL="742950" indent="-285750" algn="l" rtl="0" fontAlgn="base">
              <a:spcBef>
                <a:spcPct val="20000"/>
              </a:spcBef>
              <a:spcAft>
                <a:spcPct val="0"/>
              </a:spcAft>
              <a:buClr>
                <a:srgbClr val="003399"/>
              </a:buClr>
              <a:buSzPct val="55000"/>
              <a:buFont typeface="Wingdings" pitchFamily="2" charset="2"/>
              <a:buChar char="n"/>
              <a:defRPr sz="2400">
                <a:solidFill>
                  <a:srgbClr val="0033CC"/>
                </a:solidFill>
                <a:latin typeface="+mn-lt"/>
              </a:defRPr>
            </a:lvl2pPr>
            <a:lvl3pPr marL="1143000" indent="-228600" algn="l" rtl="0" fontAlgn="base">
              <a:spcBef>
                <a:spcPct val="20000"/>
              </a:spcBef>
              <a:spcAft>
                <a:spcPct val="0"/>
              </a:spcAft>
              <a:buClr>
                <a:srgbClr val="0033CC"/>
              </a:buClr>
              <a:buSzPct val="50000"/>
              <a:buFont typeface="Wingdings" pitchFamily="2" charset="2"/>
              <a:buChar char="n"/>
              <a:defRPr sz="2000">
                <a:solidFill>
                  <a:srgbClr val="000066"/>
                </a:solidFill>
                <a:latin typeface="+mn-lt"/>
              </a:defRPr>
            </a:lvl3pPr>
            <a:lvl4pPr marL="1600200" indent="-228600" algn="l" rtl="0" fontAlgn="base">
              <a:spcBef>
                <a:spcPct val="20000"/>
              </a:spcBef>
              <a:spcAft>
                <a:spcPct val="0"/>
              </a:spcAft>
              <a:buClr>
                <a:srgbClr val="000066"/>
              </a:buClr>
              <a:buSzPct val="55000"/>
              <a:buFont typeface="Wingdings" pitchFamily="2" charset="2"/>
              <a:buChar char="n"/>
              <a:defRPr sz="1800">
                <a:solidFill>
                  <a:srgbClr val="0066FF"/>
                </a:solidFill>
                <a:latin typeface="+mn-lt"/>
              </a:defRPr>
            </a:lvl4pPr>
            <a:lvl5pPr marL="2057400" indent="-228600" algn="l" rtl="0" fontAlgn="base">
              <a:spcBef>
                <a:spcPct val="20000"/>
              </a:spcBef>
              <a:spcAft>
                <a:spcPct val="0"/>
              </a:spcAft>
              <a:buClr>
                <a:srgbClr val="3399FF"/>
              </a:buClr>
              <a:buSzPct val="50000"/>
              <a:buFont typeface="Wingdings" pitchFamily="2" charset="2"/>
              <a:buChar char="n"/>
              <a:defRPr sz="1800">
                <a:solidFill>
                  <a:srgbClr val="3399FF"/>
                </a:solidFill>
                <a:latin typeface="+mn-lt"/>
              </a:defRPr>
            </a:lvl5pPr>
            <a:lvl6pPr marL="2514600" indent="-228600" algn="l" rtl="0" fontAlgn="base">
              <a:spcBef>
                <a:spcPct val="20000"/>
              </a:spcBef>
              <a:spcAft>
                <a:spcPct val="0"/>
              </a:spcAft>
              <a:buClr>
                <a:srgbClr val="3399FF"/>
              </a:buClr>
              <a:buSzPct val="50000"/>
              <a:buFont typeface="Wingdings" pitchFamily="2" charset="2"/>
              <a:buChar char="n"/>
              <a:defRPr sz="2000">
                <a:solidFill>
                  <a:srgbClr val="3399FF"/>
                </a:solidFill>
                <a:latin typeface="+mn-lt"/>
              </a:defRPr>
            </a:lvl6pPr>
            <a:lvl7pPr marL="2971800" indent="-228600" algn="l" rtl="0" fontAlgn="base">
              <a:spcBef>
                <a:spcPct val="20000"/>
              </a:spcBef>
              <a:spcAft>
                <a:spcPct val="0"/>
              </a:spcAft>
              <a:buClr>
                <a:srgbClr val="3399FF"/>
              </a:buClr>
              <a:buSzPct val="50000"/>
              <a:buFont typeface="Wingdings" pitchFamily="2" charset="2"/>
              <a:buChar char="n"/>
              <a:defRPr sz="2000">
                <a:solidFill>
                  <a:srgbClr val="3399FF"/>
                </a:solidFill>
                <a:latin typeface="+mn-lt"/>
              </a:defRPr>
            </a:lvl7pPr>
            <a:lvl8pPr marL="3429000" indent="-228600" algn="l" rtl="0" fontAlgn="base">
              <a:spcBef>
                <a:spcPct val="20000"/>
              </a:spcBef>
              <a:spcAft>
                <a:spcPct val="0"/>
              </a:spcAft>
              <a:buClr>
                <a:srgbClr val="3399FF"/>
              </a:buClr>
              <a:buSzPct val="50000"/>
              <a:buFont typeface="Wingdings" pitchFamily="2" charset="2"/>
              <a:buChar char="n"/>
              <a:defRPr sz="2000">
                <a:solidFill>
                  <a:srgbClr val="3399FF"/>
                </a:solidFill>
                <a:latin typeface="+mn-lt"/>
              </a:defRPr>
            </a:lvl8pPr>
            <a:lvl9pPr marL="3886200" indent="-228600" algn="l" rtl="0" fontAlgn="base">
              <a:spcBef>
                <a:spcPct val="20000"/>
              </a:spcBef>
              <a:spcAft>
                <a:spcPct val="0"/>
              </a:spcAft>
              <a:buClr>
                <a:srgbClr val="3399FF"/>
              </a:buClr>
              <a:buSzPct val="50000"/>
              <a:buFont typeface="Wingdings" pitchFamily="2" charset="2"/>
              <a:buChar char="n"/>
              <a:defRPr sz="2000">
                <a:solidFill>
                  <a:srgbClr val="3399FF"/>
                </a:solidFill>
                <a:latin typeface="+mn-lt"/>
              </a:defRPr>
            </a:lvl9pPr>
          </a:lstStyle>
          <a:p>
            <a:pPr>
              <a:lnSpc>
                <a:spcPct val="90000"/>
              </a:lnSpc>
              <a:buNone/>
            </a:pPr>
            <a:r>
              <a:rPr lang="en-US" sz="2400" kern="0" dirty="0">
                <a:latin typeface="Courier New" panose="02070309020205020404" pitchFamily="49" charset="0"/>
                <a:cs typeface="Courier New" panose="02070309020205020404" pitchFamily="49" charset="0"/>
              </a:rPr>
              <a:t>Loop:	</a:t>
            </a:r>
            <a:r>
              <a:rPr lang="en-US" sz="2400" kern="0" dirty="0" err="1">
                <a:latin typeface="Courier New" panose="02070309020205020404" pitchFamily="49" charset="0"/>
                <a:cs typeface="Courier New" panose="02070309020205020404" pitchFamily="49" charset="0"/>
              </a:rPr>
              <a:t>fld</a:t>
            </a:r>
            <a:r>
              <a:rPr lang="en-US" sz="2400" kern="0" dirty="0">
                <a:latin typeface="Courier New" panose="02070309020205020404" pitchFamily="49" charset="0"/>
                <a:cs typeface="Courier New" panose="02070309020205020404" pitchFamily="49" charset="0"/>
              </a:rPr>
              <a:t>	f0,0(x1)</a:t>
            </a:r>
          </a:p>
          <a:p>
            <a:pPr>
              <a:lnSpc>
                <a:spcPct val="90000"/>
              </a:lnSpc>
              <a:buNone/>
            </a:pPr>
            <a:r>
              <a:rPr lang="en-US" sz="2400" kern="0" dirty="0">
                <a:latin typeface="Courier New" panose="02070309020205020404" pitchFamily="49" charset="0"/>
                <a:cs typeface="Courier New" panose="02070309020205020404" pitchFamily="49" charset="0"/>
              </a:rPr>
              <a:t>		</a:t>
            </a:r>
            <a:r>
              <a:rPr lang="en-US" sz="2400" kern="0" dirty="0" err="1">
                <a:latin typeface="Courier New" panose="02070309020205020404" pitchFamily="49" charset="0"/>
                <a:cs typeface="Courier New" panose="02070309020205020404" pitchFamily="49" charset="0"/>
              </a:rPr>
              <a:t>addi</a:t>
            </a:r>
            <a:r>
              <a:rPr lang="en-US" sz="2400" kern="0" dirty="0">
                <a:latin typeface="Courier New" panose="02070309020205020404" pitchFamily="49" charset="0"/>
                <a:cs typeface="Courier New" panose="02070309020205020404" pitchFamily="49" charset="0"/>
              </a:rPr>
              <a:t> x1,x1,-8</a:t>
            </a:r>
          </a:p>
          <a:p>
            <a:pPr>
              <a:lnSpc>
                <a:spcPct val="90000"/>
              </a:lnSpc>
              <a:buFont typeface="Wingdings" pitchFamily="2" charset="2"/>
              <a:buNone/>
            </a:pPr>
            <a:r>
              <a:rPr lang="en-US" sz="2400" kern="0" dirty="0">
                <a:latin typeface="Courier New" panose="02070309020205020404" pitchFamily="49" charset="0"/>
                <a:cs typeface="Courier New" panose="02070309020205020404" pitchFamily="49" charset="0"/>
              </a:rPr>
              <a:t>		</a:t>
            </a:r>
            <a:r>
              <a:rPr lang="en-US" sz="2400" kern="0" dirty="0" err="1">
                <a:latin typeface="Courier New" panose="02070309020205020404" pitchFamily="49" charset="0"/>
                <a:cs typeface="Courier New" panose="02070309020205020404" pitchFamily="49" charset="0"/>
              </a:rPr>
              <a:t>fadd.d</a:t>
            </a:r>
            <a:r>
              <a:rPr lang="en-US" sz="2400" kern="0" dirty="0">
                <a:latin typeface="Courier New" panose="02070309020205020404" pitchFamily="49" charset="0"/>
                <a:cs typeface="Courier New" panose="02070309020205020404" pitchFamily="49" charset="0"/>
              </a:rPr>
              <a:t> f4,f0,f2</a:t>
            </a:r>
            <a:endParaRPr lang="en-US" sz="3600" kern="0" dirty="0">
              <a:latin typeface="Courier New" panose="02070309020205020404" pitchFamily="49" charset="0"/>
              <a:cs typeface="Courier New" panose="02070309020205020404" pitchFamily="49" charset="0"/>
            </a:endParaRPr>
          </a:p>
          <a:p>
            <a:pPr>
              <a:lnSpc>
                <a:spcPct val="90000"/>
              </a:lnSpc>
              <a:buFont typeface="Wingdings" pitchFamily="2" charset="2"/>
              <a:buNone/>
            </a:pPr>
            <a:r>
              <a:rPr lang="en-US" sz="2400" kern="0" dirty="0">
                <a:latin typeface="Courier New" panose="02070309020205020404" pitchFamily="49" charset="0"/>
                <a:cs typeface="Courier New" panose="02070309020205020404" pitchFamily="49" charset="0"/>
              </a:rPr>
              <a:t>		</a:t>
            </a:r>
            <a:r>
              <a:rPr lang="en-US" sz="2400" kern="0" dirty="0">
                <a:solidFill>
                  <a:srgbClr val="FF0000"/>
                </a:solidFill>
                <a:latin typeface="Courier New" panose="02070309020205020404" pitchFamily="49" charset="0"/>
                <a:cs typeface="Courier New" panose="02070309020205020404" pitchFamily="49" charset="0"/>
              </a:rPr>
              <a:t>stall</a:t>
            </a:r>
          </a:p>
          <a:p>
            <a:pPr>
              <a:lnSpc>
                <a:spcPct val="90000"/>
              </a:lnSpc>
              <a:buFont typeface="Wingdings" pitchFamily="2" charset="2"/>
              <a:buNone/>
            </a:pPr>
            <a:r>
              <a:rPr lang="en-US" sz="2400" kern="0" dirty="0">
                <a:latin typeface="Courier New" panose="02070309020205020404" pitchFamily="49" charset="0"/>
                <a:cs typeface="Courier New" panose="02070309020205020404" pitchFamily="49" charset="0"/>
              </a:rPr>
              <a:t>		</a:t>
            </a:r>
            <a:r>
              <a:rPr lang="en-US" sz="2400" kern="0" dirty="0">
                <a:solidFill>
                  <a:srgbClr val="FF0000"/>
                </a:solidFill>
                <a:latin typeface="Courier New" panose="02070309020205020404" pitchFamily="49" charset="0"/>
                <a:cs typeface="Courier New" panose="02070309020205020404" pitchFamily="49" charset="0"/>
              </a:rPr>
              <a:t>stall</a:t>
            </a:r>
          </a:p>
          <a:p>
            <a:pPr>
              <a:lnSpc>
                <a:spcPct val="90000"/>
              </a:lnSpc>
              <a:buFont typeface="Wingdings" pitchFamily="2" charset="2"/>
              <a:buNone/>
            </a:pPr>
            <a:r>
              <a:rPr lang="en-US" sz="2400" kern="0" dirty="0">
                <a:latin typeface="Courier New" panose="02070309020205020404" pitchFamily="49" charset="0"/>
                <a:cs typeface="Courier New" panose="02070309020205020404" pitchFamily="49" charset="0"/>
              </a:rPr>
              <a:t>		</a:t>
            </a:r>
            <a:r>
              <a:rPr lang="en-US" sz="2400" kern="0" dirty="0" err="1">
                <a:latin typeface="Courier New" panose="02070309020205020404" pitchFamily="49" charset="0"/>
                <a:cs typeface="Courier New" panose="02070309020205020404" pitchFamily="49" charset="0"/>
              </a:rPr>
              <a:t>fsd</a:t>
            </a:r>
            <a:r>
              <a:rPr lang="en-US" sz="2400" kern="0" dirty="0">
                <a:latin typeface="Courier New" panose="02070309020205020404" pitchFamily="49" charset="0"/>
                <a:cs typeface="Courier New" panose="02070309020205020404" pitchFamily="49" charset="0"/>
              </a:rPr>
              <a:t> </a:t>
            </a:r>
            <a:r>
              <a:rPr lang="en-US" sz="2400" kern="0" dirty="0" smtClean="0">
                <a:latin typeface="Courier New" panose="02070309020205020404" pitchFamily="49" charset="0"/>
                <a:cs typeface="Courier New" panose="02070309020205020404" pitchFamily="49" charset="0"/>
              </a:rPr>
              <a:t>f4,8(x1</a:t>
            </a:r>
            <a:r>
              <a:rPr lang="en-US" sz="2400" kern="0" dirty="0">
                <a:latin typeface="Courier New" panose="02070309020205020404" pitchFamily="49" charset="0"/>
                <a:cs typeface="Courier New" panose="02070309020205020404" pitchFamily="49" charset="0"/>
              </a:rPr>
              <a:t>) 		</a:t>
            </a:r>
            <a:r>
              <a:rPr lang="en-US" sz="2400" kern="0" dirty="0" err="1">
                <a:latin typeface="Courier New" panose="02070309020205020404" pitchFamily="49" charset="0"/>
                <a:cs typeface="Courier New" panose="02070309020205020404" pitchFamily="49" charset="0"/>
              </a:rPr>
              <a:t>bne</a:t>
            </a:r>
            <a:r>
              <a:rPr lang="en-US" sz="2400" kern="0" dirty="0">
                <a:latin typeface="Courier New" panose="02070309020205020404" pitchFamily="49" charset="0"/>
                <a:cs typeface="Courier New" panose="02070309020205020404" pitchFamily="49" charset="0"/>
              </a:rPr>
              <a:t> </a:t>
            </a:r>
            <a:r>
              <a:rPr lang="en-US" sz="2400" kern="0" dirty="0" smtClean="0">
                <a:latin typeface="Courier New" panose="02070309020205020404" pitchFamily="49" charset="0"/>
                <a:cs typeface="Courier New" panose="02070309020205020404" pitchFamily="49" charset="0"/>
              </a:rPr>
              <a:t>x1,x2,Loop</a:t>
            </a:r>
          </a:p>
          <a:p>
            <a:pPr>
              <a:lnSpc>
                <a:spcPct val="90000"/>
              </a:lnSpc>
              <a:buFont typeface="Wingdings" pitchFamily="2" charset="2"/>
              <a:buNone/>
            </a:pPr>
            <a:r>
              <a:rPr lang="en-US" sz="2400" kern="0" dirty="0" smtClean="0">
                <a:solidFill>
                  <a:srgbClr val="0000FF"/>
                </a:solidFill>
                <a:latin typeface="Arial" panose="020B0604020202020204" pitchFamily="34" charset="0"/>
                <a:cs typeface="Arial" panose="020B0604020202020204" pitchFamily="34" charset="0"/>
              </a:rPr>
              <a:t>// 7 cycles/element</a:t>
            </a:r>
            <a:endParaRPr lang="en-US" sz="2400" kern="0" dirty="0">
              <a:solidFill>
                <a:srgbClr val="0000FF"/>
              </a:solidFill>
              <a:latin typeface="Arial" panose="020B0604020202020204" pitchFamily="34" charset="0"/>
              <a:cs typeface="Arial" panose="020B0604020202020204" pitchFamily="34" charset="0"/>
            </a:endParaRPr>
          </a:p>
        </p:txBody>
      </p:sp>
      <p:cxnSp>
        <p:nvCxnSpPr>
          <p:cNvPr id="3" name="Straight Arrow Connector 2"/>
          <p:cNvCxnSpPr/>
          <p:nvPr/>
        </p:nvCxnSpPr>
        <p:spPr bwMode="auto">
          <a:xfrm flipV="1">
            <a:off x="4295800" y="2924944"/>
            <a:ext cx="3816424" cy="2448272"/>
          </a:xfrm>
          <a:prstGeom prst="straightConnector1">
            <a:avLst/>
          </a:prstGeom>
          <a:noFill/>
          <a:ln w="38100" cap="flat" cmpd="sng" algn="ctr">
            <a:solidFill>
              <a:schemeClr val="tx1"/>
            </a:solidFill>
            <a:prstDash val="solid"/>
            <a:round/>
            <a:headEnd type="none" w="med" len="med"/>
            <a:tailEnd type="triangle" w="lg" len="lg"/>
          </a:ln>
          <a:effectLst/>
        </p:spPr>
      </p:cxnSp>
      <p:sp>
        <p:nvSpPr>
          <p:cNvPr id="2" name="文本框 1"/>
          <p:cNvSpPr txBox="1"/>
          <p:nvPr/>
        </p:nvSpPr>
        <p:spPr>
          <a:xfrm>
            <a:off x="6672064" y="5589240"/>
            <a:ext cx="5064207" cy="954107"/>
          </a:xfrm>
          <a:prstGeom prst="rect">
            <a:avLst/>
          </a:prstGeom>
          <a:noFill/>
        </p:spPr>
        <p:txBody>
          <a:bodyPr wrap="none" rtlCol="0">
            <a:spAutoFit/>
          </a:bodyPr>
          <a:lstStyle/>
          <a:p>
            <a:r>
              <a:rPr lang="en-US" altLang="zh-CN" sz="2800" dirty="0" smtClean="0">
                <a:solidFill>
                  <a:srgbClr val="0000FF"/>
                </a:solidFill>
              </a:rPr>
              <a:t>Stall cannot be all eliminated </a:t>
            </a:r>
            <a:br>
              <a:rPr lang="en-US" altLang="zh-CN" sz="2800" dirty="0" smtClean="0">
                <a:solidFill>
                  <a:srgbClr val="0000FF"/>
                </a:solidFill>
              </a:rPr>
            </a:br>
            <a:r>
              <a:rPr lang="en-US" altLang="zh-CN" sz="2800" dirty="0" smtClean="0">
                <a:solidFill>
                  <a:srgbClr val="0000FF"/>
                </a:solidFill>
              </a:rPr>
              <a:t>by only scheduling instructions</a:t>
            </a:r>
            <a:endParaRPr lang="zh-CN" altLang="en-US" sz="2800" dirty="0">
              <a:solidFill>
                <a:srgbClr val="0000FF"/>
              </a:solidFill>
            </a:endParaRPr>
          </a:p>
        </p:txBody>
      </p:sp>
    </p:spTree>
    <p:extLst>
      <p:ext uri="{BB962C8B-B14F-4D97-AF65-F5344CB8AC3E}">
        <p14:creationId xmlns:p14="http://schemas.microsoft.com/office/powerpoint/2010/main" val="215683923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AU" dirty="0" smtClean="0"/>
              <a:t>Loop Unrolling</a:t>
            </a:r>
            <a:r>
              <a:rPr lang="zh-CN" altLang="en-US" dirty="0" smtClean="0"/>
              <a:t>（循环展开）</a:t>
            </a:r>
            <a:endParaRPr lang="en-AU" dirty="0"/>
          </a:p>
        </p:txBody>
      </p:sp>
      <p:sp>
        <p:nvSpPr>
          <p:cNvPr id="242691" name="Rectangle 3"/>
          <p:cNvSpPr>
            <a:spLocks noGrp="1" noChangeArrowheads="1"/>
          </p:cNvSpPr>
          <p:nvPr>
            <p:ph type="body" idx="1"/>
          </p:nvPr>
        </p:nvSpPr>
        <p:spPr/>
        <p:txBody>
          <a:bodyPr/>
          <a:lstStyle/>
          <a:p>
            <a:r>
              <a:rPr lang="en-US" dirty="0" smtClean="0"/>
              <a:t>Unroll by a factor of 4</a:t>
            </a:r>
          </a:p>
          <a:p>
            <a:pPr lvl="1"/>
            <a:r>
              <a:rPr lang="en-US" dirty="0" smtClean="0"/>
              <a:t>assume # elements is </a:t>
            </a:r>
            <a:br>
              <a:rPr lang="en-US" dirty="0" smtClean="0"/>
            </a:br>
            <a:r>
              <a:rPr lang="en-US" dirty="0" smtClean="0"/>
              <a:t>divisible by 4</a:t>
            </a:r>
          </a:p>
          <a:p>
            <a:r>
              <a:rPr lang="en-US" dirty="0" smtClean="0"/>
              <a:t>Eliminate unnecessary </a:t>
            </a:r>
            <a:br>
              <a:rPr lang="en-US" dirty="0" smtClean="0"/>
            </a:br>
            <a:r>
              <a:rPr lang="en-US" dirty="0" smtClean="0"/>
              <a:t>instructions of loop control</a:t>
            </a:r>
          </a:p>
          <a:p>
            <a:endParaRPr lang="en-US" dirty="0"/>
          </a:p>
          <a:p>
            <a:r>
              <a:rPr lang="en-US" dirty="0" smtClean="0"/>
              <a:t>Stall still exists between </a:t>
            </a:r>
            <a:r>
              <a:rPr lang="en-US" dirty="0" err="1" smtClean="0">
                <a:latin typeface="Courier New" panose="02070309020205020404" pitchFamily="49" charset="0"/>
                <a:cs typeface="Courier New" panose="02070309020205020404" pitchFamily="49" charset="0"/>
              </a:rPr>
              <a:t>fld</a:t>
            </a:r>
            <a:r>
              <a:rPr lang="en-US" dirty="0" smtClean="0"/>
              <a:t> </a:t>
            </a:r>
            <a:br>
              <a:rPr lang="en-US" dirty="0" smtClean="0"/>
            </a:br>
            <a:r>
              <a:rPr lang="en-US" dirty="0" smtClean="0"/>
              <a:t>and </a:t>
            </a:r>
            <a:r>
              <a:rPr lang="en-US" dirty="0" err="1" smtClean="0">
                <a:latin typeface="Courier New" panose="02070309020205020404" pitchFamily="49" charset="0"/>
                <a:cs typeface="Courier New" panose="02070309020205020404" pitchFamily="49" charset="0"/>
              </a:rPr>
              <a:t>fadd.d</a:t>
            </a:r>
            <a:endParaRPr lang="en-US" dirty="0"/>
          </a:p>
          <a:p>
            <a:pPr lvl="1"/>
            <a:r>
              <a:rPr lang="en-US" dirty="0" smtClean="0"/>
              <a:t>and </a:t>
            </a:r>
            <a:r>
              <a:rPr lang="en-US" dirty="0" err="1">
                <a:latin typeface="Courier New" panose="02070309020205020404" pitchFamily="49" charset="0"/>
                <a:cs typeface="Courier New" panose="02070309020205020404" pitchFamily="49" charset="0"/>
              </a:rPr>
              <a:t>fadd.d</a:t>
            </a:r>
            <a:r>
              <a:rPr lang="en-US" dirty="0" smtClean="0"/>
              <a:t> and </a:t>
            </a:r>
            <a:r>
              <a:rPr lang="en-US" dirty="0" err="1" smtClean="0">
                <a:latin typeface="Courier New" panose="02070309020205020404" pitchFamily="49" charset="0"/>
                <a:cs typeface="Courier New" panose="02070309020205020404" pitchFamily="49" charset="0"/>
              </a:rPr>
              <a:t>fsd</a:t>
            </a:r>
            <a:endParaRPr lang="en-US" dirty="0" smtClean="0">
              <a:latin typeface="Courier New" panose="02070309020205020404" pitchFamily="49" charset="0"/>
              <a:cs typeface="Courier New" panose="02070309020205020404" pitchFamily="49" charset="0"/>
            </a:endParaRPr>
          </a:p>
          <a:p>
            <a:r>
              <a:rPr lang="en-US" dirty="0" smtClean="0"/>
              <a:t>Totally 6x4+2=26 cycles</a:t>
            </a:r>
          </a:p>
          <a:p>
            <a:r>
              <a:rPr lang="en-US" dirty="0" smtClean="0"/>
              <a:t>6.5 cycles/element</a:t>
            </a:r>
            <a:endParaRPr lang="en-US" dirty="0"/>
          </a:p>
        </p:txBody>
      </p:sp>
      <p:sp>
        <p:nvSpPr>
          <p:cNvPr id="5" name="矩形 4"/>
          <p:cNvSpPr/>
          <p:nvPr/>
        </p:nvSpPr>
        <p:spPr>
          <a:xfrm>
            <a:off x="5591944" y="1844824"/>
            <a:ext cx="6696744" cy="4401205"/>
          </a:xfrm>
          <a:prstGeom prst="rect">
            <a:avLst/>
          </a:prstGeom>
        </p:spPr>
        <p:txBody>
          <a:bodyPr wrap="square">
            <a:spAutoFit/>
          </a:bodyPr>
          <a:lstStyle/>
          <a:p>
            <a:r>
              <a:rPr lang="en-US" altLang="zh-CN" sz="2000" dirty="0">
                <a:solidFill>
                  <a:srgbClr val="0000FF"/>
                </a:solidFill>
                <a:latin typeface="Courier New" panose="02070309020205020404" pitchFamily="49" charset="0"/>
                <a:cs typeface="Courier New" panose="02070309020205020404" pitchFamily="49" charset="0"/>
              </a:rPr>
              <a:t>Loop:	</a:t>
            </a:r>
            <a:r>
              <a:rPr lang="en-US" altLang="zh-CN" sz="2000" dirty="0" err="1">
                <a:solidFill>
                  <a:srgbClr val="0000FF"/>
                </a:solidFill>
                <a:latin typeface="Courier New" panose="02070309020205020404" pitchFamily="49" charset="0"/>
                <a:cs typeface="Courier New" panose="02070309020205020404" pitchFamily="49" charset="0"/>
              </a:rPr>
              <a:t>fld</a:t>
            </a:r>
            <a:r>
              <a:rPr lang="en-US" altLang="zh-CN" sz="2000" dirty="0">
                <a:solidFill>
                  <a:srgbClr val="0000FF"/>
                </a:solidFill>
                <a:latin typeface="Courier New" panose="02070309020205020404" pitchFamily="49" charset="0"/>
                <a:cs typeface="Courier New" panose="02070309020205020404" pitchFamily="49" charset="0"/>
              </a:rPr>
              <a:t> f0,0(x1)</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fadd.d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f4,f0,f2</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fsd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f4,0(x1) 	</a:t>
            </a:r>
            <a:r>
              <a:rPr lang="en-US" altLang="zh-CN" sz="2000" dirty="0" smtClean="0">
                <a:solidFill>
                  <a:srgbClr val="0000FF"/>
                </a:solidFill>
                <a:latin typeface="Courier New" panose="02070309020205020404" pitchFamily="49" charset="0"/>
                <a:cs typeface="Courier New" panose="02070309020205020404" pitchFamily="49" charset="0"/>
              </a:rPr>
              <a:t>//</a:t>
            </a:r>
            <a:r>
              <a:rPr lang="en-US" altLang="zh-CN" sz="2000" dirty="0">
                <a:solidFill>
                  <a:srgbClr val="0000FF"/>
                </a:solidFill>
                <a:latin typeface="Courier New" panose="02070309020205020404" pitchFamily="49" charset="0"/>
                <a:cs typeface="Courier New" panose="02070309020205020404" pitchFamily="49" charset="0"/>
              </a:rPr>
              <a:t>drop </a:t>
            </a:r>
            <a:r>
              <a:rPr lang="en-US" altLang="zh-CN" sz="2000" dirty="0" err="1">
                <a:solidFill>
                  <a:srgbClr val="0000FF"/>
                </a:solidFill>
                <a:latin typeface="Courier New" panose="02070309020205020404" pitchFamily="49" charset="0"/>
                <a:cs typeface="Courier New" panose="02070309020205020404" pitchFamily="49" charset="0"/>
              </a:rPr>
              <a:t>addi</a:t>
            </a:r>
            <a:r>
              <a:rPr lang="en-US" altLang="zh-CN" sz="2000" dirty="0">
                <a:solidFill>
                  <a:srgbClr val="0000FF"/>
                </a:solidFill>
                <a:latin typeface="Courier New" panose="02070309020205020404" pitchFamily="49" charset="0"/>
                <a:cs typeface="Courier New" panose="02070309020205020404" pitchFamily="49" charset="0"/>
              </a:rPr>
              <a:t> &amp; </a:t>
            </a:r>
            <a:r>
              <a:rPr lang="en-US" altLang="zh-CN" sz="2000" dirty="0" err="1">
                <a:solidFill>
                  <a:srgbClr val="0000FF"/>
                </a:solidFill>
                <a:latin typeface="Courier New" panose="02070309020205020404" pitchFamily="49" charset="0"/>
                <a:cs typeface="Courier New" panose="02070309020205020404" pitchFamily="49" charset="0"/>
              </a:rPr>
              <a:t>bne</a:t>
            </a:r>
            <a:endParaRPr lang="en-US" altLang="zh-CN" sz="2000" dirty="0">
              <a:solidFill>
                <a:srgbClr val="0000FF"/>
              </a:solidFill>
              <a:latin typeface="Courier New" panose="02070309020205020404" pitchFamily="49" charset="0"/>
              <a:cs typeface="Courier New" panose="02070309020205020404" pitchFamily="49" charset="0"/>
            </a:endParaRP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fld</a:t>
            </a:r>
            <a:r>
              <a:rPr lang="en-US" altLang="zh-CN" sz="2000" dirty="0" smtClean="0">
                <a:solidFill>
                  <a:srgbClr val="0000FF"/>
                </a:solidFill>
                <a:latin typeface="Courier New" panose="02070309020205020404" pitchFamily="49" charset="0"/>
                <a:cs typeface="Courier New" panose="02070309020205020404" pitchFamily="49" charset="0"/>
              </a:rPr>
              <a:t> f0,-</a:t>
            </a:r>
            <a:r>
              <a:rPr lang="en-US" altLang="zh-CN" sz="2000" dirty="0">
                <a:solidFill>
                  <a:srgbClr val="FF0000"/>
                </a:solidFill>
                <a:latin typeface="Courier New" panose="02070309020205020404" pitchFamily="49" charset="0"/>
                <a:cs typeface="Courier New" panose="02070309020205020404" pitchFamily="49" charset="0"/>
              </a:rPr>
              <a:t>8</a:t>
            </a:r>
            <a:r>
              <a:rPr lang="en-US" altLang="zh-CN" sz="2000" dirty="0">
                <a:solidFill>
                  <a:srgbClr val="0000FF"/>
                </a:solidFill>
                <a:latin typeface="Courier New" panose="02070309020205020404" pitchFamily="49" charset="0"/>
                <a:cs typeface="Courier New" panose="02070309020205020404" pitchFamily="49" charset="0"/>
              </a:rPr>
              <a:t>(x1)</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fadd.d</a:t>
            </a:r>
            <a:r>
              <a:rPr lang="en-US" altLang="zh-CN" sz="2000" dirty="0" smtClean="0">
                <a:solidFill>
                  <a:srgbClr val="0000FF"/>
                </a:solidFill>
                <a:latin typeface="Courier New" panose="02070309020205020404" pitchFamily="49" charset="0"/>
                <a:cs typeface="Courier New" panose="02070309020205020404" pitchFamily="49" charset="0"/>
              </a:rPr>
              <a:t> f4,f0,f2</a:t>
            </a:r>
            <a:endParaRPr lang="en-US" altLang="zh-CN" sz="2000" dirty="0">
              <a:solidFill>
                <a:srgbClr val="0000FF"/>
              </a:solidFill>
              <a:latin typeface="Courier New" panose="02070309020205020404" pitchFamily="49" charset="0"/>
              <a:cs typeface="Courier New" panose="02070309020205020404" pitchFamily="49" charset="0"/>
            </a:endParaRP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fsd</a:t>
            </a:r>
            <a:r>
              <a:rPr lang="en-US" altLang="zh-CN" sz="2000" dirty="0" smtClean="0">
                <a:solidFill>
                  <a:srgbClr val="0000FF"/>
                </a:solidFill>
                <a:latin typeface="Courier New" panose="02070309020205020404" pitchFamily="49" charset="0"/>
                <a:cs typeface="Courier New" panose="02070309020205020404" pitchFamily="49" charset="0"/>
              </a:rPr>
              <a:t> f4,-</a:t>
            </a:r>
            <a:r>
              <a:rPr lang="en-US" altLang="zh-CN" sz="2000" dirty="0">
                <a:solidFill>
                  <a:srgbClr val="0000FF"/>
                </a:solidFill>
                <a:latin typeface="Courier New" panose="02070309020205020404" pitchFamily="49" charset="0"/>
                <a:cs typeface="Courier New" panose="02070309020205020404" pitchFamily="49" charset="0"/>
              </a:rPr>
              <a:t>8(x1) 	//drop </a:t>
            </a:r>
            <a:r>
              <a:rPr lang="en-US" altLang="zh-CN" sz="2000" dirty="0" err="1">
                <a:solidFill>
                  <a:srgbClr val="0000FF"/>
                </a:solidFill>
                <a:latin typeface="Courier New" panose="02070309020205020404" pitchFamily="49" charset="0"/>
                <a:cs typeface="Courier New" panose="02070309020205020404" pitchFamily="49" charset="0"/>
              </a:rPr>
              <a:t>addi</a:t>
            </a:r>
            <a:r>
              <a:rPr lang="en-US" altLang="zh-CN" sz="2000" dirty="0">
                <a:solidFill>
                  <a:srgbClr val="0000FF"/>
                </a:solidFill>
                <a:latin typeface="Courier New" panose="02070309020205020404" pitchFamily="49" charset="0"/>
                <a:cs typeface="Courier New" panose="02070309020205020404" pitchFamily="49" charset="0"/>
              </a:rPr>
              <a:t> &amp; </a:t>
            </a:r>
            <a:r>
              <a:rPr lang="en-US" altLang="zh-CN" sz="2000" dirty="0" err="1">
                <a:solidFill>
                  <a:srgbClr val="0000FF"/>
                </a:solidFill>
                <a:latin typeface="Courier New" panose="02070309020205020404" pitchFamily="49" charset="0"/>
                <a:cs typeface="Courier New" panose="02070309020205020404" pitchFamily="49" charset="0"/>
              </a:rPr>
              <a:t>bne</a:t>
            </a:r>
            <a:endParaRPr lang="en-US" altLang="zh-CN" sz="2000" dirty="0">
              <a:solidFill>
                <a:srgbClr val="0000FF"/>
              </a:solidFill>
              <a:latin typeface="Courier New" panose="02070309020205020404" pitchFamily="49" charset="0"/>
              <a:cs typeface="Courier New" panose="02070309020205020404" pitchFamily="49" charset="0"/>
            </a:endParaRP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fld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f0,-</a:t>
            </a:r>
            <a:r>
              <a:rPr lang="en-US" altLang="zh-CN" sz="2000" dirty="0">
                <a:solidFill>
                  <a:srgbClr val="FF0000"/>
                </a:solidFill>
                <a:latin typeface="Courier New" panose="02070309020205020404" pitchFamily="49" charset="0"/>
                <a:cs typeface="Courier New" panose="02070309020205020404" pitchFamily="49" charset="0"/>
              </a:rPr>
              <a:t>16</a:t>
            </a:r>
            <a:r>
              <a:rPr lang="en-US" altLang="zh-CN" sz="2000" dirty="0">
                <a:solidFill>
                  <a:srgbClr val="0000FF"/>
                </a:solidFill>
                <a:latin typeface="Courier New" panose="02070309020205020404" pitchFamily="49" charset="0"/>
                <a:cs typeface="Courier New" panose="02070309020205020404" pitchFamily="49" charset="0"/>
              </a:rPr>
              <a:t>(x1)</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fadd.d</a:t>
            </a:r>
            <a:r>
              <a:rPr lang="en-US" altLang="zh-CN" sz="2000" dirty="0" smtClean="0">
                <a:solidFill>
                  <a:srgbClr val="0000FF"/>
                </a:solidFill>
                <a:latin typeface="Courier New" panose="02070309020205020404" pitchFamily="49" charset="0"/>
                <a:cs typeface="Courier New" panose="02070309020205020404" pitchFamily="49" charset="0"/>
              </a:rPr>
              <a:t> f4,f0,f2</a:t>
            </a:r>
            <a:endParaRPr lang="en-US" altLang="zh-CN" sz="2000" dirty="0">
              <a:solidFill>
                <a:srgbClr val="0000FF"/>
              </a:solidFill>
              <a:latin typeface="Courier New" panose="02070309020205020404" pitchFamily="49" charset="0"/>
              <a:cs typeface="Courier New" panose="02070309020205020404" pitchFamily="49" charset="0"/>
            </a:endParaRP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fsd</a:t>
            </a:r>
            <a:r>
              <a:rPr lang="en-US" altLang="zh-CN" sz="2000" dirty="0" smtClean="0">
                <a:solidFill>
                  <a:srgbClr val="0000FF"/>
                </a:solidFill>
                <a:latin typeface="Courier New" panose="02070309020205020404" pitchFamily="49" charset="0"/>
                <a:cs typeface="Courier New" panose="02070309020205020404" pitchFamily="49" charset="0"/>
              </a:rPr>
              <a:t> f4,-</a:t>
            </a:r>
            <a:r>
              <a:rPr lang="en-US" altLang="zh-CN" sz="2000" dirty="0">
                <a:solidFill>
                  <a:srgbClr val="0000FF"/>
                </a:solidFill>
                <a:latin typeface="Courier New" panose="02070309020205020404" pitchFamily="49" charset="0"/>
                <a:cs typeface="Courier New" panose="02070309020205020404" pitchFamily="49" charset="0"/>
              </a:rPr>
              <a:t>16(x1) </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drop </a:t>
            </a:r>
            <a:r>
              <a:rPr lang="en-US" altLang="zh-CN" sz="2000" dirty="0" err="1">
                <a:solidFill>
                  <a:srgbClr val="0000FF"/>
                </a:solidFill>
                <a:latin typeface="Courier New" panose="02070309020205020404" pitchFamily="49" charset="0"/>
                <a:cs typeface="Courier New" panose="02070309020205020404" pitchFamily="49" charset="0"/>
              </a:rPr>
              <a:t>addi</a:t>
            </a:r>
            <a:r>
              <a:rPr lang="en-US" altLang="zh-CN" sz="2000" dirty="0">
                <a:solidFill>
                  <a:srgbClr val="0000FF"/>
                </a:solidFill>
                <a:latin typeface="Courier New" panose="02070309020205020404" pitchFamily="49" charset="0"/>
                <a:cs typeface="Courier New" panose="02070309020205020404" pitchFamily="49" charset="0"/>
              </a:rPr>
              <a:t> &amp; </a:t>
            </a:r>
            <a:r>
              <a:rPr lang="en-US" altLang="zh-CN" sz="2000" dirty="0" err="1">
                <a:solidFill>
                  <a:srgbClr val="0000FF"/>
                </a:solidFill>
                <a:latin typeface="Courier New" panose="02070309020205020404" pitchFamily="49" charset="0"/>
                <a:cs typeface="Courier New" panose="02070309020205020404" pitchFamily="49" charset="0"/>
              </a:rPr>
              <a:t>bne</a:t>
            </a:r>
            <a:endParaRPr lang="en-US" altLang="zh-CN" sz="2000" dirty="0">
              <a:solidFill>
                <a:srgbClr val="0000FF"/>
              </a:solidFill>
              <a:latin typeface="Courier New" panose="02070309020205020404" pitchFamily="49" charset="0"/>
              <a:cs typeface="Courier New" panose="02070309020205020404" pitchFamily="49" charset="0"/>
            </a:endParaRP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fld</a:t>
            </a:r>
            <a:r>
              <a:rPr lang="en-US" altLang="zh-CN" sz="2000" dirty="0" smtClean="0">
                <a:solidFill>
                  <a:srgbClr val="0000FF"/>
                </a:solidFill>
                <a:latin typeface="Courier New" panose="02070309020205020404" pitchFamily="49" charset="0"/>
                <a:cs typeface="Courier New" panose="02070309020205020404" pitchFamily="49" charset="0"/>
              </a:rPr>
              <a:t> f0,-</a:t>
            </a:r>
            <a:r>
              <a:rPr lang="en-US" altLang="zh-CN" sz="2000" dirty="0">
                <a:solidFill>
                  <a:srgbClr val="FF0000"/>
                </a:solidFill>
                <a:latin typeface="Courier New" panose="02070309020205020404" pitchFamily="49" charset="0"/>
                <a:cs typeface="Courier New" panose="02070309020205020404" pitchFamily="49" charset="0"/>
              </a:rPr>
              <a:t>24</a:t>
            </a:r>
            <a:r>
              <a:rPr lang="en-US" altLang="zh-CN" sz="2000" dirty="0">
                <a:solidFill>
                  <a:srgbClr val="0000FF"/>
                </a:solidFill>
                <a:latin typeface="Courier New" panose="02070309020205020404" pitchFamily="49" charset="0"/>
                <a:cs typeface="Courier New" panose="02070309020205020404" pitchFamily="49" charset="0"/>
              </a:rPr>
              <a:t>(x1)</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fadd.d</a:t>
            </a:r>
            <a:r>
              <a:rPr lang="en-US" altLang="zh-CN" sz="2000" dirty="0" smtClean="0">
                <a:solidFill>
                  <a:srgbClr val="0000FF"/>
                </a:solidFill>
                <a:latin typeface="Courier New" panose="02070309020205020404" pitchFamily="49" charset="0"/>
                <a:cs typeface="Courier New" panose="02070309020205020404" pitchFamily="49" charset="0"/>
              </a:rPr>
              <a:t> f4,f0,f2</a:t>
            </a:r>
            <a:endParaRPr lang="en-US" altLang="zh-CN" sz="2000" dirty="0">
              <a:solidFill>
                <a:srgbClr val="0000FF"/>
              </a:solidFill>
              <a:latin typeface="Courier New" panose="02070309020205020404" pitchFamily="49" charset="0"/>
              <a:cs typeface="Courier New" panose="02070309020205020404" pitchFamily="49" charset="0"/>
            </a:endParaRP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fsd</a:t>
            </a:r>
            <a:r>
              <a:rPr lang="en-US" altLang="zh-CN" sz="2000" dirty="0" smtClean="0">
                <a:solidFill>
                  <a:srgbClr val="0000FF"/>
                </a:solidFill>
                <a:latin typeface="Courier New" panose="02070309020205020404" pitchFamily="49" charset="0"/>
                <a:cs typeface="Courier New" panose="02070309020205020404" pitchFamily="49" charset="0"/>
              </a:rPr>
              <a:t> f4,-</a:t>
            </a:r>
            <a:r>
              <a:rPr lang="en-US" altLang="zh-CN" sz="2000" dirty="0">
                <a:solidFill>
                  <a:srgbClr val="0000FF"/>
                </a:solidFill>
                <a:latin typeface="Courier New" panose="02070309020205020404" pitchFamily="49" charset="0"/>
                <a:cs typeface="Courier New" panose="02070309020205020404" pitchFamily="49" charset="0"/>
              </a:rPr>
              <a:t>24(x1)</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addi</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x1,x1,-</a:t>
            </a:r>
            <a:r>
              <a:rPr lang="en-US" altLang="zh-CN" sz="2000" dirty="0">
                <a:solidFill>
                  <a:srgbClr val="FF0000"/>
                </a:solidFill>
                <a:latin typeface="Courier New" panose="02070309020205020404" pitchFamily="49" charset="0"/>
                <a:cs typeface="Courier New" panose="02070309020205020404" pitchFamily="49" charset="0"/>
              </a:rPr>
              <a:t>32</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bne</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x1,x2,Loop</a:t>
            </a:r>
          </a:p>
        </p:txBody>
      </p:sp>
    </p:spTree>
    <p:extLst>
      <p:ext uri="{BB962C8B-B14F-4D97-AF65-F5344CB8AC3E}">
        <p14:creationId xmlns:p14="http://schemas.microsoft.com/office/powerpoint/2010/main" val="469967227"/>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AU" dirty="0" smtClean="0"/>
              <a:t>Loop Unrolling</a:t>
            </a:r>
            <a:endParaRPr lang="en-AU" dirty="0"/>
          </a:p>
        </p:txBody>
      </p:sp>
      <p:sp>
        <p:nvSpPr>
          <p:cNvPr id="242691" name="Rectangle 3"/>
          <p:cNvSpPr>
            <a:spLocks noGrp="1" noChangeArrowheads="1"/>
          </p:cNvSpPr>
          <p:nvPr>
            <p:ph type="body" idx="1"/>
          </p:nvPr>
        </p:nvSpPr>
        <p:spPr/>
        <p:txBody>
          <a:bodyPr/>
          <a:lstStyle/>
          <a:p>
            <a:r>
              <a:rPr lang="en-US" dirty="0" smtClean="0"/>
              <a:t>Eliminate unnecessary </a:t>
            </a:r>
            <a:br>
              <a:rPr lang="en-US" dirty="0" smtClean="0"/>
            </a:br>
            <a:r>
              <a:rPr lang="en-US" dirty="0" smtClean="0"/>
              <a:t>name dependence</a:t>
            </a:r>
            <a:br>
              <a:rPr lang="en-US" dirty="0" smtClean="0"/>
            </a:br>
            <a:r>
              <a:rPr lang="en-US" dirty="0" smtClean="0"/>
              <a:t>by register renaming</a:t>
            </a:r>
          </a:p>
          <a:p>
            <a:endParaRPr lang="en-US" dirty="0"/>
          </a:p>
          <a:p>
            <a:r>
              <a:rPr lang="en-US" altLang="zh-CN" dirty="0">
                <a:solidFill>
                  <a:srgbClr val="FF0000"/>
                </a:solidFill>
              </a:rPr>
              <a:t>N</a:t>
            </a:r>
            <a:r>
              <a:rPr lang="en-US" altLang="zh-CN" dirty="0" smtClean="0">
                <a:solidFill>
                  <a:srgbClr val="FF0000"/>
                </a:solidFill>
              </a:rPr>
              <a:t>ote</a:t>
            </a:r>
            <a:r>
              <a:rPr lang="en-US" altLang="zh-CN" dirty="0">
                <a:solidFill>
                  <a:srgbClr val="FF0000"/>
                </a:solidFill>
              </a:rPr>
              <a:t>:  number of live registers </a:t>
            </a:r>
            <a:r>
              <a:rPr lang="en-US" altLang="zh-CN" dirty="0" smtClean="0">
                <a:solidFill>
                  <a:srgbClr val="FF0000"/>
                </a:solidFill>
              </a:rPr>
              <a:t/>
            </a:r>
            <a:br>
              <a:rPr lang="en-US" altLang="zh-CN" dirty="0" smtClean="0">
                <a:solidFill>
                  <a:srgbClr val="FF0000"/>
                </a:solidFill>
              </a:rPr>
            </a:br>
            <a:r>
              <a:rPr lang="en-US" altLang="zh-CN" dirty="0" smtClean="0">
                <a:solidFill>
                  <a:srgbClr val="FF0000"/>
                </a:solidFill>
              </a:rPr>
              <a:t>vs</a:t>
            </a:r>
            <a:r>
              <a:rPr lang="en-US" altLang="zh-CN" dirty="0">
                <a:solidFill>
                  <a:srgbClr val="FF0000"/>
                </a:solidFill>
              </a:rPr>
              <a:t>. original loop</a:t>
            </a:r>
          </a:p>
          <a:p>
            <a:pPr lvl="1"/>
            <a:r>
              <a:rPr lang="en-US" dirty="0" smtClean="0"/>
              <a:t>Stall still exists between </a:t>
            </a:r>
            <a:r>
              <a:rPr lang="en-US" dirty="0" err="1" smtClean="0">
                <a:latin typeface="Courier New" panose="02070309020205020404" pitchFamily="49" charset="0"/>
                <a:cs typeface="Courier New" panose="02070309020205020404" pitchFamily="49" charset="0"/>
              </a:rPr>
              <a:t>fld</a:t>
            </a:r>
            <a:r>
              <a:rPr lang="en-US" dirty="0" smtClean="0"/>
              <a:t> and</a:t>
            </a:r>
            <a:br>
              <a:rPr lang="en-US" dirty="0" smtClean="0"/>
            </a:br>
            <a:r>
              <a:rPr lang="en-US" dirty="0" err="1">
                <a:latin typeface="Courier New" panose="02070309020205020404" pitchFamily="49" charset="0"/>
                <a:cs typeface="Courier New" panose="02070309020205020404" pitchFamily="49" charset="0"/>
              </a:rPr>
              <a:t>fadd.d</a:t>
            </a:r>
            <a:r>
              <a:rPr lang="en-US" dirty="0" smtClean="0"/>
              <a:t> and </a:t>
            </a:r>
            <a:r>
              <a:rPr lang="en-US" dirty="0" err="1">
                <a:latin typeface="Courier New" panose="02070309020205020404" pitchFamily="49" charset="0"/>
                <a:cs typeface="Courier New" panose="02070309020205020404" pitchFamily="49" charset="0"/>
              </a:rPr>
              <a:t>fadd.d</a:t>
            </a:r>
            <a:r>
              <a:rPr lang="en-US" dirty="0" smtClean="0"/>
              <a:t> and </a:t>
            </a:r>
            <a:r>
              <a:rPr lang="en-US" dirty="0" err="1" smtClean="0">
                <a:latin typeface="Courier New" panose="02070309020205020404" pitchFamily="49" charset="0"/>
                <a:cs typeface="Courier New" panose="02070309020205020404" pitchFamily="49" charset="0"/>
              </a:rPr>
              <a:t>fsd</a:t>
            </a:r>
            <a:endParaRPr lang="en-US" dirty="0" smtClean="0">
              <a:latin typeface="Courier New" panose="02070309020205020404" pitchFamily="49" charset="0"/>
              <a:cs typeface="Courier New" panose="02070309020205020404" pitchFamily="49" charset="0"/>
            </a:endParaRPr>
          </a:p>
          <a:p>
            <a:pPr lvl="1"/>
            <a:r>
              <a:rPr lang="en-US" dirty="0" smtClean="0"/>
              <a:t>Totally 6x4+2=26 cycles</a:t>
            </a:r>
          </a:p>
          <a:p>
            <a:pPr lvl="1"/>
            <a:r>
              <a:rPr lang="en-US" dirty="0" smtClean="0"/>
              <a:t>6.5 cycles/element</a:t>
            </a:r>
            <a:endParaRPr lang="en-US" dirty="0"/>
          </a:p>
        </p:txBody>
      </p:sp>
      <p:sp>
        <p:nvSpPr>
          <p:cNvPr id="5" name="矩形 4"/>
          <p:cNvSpPr/>
          <p:nvPr/>
        </p:nvSpPr>
        <p:spPr>
          <a:xfrm>
            <a:off x="5591944" y="1844824"/>
            <a:ext cx="6696744" cy="4401205"/>
          </a:xfrm>
          <a:prstGeom prst="rect">
            <a:avLst/>
          </a:prstGeom>
        </p:spPr>
        <p:txBody>
          <a:bodyPr wrap="square">
            <a:spAutoFit/>
          </a:bodyPr>
          <a:lstStyle/>
          <a:p>
            <a:r>
              <a:rPr lang="en-US" altLang="zh-CN" sz="2000" dirty="0">
                <a:solidFill>
                  <a:srgbClr val="0000FF"/>
                </a:solidFill>
                <a:latin typeface="Courier New" panose="02070309020205020404" pitchFamily="49" charset="0"/>
                <a:cs typeface="Courier New" panose="02070309020205020404" pitchFamily="49" charset="0"/>
              </a:rPr>
              <a:t>Loop:	</a:t>
            </a:r>
            <a:r>
              <a:rPr lang="en-US" altLang="zh-CN" sz="2000" dirty="0" err="1">
                <a:solidFill>
                  <a:srgbClr val="0000FF"/>
                </a:solidFill>
                <a:latin typeface="Courier New" panose="02070309020205020404" pitchFamily="49" charset="0"/>
                <a:cs typeface="Courier New" panose="02070309020205020404" pitchFamily="49" charset="0"/>
              </a:rPr>
              <a:t>fld</a:t>
            </a:r>
            <a:r>
              <a:rPr lang="en-US" altLang="zh-CN" sz="2000" dirty="0">
                <a:solidFill>
                  <a:srgbClr val="0000FF"/>
                </a:solidFill>
                <a:latin typeface="Courier New" panose="02070309020205020404" pitchFamily="49" charset="0"/>
                <a:cs typeface="Courier New" panose="02070309020205020404" pitchFamily="49" charset="0"/>
              </a:rPr>
              <a:t> f0,0(x1)</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fadd.d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f4,f0,f2</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fsd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f4,0(x1) 	</a:t>
            </a:r>
            <a:r>
              <a:rPr lang="en-US" altLang="zh-CN" sz="2000" dirty="0" smtClean="0">
                <a:solidFill>
                  <a:srgbClr val="0000FF"/>
                </a:solidFill>
                <a:latin typeface="Courier New" panose="02070309020205020404" pitchFamily="49" charset="0"/>
                <a:cs typeface="Courier New" panose="02070309020205020404" pitchFamily="49" charset="0"/>
              </a:rPr>
              <a:t>//</a:t>
            </a:r>
            <a:r>
              <a:rPr lang="en-US" altLang="zh-CN" sz="2000" dirty="0">
                <a:solidFill>
                  <a:srgbClr val="0000FF"/>
                </a:solidFill>
                <a:latin typeface="Courier New" panose="02070309020205020404" pitchFamily="49" charset="0"/>
                <a:cs typeface="Courier New" panose="02070309020205020404" pitchFamily="49" charset="0"/>
              </a:rPr>
              <a:t>drop </a:t>
            </a:r>
            <a:r>
              <a:rPr lang="en-US" altLang="zh-CN" sz="2000" dirty="0" err="1">
                <a:solidFill>
                  <a:srgbClr val="0000FF"/>
                </a:solidFill>
                <a:latin typeface="Courier New" panose="02070309020205020404" pitchFamily="49" charset="0"/>
                <a:cs typeface="Courier New" panose="02070309020205020404" pitchFamily="49" charset="0"/>
              </a:rPr>
              <a:t>addi</a:t>
            </a:r>
            <a:r>
              <a:rPr lang="en-US" altLang="zh-CN" sz="2000" dirty="0">
                <a:solidFill>
                  <a:srgbClr val="0000FF"/>
                </a:solidFill>
                <a:latin typeface="Courier New" panose="02070309020205020404" pitchFamily="49" charset="0"/>
                <a:cs typeface="Courier New" panose="02070309020205020404" pitchFamily="49" charset="0"/>
              </a:rPr>
              <a:t> &amp; </a:t>
            </a:r>
            <a:r>
              <a:rPr lang="en-US" altLang="zh-CN" sz="2000" dirty="0" err="1">
                <a:solidFill>
                  <a:srgbClr val="0000FF"/>
                </a:solidFill>
                <a:latin typeface="Courier New" panose="02070309020205020404" pitchFamily="49" charset="0"/>
                <a:cs typeface="Courier New" panose="02070309020205020404" pitchFamily="49" charset="0"/>
              </a:rPr>
              <a:t>bne</a:t>
            </a:r>
            <a:endParaRPr lang="en-US" altLang="zh-CN" sz="2000" dirty="0">
              <a:solidFill>
                <a:srgbClr val="0000FF"/>
              </a:solidFill>
              <a:latin typeface="Courier New" panose="02070309020205020404" pitchFamily="49" charset="0"/>
              <a:cs typeface="Courier New" panose="02070309020205020404" pitchFamily="49" charset="0"/>
            </a:endParaRP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fld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FF0000"/>
                </a:solidFill>
                <a:latin typeface="Courier New" panose="02070309020205020404" pitchFamily="49" charset="0"/>
                <a:cs typeface="Courier New" panose="02070309020205020404" pitchFamily="49" charset="0"/>
              </a:rPr>
              <a:t>f6</a:t>
            </a:r>
            <a:r>
              <a:rPr lang="en-US" altLang="zh-CN" sz="2000" dirty="0">
                <a:solidFill>
                  <a:srgbClr val="0000FF"/>
                </a:solidFill>
                <a:latin typeface="Courier New" panose="02070309020205020404" pitchFamily="49" charset="0"/>
                <a:cs typeface="Courier New" panose="02070309020205020404" pitchFamily="49" charset="0"/>
              </a:rPr>
              <a:t>,-8(x1)</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fadd.d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FF0000"/>
                </a:solidFill>
                <a:latin typeface="Courier New" panose="02070309020205020404" pitchFamily="49" charset="0"/>
                <a:cs typeface="Courier New" panose="02070309020205020404" pitchFamily="49" charset="0"/>
              </a:rPr>
              <a:t>f8</a:t>
            </a:r>
            <a:r>
              <a:rPr lang="en-US" altLang="zh-CN" sz="2000" dirty="0">
                <a:solidFill>
                  <a:srgbClr val="0000FF"/>
                </a:solidFill>
                <a:latin typeface="Courier New" panose="02070309020205020404" pitchFamily="49" charset="0"/>
                <a:cs typeface="Courier New" panose="02070309020205020404" pitchFamily="49" charset="0"/>
              </a:rPr>
              <a:t>,f6,f2</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fsd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FF0000"/>
                </a:solidFill>
                <a:latin typeface="Courier New" panose="02070309020205020404" pitchFamily="49" charset="0"/>
                <a:cs typeface="Courier New" panose="02070309020205020404" pitchFamily="49" charset="0"/>
              </a:rPr>
              <a:t>f8</a:t>
            </a:r>
            <a:r>
              <a:rPr lang="en-US" altLang="zh-CN" sz="2000" dirty="0">
                <a:solidFill>
                  <a:srgbClr val="0000FF"/>
                </a:solidFill>
                <a:latin typeface="Courier New" panose="02070309020205020404" pitchFamily="49" charset="0"/>
                <a:cs typeface="Courier New" panose="02070309020205020404" pitchFamily="49" charset="0"/>
              </a:rPr>
              <a:t>,-8(x1) 	//drop </a:t>
            </a:r>
            <a:r>
              <a:rPr lang="en-US" altLang="zh-CN" sz="2000" dirty="0" err="1">
                <a:solidFill>
                  <a:srgbClr val="0000FF"/>
                </a:solidFill>
                <a:latin typeface="Courier New" panose="02070309020205020404" pitchFamily="49" charset="0"/>
                <a:cs typeface="Courier New" panose="02070309020205020404" pitchFamily="49" charset="0"/>
              </a:rPr>
              <a:t>addi</a:t>
            </a:r>
            <a:r>
              <a:rPr lang="en-US" altLang="zh-CN" sz="2000" dirty="0">
                <a:solidFill>
                  <a:srgbClr val="0000FF"/>
                </a:solidFill>
                <a:latin typeface="Courier New" panose="02070309020205020404" pitchFamily="49" charset="0"/>
                <a:cs typeface="Courier New" panose="02070309020205020404" pitchFamily="49" charset="0"/>
              </a:rPr>
              <a:t> &amp; </a:t>
            </a:r>
            <a:r>
              <a:rPr lang="en-US" altLang="zh-CN" sz="2000" dirty="0" err="1">
                <a:solidFill>
                  <a:srgbClr val="0000FF"/>
                </a:solidFill>
                <a:latin typeface="Courier New" panose="02070309020205020404" pitchFamily="49" charset="0"/>
                <a:cs typeface="Courier New" panose="02070309020205020404" pitchFamily="49" charset="0"/>
              </a:rPr>
              <a:t>bne</a:t>
            </a:r>
            <a:endParaRPr lang="en-US" altLang="zh-CN" sz="2000" dirty="0">
              <a:solidFill>
                <a:srgbClr val="0000FF"/>
              </a:solidFill>
              <a:latin typeface="Courier New" panose="02070309020205020404" pitchFamily="49" charset="0"/>
              <a:cs typeface="Courier New" panose="02070309020205020404" pitchFamily="49" charset="0"/>
            </a:endParaRP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fld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smtClean="0">
                <a:solidFill>
                  <a:srgbClr val="FF0000"/>
                </a:solidFill>
                <a:latin typeface="Courier New" panose="02070309020205020404" pitchFamily="49" charset="0"/>
                <a:cs typeface="Courier New" panose="02070309020205020404" pitchFamily="49" charset="0"/>
              </a:rPr>
              <a:t>f10</a:t>
            </a:r>
            <a:r>
              <a:rPr lang="en-US" altLang="zh-CN" sz="2000" dirty="0">
                <a:solidFill>
                  <a:srgbClr val="0000FF"/>
                </a:solidFill>
                <a:latin typeface="Courier New" panose="02070309020205020404" pitchFamily="49" charset="0"/>
                <a:cs typeface="Courier New" panose="02070309020205020404" pitchFamily="49" charset="0"/>
              </a:rPr>
              <a:t>,-16(x1)</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fadd.d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smtClean="0">
                <a:solidFill>
                  <a:srgbClr val="FF0000"/>
                </a:solidFill>
                <a:latin typeface="Courier New" panose="02070309020205020404" pitchFamily="49" charset="0"/>
                <a:cs typeface="Courier New" panose="02070309020205020404" pitchFamily="49" charset="0"/>
              </a:rPr>
              <a:t>f12</a:t>
            </a:r>
            <a:r>
              <a:rPr lang="en-US" altLang="zh-CN" sz="2000" dirty="0" smtClean="0">
                <a:solidFill>
                  <a:srgbClr val="0000FF"/>
                </a:solidFill>
                <a:latin typeface="Courier New" panose="02070309020205020404" pitchFamily="49" charset="0"/>
                <a:cs typeface="Courier New" panose="02070309020205020404" pitchFamily="49" charset="0"/>
              </a:rPr>
              <a:t>,f10,f2</a:t>
            </a:r>
            <a:endParaRPr lang="en-US" altLang="zh-CN" sz="2000" dirty="0">
              <a:solidFill>
                <a:srgbClr val="0000FF"/>
              </a:solidFill>
              <a:latin typeface="Courier New" panose="02070309020205020404" pitchFamily="49" charset="0"/>
              <a:cs typeface="Courier New" panose="02070309020205020404" pitchFamily="49" charset="0"/>
            </a:endParaRP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fsd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FF0000"/>
                </a:solidFill>
                <a:latin typeface="Courier New" panose="02070309020205020404" pitchFamily="49" charset="0"/>
                <a:cs typeface="Courier New" panose="02070309020205020404" pitchFamily="49" charset="0"/>
              </a:rPr>
              <a:t>f12</a:t>
            </a:r>
            <a:r>
              <a:rPr lang="en-US" altLang="zh-CN" sz="2000" dirty="0">
                <a:solidFill>
                  <a:srgbClr val="0000FF"/>
                </a:solidFill>
                <a:latin typeface="Courier New" panose="02070309020205020404" pitchFamily="49" charset="0"/>
                <a:cs typeface="Courier New" panose="02070309020205020404" pitchFamily="49" charset="0"/>
              </a:rPr>
              <a:t>,-16(x1) </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drop </a:t>
            </a:r>
            <a:r>
              <a:rPr lang="en-US" altLang="zh-CN" sz="2000" dirty="0" err="1">
                <a:solidFill>
                  <a:srgbClr val="0000FF"/>
                </a:solidFill>
                <a:latin typeface="Courier New" panose="02070309020205020404" pitchFamily="49" charset="0"/>
                <a:cs typeface="Courier New" panose="02070309020205020404" pitchFamily="49" charset="0"/>
              </a:rPr>
              <a:t>addi</a:t>
            </a:r>
            <a:r>
              <a:rPr lang="en-US" altLang="zh-CN" sz="2000" dirty="0">
                <a:solidFill>
                  <a:srgbClr val="0000FF"/>
                </a:solidFill>
                <a:latin typeface="Courier New" panose="02070309020205020404" pitchFamily="49" charset="0"/>
                <a:cs typeface="Courier New" panose="02070309020205020404" pitchFamily="49" charset="0"/>
              </a:rPr>
              <a:t> &amp; </a:t>
            </a:r>
            <a:r>
              <a:rPr lang="en-US" altLang="zh-CN" sz="2000" dirty="0" err="1">
                <a:solidFill>
                  <a:srgbClr val="0000FF"/>
                </a:solidFill>
                <a:latin typeface="Courier New" panose="02070309020205020404" pitchFamily="49" charset="0"/>
                <a:cs typeface="Courier New" panose="02070309020205020404" pitchFamily="49" charset="0"/>
              </a:rPr>
              <a:t>bne</a:t>
            </a:r>
            <a:endParaRPr lang="en-US" altLang="zh-CN" sz="2000" dirty="0">
              <a:solidFill>
                <a:srgbClr val="0000FF"/>
              </a:solidFill>
              <a:latin typeface="Courier New" panose="02070309020205020404" pitchFamily="49" charset="0"/>
              <a:cs typeface="Courier New" panose="02070309020205020404" pitchFamily="49" charset="0"/>
            </a:endParaRP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fld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FF0000"/>
                </a:solidFill>
                <a:latin typeface="Courier New" panose="02070309020205020404" pitchFamily="49" charset="0"/>
                <a:cs typeface="Courier New" panose="02070309020205020404" pitchFamily="49" charset="0"/>
              </a:rPr>
              <a:t>f14</a:t>
            </a:r>
            <a:r>
              <a:rPr lang="en-US" altLang="zh-CN" sz="2000" dirty="0">
                <a:solidFill>
                  <a:srgbClr val="0000FF"/>
                </a:solidFill>
                <a:latin typeface="Courier New" panose="02070309020205020404" pitchFamily="49" charset="0"/>
                <a:cs typeface="Courier New" panose="02070309020205020404" pitchFamily="49" charset="0"/>
              </a:rPr>
              <a:t>,-24(x1)</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fadd.d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FF0000"/>
                </a:solidFill>
                <a:latin typeface="Courier New" panose="02070309020205020404" pitchFamily="49" charset="0"/>
                <a:cs typeface="Courier New" panose="02070309020205020404" pitchFamily="49" charset="0"/>
              </a:rPr>
              <a:t>f16</a:t>
            </a:r>
            <a:r>
              <a:rPr lang="en-US" altLang="zh-CN" sz="2000" dirty="0">
                <a:solidFill>
                  <a:srgbClr val="0000FF"/>
                </a:solidFill>
                <a:latin typeface="Courier New" panose="02070309020205020404" pitchFamily="49" charset="0"/>
                <a:cs typeface="Courier New" panose="02070309020205020404" pitchFamily="49" charset="0"/>
              </a:rPr>
              <a:t>,f14,f2</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fsd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FF0000"/>
                </a:solidFill>
                <a:latin typeface="Courier New" panose="02070309020205020404" pitchFamily="49" charset="0"/>
                <a:cs typeface="Courier New" panose="02070309020205020404" pitchFamily="49" charset="0"/>
              </a:rPr>
              <a:t>f16</a:t>
            </a:r>
            <a:r>
              <a:rPr lang="en-US" altLang="zh-CN" sz="2000" dirty="0">
                <a:solidFill>
                  <a:srgbClr val="0000FF"/>
                </a:solidFill>
                <a:latin typeface="Courier New" panose="02070309020205020404" pitchFamily="49" charset="0"/>
                <a:cs typeface="Courier New" panose="02070309020205020404" pitchFamily="49" charset="0"/>
              </a:rPr>
              <a:t>,-24(x1)</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addi</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x1,x1,-</a:t>
            </a:r>
            <a:r>
              <a:rPr lang="en-US" altLang="zh-CN" sz="2000" dirty="0">
                <a:solidFill>
                  <a:srgbClr val="FF0000"/>
                </a:solidFill>
                <a:latin typeface="Courier New" panose="02070309020205020404" pitchFamily="49" charset="0"/>
                <a:cs typeface="Courier New" panose="02070309020205020404" pitchFamily="49" charset="0"/>
              </a:rPr>
              <a:t>32</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bne</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x1,x2,Loop</a:t>
            </a:r>
          </a:p>
        </p:txBody>
      </p:sp>
    </p:spTree>
    <p:extLst>
      <p:ext uri="{BB962C8B-B14F-4D97-AF65-F5344CB8AC3E}">
        <p14:creationId xmlns:p14="http://schemas.microsoft.com/office/powerpoint/2010/main" val="1984239155"/>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AU" smtClean="0"/>
              <a:t>Loop Unrolling/Pipeline Scheduling</a:t>
            </a:r>
            <a:endParaRPr lang="en-AU" dirty="0"/>
          </a:p>
        </p:txBody>
      </p:sp>
      <p:sp>
        <p:nvSpPr>
          <p:cNvPr id="242691" name="Rectangle 3"/>
          <p:cNvSpPr>
            <a:spLocks noGrp="1" noChangeArrowheads="1"/>
          </p:cNvSpPr>
          <p:nvPr>
            <p:ph type="body" idx="1"/>
          </p:nvPr>
        </p:nvSpPr>
        <p:spPr/>
        <p:txBody>
          <a:bodyPr/>
          <a:lstStyle/>
          <a:p>
            <a:r>
              <a:rPr lang="en-US" dirty="0" smtClean="0"/>
              <a:t>Pipeline schedule of the unrolled loop:</a:t>
            </a:r>
          </a:p>
          <a:p>
            <a:endParaRPr lang="en-US" dirty="0" smtClean="0"/>
          </a:p>
          <a:p>
            <a:endParaRPr lang="en-US" dirty="0"/>
          </a:p>
          <a:p>
            <a:r>
              <a:rPr lang="en-US" dirty="0" smtClean="0"/>
              <a:t>Total </a:t>
            </a:r>
            <a:r>
              <a:rPr lang="fr-FR" dirty="0" smtClean="0"/>
              <a:t>14 </a:t>
            </a:r>
            <a:r>
              <a:rPr lang="fr-FR" dirty="0"/>
              <a:t>cycles</a:t>
            </a:r>
          </a:p>
          <a:p>
            <a:r>
              <a:rPr lang="fr-FR" dirty="0"/>
              <a:t>3.5 cycles per </a:t>
            </a:r>
            <a:r>
              <a:rPr lang="fr-FR" dirty="0" smtClean="0"/>
              <a:t>element</a:t>
            </a:r>
          </a:p>
          <a:p>
            <a:endParaRPr lang="fr-FR" dirty="0"/>
          </a:p>
          <a:p>
            <a:r>
              <a:rPr lang="fr-FR" dirty="0" smtClean="0"/>
              <a:t># of unrolling limited by # of </a:t>
            </a:r>
            <a:br>
              <a:rPr lang="fr-FR" dirty="0" smtClean="0"/>
            </a:br>
            <a:r>
              <a:rPr lang="fr-FR" dirty="0" smtClean="0"/>
              <a:t>available registers</a:t>
            </a:r>
            <a:endParaRPr lang="fr-FR" dirty="0"/>
          </a:p>
          <a:p>
            <a:endParaRPr lang="en-US" dirty="0" smtClean="0"/>
          </a:p>
        </p:txBody>
      </p:sp>
      <p:sp>
        <p:nvSpPr>
          <p:cNvPr id="4" name="矩形 3"/>
          <p:cNvSpPr/>
          <p:nvPr/>
        </p:nvSpPr>
        <p:spPr>
          <a:xfrm>
            <a:off x="7320136" y="2204864"/>
            <a:ext cx="4367808" cy="4401205"/>
          </a:xfrm>
          <a:prstGeom prst="rect">
            <a:avLst/>
          </a:prstGeom>
        </p:spPr>
        <p:txBody>
          <a:bodyPr wrap="square">
            <a:spAutoFit/>
          </a:bodyPr>
          <a:lstStyle/>
          <a:p>
            <a:r>
              <a:rPr lang="en-US" altLang="zh-CN" sz="2000" dirty="0">
                <a:solidFill>
                  <a:srgbClr val="0000FF"/>
                </a:solidFill>
                <a:latin typeface="Courier New" panose="02070309020205020404" pitchFamily="49" charset="0"/>
                <a:cs typeface="Courier New" panose="02070309020205020404" pitchFamily="49" charset="0"/>
              </a:rPr>
              <a:t>Loop:	</a:t>
            </a:r>
            <a:r>
              <a:rPr lang="en-US" altLang="zh-CN" sz="2000" dirty="0" err="1">
                <a:solidFill>
                  <a:srgbClr val="0000FF"/>
                </a:solidFill>
                <a:latin typeface="Courier New" panose="02070309020205020404" pitchFamily="49" charset="0"/>
                <a:cs typeface="Courier New" panose="02070309020205020404" pitchFamily="49" charset="0"/>
              </a:rPr>
              <a:t>fld</a:t>
            </a:r>
            <a:r>
              <a:rPr lang="en-US" altLang="zh-CN" sz="2000" dirty="0">
                <a:solidFill>
                  <a:srgbClr val="0000FF"/>
                </a:solidFill>
                <a:latin typeface="Courier New" panose="02070309020205020404" pitchFamily="49" charset="0"/>
                <a:cs typeface="Courier New" panose="02070309020205020404" pitchFamily="49" charset="0"/>
              </a:rPr>
              <a:t> f0,0(x1)</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fld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f6,-8(x1)</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fld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f8,-16(x1)</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fld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f14,-24(x1)</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fadd.d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f4,f0,f2</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fadd.d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f8,f6,f2</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fadd.d</a:t>
            </a:r>
            <a:r>
              <a:rPr lang="en-US" altLang="zh-CN" sz="2000" dirty="0" smtClean="0">
                <a:solidFill>
                  <a:srgbClr val="0000FF"/>
                </a:solidFill>
                <a:latin typeface="Courier New" panose="02070309020205020404" pitchFamily="49" charset="0"/>
                <a:cs typeface="Courier New" panose="02070309020205020404" pitchFamily="49" charset="0"/>
              </a:rPr>
              <a:t> f12,f10,f2</a:t>
            </a:r>
            <a:endParaRPr lang="en-US" altLang="zh-CN" sz="2000" dirty="0">
              <a:solidFill>
                <a:srgbClr val="0000FF"/>
              </a:solidFill>
              <a:latin typeface="Courier New" panose="02070309020205020404" pitchFamily="49" charset="0"/>
              <a:cs typeface="Courier New" panose="02070309020205020404" pitchFamily="49" charset="0"/>
            </a:endParaRP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fadd.d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f16,f14,f2</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fsd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f4,0(x1)</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fsd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f8,-8(x1)</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fsd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f12,-16(x1)</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fsd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f16,-24(x1)</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addi</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x1,x1,-32</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bne</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x1,x2,Loop</a:t>
            </a:r>
          </a:p>
        </p:txBody>
      </p:sp>
    </p:spTree>
    <p:extLst>
      <p:ext uri="{BB962C8B-B14F-4D97-AF65-F5344CB8AC3E}">
        <p14:creationId xmlns:p14="http://schemas.microsoft.com/office/powerpoint/2010/main" val="94337440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6946" name="Rectangle 1026"/>
          <p:cNvSpPr>
            <a:spLocks noGrp="1" noChangeArrowheads="1"/>
          </p:cNvSpPr>
          <p:nvPr>
            <p:ph type="title"/>
          </p:nvPr>
        </p:nvSpPr>
        <p:spPr/>
        <p:txBody>
          <a:bodyPr/>
          <a:lstStyle/>
          <a:p>
            <a:r>
              <a:rPr lang="en-US" altLang="en-US" dirty="0" smtClean="0"/>
              <a:t>Strip Mining</a:t>
            </a:r>
            <a:endParaRPr lang="en-US" altLang="en-US" dirty="0"/>
          </a:p>
        </p:txBody>
      </p:sp>
      <p:sp>
        <p:nvSpPr>
          <p:cNvPr id="1106947" name="Rectangle 1027"/>
          <p:cNvSpPr>
            <a:spLocks noGrp="1" noChangeArrowheads="1"/>
          </p:cNvSpPr>
          <p:nvPr>
            <p:ph type="body" idx="1"/>
          </p:nvPr>
        </p:nvSpPr>
        <p:spPr/>
        <p:txBody>
          <a:bodyPr/>
          <a:lstStyle/>
          <a:p>
            <a:r>
              <a:rPr lang="en-US" altLang="en-US" dirty="0" smtClean="0"/>
              <a:t>Do not usually know upper bound of loop</a:t>
            </a:r>
          </a:p>
          <a:p>
            <a:r>
              <a:rPr lang="en-US" altLang="en-US" dirty="0" smtClean="0"/>
              <a:t>Suppose it is n, and we would like to unroll the loop to make k copies of the body</a:t>
            </a:r>
          </a:p>
          <a:p>
            <a:r>
              <a:rPr lang="en-US" altLang="en-US" dirty="0" smtClean="0"/>
              <a:t>Instead of a single unrolled loop, we generate a pair of consecutive loops:</a:t>
            </a:r>
          </a:p>
          <a:p>
            <a:pPr lvl="1"/>
            <a:r>
              <a:rPr lang="en-US" altLang="en-US" dirty="0" smtClean="0"/>
              <a:t>1st executes (n mod k) times and has a body that is the original loop</a:t>
            </a:r>
          </a:p>
          <a:p>
            <a:pPr lvl="1"/>
            <a:r>
              <a:rPr lang="en-US" altLang="en-US" dirty="0" smtClean="0"/>
              <a:t>2nd is the unrolled body surrounded by an outer loop that iterates (n/k) times</a:t>
            </a:r>
          </a:p>
          <a:p>
            <a:pPr lvl="1"/>
            <a:r>
              <a:rPr lang="en-US" altLang="en-US" dirty="0" smtClean="0"/>
              <a:t>For large values of n, most of the execution time will be spent in the unrolled loop</a:t>
            </a:r>
          </a:p>
          <a:p>
            <a:r>
              <a:rPr lang="en-US" altLang="en-US" dirty="0" smtClean="0"/>
              <a:t>Also called “</a:t>
            </a:r>
            <a:r>
              <a:rPr lang="en-AU" altLang="zh-CN" dirty="0"/>
              <a:t>Strip Mining</a:t>
            </a:r>
            <a:r>
              <a:rPr lang="en-US" altLang="en-US" dirty="0" smtClean="0"/>
              <a:t>” in compiler term</a:t>
            </a:r>
            <a:endParaRPr lang="en-US" altLang="en-US" dirty="0"/>
          </a:p>
        </p:txBody>
      </p:sp>
    </p:spTree>
    <p:extLst>
      <p:ext uri="{BB962C8B-B14F-4D97-AF65-F5344CB8AC3E}">
        <p14:creationId xmlns:p14="http://schemas.microsoft.com/office/powerpoint/2010/main" val="2711180281"/>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0866" name="Rectangle 2"/>
          <p:cNvSpPr>
            <a:spLocks noGrp="1" noChangeArrowheads="1"/>
          </p:cNvSpPr>
          <p:nvPr>
            <p:ph type="title"/>
          </p:nvPr>
        </p:nvSpPr>
        <p:spPr/>
        <p:txBody>
          <a:bodyPr/>
          <a:lstStyle/>
          <a:p>
            <a:r>
              <a:rPr lang="en-US" altLang="zh-CN" dirty="0" smtClean="0"/>
              <a:t>Loop Unrolling Details</a:t>
            </a:r>
            <a:endParaRPr lang="en-US" altLang="zh-CN" dirty="0"/>
          </a:p>
        </p:txBody>
      </p:sp>
      <p:sp>
        <p:nvSpPr>
          <p:cNvPr id="1060867" name="Rectangle 3"/>
          <p:cNvSpPr>
            <a:spLocks noGrp="1" noChangeArrowheads="1"/>
          </p:cNvSpPr>
          <p:nvPr>
            <p:ph type="body" idx="1"/>
          </p:nvPr>
        </p:nvSpPr>
        <p:spPr>
          <a:xfrm>
            <a:off x="551384" y="1556792"/>
            <a:ext cx="8496944" cy="5112568"/>
          </a:xfrm>
        </p:spPr>
        <p:txBody>
          <a:bodyPr/>
          <a:lstStyle/>
          <a:p>
            <a:r>
              <a:rPr lang="en-US" altLang="zh-CN" dirty="0" smtClean="0"/>
              <a:t>What assumptions made when moving code?</a:t>
            </a:r>
          </a:p>
          <a:p>
            <a:pPr lvl="1"/>
            <a:r>
              <a:rPr lang="en-US" altLang="zh-CN" dirty="0" smtClean="0"/>
              <a:t>OK to move </a:t>
            </a:r>
            <a:r>
              <a:rPr lang="en-US" altLang="zh-CN" dirty="0" err="1" smtClean="0">
                <a:latin typeface="Courier New" panose="02070309020205020404" pitchFamily="49" charset="0"/>
                <a:cs typeface="Courier New" panose="02070309020205020404" pitchFamily="49" charset="0"/>
              </a:rPr>
              <a:t>fsd</a:t>
            </a:r>
            <a:r>
              <a:rPr lang="en-US" altLang="zh-CN" dirty="0" smtClean="0"/>
              <a:t> past </a:t>
            </a:r>
            <a:r>
              <a:rPr lang="en-US" altLang="zh-CN" dirty="0" err="1">
                <a:latin typeface="Courier New" panose="02070309020205020404" pitchFamily="49" charset="0"/>
                <a:cs typeface="Courier New" panose="02070309020205020404" pitchFamily="49" charset="0"/>
              </a:rPr>
              <a:t>addi</a:t>
            </a:r>
            <a:r>
              <a:rPr lang="en-US" altLang="zh-CN" dirty="0" smtClean="0"/>
              <a:t> </a:t>
            </a:r>
            <a:br>
              <a:rPr lang="en-US" altLang="zh-CN" dirty="0" smtClean="0"/>
            </a:br>
            <a:r>
              <a:rPr lang="en-US" altLang="zh-CN" dirty="0" smtClean="0"/>
              <a:t>even though changes register</a:t>
            </a:r>
          </a:p>
          <a:p>
            <a:pPr lvl="1"/>
            <a:r>
              <a:rPr lang="en-US" altLang="zh-CN" dirty="0" smtClean="0"/>
              <a:t>OK to move loads before </a:t>
            </a:r>
            <a:br>
              <a:rPr lang="en-US" altLang="zh-CN" dirty="0" smtClean="0"/>
            </a:br>
            <a:r>
              <a:rPr lang="en-US" altLang="zh-CN" dirty="0" smtClean="0"/>
              <a:t>stores: get right data?</a:t>
            </a:r>
          </a:p>
          <a:p>
            <a:pPr lvl="1"/>
            <a:r>
              <a:rPr lang="en-US" altLang="zh-CN" dirty="0" smtClean="0"/>
              <a:t>When is it safe for compiler </a:t>
            </a:r>
            <a:br>
              <a:rPr lang="en-US" altLang="zh-CN" dirty="0" smtClean="0"/>
            </a:br>
            <a:r>
              <a:rPr lang="en-US" altLang="zh-CN" dirty="0" smtClean="0"/>
              <a:t>to do such changes?</a:t>
            </a:r>
            <a:endParaRPr lang="en-US" altLang="zh-CN" dirty="0"/>
          </a:p>
        </p:txBody>
      </p:sp>
      <p:sp>
        <p:nvSpPr>
          <p:cNvPr id="1060868" name="Rectangle 4"/>
          <p:cNvSpPr>
            <a:spLocks noChangeArrowheads="1"/>
          </p:cNvSpPr>
          <p:nvPr/>
        </p:nvSpPr>
        <p:spPr bwMode="auto">
          <a:xfrm>
            <a:off x="2197100" y="1143000"/>
            <a:ext cx="8458200" cy="2235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矩形 8"/>
          <p:cNvSpPr/>
          <p:nvPr/>
        </p:nvSpPr>
        <p:spPr>
          <a:xfrm>
            <a:off x="5663952" y="2276872"/>
            <a:ext cx="6696744" cy="4401205"/>
          </a:xfrm>
          <a:prstGeom prst="rect">
            <a:avLst/>
          </a:prstGeom>
        </p:spPr>
        <p:txBody>
          <a:bodyPr wrap="square">
            <a:spAutoFit/>
          </a:bodyPr>
          <a:lstStyle/>
          <a:p>
            <a:r>
              <a:rPr lang="en-US" altLang="zh-CN" sz="2000" dirty="0">
                <a:solidFill>
                  <a:srgbClr val="0000FF"/>
                </a:solidFill>
                <a:latin typeface="Courier New" panose="02070309020205020404" pitchFamily="49" charset="0"/>
                <a:cs typeface="Courier New" panose="02070309020205020404" pitchFamily="49" charset="0"/>
              </a:rPr>
              <a:t>Loop:	</a:t>
            </a:r>
            <a:r>
              <a:rPr lang="en-US" altLang="zh-CN" sz="2000" dirty="0" err="1">
                <a:solidFill>
                  <a:srgbClr val="0000FF"/>
                </a:solidFill>
                <a:latin typeface="Courier New" panose="02070309020205020404" pitchFamily="49" charset="0"/>
                <a:cs typeface="Courier New" panose="02070309020205020404" pitchFamily="49" charset="0"/>
              </a:rPr>
              <a:t>fld</a:t>
            </a:r>
            <a:r>
              <a:rPr lang="en-US" altLang="zh-CN" sz="2000" dirty="0">
                <a:solidFill>
                  <a:srgbClr val="0000FF"/>
                </a:solidFill>
                <a:latin typeface="Courier New" panose="02070309020205020404" pitchFamily="49" charset="0"/>
                <a:cs typeface="Courier New" panose="02070309020205020404" pitchFamily="49" charset="0"/>
              </a:rPr>
              <a:t> f0,0(x1)</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fadd.d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f4,f0,f2</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fsd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f4,0(x1) 	</a:t>
            </a:r>
            <a:r>
              <a:rPr lang="en-US" altLang="zh-CN" sz="2000" dirty="0" smtClean="0">
                <a:solidFill>
                  <a:srgbClr val="0000FF"/>
                </a:solidFill>
                <a:latin typeface="Courier New" panose="02070309020205020404" pitchFamily="49" charset="0"/>
                <a:cs typeface="Courier New" panose="02070309020205020404" pitchFamily="49" charset="0"/>
              </a:rPr>
              <a:t>//</a:t>
            </a:r>
            <a:r>
              <a:rPr lang="en-US" altLang="zh-CN" sz="2000" dirty="0">
                <a:solidFill>
                  <a:srgbClr val="0000FF"/>
                </a:solidFill>
                <a:latin typeface="Courier New" panose="02070309020205020404" pitchFamily="49" charset="0"/>
                <a:cs typeface="Courier New" panose="02070309020205020404" pitchFamily="49" charset="0"/>
              </a:rPr>
              <a:t>drop </a:t>
            </a:r>
            <a:r>
              <a:rPr lang="en-US" altLang="zh-CN" sz="2000" dirty="0" err="1">
                <a:solidFill>
                  <a:srgbClr val="0000FF"/>
                </a:solidFill>
                <a:latin typeface="Courier New" panose="02070309020205020404" pitchFamily="49" charset="0"/>
                <a:cs typeface="Courier New" panose="02070309020205020404" pitchFamily="49" charset="0"/>
              </a:rPr>
              <a:t>addi</a:t>
            </a:r>
            <a:r>
              <a:rPr lang="en-US" altLang="zh-CN" sz="2000" dirty="0">
                <a:solidFill>
                  <a:srgbClr val="0000FF"/>
                </a:solidFill>
                <a:latin typeface="Courier New" panose="02070309020205020404" pitchFamily="49" charset="0"/>
                <a:cs typeface="Courier New" panose="02070309020205020404" pitchFamily="49" charset="0"/>
              </a:rPr>
              <a:t> &amp; </a:t>
            </a:r>
            <a:r>
              <a:rPr lang="en-US" altLang="zh-CN" sz="2000" dirty="0" err="1">
                <a:solidFill>
                  <a:srgbClr val="0000FF"/>
                </a:solidFill>
                <a:latin typeface="Courier New" panose="02070309020205020404" pitchFamily="49" charset="0"/>
                <a:cs typeface="Courier New" panose="02070309020205020404" pitchFamily="49" charset="0"/>
              </a:rPr>
              <a:t>bne</a:t>
            </a:r>
            <a:endParaRPr lang="en-US" altLang="zh-CN" sz="2000" dirty="0">
              <a:solidFill>
                <a:srgbClr val="0000FF"/>
              </a:solidFill>
              <a:latin typeface="Courier New" panose="02070309020205020404" pitchFamily="49" charset="0"/>
              <a:cs typeface="Courier New" panose="02070309020205020404" pitchFamily="49" charset="0"/>
            </a:endParaRP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fld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FF0000"/>
                </a:solidFill>
                <a:latin typeface="Courier New" panose="02070309020205020404" pitchFamily="49" charset="0"/>
                <a:cs typeface="Courier New" panose="02070309020205020404" pitchFamily="49" charset="0"/>
              </a:rPr>
              <a:t>f6</a:t>
            </a:r>
            <a:r>
              <a:rPr lang="en-US" altLang="zh-CN" sz="2000" dirty="0">
                <a:solidFill>
                  <a:srgbClr val="0000FF"/>
                </a:solidFill>
                <a:latin typeface="Courier New" panose="02070309020205020404" pitchFamily="49" charset="0"/>
                <a:cs typeface="Courier New" panose="02070309020205020404" pitchFamily="49" charset="0"/>
              </a:rPr>
              <a:t>,-8(x1)</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fadd.d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FF0000"/>
                </a:solidFill>
                <a:latin typeface="Courier New" panose="02070309020205020404" pitchFamily="49" charset="0"/>
                <a:cs typeface="Courier New" panose="02070309020205020404" pitchFamily="49" charset="0"/>
              </a:rPr>
              <a:t>f8</a:t>
            </a:r>
            <a:r>
              <a:rPr lang="en-US" altLang="zh-CN" sz="2000" dirty="0">
                <a:solidFill>
                  <a:srgbClr val="0000FF"/>
                </a:solidFill>
                <a:latin typeface="Courier New" panose="02070309020205020404" pitchFamily="49" charset="0"/>
                <a:cs typeface="Courier New" panose="02070309020205020404" pitchFamily="49" charset="0"/>
              </a:rPr>
              <a:t>,f6,f2</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fsd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FF0000"/>
                </a:solidFill>
                <a:latin typeface="Courier New" panose="02070309020205020404" pitchFamily="49" charset="0"/>
                <a:cs typeface="Courier New" panose="02070309020205020404" pitchFamily="49" charset="0"/>
              </a:rPr>
              <a:t>f8</a:t>
            </a:r>
            <a:r>
              <a:rPr lang="en-US" altLang="zh-CN" sz="2000" dirty="0">
                <a:solidFill>
                  <a:srgbClr val="0000FF"/>
                </a:solidFill>
                <a:latin typeface="Courier New" panose="02070309020205020404" pitchFamily="49" charset="0"/>
                <a:cs typeface="Courier New" panose="02070309020205020404" pitchFamily="49" charset="0"/>
              </a:rPr>
              <a:t>,-8(x1) 	//drop </a:t>
            </a:r>
            <a:r>
              <a:rPr lang="en-US" altLang="zh-CN" sz="2000" dirty="0" err="1">
                <a:solidFill>
                  <a:srgbClr val="0000FF"/>
                </a:solidFill>
                <a:latin typeface="Courier New" panose="02070309020205020404" pitchFamily="49" charset="0"/>
                <a:cs typeface="Courier New" panose="02070309020205020404" pitchFamily="49" charset="0"/>
              </a:rPr>
              <a:t>addi</a:t>
            </a:r>
            <a:r>
              <a:rPr lang="en-US" altLang="zh-CN" sz="2000" dirty="0">
                <a:solidFill>
                  <a:srgbClr val="0000FF"/>
                </a:solidFill>
                <a:latin typeface="Courier New" panose="02070309020205020404" pitchFamily="49" charset="0"/>
                <a:cs typeface="Courier New" panose="02070309020205020404" pitchFamily="49" charset="0"/>
              </a:rPr>
              <a:t> &amp; </a:t>
            </a:r>
            <a:r>
              <a:rPr lang="en-US" altLang="zh-CN" sz="2000" dirty="0" err="1">
                <a:solidFill>
                  <a:srgbClr val="0000FF"/>
                </a:solidFill>
                <a:latin typeface="Courier New" panose="02070309020205020404" pitchFamily="49" charset="0"/>
                <a:cs typeface="Courier New" panose="02070309020205020404" pitchFamily="49" charset="0"/>
              </a:rPr>
              <a:t>bne</a:t>
            </a:r>
            <a:endParaRPr lang="en-US" altLang="zh-CN" sz="2000" dirty="0">
              <a:solidFill>
                <a:srgbClr val="0000FF"/>
              </a:solidFill>
              <a:latin typeface="Courier New" panose="02070309020205020404" pitchFamily="49" charset="0"/>
              <a:cs typeface="Courier New" panose="02070309020205020404" pitchFamily="49" charset="0"/>
            </a:endParaRP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fld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smtClean="0">
                <a:solidFill>
                  <a:srgbClr val="FF0000"/>
                </a:solidFill>
                <a:latin typeface="Courier New" panose="02070309020205020404" pitchFamily="49" charset="0"/>
                <a:cs typeface="Courier New" panose="02070309020205020404" pitchFamily="49" charset="0"/>
              </a:rPr>
              <a:t>f10</a:t>
            </a:r>
            <a:r>
              <a:rPr lang="en-US" altLang="zh-CN" sz="2000" dirty="0">
                <a:solidFill>
                  <a:srgbClr val="0000FF"/>
                </a:solidFill>
                <a:latin typeface="Courier New" panose="02070309020205020404" pitchFamily="49" charset="0"/>
                <a:cs typeface="Courier New" panose="02070309020205020404" pitchFamily="49" charset="0"/>
              </a:rPr>
              <a:t>,-16(x1)</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fadd.d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smtClean="0">
                <a:solidFill>
                  <a:srgbClr val="FF0000"/>
                </a:solidFill>
                <a:latin typeface="Courier New" panose="02070309020205020404" pitchFamily="49" charset="0"/>
                <a:cs typeface="Courier New" panose="02070309020205020404" pitchFamily="49" charset="0"/>
              </a:rPr>
              <a:t>f12</a:t>
            </a:r>
            <a:r>
              <a:rPr lang="en-US" altLang="zh-CN" sz="2000" dirty="0" smtClean="0">
                <a:solidFill>
                  <a:srgbClr val="0000FF"/>
                </a:solidFill>
                <a:latin typeface="Courier New" panose="02070309020205020404" pitchFamily="49" charset="0"/>
                <a:cs typeface="Courier New" panose="02070309020205020404" pitchFamily="49" charset="0"/>
              </a:rPr>
              <a:t>,f10,f2</a:t>
            </a:r>
            <a:endParaRPr lang="en-US" altLang="zh-CN" sz="2000" dirty="0">
              <a:solidFill>
                <a:srgbClr val="0000FF"/>
              </a:solidFill>
              <a:latin typeface="Courier New" panose="02070309020205020404" pitchFamily="49" charset="0"/>
              <a:cs typeface="Courier New" panose="02070309020205020404" pitchFamily="49" charset="0"/>
            </a:endParaRP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fsd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FF0000"/>
                </a:solidFill>
                <a:latin typeface="Courier New" panose="02070309020205020404" pitchFamily="49" charset="0"/>
                <a:cs typeface="Courier New" panose="02070309020205020404" pitchFamily="49" charset="0"/>
              </a:rPr>
              <a:t>f12</a:t>
            </a:r>
            <a:r>
              <a:rPr lang="en-US" altLang="zh-CN" sz="2000" dirty="0">
                <a:solidFill>
                  <a:srgbClr val="0000FF"/>
                </a:solidFill>
                <a:latin typeface="Courier New" panose="02070309020205020404" pitchFamily="49" charset="0"/>
                <a:cs typeface="Courier New" panose="02070309020205020404" pitchFamily="49" charset="0"/>
              </a:rPr>
              <a:t>,-16(x1) </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drop </a:t>
            </a:r>
            <a:r>
              <a:rPr lang="en-US" altLang="zh-CN" sz="2000" dirty="0" err="1">
                <a:solidFill>
                  <a:srgbClr val="0000FF"/>
                </a:solidFill>
                <a:latin typeface="Courier New" panose="02070309020205020404" pitchFamily="49" charset="0"/>
                <a:cs typeface="Courier New" panose="02070309020205020404" pitchFamily="49" charset="0"/>
              </a:rPr>
              <a:t>addi</a:t>
            </a:r>
            <a:r>
              <a:rPr lang="en-US" altLang="zh-CN" sz="2000" dirty="0">
                <a:solidFill>
                  <a:srgbClr val="0000FF"/>
                </a:solidFill>
                <a:latin typeface="Courier New" panose="02070309020205020404" pitchFamily="49" charset="0"/>
                <a:cs typeface="Courier New" panose="02070309020205020404" pitchFamily="49" charset="0"/>
              </a:rPr>
              <a:t> &amp; </a:t>
            </a:r>
            <a:r>
              <a:rPr lang="en-US" altLang="zh-CN" sz="2000" dirty="0" err="1">
                <a:solidFill>
                  <a:srgbClr val="0000FF"/>
                </a:solidFill>
                <a:latin typeface="Courier New" panose="02070309020205020404" pitchFamily="49" charset="0"/>
                <a:cs typeface="Courier New" panose="02070309020205020404" pitchFamily="49" charset="0"/>
              </a:rPr>
              <a:t>bne</a:t>
            </a:r>
            <a:endParaRPr lang="en-US" altLang="zh-CN" sz="2000" dirty="0">
              <a:solidFill>
                <a:srgbClr val="0000FF"/>
              </a:solidFill>
              <a:latin typeface="Courier New" panose="02070309020205020404" pitchFamily="49" charset="0"/>
              <a:cs typeface="Courier New" panose="02070309020205020404" pitchFamily="49" charset="0"/>
            </a:endParaRP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fld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FF0000"/>
                </a:solidFill>
                <a:latin typeface="Courier New" panose="02070309020205020404" pitchFamily="49" charset="0"/>
                <a:cs typeface="Courier New" panose="02070309020205020404" pitchFamily="49" charset="0"/>
              </a:rPr>
              <a:t>f14</a:t>
            </a:r>
            <a:r>
              <a:rPr lang="en-US" altLang="zh-CN" sz="2000" dirty="0">
                <a:solidFill>
                  <a:srgbClr val="0000FF"/>
                </a:solidFill>
                <a:latin typeface="Courier New" panose="02070309020205020404" pitchFamily="49" charset="0"/>
                <a:cs typeface="Courier New" panose="02070309020205020404" pitchFamily="49" charset="0"/>
              </a:rPr>
              <a:t>,-24(x1)</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fadd.d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FF0000"/>
                </a:solidFill>
                <a:latin typeface="Courier New" panose="02070309020205020404" pitchFamily="49" charset="0"/>
                <a:cs typeface="Courier New" panose="02070309020205020404" pitchFamily="49" charset="0"/>
              </a:rPr>
              <a:t>f16</a:t>
            </a:r>
            <a:r>
              <a:rPr lang="en-US" altLang="zh-CN" sz="2000" dirty="0">
                <a:solidFill>
                  <a:srgbClr val="0000FF"/>
                </a:solidFill>
                <a:latin typeface="Courier New" panose="02070309020205020404" pitchFamily="49" charset="0"/>
                <a:cs typeface="Courier New" panose="02070309020205020404" pitchFamily="49" charset="0"/>
              </a:rPr>
              <a:t>,f14,f2</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fsd</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FF0000"/>
                </a:solidFill>
                <a:latin typeface="Courier New" panose="02070309020205020404" pitchFamily="49" charset="0"/>
                <a:cs typeface="Courier New" panose="02070309020205020404" pitchFamily="49" charset="0"/>
              </a:rPr>
              <a:t>f16</a:t>
            </a:r>
            <a:r>
              <a:rPr lang="en-US" altLang="zh-CN" sz="2000" dirty="0">
                <a:solidFill>
                  <a:srgbClr val="0000FF"/>
                </a:solidFill>
                <a:latin typeface="Courier New" panose="02070309020205020404" pitchFamily="49" charset="0"/>
                <a:cs typeface="Courier New" panose="02070309020205020404" pitchFamily="49" charset="0"/>
              </a:rPr>
              <a:t>,-24(x1)</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addi</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x1,x1,-</a:t>
            </a:r>
            <a:r>
              <a:rPr lang="en-US" altLang="zh-CN" sz="2000" dirty="0">
                <a:solidFill>
                  <a:srgbClr val="FF0000"/>
                </a:solidFill>
                <a:latin typeface="Courier New" panose="02070309020205020404" pitchFamily="49" charset="0"/>
                <a:cs typeface="Courier New" panose="02070309020205020404" pitchFamily="49" charset="0"/>
              </a:rPr>
              <a:t>32</a:t>
            </a:r>
          </a:p>
          <a:p>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smtClean="0">
                <a:solidFill>
                  <a:srgbClr val="0000FF"/>
                </a:solidFill>
                <a:latin typeface="Courier New" panose="02070309020205020404" pitchFamily="49" charset="0"/>
                <a:cs typeface="Courier New" panose="02070309020205020404" pitchFamily="49" charset="0"/>
              </a:rPr>
              <a:t>bne</a:t>
            </a:r>
            <a:r>
              <a:rPr lang="en-US" altLang="zh-CN" sz="2000" dirty="0" smtClean="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x1,x2,Loop</a:t>
            </a:r>
          </a:p>
        </p:txBody>
      </p:sp>
    </p:spTree>
    <p:extLst>
      <p:ext uri="{BB962C8B-B14F-4D97-AF65-F5344CB8AC3E}">
        <p14:creationId xmlns:p14="http://schemas.microsoft.com/office/powerpoint/2010/main" val="309900238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60867">
                                            <p:txEl>
                                              <p:pRg st="0" end="0"/>
                                            </p:txEl>
                                          </p:spTgt>
                                        </p:tgtEl>
                                        <p:attrNameLst>
                                          <p:attrName>style.visibility</p:attrName>
                                        </p:attrNameLst>
                                      </p:cBhvr>
                                      <p:to>
                                        <p:strVal val="visible"/>
                                      </p:to>
                                    </p:set>
                                    <p:anim calcmode="lin" valueType="num">
                                      <p:cBhvr additive="base">
                                        <p:cTn id="7" dur="500" fill="hold"/>
                                        <p:tgtEl>
                                          <p:spTgt spid="106086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6086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060867">
                                            <p:txEl>
                                              <p:pRg st="1" end="1"/>
                                            </p:txEl>
                                          </p:spTgt>
                                        </p:tgtEl>
                                        <p:attrNameLst>
                                          <p:attrName>style.visibility</p:attrName>
                                        </p:attrNameLst>
                                      </p:cBhvr>
                                      <p:to>
                                        <p:strVal val="visible"/>
                                      </p:to>
                                    </p:set>
                                    <p:anim calcmode="lin" valueType="num">
                                      <p:cBhvr additive="base">
                                        <p:cTn id="11" dur="500" fill="hold"/>
                                        <p:tgtEl>
                                          <p:spTgt spid="1060867">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060867">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060867">
                                            <p:txEl>
                                              <p:pRg st="2" end="2"/>
                                            </p:txEl>
                                          </p:spTgt>
                                        </p:tgtEl>
                                        <p:attrNameLst>
                                          <p:attrName>style.visibility</p:attrName>
                                        </p:attrNameLst>
                                      </p:cBhvr>
                                      <p:to>
                                        <p:strVal val="visible"/>
                                      </p:to>
                                    </p:set>
                                    <p:anim calcmode="lin" valueType="num">
                                      <p:cBhvr additive="base">
                                        <p:cTn id="15" dur="500" fill="hold"/>
                                        <p:tgtEl>
                                          <p:spTgt spid="1060867">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060867">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060867">
                                            <p:txEl>
                                              <p:pRg st="3" end="3"/>
                                            </p:txEl>
                                          </p:spTgt>
                                        </p:tgtEl>
                                        <p:attrNameLst>
                                          <p:attrName>style.visibility</p:attrName>
                                        </p:attrNameLst>
                                      </p:cBhvr>
                                      <p:to>
                                        <p:strVal val="visible"/>
                                      </p:to>
                                    </p:set>
                                    <p:anim calcmode="lin" valueType="num">
                                      <p:cBhvr additive="base">
                                        <p:cTn id="19" dur="500" fill="hold"/>
                                        <p:tgtEl>
                                          <p:spTgt spid="1060867">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06086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0867" grpId="0" build="p"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4962" name="Rectangle 2"/>
          <p:cNvSpPr>
            <a:spLocks noGrp="1" noChangeArrowheads="1"/>
          </p:cNvSpPr>
          <p:nvPr>
            <p:ph type="title"/>
          </p:nvPr>
        </p:nvSpPr>
        <p:spPr/>
        <p:txBody>
          <a:bodyPr/>
          <a:lstStyle/>
          <a:p>
            <a:r>
              <a:rPr lang="en-US" altLang="zh-CN" smtClean="0"/>
              <a:t>Compiler Perspectives on Code Movement</a:t>
            </a:r>
            <a:endParaRPr lang="en-US" altLang="zh-CN"/>
          </a:p>
        </p:txBody>
      </p:sp>
      <p:sp>
        <p:nvSpPr>
          <p:cNvPr id="1064963" name="Rectangle 3"/>
          <p:cNvSpPr>
            <a:spLocks noGrp="1" noChangeArrowheads="1"/>
          </p:cNvSpPr>
          <p:nvPr>
            <p:ph type="body" idx="1"/>
          </p:nvPr>
        </p:nvSpPr>
        <p:spPr>
          <a:xfrm>
            <a:off x="838200" y="1556792"/>
            <a:ext cx="10874424" cy="5112568"/>
          </a:xfrm>
        </p:spPr>
        <p:txBody>
          <a:bodyPr/>
          <a:lstStyle/>
          <a:p>
            <a:r>
              <a:rPr lang="en-US" altLang="zh-CN" dirty="0" smtClean="0"/>
              <a:t>Compiler concerned about true dependencies in program</a:t>
            </a:r>
          </a:p>
          <a:p>
            <a:pPr lvl="1"/>
            <a:r>
              <a:rPr lang="en-US" altLang="zh-CN" dirty="0" smtClean="0"/>
              <a:t>Whether or not a RAW hazard depends on pipeline</a:t>
            </a:r>
          </a:p>
          <a:p>
            <a:pPr lvl="1"/>
            <a:r>
              <a:rPr lang="en-US" altLang="zh-CN" dirty="0" smtClean="0"/>
              <a:t>Try to schedule to avoid hazards that cause performance losses</a:t>
            </a:r>
          </a:p>
          <a:p>
            <a:r>
              <a:rPr lang="en-US" altLang="zh-CN" dirty="0" smtClean="0"/>
              <a:t>Dependence is easy to determine for registers (fixed names)</a:t>
            </a:r>
          </a:p>
          <a:p>
            <a:pPr lvl="1"/>
            <a:r>
              <a:rPr lang="en-US" altLang="zh-CN" dirty="0" smtClean="0"/>
              <a:t>Hard for memory (“memory disambiguation” problem): </a:t>
            </a:r>
          </a:p>
          <a:p>
            <a:pPr lvl="2"/>
            <a:r>
              <a:rPr lang="en-US" altLang="zh-CN" dirty="0" smtClean="0"/>
              <a:t>Does 100(R4) = 20(R6)?</a:t>
            </a:r>
          </a:p>
          <a:p>
            <a:pPr lvl="2"/>
            <a:r>
              <a:rPr lang="en-US" altLang="zh-CN" dirty="0" smtClean="0"/>
              <a:t>From different loop iterations, does 20(R6) = 20(R6)?</a:t>
            </a:r>
          </a:p>
          <a:p>
            <a:r>
              <a:rPr lang="en-US" altLang="zh-CN" dirty="0" smtClean="0"/>
              <a:t>Our example requires </a:t>
            </a:r>
            <a:r>
              <a:rPr lang="en-US" altLang="zh-CN" dirty="0"/>
              <a:t>compiler to know that if </a:t>
            </a:r>
            <a:r>
              <a:rPr lang="en-US" altLang="zh-CN" dirty="0">
                <a:latin typeface="Courier New" panose="02070309020205020404" pitchFamily="49" charset="0"/>
                <a:cs typeface="Courier New" panose="02070309020205020404" pitchFamily="49" charset="0"/>
              </a:rPr>
              <a:t>R1</a:t>
            </a:r>
            <a:r>
              <a:rPr lang="en-US" altLang="zh-CN" dirty="0"/>
              <a:t> doesn’t change </a:t>
            </a:r>
            <a:r>
              <a:rPr lang="en-US" altLang="zh-CN" dirty="0" smtClean="0"/>
              <a:t>then:</a:t>
            </a:r>
            <a:r>
              <a:rPr lang="en-US" altLang="zh-CN" dirty="0">
                <a:latin typeface="Courier New" panose="02070309020205020404" pitchFamily="49" charset="0"/>
              </a:rPr>
              <a:t/>
            </a:r>
            <a:br>
              <a:rPr lang="en-US" altLang="zh-CN" dirty="0">
                <a:latin typeface="Courier New" panose="02070309020205020404" pitchFamily="49" charset="0"/>
              </a:rPr>
            </a:br>
            <a:r>
              <a:rPr lang="en-US" altLang="zh-CN" dirty="0" smtClean="0">
                <a:latin typeface="Courier New" panose="02070309020205020404" pitchFamily="49" charset="0"/>
              </a:rPr>
              <a:t>		0(R1</a:t>
            </a:r>
            <a:r>
              <a:rPr lang="en-US" altLang="zh-CN" dirty="0">
                <a:latin typeface="Courier New" panose="02070309020205020404" pitchFamily="49" charset="0"/>
              </a:rPr>
              <a:t>) </a:t>
            </a:r>
            <a:r>
              <a:rPr lang="en-US" altLang="zh-CN" dirty="0">
                <a:latin typeface="Courier New" panose="02070309020205020404" pitchFamily="49" charset="0"/>
                <a:sym typeface="Symbol" panose="05050102010706020507" pitchFamily="18" charset="2"/>
              </a:rPr>
              <a:t></a:t>
            </a:r>
            <a:r>
              <a:rPr lang="en-US" altLang="zh-CN" dirty="0">
                <a:latin typeface="Courier New" panose="02070309020205020404" pitchFamily="49" charset="0"/>
              </a:rPr>
              <a:t> -8(R1) </a:t>
            </a:r>
            <a:r>
              <a:rPr lang="en-US" altLang="zh-CN" dirty="0">
                <a:latin typeface="Courier New" panose="02070309020205020404" pitchFamily="49" charset="0"/>
                <a:sym typeface="Symbol" panose="05050102010706020507" pitchFamily="18" charset="2"/>
              </a:rPr>
              <a:t></a:t>
            </a:r>
            <a:r>
              <a:rPr lang="en-US" altLang="zh-CN" dirty="0">
                <a:latin typeface="Courier New" panose="02070309020205020404" pitchFamily="49" charset="0"/>
              </a:rPr>
              <a:t> -16(R1) </a:t>
            </a:r>
            <a:r>
              <a:rPr lang="en-US" altLang="zh-CN" dirty="0">
                <a:latin typeface="Courier New" panose="02070309020205020404" pitchFamily="49" charset="0"/>
                <a:sym typeface="Symbol" panose="05050102010706020507" pitchFamily="18" charset="2"/>
              </a:rPr>
              <a:t></a:t>
            </a:r>
            <a:r>
              <a:rPr lang="en-US" altLang="zh-CN" dirty="0">
                <a:latin typeface="Courier New" panose="02070309020205020404" pitchFamily="49" charset="0"/>
              </a:rPr>
              <a:t> -24(R1)</a:t>
            </a:r>
          </a:p>
          <a:p>
            <a:pPr lvl="1"/>
            <a:r>
              <a:rPr lang="en-US" altLang="zh-CN" dirty="0" smtClean="0"/>
              <a:t>There </a:t>
            </a:r>
            <a:r>
              <a:rPr lang="en-US" altLang="zh-CN" dirty="0"/>
              <a:t>were no dependencies between some loads and stores so they could be moved by each </a:t>
            </a:r>
            <a:r>
              <a:rPr lang="en-US" altLang="zh-CN" dirty="0" smtClean="0"/>
              <a:t>other</a:t>
            </a:r>
            <a:endParaRPr lang="en-US" altLang="zh-CN" dirty="0"/>
          </a:p>
        </p:txBody>
      </p:sp>
    </p:spTree>
    <p:extLst>
      <p:ext uri="{BB962C8B-B14F-4D97-AF65-F5344CB8AC3E}">
        <p14:creationId xmlns:p14="http://schemas.microsoft.com/office/powerpoint/2010/main" val="117450328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64963">
                                            <p:txEl>
                                              <p:pRg st="0" end="0"/>
                                            </p:txEl>
                                          </p:spTgt>
                                        </p:tgtEl>
                                        <p:attrNameLst>
                                          <p:attrName>style.visibility</p:attrName>
                                        </p:attrNameLst>
                                      </p:cBhvr>
                                      <p:to>
                                        <p:strVal val="visible"/>
                                      </p:to>
                                    </p:set>
                                    <p:anim calcmode="lin" valueType="num">
                                      <p:cBhvr additive="base">
                                        <p:cTn id="7" dur="500" fill="hold"/>
                                        <p:tgtEl>
                                          <p:spTgt spid="10649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6496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64963">
                                            <p:txEl>
                                              <p:pRg st="1" end="1"/>
                                            </p:txEl>
                                          </p:spTgt>
                                        </p:tgtEl>
                                        <p:attrNameLst>
                                          <p:attrName>style.visibility</p:attrName>
                                        </p:attrNameLst>
                                      </p:cBhvr>
                                      <p:to>
                                        <p:strVal val="visible"/>
                                      </p:to>
                                    </p:set>
                                    <p:anim calcmode="lin" valueType="num">
                                      <p:cBhvr additive="base">
                                        <p:cTn id="11" dur="500" fill="hold"/>
                                        <p:tgtEl>
                                          <p:spTgt spid="106496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6496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064963">
                                            <p:txEl>
                                              <p:pRg st="2" end="2"/>
                                            </p:txEl>
                                          </p:spTgt>
                                        </p:tgtEl>
                                        <p:attrNameLst>
                                          <p:attrName>style.visibility</p:attrName>
                                        </p:attrNameLst>
                                      </p:cBhvr>
                                      <p:to>
                                        <p:strVal val="visible"/>
                                      </p:to>
                                    </p:set>
                                    <p:anim calcmode="lin" valueType="num">
                                      <p:cBhvr additive="base">
                                        <p:cTn id="15" dur="500" fill="hold"/>
                                        <p:tgtEl>
                                          <p:spTgt spid="106496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06496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064963">
                                            <p:txEl>
                                              <p:pRg st="3" end="3"/>
                                            </p:txEl>
                                          </p:spTgt>
                                        </p:tgtEl>
                                        <p:attrNameLst>
                                          <p:attrName>style.visibility</p:attrName>
                                        </p:attrNameLst>
                                      </p:cBhvr>
                                      <p:to>
                                        <p:strVal val="visible"/>
                                      </p:to>
                                    </p:set>
                                    <p:anim calcmode="lin" valueType="num">
                                      <p:cBhvr additive="base">
                                        <p:cTn id="21" dur="500" fill="hold"/>
                                        <p:tgtEl>
                                          <p:spTgt spid="1064963">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064963">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1064963">
                                            <p:txEl>
                                              <p:pRg st="4" end="4"/>
                                            </p:txEl>
                                          </p:spTgt>
                                        </p:tgtEl>
                                        <p:attrNameLst>
                                          <p:attrName>style.visibility</p:attrName>
                                        </p:attrNameLst>
                                      </p:cBhvr>
                                      <p:to>
                                        <p:strVal val="visible"/>
                                      </p:to>
                                    </p:set>
                                    <p:anim calcmode="lin" valueType="num">
                                      <p:cBhvr additive="base">
                                        <p:cTn id="25" dur="500" fill="hold"/>
                                        <p:tgtEl>
                                          <p:spTgt spid="106496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64963">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1064963">
                                            <p:txEl>
                                              <p:pRg st="5" end="5"/>
                                            </p:txEl>
                                          </p:spTgt>
                                        </p:tgtEl>
                                        <p:attrNameLst>
                                          <p:attrName>style.visibility</p:attrName>
                                        </p:attrNameLst>
                                      </p:cBhvr>
                                      <p:to>
                                        <p:strVal val="visible"/>
                                      </p:to>
                                    </p:set>
                                    <p:anim calcmode="lin" valueType="num">
                                      <p:cBhvr additive="base">
                                        <p:cTn id="29" dur="500" fill="hold"/>
                                        <p:tgtEl>
                                          <p:spTgt spid="1064963">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064963">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1064963">
                                            <p:txEl>
                                              <p:pRg st="6" end="6"/>
                                            </p:txEl>
                                          </p:spTgt>
                                        </p:tgtEl>
                                        <p:attrNameLst>
                                          <p:attrName>style.visibility</p:attrName>
                                        </p:attrNameLst>
                                      </p:cBhvr>
                                      <p:to>
                                        <p:strVal val="visible"/>
                                      </p:to>
                                    </p:set>
                                    <p:anim calcmode="lin" valueType="num">
                                      <p:cBhvr additive="base">
                                        <p:cTn id="33" dur="500" fill="hold"/>
                                        <p:tgtEl>
                                          <p:spTgt spid="1064963">
                                            <p:txEl>
                                              <p:pRg st="6" end="6"/>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06496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1064963">
                                            <p:txEl>
                                              <p:pRg st="7" end="7"/>
                                            </p:txEl>
                                          </p:spTgt>
                                        </p:tgtEl>
                                        <p:attrNameLst>
                                          <p:attrName>style.visibility</p:attrName>
                                        </p:attrNameLst>
                                      </p:cBhvr>
                                      <p:to>
                                        <p:strVal val="visible"/>
                                      </p:to>
                                    </p:set>
                                    <p:anim calcmode="lin" valueType="num">
                                      <p:cBhvr additive="base">
                                        <p:cTn id="39" dur="500" fill="hold"/>
                                        <p:tgtEl>
                                          <p:spTgt spid="1064963">
                                            <p:txEl>
                                              <p:pRg st="7" end="7"/>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1064963">
                                            <p:txEl>
                                              <p:pRg st="7" end="7"/>
                                            </p:txEl>
                                          </p:spTgt>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064963">
                                            <p:txEl>
                                              <p:pRg st="8" end="8"/>
                                            </p:txEl>
                                          </p:spTgt>
                                        </p:tgtEl>
                                        <p:attrNameLst>
                                          <p:attrName>style.visibility</p:attrName>
                                        </p:attrNameLst>
                                      </p:cBhvr>
                                      <p:to>
                                        <p:strVal val="visible"/>
                                      </p:to>
                                    </p:set>
                                    <p:anim calcmode="lin" valueType="num">
                                      <p:cBhvr additive="base">
                                        <p:cTn id="43" dur="500" fill="hold"/>
                                        <p:tgtEl>
                                          <p:spTgt spid="1064963">
                                            <p:txEl>
                                              <p:pRg st="8" end="8"/>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64963">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63" grpId="0" build="p"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7970" name="Rectangle 1026"/>
          <p:cNvSpPr>
            <a:spLocks noGrp="1" noChangeArrowheads="1"/>
          </p:cNvSpPr>
          <p:nvPr>
            <p:ph type="title"/>
          </p:nvPr>
        </p:nvSpPr>
        <p:spPr/>
        <p:txBody>
          <a:bodyPr/>
          <a:lstStyle/>
          <a:p>
            <a:r>
              <a:rPr lang="en-US" altLang="en-US" smtClean="0"/>
              <a:t>Steps Compiler Performed to Unroll</a:t>
            </a:r>
            <a:endParaRPr lang="en-US" altLang="en-US"/>
          </a:p>
        </p:txBody>
      </p:sp>
      <p:sp>
        <p:nvSpPr>
          <p:cNvPr id="1107971" name="Rectangle 1027"/>
          <p:cNvSpPr>
            <a:spLocks noGrp="1" noChangeArrowheads="1"/>
          </p:cNvSpPr>
          <p:nvPr>
            <p:ph type="body" idx="1"/>
          </p:nvPr>
        </p:nvSpPr>
        <p:spPr>
          <a:xfrm>
            <a:off x="551384" y="1556792"/>
            <a:ext cx="11161240" cy="5112568"/>
          </a:xfrm>
        </p:spPr>
        <p:txBody>
          <a:bodyPr/>
          <a:lstStyle/>
          <a:p>
            <a:r>
              <a:rPr lang="en-US" altLang="en-US" dirty="0" smtClean="0"/>
              <a:t>Finding the loop iterations </a:t>
            </a:r>
            <a:r>
              <a:rPr lang="en-US" altLang="en-US" dirty="0"/>
              <a:t>were </a:t>
            </a:r>
            <a:r>
              <a:rPr lang="en-US" altLang="en-US" dirty="0" smtClean="0"/>
              <a:t>independent and unrolling is </a:t>
            </a:r>
            <a:r>
              <a:rPr lang="en-US" altLang="en-US" dirty="0"/>
              <a:t>useful </a:t>
            </a:r>
            <a:endParaRPr lang="en-US" altLang="en-US" dirty="0" smtClean="0"/>
          </a:p>
          <a:p>
            <a:r>
              <a:rPr lang="en-US" altLang="en-US" dirty="0" smtClean="0"/>
              <a:t>Rename registers to avoid name dependencies</a:t>
            </a:r>
          </a:p>
          <a:p>
            <a:r>
              <a:rPr lang="en-US" altLang="en-US" dirty="0" smtClean="0"/>
              <a:t>Eliminate extra test and branch instructions and adjust the loop termination and iteration code</a:t>
            </a:r>
          </a:p>
          <a:p>
            <a:r>
              <a:rPr lang="en-US" altLang="en-US" dirty="0" smtClean="0"/>
              <a:t>Determine loads and stores in unrolled loop can be interchanged by observing that the loads and stores from different iterations are independent</a:t>
            </a:r>
          </a:p>
          <a:p>
            <a:pPr lvl="1"/>
            <a:r>
              <a:rPr lang="en-US" altLang="en-US" dirty="0"/>
              <a:t>R</a:t>
            </a:r>
            <a:r>
              <a:rPr lang="en-US" altLang="en-US" dirty="0" smtClean="0"/>
              <a:t>equires analyzing memory addresses and finding that they do not refer to the same address, and adjust load/store offset</a:t>
            </a:r>
          </a:p>
          <a:p>
            <a:r>
              <a:rPr lang="en-US" altLang="en-US" dirty="0" smtClean="0"/>
              <a:t>Schedule the code, preserving any dependences needed to yield same result as the original code</a:t>
            </a:r>
            <a:endParaRPr lang="en-US" altLang="en-US" dirty="0"/>
          </a:p>
        </p:txBody>
      </p:sp>
    </p:spTree>
    <p:extLst>
      <p:ext uri="{BB962C8B-B14F-4D97-AF65-F5344CB8AC3E}">
        <p14:creationId xmlns:p14="http://schemas.microsoft.com/office/powerpoint/2010/main" val="2718286008"/>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2914" name="Rectangle 2"/>
          <p:cNvSpPr>
            <a:spLocks noGrp="1" noChangeArrowheads="1"/>
          </p:cNvSpPr>
          <p:nvPr>
            <p:ph type="title"/>
          </p:nvPr>
        </p:nvSpPr>
        <p:spPr/>
        <p:txBody>
          <a:bodyPr/>
          <a:lstStyle/>
          <a:p>
            <a:r>
              <a:rPr lang="en-US" altLang="zh-CN" dirty="0" smtClean="0"/>
              <a:t>Another possibility: Software Pipelining</a:t>
            </a:r>
            <a:endParaRPr lang="en-US" altLang="zh-CN" dirty="0"/>
          </a:p>
        </p:txBody>
      </p:sp>
      <p:sp>
        <p:nvSpPr>
          <p:cNvPr id="1062915" name="Rectangle 3"/>
          <p:cNvSpPr>
            <a:spLocks noGrp="1" noChangeArrowheads="1"/>
          </p:cNvSpPr>
          <p:nvPr>
            <p:ph type="body" idx="1"/>
          </p:nvPr>
        </p:nvSpPr>
        <p:spPr/>
        <p:txBody>
          <a:bodyPr/>
          <a:lstStyle/>
          <a:p>
            <a:r>
              <a:rPr lang="en-US" altLang="zh-CN" dirty="0" smtClean="0"/>
              <a:t>Observation: if iterations from loops are independent, then can get more ILP by taking instructions from different iterations</a:t>
            </a:r>
          </a:p>
          <a:p>
            <a:r>
              <a:rPr lang="en-US" altLang="zh-CN" dirty="0" smtClean="0"/>
              <a:t>Software pipelining: reorganizes loops so that each iteration is made from instructions chosen from different iterations of the original loop (~ </a:t>
            </a:r>
            <a:r>
              <a:rPr lang="en-US" altLang="zh-CN" dirty="0" err="1" smtClean="0"/>
              <a:t>Tomasulo</a:t>
            </a:r>
            <a:r>
              <a:rPr lang="en-US" altLang="zh-CN" dirty="0" smtClean="0"/>
              <a:t> in SW)</a:t>
            </a:r>
            <a:endParaRPr lang="en-US" altLang="zh-CN" dirty="0"/>
          </a:p>
        </p:txBody>
      </p:sp>
      <p:pic>
        <p:nvPicPr>
          <p:cNvPr id="1062916" name="Picture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3872" y="3429000"/>
            <a:ext cx="6409928" cy="33123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54639945"/>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62915">
                                            <p:txEl>
                                              <p:pRg st="0" end="0"/>
                                            </p:txEl>
                                          </p:spTgt>
                                        </p:tgtEl>
                                        <p:attrNameLst>
                                          <p:attrName>style.visibility</p:attrName>
                                        </p:attrNameLst>
                                      </p:cBhvr>
                                      <p:to>
                                        <p:strVal val="visible"/>
                                      </p:to>
                                    </p:set>
                                    <p:anim calcmode="lin" valueType="num">
                                      <p:cBhvr additive="base">
                                        <p:cTn id="7" dur="500" fill="hold"/>
                                        <p:tgtEl>
                                          <p:spTgt spid="106291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629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62915">
                                            <p:txEl>
                                              <p:pRg st="1" end="1"/>
                                            </p:txEl>
                                          </p:spTgt>
                                        </p:tgtEl>
                                        <p:attrNameLst>
                                          <p:attrName>style.visibility</p:attrName>
                                        </p:attrNameLst>
                                      </p:cBhvr>
                                      <p:to>
                                        <p:strVal val="visible"/>
                                      </p:to>
                                    </p:set>
                                    <p:anim calcmode="lin" valueType="num">
                                      <p:cBhvr additive="base">
                                        <p:cTn id="13" dur="500" fill="hold"/>
                                        <p:tgtEl>
                                          <p:spTgt spid="106291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062915">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2915" grpId="0" build="p"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3938" name="Rectangle 2"/>
          <p:cNvSpPr>
            <a:spLocks noGrp="1" noChangeArrowheads="1"/>
          </p:cNvSpPr>
          <p:nvPr>
            <p:ph type="title"/>
          </p:nvPr>
        </p:nvSpPr>
        <p:spPr>
          <a:xfrm>
            <a:off x="767408" y="544860"/>
            <a:ext cx="8925867" cy="723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Software Pipelining Example</a:t>
            </a:r>
          </a:p>
        </p:txBody>
      </p:sp>
      <p:sp>
        <p:nvSpPr>
          <p:cNvPr id="1063939" name="Rectangle 3"/>
          <p:cNvSpPr>
            <a:spLocks noGrp="1" noChangeArrowheads="1"/>
          </p:cNvSpPr>
          <p:nvPr>
            <p:ph type="body" idx="1"/>
          </p:nvPr>
        </p:nvSpPr>
        <p:spPr>
          <a:xfrm>
            <a:off x="479376" y="1745288"/>
            <a:ext cx="4154835" cy="4203992"/>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marL="514350" indent="-514350">
              <a:buNone/>
              <a:tabLst>
                <a:tab pos="1257300" algn="l"/>
              </a:tabLst>
            </a:pPr>
            <a:r>
              <a:rPr lang="en-US" altLang="zh-CN" sz="2400" dirty="0"/>
              <a:t>Before: Unrolled 3 </a:t>
            </a:r>
            <a:r>
              <a:rPr lang="en-US" altLang="zh-CN" sz="2400" dirty="0" smtClean="0"/>
              <a:t>times</a:t>
            </a:r>
          </a:p>
          <a:p>
            <a:pPr marL="514350" indent="-514350">
              <a:buNone/>
              <a:tabLst>
                <a:tab pos="1257300" algn="l"/>
              </a:tabLst>
            </a:pPr>
            <a:endParaRPr lang="en-US" altLang="zh-CN" sz="2400" dirty="0"/>
          </a:p>
          <a:p>
            <a:pPr marL="514350" indent="-514350">
              <a:spcBef>
                <a:spcPct val="0"/>
              </a:spcBef>
              <a:buNone/>
              <a:tabLst>
                <a:tab pos="1257300" algn="l"/>
              </a:tabLst>
            </a:pPr>
            <a:r>
              <a:rPr lang="en-US" altLang="zh-CN" sz="2400" dirty="0">
                <a:solidFill>
                  <a:schemeClr val="accent1"/>
                </a:solidFill>
              </a:rPr>
              <a:t> </a:t>
            </a:r>
            <a:r>
              <a:rPr lang="en-US" altLang="zh-CN" sz="2400" b="1" dirty="0">
                <a:solidFill>
                  <a:srgbClr val="FF0000"/>
                </a:solidFill>
              </a:rPr>
              <a:t>1 </a:t>
            </a:r>
            <a:r>
              <a:rPr lang="en-US" altLang="zh-CN" sz="2400" b="1" dirty="0">
                <a:solidFill>
                  <a:srgbClr val="FF0000"/>
                </a:solidFill>
                <a:latin typeface="Courier New" panose="02070309020205020404" pitchFamily="49" charset="0"/>
              </a:rPr>
              <a:t>	L.D	F0,0(R1)</a:t>
            </a:r>
          </a:p>
          <a:p>
            <a:pPr marL="514350" indent="-514350">
              <a:spcBef>
                <a:spcPct val="0"/>
              </a:spcBef>
              <a:buNone/>
              <a:tabLst>
                <a:tab pos="1257300" algn="l"/>
              </a:tabLst>
            </a:pPr>
            <a:r>
              <a:rPr lang="en-US" altLang="zh-CN" sz="2400" b="1" dirty="0">
                <a:solidFill>
                  <a:srgbClr val="FF0000"/>
                </a:solidFill>
              </a:rPr>
              <a:t> 2</a:t>
            </a:r>
            <a:r>
              <a:rPr lang="en-US" altLang="zh-CN" sz="2400" b="1" dirty="0">
                <a:solidFill>
                  <a:srgbClr val="FF0000"/>
                </a:solidFill>
                <a:latin typeface="Courier New" panose="02070309020205020404" pitchFamily="49" charset="0"/>
              </a:rPr>
              <a:t>	</a:t>
            </a:r>
            <a:r>
              <a:rPr lang="en-US" altLang="zh-CN" sz="2400" b="1" dirty="0" smtClean="0">
                <a:solidFill>
                  <a:srgbClr val="FF0000"/>
                </a:solidFill>
                <a:latin typeface="Courier New" panose="02070309020205020404" pitchFamily="49" charset="0"/>
              </a:rPr>
              <a:t>ADD.D F4,F0,F2</a:t>
            </a:r>
            <a:endParaRPr lang="en-US" altLang="zh-CN" sz="2400" b="1" dirty="0">
              <a:solidFill>
                <a:srgbClr val="FF0000"/>
              </a:solidFill>
              <a:latin typeface="Courier New" panose="02070309020205020404" pitchFamily="49" charset="0"/>
            </a:endParaRPr>
          </a:p>
          <a:p>
            <a:pPr marL="514350" indent="-514350">
              <a:spcBef>
                <a:spcPct val="0"/>
              </a:spcBef>
              <a:buNone/>
              <a:tabLst>
                <a:tab pos="1257300" algn="l"/>
              </a:tabLst>
            </a:pPr>
            <a:r>
              <a:rPr lang="en-US" altLang="zh-CN" sz="2400" b="1" dirty="0">
                <a:solidFill>
                  <a:srgbClr val="FF0000"/>
                </a:solidFill>
              </a:rPr>
              <a:t> 3</a:t>
            </a:r>
            <a:r>
              <a:rPr lang="en-US" altLang="zh-CN" sz="2400" b="1" dirty="0">
                <a:solidFill>
                  <a:srgbClr val="FF0000"/>
                </a:solidFill>
                <a:latin typeface="Courier New" panose="02070309020205020404" pitchFamily="49" charset="0"/>
              </a:rPr>
              <a:t>	S.D	0(R1),F4</a:t>
            </a:r>
            <a:r>
              <a:rPr lang="en-US" altLang="zh-CN" sz="2400" dirty="0">
                <a:latin typeface="Courier New" panose="02070309020205020404" pitchFamily="49" charset="0"/>
              </a:rPr>
              <a:t> 	</a:t>
            </a:r>
          </a:p>
          <a:p>
            <a:pPr marL="514350" indent="-514350">
              <a:spcBef>
                <a:spcPct val="0"/>
              </a:spcBef>
              <a:buNone/>
              <a:tabLst>
                <a:tab pos="1257300" algn="l"/>
              </a:tabLst>
            </a:pPr>
            <a:r>
              <a:rPr lang="en-US" altLang="zh-CN" sz="2400" dirty="0">
                <a:solidFill>
                  <a:schemeClr val="hlink"/>
                </a:solidFill>
              </a:rPr>
              <a:t> </a:t>
            </a:r>
            <a:r>
              <a:rPr lang="en-US" altLang="zh-CN" sz="2400" b="1" dirty="0">
                <a:solidFill>
                  <a:schemeClr val="hlink"/>
                </a:solidFill>
              </a:rPr>
              <a:t>4</a:t>
            </a:r>
            <a:r>
              <a:rPr lang="en-US" altLang="zh-CN" sz="2400" b="1" dirty="0">
                <a:solidFill>
                  <a:schemeClr val="hlink"/>
                </a:solidFill>
                <a:latin typeface="Courier New" panose="02070309020205020404" pitchFamily="49" charset="0"/>
              </a:rPr>
              <a:t>	L.D	F6,-8(R1)</a:t>
            </a:r>
          </a:p>
          <a:p>
            <a:pPr marL="514350" indent="-514350">
              <a:spcBef>
                <a:spcPct val="0"/>
              </a:spcBef>
              <a:buNone/>
              <a:tabLst>
                <a:tab pos="1257300" algn="l"/>
              </a:tabLst>
            </a:pPr>
            <a:r>
              <a:rPr lang="en-US" altLang="zh-CN" sz="2400" b="1" dirty="0">
                <a:solidFill>
                  <a:schemeClr val="hlink"/>
                </a:solidFill>
              </a:rPr>
              <a:t> 5</a:t>
            </a:r>
            <a:r>
              <a:rPr lang="en-US" altLang="zh-CN" sz="2400" b="1" dirty="0">
                <a:solidFill>
                  <a:schemeClr val="hlink"/>
                </a:solidFill>
                <a:latin typeface="Courier New" panose="02070309020205020404" pitchFamily="49" charset="0"/>
              </a:rPr>
              <a:t>	</a:t>
            </a:r>
            <a:r>
              <a:rPr lang="en-US" altLang="zh-CN" sz="2400" b="1" dirty="0" smtClean="0">
                <a:solidFill>
                  <a:schemeClr val="hlink"/>
                </a:solidFill>
                <a:latin typeface="Courier New" panose="02070309020205020404" pitchFamily="49" charset="0"/>
              </a:rPr>
              <a:t>ADD.D F8,F6,F2</a:t>
            </a:r>
            <a:endParaRPr lang="en-US" altLang="zh-CN" sz="2400" b="1" dirty="0">
              <a:solidFill>
                <a:schemeClr val="hlink"/>
              </a:solidFill>
              <a:latin typeface="Courier New" panose="02070309020205020404" pitchFamily="49" charset="0"/>
            </a:endParaRPr>
          </a:p>
          <a:p>
            <a:pPr marL="514350" indent="-514350">
              <a:spcBef>
                <a:spcPct val="0"/>
              </a:spcBef>
              <a:buNone/>
              <a:tabLst>
                <a:tab pos="1257300" algn="l"/>
              </a:tabLst>
            </a:pPr>
            <a:r>
              <a:rPr lang="en-US" altLang="zh-CN" sz="2400" b="1" dirty="0">
                <a:solidFill>
                  <a:schemeClr val="hlink"/>
                </a:solidFill>
              </a:rPr>
              <a:t> 6</a:t>
            </a:r>
            <a:r>
              <a:rPr lang="en-US" altLang="zh-CN" sz="2400" b="1" dirty="0">
                <a:solidFill>
                  <a:schemeClr val="hlink"/>
                </a:solidFill>
                <a:latin typeface="Courier New" panose="02070309020205020404" pitchFamily="49" charset="0"/>
              </a:rPr>
              <a:t>	S.D	-8(R1),</a:t>
            </a:r>
            <a:r>
              <a:rPr lang="en-US" altLang="zh-CN" sz="2400" b="1" dirty="0" smtClean="0">
                <a:solidFill>
                  <a:schemeClr val="hlink"/>
                </a:solidFill>
                <a:latin typeface="Courier New" panose="02070309020205020404" pitchFamily="49" charset="0"/>
              </a:rPr>
              <a:t>F8</a:t>
            </a:r>
            <a:r>
              <a:rPr lang="en-US" altLang="zh-CN" sz="2400" dirty="0">
                <a:latin typeface="Courier New" panose="02070309020205020404" pitchFamily="49" charset="0"/>
              </a:rPr>
              <a:t>	</a:t>
            </a:r>
          </a:p>
          <a:p>
            <a:pPr marL="514350" indent="-514350">
              <a:spcBef>
                <a:spcPct val="0"/>
              </a:spcBef>
              <a:buNone/>
              <a:tabLst>
                <a:tab pos="1257300" algn="l"/>
              </a:tabLst>
            </a:pPr>
            <a:r>
              <a:rPr lang="en-US" altLang="zh-CN" sz="2400" dirty="0">
                <a:solidFill>
                  <a:schemeClr val="accent2"/>
                </a:solidFill>
              </a:rPr>
              <a:t> </a:t>
            </a:r>
            <a:r>
              <a:rPr lang="en-US" altLang="zh-CN" sz="2400" b="1" dirty="0">
                <a:solidFill>
                  <a:srgbClr val="3333CC"/>
                </a:solidFill>
              </a:rPr>
              <a:t>7</a:t>
            </a:r>
            <a:r>
              <a:rPr lang="en-US" altLang="zh-CN" sz="2400" b="1" dirty="0">
                <a:solidFill>
                  <a:srgbClr val="3333CC"/>
                </a:solidFill>
                <a:latin typeface="Courier New" panose="02070309020205020404" pitchFamily="49" charset="0"/>
              </a:rPr>
              <a:t>	L.D	F10,-16(R1)</a:t>
            </a:r>
          </a:p>
          <a:p>
            <a:pPr marL="514350" indent="-514350">
              <a:spcBef>
                <a:spcPct val="0"/>
              </a:spcBef>
              <a:buNone/>
              <a:tabLst>
                <a:tab pos="1257300" algn="l"/>
              </a:tabLst>
            </a:pPr>
            <a:r>
              <a:rPr lang="en-US" altLang="zh-CN" sz="2400" b="1" dirty="0">
                <a:solidFill>
                  <a:srgbClr val="3333CC"/>
                </a:solidFill>
              </a:rPr>
              <a:t> 8</a:t>
            </a:r>
            <a:r>
              <a:rPr lang="en-US" altLang="zh-CN" sz="2400" b="1" dirty="0">
                <a:solidFill>
                  <a:srgbClr val="3333CC"/>
                </a:solidFill>
                <a:latin typeface="Courier New" panose="02070309020205020404" pitchFamily="49" charset="0"/>
              </a:rPr>
              <a:t>	ADD.D	F12,F10,F2</a:t>
            </a:r>
          </a:p>
          <a:p>
            <a:pPr marL="514350" indent="-514350">
              <a:spcBef>
                <a:spcPct val="0"/>
              </a:spcBef>
              <a:buNone/>
              <a:tabLst>
                <a:tab pos="1257300" algn="l"/>
              </a:tabLst>
            </a:pPr>
            <a:r>
              <a:rPr lang="en-US" altLang="zh-CN" sz="2400" b="1" dirty="0">
                <a:solidFill>
                  <a:srgbClr val="3333CC"/>
                </a:solidFill>
              </a:rPr>
              <a:t> 9</a:t>
            </a:r>
            <a:r>
              <a:rPr lang="en-US" altLang="zh-CN" sz="2400" b="1" dirty="0">
                <a:solidFill>
                  <a:srgbClr val="3333CC"/>
                </a:solidFill>
                <a:latin typeface="Courier New" panose="02070309020205020404" pitchFamily="49" charset="0"/>
              </a:rPr>
              <a:t>	S.D	-16(R1),F12</a:t>
            </a:r>
            <a:endParaRPr lang="en-US" altLang="zh-CN" sz="2400" b="1" dirty="0">
              <a:solidFill>
                <a:schemeClr val="accent2"/>
              </a:solidFill>
              <a:latin typeface="Courier New" panose="02070309020205020404" pitchFamily="49" charset="0"/>
            </a:endParaRPr>
          </a:p>
          <a:p>
            <a:pPr marL="514350" indent="-514350">
              <a:spcBef>
                <a:spcPct val="0"/>
              </a:spcBef>
              <a:buNone/>
              <a:tabLst>
                <a:tab pos="1257300" algn="l"/>
              </a:tabLst>
            </a:pPr>
            <a:r>
              <a:rPr lang="en-US" altLang="zh-CN" sz="2400" dirty="0"/>
              <a:t> 10</a:t>
            </a:r>
            <a:r>
              <a:rPr lang="en-US" altLang="zh-CN" sz="2400" dirty="0">
                <a:latin typeface="Courier New" panose="02070309020205020404" pitchFamily="49" charset="0"/>
              </a:rPr>
              <a:t>	DSUBUI	R1,R1,</a:t>
            </a:r>
            <a:r>
              <a:rPr lang="en-US" altLang="zh-CN" sz="2400" dirty="0">
                <a:solidFill>
                  <a:schemeClr val="tx2"/>
                </a:solidFill>
                <a:latin typeface="Courier New" panose="02070309020205020404" pitchFamily="49" charset="0"/>
              </a:rPr>
              <a:t>#24</a:t>
            </a:r>
            <a:endParaRPr lang="en-US" altLang="zh-CN" sz="2400" dirty="0">
              <a:latin typeface="Courier New" panose="02070309020205020404" pitchFamily="49" charset="0"/>
            </a:endParaRPr>
          </a:p>
          <a:p>
            <a:pPr marL="514350" indent="-514350">
              <a:spcBef>
                <a:spcPct val="0"/>
              </a:spcBef>
              <a:buNone/>
              <a:tabLst>
                <a:tab pos="1257300" algn="l"/>
              </a:tabLst>
            </a:pPr>
            <a:r>
              <a:rPr lang="en-US" altLang="zh-CN" sz="2400" dirty="0"/>
              <a:t> 11</a:t>
            </a:r>
            <a:r>
              <a:rPr lang="en-US" altLang="zh-CN" sz="2400" dirty="0">
                <a:latin typeface="Courier New" panose="02070309020205020404" pitchFamily="49" charset="0"/>
              </a:rPr>
              <a:t>	BNEZ	R1,LOOP</a:t>
            </a:r>
          </a:p>
        </p:txBody>
      </p:sp>
      <p:sp>
        <p:nvSpPr>
          <p:cNvPr id="1063940" name="Rectangle 4"/>
          <p:cNvSpPr>
            <a:spLocks noChangeArrowheads="1"/>
          </p:cNvSpPr>
          <p:nvPr/>
        </p:nvSpPr>
        <p:spPr bwMode="auto">
          <a:xfrm>
            <a:off x="5004322" y="1556792"/>
            <a:ext cx="6708301" cy="3606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514350" indent="-514350" algn="l">
              <a:tabLst>
                <a:tab pos="1435100" algn="l"/>
                <a:tab pos="2971800" algn="l"/>
              </a:tabLst>
              <a:defRPr sz="2400">
                <a:solidFill>
                  <a:schemeClr val="tx1"/>
                </a:solidFill>
                <a:latin typeface="Times New Roman" panose="02020603050405020304" pitchFamily="18" charset="0"/>
                <a:ea typeface="宋体" panose="02010600030101010101" pitchFamily="2" charset="-122"/>
              </a:defRPr>
            </a:lvl1pPr>
            <a:lvl2pPr marL="1085850" indent="-228600" algn="l">
              <a:tabLst>
                <a:tab pos="1435100" algn="l"/>
                <a:tab pos="2971800" algn="l"/>
              </a:tabLst>
              <a:defRPr sz="2400">
                <a:solidFill>
                  <a:schemeClr val="tx1"/>
                </a:solidFill>
                <a:latin typeface="Times New Roman" panose="02020603050405020304" pitchFamily="18" charset="0"/>
                <a:ea typeface="宋体" panose="02010600030101010101" pitchFamily="2" charset="-122"/>
              </a:defRPr>
            </a:lvl2pPr>
            <a:lvl3pPr marL="1428750" indent="-228600" algn="l">
              <a:tabLst>
                <a:tab pos="1435100" algn="l"/>
                <a:tab pos="2971800" algn="l"/>
              </a:tabLst>
              <a:defRPr sz="2400">
                <a:solidFill>
                  <a:schemeClr val="tx1"/>
                </a:solidFill>
                <a:latin typeface="Times New Roman" panose="02020603050405020304" pitchFamily="18" charset="0"/>
                <a:ea typeface="宋体" panose="02010600030101010101" pitchFamily="2" charset="-122"/>
              </a:defRPr>
            </a:lvl3pPr>
            <a:lvl4pPr marL="1714500" indent="-171450" algn="l">
              <a:tabLst>
                <a:tab pos="1435100" algn="l"/>
                <a:tab pos="2971800" algn="l"/>
              </a:tabLst>
              <a:defRPr sz="2400">
                <a:solidFill>
                  <a:schemeClr val="tx1"/>
                </a:solidFill>
                <a:latin typeface="Times New Roman" panose="02020603050405020304" pitchFamily="18" charset="0"/>
                <a:ea typeface="宋体" panose="02010600030101010101" pitchFamily="2" charset="-122"/>
              </a:defRPr>
            </a:lvl4pPr>
            <a:lvl5pPr marL="2000250" indent="-171450" algn="l">
              <a:tabLst>
                <a:tab pos="1435100" algn="l"/>
                <a:tab pos="2971800" algn="l"/>
              </a:tabLst>
              <a:defRPr sz="2400">
                <a:solidFill>
                  <a:schemeClr val="tx1"/>
                </a:solidFill>
                <a:latin typeface="Times New Roman" panose="02020603050405020304" pitchFamily="18" charset="0"/>
                <a:ea typeface="宋体" panose="02010600030101010101" pitchFamily="2" charset="-122"/>
              </a:defRPr>
            </a:lvl5pPr>
            <a:lvl6pPr marL="2457450" indent="-171450" eaLnBrk="0" fontAlgn="base" hangingPunct="0">
              <a:spcBef>
                <a:spcPct val="0"/>
              </a:spcBef>
              <a:spcAft>
                <a:spcPct val="0"/>
              </a:spcAft>
              <a:tabLst>
                <a:tab pos="1435100" algn="l"/>
                <a:tab pos="2971800" algn="l"/>
              </a:tabLst>
              <a:defRPr sz="2400">
                <a:solidFill>
                  <a:schemeClr val="tx1"/>
                </a:solidFill>
                <a:latin typeface="Times New Roman" panose="02020603050405020304" pitchFamily="18" charset="0"/>
                <a:ea typeface="宋体" panose="02010600030101010101" pitchFamily="2" charset="-122"/>
              </a:defRPr>
            </a:lvl6pPr>
            <a:lvl7pPr marL="2914650" indent="-171450" eaLnBrk="0" fontAlgn="base" hangingPunct="0">
              <a:spcBef>
                <a:spcPct val="0"/>
              </a:spcBef>
              <a:spcAft>
                <a:spcPct val="0"/>
              </a:spcAft>
              <a:tabLst>
                <a:tab pos="1435100" algn="l"/>
                <a:tab pos="2971800" algn="l"/>
              </a:tabLst>
              <a:defRPr sz="2400">
                <a:solidFill>
                  <a:schemeClr val="tx1"/>
                </a:solidFill>
                <a:latin typeface="Times New Roman" panose="02020603050405020304" pitchFamily="18" charset="0"/>
                <a:ea typeface="宋体" panose="02010600030101010101" pitchFamily="2" charset="-122"/>
              </a:defRPr>
            </a:lvl7pPr>
            <a:lvl8pPr marL="3371850" indent="-171450" eaLnBrk="0" fontAlgn="base" hangingPunct="0">
              <a:spcBef>
                <a:spcPct val="0"/>
              </a:spcBef>
              <a:spcAft>
                <a:spcPct val="0"/>
              </a:spcAft>
              <a:tabLst>
                <a:tab pos="1435100" algn="l"/>
                <a:tab pos="2971800" algn="l"/>
              </a:tabLst>
              <a:defRPr sz="2400">
                <a:solidFill>
                  <a:schemeClr val="tx1"/>
                </a:solidFill>
                <a:latin typeface="Times New Roman" panose="02020603050405020304" pitchFamily="18" charset="0"/>
                <a:ea typeface="宋体" panose="02010600030101010101" pitchFamily="2" charset="-122"/>
              </a:defRPr>
            </a:lvl8pPr>
            <a:lvl9pPr marL="3829050" indent="-171450" eaLnBrk="0" fontAlgn="base" hangingPunct="0">
              <a:spcBef>
                <a:spcPct val="0"/>
              </a:spcBef>
              <a:spcAft>
                <a:spcPct val="0"/>
              </a:spcAft>
              <a:tabLst>
                <a:tab pos="1435100" algn="l"/>
                <a:tab pos="2971800" algn="l"/>
              </a:tabLst>
              <a:defRPr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30000"/>
              </a:spcBef>
            </a:pPr>
            <a:r>
              <a:rPr lang="en-US" altLang="zh-CN" dirty="0">
                <a:solidFill>
                  <a:srgbClr val="0000FF"/>
                </a:solidFill>
                <a:latin typeface="Arial" panose="020B0604020202020204" pitchFamily="34" charset="0"/>
              </a:rPr>
              <a:t>After: Software </a:t>
            </a:r>
            <a:r>
              <a:rPr lang="en-US" altLang="zh-CN" dirty="0" smtClean="0">
                <a:solidFill>
                  <a:srgbClr val="0000FF"/>
                </a:solidFill>
                <a:latin typeface="Arial" panose="020B0604020202020204" pitchFamily="34" charset="0"/>
              </a:rPr>
              <a:t>Pipelined</a:t>
            </a:r>
          </a:p>
          <a:p>
            <a:pPr>
              <a:lnSpc>
                <a:spcPct val="90000"/>
              </a:lnSpc>
              <a:spcBef>
                <a:spcPct val="30000"/>
              </a:spcBef>
            </a:pPr>
            <a:endParaRPr lang="en-US" altLang="zh-CN" dirty="0">
              <a:solidFill>
                <a:srgbClr val="0000FF"/>
              </a:solidFill>
              <a:latin typeface="Arial" panose="020B0604020202020204" pitchFamily="34" charset="0"/>
            </a:endParaRPr>
          </a:p>
          <a:p>
            <a:r>
              <a:rPr lang="en-US" altLang="zh-CN" sz="1800" b="1" dirty="0">
                <a:solidFill>
                  <a:schemeClr val="accent1"/>
                </a:solidFill>
                <a:latin typeface="Arial" panose="020B0604020202020204" pitchFamily="34" charset="0"/>
              </a:rPr>
              <a:t> </a:t>
            </a:r>
            <a:r>
              <a:rPr lang="en-US" altLang="zh-CN" b="1" dirty="0">
                <a:solidFill>
                  <a:srgbClr val="FF0000"/>
                </a:solidFill>
                <a:latin typeface="Arial" panose="020B0604020202020204" pitchFamily="34" charset="0"/>
              </a:rPr>
              <a:t>1</a:t>
            </a:r>
            <a:r>
              <a:rPr lang="en-US" altLang="zh-CN" b="1" dirty="0">
                <a:solidFill>
                  <a:srgbClr val="FF0000"/>
                </a:solidFill>
                <a:latin typeface="Courier New" panose="02070309020205020404" pitchFamily="49" charset="0"/>
              </a:rPr>
              <a:t>	S.D	0(R1),F4 ;	Stores M[</a:t>
            </a:r>
            <a:r>
              <a:rPr lang="en-US" altLang="zh-CN" b="1" dirty="0" err="1">
                <a:solidFill>
                  <a:srgbClr val="FF0000"/>
                </a:solidFill>
                <a:latin typeface="Courier New" panose="02070309020205020404" pitchFamily="49" charset="0"/>
              </a:rPr>
              <a:t>i</a:t>
            </a:r>
            <a:r>
              <a:rPr lang="en-US" altLang="zh-CN" b="1" dirty="0">
                <a:solidFill>
                  <a:srgbClr val="FF0000"/>
                </a:solidFill>
                <a:latin typeface="Courier New" panose="02070309020205020404" pitchFamily="49" charset="0"/>
              </a:rPr>
              <a:t>]</a:t>
            </a:r>
          </a:p>
          <a:p>
            <a:r>
              <a:rPr lang="en-US" altLang="zh-CN" b="1" dirty="0">
                <a:solidFill>
                  <a:schemeClr val="hlink"/>
                </a:solidFill>
                <a:latin typeface="Arial" panose="020B0604020202020204" pitchFamily="34" charset="0"/>
              </a:rPr>
              <a:t> 2</a:t>
            </a:r>
            <a:r>
              <a:rPr lang="en-US" altLang="zh-CN" b="1" dirty="0">
                <a:solidFill>
                  <a:schemeClr val="hlink"/>
                </a:solidFill>
                <a:latin typeface="Courier New" panose="02070309020205020404" pitchFamily="49" charset="0"/>
              </a:rPr>
              <a:t>	ADD.D	F4,F0,F2 ;	Adds to M[i-1]</a:t>
            </a:r>
          </a:p>
          <a:p>
            <a:r>
              <a:rPr lang="en-US" altLang="zh-CN" b="1" dirty="0">
                <a:solidFill>
                  <a:schemeClr val="accent2"/>
                </a:solidFill>
                <a:latin typeface="Arial" panose="020B0604020202020204" pitchFamily="34" charset="0"/>
              </a:rPr>
              <a:t> </a:t>
            </a:r>
            <a:r>
              <a:rPr lang="en-US" altLang="zh-CN" b="1" dirty="0">
                <a:solidFill>
                  <a:srgbClr val="3333CC"/>
                </a:solidFill>
                <a:latin typeface="Arial" panose="020B0604020202020204" pitchFamily="34" charset="0"/>
              </a:rPr>
              <a:t>3</a:t>
            </a:r>
            <a:r>
              <a:rPr lang="en-US" altLang="zh-CN" b="1" dirty="0">
                <a:solidFill>
                  <a:srgbClr val="3333CC"/>
                </a:solidFill>
                <a:latin typeface="Courier New" panose="02070309020205020404" pitchFamily="49" charset="0"/>
              </a:rPr>
              <a:t>	L.D	F0,-16(R1);	Loads M[i-2]</a:t>
            </a:r>
            <a:endParaRPr lang="en-US" altLang="zh-CN" b="1" dirty="0">
              <a:solidFill>
                <a:schemeClr val="accent2"/>
              </a:solidFill>
              <a:latin typeface="Courier New" panose="02070309020205020404" pitchFamily="49" charset="0"/>
            </a:endParaRPr>
          </a:p>
          <a:p>
            <a:r>
              <a:rPr lang="en-US" altLang="zh-CN" b="1" dirty="0">
                <a:solidFill>
                  <a:schemeClr val="accent2"/>
                </a:solidFill>
                <a:latin typeface="Arial" panose="020B0604020202020204" pitchFamily="34" charset="0"/>
              </a:rPr>
              <a:t> </a:t>
            </a:r>
            <a:r>
              <a:rPr lang="en-US" altLang="zh-CN" b="1" dirty="0">
                <a:latin typeface="Arial" panose="020B0604020202020204" pitchFamily="34" charset="0"/>
              </a:rPr>
              <a:t>4</a:t>
            </a:r>
            <a:r>
              <a:rPr lang="en-US" altLang="zh-CN" b="1" dirty="0">
                <a:latin typeface="Courier New" panose="02070309020205020404" pitchFamily="49" charset="0"/>
              </a:rPr>
              <a:t>	DSUBUI	R1,R1,</a:t>
            </a:r>
            <a:r>
              <a:rPr lang="en-US" altLang="zh-CN" b="1" dirty="0">
                <a:solidFill>
                  <a:schemeClr val="tx2"/>
                </a:solidFill>
                <a:latin typeface="Courier New" panose="02070309020205020404" pitchFamily="49" charset="0"/>
              </a:rPr>
              <a:t>#8</a:t>
            </a:r>
            <a:endParaRPr lang="en-US" altLang="zh-CN" b="1" dirty="0">
              <a:latin typeface="Courier New" panose="02070309020205020404" pitchFamily="49" charset="0"/>
            </a:endParaRPr>
          </a:p>
          <a:p>
            <a:r>
              <a:rPr lang="en-US" altLang="zh-CN" b="1" dirty="0">
                <a:latin typeface="Arial" panose="020B0604020202020204" pitchFamily="34" charset="0"/>
              </a:rPr>
              <a:t> 5</a:t>
            </a:r>
            <a:r>
              <a:rPr lang="en-US" altLang="zh-CN" b="1" dirty="0">
                <a:latin typeface="Courier New" panose="02070309020205020404" pitchFamily="49" charset="0"/>
              </a:rPr>
              <a:t>	BNEZ	R1,LOOP</a:t>
            </a:r>
          </a:p>
        </p:txBody>
      </p:sp>
      <p:sp>
        <p:nvSpPr>
          <p:cNvPr id="1063941" name="Line 5"/>
          <p:cNvSpPr>
            <a:spLocks noChangeShapeType="1"/>
          </p:cNvSpPr>
          <p:nvPr/>
        </p:nvSpPr>
        <p:spPr bwMode="auto">
          <a:xfrm flipV="1">
            <a:off x="3431704" y="2564902"/>
            <a:ext cx="1572617" cy="792089"/>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942" name="Line 6"/>
          <p:cNvSpPr>
            <a:spLocks noChangeShapeType="1"/>
          </p:cNvSpPr>
          <p:nvPr/>
        </p:nvSpPr>
        <p:spPr bwMode="auto">
          <a:xfrm flipV="1">
            <a:off x="3846390" y="2924944"/>
            <a:ext cx="1157931" cy="10592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943" name="Line 7"/>
          <p:cNvSpPr>
            <a:spLocks noChangeShapeType="1"/>
          </p:cNvSpPr>
          <p:nvPr/>
        </p:nvSpPr>
        <p:spPr bwMode="auto">
          <a:xfrm flipV="1">
            <a:off x="3846388" y="3298343"/>
            <a:ext cx="1157933" cy="1433751"/>
          </a:xfrm>
          <a:prstGeom prst="line">
            <a:avLst/>
          </a:prstGeom>
          <a:noFill/>
          <a:ln w="38100">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944" name="Rectangle 8"/>
          <p:cNvSpPr>
            <a:spLocks noChangeArrowheads="1"/>
          </p:cNvSpPr>
          <p:nvPr/>
        </p:nvSpPr>
        <p:spPr bwMode="auto">
          <a:xfrm>
            <a:off x="5159896" y="4732095"/>
            <a:ext cx="6768752" cy="19979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l">
              <a:buFontTx/>
              <a:buChar char="•"/>
            </a:pPr>
            <a:r>
              <a:rPr lang="zh-CN" altLang="en-US" sz="2800" dirty="0">
                <a:solidFill>
                  <a:srgbClr val="0000FF"/>
                </a:solidFill>
              </a:rPr>
              <a:t> </a:t>
            </a:r>
            <a:r>
              <a:rPr lang="en-US" altLang="zh-CN" sz="2800" dirty="0">
                <a:solidFill>
                  <a:srgbClr val="0000FF"/>
                </a:solidFill>
              </a:rPr>
              <a:t>Symbolic Loop Unrolling</a:t>
            </a:r>
            <a:endParaRPr lang="en-US" altLang="zh-CN" sz="2000" dirty="0">
              <a:solidFill>
                <a:srgbClr val="0000FF"/>
              </a:solidFill>
            </a:endParaRPr>
          </a:p>
          <a:p>
            <a:pPr algn="l">
              <a:buFontTx/>
              <a:buChar char="–"/>
            </a:pPr>
            <a:r>
              <a:rPr lang="en-US" altLang="zh-CN" sz="2400" dirty="0">
                <a:solidFill>
                  <a:srgbClr val="0000FF"/>
                </a:solidFill>
              </a:rPr>
              <a:t>  Maximize result-use distance </a:t>
            </a:r>
          </a:p>
          <a:p>
            <a:pPr algn="l">
              <a:buFontTx/>
              <a:buChar char="–"/>
            </a:pPr>
            <a:r>
              <a:rPr lang="en-US" altLang="zh-CN" sz="2400" dirty="0">
                <a:solidFill>
                  <a:srgbClr val="0000FF"/>
                </a:solidFill>
              </a:rPr>
              <a:t>  Less code space than unrolling</a:t>
            </a:r>
          </a:p>
          <a:p>
            <a:pPr algn="l">
              <a:buFontTx/>
              <a:buChar char="–"/>
            </a:pPr>
            <a:r>
              <a:rPr lang="en-US" altLang="zh-CN" sz="2400" dirty="0" smtClean="0">
                <a:solidFill>
                  <a:srgbClr val="0000FF"/>
                </a:solidFill>
              </a:rPr>
              <a:t>  Loop control overhead once per iteration </a:t>
            </a:r>
            <a:r>
              <a:rPr lang="en-US" altLang="zh-CN" sz="2400" dirty="0">
                <a:solidFill>
                  <a:srgbClr val="0000FF"/>
                </a:solidFill>
              </a:rPr>
              <a:t>vs. once per each unrolled iteration in loop unrolling</a:t>
            </a:r>
          </a:p>
        </p:txBody>
      </p:sp>
      <p:sp>
        <p:nvSpPr>
          <p:cNvPr id="1063987" name="Text Box 51"/>
          <p:cNvSpPr txBox="1">
            <a:spLocks noChangeArrowheads="1"/>
          </p:cNvSpPr>
          <p:nvPr/>
        </p:nvSpPr>
        <p:spPr bwMode="auto">
          <a:xfrm>
            <a:off x="6790426" y="4239652"/>
            <a:ext cx="4862228" cy="49244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600" b="1" i="1" dirty="0">
                <a:solidFill>
                  <a:srgbClr val="FF0000"/>
                </a:solidFill>
              </a:rPr>
              <a:t>5 </a:t>
            </a:r>
            <a:r>
              <a:rPr lang="en-US" altLang="zh-CN" sz="2600" b="1" i="1" dirty="0">
                <a:solidFill>
                  <a:srgbClr val="FF0000"/>
                </a:solidFill>
              </a:rPr>
              <a:t>cycles per </a:t>
            </a:r>
            <a:r>
              <a:rPr lang="en-US" altLang="zh-CN" sz="2600" b="1" i="1" dirty="0" smtClean="0">
                <a:solidFill>
                  <a:srgbClr val="FF0000"/>
                </a:solidFill>
              </a:rPr>
              <a:t>iteration, no stall</a:t>
            </a:r>
            <a:endParaRPr lang="en-US" altLang="zh-CN" sz="2600" b="1" dirty="0">
              <a:solidFill>
                <a:srgbClr val="FF0000"/>
              </a:solidFill>
            </a:endParaRPr>
          </a:p>
        </p:txBody>
      </p:sp>
    </p:spTree>
    <p:extLst>
      <p:ext uri="{BB962C8B-B14F-4D97-AF65-F5344CB8AC3E}">
        <p14:creationId xmlns:p14="http://schemas.microsoft.com/office/powerpoint/2010/main" val="3598868742"/>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063987"/>
                                        </p:tgtEl>
                                        <p:attrNameLst>
                                          <p:attrName>style.visibility</p:attrName>
                                        </p:attrNameLst>
                                      </p:cBhvr>
                                      <p:to>
                                        <p:strVal val="visible"/>
                                      </p:to>
                                    </p:set>
                                    <p:anim calcmode="lin" valueType="num">
                                      <p:cBhvr>
                                        <p:cTn id="7" dur="500" fill="hold"/>
                                        <p:tgtEl>
                                          <p:spTgt spid="1063987"/>
                                        </p:tgtEl>
                                        <p:attrNameLst>
                                          <p:attrName>ppt_w</p:attrName>
                                        </p:attrNameLst>
                                      </p:cBhvr>
                                      <p:tavLst>
                                        <p:tav tm="0">
                                          <p:val>
                                            <p:fltVal val="0"/>
                                          </p:val>
                                        </p:tav>
                                        <p:tav tm="100000">
                                          <p:val>
                                            <p:strVal val="#ppt_w"/>
                                          </p:val>
                                        </p:tav>
                                      </p:tavLst>
                                    </p:anim>
                                    <p:anim calcmode="lin" valueType="num">
                                      <p:cBhvr>
                                        <p:cTn id="8" dur="500" fill="hold"/>
                                        <p:tgtEl>
                                          <p:spTgt spid="106398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3987" grpId="0"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8274" name="Rectangle 2"/>
          <p:cNvSpPr>
            <a:spLocks noGrp="1" noChangeArrowheads="1"/>
          </p:cNvSpPr>
          <p:nvPr>
            <p:ph type="title"/>
          </p:nvPr>
        </p:nvSpPr>
        <p:spPr/>
        <p:txBody>
          <a:bodyPr/>
          <a:lstStyle/>
          <a:p>
            <a:r>
              <a:rPr lang="en-US" altLang="zh-CN" smtClean="0"/>
              <a:t>When Safe to Unroll Loop?</a:t>
            </a:r>
            <a:endParaRPr lang="en-US" altLang="zh-CN"/>
          </a:p>
        </p:txBody>
      </p:sp>
      <p:sp>
        <p:nvSpPr>
          <p:cNvPr id="1078275" name="Rectangle 3"/>
          <p:cNvSpPr>
            <a:spLocks noGrp="1" noChangeArrowheads="1"/>
          </p:cNvSpPr>
          <p:nvPr>
            <p:ph type="body" idx="1"/>
          </p:nvPr>
        </p:nvSpPr>
        <p:spPr/>
        <p:txBody>
          <a:bodyPr/>
          <a:lstStyle/>
          <a:p>
            <a:r>
              <a:rPr lang="en-US" altLang="zh-CN" dirty="0" smtClean="0"/>
              <a:t>Example: Where are data dependencies? </a:t>
            </a:r>
            <a:br>
              <a:rPr lang="en-US" altLang="zh-CN" dirty="0" smtClean="0"/>
            </a:br>
            <a:r>
              <a:rPr lang="en-US" altLang="zh-CN" dirty="0" smtClean="0"/>
              <a:t>(A,B,C distinct &amp; </a:t>
            </a:r>
            <a:r>
              <a:rPr lang="en-US" altLang="zh-CN" dirty="0" err="1" smtClean="0"/>
              <a:t>nonoverlapping</a:t>
            </a:r>
            <a:r>
              <a:rPr lang="en-US" altLang="zh-CN" dirty="0" smtClean="0"/>
              <a:t>)</a:t>
            </a:r>
            <a:br>
              <a:rPr lang="en-US" altLang="zh-CN" dirty="0" smtClean="0"/>
            </a:br>
            <a:r>
              <a:rPr lang="en-US" altLang="zh-CN" dirty="0" smtClean="0"/>
              <a:t>	</a:t>
            </a:r>
            <a:r>
              <a:rPr lang="en-US" altLang="zh-CN" dirty="0" smtClean="0">
                <a:latin typeface="Courier New" panose="02070309020205020404" pitchFamily="49" charset="0"/>
                <a:cs typeface="Courier New" panose="02070309020205020404" pitchFamily="49" charset="0"/>
              </a:rPr>
              <a:t>for (</a:t>
            </a:r>
            <a:r>
              <a:rPr lang="en-US" altLang="zh-CN" dirty="0" err="1" smtClean="0">
                <a:latin typeface="Courier New" panose="02070309020205020404" pitchFamily="49" charset="0"/>
                <a:cs typeface="Courier New" panose="02070309020205020404" pitchFamily="49" charset="0"/>
              </a:rPr>
              <a:t>i</a:t>
            </a:r>
            <a:r>
              <a:rPr lang="en-US" altLang="zh-CN" dirty="0" smtClean="0">
                <a:latin typeface="Courier New" panose="02070309020205020404" pitchFamily="49" charset="0"/>
                <a:cs typeface="Courier New" panose="02070309020205020404" pitchFamily="49" charset="0"/>
              </a:rPr>
              <a:t>=0; </a:t>
            </a:r>
            <a:r>
              <a:rPr lang="en-US" altLang="zh-CN" dirty="0" err="1" smtClean="0">
                <a:latin typeface="Courier New" panose="02070309020205020404" pitchFamily="49" charset="0"/>
                <a:cs typeface="Courier New" panose="02070309020205020404" pitchFamily="49" charset="0"/>
              </a:rPr>
              <a:t>i</a:t>
            </a:r>
            <a:r>
              <a:rPr lang="en-US" altLang="zh-CN" dirty="0" smtClean="0">
                <a:latin typeface="Courier New" panose="02070309020205020404" pitchFamily="49" charset="0"/>
                <a:cs typeface="Courier New" panose="02070309020205020404" pitchFamily="49" charset="0"/>
              </a:rPr>
              <a:t>&lt;100; </a:t>
            </a:r>
            <a:r>
              <a:rPr lang="en-US" altLang="zh-CN" dirty="0" err="1" smtClean="0">
                <a:latin typeface="Courier New" panose="02070309020205020404" pitchFamily="49" charset="0"/>
                <a:cs typeface="Courier New" panose="02070309020205020404" pitchFamily="49" charset="0"/>
              </a:rPr>
              <a:t>i</a:t>
            </a:r>
            <a:r>
              <a:rPr lang="en-US" altLang="zh-CN" dirty="0" smtClean="0">
                <a:latin typeface="Courier New" panose="02070309020205020404" pitchFamily="49" charset="0"/>
                <a:cs typeface="Courier New" panose="02070309020205020404" pitchFamily="49" charset="0"/>
              </a:rPr>
              <a:t>=i+1) {</a:t>
            </a:r>
            <a:br>
              <a:rPr lang="en-US" altLang="zh-CN" dirty="0" smtClean="0">
                <a:latin typeface="Courier New" panose="02070309020205020404" pitchFamily="49" charset="0"/>
                <a:cs typeface="Courier New" panose="02070309020205020404" pitchFamily="49" charset="0"/>
              </a:rPr>
            </a:br>
            <a:r>
              <a:rPr lang="en-US" altLang="zh-CN" dirty="0" smtClean="0">
                <a:latin typeface="Courier New" panose="02070309020205020404" pitchFamily="49" charset="0"/>
                <a:cs typeface="Courier New" panose="02070309020205020404" pitchFamily="49" charset="0"/>
              </a:rPr>
              <a:t>		A[i+1] = A[</a:t>
            </a:r>
            <a:r>
              <a:rPr lang="en-US" altLang="zh-CN" dirty="0" err="1" smtClean="0">
                <a:latin typeface="Courier New" panose="02070309020205020404" pitchFamily="49" charset="0"/>
                <a:cs typeface="Courier New" panose="02070309020205020404" pitchFamily="49" charset="0"/>
              </a:rPr>
              <a:t>i</a:t>
            </a:r>
            <a:r>
              <a:rPr lang="en-US" altLang="zh-CN" dirty="0" smtClean="0">
                <a:latin typeface="Courier New" panose="02070309020205020404" pitchFamily="49" charset="0"/>
                <a:cs typeface="Courier New" panose="02070309020205020404" pitchFamily="49" charset="0"/>
              </a:rPr>
              <a:t>] + C[</a:t>
            </a:r>
            <a:r>
              <a:rPr lang="en-US" altLang="zh-CN" dirty="0" err="1" smtClean="0">
                <a:latin typeface="Courier New" panose="02070309020205020404" pitchFamily="49" charset="0"/>
                <a:cs typeface="Courier New" panose="02070309020205020404" pitchFamily="49" charset="0"/>
              </a:rPr>
              <a:t>i</a:t>
            </a:r>
            <a:r>
              <a:rPr lang="en-US" altLang="zh-CN" dirty="0" smtClean="0">
                <a:latin typeface="Courier New" panose="02070309020205020404" pitchFamily="49" charset="0"/>
                <a:cs typeface="Courier New" panose="02070309020205020404" pitchFamily="49" charset="0"/>
              </a:rPr>
              <a:t>];    /* </a:t>
            </a:r>
            <a:r>
              <a:rPr lang="en-US" altLang="zh-CN" dirty="0"/>
              <a:t>S1</a:t>
            </a:r>
            <a:r>
              <a:rPr lang="en-US" altLang="zh-CN" dirty="0" smtClean="0">
                <a:latin typeface="Courier New" panose="02070309020205020404" pitchFamily="49" charset="0"/>
                <a:cs typeface="Courier New" panose="02070309020205020404" pitchFamily="49" charset="0"/>
              </a:rPr>
              <a:t> */</a:t>
            </a:r>
            <a:br>
              <a:rPr lang="en-US" altLang="zh-CN" dirty="0" smtClean="0">
                <a:latin typeface="Courier New" panose="02070309020205020404" pitchFamily="49" charset="0"/>
                <a:cs typeface="Courier New" panose="02070309020205020404" pitchFamily="49" charset="0"/>
              </a:rPr>
            </a:br>
            <a:r>
              <a:rPr lang="en-US" altLang="zh-CN" dirty="0" smtClean="0">
                <a:latin typeface="Courier New" panose="02070309020205020404" pitchFamily="49" charset="0"/>
                <a:cs typeface="Courier New" panose="02070309020205020404" pitchFamily="49" charset="0"/>
              </a:rPr>
              <a:t>		B[i+1] = B[</a:t>
            </a:r>
            <a:r>
              <a:rPr lang="en-US" altLang="zh-CN" dirty="0" err="1" smtClean="0">
                <a:latin typeface="Courier New" panose="02070309020205020404" pitchFamily="49" charset="0"/>
                <a:cs typeface="Courier New" panose="02070309020205020404" pitchFamily="49" charset="0"/>
              </a:rPr>
              <a:t>i</a:t>
            </a:r>
            <a:r>
              <a:rPr lang="en-US" altLang="zh-CN" dirty="0" smtClean="0">
                <a:latin typeface="Courier New" panose="02070309020205020404" pitchFamily="49" charset="0"/>
                <a:cs typeface="Courier New" panose="02070309020205020404" pitchFamily="49" charset="0"/>
              </a:rPr>
              <a:t>] + A[i+1];  /* </a:t>
            </a:r>
            <a:r>
              <a:rPr lang="en-US" altLang="zh-CN" dirty="0"/>
              <a:t>S2</a:t>
            </a:r>
            <a:r>
              <a:rPr lang="en-US" altLang="zh-CN" dirty="0" smtClean="0">
                <a:latin typeface="Courier New" panose="02070309020205020404" pitchFamily="49" charset="0"/>
                <a:cs typeface="Courier New" panose="02070309020205020404" pitchFamily="49" charset="0"/>
              </a:rPr>
              <a:t> */}</a:t>
            </a:r>
          </a:p>
          <a:p>
            <a:pPr marL="457200" lvl="1" indent="0">
              <a:buNone/>
            </a:pPr>
            <a:r>
              <a:rPr lang="en-US" altLang="zh-CN" dirty="0" smtClean="0"/>
              <a:t>1. S2 uses the value, </a:t>
            </a:r>
            <a:r>
              <a:rPr lang="en-US" altLang="zh-CN" dirty="0">
                <a:latin typeface="Courier New" panose="02070309020205020404" pitchFamily="49" charset="0"/>
                <a:cs typeface="Courier New" panose="02070309020205020404" pitchFamily="49" charset="0"/>
              </a:rPr>
              <a:t>A[i+1]</a:t>
            </a:r>
            <a:r>
              <a:rPr lang="en-US" altLang="zh-CN" dirty="0" smtClean="0"/>
              <a:t>, computed by S1 in the same iteration. </a:t>
            </a:r>
          </a:p>
          <a:p>
            <a:pPr marL="457200" lvl="1" indent="0">
              <a:buNone/>
            </a:pPr>
            <a:r>
              <a:rPr lang="en-US" altLang="zh-CN" dirty="0" smtClean="0"/>
              <a:t>2. S1 uses a value computed by S1 in an earlier iteration, since iteration </a:t>
            </a:r>
            <a:r>
              <a:rPr lang="en-US" altLang="zh-CN" dirty="0" err="1">
                <a:latin typeface="Courier New" panose="02070309020205020404" pitchFamily="49" charset="0"/>
                <a:cs typeface="Courier New" panose="02070309020205020404" pitchFamily="49" charset="0"/>
              </a:rPr>
              <a:t>i</a:t>
            </a:r>
            <a:r>
              <a:rPr lang="en-US" altLang="zh-CN" dirty="0" smtClean="0"/>
              <a:t> computes </a:t>
            </a:r>
            <a:r>
              <a:rPr lang="en-US" altLang="zh-CN" dirty="0">
                <a:latin typeface="Courier New" panose="02070309020205020404" pitchFamily="49" charset="0"/>
                <a:cs typeface="Courier New" panose="02070309020205020404" pitchFamily="49" charset="0"/>
              </a:rPr>
              <a:t>A[i+1]</a:t>
            </a:r>
            <a:r>
              <a:rPr lang="en-US" altLang="zh-CN" dirty="0" smtClean="0"/>
              <a:t> which is read in iteration </a:t>
            </a:r>
            <a:r>
              <a:rPr lang="en-US" altLang="zh-CN" dirty="0">
                <a:latin typeface="Courier New" panose="02070309020205020404" pitchFamily="49" charset="0"/>
                <a:cs typeface="Courier New" panose="02070309020205020404" pitchFamily="49" charset="0"/>
              </a:rPr>
              <a:t>i</a:t>
            </a:r>
            <a:r>
              <a:rPr lang="en-US" altLang="zh-CN" dirty="0" smtClean="0">
                <a:latin typeface="Courier New" panose="02070309020205020404" pitchFamily="49" charset="0"/>
                <a:cs typeface="Courier New" panose="02070309020205020404" pitchFamily="49" charset="0"/>
              </a:rPr>
              <a:t>+1</a:t>
            </a:r>
            <a:r>
              <a:rPr lang="en-US" altLang="zh-CN" dirty="0" smtClean="0"/>
              <a:t>. The same is true of S2 for </a:t>
            </a:r>
            <a:r>
              <a:rPr lang="en-US" altLang="zh-CN" dirty="0">
                <a:latin typeface="Courier New" panose="02070309020205020404" pitchFamily="49" charset="0"/>
                <a:cs typeface="Courier New" panose="02070309020205020404" pitchFamily="49" charset="0"/>
              </a:rPr>
              <a:t>B[</a:t>
            </a:r>
            <a:r>
              <a:rPr lang="en-US" altLang="zh-CN" dirty="0" err="1">
                <a:latin typeface="Courier New" panose="02070309020205020404" pitchFamily="49" charset="0"/>
                <a:cs typeface="Courier New" panose="02070309020205020404" pitchFamily="49" charset="0"/>
              </a:rPr>
              <a:t>i</a:t>
            </a:r>
            <a:r>
              <a:rPr lang="en-US" altLang="zh-CN" dirty="0">
                <a:latin typeface="Courier New" panose="02070309020205020404" pitchFamily="49" charset="0"/>
                <a:cs typeface="Courier New" panose="02070309020205020404" pitchFamily="49" charset="0"/>
              </a:rPr>
              <a:t>]</a:t>
            </a:r>
            <a:r>
              <a:rPr lang="en-US" altLang="zh-CN" dirty="0" smtClean="0"/>
              <a:t> and </a:t>
            </a:r>
            <a:r>
              <a:rPr lang="en-US" altLang="zh-CN" dirty="0">
                <a:latin typeface="Courier New" panose="02070309020205020404" pitchFamily="49" charset="0"/>
                <a:cs typeface="Courier New" panose="02070309020205020404" pitchFamily="49" charset="0"/>
              </a:rPr>
              <a:t>B[i+1]</a:t>
            </a:r>
            <a:r>
              <a:rPr lang="en-US" altLang="zh-CN" dirty="0" smtClean="0"/>
              <a:t>. </a:t>
            </a:r>
            <a:br>
              <a:rPr lang="en-US" altLang="zh-CN" dirty="0" smtClean="0"/>
            </a:br>
            <a:r>
              <a:rPr lang="en-US" altLang="zh-CN" dirty="0" smtClean="0"/>
              <a:t>This is a “</a:t>
            </a:r>
            <a:r>
              <a:rPr lang="en-US" altLang="zh-CN" dirty="0" smtClean="0">
                <a:solidFill>
                  <a:srgbClr val="FF0000"/>
                </a:solidFill>
              </a:rPr>
              <a:t>loop-carried dependence</a:t>
            </a:r>
            <a:r>
              <a:rPr lang="en-US" altLang="zh-CN" dirty="0" smtClean="0"/>
              <a:t>”: between iterations</a:t>
            </a:r>
          </a:p>
          <a:p>
            <a:r>
              <a:rPr lang="en-US" altLang="zh-CN" dirty="0" smtClean="0"/>
              <a:t>For our prior example, each iteration was distinct</a:t>
            </a:r>
          </a:p>
          <a:p>
            <a:r>
              <a:rPr lang="en-US" altLang="zh-CN" dirty="0" smtClean="0"/>
              <a:t>Implies that iterations can’t be executed in parallel, Right????</a:t>
            </a:r>
            <a:endParaRPr lang="en-US" altLang="zh-CN" dirty="0"/>
          </a:p>
        </p:txBody>
      </p:sp>
    </p:spTree>
    <p:extLst>
      <p:ext uri="{BB962C8B-B14F-4D97-AF65-F5344CB8AC3E}">
        <p14:creationId xmlns:p14="http://schemas.microsoft.com/office/powerpoint/2010/main" val="228776445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78275">
                                            <p:txEl>
                                              <p:pRg st="0" end="0"/>
                                            </p:txEl>
                                          </p:spTgt>
                                        </p:tgtEl>
                                        <p:attrNameLst>
                                          <p:attrName>style.visibility</p:attrName>
                                        </p:attrNameLst>
                                      </p:cBhvr>
                                      <p:to>
                                        <p:strVal val="visible"/>
                                      </p:to>
                                    </p:set>
                                    <p:anim calcmode="lin" valueType="num">
                                      <p:cBhvr additive="base">
                                        <p:cTn id="7" dur="500" fill="hold"/>
                                        <p:tgtEl>
                                          <p:spTgt spid="107827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7827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078275">
                                            <p:txEl>
                                              <p:pRg st="1" end="1"/>
                                            </p:txEl>
                                          </p:spTgt>
                                        </p:tgtEl>
                                        <p:attrNameLst>
                                          <p:attrName>style.visibility</p:attrName>
                                        </p:attrNameLst>
                                      </p:cBhvr>
                                      <p:to>
                                        <p:strVal val="visible"/>
                                      </p:to>
                                    </p:set>
                                    <p:anim calcmode="lin" valueType="num">
                                      <p:cBhvr additive="base">
                                        <p:cTn id="11" dur="500" fill="hold"/>
                                        <p:tgtEl>
                                          <p:spTgt spid="1078275">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078275">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078275">
                                            <p:txEl>
                                              <p:pRg st="2" end="2"/>
                                            </p:txEl>
                                          </p:spTgt>
                                        </p:tgtEl>
                                        <p:attrNameLst>
                                          <p:attrName>style.visibility</p:attrName>
                                        </p:attrNameLst>
                                      </p:cBhvr>
                                      <p:to>
                                        <p:strVal val="visible"/>
                                      </p:to>
                                    </p:set>
                                    <p:anim calcmode="lin" valueType="num">
                                      <p:cBhvr additive="base">
                                        <p:cTn id="15" dur="500" fill="hold"/>
                                        <p:tgtEl>
                                          <p:spTgt spid="1078275">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0782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1078275">
                                            <p:txEl>
                                              <p:pRg st="3" end="3"/>
                                            </p:txEl>
                                          </p:spTgt>
                                        </p:tgtEl>
                                        <p:attrNameLst>
                                          <p:attrName>style.visibility</p:attrName>
                                        </p:attrNameLst>
                                      </p:cBhvr>
                                      <p:to>
                                        <p:strVal val="visible"/>
                                      </p:to>
                                    </p:set>
                                    <p:anim calcmode="lin" valueType="num">
                                      <p:cBhvr additive="base">
                                        <p:cTn id="21" dur="500" fill="hold"/>
                                        <p:tgtEl>
                                          <p:spTgt spid="1078275">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07827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1078275">
                                            <p:txEl>
                                              <p:pRg st="4" end="4"/>
                                            </p:txEl>
                                          </p:spTgt>
                                        </p:tgtEl>
                                        <p:attrNameLst>
                                          <p:attrName>style.visibility</p:attrName>
                                        </p:attrNameLst>
                                      </p:cBhvr>
                                      <p:to>
                                        <p:strVal val="visible"/>
                                      </p:to>
                                    </p:set>
                                    <p:anim calcmode="lin" valueType="num">
                                      <p:cBhvr additive="base">
                                        <p:cTn id="27" dur="500" fill="hold"/>
                                        <p:tgtEl>
                                          <p:spTgt spid="1078275">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07827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8275" grpId="0" build="p"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9298" name="Rectangle 2"/>
          <p:cNvSpPr>
            <a:spLocks noGrp="1" noChangeArrowheads="1"/>
          </p:cNvSpPr>
          <p:nvPr>
            <p:ph type="title"/>
          </p:nvPr>
        </p:nvSpPr>
        <p:spPr>
          <a:xfrm>
            <a:off x="983432" y="260648"/>
            <a:ext cx="8998768"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a:t>Does a loop-carried dependence mean there is no parallelism???</a:t>
            </a:r>
          </a:p>
        </p:txBody>
      </p:sp>
      <p:sp>
        <p:nvSpPr>
          <p:cNvPr id="1079299" name="Rectangle 3"/>
          <p:cNvSpPr>
            <a:spLocks noGrp="1" noChangeArrowheads="1"/>
          </p:cNvSpPr>
          <p:nvPr>
            <p:ph type="body" idx="1"/>
          </p:nvPr>
        </p:nvSpPr>
        <p:spPr>
          <a:xfrm>
            <a:off x="1333500" y="1844824"/>
            <a:ext cx="8648700"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t" anchorCtr="0" compatLnSpc="1">
            <a:prstTxWarp prst="textNoShape">
              <a:avLst/>
            </a:prstTxWarp>
          </a:bodyPr>
          <a:lstStyle/>
          <a:p>
            <a:pPr>
              <a:spcBef>
                <a:spcPct val="0"/>
              </a:spcBef>
            </a:pPr>
            <a:r>
              <a:rPr lang="en-US" altLang="zh-CN" dirty="0"/>
              <a:t>Consider:</a:t>
            </a:r>
            <a:br>
              <a:rPr lang="en-US" altLang="zh-CN" dirty="0"/>
            </a:br>
            <a:r>
              <a:rPr lang="en-US" altLang="zh-CN" dirty="0"/>
              <a:t>	</a:t>
            </a:r>
            <a:r>
              <a:rPr lang="en-US" altLang="zh-CN" sz="2400" dirty="0">
                <a:latin typeface="Courier New" panose="02070309020205020404" pitchFamily="49" charset="0"/>
              </a:rPr>
              <a:t>for (</a:t>
            </a:r>
            <a:r>
              <a:rPr lang="en-US" altLang="zh-CN" sz="2400" dirty="0" err="1">
                <a:latin typeface="Courier New" panose="02070309020205020404" pitchFamily="49" charset="0"/>
              </a:rPr>
              <a:t>i</a:t>
            </a:r>
            <a:r>
              <a:rPr lang="en-US" altLang="zh-CN" sz="2400" dirty="0">
                <a:latin typeface="Courier New" panose="02070309020205020404" pitchFamily="49" charset="0"/>
              </a:rPr>
              <a:t>=0; </a:t>
            </a:r>
            <a:r>
              <a:rPr lang="en-US" altLang="zh-CN" sz="2400" dirty="0" err="1">
                <a:latin typeface="Courier New" panose="02070309020205020404" pitchFamily="49" charset="0"/>
              </a:rPr>
              <a:t>i</a:t>
            </a:r>
            <a:r>
              <a:rPr lang="en-US" altLang="zh-CN" sz="2400" dirty="0">
                <a:latin typeface="Courier New" panose="02070309020205020404" pitchFamily="49" charset="0"/>
              </a:rPr>
              <a:t>&lt; 8; </a:t>
            </a:r>
            <a:r>
              <a:rPr lang="en-US" altLang="zh-CN" sz="2400" dirty="0" err="1">
                <a:latin typeface="Courier New" panose="02070309020205020404" pitchFamily="49" charset="0"/>
              </a:rPr>
              <a:t>i</a:t>
            </a:r>
            <a:r>
              <a:rPr lang="en-US" altLang="zh-CN" sz="2400" dirty="0">
                <a:latin typeface="Courier New" panose="02070309020205020404" pitchFamily="49" charset="0"/>
              </a:rPr>
              <a:t>=i+1) {</a:t>
            </a:r>
            <a:br>
              <a:rPr lang="en-US" altLang="zh-CN" sz="2400" dirty="0">
                <a:latin typeface="Courier New" panose="02070309020205020404" pitchFamily="49" charset="0"/>
              </a:rPr>
            </a:br>
            <a:r>
              <a:rPr lang="en-US" altLang="zh-CN" sz="2400" dirty="0">
                <a:latin typeface="Courier New" panose="02070309020205020404" pitchFamily="49" charset="0"/>
              </a:rPr>
              <a:t>		A = A + C[</a:t>
            </a:r>
            <a:r>
              <a:rPr lang="en-US" altLang="zh-CN" sz="2400" dirty="0" err="1">
                <a:latin typeface="Courier New" panose="02070309020205020404" pitchFamily="49" charset="0"/>
              </a:rPr>
              <a:t>i</a:t>
            </a:r>
            <a:r>
              <a:rPr lang="en-US" altLang="zh-CN" sz="2400" dirty="0">
                <a:latin typeface="Courier New" panose="02070309020205020404" pitchFamily="49" charset="0"/>
              </a:rPr>
              <a:t>];    /* S1 */ 	}</a:t>
            </a:r>
            <a:br>
              <a:rPr lang="en-US" altLang="zh-CN" sz="2400" dirty="0">
                <a:latin typeface="Courier New" panose="02070309020205020404" pitchFamily="49" charset="0"/>
              </a:rPr>
            </a:br>
            <a:r>
              <a:rPr lang="en-US" altLang="zh-CN" dirty="0"/>
              <a:t>Could compute:</a:t>
            </a:r>
            <a:br>
              <a:rPr lang="en-US" altLang="zh-CN" dirty="0"/>
            </a:br>
            <a:r>
              <a:rPr lang="en-US" altLang="zh-CN" dirty="0"/>
              <a:t>“Cycle 1”:  	</a:t>
            </a:r>
            <a:r>
              <a:rPr lang="en-US" altLang="zh-CN" dirty="0">
                <a:latin typeface="Courier New" panose="02070309020205020404" pitchFamily="49" charset="0"/>
              </a:rPr>
              <a:t>temp0 = C[0] + C[1];</a:t>
            </a:r>
            <a:br>
              <a:rPr lang="en-US" altLang="zh-CN" dirty="0">
                <a:latin typeface="Courier New" panose="02070309020205020404" pitchFamily="49" charset="0"/>
              </a:rPr>
            </a:br>
            <a:r>
              <a:rPr lang="en-US" altLang="zh-CN" dirty="0">
                <a:latin typeface="Courier New" panose="02070309020205020404" pitchFamily="49" charset="0"/>
              </a:rPr>
              <a:t>		temp1 = C[2] + C[3];</a:t>
            </a:r>
            <a:br>
              <a:rPr lang="en-US" altLang="zh-CN" dirty="0">
                <a:latin typeface="Courier New" panose="02070309020205020404" pitchFamily="49" charset="0"/>
              </a:rPr>
            </a:br>
            <a:r>
              <a:rPr lang="en-US" altLang="zh-CN" dirty="0">
                <a:latin typeface="Courier New" panose="02070309020205020404" pitchFamily="49" charset="0"/>
              </a:rPr>
              <a:t>		temp2 = C[4] + C[5];</a:t>
            </a:r>
            <a:br>
              <a:rPr lang="en-US" altLang="zh-CN" dirty="0">
                <a:latin typeface="Courier New" panose="02070309020205020404" pitchFamily="49" charset="0"/>
              </a:rPr>
            </a:br>
            <a:r>
              <a:rPr lang="en-US" altLang="zh-CN" dirty="0">
                <a:latin typeface="Courier New" panose="02070309020205020404" pitchFamily="49" charset="0"/>
              </a:rPr>
              <a:t>		temp3 = C[6] + C[7];</a:t>
            </a:r>
            <a:br>
              <a:rPr lang="en-US" altLang="zh-CN" dirty="0">
                <a:latin typeface="Courier New" panose="02070309020205020404" pitchFamily="49" charset="0"/>
              </a:rPr>
            </a:br>
            <a:r>
              <a:rPr lang="en-US" altLang="zh-CN" dirty="0"/>
              <a:t>“Cycle 2”: 	</a:t>
            </a:r>
            <a:r>
              <a:rPr lang="en-US" altLang="zh-CN" dirty="0">
                <a:latin typeface="Courier New" panose="02070309020205020404" pitchFamily="49" charset="0"/>
              </a:rPr>
              <a:t>temp4 = temp0 + temp1;</a:t>
            </a:r>
            <a:br>
              <a:rPr lang="en-US" altLang="zh-CN" dirty="0">
                <a:latin typeface="Courier New" panose="02070309020205020404" pitchFamily="49" charset="0"/>
              </a:rPr>
            </a:br>
            <a:r>
              <a:rPr lang="en-US" altLang="zh-CN" dirty="0">
                <a:latin typeface="Courier New" panose="02070309020205020404" pitchFamily="49" charset="0"/>
              </a:rPr>
              <a:t>		temp5 = temp2 + temp3;</a:t>
            </a:r>
            <a:br>
              <a:rPr lang="en-US" altLang="zh-CN" dirty="0">
                <a:latin typeface="Courier New" panose="02070309020205020404" pitchFamily="49" charset="0"/>
              </a:rPr>
            </a:br>
            <a:r>
              <a:rPr lang="en-US" altLang="zh-CN" dirty="0"/>
              <a:t>“Cycle 3”:   </a:t>
            </a:r>
            <a:r>
              <a:rPr lang="en-US" altLang="zh-CN" dirty="0">
                <a:latin typeface="Courier New" panose="02070309020205020404" pitchFamily="49" charset="0"/>
              </a:rPr>
              <a:t>A = temp4 + temp5;</a:t>
            </a:r>
          </a:p>
          <a:p>
            <a:pPr>
              <a:spcBef>
                <a:spcPct val="0"/>
              </a:spcBef>
            </a:pPr>
            <a:r>
              <a:rPr lang="en-US" altLang="zh-CN" dirty="0"/>
              <a:t>Relies on associative nature of “+”.</a:t>
            </a:r>
          </a:p>
        </p:txBody>
      </p:sp>
    </p:spTree>
    <p:extLst>
      <p:ext uri="{BB962C8B-B14F-4D97-AF65-F5344CB8AC3E}">
        <p14:creationId xmlns:p14="http://schemas.microsoft.com/office/powerpoint/2010/main" val="314377968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79299">
                                            <p:txEl>
                                              <p:pRg st="0" end="0"/>
                                            </p:txEl>
                                          </p:spTgt>
                                        </p:tgtEl>
                                        <p:attrNameLst>
                                          <p:attrName>style.visibility</p:attrName>
                                        </p:attrNameLst>
                                      </p:cBhvr>
                                      <p:to>
                                        <p:strVal val="visible"/>
                                      </p:to>
                                    </p:set>
                                    <p:anim calcmode="lin" valueType="num">
                                      <p:cBhvr additive="base">
                                        <p:cTn id="7" dur="500" fill="hold"/>
                                        <p:tgtEl>
                                          <p:spTgt spid="107929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792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79299">
                                            <p:txEl>
                                              <p:pRg st="1" end="1"/>
                                            </p:txEl>
                                          </p:spTgt>
                                        </p:tgtEl>
                                        <p:attrNameLst>
                                          <p:attrName>style.visibility</p:attrName>
                                        </p:attrNameLst>
                                      </p:cBhvr>
                                      <p:to>
                                        <p:strVal val="visible"/>
                                      </p:to>
                                    </p:set>
                                    <p:anim calcmode="lin" valueType="num">
                                      <p:cBhvr additive="base">
                                        <p:cTn id="13" dur="500" fill="hold"/>
                                        <p:tgtEl>
                                          <p:spTgt spid="107929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07929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9299" grpId="0" build="p"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Simple test for loop carried dependence</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en-US" altLang="zh-CN" dirty="0" smtClean="0"/>
                  <a:t>Assume array index is </a:t>
                </a:r>
                <a:r>
                  <a:rPr lang="en-US" altLang="zh-CN" i="1" dirty="0" smtClean="0"/>
                  <a:t>affine</a:t>
                </a:r>
                <a:r>
                  <a:rPr lang="en-US" altLang="zh-CN" dirty="0" smtClean="0"/>
                  <a:t>: in the form of </a:t>
                </a:r>
                <a14:m>
                  <m:oMath xmlns:m="http://schemas.openxmlformats.org/officeDocument/2006/math">
                    <m:r>
                      <a:rPr lang="en-US" altLang="zh-CN" b="0" i="1" smtClean="0">
                        <a:latin typeface="Cambria Math" panose="02040503050406030204" pitchFamily="18" charset="0"/>
                      </a:rPr>
                      <m:t>𝑎</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𝑏</m:t>
                    </m:r>
                  </m:oMath>
                </a14:m>
                <a:endParaRPr lang="en-US" altLang="zh-CN" b="0" dirty="0" smtClean="0">
                  <a:ea typeface="Cambria Math" panose="02040503050406030204" pitchFamily="18" charset="0"/>
                </a:endParaRPr>
              </a:p>
              <a:p>
                <a:pPr lvl="1"/>
                <a:r>
                  <a:rPr lang="en-US" altLang="zh-CN" dirty="0" smtClean="0"/>
                  <a:t>Store to array element with index </a:t>
                </a:r>
                <a14:m>
                  <m:oMath xmlns:m="http://schemas.openxmlformats.org/officeDocument/2006/math">
                    <m:r>
                      <a:rPr lang="en-US" altLang="zh-CN" b="0" i="1" smtClean="0">
                        <a:latin typeface="Cambria Math" panose="02040503050406030204" pitchFamily="18" charset="0"/>
                      </a:rPr>
                      <m:t>𝑎</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𝑏</m:t>
                    </m:r>
                  </m:oMath>
                </a14:m>
                <a:endParaRPr lang="en-US" altLang="zh-CN" b="0" dirty="0" smtClean="0">
                  <a:ea typeface="Cambria Math" panose="02040503050406030204" pitchFamily="18" charset="0"/>
                </a:endParaRPr>
              </a:p>
              <a:p>
                <a:pPr lvl="1"/>
                <a:r>
                  <a:rPr lang="en-US" altLang="zh-CN" dirty="0" smtClean="0"/>
                  <a:t>Load from array element with index </a:t>
                </a:r>
                <a14:m>
                  <m:oMath xmlns:m="http://schemas.openxmlformats.org/officeDocument/2006/math">
                    <m:r>
                      <a:rPr lang="en-US" altLang="zh-CN" b="0" i="1" smtClean="0">
                        <a:latin typeface="Cambria Math" panose="02040503050406030204" pitchFamily="18" charset="0"/>
                      </a:rPr>
                      <m:t>𝑐</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𝑗</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𝑑</m:t>
                    </m:r>
                  </m:oMath>
                </a14:m>
                <a:endParaRPr lang="en-US" altLang="zh-CN" b="0" dirty="0" smtClean="0">
                  <a:ea typeface="Cambria Math" panose="02040503050406030204" pitchFamily="18" charset="0"/>
                </a:endParaRPr>
              </a:p>
              <a:p>
                <a:pPr lvl="1"/>
                <a:r>
                  <a:rPr lang="en-US" altLang="zh-CN" dirty="0" smtClean="0"/>
                  <a:t>For </a:t>
                </a:r>
                <a14:m>
                  <m:oMath xmlns:m="http://schemas.openxmlformats.org/officeDocument/2006/math">
                    <m:r>
                      <a:rPr lang="en-US" altLang="zh-CN" b="0" i="1" smtClean="0">
                        <a:latin typeface="Cambria Math" panose="02040503050406030204" pitchFamily="18" charset="0"/>
                      </a:rPr>
                      <m:t>𝑚</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𝑛</m:t>
                    </m:r>
                  </m:oMath>
                </a14:m>
                <a:r>
                  <a:rPr lang="zh-CN" altLang="en-US" dirty="0" smtClean="0"/>
                  <a:t> </a:t>
                </a:r>
                <a:r>
                  <a:rPr lang="en-US" altLang="zh-CN" dirty="0" smtClean="0"/>
                  <a:t>and </a:t>
                </a:r>
                <a14:m>
                  <m:oMath xmlns:m="http://schemas.openxmlformats.org/officeDocument/2006/math">
                    <m:r>
                      <a:rPr lang="en-US" altLang="zh-CN" i="1">
                        <a:latin typeface="Cambria Math" panose="02040503050406030204" pitchFamily="18" charset="0"/>
                      </a:rPr>
                      <m:t>𝑚</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𝑗</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𝑛</m:t>
                    </m:r>
                  </m:oMath>
                </a14:m>
                <a:r>
                  <a:rPr lang="en-US" altLang="zh-CN" dirty="0" smtClean="0"/>
                  <a:t>, when </a:t>
                </a:r>
                <a14:m>
                  <m:oMath xmlns:m="http://schemas.openxmlformats.org/officeDocument/2006/math">
                    <m:r>
                      <a:rPr lang="en-US" altLang="zh-CN" i="1">
                        <a:latin typeface="Cambria Math" panose="02040503050406030204" pitchFamily="18" charset="0"/>
                      </a:rPr>
                      <m:t>𝑎</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𝑖</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𝑏</m:t>
                    </m:r>
                  </m:oMath>
                </a14:m>
                <a:r>
                  <a:rPr lang="zh-CN" altLang="en-US" dirty="0" smtClean="0"/>
                  <a:t> </a:t>
                </a:r>
                <a:r>
                  <a:rPr lang="en-US" altLang="zh-CN" dirty="0" smtClean="0"/>
                  <a:t>= </a:t>
                </a:r>
                <a14:m>
                  <m:oMath xmlns:m="http://schemas.openxmlformats.org/officeDocument/2006/math">
                    <m:r>
                      <a:rPr lang="en-US" altLang="zh-CN" i="1">
                        <a:latin typeface="Cambria Math" panose="02040503050406030204" pitchFamily="18" charset="0"/>
                      </a:rPr>
                      <m:t>𝑐</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𝑗</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𝑑</m:t>
                    </m:r>
                  </m:oMath>
                </a14:m>
                <a:r>
                  <a:rPr lang="en-US" altLang="zh-CN" dirty="0" smtClean="0"/>
                  <a:t> ?</a:t>
                </a:r>
              </a:p>
              <a:p>
                <a:pPr lvl="1"/>
                <a:r>
                  <a:rPr lang="en-US" altLang="zh-CN" dirty="0" smtClean="0"/>
                  <a:t>Solve this integer programming is time consuming</a:t>
                </a:r>
              </a:p>
              <a:p>
                <a:r>
                  <a:rPr lang="en-US" altLang="zh-CN" dirty="0" smtClean="0"/>
                  <a:t>GCD test: a simple and sufficient test for the dependence</a:t>
                </a:r>
              </a:p>
              <a:p>
                <a:pPr lvl="1"/>
                <a:r>
                  <a:rPr lang="en-US" altLang="zh-CN" dirty="0" smtClean="0"/>
                  <a:t>If loop carried dependence exists, then GCD (</a:t>
                </a:r>
                <a14:m>
                  <m:oMath xmlns:m="http://schemas.openxmlformats.org/officeDocument/2006/math">
                    <m:r>
                      <a:rPr lang="en-US" altLang="zh-CN" b="0" i="1" smtClean="0">
                        <a:latin typeface="Cambria Math" panose="02040503050406030204" pitchFamily="18" charset="0"/>
                      </a:rPr>
                      <m:t>𝑐</m:t>
                    </m:r>
                    <m:r>
                      <a:rPr lang="en-US" altLang="zh-CN" b="0" i="1" smtClean="0">
                        <a:latin typeface="Cambria Math" panose="02040503050406030204" pitchFamily="18" charset="0"/>
                      </a:rPr>
                      <m:t>,</m:t>
                    </m:r>
                    <m:r>
                      <a:rPr lang="en-US" altLang="zh-CN" b="0" i="1" smtClean="0">
                        <a:latin typeface="Cambria Math" panose="02040503050406030204" pitchFamily="18" charset="0"/>
                      </a:rPr>
                      <m:t>𝑎</m:t>
                    </m:r>
                  </m:oMath>
                </a14:m>
                <a:r>
                  <a:rPr lang="en-US" altLang="zh-CN" dirty="0" smtClean="0"/>
                  <a:t>) must divide (</a:t>
                </a:r>
                <a14:m>
                  <m:oMath xmlns:m="http://schemas.openxmlformats.org/officeDocument/2006/math">
                    <m:r>
                      <a:rPr lang="en-US" altLang="zh-CN" b="0" i="1" smtClean="0">
                        <a:latin typeface="Cambria Math" panose="02040503050406030204" pitchFamily="18" charset="0"/>
                      </a:rPr>
                      <m:t>𝑑</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oMath>
                </a14:m>
                <a:r>
                  <a:rPr lang="en-US" altLang="zh-CN" dirty="0" smtClean="0"/>
                  <a:t>)</a:t>
                </a:r>
              </a:p>
              <a:p>
                <a:r>
                  <a:rPr lang="en-US" altLang="zh-CN" dirty="0" smtClean="0"/>
                  <a:t>Difficulties in real world</a:t>
                </a:r>
              </a:p>
              <a:p>
                <a:pPr lvl="1"/>
                <a14:m>
                  <m:oMath xmlns:m="http://schemas.openxmlformats.org/officeDocument/2006/math">
                    <m:r>
                      <a:rPr lang="en-US" altLang="zh-CN" b="0" i="1" smtClean="0">
                        <a:latin typeface="Cambria Math" panose="02040503050406030204" pitchFamily="18" charset="0"/>
                      </a:rPr>
                      <m:t>𝑎</m:t>
                    </m:r>
                    <m:r>
                      <a:rPr lang="en-US" altLang="zh-CN" b="0" i="1" smtClean="0">
                        <a:latin typeface="Cambria Math" panose="02040503050406030204" pitchFamily="18" charset="0"/>
                      </a:rPr>
                      <m:t>, </m:t>
                    </m:r>
                    <m:r>
                      <a:rPr lang="en-US" altLang="zh-CN" b="0" i="1" smtClean="0">
                        <a:latin typeface="Cambria Math" panose="02040503050406030204" pitchFamily="18" charset="0"/>
                      </a:rPr>
                      <m:t>𝑏</m:t>
                    </m:r>
                    <m:r>
                      <a:rPr lang="en-US" altLang="zh-CN" b="0" i="1" smtClean="0">
                        <a:latin typeface="Cambria Math" panose="02040503050406030204" pitchFamily="18" charset="0"/>
                      </a:rPr>
                      <m:t>, </m:t>
                    </m:r>
                    <m:r>
                      <a:rPr lang="en-US" altLang="zh-CN" b="0" i="1" smtClean="0">
                        <a:latin typeface="Cambria Math" panose="02040503050406030204" pitchFamily="18" charset="0"/>
                      </a:rPr>
                      <m:t>𝑐</m:t>
                    </m:r>
                    <m:r>
                      <a:rPr lang="en-US" altLang="zh-CN" b="0" i="1" smtClean="0">
                        <a:latin typeface="Cambria Math" panose="02040503050406030204" pitchFamily="18" charset="0"/>
                      </a:rPr>
                      <m:t>, </m:t>
                    </m:r>
                    <m:r>
                      <a:rPr lang="en-US" altLang="zh-CN" b="0" i="1" smtClean="0">
                        <a:latin typeface="Cambria Math" panose="02040503050406030204" pitchFamily="18" charset="0"/>
                      </a:rPr>
                      <m:t>𝑑</m:t>
                    </m:r>
                  </m:oMath>
                </a14:m>
                <a:r>
                  <a:rPr lang="en-US" altLang="zh-CN" b="0" dirty="0" smtClean="0"/>
                  <a:t> are variables, and their values are not known in compile time</a:t>
                </a:r>
              </a:p>
              <a:p>
                <a:pPr lvl="1"/>
                <a:r>
                  <a:rPr lang="en-US" altLang="zh-CN" dirty="0" smtClean="0"/>
                  <a:t>Array reference in the form of A[B[</a:t>
                </a:r>
                <a:r>
                  <a:rPr lang="en-US" altLang="zh-CN" dirty="0" err="1" smtClean="0"/>
                  <a:t>i</a:t>
                </a:r>
                <a:r>
                  <a:rPr lang="en-US" altLang="zh-CN" dirty="0" smtClean="0"/>
                  <a:t>]], commonly seen in sparse matrix</a:t>
                </a:r>
              </a:p>
              <a:p>
                <a:pPr lvl="1"/>
                <a:r>
                  <a:rPr lang="en-US" altLang="zh-CN" b="0" dirty="0" smtClean="0"/>
                  <a:t>Array name passed as parameters of procedure, or pointers</a:t>
                </a:r>
              </a:p>
              <a:p>
                <a:pPr lvl="2"/>
                <a:r>
                  <a:rPr lang="en-US" altLang="zh-CN" dirty="0" smtClean="0"/>
                  <a:t>Don’t know if X[] and Y[] overlaps, need inter-procedural analysis</a:t>
                </a:r>
                <a:endParaRPr lang="en-US" altLang="zh-CN" b="0" dirty="0" smtClean="0"/>
              </a:p>
              <a:p>
                <a:pPr lvl="1"/>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043" t="-202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3976901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Example of eliminating loop carried dependence by loop transformation</a:t>
            </a:r>
            <a:endParaRPr lang="zh-CN" altLang="en-US" dirty="0"/>
          </a:p>
        </p:txBody>
      </p:sp>
      <p:sp>
        <p:nvSpPr>
          <p:cNvPr id="3" name="内容占位符 2"/>
          <p:cNvSpPr>
            <a:spLocks noGrp="1"/>
          </p:cNvSpPr>
          <p:nvPr>
            <p:ph idx="1"/>
          </p:nvPr>
        </p:nvSpPr>
        <p:spPr>
          <a:xfrm>
            <a:off x="551384" y="1556792"/>
            <a:ext cx="11089232" cy="5112568"/>
          </a:xfrm>
        </p:spPr>
        <p:txBody>
          <a:bodyPr/>
          <a:lstStyle/>
          <a:p>
            <a:r>
              <a:rPr lang="en-US" altLang="zh-CN" dirty="0" smtClean="0"/>
              <a:t>S1 </a:t>
            </a:r>
            <a:r>
              <a:rPr lang="en-US" altLang="zh-CN" dirty="0"/>
              <a:t>uses the value assigned </a:t>
            </a:r>
            <a:r>
              <a:rPr lang="en-US" altLang="zh-CN" dirty="0" smtClean="0"/>
              <a:t>in </a:t>
            </a:r>
            <a:r>
              <a:rPr lang="en-US" altLang="zh-CN" dirty="0"/>
              <a:t>the </a:t>
            </a:r>
            <a:r>
              <a:rPr lang="en-US" altLang="zh-CN" dirty="0" smtClean="0"/>
              <a:t/>
            </a:r>
            <a:br>
              <a:rPr lang="en-US" altLang="zh-CN" dirty="0" smtClean="0"/>
            </a:br>
            <a:r>
              <a:rPr lang="en-US" altLang="zh-CN" dirty="0" smtClean="0"/>
              <a:t>previous </a:t>
            </a:r>
            <a:r>
              <a:rPr lang="en-US" altLang="zh-CN" dirty="0"/>
              <a:t>iteration </a:t>
            </a:r>
            <a:r>
              <a:rPr lang="en-US" altLang="zh-CN" dirty="0" smtClean="0"/>
              <a:t>by S2</a:t>
            </a:r>
            <a:r>
              <a:rPr lang="en-US" altLang="zh-CN" dirty="0"/>
              <a:t>, </a:t>
            </a:r>
            <a:r>
              <a:rPr lang="en-US" altLang="zh-CN" dirty="0" smtClean="0"/>
              <a:t>so there </a:t>
            </a:r>
            <a:br>
              <a:rPr lang="en-US" altLang="zh-CN" dirty="0" smtClean="0"/>
            </a:br>
            <a:r>
              <a:rPr lang="en-US" altLang="zh-CN" dirty="0" smtClean="0"/>
              <a:t>is </a:t>
            </a:r>
            <a:r>
              <a:rPr lang="en-US" altLang="zh-CN" dirty="0"/>
              <a:t>a </a:t>
            </a:r>
            <a:r>
              <a:rPr lang="en-US" altLang="zh-CN" dirty="0" smtClean="0"/>
              <a:t>loop-carried dependence</a:t>
            </a:r>
            <a:r>
              <a:rPr lang="en-US" altLang="zh-CN" dirty="0"/>
              <a:t> </a:t>
            </a:r>
            <a:br>
              <a:rPr lang="en-US" altLang="zh-CN" dirty="0"/>
            </a:br>
            <a:r>
              <a:rPr lang="en-US" altLang="zh-CN" dirty="0" smtClean="0"/>
              <a:t>between </a:t>
            </a:r>
            <a:r>
              <a:rPr lang="en-US" altLang="zh-CN" dirty="0"/>
              <a:t>S2 and S1</a:t>
            </a:r>
            <a:endParaRPr lang="en-US" altLang="zh-CN" dirty="0" smtClean="0"/>
          </a:p>
          <a:p>
            <a:r>
              <a:rPr lang="en-US" altLang="zh-CN" dirty="0" smtClean="0"/>
              <a:t>The dependence is </a:t>
            </a:r>
            <a:r>
              <a:rPr lang="en-US" altLang="zh-CN" dirty="0"/>
              <a:t>not circular: Neither statement depends on itself, and, although </a:t>
            </a:r>
            <a:r>
              <a:rPr lang="en-US" altLang="zh-CN" dirty="0" smtClean="0"/>
              <a:t>S1 depends </a:t>
            </a:r>
            <a:r>
              <a:rPr lang="en-US" altLang="zh-CN" dirty="0"/>
              <a:t>on S2, S2 does not depend on </a:t>
            </a:r>
            <a:r>
              <a:rPr lang="en-US" altLang="zh-CN" dirty="0" smtClean="0"/>
              <a:t>S1</a:t>
            </a:r>
          </a:p>
          <a:p>
            <a:r>
              <a:rPr lang="en-US" altLang="zh-CN" dirty="0" smtClean="0"/>
              <a:t>Transform the loop by conforming </a:t>
            </a:r>
            <a:r>
              <a:rPr lang="en-US" altLang="zh-CN" dirty="0"/>
              <a:t>to </a:t>
            </a:r>
            <a:r>
              <a:rPr lang="en-US" altLang="zh-CN" dirty="0" smtClean="0"/>
              <a:t/>
            </a:r>
            <a:br>
              <a:rPr lang="en-US" altLang="zh-CN" dirty="0" smtClean="0"/>
            </a:br>
            <a:r>
              <a:rPr lang="en-US" altLang="zh-CN" dirty="0" smtClean="0"/>
              <a:t>the </a:t>
            </a:r>
            <a:r>
              <a:rPr lang="en-US" altLang="zh-CN" dirty="0"/>
              <a:t>partial </a:t>
            </a:r>
            <a:r>
              <a:rPr lang="en-US" altLang="zh-CN" dirty="0" smtClean="0"/>
              <a:t>ordering</a:t>
            </a:r>
          </a:p>
          <a:p>
            <a:pPr lvl="1"/>
            <a:r>
              <a:rPr lang="en-US" altLang="zh-CN" dirty="0"/>
              <a:t>I</a:t>
            </a:r>
            <a:r>
              <a:rPr lang="en-US" altLang="zh-CN" dirty="0" smtClean="0"/>
              <a:t>nterchanging </a:t>
            </a:r>
            <a:r>
              <a:rPr lang="en-US" altLang="zh-CN" dirty="0"/>
              <a:t>the </a:t>
            </a:r>
            <a:r>
              <a:rPr lang="en-US" altLang="zh-CN" dirty="0" smtClean="0"/>
              <a:t>S1 and S2 will </a:t>
            </a:r>
            <a:r>
              <a:rPr lang="en-US" altLang="zh-CN" dirty="0"/>
              <a:t>not </a:t>
            </a:r>
            <a:r>
              <a:rPr lang="en-US" altLang="zh-CN" dirty="0" smtClean="0"/>
              <a:t/>
            </a:r>
            <a:br>
              <a:rPr lang="en-US" altLang="zh-CN" dirty="0" smtClean="0"/>
            </a:br>
            <a:r>
              <a:rPr lang="en-US" altLang="zh-CN" dirty="0" smtClean="0"/>
              <a:t>affect the execution </a:t>
            </a:r>
            <a:r>
              <a:rPr lang="en-US" altLang="zh-CN" dirty="0"/>
              <a:t>of </a:t>
            </a:r>
            <a:r>
              <a:rPr lang="en-US" altLang="zh-CN" dirty="0" smtClean="0"/>
              <a:t>S2</a:t>
            </a:r>
          </a:p>
          <a:p>
            <a:pPr lvl="1"/>
            <a:r>
              <a:rPr lang="en-US" altLang="zh-CN" dirty="0"/>
              <a:t>When </a:t>
            </a:r>
            <a:r>
              <a:rPr lang="en-US" altLang="zh-CN" dirty="0" err="1"/>
              <a:t>i</a:t>
            </a:r>
            <a:r>
              <a:rPr lang="en-US" altLang="zh-CN" dirty="0"/>
              <a:t>=1, S1 depends on the value of </a:t>
            </a:r>
            <a:r>
              <a:rPr lang="en-US" altLang="zh-CN" dirty="0" smtClean="0"/>
              <a:t/>
            </a:r>
            <a:br>
              <a:rPr lang="en-US" altLang="zh-CN" dirty="0" smtClean="0"/>
            </a:br>
            <a:r>
              <a:rPr lang="en-US" altLang="zh-CN" dirty="0" smtClean="0"/>
              <a:t>B[1] computed </a:t>
            </a:r>
            <a:r>
              <a:rPr lang="en-US" altLang="zh-CN" dirty="0"/>
              <a:t>prior to initiating the loop</a:t>
            </a:r>
            <a:endParaRPr lang="zh-CN" altLang="en-US" dirty="0"/>
          </a:p>
        </p:txBody>
      </p:sp>
      <p:sp>
        <p:nvSpPr>
          <p:cNvPr id="4" name="矩形 3"/>
          <p:cNvSpPr/>
          <p:nvPr/>
        </p:nvSpPr>
        <p:spPr>
          <a:xfrm>
            <a:off x="6456040" y="1556792"/>
            <a:ext cx="5663952" cy="1569660"/>
          </a:xfrm>
          <a:prstGeom prst="rect">
            <a:avLst/>
          </a:prstGeom>
        </p:spPr>
        <p:txBody>
          <a:bodyPr wrap="square">
            <a:spAutoFit/>
          </a:bodyPr>
          <a:lstStyle/>
          <a:p>
            <a:r>
              <a:rPr lang="pl-PL" altLang="zh-CN" sz="2400" dirty="0">
                <a:latin typeface="Courier New" panose="02070309020205020404" pitchFamily="49" charset="0"/>
                <a:cs typeface="Courier New" panose="02070309020205020404" pitchFamily="49" charset="0"/>
              </a:rPr>
              <a:t>for (i=1; i&lt;=100; i=i+1) {</a:t>
            </a:r>
          </a:p>
          <a:p>
            <a:r>
              <a:rPr lang="pl-PL" altLang="zh-CN" sz="2400" dirty="0">
                <a:latin typeface="Courier New" panose="02070309020205020404" pitchFamily="49" charset="0"/>
                <a:cs typeface="Courier New" panose="02070309020205020404" pitchFamily="49" charset="0"/>
              </a:rPr>
              <a:t>A[i] = A[i] + B[i]; /* S1 */</a:t>
            </a:r>
          </a:p>
          <a:p>
            <a:r>
              <a:rPr lang="pl-PL" altLang="zh-CN" sz="2400" dirty="0">
                <a:latin typeface="Courier New" panose="02070309020205020404" pitchFamily="49" charset="0"/>
                <a:cs typeface="Courier New" panose="02070309020205020404" pitchFamily="49" charset="0"/>
              </a:rPr>
              <a:t>B[i+1] = C[i] + D[i]; /* S2 */</a:t>
            </a:r>
          </a:p>
          <a:p>
            <a:r>
              <a:rPr lang="pl-PL" altLang="zh-CN" sz="2400" dirty="0">
                <a:latin typeface="Courier New" panose="02070309020205020404" pitchFamily="49" charset="0"/>
                <a:cs typeface="Courier New" panose="02070309020205020404" pitchFamily="49" charset="0"/>
              </a:rPr>
              <a:t>}</a:t>
            </a:r>
            <a:endParaRPr lang="zh-CN" altLang="en-US" sz="2400" dirty="0">
              <a:latin typeface="Courier New" panose="02070309020205020404" pitchFamily="49" charset="0"/>
              <a:cs typeface="Courier New" panose="02070309020205020404" pitchFamily="49" charset="0"/>
            </a:endParaRPr>
          </a:p>
        </p:txBody>
      </p:sp>
      <p:sp>
        <p:nvSpPr>
          <p:cNvPr id="5" name="矩形 4"/>
          <p:cNvSpPr/>
          <p:nvPr/>
        </p:nvSpPr>
        <p:spPr>
          <a:xfrm>
            <a:off x="6960096" y="4221088"/>
            <a:ext cx="5112568" cy="2308324"/>
          </a:xfrm>
          <a:prstGeom prst="rect">
            <a:avLst/>
          </a:prstGeom>
        </p:spPr>
        <p:txBody>
          <a:bodyPr wrap="square">
            <a:spAutoFit/>
          </a:bodyPr>
          <a:lstStyle/>
          <a:p>
            <a:r>
              <a:rPr lang="en-US" altLang="zh-CN" sz="2400" dirty="0">
                <a:latin typeface="Courier New" panose="02070309020205020404" pitchFamily="49" charset="0"/>
                <a:cs typeface="Courier New" panose="02070309020205020404" pitchFamily="49" charset="0"/>
              </a:rPr>
              <a:t>A[1] = A[1] + B[1];</a:t>
            </a:r>
          </a:p>
          <a:p>
            <a:r>
              <a:rPr lang="en-US" altLang="zh-CN" sz="2400" dirty="0">
                <a:latin typeface="Courier New" panose="02070309020205020404" pitchFamily="49" charset="0"/>
                <a:cs typeface="Courier New" panose="02070309020205020404" pitchFamily="49" charset="0"/>
              </a:rPr>
              <a:t>for (</a:t>
            </a:r>
            <a:r>
              <a:rPr lang="en-US" altLang="zh-CN" sz="2400" dirty="0" err="1">
                <a:latin typeface="Courier New" panose="02070309020205020404" pitchFamily="49" charset="0"/>
                <a:cs typeface="Courier New" panose="02070309020205020404" pitchFamily="49" charset="0"/>
              </a:rPr>
              <a:t>i</a:t>
            </a:r>
            <a:r>
              <a:rPr lang="en-US" altLang="zh-CN" sz="2400" dirty="0">
                <a:latin typeface="Courier New" panose="02070309020205020404" pitchFamily="49" charset="0"/>
                <a:cs typeface="Courier New" panose="02070309020205020404" pitchFamily="49" charset="0"/>
              </a:rPr>
              <a:t>=1; </a:t>
            </a:r>
            <a:r>
              <a:rPr lang="en-US" altLang="zh-CN" sz="2400" dirty="0" err="1">
                <a:latin typeface="Courier New" panose="02070309020205020404" pitchFamily="49" charset="0"/>
                <a:cs typeface="Courier New" panose="02070309020205020404" pitchFamily="49" charset="0"/>
              </a:rPr>
              <a:t>i</a:t>
            </a:r>
            <a:r>
              <a:rPr lang="en-US" altLang="zh-CN" sz="2400" dirty="0">
                <a:latin typeface="Courier New" panose="02070309020205020404" pitchFamily="49" charset="0"/>
                <a:cs typeface="Courier New" panose="02070309020205020404" pitchFamily="49" charset="0"/>
              </a:rPr>
              <a:t>&lt;=99; </a:t>
            </a:r>
            <a:r>
              <a:rPr lang="en-US" altLang="zh-CN" sz="2400" dirty="0" err="1">
                <a:latin typeface="Courier New" panose="02070309020205020404" pitchFamily="49" charset="0"/>
                <a:cs typeface="Courier New" panose="02070309020205020404" pitchFamily="49" charset="0"/>
              </a:rPr>
              <a:t>i</a:t>
            </a:r>
            <a:r>
              <a:rPr lang="en-US" altLang="zh-CN" sz="2400" dirty="0">
                <a:latin typeface="Courier New" panose="02070309020205020404" pitchFamily="49" charset="0"/>
                <a:cs typeface="Courier New" panose="02070309020205020404" pitchFamily="49" charset="0"/>
              </a:rPr>
              <a:t>=i+1) {</a:t>
            </a:r>
          </a:p>
          <a:p>
            <a:r>
              <a:rPr lang="en-US" altLang="zh-CN" sz="2400" dirty="0">
                <a:latin typeface="Courier New" panose="02070309020205020404" pitchFamily="49" charset="0"/>
                <a:cs typeface="Courier New" panose="02070309020205020404" pitchFamily="49" charset="0"/>
              </a:rPr>
              <a:t>B[i+1] = C[</a:t>
            </a:r>
            <a:r>
              <a:rPr lang="en-US" altLang="zh-CN" sz="2400" dirty="0" err="1">
                <a:latin typeface="Courier New" panose="02070309020205020404" pitchFamily="49" charset="0"/>
                <a:cs typeface="Courier New" panose="02070309020205020404" pitchFamily="49" charset="0"/>
              </a:rPr>
              <a:t>i</a:t>
            </a:r>
            <a:r>
              <a:rPr lang="en-US" altLang="zh-CN" sz="2400" dirty="0">
                <a:latin typeface="Courier New" panose="02070309020205020404" pitchFamily="49" charset="0"/>
                <a:cs typeface="Courier New" panose="02070309020205020404" pitchFamily="49" charset="0"/>
              </a:rPr>
              <a:t>] + D[</a:t>
            </a:r>
            <a:r>
              <a:rPr lang="en-US" altLang="zh-CN" sz="2400" dirty="0" err="1">
                <a:latin typeface="Courier New" panose="02070309020205020404" pitchFamily="49" charset="0"/>
                <a:cs typeface="Courier New" panose="02070309020205020404" pitchFamily="49" charset="0"/>
              </a:rPr>
              <a:t>i</a:t>
            </a:r>
            <a:r>
              <a:rPr lang="en-US" altLang="zh-CN" sz="2400" dirty="0">
                <a:latin typeface="Courier New" panose="02070309020205020404" pitchFamily="49" charset="0"/>
                <a:cs typeface="Courier New" panose="02070309020205020404" pitchFamily="49" charset="0"/>
              </a:rPr>
              <a:t>];</a:t>
            </a:r>
          </a:p>
          <a:p>
            <a:r>
              <a:rPr lang="en-US" altLang="zh-CN" sz="2400" dirty="0">
                <a:latin typeface="Courier New" panose="02070309020205020404" pitchFamily="49" charset="0"/>
                <a:cs typeface="Courier New" panose="02070309020205020404" pitchFamily="49" charset="0"/>
              </a:rPr>
              <a:t>A[i+1] = A[i+1] + B[i+1];</a:t>
            </a:r>
          </a:p>
          <a:p>
            <a:r>
              <a:rPr lang="en-US" altLang="zh-CN" sz="2400" dirty="0">
                <a:latin typeface="Courier New" panose="02070309020205020404" pitchFamily="49" charset="0"/>
                <a:cs typeface="Courier New" panose="02070309020205020404" pitchFamily="49" charset="0"/>
              </a:rPr>
              <a:t>}</a:t>
            </a:r>
          </a:p>
          <a:p>
            <a:r>
              <a:rPr lang="en-US" altLang="zh-CN" sz="2400" dirty="0">
                <a:latin typeface="Courier New" panose="02070309020205020404" pitchFamily="49" charset="0"/>
                <a:cs typeface="Courier New" panose="02070309020205020404" pitchFamily="49" charset="0"/>
              </a:rPr>
              <a:t>B[101] = C[100] + D[100];</a:t>
            </a:r>
            <a:endParaRPr lang="zh-CN" alt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66603343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2066" name="Rectangle 1026"/>
          <p:cNvSpPr>
            <a:spLocks noGrp="1" noChangeArrowheads="1"/>
          </p:cNvSpPr>
          <p:nvPr>
            <p:ph type="title"/>
          </p:nvPr>
        </p:nvSpPr>
        <p:spPr>
          <a:xfrm>
            <a:off x="911424" y="381000"/>
            <a:ext cx="9223176" cy="914400"/>
          </a:xfrm>
        </p:spPr>
        <p:txBody>
          <a:bodyPr/>
          <a:lstStyle/>
          <a:p>
            <a:r>
              <a:rPr lang="en-US" altLang="en-US" dirty="0"/>
              <a:t>Hardware Support for Exposing </a:t>
            </a:r>
            <a:br>
              <a:rPr lang="en-US" altLang="en-US" dirty="0"/>
            </a:br>
            <a:r>
              <a:rPr lang="en-US" altLang="en-US" dirty="0"/>
              <a:t>More Parallelism at Compile-Time</a:t>
            </a:r>
          </a:p>
        </p:txBody>
      </p:sp>
      <p:sp>
        <p:nvSpPr>
          <p:cNvPr id="1112067" name="Rectangle 1027"/>
          <p:cNvSpPr>
            <a:spLocks noGrp="1" noChangeArrowheads="1"/>
          </p:cNvSpPr>
          <p:nvPr>
            <p:ph type="body" idx="1"/>
          </p:nvPr>
        </p:nvSpPr>
        <p:spPr>
          <a:xfrm>
            <a:off x="911424" y="1844824"/>
            <a:ext cx="9816008" cy="4114800"/>
          </a:xfrm>
        </p:spPr>
        <p:txBody>
          <a:bodyPr/>
          <a:lstStyle/>
          <a:p>
            <a:pPr>
              <a:tabLst>
                <a:tab pos="914400" algn="l"/>
                <a:tab pos="3606800" algn="l"/>
              </a:tabLst>
            </a:pPr>
            <a:r>
              <a:rPr lang="en-US" altLang="en-US" dirty="0"/>
              <a:t>Conditional or Predicated Instructions</a:t>
            </a:r>
          </a:p>
          <a:p>
            <a:pPr lvl="1">
              <a:tabLst>
                <a:tab pos="914400" algn="l"/>
                <a:tab pos="3606800" algn="l"/>
              </a:tabLst>
            </a:pPr>
            <a:r>
              <a:rPr lang="en-US" altLang="en-US" dirty="0"/>
              <a:t>Discussed before in context of branch prediction</a:t>
            </a:r>
          </a:p>
          <a:p>
            <a:pPr lvl="1">
              <a:tabLst>
                <a:tab pos="914400" algn="l"/>
                <a:tab pos="3606800" algn="l"/>
              </a:tabLst>
            </a:pPr>
            <a:r>
              <a:rPr lang="en-US" altLang="en-US" dirty="0"/>
              <a:t>Conditional instruction execution</a:t>
            </a:r>
          </a:p>
          <a:p>
            <a:pPr>
              <a:tabLst>
                <a:tab pos="914400" algn="l"/>
                <a:tab pos="3606800" algn="l"/>
              </a:tabLst>
            </a:pPr>
            <a:r>
              <a:rPr lang="en-US" altLang="en-US" dirty="0"/>
              <a:t>First instruction slot	Second instruction slot</a:t>
            </a:r>
          </a:p>
          <a:p>
            <a:pPr lvl="1">
              <a:buNone/>
              <a:tabLst>
                <a:tab pos="914400" algn="l"/>
                <a:tab pos="3606800" algn="l"/>
              </a:tabLst>
            </a:pPr>
            <a:r>
              <a:rPr lang="en-US" altLang="en-US" dirty="0">
                <a:latin typeface="Courier New" panose="02070309020205020404" pitchFamily="49" charset="0"/>
                <a:cs typeface="Courier New" panose="02070309020205020404" pitchFamily="49" charset="0"/>
              </a:rPr>
              <a:t>LW    R1,40(R2)	ADD R3,R4,R5</a:t>
            </a:r>
          </a:p>
          <a:p>
            <a:pPr lvl="1">
              <a:buNone/>
              <a:tabLst>
                <a:tab pos="914400" algn="l"/>
                <a:tab pos="3606800" algn="l"/>
              </a:tabLst>
            </a:pPr>
            <a:r>
              <a:rPr lang="en-US" altLang="en-US" dirty="0">
                <a:latin typeface="Courier New" panose="02070309020205020404" pitchFamily="49" charset="0"/>
                <a:cs typeface="Courier New" panose="02070309020205020404" pitchFamily="49" charset="0"/>
              </a:rPr>
              <a:t>			ADD R6,R3,R7</a:t>
            </a:r>
          </a:p>
          <a:p>
            <a:pPr lvl="1">
              <a:buNone/>
              <a:tabLst>
                <a:tab pos="914400" algn="l"/>
                <a:tab pos="3606800" algn="l"/>
              </a:tabLst>
            </a:pPr>
            <a:r>
              <a:rPr lang="en-US" altLang="en-US" dirty="0">
                <a:latin typeface="Courier New" panose="02070309020205020404" pitchFamily="49" charset="0"/>
                <a:cs typeface="Courier New" panose="02070309020205020404" pitchFamily="49" charset="0"/>
              </a:rPr>
              <a:t>BEQZ  R10,L	</a:t>
            </a:r>
          </a:p>
          <a:p>
            <a:pPr lvl="1">
              <a:buNone/>
              <a:tabLst>
                <a:tab pos="914400" algn="l"/>
                <a:tab pos="3606800" algn="l"/>
              </a:tabLst>
            </a:pPr>
            <a:r>
              <a:rPr lang="en-US" altLang="en-US" dirty="0">
                <a:latin typeface="Courier New" panose="02070309020205020404" pitchFamily="49" charset="0"/>
                <a:cs typeface="Courier New" panose="02070309020205020404" pitchFamily="49" charset="0"/>
              </a:rPr>
              <a:t>LW    R8,0(R10)	</a:t>
            </a:r>
          </a:p>
          <a:p>
            <a:pPr lvl="1">
              <a:buNone/>
              <a:tabLst>
                <a:tab pos="914400" algn="l"/>
                <a:tab pos="3606800" algn="l"/>
              </a:tabLst>
            </a:pPr>
            <a:r>
              <a:rPr lang="en-US" altLang="en-US" dirty="0">
                <a:latin typeface="Courier New" panose="02070309020205020404" pitchFamily="49" charset="0"/>
                <a:cs typeface="Courier New" panose="02070309020205020404" pitchFamily="49" charset="0"/>
              </a:rPr>
              <a:t>LW    R9,0(R8)</a:t>
            </a:r>
          </a:p>
          <a:p>
            <a:pPr>
              <a:tabLst>
                <a:tab pos="914400" algn="l"/>
                <a:tab pos="3606800" algn="l"/>
              </a:tabLst>
            </a:pPr>
            <a:r>
              <a:rPr lang="en-US" altLang="en-US" dirty="0"/>
              <a:t>Waste slot since 3rd </a:t>
            </a:r>
            <a:r>
              <a:rPr lang="en-US" altLang="en-US" dirty="0">
                <a:latin typeface="Courier New" panose="02070309020205020404" pitchFamily="49" charset="0"/>
                <a:cs typeface="Courier New" panose="02070309020205020404" pitchFamily="49" charset="0"/>
              </a:rPr>
              <a:t>LW</a:t>
            </a:r>
            <a:r>
              <a:rPr lang="en-US" altLang="en-US" dirty="0"/>
              <a:t> dependent on result of 2nd </a:t>
            </a:r>
            <a:r>
              <a:rPr lang="en-US" altLang="en-US" dirty="0">
                <a:latin typeface="Courier New" panose="02070309020205020404" pitchFamily="49" charset="0"/>
                <a:cs typeface="Courier New" panose="02070309020205020404" pitchFamily="49" charset="0"/>
              </a:rPr>
              <a:t>LW</a:t>
            </a:r>
            <a:r>
              <a:rPr lang="en-US" altLang="en-US" dirty="0"/>
              <a:t> 	</a:t>
            </a:r>
          </a:p>
        </p:txBody>
      </p:sp>
    </p:spTree>
    <p:extLst>
      <p:ext uri="{BB962C8B-B14F-4D97-AF65-F5344CB8AC3E}">
        <p14:creationId xmlns:p14="http://schemas.microsoft.com/office/powerpoint/2010/main" val="2552126886"/>
      </p:ext>
    </p:extLst>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4066" name="Rectangle 2"/>
          <p:cNvSpPr>
            <a:spLocks noGrp="1" noChangeArrowheads="1"/>
          </p:cNvSpPr>
          <p:nvPr>
            <p:ph type="body" idx="1"/>
          </p:nvPr>
        </p:nvSpPr>
        <p:spPr>
          <a:xfrm>
            <a:off x="623392" y="1628800"/>
            <a:ext cx="10513168" cy="48101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spcBef>
                <a:spcPct val="0"/>
              </a:spcBef>
            </a:pPr>
            <a:r>
              <a:rPr lang="en-US" altLang="en-US" dirty="0"/>
              <a:t>Avoid branch prediction by turning branches into conditionally executed instructions:</a:t>
            </a:r>
          </a:p>
          <a:p>
            <a:pPr>
              <a:spcBef>
                <a:spcPct val="0"/>
              </a:spcBef>
              <a:buFont typeface="Wingdings" panose="05000000000000000000" pitchFamily="2" charset="2"/>
              <a:buNone/>
            </a:pPr>
            <a:r>
              <a:rPr lang="en-US" altLang="en-US" dirty="0"/>
              <a:t> 	</a:t>
            </a:r>
            <a:r>
              <a:rPr lang="en-US" altLang="en-US" dirty="0">
                <a:solidFill>
                  <a:srgbClr val="FF0000"/>
                </a:solidFill>
              </a:rPr>
              <a:t>if (x) then A = B op C else NOP</a:t>
            </a:r>
          </a:p>
          <a:p>
            <a:pPr lvl="1">
              <a:spcBef>
                <a:spcPct val="0"/>
              </a:spcBef>
            </a:pPr>
            <a:r>
              <a:rPr lang="en-US" altLang="en-US" dirty="0"/>
              <a:t>If false, then neither store result nor cause exception</a:t>
            </a:r>
          </a:p>
          <a:p>
            <a:pPr lvl="1">
              <a:spcBef>
                <a:spcPct val="0"/>
              </a:spcBef>
            </a:pPr>
            <a:r>
              <a:rPr lang="en-US" altLang="en-US" dirty="0"/>
              <a:t>Expanded ISA of Alpha, MIPS, PowerPC, SPARC have conditional move; PA-RISC can annul any following instr.</a:t>
            </a:r>
          </a:p>
          <a:p>
            <a:pPr lvl="1">
              <a:spcBef>
                <a:spcPct val="0"/>
              </a:spcBef>
            </a:pPr>
            <a:r>
              <a:rPr lang="en-US" altLang="en-US" dirty="0"/>
              <a:t>IA-64: 64 1-bit condition fields selected </a:t>
            </a:r>
            <a:br>
              <a:rPr lang="en-US" altLang="en-US" dirty="0"/>
            </a:br>
            <a:r>
              <a:rPr lang="en-US" altLang="en-US" dirty="0"/>
              <a:t>so conditional execution of any instruction</a:t>
            </a:r>
          </a:p>
          <a:p>
            <a:pPr lvl="1">
              <a:spcBef>
                <a:spcPct val="0"/>
              </a:spcBef>
            </a:pPr>
            <a:r>
              <a:rPr lang="en-US" altLang="en-US" dirty="0"/>
              <a:t>This transformation is called </a:t>
            </a:r>
            <a:r>
              <a:rPr lang="en-US" altLang="en-US" dirty="0">
                <a:solidFill>
                  <a:schemeClr val="hlink"/>
                </a:solidFill>
              </a:rPr>
              <a:t>“</a:t>
            </a:r>
            <a:r>
              <a:rPr lang="en-US" altLang="en-US" dirty="0">
                <a:solidFill>
                  <a:srgbClr val="FF0000"/>
                </a:solidFill>
              </a:rPr>
              <a:t>if-conversion</a:t>
            </a:r>
            <a:r>
              <a:rPr lang="en-US" altLang="en-US" dirty="0">
                <a:solidFill>
                  <a:schemeClr val="hlink"/>
                </a:solidFill>
              </a:rPr>
              <a:t>”</a:t>
            </a:r>
            <a:endParaRPr lang="en-US" altLang="en-US" dirty="0"/>
          </a:p>
          <a:p>
            <a:pPr>
              <a:spcBef>
                <a:spcPct val="0"/>
              </a:spcBef>
            </a:pPr>
            <a:r>
              <a:rPr lang="en-US" altLang="en-US" dirty="0"/>
              <a:t>Drawbacks to conditional instructions</a:t>
            </a:r>
          </a:p>
          <a:p>
            <a:pPr lvl="1">
              <a:spcBef>
                <a:spcPct val="0"/>
              </a:spcBef>
            </a:pPr>
            <a:r>
              <a:rPr lang="en-US" altLang="en-US" dirty="0"/>
              <a:t>Still takes a clock even if “annulled”</a:t>
            </a:r>
          </a:p>
          <a:p>
            <a:pPr lvl="1">
              <a:spcBef>
                <a:spcPct val="0"/>
              </a:spcBef>
            </a:pPr>
            <a:r>
              <a:rPr lang="en-US" altLang="en-US" dirty="0"/>
              <a:t>Stall if condition evaluated late</a:t>
            </a:r>
          </a:p>
          <a:p>
            <a:pPr lvl="1">
              <a:spcBef>
                <a:spcPct val="0"/>
              </a:spcBef>
            </a:pPr>
            <a:r>
              <a:rPr lang="en-US" altLang="en-US" dirty="0"/>
              <a:t>Complex conditions reduce effectiveness; </a:t>
            </a:r>
            <a:br>
              <a:rPr lang="en-US" altLang="en-US" dirty="0"/>
            </a:br>
            <a:r>
              <a:rPr lang="en-US" altLang="en-US" dirty="0"/>
              <a:t>condition becomes known late in pipeline</a:t>
            </a:r>
          </a:p>
        </p:txBody>
      </p:sp>
      <p:grpSp>
        <p:nvGrpSpPr>
          <p:cNvPr id="984079" name="Group 15"/>
          <p:cNvGrpSpPr>
            <a:grpSpLocks/>
          </p:cNvGrpSpPr>
          <p:nvPr/>
        </p:nvGrpSpPr>
        <p:grpSpPr bwMode="auto">
          <a:xfrm>
            <a:off x="9533184" y="3789040"/>
            <a:ext cx="1603376" cy="2870200"/>
            <a:chOff x="4664" y="1028"/>
            <a:chExt cx="1010" cy="1808"/>
          </a:xfrm>
        </p:grpSpPr>
        <p:sp>
          <p:nvSpPr>
            <p:cNvPr id="984067" name="AutoShape 3"/>
            <p:cNvSpPr>
              <a:spLocks noChangeArrowheads="1"/>
            </p:cNvSpPr>
            <p:nvPr/>
          </p:nvSpPr>
          <p:spPr bwMode="auto">
            <a:xfrm>
              <a:off x="4664" y="1304"/>
              <a:ext cx="500" cy="284"/>
            </a:xfrm>
            <a:prstGeom prst="diamond">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4068" name="Rectangle 4"/>
            <p:cNvSpPr>
              <a:spLocks noChangeArrowheads="1"/>
            </p:cNvSpPr>
            <p:nvPr/>
          </p:nvSpPr>
          <p:spPr bwMode="auto">
            <a:xfrm>
              <a:off x="4904" y="1820"/>
              <a:ext cx="740" cy="536"/>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4069" name="Rectangle 5"/>
            <p:cNvSpPr>
              <a:spLocks noChangeArrowheads="1"/>
            </p:cNvSpPr>
            <p:nvPr/>
          </p:nvSpPr>
          <p:spPr bwMode="auto">
            <a:xfrm>
              <a:off x="4839" y="1311"/>
              <a:ext cx="223"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400" b="1"/>
                <a:t>x</a:t>
              </a:r>
            </a:p>
          </p:txBody>
        </p:sp>
        <p:sp>
          <p:nvSpPr>
            <p:cNvPr id="984070" name="Rectangle 6"/>
            <p:cNvSpPr>
              <a:spLocks noChangeArrowheads="1"/>
            </p:cNvSpPr>
            <p:nvPr/>
          </p:nvSpPr>
          <p:spPr bwMode="auto">
            <a:xfrm>
              <a:off x="4935" y="1905"/>
              <a:ext cx="739" cy="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90000"/>
                </a:lnSpc>
                <a:spcBef>
                  <a:spcPct val="30000"/>
                </a:spcBef>
              </a:pPr>
              <a:r>
                <a:rPr lang="en-US" altLang="en-US" sz="2400" b="1" dirty="0">
                  <a:solidFill>
                    <a:srgbClr val="FF0000"/>
                  </a:solidFill>
                </a:rPr>
                <a:t>A = </a:t>
              </a:r>
              <a:br>
                <a:rPr lang="en-US" altLang="en-US" sz="2400" b="1" dirty="0">
                  <a:solidFill>
                    <a:srgbClr val="FF0000"/>
                  </a:solidFill>
                </a:rPr>
              </a:br>
              <a:r>
                <a:rPr lang="en-US" altLang="en-US" sz="2400" b="1" dirty="0">
                  <a:solidFill>
                    <a:srgbClr val="FF0000"/>
                  </a:solidFill>
                </a:rPr>
                <a:t>B op C</a:t>
              </a:r>
            </a:p>
          </p:txBody>
        </p:sp>
        <p:sp>
          <p:nvSpPr>
            <p:cNvPr id="984071" name="Line 7"/>
            <p:cNvSpPr>
              <a:spLocks noChangeShapeType="1"/>
            </p:cNvSpPr>
            <p:nvPr/>
          </p:nvSpPr>
          <p:spPr bwMode="auto">
            <a:xfrm>
              <a:off x="5180" y="1452"/>
              <a:ext cx="17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4072" name="Line 8"/>
            <p:cNvSpPr>
              <a:spLocks noChangeShapeType="1"/>
            </p:cNvSpPr>
            <p:nvPr/>
          </p:nvSpPr>
          <p:spPr bwMode="auto">
            <a:xfrm>
              <a:off x="5364" y="1460"/>
              <a:ext cx="0" cy="35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4073" name="Line 9"/>
            <p:cNvSpPr>
              <a:spLocks noChangeShapeType="1"/>
            </p:cNvSpPr>
            <p:nvPr/>
          </p:nvSpPr>
          <p:spPr bwMode="auto">
            <a:xfrm>
              <a:off x="4704" y="1472"/>
              <a:ext cx="12" cy="105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4074" name="Line 10"/>
            <p:cNvSpPr>
              <a:spLocks noChangeShapeType="1"/>
            </p:cNvSpPr>
            <p:nvPr/>
          </p:nvSpPr>
          <p:spPr bwMode="auto">
            <a:xfrm>
              <a:off x="4944" y="1028"/>
              <a:ext cx="0" cy="296"/>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4075" name="Line 11"/>
            <p:cNvSpPr>
              <a:spLocks noChangeShapeType="1"/>
            </p:cNvSpPr>
            <p:nvPr/>
          </p:nvSpPr>
          <p:spPr bwMode="auto">
            <a:xfrm>
              <a:off x="5340" y="2384"/>
              <a:ext cx="0" cy="12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4076" name="Line 12"/>
            <p:cNvSpPr>
              <a:spLocks noChangeShapeType="1"/>
            </p:cNvSpPr>
            <p:nvPr/>
          </p:nvSpPr>
          <p:spPr bwMode="auto">
            <a:xfrm flipH="1">
              <a:off x="4714" y="2526"/>
              <a:ext cx="64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4077" name="Line 13"/>
            <p:cNvSpPr>
              <a:spLocks noChangeShapeType="1"/>
            </p:cNvSpPr>
            <p:nvPr/>
          </p:nvSpPr>
          <p:spPr bwMode="auto">
            <a:xfrm>
              <a:off x="4944" y="2540"/>
              <a:ext cx="0" cy="296"/>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84078" name="Rectangle 14"/>
          <p:cNvSpPr>
            <a:spLocks noGrp="1" noChangeArrowheads="1"/>
          </p:cNvSpPr>
          <p:nvPr>
            <p:ph type="title"/>
          </p:nvPr>
        </p:nvSpPr>
        <p:spPr>
          <a:xfrm>
            <a:off x="2667000" y="228600"/>
            <a:ext cx="7162800" cy="914400"/>
          </a:xfrm>
        </p:spPr>
        <p:txBody>
          <a:bodyPr/>
          <a:lstStyle/>
          <a:p>
            <a:r>
              <a:rPr lang="en-US" altLang="en-US"/>
              <a:t>Predicated Execution</a:t>
            </a:r>
          </a:p>
        </p:txBody>
      </p:sp>
    </p:spTree>
    <p:extLst>
      <p:ext uri="{BB962C8B-B14F-4D97-AF65-F5344CB8AC3E}">
        <p14:creationId xmlns:p14="http://schemas.microsoft.com/office/powerpoint/2010/main" val="118564889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8406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8406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98406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98406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98406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984066">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84066">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984066">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984066">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499"/>
                                          </p:stCondLst>
                                        </p:cTn>
                                        <p:tgtEl>
                                          <p:spTgt spid="98406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4066" grpId="0" build="p"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3090" name="Rectangle 1026"/>
          <p:cNvSpPr>
            <a:spLocks noGrp="1" noChangeArrowheads="1"/>
          </p:cNvSpPr>
          <p:nvPr>
            <p:ph type="title"/>
          </p:nvPr>
        </p:nvSpPr>
        <p:spPr/>
        <p:txBody>
          <a:bodyPr/>
          <a:lstStyle/>
          <a:p>
            <a:r>
              <a:rPr lang="en-US" altLang="en-US" smtClean="0"/>
              <a:t>Hardware Support for Exposing </a:t>
            </a:r>
            <a:br>
              <a:rPr lang="en-US" altLang="en-US" smtClean="0"/>
            </a:br>
            <a:r>
              <a:rPr lang="en-US" altLang="en-US" smtClean="0"/>
              <a:t>More Parallelism at Compile-Time</a:t>
            </a:r>
            <a:endParaRPr lang="en-US" altLang="en-US"/>
          </a:p>
        </p:txBody>
      </p:sp>
      <p:sp>
        <p:nvSpPr>
          <p:cNvPr id="1113091" name="Rectangle 1027"/>
          <p:cNvSpPr>
            <a:spLocks noGrp="1" noChangeArrowheads="1"/>
          </p:cNvSpPr>
          <p:nvPr>
            <p:ph type="body" idx="1"/>
          </p:nvPr>
        </p:nvSpPr>
        <p:spPr/>
        <p:txBody>
          <a:bodyPr/>
          <a:lstStyle/>
          <a:p>
            <a:r>
              <a:rPr lang="en-US" altLang="en-US" dirty="0" smtClean="0"/>
              <a:t>Use predicated version load word (LWC)? </a:t>
            </a:r>
          </a:p>
          <a:p>
            <a:pPr lvl="1"/>
            <a:r>
              <a:rPr lang="en-US" altLang="en-US" dirty="0" smtClean="0"/>
              <a:t>load occurs unless the third operand is 0	</a:t>
            </a:r>
          </a:p>
          <a:p>
            <a:r>
              <a:rPr lang="en-US" altLang="en-US" dirty="0" smtClean="0"/>
              <a:t>First instruction slot		Second instruction slot</a:t>
            </a:r>
          </a:p>
          <a:p>
            <a:pPr marL="457200" lvl="1" indent="0">
              <a:buNone/>
            </a:pPr>
            <a:r>
              <a:rPr lang="en-US" altLang="en-US" dirty="0" smtClean="0">
                <a:latin typeface="Courier New" panose="02070309020205020404" pitchFamily="49" charset="0"/>
                <a:cs typeface="Courier New" panose="02070309020205020404" pitchFamily="49" charset="0"/>
              </a:rPr>
              <a:t>LW    R1,40(R2)		ADD R3,R4,R5</a:t>
            </a:r>
          </a:p>
          <a:p>
            <a:pPr marL="457200" lvl="1" indent="0">
              <a:buNone/>
            </a:pPr>
            <a:r>
              <a:rPr lang="en-US" altLang="en-US" dirty="0" smtClean="0">
                <a:latin typeface="Courier New" panose="02070309020205020404" pitchFamily="49" charset="0"/>
                <a:cs typeface="Courier New" panose="02070309020205020404" pitchFamily="49" charset="0"/>
              </a:rPr>
              <a:t>LWC   R8,20(R10),R10	ADD R6,R3,R7</a:t>
            </a:r>
          </a:p>
          <a:p>
            <a:pPr marL="457200" lvl="1" indent="0">
              <a:buNone/>
            </a:pPr>
            <a:r>
              <a:rPr lang="en-US" altLang="en-US" dirty="0" smtClean="0">
                <a:latin typeface="Courier New" panose="02070309020205020404" pitchFamily="49" charset="0"/>
                <a:cs typeface="Courier New" panose="02070309020205020404" pitchFamily="49" charset="0"/>
              </a:rPr>
              <a:t>BEQZ  R10,L	</a:t>
            </a:r>
          </a:p>
          <a:p>
            <a:pPr marL="457200" lvl="1" indent="0">
              <a:buNone/>
            </a:pPr>
            <a:r>
              <a:rPr lang="en-US" altLang="en-US" dirty="0" smtClean="0">
                <a:latin typeface="Courier New" panose="02070309020205020404" pitchFamily="49" charset="0"/>
                <a:cs typeface="Courier New" panose="02070309020205020404" pitchFamily="49" charset="0"/>
              </a:rPr>
              <a:t>LW    R9,0(R8)</a:t>
            </a:r>
          </a:p>
          <a:p>
            <a:r>
              <a:rPr lang="en-US" altLang="en-US" dirty="0" smtClean="0"/>
              <a:t>If the sequence following the branch were short, the entire block of code might be converted to predicated execution, and the branch eliminated</a:t>
            </a:r>
          </a:p>
          <a:p>
            <a:endParaRPr lang="en-US" altLang="en-US" dirty="0"/>
          </a:p>
        </p:txBody>
      </p:sp>
    </p:spTree>
    <p:extLst>
      <p:ext uri="{BB962C8B-B14F-4D97-AF65-F5344CB8AC3E}">
        <p14:creationId xmlns:p14="http://schemas.microsoft.com/office/powerpoint/2010/main" val="1483403600"/>
      </p:ext>
    </p:extLst>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4114" name="Rectangle 1026"/>
          <p:cNvSpPr>
            <a:spLocks noGrp="1" noChangeArrowheads="1"/>
          </p:cNvSpPr>
          <p:nvPr>
            <p:ph type="title"/>
          </p:nvPr>
        </p:nvSpPr>
        <p:spPr/>
        <p:txBody>
          <a:bodyPr/>
          <a:lstStyle/>
          <a:p>
            <a:r>
              <a:rPr lang="en-US" altLang="en-US"/>
              <a:t>Exception Behavior Support</a:t>
            </a:r>
          </a:p>
        </p:txBody>
      </p:sp>
      <p:sp>
        <p:nvSpPr>
          <p:cNvPr id="1114115" name="Rectangle 1027"/>
          <p:cNvSpPr>
            <a:spLocks noGrp="1" noChangeArrowheads="1"/>
          </p:cNvSpPr>
          <p:nvPr>
            <p:ph type="body" idx="1"/>
          </p:nvPr>
        </p:nvSpPr>
        <p:spPr/>
        <p:txBody>
          <a:bodyPr/>
          <a:lstStyle/>
          <a:p>
            <a:r>
              <a:rPr lang="en-US" altLang="en-US"/>
              <a:t>Several mechanisms to ensure that speculation by compiler does not violate exception behavior</a:t>
            </a:r>
          </a:p>
          <a:p>
            <a:pPr lvl="1"/>
            <a:r>
              <a:rPr lang="en-US" altLang="en-US"/>
              <a:t>For example, cannot raise exceptions in predicated code if annulled</a:t>
            </a:r>
          </a:p>
          <a:p>
            <a:pPr lvl="1"/>
            <a:r>
              <a:rPr lang="en-US" altLang="en-US"/>
              <a:t>Prefetch does not cause exceptions</a:t>
            </a:r>
          </a:p>
        </p:txBody>
      </p:sp>
    </p:spTree>
    <p:extLst>
      <p:ext uri="{BB962C8B-B14F-4D97-AF65-F5344CB8AC3E}">
        <p14:creationId xmlns:p14="http://schemas.microsoft.com/office/powerpoint/2010/main" val="3217019588"/>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5138" name="Rectangle 1026"/>
          <p:cNvSpPr>
            <a:spLocks noGrp="1" noChangeArrowheads="1"/>
          </p:cNvSpPr>
          <p:nvPr>
            <p:ph type="title"/>
          </p:nvPr>
        </p:nvSpPr>
        <p:spPr/>
        <p:txBody>
          <a:bodyPr/>
          <a:lstStyle/>
          <a:p>
            <a:r>
              <a:rPr lang="en-US" altLang="en-US" smtClean="0"/>
              <a:t>Hardware Support for Memory Reference Speculation</a:t>
            </a:r>
            <a:endParaRPr lang="en-US" altLang="en-US"/>
          </a:p>
        </p:txBody>
      </p:sp>
      <p:sp>
        <p:nvSpPr>
          <p:cNvPr id="1115139" name="Rectangle 1027"/>
          <p:cNvSpPr>
            <a:spLocks noGrp="1" noChangeArrowheads="1"/>
          </p:cNvSpPr>
          <p:nvPr>
            <p:ph type="body" idx="1"/>
          </p:nvPr>
        </p:nvSpPr>
        <p:spPr/>
        <p:txBody>
          <a:bodyPr/>
          <a:lstStyle/>
          <a:p>
            <a:r>
              <a:rPr lang="en-US" altLang="en-US" smtClean="0"/>
              <a:t>To compiler to move loads across stores, when it cannot be absolutely certain that such a movement is correct, a special instruction to check for address conflicts can be included in the architecture</a:t>
            </a:r>
          </a:p>
          <a:p>
            <a:pPr lvl="1"/>
            <a:r>
              <a:rPr lang="en-US" altLang="en-US" smtClean="0"/>
              <a:t>The special instruction is left at the original location of the load and the load is moved up across stores</a:t>
            </a:r>
          </a:p>
          <a:p>
            <a:pPr lvl="1"/>
            <a:r>
              <a:rPr lang="en-US" altLang="en-US" smtClean="0"/>
              <a:t>When a speculated load is executed, the hardware saves the address of the accessed memory location </a:t>
            </a:r>
          </a:p>
          <a:p>
            <a:pPr lvl="1"/>
            <a:r>
              <a:rPr lang="en-US" altLang="en-US" smtClean="0"/>
              <a:t>If a subsequent store changes the location before the check instruction, then the speculation has failed</a:t>
            </a:r>
          </a:p>
          <a:p>
            <a:pPr lvl="1"/>
            <a:r>
              <a:rPr lang="en-US" altLang="en-US" smtClean="0"/>
              <a:t>If only load instruction was speculated, then it suffices to redo the load at the point of the check instruction</a:t>
            </a:r>
            <a:endParaRPr lang="en-US" altLang="en-US"/>
          </a:p>
        </p:txBody>
      </p:sp>
    </p:spTree>
    <p:extLst>
      <p:ext uri="{BB962C8B-B14F-4D97-AF65-F5344CB8AC3E}">
        <p14:creationId xmlns:p14="http://schemas.microsoft.com/office/powerpoint/2010/main" val="3721921070"/>
      </p:ext>
    </p:extLst>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Rectangle 2"/>
          <p:cNvSpPr>
            <a:spLocks noGrp="1" noChangeArrowheads="1"/>
          </p:cNvSpPr>
          <p:nvPr>
            <p:ph type="title"/>
          </p:nvPr>
        </p:nvSpPr>
        <p:spPr/>
        <p:txBody>
          <a:bodyPr/>
          <a:lstStyle/>
          <a:p>
            <a:r>
              <a:rPr lang="en-US" altLang="en-US"/>
              <a:t>Branch Prediction Schemes</a:t>
            </a:r>
          </a:p>
        </p:txBody>
      </p:sp>
      <p:sp>
        <p:nvSpPr>
          <p:cNvPr id="684035" name="Rectangle 3"/>
          <p:cNvSpPr>
            <a:spLocks noGrp="1" noChangeArrowheads="1"/>
          </p:cNvSpPr>
          <p:nvPr>
            <p:ph type="body" idx="1"/>
          </p:nvPr>
        </p:nvSpPr>
        <p:spPr/>
        <p:txBody>
          <a:bodyPr/>
          <a:lstStyle/>
          <a:p>
            <a:pPr marL="457200" indent="-457200">
              <a:buNone/>
            </a:pPr>
            <a:r>
              <a:rPr lang="en-US" altLang="en-US" dirty="0"/>
              <a:t>0.  Static Branch Prediction (profile-based predictor)</a:t>
            </a:r>
          </a:p>
          <a:p>
            <a:pPr marL="457200" indent="-457200"/>
            <a:r>
              <a:rPr lang="en-US" altLang="en-US" dirty="0"/>
              <a:t>1-bit </a:t>
            </a:r>
            <a:r>
              <a:rPr lang="en-US" altLang="en-US" dirty="0" smtClean="0"/>
              <a:t>Branch history table (Branch-Prediction Buffer)</a:t>
            </a:r>
            <a:endParaRPr lang="en-US" altLang="en-US" dirty="0"/>
          </a:p>
          <a:p>
            <a:pPr marL="457200" indent="-457200"/>
            <a:r>
              <a:rPr lang="en-US" altLang="en-US" dirty="0" smtClean="0"/>
              <a:t>2-bit Branch history table (Branch-Prediction Buffer)</a:t>
            </a:r>
            <a:endParaRPr lang="en-US" altLang="en-US" dirty="0"/>
          </a:p>
          <a:p>
            <a:pPr marL="457200" indent="-457200"/>
            <a:r>
              <a:rPr lang="en-US" altLang="en-US" dirty="0"/>
              <a:t>Correlating Branch Prediction Buffer</a:t>
            </a:r>
          </a:p>
          <a:p>
            <a:pPr marL="457200" indent="-457200"/>
            <a:r>
              <a:rPr lang="en-US" altLang="en-US" dirty="0"/>
              <a:t>Tournament Branch Predictor</a:t>
            </a:r>
          </a:p>
          <a:p>
            <a:pPr marL="457200" indent="-457200"/>
            <a:r>
              <a:rPr lang="en-US" altLang="en-US" dirty="0"/>
              <a:t>Branch Target Buffer</a:t>
            </a:r>
          </a:p>
          <a:p>
            <a:pPr marL="457200" indent="-457200"/>
            <a:r>
              <a:rPr lang="en-US" altLang="en-US" dirty="0"/>
              <a:t>Integrated Instruction Fetch Units</a:t>
            </a:r>
          </a:p>
          <a:p>
            <a:pPr marL="457200" indent="-457200"/>
            <a:r>
              <a:rPr lang="en-US" altLang="en-US" dirty="0"/>
              <a:t>Return Address Predictors</a:t>
            </a:r>
          </a:p>
        </p:txBody>
      </p:sp>
    </p:spTree>
    <p:extLst>
      <p:ext uri="{BB962C8B-B14F-4D97-AF65-F5344CB8AC3E}">
        <p14:creationId xmlns:p14="http://schemas.microsoft.com/office/powerpoint/2010/main" val="1593298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684035">
                                            <p:txEl>
                                              <p:pRg st="0" end="0"/>
                                            </p:txEl>
                                          </p:spTgt>
                                        </p:tgtEl>
                                        <p:attrNameLst>
                                          <p:attrName>style.textDecorationUnderline</p:attrName>
                                        </p:attrNameLst>
                                      </p:cBhvr>
                                      <p:to>
                                        <p:strVal val="true"/>
                                      </p:to>
                                    </p:set>
                                  </p:childTnLst>
                                </p:cTn>
                              </p:par>
                              <p:par>
                                <p:cTn id="7" presetID="18" presetClass="emph" presetSubtype="0" fill="hold" nodeType="withEffect">
                                  <p:stCondLst>
                                    <p:cond delay="0"/>
                                  </p:stCondLst>
                                  <p:iterate type="lt">
                                    <p:tmPct val="4000"/>
                                  </p:iterate>
                                  <p:childTnLst>
                                    <p:set>
                                      <p:cBhvr override="childStyle">
                                        <p:cTn id="8" dur="500" fill="hold"/>
                                        <p:tgtEl>
                                          <p:spTgt spid="684035">
                                            <p:txEl>
                                              <p:pRg st="1" end="1"/>
                                            </p:txEl>
                                          </p:spTgt>
                                        </p:tgtEl>
                                        <p:attrNameLst>
                                          <p:attrName>style.textDecorationUnderline</p:attrName>
                                        </p:attrNameLst>
                                      </p:cBhvr>
                                      <p:to>
                                        <p:strVal val="true"/>
                                      </p:to>
                                    </p:set>
                                  </p:childTnLst>
                                </p:cTn>
                              </p:par>
                              <p:par>
                                <p:cTn id="9" presetID="18" presetClass="emph" presetSubtype="0" fill="hold" nodeType="withEffect">
                                  <p:stCondLst>
                                    <p:cond delay="0"/>
                                  </p:stCondLst>
                                  <p:iterate type="lt">
                                    <p:tmPct val="4000"/>
                                  </p:iterate>
                                  <p:childTnLst>
                                    <p:set>
                                      <p:cBhvr override="childStyle">
                                        <p:cTn id="10" dur="500" fill="hold"/>
                                        <p:tgtEl>
                                          <p:spTgt spid="684035">
                                            <p:txEl>
                                              <p:pRg st="2" end="2"/>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dirty="0" err="1"/>
              <a:t>Misprediction</a:t>
            </a:r>
            <a:r>
              <a:rPr lang="en-US" altLang="en-US" dirty="0"/>
              <a:t> rate on SPEC92 for a profile-based predictor</a:t>
            </a:r>
            <a:endParaRPr lang="zh-CN" altLang="en-US" dirty="0"/>
          </a:p>
        </p:txBody>
      </p:sp>
      <p:sp>
        <p:nvSpPr>
          <p:cNvPr id="3" name="内容占位符 2"/>
          <p:cNvSpPr>
            <a:spLocks noGrp="1"/>
          </p:cNvSpPr>
          <p:nvPr>
            <p:ph idx="1"/>
          </p:nvPr>
        </p:nvSpPr>
        <p:spPr>
          <a:xfrm>
            <a:off x="838200" y="1556792"/>
            <a:ext cx="5689848" cy="5112568"/>
          </a:xfrm>
        </p:spPr>
        <p:txBody>
          <a:bodyPr/>
          <a:lstStyle/>
          <a:p>
            <a:r>
              <a:rPr lang="en-US" altLang="zh-CN" dirty="0" smtClean="0"/>
              <a:t>F</a:t>
            </a:r>
            <a:r>
              <a:rPr lang="en-US" altLang="en-US" dirty="0" smtClean="0"/>
              <a:t>loating-point programs </a:t>
            </a:r>
            <a:r>
              <a:rPr lang="en-US" altLang="en-US" dirty="0"/>
              <a:t>have an average </a:t>
            </a:r>
            <a:r>
              <a:rPr lang="en-US" altLang="en-US" dirty="0" err="1"/>
              <a:t>misprediction</a:t>
            </a:r>
            <a:r>
              <a:rPr lang="en-US" altLang="en-US" dirty="0"/>
              <a:t> rate of 9% with a standard deviation of 4</a:t>
            </a:r>
            <a:r>
              <a:rPr lang="en-US" altLang="en-US" dirty="0" smtClean="0"/>
              <a:t>%</a:t>
            </a:r>
          </a:p>
          <a:p>
            <a:r>
              <a:rPr lang="en-US" altLang="zh-CN" dirty="0" smtClean="0"/>
              <a:t>I</a:t>
            </a:r>
            <a:r>
              <a:rPr lang="en-US" altLang="en-US" dirty="0" smtClean="0"/>
              <a:t>nteger programs have </a:t>
            </a:r>
            <a:r>
              <a:rPr lang="en-US" altLang="en-US" dirty="0"/>
              <a:t>an average </a:t>
            </a:r>
            <a:r>
              <a:rPr lang="en-US" altLang="en-US" dirty="0" err="1"/>
              <a:t>misprediction</a:t>
            </a:r>
            <a:r>
              <a:rPr lang="en-US" altLang="en-US" dirty="0"/>
              <a:t> rate of 15% with a standard deviation of </a:t>
            </a:r>
            <a:r>
              <a:rPr lang="en-US" altLang="en-US" dirty="0" smtClean="0"/>
              <a:t>5%</a:t>
            </a:r>
          </a:p>
          <a:p>
            <a:r>
              <a:rPr lang="en-US" altLang="en-US" dirty="0" smtClean="0"/>
              <a:t>The </a:t>
            </a:r>
            <a:r>
              <a:rPr lang="en-US" altLang="en-US" dirty="0"/>
              <a:t>actual performance depends on both the prediction accuracy and the branch frequency, which vary from 3% to 24%.</a:t>
            </a:r>
            <a:endParaRPr lang="zh-CN" altLang="en-US" dirty="0"/>
          </a:p>
        </p:txBody>
      </p:sp>
      <p:pic>
        <p:nvPicPr>
          <p:cNvPr id="4" name="图片 3"/>
          <p:cNvPicPr>
            <a:picLocks noChangeAspect="1"/>
          </p:cNvPicPr>
          <p:nvPr/>
        </p:nvPicPr>
        <p:blipFill>
          <a:blip r:embed="rId2"/>
          <a:stretch>
            <a:fillRect/>
          </a:stretch>
        </p:blipFill>
        <p:spPr>
          <a:xfrm>
            <a:off x="6775601" y="1916832"/>
            <a:ext cx="5225055" cy="4752528"/>
          </a:xfrm>
          <a:prstGeom prst="rect">
            <a:avLst/>
          </a:prstGeom>
        </p:spPr>
      </p:pic>
    </p:spTree>
    <p:extLst>
      <p:ext uri="{BB962C8B-B14F-4D97-AF65-F5344CB8AC3E}">
        <p14:creationId xmlns:p14="http://schemas.microsoft.com/office/powerpoint/2010/main" val="1721463773"/>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p:txBody>
          <a:bodyPr/>
          <a:lstStyle/>
          <a:p>
            <a:r>
              <a:rPr lang="en-US" altLang="en-US" smtClean="0"/>
              <a:t>Dynamic Branch Prediction</a:t>
            </a:r>
            <a:endParaRPr lang="en-US" altLang="en-US"/>
          </a:p>
        </p:txBody>
      </p:sp>
      <p:sp>
        <p:nvSpPr>
          <p:cNvPr id="685059" name="Rectangle 3"/>
          <p:cNvSpPr>
            <a:spLocks noGrp="1" noChangeArrowheads="1"/>
          </p:cNvSpPr>
          <p:nvPr>
            <p:ph type="body" idx="1"/>
          </p:nvPr>
        </p:nvSpPr>
        <p:spPr/>
        <p:txBody>
          <a:bodyPr/>
          <a:lstStyle/>
          <a:p>
            <a:r>
              <a:rPr lang="en-US" altLang="en-US" dirty="0" smtClean="0"/>
              <a:t>Performance = ƒ(accuracy, cost of </a:t>
            </a:r>
            <a:r>
              <a:rPr lang="en-US" altLang="en-US" dirty="0" err="1" smtClean="0"/>
              <a:t>misprediction</a:t>
            </a:r>
            <a:r>
              <a:rPr lang="en-US" altLang="en-US" dirty="0" smtClean="0"/>
              <a:t>)</a:t>
            </a:r>
          </a:p>
          <a:p>
            <a:r>
              <a:rPr lang="en-US" altLang="en-US" dirty="0" smtClean="0"/>
              <a:t>Branch History Table: Lower bits of PC address index a table of 1-bit values</a:t>
            </a:r>
          </a:p>
          <a:p>
            <a:pPr lvl="1"/>
            <a:r>
              <a:rPr lang="en-US" altLang="en-US" dirty="0" smtClean="0"/>
              <a:t>Says whether or not branch taken last time; No address check</a:t>
            </a:r>
          </a:p>
          <a:p>
            <a:pPr lvl="2"/>
            <a:r>
              <a:rPr lang="en-US" altLang="en-US" dirty="0" smtClean="0"/>
              <a:t>Saves HW, but may not be right branch</a:t>
            </a:r>
          </a:p>
          <a:p>
            <a:pPr lvl="1"/>
            <a:r>
              <a:rPr lang="en-US" altLang="en-US" dirty="0" smtClean="0"/>
              <a:t>If instruction == BR, update table with outcome</a:t>
            </a:r>
          </a:p>
          <a:p>
            <a:r>
              <a:rPr lang="en-US" altLang="en-US" dirty="0" smtClean="0"/>
              <a:t>Problem: in a loop, 1-bit BHT will cause 2 </a:t>
            </a:r>
            <a:r>
              <a:rPr lang="en-US" altLang="en-US" dirty="0" err="1" smtClean="0"/>
              <a:t>mispredictions</a:t>
            </a:r>
            <a:r>
              <a:rPr lang="en-US" altLang="en-US" dirty="0" smtClean="0"/>
              <a:t> </a:t>
            </a:r>
          </a:p>
          <a:p>
            <a:pPr lvl="1"/>
            <a:r>
              <a:rPr lang="en-US" altLang="en-US" dirty="0" smtClean="0"/>
              <a:t>End of loop case, when it exits instead of  looping as before</a:t>
            </a:r>
          </a:p>
          <a:p>
            <a:pPr lvl="1"/>
            <a:r>
              <a:rPr lang="en-US" altLang="en-US" dirty="0" smtClean="0"/>
              <a:t>First time through loop on next time through code, when it predicts exit instead of looping</a:t>
            </a:r>
          </a:p>
          <a:p>
            <a:pPr lvl="1"/>
            <a:r>
              <a:rPr lang="en-US" altLang="en-US" dirty="0" smtClean="0"/>
              <a:t>Average is 9 iterations before exit</a:t>
            </a:r>
          </a:p>
          <a:p>
            <a:pPr lvl="1"/>
            <a:r>
              <a:rPr lang="en-US" altLang="en-US" dirty="0" smtClean="0"/>
              <a:t>Only 80% accuracy even if loop 90% of the time</a:t>
            </a:r>
          </a:p>
        </p:txBody>
      </p:sp>
      <p:sp>
        <p:nvSpPr>
          <p:cNvPr id="14" name="Rectangle 4"/>
          <p:cNvSpPr>
            <a:spLocks noChangeArrowheads="1"/>
          </p:cNvSpPr>
          <p:nvPr/>
        </p:nvSpPr>
        <p:spPr bwMode="auto">
          <a:xfrm>
            <a:off x="9423524" y="5756674"/>
            <a:ext cx="465137" cy="336550"/>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altLang="zh-CN" sz="1600" b="1" i="0" u="none" strike="noStrike" kern="0" cap="none" spc="0" normalizeH="0" baseline="0" noProof="0" dirty="0" smtClean="0">
                <a:ln>
                  <a:noFill/>
                </a:ln>
                <a:solidFill>
                  <a:srgbClr val="FC0128"/>
                </a:solidFill>
                <a:effectLst/>
                <a:uLnTx/>
                <a:uFillTx/>
              </a:rPr>
              <a:t>PC</a:t>
            </a:r>
          </a:p>
        </p:txBody>
      </p:sp>
      <p:sp>
        <p:nvSpPr>
          <p:cNvPr id="15" name="Rectangle 6"/>
          <p:cNvSpPr>
            <a:spLocks noChangeArrowheads="1"/>
          </p:cNvSpPr>
          <p:nvPr/>
        </p:nvSpPr>
        <p:spPr bwMode="auto">
          <a:xfrm>
            <a:off x="8923213" y="5389169"/>
            <a:ext cx="1735138" cy="357188"/>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600" b="1" i="0" u="none" strike="noStrike" kern="0" cap="none" spc="0" normalizeH="0" baseline="0" noProof="0" smtClean="0">
              <a:ln>
                <a:noFill/>
              </a:ln>
              <a:solidFill>
                <a:srgbClr val="FC0128"/>
              </a:solidFill>
              <a:effectLst/>
              <a:uLnTx/>
              <a:uFillTx/>
              <a:ea typeface="+mn-ea"/>
            </a:endParaRPr>
          </a:p>
        </p:txBody>
      </p:sp>
      <p:sp>
        <p:nvSpPr>
          <p:cNvPr id="16" name="Line 7"/>
          <p:cNvSpPr>
            <a:spLocks noChangeShapeType="1"/>
          </p:cNvSpPr>
          <p:nvPr/>
        </p:nvSpPr>
        <p:spPr bwMode="auto">
          <a:xfrm flipH="1">
            <a:off x="9918824" y="5408219"/>
            <a:ext cx="2927" cy="33655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600" b="1" i="0" u="none" strike="noStrike" kern="0" cap="none" spc="0" normalizeH="0" baseline="0" noProof="0" smtClean="0">
              <a:ln>
                <a:noFill/>
              </a:ln>
              <a:solidFill>
                <a:srgbClr val="FC0128"/>
              </a:solidFill>
              <a:effectLst/>
              <a:uLnTx/>
              <a:uFillTx/>
              <a:ea typeface="+mn-ea"/>
            </a:endParaRPr>
          </a:p>
        </p:txBody>
      </p:sp>
      <p:sp>
        <p:nvSpPr>
          <p:cNvPr id="17" name="Rectangle 8"/>
          <p:cNvSpPr>
            <a:spLocks noChangeArrowheads="1"/>
          </p:cNvSpPr>
          <p:nvPr/>
        </p:nvSpPr>
        <p:spPr bwMode="auto">
          <a:xfrm>
            <a:off x="11572751" y="4831957"/>
            <a:ext cx="217487" cy="18669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600" b="1" i="0" u="none" strike="noStrike" kern="0" cap="none" spc="0" normalizeH="0" baseline="0" noProof="0" smtClean="0">
              <a:ln>
                <a:noFill/>
              </a:ln>
              <a:solidFill>
                <a:srgbClr val="FC0128"/>
              </a:solidFill>
              <a:effectLst/>
              <a:uLnTx/>
              <a:uFillTx/>
              <a:ea typeface="+mn-ea"/>
            </a:endParaRPr>
          </a:p>
        </p:txBody>
      </p:sp>
      <p:sp>
        <p:nvSpPr>
          <p:cNvPr id="18" name="Freeform 9"/>
          <p:cNvSpPr>
            <a:spLocks/>
          </p:cNvSpPr>
          <p:nvPr/>
        </p:nvSpPr>
        <p:spPr bwMode="auto">
          <a:xfrm>
            <a:off x="10272464" y="5744769"/>
            <a:ext cx="1270124" cy="280988"/>
          </a:xfrm>
          <a:custGeom>
            <a:avLst/>
            <a:gdLst>
              <a:gd name="T0" fmla="*/ 20 w 664"/>
              <a:gd name="T1" fmla="*/ 0 h 176"/>
              <a:gd name="T2" fmla="*/ 0 w 664"/>
              <a:gd name="T3" fmla="*/ 176 h 176"/>
              <a:gd name="T4" fmla="*/ 664 w 664"/>
              <a:gd name="T5" fmla="*/ 176 h 176"/>
            </a:gdLst>
            <a:ahLst/>
            <a:cxnLst>
              <a:cxn ang="0">
                <a:pos x="T0" y="T1"/>
              </a:cxn>
              <a:cxn ang="0">
                <a:pos x="T2" y="T3"/>
              </a:cxn>
              <a:cxn ang="0">
                <a:pos x="T4" y="T5"/>
              </a:cxn>
            </a:cxnLst>
            <a:rect l="0" t="0" r="r" b="b"/>
            <a:pathLst>
              <a:path w="664" h="176">
                <a:moveTo>
                  <a:pt x="20" y="0"/>
                </a:moveTo>
                <a:lnTo>
                  <a:pt x="0" y="176"/>
                </a:lnTo>
                <a:lnTo>
                  <a:pt x="664" y="176"/>
                </a:lnTo>
              </a:path>
            </a:pathLst>
          </a:custGeom>
          <a:noFill/>
          <a:ln w="12700" cap="flat"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600" b="1" i="0" u="none" strike="noStrike" kern="0" cap="none" spc="0" normalizeH="0" baseline="0" noProof="0" smtClean="0">
              <a:ln>
                <a:noFill/>
              </a:ln>
              <a:solidFill>
                <a:srgbClr val="FC0128"/>
              </a:solidFill>
              <a:effectLst/>
              <a:uLnTx/>
              <a:uFillTx/>
              <a:ea typeface="+mn-ea"/>
            </a:endParaRPr>
          </a:p>
        </p:txBody>
      </p:sp>
      <p:sp>
        <p:nvSpPr>
          <p:cNvPr id="19" name="Rectangle 4"/>
          <p:cNvSpPr>
            <a:spLocks noChangeArrowheads="1"/>
          </p:cNvSpPr>
          <p:nvPr/>
        </p:nvSpPr>
        <p:spPr bwMode="auto">
          <a:xfrm>
            <a:off x="11305231" y="4478246"/>
            <a:ext cx="604653" cy="338554"/>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altLang="zh-CN" sz="1600" b="1" kern="0" dirty="0" smtClean="0">
                <a:solidFill>
                  <a:srgbClr val="FC0128"/>
                </a:solidFill>
              </a:rPr>
              <a:t>BHT</a:t>
            </a:r>
            <a:endParaRPr kumimoji="0" lang="en-US" altLang="zh-CN" sz="1600" b="1" i="0" u="none" strike="noStrike" kern="0" cap="none" spc="0" normalizeH="0" baseline="0" noProof="0" dirty="0" smtClean="0">
              <a:ln>
                <a:noFill/>
              </a:ln>
              <a:solidFill>
                <a:srgbClr val="FC0128"/>
              </a:solidFill>
              <a:effectLst/>
              <a:uLnTx/>
              <a:uFillTx/>
            </a:endParaRPr>
          </a:p>
        </p:txBody>
      </p:sp>
    </p:spTree>
    <p:extLst>
      <p:ext uri="{BB962C8B-B14F-4D97-AF65-F5344CB8AC3E}">
        <p14:creationId xmlns:p14="http://schemas.microsoft.com/office/powerpoint/2010/main" val="669354236"/>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85059">
                                            <p:txEl>
                                              <p:pRg st="0" end="0"/>
                                            </p:txEl>
                                          </p:spTgt>
                                        </p:tgtEl>
                                        <p:attrNameLst>
                                          <p:attrName>style.visibility</p:attrName>
                                        </p:attrNameLst>
                                      </p:cBhvr>
                                      <p:to>
                                        <p:strVal val="visible"/>
                                      </p:to>
                                    </p:set>
                                    <p:anim calcmode="lin" valueType="num">
                                      <p:cBhvr additive="base">
                                        <p:cTn id="7" dur="500" fill="hold"/>
                                        <p:tgtEl>
                                          <p:spTgt spid="68505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850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85059">
                                            <p:txEl>
                                              <p:pRg st="1" end="1"/>
                                            </p:txEl>
                                          </p:spTgt>
                                        </p:tgtEl>
                                        <p:attrNameLst>
                                          <p:attrName>style.visibility</p:attrName>
                                        </p:attrNameLst>
                                      </p:cBhvr>
                                      <p:to>
                                        <p:strVal val="visible"/>
                                      </p:to>
                                    </p:set>
                                    <p:anim calcmode="lin" valueType="num">
                                      <p:cBhvr additive="base">
                                        <p:cTn id="13" dur="500" fill="hold"/>
                                        <p:tgtEl>
                                          <p:spTgt spid="68505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85059">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685059">
                                            <p:txEl>
                                              <p:pRg st="2" end="2"/>
                                            </p:txEl>
                                          </p:spTgt>
                                        </p:tgtEl>
                                        <p:attrNameLst>
                                          <p:attrName>style.visibility</p:attrName>
                                        </p:attrNameLst>
                                      </p:cBhvr>
                                      <p:to>
                                        <p:strVal val="visible"/>
                                      </p:to>
                                    </p:set>
                                    <p:anim calcmode="lin" valueType="num">
                                      <p:cBhvr additive="base">
                                        <p:cTn id="17" dur="500" fill="hold"/>
                                        <p:tgtEl>
                                          <p:spTgt spid="685059">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685059">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685059">
                                            <p:txEl>
                                              <p:pRg st="3" end="3"/>
                                            </p:txEl>
                                          </p:spTgt>
                                        </p:tgtEl>
                                        <p:attrNameLst>
                                          <p:attrName>style.visibility</p:attrName>
                                        </p:attrNameLst>
                                      </p:cBhvr>
                                      <p:to>
                                        <p:strVal val="visible"/>
                                      </p:to>
                                    </p:set>
                                    <p:anim calcmode="lin" valueType="num">
                                      <p:cBhvr additive="base">
                                        <p:cTn id="21" dur="500" fill="hold"/>
                                        <p:tgtEl>
                                          <p:spTgt spid="685059">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685059">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685059">
                                            <p:txEl>
                                              <p:pRg st="4" end="4"/>
                                            </p:txEl>
                                          </p:spTgt>
                                        </p:tgtEl>
                                        <p:attrNameLst>
                                          <p:attrName>style.visibility</p:attrName>
                                        </p:attrNameLst>
                                      </p:cBhvr>
                                      <p:to>
                                        <p:strVal val="visible"/>
                                      </p:to>
                                    </p:set>
                                    <p:anim calcmode="lin" valueType="num">
                                      <p:cBhvr additive="base">
                                        <p:cTn id="25" dur="500" fill="hold"/>
                                        <p:tgtEl>
                                          <p:spTgt spid="685059">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68505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685059">
                                            <p:txEl>
                                              <p:pRg st="5" end="5"/>
                                            </p:txEl>
                                          </p:spTgt>
                                        </p:tgtEl>
                                        <p:attrNameLst>
                                          <p:attrName>style.visibility</p:attrName>
                                        </p:attrNameLst>
                                      </p:cBhvr>
                                      <p:to>
                                        <p:strVal val="visible"/>
                                      </p:to>
                                    </p:set>
                                    <p:anim calcmode="lin" valueType="num">
                                      <p:cBhvr additive="base">
                                        <p:cTn id="31" dur="500" fill="hold"/>
                                        <p:tgtEl>
                                          <p:spTgt spid="685059">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685059">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685059">
                                            <p:txEl>
                                              <p:pRg st="6" end="6"/>
                                            </p:txEl>
                                          </p:spTgt>
                                        </p:tgtEl>
                                        <p:attrNameLst>
                                          <p:attrName>style.visibility</p:attrName>
                                        </p:attrNameLst>
                                      </p:cBhvr>
                                      <p:to>
                                        <p:strVal val="visible"/>
                                      </p:to>
                                    </p:set>
                                    <p:anim calcmode="lin" valueType="num">
                                      <p:cBhvr additive="base">
                                        <p:cTn id="35" dur="500" fill="hold"/>
                                        <p:tgtEl>
                                          <p:spTgt spid="685059">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685059">
                                            <p:txEl>
                                              <p:pRg st="6" end="6"/>
                                            </p:tx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685059">
                                            <p:txEl>
                                              <p:pRg st="7" end="7"/>
                                            </p:txEl>
                                          </p:spTgt>
                                        </p:tgtEl>
                                        <p:attrNameLst>
                                          <p:attrName>style.visibility</p:attrName>
                                        </p:attrNameLst>
                                      </p:cBhvr>
                                      <p:to>
                                        <p:strVal val="visible"/>
                                      </p:to>
                                    </p:set>
                                    <p:anim calcmode="lin" valueType="num">
                                      <p:cBhvr additive="base">
                                        <p:cTn id="39" dur="500" fill="hold"/>
                                        <p:tgtEl>
                                          <p:spTgt spid="685059">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685059">
                                            <p:txEl>
                                              <p:pRg st="7" end="7"/>
                                            </p:txEl>
                                          </p:spTgt>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685059">
                                            <p:txEl>
                                              <p:pRg st="8" end="8"/>
                                            </p:txEl>
                                          </p:spTgt>
                                        </p:tgtEl>
                                        <p:attrNameLst>
                                          <p:attrName>style.visibility</p:attrName>
                                        </p:attrNameLst>
                                      </p:cBhvr>
                                      <p:to>
                                        <p:strVal val="visible"/>
                                      </p:to>
                                    </p:set>
                                    <p:anim calcmode="lin" valueType="num">
                                      <p:cBhvr additive="base">
                                        <p:cTn id="43" dur="500" fill="hold"/>
                                        <p:tgtEl>
                                          <p:spTgt spid="685059">
                                            <p:txEl>
                                              <p:pRg st="8" end="8"/>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685059">
                                            <p:txEl>
                                              <p:pRg st="8" end="8"/>
                                            </p:txEl>
                                          </p:spTgt>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685059">
                                            <p:txEl>
                                              <p:pRg st="9" end="9"/>
                                            </p:txEl>
                                          </p:spTgt>
                                        </p:tgtEl>
                                        <p:attrNameLst>
                                          <p:attrName>style.visibility</p:attrName>
                                        </p:attrNameLst>
                                      </p:cBhvr>
                                      <p:to>
                                        <p:strVal val="visible"/>
                                      </p:to>
                                    </p:set>
                                    <p:anim calcmode="lin" valueType="num">
                                      <p:cBhvr additive="base">
                                        <p:cTn id="47" dur="500" fill="hold"/>
                                        <p:tgtEl>
                                          <p:spTgt spid="685059">
                                            <p:txEl>
                                              <p:pRg st="9" end="9"/>
                                            </p:tx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685059">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5059" grpId="0" build="p"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7106" name="Rectangle 2"/>
          <p:cNvSpPr>
            <a:spLocks noGrp="1" noChangeArrowheads="1"/>
          </p:cNvSpPr>
          <p:nvPr>
            <p:ph type="body" idx="1"/>
          </p:nvPr>
        </p:nvSpPr>
        <p:spPr>
          <a:xfrm>
            <a:off x="512143" y="1502011"/>
            <a:ext cx="11377264" cy="5105400"/>
          </a:xfrm>
          <a:noFill/>
          <a:ln/>
          <a:extLst>
            <a:ext uri="{91240B29-F687-4F45-9708-019B960494DF}">
              <a14:hiddenLine xmlns:a14="http://schemas.microsoft.com/office/drawing/2010/main" w="12700">
                <a:solidFill>
                  <a:schemeClr val="hlink"/>
                </a:solidFill>
                <a:miter lim="800000"/>
                <a:headEnd/>
                <a:tailEnd/>
              </a14:hiddenLine>
            </a:ext>
          </a:extLst>
        </p:spPr>
        <p:txBody>
          <a:bodyPr vert="horz" wrap="square" lIns="90488" tIns="44450" rIns="90488" bIns="44450" numCol="1" anchor="t" anchorCtr="0" compatLnSpc="1">
            <a:prstTxWarp prst="textNoShape">
              <a:avLst/>
            </a:prstTxWarp>
          </a:bodyPr>
          <a:lstStyle/>
          <a:p>
            <a:pPr>
              <a:lnSpc>
                <a:spcPct val="80000"/>
              </a:lnSpc>
            </a:pPr>
            <a:r>
              <a:rPr lang="en-US" altLang="en-US" dirty="0"/>
              <a:t>2-bit scheme where change prediction only if get </a:t>
            </a:r>
            <a:r>
              <a:rPr lang="en-US" altLang="en-US" dirty="0" err="1"/>
              <a:t>misprediction</a:t>
            </a:r>
            <a:r>
              <a:rPr lang="en-US" altLang="en-US" dirty="0"/>
              <a:t> </a:t>
            </a:r>
            <a:r>
              <a:rPr lang="en-US" altLang="en-US" i="1" dirty="0">
                <a:solidFill>
                  <a:srgbClr val="FF0000"/>
                </a:solidFill>
              </a:rPr>
              <a:t>twice</a:t>
            </a:r>
            <a:r>
              <a:rPr lang="en-US" altLang="en-US" i="1" dirty="0"/>
              <a:t>:</a:t>
            </a: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endParaRPr lang="en-US" altLang="en-US" dirty="0"/>
          </a:p>
          <a:p>
            <a:pPr>
              <a:lnSpc>
                <a:spcPct val="80000"/>
              </a:lnSpc>
            </a:pPr>
            <a:r>
              <a:rPr lang="en-US" altLang="en-US" dirty="0" smtClean="0">
                <a:solidFill>
                  <a:srgbClr val="00B050"/>
                </a:solidFill>
              </a:rPr>
              <a:t>Green</a:t>
            </a:r>
            <a:r>
              <a:rPr lang="en-US" altLang="en-US" dirty="0" smtClean="0"/>
              <a:t>: </a:t>
            </a:r>
            <a:r>
              <a:rPr lang="en-US" altLang="en-US" dirty="0"/>
              <a:t>stop, not </a:t>
            </a:r>
            <a:r>
              <a:rPr lang="en-US" altLang="en-US" dirty="0" smtClean="0"/>
              <a:t>taken; </a:t>
            </a:r>
            <a:r>
              <a:rPr lang="en-US" altLang="en-US" dirty="0" smtClean="0">
                <a:solidFill>
                  <a:srgbClr val="FF0000"/>
                </a:solidFill>
              </a:rPr>
              <a:t>Red</a:t>
            </a:r>
            <a:r>
              <a:rPr lang="en-US" altLang="en-US" dirty="0" smtClean="0"/>
              <a:t>: </a:t>
            </a:r>
            <a:r>
              <a:rPr lang="en-US" altLang="en-US" dirty="0"/>
              <a:t>go, taken</a:t>
            </a:r>
          </a:p>
          <a:p>
            <a:pPr>
              <a:lnSpc>
                <a:spcPct val="80000"/>
              </a:lnSpc>
            </a:pPr>
            <a:r>
              <a:rPr lang="en-US" altLang="en-US" dirty="0"/>
              <a:t>Adds </a:t>
            </a:r>
            <a:r>
              <a:rPr lang="en-US" altLang="en-US" i="1" dirty="0">
                <a:solidFill>
                  <a:schemeClr val="hlink"/>
                </a:solidFill>
              </a:rPr>
              <a:t>hysteresis</a:t>
            </a:r>
            <a:r>
              <a:rPr lang="en-US" altLang="en-US" dirty="0"/>
              <a:t> to decision making process</a:t>
            </a:r>
          </a:p>
          <a:p>
            <a:pPr>
              <a:lnSpc>
                <a:spcPct val="80000"/>
              </a:lnSpc>
            </a:pPr>
            <a:r>
              <a:rPr lang="en-US" altLang="en-US" dirty="0"/>
              <a:t>Generalize to n-bit saturating counter</a:t>
            </a:r>
          </a:p>
        </p:txBody>
      </p:sp>
      <p:sp>
        <p:nvSpPr>
          <p:cNvPr id="687107" name="Rectangle 3"/>
          <p:cNvSpPr>
            <a:spLocks noGrp="1" noChangeArrowheads="1"/>
          </p:cNvSpPr>
          <p:nvPr>
            <p:ph type="title"/>
          </p:nvPr>
        </p:nvSpPr>
        <p:spPr>
          <a:xfrm>
            <a:off x="695401" y="119063"/>
            <a:ext cx="9664626" cy="11430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8" tIns="44450" rIns="90488" bIns="44450" numCol="1" anchor="ctr" anchorCtr="0" compatLnSpc="1">
            <a:prstTxWarp prst="textNoShape">
              <a:avLst/>
            </a:prstTxWarp>
          </a:bodyPr>
          <a:lstStyle/>
          <a:p>
            <a:r>
              <a:rPr lang="en-US" altLang="en-US" dirty="0"/>
              <a:t>2-bit Dynamic Branch Prediction </a:t>
            </a:r>
          </a:p>
        </p:txBody>
      </p:sp>
      <p:sp>
        <p:nvSpPr>
          <p:cNvPr id="687108" name="Rectangle 4"/>
          <p:cNvSpPr>
            <a:spLocks noChangeArrowheads="1"/>
          </p:cNvSpPr>
          <p:nvPr/>
        </p:nvSpPr>
        <p:spPr bwMode="auto">
          <a:xfrm>
            <a:off x="4044950" y="2952750"/>
            <a:ext cx="1588" cy="1588"/>
          </a:xfrm>
          <a:prstGeom prst="rect">
            <a:avLst/>
          </a:prstGeom>
          <a:solidFill>
            <a:srgbClr val="FFFFFF"/>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7109" name="Rectangle 5"/>
          <p:cNvSpPr>
            <a:spLocks noChangeArrowheads="1"/>
          </p:cNvSpPr>
          <p:nvPr/>
        </p:nvSpPr>
        <p:spPr bwMode="auto">
          <a:xfrm>
            <a:off x="4044950" y="2952750"/>
            <a:ext cx="1588" cy="1588"/>
          </a:xfrm>
          <a:prstGeom prst="rect">
            <a:avLst/>
          </a:prstGeom>
          <a:solidFill>
            <a:srgbClr val="FFFFFF"/>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7110" name="Rectangle 6"/>
          <p:cNvSpPr>
            <a:spLocks noChangeArrowheads="1"/>
          </p:cNvSpPr>
          <p:nvPr/>
        </p:nvSpPr>
        <p:spPr bwMode="auto">
          <a:xfrm>
            <a:off x="4044950" y="2952750"/>
            <a:ext cx="1588" cy="1588"/>
          </a:xfrm>
          <a:prstGeom prst="rect">
            <a:avLst/>
          </a:prstGeom>
          <a:solidFill>
            <a:srgbClr val="FFFFFF"/>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7111" name="Rectangle 7"/>
          <p:cNvSpPr>
            <a:spLocks noChangeArrowheads="1"/>
          </p:cNvSpPr>
          <p:nvPr/>
        </p:nvSpPr>
        <p:spPr bwMode="auto">
          <a:xfrm>
            <a:off x="4044950" y="2952750"/>
            <a:ext cx="1588" cy="1588"/>
          </a:xfrm>
          <a:prstGeom prst="rect">
            <a:avLst/>
          </a:prstGeom>
          <a:solidFill>
            <a:srgbClr val="FFFFFF"/>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7112" name="Rectangle 8"/>
          <p:cNvSpPr>
            <a:spLocks noChangeArrowheads="1"/>
          </p:cNvSpPr>
          <p:nvPr/>
        </p:nvSpPr>
        <p:spPr bwMode="auto">
          <a:xfrm>
            <a:off x="4649788" y="1924051"/>
            <a:ext cx="33983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en-US" sz="2000">
                <a:solidFill>
                  <a:schemeClr val="accent2"/>
                </a:solidFill>
              </a:rPr>
              <a:t>T</a:t>
            </a:r>
          </a:p>
        </p:txBody>
      </p:sp>
      <p:sp>
        <p:nvSpPr>
          <p:cNvPr id="687113" name="Rectangle 9"/>
          <p:cNvSpPr>
            <a:spLocks noChangeArrowheads="1"/>
          </p:cNvSpPr>
          <p:nvPr/>
        </p:nvSpPr>
        <p:spPr bwMode="auto">
          <a:xfrm>
            <a:off x="5792788" y="3067051"/>
            <a:ext cx="33983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en-US" sz="2000">
                <a:solidFill>
                  <a:schemeClr val="accent2"/>
                </a:solidFill>
              </a:rPr>
              <a:t>T</a:t>
            </a:r>
          </a:p>
        </p:txBody>
      </p:sp>
      <p:sp>
        <p:nvSpPr>
          <p:cNvPr id="687114" name="Rectangle 10"/>
          <p:cNvSpPr>
            <a:spLocks noChangeArrowheads="1"/>
          </p:cNvSpPr>
          <p:nvPr/>
        </p:nvSpPr>
        <p:spPr bwMode="auto">
          <a:xfrm>
            <a:off x="7240588" y="4591051"/>
            <a:ext cx="525786"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en-US" sz="2000"/>
              <a:t>NT</a:t>
            </a:r>
          </a:p>
        </p:txBody>
      </p:sp>
      <p:sp>
        <p:nvSpPr>
          <p:cNvPr id="687115" name="Rectangle 11"/>
          <p:cNvSpPr>
            <a:spLocks noChangeArrowheads="1"/>
          </p:cNvSpPr>
          <p:nvPr/>
        </p:nvSpPr>
        <p:spPr bwMode="auto">
          <a:xfrm>
            <a:off x="2736851" y="2533651"/>
            <a:ext cx="1731885" cy="397545"/>
          </a:xfrm>
          <a:prstGeom prst="rect">
            <a:avLst/>
          </a:prstGeom>
          <a:noFill/>
          <a:ln w="1270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en-US" sz="2000">
                <a:solidFill>
                  <a:srgbClr val="FF0000"/>
                </a:solidFill>
              </a:rPr>
              <a:t>Predict Taken</a:t>
            </a:r>
          </a:p>
        </p:txBody>
      </p:sp>
      <p:sp>
        <p:nvSpPr>
          <p:cNvPr id="687116" name="Rectangle 12"/>
          <p:cNvSpPr>
            <a:spLocks noChangeArrowheads="1"/>
          </p:cNvSpPr>
          <p:nvPr/>
        </p:nvSpPr>
        <p:spPr bwMode="auto">
          <a:xfrm>
            <a:off x="3031119" y="3702051"/>
            <a:ext cx="1521251" cy="70532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spcBef>
                <a:spcPct val="0"/>
              </a:spcBef>
            </a:pPr>
            <a:r>
              <a:rPr lang="en-US" altLang="en-US" sz="2000"/>
              <a:t>Predict Not </a:t>
            </a:r>
          </a:p>
          <a:p>
            <a:pPr algn="ctr">
              <a:spcBef>
                <a:spcPct val="0"/>
              </a:spcBef>
            </a:pPr>
            <a:r>
              <a:rPr lang="en-US" altLang="en-US" sz="2000"/>
              <a:t>Taken</a:t>
            </a:r>
          </a:p>
        </p:txBody>
      </p:sp>
      <p:sp>
        <p:nvSpPr>
          <p:cNvPr id="687117" name="Rectangle 13"/>
          <p:cNvSpPr>
            <a:spLocks noChangeArrowheads="1"/>
          </p:cNvSpPr>
          <p:nvPr/>
        </p:nvSpPr>
        <p:spPr bwMode="auto">
          <a:xfrm>
            <a:off x="7829551" y="2533651"/>
            <a:ext cx="1731885"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en-US" sz="2000">
                <a:solidFill>
                  <a:schemeClr val="accent2"/>
                </a:solidFill>
              </a:rPr>
              <a:t>Predict Taken</a:t>
            </a:r>
          </a:p>
        </p:txBody>
      </p:sp>
      <p:sp>
        <p:nvSpPr>
          <p:cNvPr id="687118" name="Rectangle 14"/>
          <p:cNvSpPr>
            <a:spLocks noChangeArrowheads="1"/>
          </p:cNvSpPr>
          <p:nvPr/>
        </p:nvSpPr>
        <p:spPr bwMode="auto">
          <a:xfrm>
            <a:off x="7819019" y="3663951"/>
            <a:ext cx="1521251" cy="70532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spcBef>
                <a:spcPct val="0"/>
              </a:spcBef>
            </a:pPr>
            <a:r>
              <a:rPr lang="en-US" altLang="en-US" sz="2000"/>
              <a:t>Predict Not </a:t>
            </a:r>
          </a:p>
          <a:p>
            <a:pPr algn="ctr">
              <a:spcBef>
                <a:spcPct val="0"/>
              </a:spcBef>
            </a:pPr>
            <a:r>
              <a:rPr lang="en-US" altLang="en-US" sz="2000"/>
              <a:t>Taken</a:t>
            </a:r>
          </a:p>
        </p:txBody>
      </p:sp>
      <p:sp>
        <p:nvSpPr>
          <p:cNvPr id="687119" name="Oval 15"/>
          <p:cNvSpPr>
            <a:spLocks noChangeArrowheads="1"/>
          </p:cNvSpPr>
          <p:nvPr/>
        </p:nvSpPr>
        <p:spPr bwMode="auto">
          <a:xfrm>
            <a:off x="4573588" y="2457450"/>
            <a:ext cx="1270000" cy="508000"/>
          </a:xfrm>
          <a:prstGeom prst="ellipse">
            <a:avLst/>
          </a:prstGeom>
          <a:solidFill>
            <a:srgbClr val="FF0000"/>
          </a:solidFill>
          <a:ln w="12700">
            <a:solidFill>
              <a:srgbClr val="FF0000"/>
            </a:solidFill>
            <a:round/>
            <a:headEnd/>
            <a:tailEnd/>
          </a:ln>
          <a:effectLst/>
        </p:spPr>
        <p:txBody>
          <a:bodyPr wrap="none" anchor="ctr"/>
          <a:lstStyle/>
          <a:p>
            <a:endParaRPr lang="zh-CN" altLang="en-US">
              <a:solidFill>
                <a:srgbClr val="FF0000"/>
              </a:solidFill>
            </a:endParaRPr>
          </a:p>
        </p:txBody>
      </p:sp>
      <p:sp>
        <p:nvSpPr>
          <p:cNvPr id="687120" name="Oval 16"/>
          <p:cNvSpPr>
            <a:spLocks noChangeArrowheads="1"/>
          </p:cNvSpPr>
          <p:nvPr/>
        </p:nvSpPr>
        <p:spPr bwMode="auto">
          <a:xfrm>
            <a:off x="6592888" y="2470150"/>
            <a:ext cx="1270000" cy="508000"/>
          </a:xfrm>
          <a:prstGeom prst="ellipse">
            <a:avLst/>
          </a:prstGeom>
          <a:solidFill>
            <a:srgbClr val="F9079D">
              <a:alpha val="49804"/>
            </a:srgbClr>
          </a:solidFill>
          <a:ln w="12700">
            <a:solidFill>
              <a:schemeClr val="tx1"/>
            </a:solidFill>
            <a:round/>
            <a:headEnd/>
            <a:tailEnd/>
          </a:ln>
          <a:effectLst/>
        </p:spPr>
        <p:txBody>
          <a:bodyPr wrap="none" anchor="ctr"/>
          <a:lstStyle/>
          <a:p>
            <a:endParaRPr lang="zh-CN" altLang="en-US"/>
          </a:p>
        </p:txBody>
      </p:sp>
      <p:sp>
        <p:nvSpPr>
          <p:cNvPr id="687121" name="Oval 17"/>
          <p:cNvSpPr>
            <a:spLocks noChangeArrowheads="1"/>
          </p:cNvSpPr>
          <p:nvPr/>
        </p:nvSpPr>
        <p:spPr bwMode="auto">
          <a:xfrm>
            <a:off x="4586288" y="3587750"/>
            <a:ext cx="1270000" cy="508000"/>
          </a:xfrm>
          <a:prstGeom prst="ellipse">
            <a:avLst/>
          </a:prstGeom>
          <a:solidFill>
            <a:srgbClr val="92D050">
              <a:alpha val="50000"/>
            </a:srgbClr>
          </a:solidFill>
          <a:ln w="12700">
            <a:solidFill>
              <a:schemeClr val="tx1"/>
            </a:solidFill>
            <a:round/>
            <a:headEnd/>
            <a:tailEnd/>
          </a:ln>
          <a:effectLst/>
        </p:spPr>
        <p:txBody>
          <a:bodyPr wrap="none" anchor="ctr"/>
          <a:lstStyle/>
          <a:p>
            <a:endParaRPr lang="zh-CN" altLang="en-US"/>
          </a:p>
        </p:txBody>
      </p:sp>
      <p:sp>
        <p:nvSpPr>
          <p:cNvPr id="687122" name="Oval 18"/>
          <p:cNvSpPr>
            <a:spLocks noChangeArrowheads="1"/>
          </p:cNvSpPr>
          <p:nvPr/>
        </p:nvSpPr>
        <p:spPr bwMode="auto">
          <a:xfrm>
            <a:off x="6592888" y="3587750"/>
            <a:ext cx="1270000" cy="508000"/>
          </a:xfrm>
          <a:prstGeom prst="ellipse">
            <a:avLst/>
          </a:prstGeom>
          <a:solidFill>
            <a:srgbClr val="00B050"/>
          </a:solidFill>
          <a:ln w="12700">
            <a:solidFill>
              <a:schemeClr val="tx1"/>
            </a:solidFill>
            <a:round/>
            <a:headEnd/>
            <a:tailEnd/>
          </a:ln>
          <a:effectLst/>
        </p:spPr>
        <p:txBody>
          <a:bodyPr wrap="none" anchor="ctr"/>
          <a:lstStyle/>
          <a:p>
            <a:endParaRPr lang="zh-CN" altLang="en-US"/>
          </a:p>
        </p:txBody>
      </p:sp>
      <p:sp>
        <p:nvSpPr>
          <p:cNvPr id="687123" name="Arc 19"/>
          <p:cNvSpPr>
            <a:spLocks/>
          </p:cNvSpPr>
          <p:nvPr/>
        </p:nvSpPr>
        <p:spPr bwMode="auto">
          <a:xfrm>
            <a:off x="4921250" y="1939925"/>
            <a:ext cx="762000" cy="554038"/>
          </a:xfrm>
          <a:custGeom>
            <a:avLst/>
            <a:gdLst>
              <a:gd name="G0" fmla="+- 21600 0 0"/>
              <a:gd name="G1" fmla="+- 21600 0 0"/>
              <a:gd name="G2" fmla="+- 21600 0 0"/>
              <a:gd name="T0" fmla="*/ 2062 w 43200"/>
              <a:gd name="T1" fmla="*/ 30809 h 31458"/>
              <a:gd name="T2" fmla="*/ 40819 w 43200"/>
              <a:gd name="T3" fmla="*/ 31458 h 31458"/>
              <a:gd name="T4" fmla="*/ 21600 w 43200"/>
              <a:gd name="T5" fmla="*/ 21600 h 31458"/>
            </a:gdLst>
            <a:ahLst/>
            <a:cxnLst>
              <a:cxn ang="0">
                <a:pos x="T0" y="T1"/>
              </a:cxn>
              <a:cxn ang="0">
                <a:pos x="T2" y="T3"/>
              </a:cxn>
              <a:cxn ang="0">
                <a:pos x="T4" y="T5"/>
              </a:cxn>
            </a:cxnLst>
            <a:rect l="0" t="0" r="r" b="b"/>
            <a:pathLst>
              <a:path w="43200" h="31458" fill="none" extrusionOk="0">
                <a:moveTo>
                  <a:pt x="2061" y="30809"/>
                </a:moveTo>
                <a:cubicBezTo>
                  <a:pt x="703" y="27928"/>
                  <a:pt x="0" y="24784"/>
                  <a:pt x="0" y="21600"/>
                </a:cubicBezTo>
                <a:cubicBezTo>
                  <a:pt x="0" y="9670"/>
                  <a:pt x="9670" y="0"/>
                  <a:pt x="21600" y="0"/>
                </a:cubicBezTo>
                <a:cubicBezTo>
                  <a:pt x="33529" y="0"/>
                  <a:pt x="43200" y="9670"/>
                  <a:pt x="43200" y="21600"/>
                </a:cubicBezTo>
                <a:cubicBezTo>
                  <a:pt x="43199" y="25028"/>
                  <a:pt x="42383" y="28407"/>
                  <a:pt x="40819" y="31458"/>
                </a:cubicBezTo>
              </a:path>
              <a:path w="43200" h="31458" stroke="0" extrusionOk="0">
                <a:moveTo>
                  <a:pt x="2061" y="30809"/>
                </a:moveTo>
                <a:cubicBezTo>
                  <a:pt x="703" y="27928"/>
                  <a:pt x="0" y="24784"/>
                  <a:pt x="0" y="21600"/>
                </a:cubicBezTo>
                <a:cubicBezTo>
                  <a:pt x="0" y="9670"/>
                  <a:pt x="9670" y="0"/>
                  <a:pt x="21600" y="0"/>
                </a:cubicBezTo>
                <a:cubicBezTo>
                  <a:pt x="33529" y="0"/>
                  <a:pt x="43200" y="9670"/>
                  <a:pt x="43200" y="21600"/>
                </a:cubicBezTo>
                <a:cubicBezTo>
                  <a:pt x="43199" y="25028"/>
                  <a:pt x="42383" y="28407"/>
                  <a:pt x="40819" y="31458"/>
                </a:cubicBezTo>
                <a:lnTo>
                  <a:pt x="21600" y="21600"/>
                </a:lnTo>
                <a:close/>
              </a:path>
            </a:pathLst>
          </a:custGeom>
          <a:noFill/>
          <a:ln w="28575">
            <a:solidFill>
              <a:srgbClr val="FF0000"/>
            </a:solidFill>
            <a:round/>
            <a:headEn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FF0000"/>
              </a:solidFill>
            </a:endParaRPr>
          </a:p>
        </p:txBody>
      </p:sp>
      <p:sp>
        <p:nvSpPr>
          <p:cNvPr id="687124" name="Arc 20"/>
          <p:cNvSpPr>
            <a:spLocks/>
          </p:cNvSpPr>
          <p:nvPr/>
        </p:nvSpPr>
        <p:spPr bwMode="auto">
          <a:xfrm flipH="1" flipV="1">
            <a:off x="6935788" y="4057650"/>
            <a:ext cx="762000" cy="554038"/>
          </a:xfrm>
          <a:custGeom>
            <a:avLst/>
            <a:gdLst>
              <a:gd name="G0" fmla="+- 21600 0 0"/>
              <a:gd name="G1" fmla="+- 21600 0 0"/>
              <a:gd name="G2" fmla="+- 21600 0 0"/>
              <a:gd name="T0" fmla="*/ 2062 w 43200"/>
              <a:gd name="T1" fmla="*/ 30809 h 31458"/>
              <a:gd name="T2" fmla="*/ 40819 w 43200"/>
              <a:gd name="T3" fmla="*/ 31458 h 31458"/>
              <a:gd name="T4" fmla="*/ 21600 w 43200"/>
              <a:gd name="T5" fmla="*/ 21600 h 31458"/>
            </a:gdLst>
            <a:ahLst/>
            <a:cxnLst>
              <a:cxn ang="0">
                <a:pos x="T0" y="T1"/>
              </a:cxn>
              <a:cxn ang="0">
                <a:pos x="T2" y="T3"/>
              </a:cxn>
              <a:cxn ang="0">
                <a:pos x="T4" y="T5"/>
              </a:cxn>
            </a:cxnLst>
            <a:rect l="0" t="0" r="r" b="b"/>
            <a:pathLst>
              <a:path w="43200" h="31458" fill="none" extrusionOk="0">
                <a:moveTo>
                  <a:pt x="2061" y="30809"/>
                </a:moveTo>
                <a:cubicBezTo>
                  <a:pt x="703" y="27928"/>
                  <a:pt x="0" y="24784"/>
                  <a:pt x="0" y="21600"/>
                </a:cubicBezTo>
                <a:cubicBezTo>
                  <a:pt x="0" y="9670"/>
                  <a:pt x="9670" y="0"/>
                  <a:pt x="21600" y="0"/>
                </a:cubicBezTo>
                <a:cubicBezTo>
                  <a:pt x="33529" y="0"/>
                  <a:pt x="43200" y="9670"/>
                  <a:pt x="43200" y="21600"/>
                </a:cubicBezTo>
                <a:cubicBezTo>
                  <a:pt x="43199" y="25028"/>
                  <a:pt x="42383" y="28407"/>
                  <a:pt x="40819" y="31458"/>
                </a:cubicBezTo>
              </a:path>
              <a:path w="43200" h="31458" stroke="0" extrusionOk="0">
                <a:moveTo>
                  <a:pt x="2061" y="30809"/>
                </a:moveTo>
                <a:cubicBezTo>
                  <a:pt x="703" y="27928"/>
                  <a:pt x="0" y="24784"/>
                  <a:pt x="0" y="21600"/>
                </a:cubicBezTo>
                <a:cubicBezTo>
                  <a:pt x="0" y="9670"/>
                  <a:pt x="9670" y="0"/>
                  <a:pt x="21600" y="0"/>
                </a:cubicBezTo>
                <a:cubicBezTo>
                  <a:pt x="33529" y="0"/>
                  <a:pt x="43200" y="9670"/>
                  <a:pt x="43200" y="21600"/>
                </a:cubicBezTo>
                <a:cubicBezTo>
                  <a:pt x="43199" y="25028"/>
                  <a:pt x="42383" y="28407"/>
                  <a:pt x="40819" y="31458"/>
                </a:cubicBezTo>
                <a:lnTo>
                  <a:pt x="21600" y="21600"/>
                </a:lnTo>
                <a:close/>
              </a:path>
            </a:pathLst>
          </a:custGeom>
          <a:noFill/>
          <a:ln w="28575">
            <a:solidFill>
              <a:srgbClr val="00B050"/>
            </a:solidFill>
            <a:round/>
            <a:headEn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7125" name="Line 21"/>
          <p:cNvSpPr>
            <a:spLocks noChangeShapeType="1"/>
          </p:cNvSpPr>
          <p:nvPr/>
        </p:nvSpPr>
        <p:spPr bwMode="auto">
          <a:xfrm flipH="1">
            <a:off x="5868988" y="3905250"/>
            <a:ext cx="762000" cy="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7126" name="Rectangle 22"/>
          <p:cNvSpPr>
            <a:spLocks noChangeArrowheads="1"/>
          </p:cNvSpPr>
          <p:nvPr/>
        </p:nvSpPr>
        <p:spPr bwMode="auto">
          <a:xfrm>
            <a:off x="6062663" y="3868739"/>
            <a:ext cx="33983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en-US" sz="2000">
                <a:solidFill>
                  <a:schemeClr val="accent2"/>
                </a:solidFill>
              </a:rPr>
              <a:t>T</a:t>
            </a:r>
          </a:p>
        </p:txBody>
      </p:sp>
      <p:sp>
        <p:nvSpPr>
          <p:cNvPr id="687127" name="Rectangle 23"/>
          <p:cNvSpPr>
            <a:spLocks noChangeArrowheads="1"/>
          </p:cNvSpPr>
          <p:nvPr/>
        </p:nvSpPr>
        <p:spPr bwMode="auto">
          <a:xfrm>
            <a:off x="5970588" y="3397251"/>
            <a:ext cx="525786"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en-US" sz="2000"/>
              <a:t>NT</a:t>
            </a:r>
          </a:p>
        </p:txBody>
      </p:sp>
      <p:sp>
        <p:nvSpPr>
          <p:cNvPr id="687128" name="Line 24"/>
          <p:cNvSpPr>
            <a:spLocks noChangeShapeType="1"/>
          </p:cNvSpPr>
          <p:nvPr/>
        </p:nvSpPr>
        <p:spPr bwMode="auto">
          <a:xfrm>
            <a:off x="5868988" y="3752850"/>
            <a:ext cx="762000"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7129" name="Line 25"/>
          <p:cNvSpPr>
            <a:spLocks noChangeShapeType="1"/>
          </p:cNvSpPr>
          <p:nvPr/>
        </p:nvSpPr>
        <p:spPr bwMode="auto">
          <a:xfrm flipH="1">
            <a:off x="5819775" y="2786063"/>
            <a:ext cx="762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7130" name="Rectangle 26"/>
          <p:cNvSpPr>
            <a:spLocks noChangeArrowheads="1"/>
          </p:cNvSpPr>
          <p:nvPr/>
        </p:nvSpPr>
        <p:spPr bwMode="auto">
          <a:xfrm>
            <a:off x="6013450" y="2749551"/>
            <a:ext cx="33983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en-US" sz="2000">
                <a:solidFill>
                  <a:schemeClr val="accent2"/>
                </a:solidFill>
              </a:rPr>
              <a:t>T</a:t>
            </a:r>
          </a:p>
        </p:txBody>
      </p:sp>
      <p:sp>
        <p:nvSpPr>
          <p:cNvPr id="687131" name="Rectangle 27"/>
          <p:cNvSpPr>
            <a:spLocks noChangeArrowheads="1"/>
          </p:cNvSpPr>
          <p:nvPr/>
        </p:nvSpPr>
        <p:spPr bwMode="auto">
          <a:xfrm>
            <a:off x="5921375" y="2278064"/>
            <a:ext cx="525786"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en-US" sz="2000"/>
              <a:t>NT</a:t>
            </a:r>
          </a:p>
        </p:txBody>
      </p:sp>
      <p:sp>
        <p:nvSpPr>
          <p:cNvPr id="687132" name="Line 28"/>
          <p:cNvSpPr>
            <a:spLocks noChangeShapeType="1"/>
          </p:cNvSpPr>
          <p:nvPr/>
        </p:nvSpPr>
        <p:spPr bwMode="auto">
          <a:xfrm>
            <a:off x="5819775" y="2633663"/>
            <a:ext cx="762000"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7133" name="Line 29"/>
          <p:cNvSpPr>
            <a:spLocks noChangeShapeType="1"/>
          </p:cNvSpPr>
          <p:nvPr/>
        </p:nvSpPr>
        <p:spPr bwMode="auto">
          <a:xfrm flipV="1">
            <a:off x="5640388" y="2838450"/>
            <a:ext cx="1066800" cy="83820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7134" name="Line 30"/>
          <p:cNvSpPr>
            <a:spLocks noChangeShapeType="1"/>
          </p:cNvSpPr>
          <p:nvPr/>
        </p:nvSpPr>
        <p:spPr bwMode="auto">
          <a:xfrm rot="10800000" flipH="1">
            <a:off x="5716588" y="2914650"/>
            <a:ext cx="1066800" cy="838200"/>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7135" name="Rectangle 31"/>
          <p:cNvSpPr>
            <a:spLocks noChangeArrowheads="1"/>
          </p:cNvSpPr>
          <p:nvPr/>
        </p:nvSpPr>
        <p:spPr bwMode="auto">
          <a:xfrm>
            <a:off x="6402388" y="3067051"/>
            <a:ext cx="525786"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en-US" sz="2000"/>
              <a:t>NT</a:t>
            </a:r>
          </a:p>
        </p:txBody>
      </p:sp>
    </p:spTree>
    <p:extLst>
      <p:ext uri="{BB962C8B-B14F-4D97-AF65-F5344CB8AC3E}">
        <p14:creationId xmlns:p14="http://schemas.microsoft.com/office/powerpoint/2010/main" val="3991379472"/>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8710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8710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87106">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8710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7106" grpId="0" build="p"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The states in a 2-bit prediction scheme</a:t>
            </a:r>
            <a:endParaRPr lang="zh-CN" altLang="en-US" dirty="0"/>
          </a:p>
        </p:txBody>
      </p:sp>
      <p:sp>
        <p:nvSpPr>
          <p:cNvPr id="3" name="内容占位符 2"/>
          <p:cNvSpPr>
            <a:spLocks noGrp="1"/>
          </p:cNvSpPr>
          <p:nvPr>
            <p:ph idx="1"/>
          </p:nvPr>
        </p:nvSpPr>
        <p:spPr>
          <a:xfrm>
            <a:off x="838200" y="1556792"/>
            <a:ext cx="10515600" cy="1296144"/>
          </a:xfrm>
        </p:spPr>
        <p:txBody>
          <a:bodyPr/>
          <a:lstStyle/>
          <a:p>
            <a:r>
              <a:rPr lang="en-US" altLang="zh-CN" dirty="0" smtClean="0"/>
              <a:t>By </a:t>
            </a:r>
            <a:r>
              <a:rPr lang="en-US" altLang="zh-CN" dirty="0"/>
              <a:t>using 2 bits rather than 1, a branch that strongly favors taken or not taken—as many branches do—will be </a:t>
            </a:r>
            <a:r>
              <a:rPr lang="en-US" altLang="zh-CN" dirty="0" err="1"/>
              <a:t>mispredicted</a:t>
            </a:r>
            <a:r>
              <a:rPr lang="en-US" altLang="zh-CN" dirty="0"/>
              <a:t> less often than with a 1-bit predictor. </a:t>
            </a:r>
            <a:endParaRPr lang="zh-CN" altLang="en-US" dirty="0"/>
          </a:p>
        </p:txBody>
      </p:sp>
      <p:pic>
        <p:nvPicPr>
          <p:cNvPr id="4" name="图片 3"/>
          <p:cNvPicPr>
            <a:picLocks noChangeAspect="1"/>
          </p:cNvPicPr>
          <p:nvPr/>
        </p:nvPicPr>
        <p:blipFill>
          <a:blip r:embed="rId2"/>
          <a:stretch>
            <a:fillRect/>
          </a:stretch>
        </p:blipFill>
        <p:spPr>
          <a:xfrm>
            <a:off x="2783632" y="2807472"/>
            <a:ext cx="6696744" cy="4019812"/>
          </a:xfrm>
          <a:prstGeom prst="rect">
            <a:avLst/>
          </a:prstGeom>
        </p:spPr>
      </p:pic>
    </p:spTree>
    <p:extLst>
      <p:ext uri="{BB962C8B-B14F-4D97-AF65-F5344CB8AC3E}">
        <p14:creationId xmlns:p14="http://schemas.microsoft.com/office/powerpoint/2010/main" val="3374730813"/>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6528048" y="2515303"/>
            <a:ext cx="5512278" cy="4238293"/>
          </a:xfrm>
          <a:prstGeom prst="rect">
            <a:avLst/>
          </a:prstGeom>
        </p:spPr>
      </p:pic>
      <p:sp>
        <p:nvSpPr>
          <p:cNvPr id="2" name="标题 1"/>
          <p:cNvSpPr>
            <a:spLocks noGrp="1"/>
          </p:cNvSpPr>
          <p:nvPr>
            <p:ph type="title"/>
          </p:nvPr>
        </p:nvSpPr>
        <p:spPr/>
        <p:txBody>
          <a:bodyPr/>
          <a:lstStyle/>
          <a:p>
            <a:r>
              <a:rPr lang="en-US" altLang="en-US" dirty="0"/>
              <a:t>Prediction accuracy of a 4096-entry 2-bit </a:t>
            </a:r>
            <a:r>
              <a:rPr lang="en-US" altLang="en-US" dirty="0" smtClean="0"/>
              <a:t>BHT </a:t>
            </a:r>
            <a:r>
              <a:rPr lang="en-US" altLang="en-US" dirty="0"/>
              <a:t>for the SPEC89 benchmarks</a:t>
            </a:r>
            <a:endParaRPr lang="zh-CN" altLang="en-US" dirty="0"/>
          </a:p>
        </p:txBody>
      </p:sp>
      <p:sp>
        <p:nvSpPr>
          <p:cNvPr id="3" name="内容占位符 2"/>
          <p:cNvSpPr>
            <a:spLocks noGrp="1"/>
          </p:cNvSpPr>
          <p:nvPr>
            <p:ph idx="1"/>
          </p:nvPr>
        </p:nvSpPr>
        <p:spPr>
          <a:xfrm>
            <a:off x="838200" y="1556792"/>
            <a:ext cx="10802416" cy="5112568"/>
          </a:xfrm>
        </p:spPr>
        <p:txBody>
          <a:bodyPr/>
          <a:lstStyle/>
          <a:p>
            <a:r>
              <a:rPr lang="en-US" altLang="en-US" dirty="0" smtClean="0"/>
              <a:t>The </a:t>
            </a:r>
            <a:r>
              <a:rPr lang="en-US" altLang="en-US" dirty="0" err="1"/>
              <a:t>misprediction</a:t>
            </a:r>
            <a:r>
              <a:rPr lang="en-US" altLang="en-US" dirty="0"/>
              <a:t> rate for the integer benchmarks (</a:t>
            </a:r>
            <a:r>
              <a:rPr lang="en-US" altLang="en-US" dirty="0" err="1"/>
              <a:t>gcc</a:t>
            </a:r>
            <a:r>
              <a:rPr lang="en-US" altLang="en-US" dirty="0"/>
              <a:t>, espresso, </a:t>
            </a:r>
            <a:r>
              <a:rPr lang="en-US" altLang="en-US" dirty="0" err="1"/>
              <a:t>eqntott</a:t>
            </a:r>
            <a:r>
              <a:rPr lang="en-US" altLang="en-US" dirty="0"/>
              <a:t>, and li) is substantially higher (average of 11%) than that for the floating-point programs </a:t>
            </a:r>
            <a:r>
              <a:rPr lang="en-US" altLang="en-US" dirty="0" smtClean="0"/>
              <a:t/>
            </a:r>
            <a:br>
              <a:rPr lang="en-US" altLang="en-US" dirty="0" smtClean="0"/>
            </a:br>
            <a:r>
              <a:rPr lang="en-US" altLang="en-US" dirty="0" smtClean="0"/>
              <a:t>(</a:t>
            </a:r>
            <a:r>
              <a:rPr lang="en-US" altLang="en-US" dirty="0"/>
              <a:t>average of 4</a:t>
            </a:r>
            <a:r>
              <a:rPr lang="en-US" altLang="en-US" dirty="0" smtClean="0"/>
              <a:t>%)</a:t>
            </a:r>
          </a:p>
          <a:p>
            <a:r>
              <a:rPr lang="en-US" altLang="en-US" dirty="0" smtClean="0"/>
              <a:t>Although </a:t>
            </a:r>
            <a:r>
              <a:rPr lang="en-US" altLang="en-US" dirty="0"/>
              <a:t>these data are for an </a:t>
            </a:r>
            <a:r>
              <a:rPr lang="en-US" altLang="en-US" dirty="0" smtClean="0"/>
              <a:t/>
            </a:r>
            <a:br>
              <a:rPr lang="en-US" altLang="en-US" dirty="0" smtClean="0"/>
            </a:br>
            <a:r>
              <a:rPr lang="en-US" altLang="en-US" dirty="0" smtClean="0"/>
              <a:t>older </a:t>
            </a:r>
            <a:r>
              <a:rPr lang="en-US" altLang="en-US" dirty="0"/>
              <a:t>version of a subset of the </a:t>
            </a:r>
            <a:r>
              <a:rPr lang="en-US" altLang="en-US" dirty="0" smtClean="0"/>
              <a:t/>
            </a:r>
            <a:br>
              <a:rPr lang="en-US" altLang="en-US" dirty="0" smtClean="0"/>
            </a:br>
            <a:r>
              <a:rPr lang="en-US" altLang="en-US" dirty="0" smtClean="0"/>
              <a:t>SPEC </a:t>
            </a:r>
            <a:r>
              <a:rPr lang="en-US" altLang="en-US" dirty="0"/>
              <a:t>benchmarks, the newer </a:t>
            </a:r>
            <a:r>
              <a:rPr lang="en-US" altLang="en-US" dirty="0" smtClean="0"/>
              <a:t/>
            </a:r>
            <a:br>
              <a:rPr lang="en-US" altLang="en-US" dirty="0" smtClean="0"/>
            </a:br>
            <a:r>
              <a:rPr lang="en-US" altLang="en-US" dirty="0" smtClean="0"/>
              <a:t>benchmarks </a:t>
            </a:r>
            <a:r>
              <a:rPr lang="en-US" altLang="en-US" dirty="0"/>
              <a:t>are larger and would </a:t>
            </a:r>
            <a:r>
              <a:rPr lang="en-US" altLang="en-US" dirty="0" smtClean="0"/>
              <a:t/>
            </a:r>
            <a:br>
              <a:rPr lang="en-US" altLang="en-US" dirty="0" smtClean="0"/>
            </a:br>
            <a:r>
              <a:rPr lang="en-US" altLang="en-US" dirty="0" smtClean="0"/>
              <a:t>show </a:t>
            </a:r>
            <a:r>
              <a:rPr lang="en-US" altLang="en-US" dirty="0"/>
              <a:t>slightly worse behavior, </a:t>
            </a:r>
            <a:r>
              <a:rPr lang="en-US" altLang="en-US" dirty="0" smtClean="0"/>
              <a:t/>
            </a:r>
            <a:br>
              <a:rPr lang="en-US" altLang="en-US" dirty="0" smtClean="0"/>
            </a:br>
            <a:r>
              <a:rPr lang="en-US" altLang="en-US" dirty="0" smtClean="0"/>
              <a:t>especially </a:t>
            </a:r>
            <a:r>
              <a:rPr lang="en-US" altLang="en-US" dirty="0"/>
              <a:t>for the integer </a:t>
            </a:r>
            <a:r>
              <a:rPr lang="en-US" altLang="en-US" dirty="0" smtClean="0"/>
              <a:t/>
            </a:r>
            <a:br>
              <a:rPr lang="en-US" altLang="en-US" dirty="0" smtClean="0"/>
            </a:br>
            <a:r>
              <a:rPr lang="en-US" altLang="en-US" dirty="0" smtClean="0"/>
              <a:t>benchmarks</a:t>
            </a:r>
            <a:r>
              <a:rPr lang="en-US" altLang="en-US" dirty="0"/>
              <a:t>.</a:t>
            </a:r>
          </a:p>
          <a:p>
            <a:endParaRPr lang="zh-CN" altLang="en-US" dirty="0"/>
          </a:p>
        </p:txBody>
      </p:sp>
    </p:spTree>
    <p:extLst>
      <p:ext uri="{BB962C8B-B14F-4D97-AF65-F5344CB8AC3E}">
        <p14:creationId xmlns:p14="http://schemas.microsoft.com/office/powerpoint/2010/main" val="3369954644"/>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Impact of BHT Size</a:t>
            </a:r>
            <a:endParaRPr lang="zh-CN" altLang="en-US" dirty="0"/>
          </a:p>
        </p:txBody>
      </p:sp>
      <p:sp>
        <p:nvSpPr>
          <p:cNvPr id="3" name="内容占位符 2"/>
          <p:cNvSpPr>
            <a:spLocks noGrp="1"/>
          </p:cNvSpPr>
          <p:nvPr>
            <p:ph idx="1"/>
          </p:nvPr>
        </p:nvSpPr>
        <p:spPr>
          <a:xfrm>
            <a:off x="479376" y="1556792"/>
            <a:ext cx="10874424" cy="5112568"/>
          </a:xfrm>
        </p:spPr>
        <p:txBody>
          <a:bodyPr/>
          <a:lstStyle/>
          <a:p>
            <a:r>
              <a:rPr lang="en-US" altLang="zh-CN" dirty="0"/>
              <a:t>Prediction accuracy of a </a:t>
            </a:r>
            <a:r>
              <a:rPr lang="en-US" altLang="zh-CN" dirty="0" smtClean="0"/>
              <a:t/>
            </a:r>
            <a:br>
              <a:rPr lang="en-US" altLang="zh-CN" dirty="0" smtClean="0"/>
            </a:br>
            <a:r>
              <a:rPr lang="en-US" altLang="zh-CN" dirty="0" smtClean="0"/>
              <a:t>4096-entry </a:t>
            </a:r>
            <a:r>
              <a:rPr lang="en-US" altLang="zh-CN" dirty="0"/>
              <a:t>2-bit prediction </a:t>
            </a:r>
            <a:r>
              <a:rPr lang="en-US" altLang="zh-CN" dirty="0" smtClean="0"/>
              <a:t/>
            </a:r>
            <a:br>
              <a:rPr lang="en-US" altLang="zh-CN" dirty="0" smtClean="0"/>
            </a:br>
            <a:r>
              <a:rPr lang="en-US" altLang="zh-CN" dirty="0" smtClean="0"/>
              <a:t>buffer has the similar</a:t>
            </a:r>
            <a:br>
              <a:rPr lang="en-US" altLang="zh-CN" dirty="0" smtClean="0"/>
            </a:br>
            <a:r>
              <a:rPr lang="en-US" altLang="zh-CN" dirty="0" smtClean="0"/>
              <a:t>effect as an </a:t>
            </a:r>
            <a:r>
              <a:rPr lang="en-US" altLang="zh-CN" dirty="0"/>
              <a:t>infinite buffer </a:t>
            </a:r>
            <a:r>
              <a:rPr lang="en-US" altLang="zh-CN" dirty="0" smtClean="0"/>
              <a:t/>
            </a:r>
            <a:br>
              <a:rPr lang="en-US" altLang="zh-CN" dirty="0" smtClean="0"/>
            </a:br>
            <a:r>
              <a:rPr lang="en-US" altLang="zh-CN" dirty="0" smtClean="0"/>
              <a:t>for </a:t>
            </a:r>
            <a:r>
              <a:rPr lang="en-US" altLang="zh-CN" dirty="0"/>
              <a:t>the SPEC89 </a:t>
            </a:r>
            <a:r>
              <a:rPr lang="en-US" altLang="zh-CN" dirty="0" smtClean="0"/>
              <a:t/>
            </a:r>
            <a:br>
              <a:rPr lang="en-US" altLang="zh-CN" dirty="0" smtClean="0"/>
            </a:br>
            <a:r>
              <a:rPr lang="en-US" altLang="zh-CN" dirty="0" smtClean="0"/>
              <a:t>benchmarks</a:t>
            </a:r>
            <a:endParaRPr lang="en-US" altLang="zh-CN" dirty="0"/>
          </a:p>
          <a:p>
            <a:endParaRPr lang="zh-CN" altLang="en-US" dirty="0"/>
          </a:p>
        </p:txBody>
      </p:sp>
      <p:graphicFrame>
        <p:nvGraphicFramePr>
          <p:cNvPr id="5" name="Object 2"/>
          <p:cNvGraphicFramePr>
            <a:graphicFrameLocks/>
          </p:cNvGraphicFramePr>
          <p:nvPr>
            <p:extLst/>
          </p:nvPr>
        </p:nvGraphicFramePr>
        <p:xfrm>
          <a:off x="4597400" y="1556792"/>
          <a:ext cx="7594600" cy="5359400"/>
        </p:xfrm>
        <a:graphic>
          <a:graphicData uri="http://schemas.openxmlformats.org/presentationml/2006/ole">
            <mc:AlternateContent xmlns:mc="http://schemas.openxmlformats.org/markup-compatibility/2006">
              <mc:Choice xmlns:v="urn:schemas-microsoft-com:vml" Requires="v">
                <p:oleObj spid="_x0000_s134182" name="Chart" r:id="rId3" imgW="7772400" imgH="5707270" progId="Excel.Chart.8">
                  <p:embed followColorScheme="full"/>
                </p:oleObj>
              </mc:Choice>
              <mc:Fallback>
                <p:oleObj name="Chart" r:id="rId3" imgW="7772400" imgH="5707270" progId="Excel.Chart.8">
                  <p:embed followColorScheme="full"/>
                  <p:pic>
                    <p:nvPicPr>
                      <p:cNvPr id="5" name="Object 2"/>
                      <p:cNvPicPr>
                        <a:picLocks noChangeArrowheads="1"/>
                      </p:cNvPicPr>
                      <p:nvPr/>
                    </p:nvPicPr>
                    <p:blipFill>
                      <a:blip r:embed="rId4"/>
                      <a:srcRect/>
                      <a:stretch>
                        <a:fillRect/>
                      </a:stretch>
                    </p:blipFill>
                    <p:spPr bwMode="auto">
                      <a:xfrm>
                        <a:off x="4597400" y="1556792"/>
                        <a:ext cx="7594600" cy="5359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93915834"/>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AU" smtClean="0"/>
              <a:t>Branch Prediction</a:t>
            </a:r>
            <a:endParaRPr lang="en-AU" dirty="0"/>
          </a:p>
        </p:txBody>
      </p:sp>
      <p:sp>
        <p:nvSpPr>
          <p:cNvPr id="242691" name="Rectangle 3"/>
          <p:cNvSpPr>
            <a:spLocks noGrp="1" noChangeArrowheads="1"/>
          </p:cNvSpPr>
          <p:nvPr>
            <p:ph type="body" idx="1"/>
          </p:nvPr>
        </p:nvSpPr>
        <p:spPr/>
        <p:txBody>
          <a:bodyPr/>
          <a:lstStyle/>
          <a:p>
            <a:r>
              <a:rPr lang="en-US" smtClean="0"/>
              <a:t>Basic 2-bit predictor:</a:t>
            </a:r>
          </a:p>
          <a:p>
            <a:pPr lvl="1"/>
            <a:r>
              <a:rPr lang="en-US" smtClean="0"/>
              <a:t>For each branch:</a:t>
            </a:r>
          </a:p>
          <a:p>
            <a:pPr lvl="2"/>
            <a:r>
              <a:rPr lang="en-US" smtClean="0"/>
              <a:t>Predict taken or not taken</a:t>
            </a:r>
          </a:p>
          <a:p>
            <a:pPr lvl="2"/>
            <a:r>
              <a:rPr lang="en-US" smtClean="0"/>
              <a:t>If the prediction is wrong two consecutive times, change prediction</a:t>
            </a:r>
          </a:p>
          <a:p>
            <a:r>
              <a:rPr lang="en-US" smtClean="0"/>
              <a:t>Correlating predictor:</a:t>
            </a:r>
          </a:p>
          <a:p>
            <a:pPr lvl="1"/>
            <a:r>
              <a:rPr lang="en-US" smtClean="0"/>
              <a:t>Multiple 2-bit predictors for each branch</a:t>
            </a:r>
          </a:p>
          <a:p>
            <a:pPr lvl="1"/>
            <a:r>
              <a:rPr lang="en-US" smtClean="0"/>
              <a:t>One for each possible combination of outcomes of preceding n branches</a:t>
            </a:r>
          </a:p>
          <a:p>
            <a:pPr lvl="2"/>
            <a:r>
              <a:rPr lang="en-US" smtClean="0"/>
              <a:t>(m,n) predictor:  behavior from last m branches to choose from 2m n-bit predictors</a:t>
            </a:r>
          </a:p>
          <a:p>
            <a:r>
              <a:rPr lang="en-US" smtClean="0"/>
              <a:t>Tournament predictor:</a:t>
            </a:r>
          </a:p>
          <a:p>
            <a:pPr lvl="1"/>
            <a:r>
              <a:rPr lang="en-US" smtClean="0"/>
              <a:t>Combine correlating predictor with local predictor</a:t>
            </a:r>
            <a:endParaRPr lang="en-US" dirty="0"/>
          </a:p>
        </p:txBody>
      </p:sp>
    </p:spTree>
    <p:extLst>
      <p:ext uri="{BB962C8B-B14F-4D97-AF65-F5344CB8AC3E}">
        <p14:creationId xmlns:p14="http://schemas.microsoft.com/office/powerpoint/2010/main" val="1300795378"/>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Correlated branch behavior</a:t>
            </a:r>
            <a:endParaRPr lang="zh-CN" altLang="en-US" dirty="0"/>
          </a:p>
        </p:txBody>
      </p:sp>
      <p:sp>
        <p:nvSpPr>
          <p:cNvPr id="3" name="内容占位符 2"/>
          <p:cNvSpPr>
            <a:spLocks noGrp="1"/>
          </p:cNvSpPr>
          <p:nvPr>
            <p:ph idx="1"/>
          </p:nvPr>
        </p:nvSpPr>
        <p:spPr/>
        <p:txBody>
          <a:bodyPr/>
          <a:lstStyle/>
          <a:p>
            <a:r>
              <a:rPr lang="en-US" altLang="zh-CN" dirty="0" smtClean="0"/>
              <a:t>C code in left below, translates to the instructions in right</a:t>
            </a:r>
          </a:p>
          <a:p>
            <a:pPr lvl="1"/>
            <a:r>
              <a:rPr lang="en-US" altLang="zh-CN" dirty="0" smtClean="0"/>
              <a:t>Label </a:t>
            </a:r>
            <a:r>
              <a:rPr lang="en-US" altLang="zh-CN" dirty="0"/>
              <a:t>these branches b1, b2, and </a:t>
            </a:r>
            <a:r>
              <a:rPr lang="en-US" altLang="zh-CN" dirty="0" smtClean="0"/>
              <a:t>b3</a:t>
            </a:r>
          </a:p>
          <a:p>
            <a:pPr lvl="1"/>
            <a:r>
              <a:rPr lang="en-US" altLang="zh-CN" dirty="0" smtClean="0"/>
              <a:t>The behavior of b3 </a:t>
            </a:r>
            <a:r>
              <a:rPr lang="en-US" altLang="zh-CN" dirty="0"/>
              <a:t>is correlated with the behavior of </a:t>
            </a:r>
            <a:r>
              <a:rPr lang="en-US" altLang="zh-CN" dirty="0" smtClean="0"/>
              <a:t>b1 </a:t>
            </a:r>
            <a:r>
              <a:rPr lang="en-US" altLang="zh-CN" dirty="0"/>
              <a:t>and </a:t>
            </a:r>
            <a:r>
              <a:rPr lang="en-US" altLang="zh-CN" dirty="0" smtClean="0"/>
              <a:t>b2</a:t>
            </a:r>
          </a:p>
          <a:p>
            <a:pPr lvl="1"/>
            <a:r>
              <a:rPr lang="en-US" altLang="zh-CN" dirty="0" smtClean="0"/>
              <a:t>If neither </a:t>
            </a:r>
            <a:r>
              <a:rPr lang="en-US" altLang="zh-CN" dirty="0"/>
              <a:t>b1 nor b2 are taken (i.e., if the conditions both evaluate to true and </a:t>
            </a:r>
            <a:r>
              <a:rPr lang="en-US" altLang="zh-CN" dirty="0" smtClean="0"/>
              <a:t>aa and </a:t>
            </a:r>
            <a:r>
              <a:rPr lang="en-US" altLang="zh-CN" dirty="0"/>
              <a:t>bb are both assigned 0), then b3 will be </a:t>
            </a:r>
            <a:r>
              <a:rPr lang="en-US" altLang="zh-CN" dirty="0" smtClean="0"/>
              <a:t>taken</a:t>
            </a:r>
            <a:endParaRPr lang="zh-CN" altLang="en-US" dirty="0"/>
          </a:p>
        </p:txBody>
      </p:sp>
      <p:sp>
        <p:nvSpPr>
          <p:cNvPr id="4" name="矩形 3"/>
          <p:cNvSpPr/>
          <p:nvPr/>
        </p:nvSpPr>
        <p:spPr>
          <a:xfrm>
            <a:off x="1427212" y="4005064"/>
            <a:ext cx="2039888" cy="2308324"/>
          </a:xfrm>
          <a:prstGeom prst="rect">
            <a:avLst/>
          </a:prstGeom>
        </p:spPr>
        <p:txBody>
          <a:bodyPr wrap="square">
            <a:spAutoFit/>
          </a:bodyPr>
          <a:lstStyle/>
          <a:p>
            <a:r>
              <a:rPr lang="en-US" altLang="zh-CN" sz="2400" dirty="0">
                <a:latin typeface="Courier New" panose="02070309020205020404" pitchFamily="49" charset="0"/>
                <a:cs typeface="Courier New" panose="02070309020205020404" pitchFamily="49" charset="0"/>
              </a:rPr>
              <a:t>if (aa==2)</a:t>
            </a:r>
          </a:p>
          <a:p>
            <a:r>
              <a:rPr lang="en-US" altLang="zh-CN" sz="2400" dirty="0">
                <a:latin typeface="Courier New" panose="02070309020205020404" pitchFamily="49" charset="0"/>
                <a:cs typeface="Courier New" panose="02070309020205020404" pitchFamily="49" charset="0"/>
              </a:rPr>
              <a:t>aa=0;</a:t>
            </a:r>
          </a:p>
          <a:p>
            <a:r>
              <a:rPr lang="en-US" altLang="zh-CN" sz="2400" dirty="0">
                <a:latin typeface="Courier New" panose="02070309020205020404" pitchFamily="49" charset="0"/>
                <a:cs typeface="Courier New" panose="02070309020205020404" pitchFamily="49" charset="0"/>
              </a:rPr>
              <a:t>if (bb==2)</a:t>
            </a:r>
          </a:p>
          <a:p>
            <a:r>
              <a:rPr lang="en-US" altLang="zh-CN" sz="2400" dirty="0">
                <a:latin typeface="Courier New" panose="02070309020205020404" pitchFamily="49" charset="0"/>
                <a:cs typeface="Courier New" panose="02070309020205020404" pitchFamily="49" charset="0"/>
              </a:rPr>
              <a:t>bb=0;</a:t>
            </a:r>
          </a:p>
          <a:p>
            <a:r>
              <a:rPr lang="en-US" altLang="zh-CN" sz="2400" dirty="0">
                <a:latin typeface="Courier New" panose="02070309020205020404" pitchFamily="49" charset="0"/>
                <a:cs typeface="Courier New" panose="02070309020205020404" pitchFamily="49" charset="0"/>
              </a:rPr>
              <a:t>if (aa!=bb) {</a:t>
            </a:r>
            <a:endParaRPr lang="zh-CN" altLang="en-US" sz="2400" dirty="0">
              <a:latin typeface="Courier New" panose="02070309020205020404" pitchFamily="49" charset="0"/>
              <a:cs typeface="Courier New" panose="02070309020205020404" pitchFamily="49" charset="0"/>
            </a:endParaRPr>
          </a:p>
        </p:txBody>
      </p:sp>
      <p:sp>
        <p:nvSpPr>
          <p:cNvPr id="5" name="矩形 4"/>
          <p:cNvSpPr/>
          <p:nvPr/>
        </p:nvSpPr>
        <p:spPr>
          <a:xfrm>
            <a:off x="5231904" y="3645024"/>
            <a:ext cx="6121896" cy="3046988"/>
          </a:xfrm>
          <a:prstGeom prst="rect">
            <a:avLst/>
          </a:prstGeom>
        </p:spPr>
        <p:txBody>
          <a:bodyPr wrap="square">
            <a:spAutoFit/>
          </a:bodyPr>
          <a:lstStyle/>
          <a:p>
            <a:r>
              <a:rPr lang="en-US" altLang="zh-CN" sz="2400" dirty="0" err="1">
                <a:latin typeface="Courier New" panose="02070309020205020404" pitchFamily="49" charset="0"/>
                <a:cs typeface="Courier New" panose="02070309020205020404" pitchFamily="49" charset="0"/>
              </a:rPr>
              <a:t>addi</a:t>
            </a:r>
            <a:r>
              <a:rPr lang="en-US" altLang="zh-CN" sz="2400" dirty="0">
                <a:latin typeface="Courier New" panose="02070309020205020404" pitchFamily="49" charset="0"/>
                <a:cs typeface="Courier New" panose="02070309020205020404" pitchFamily="49" charset="0"/>
              </a:rPr>
              <a:t> x3,x1,–2</a:t>
            </a:r>
          </a:p>
          <a:p>
            <a:r>
              <a:rPr lang="pl-PL" altLang="zh-CN" sz="2400" dirty="0">
                <a:latin typeface="Courier New" panose="02070309020205020404" pitchFamily="49" charset="0"/>
                <a:cs typeface="Courier New" panose="02070309020205020404" pitchFamily="49" charset="0"/>
              </a:rPr>
              <a:t>bnez x3,L1 //branch b1 (aa!=2)</a:t>
            </a:r>
          </a:p>
          <a:p>
            <a:r>
              <a:rPr lang="en-US" altLang="zh-CN" sz="2400" dirty="0">
                <a:latin typeface="Courier New" panose="02070309020205020404" pitchFamily="49" charset="0"/>
                <a:cs typeface="Courier New" panose="02070309020205020404" pitchFamily="49" charset="0"/>
              </a:rPr>
              <a:t>add x1,x0,x0 //aa=0</a:t>
            </a:r>
          </a:p>
          <a:p>
            <a:r>
              <a:rPr lang="en-US" altLang="zh-CN" sz="2400" dirty="0">
                <a:latin typeface="Courier New" panose="02070309020205020404" pitchFamily="49" charset="0"/>
                <a:cs typeface="Courier New" panose="02070309020205020404" pitchFamily="49" charset="0"/>
              </a:rPr>
              <a:t>L1: </a:t>
            </a:r>
            <a:r>
              <a:rPr lang="en-US" altLang="zh-CN" sz="2400" dirty="0" err="1">
                <a:latin typeface="Courier New" panose="02070309020205020404" pitchFamily="49" charset="0"/>
                <a:cs typeface="Courier New" panose="02070309020205020404" pitchFamily="49" charset="0"/>
              </a:rPr>
              <a:t>addi</a:t>
            </a:r>
            <a:r>
              <a:rPr lang="en-US" altLang="zh-CN" sz="2400" dirty="0">
                <a:latin typeface="Courier New" panose="02070309020205020404" pitchFamily="49" charset="0"/>
                <a:cs typeface="Courier New" panose="02070309020205020404" pitchFamily="49" charset="0"/>
              </a:rPr>
              <a:t> x3,x2,–2</a:t>
            </a:r>
          </a:p>
          <a:p>
            <a:r>
              <a:rPr lang="pl-PL" altLang="zh-CN" sz="2400" dirty="0">
                <a:latin typeface="Courier New" panose="02070309020205020404" pitchFamily="49" charset="0"/>
                <a:cs typeface="Courier New" panose="02070309020205020404" pitchFamily="49" charset="0"/>
              </a:rPr>
              <a:t>bnez x3,L2 //branch b2 (bb!=2)</a:t>
            </a:r>
          </a:p>
          <a:p>
            <a:r>
              <a:rPr lang="en-US" altLang="zh-CN" sz="2400" dirty="0">
                <a:latin typeface="Courier New" panose="02070309020205020404" pitchFamily="49" charset="0"/>
                <a:cs typeface="Courier New" panose="02070309020205020404" pitchFamily="49" charset="0"/>
              </a:rPr>
              <a:t>add x2,x0,x0 //bb=0</a:t>
            </a:r>
          </a:p>
          <a:p>
            <a:r>
              <a:rPr lang="en-US" altLang="zh-CN" sz="2400" dirty="0">
                <a:latin typeface="Courier New" panose="02070309020205020404" pitchFamily="49" charset="0"/>
                <a:cs typeface="Courier New" panose="02070309020205020404" pitchFamily="49" charset="0"/>
              </a:rPr>
              <a:t>L2: sub x3,x1,x2 //x3=aa-bb</a:t>
            </a:r>
          </a:p>
          <a:p>
            <a:r>
              <a:rPr lang="en-US" altLang="zh-CN" sz="2400" dirty="0" err="1">
                <a:latin typeface="Courier New" panose="02070309020205020404" pitchFamily="49" charset="0"/>
                <a:cs typeface="Courier New" panose="02070309020205020404" pitchFamily="49" charset="0"/>
              </a:rPr>
              <a:t>beqz</a:t>
            </a:r>
            <a:r>
              <a:rPr lang="en-US" altLang="zh-CN" sz="2400" dirty="0">
                <a:latin typeface="Courier New" panose="02070309020205020404" pitchFamily="49" charset="0"/>
                <a:cs typeface="Courier New" panose="02070309020205020404" pitchFamily="49" charset="0"/>
              </a:rPr>
              <a:t> x3,L3 //branch b3 (aa==bb)</a:t>
            </a:r>
            <a:endParaRPr lang="zh-CN" alt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462526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03" name="Rectangle 3"/>
          <p:cNvSpPr>
            <a:spLocks noGrp="1" noChangeArrowheads="1"/>
          </p:cNvSpPr>
          <p:nvPr>
            <p:ph type="title"/>
          </p:nvPr>
        </p:nvSpPr>
        <p:spPr/>
        <p:txBody>
          <a:bodyPr/>
          <a:lstStyle/>
          <a:p>
            <a:r>
              <a:rPr lang="en-US" altLang="en-US" smtClean="0"/>
              <a:t>Correlating Branches</a:t>
            </a:r>
            <a:endParaRPr lang="en-US" altLang="en-US"/>
          </a:p>
        </p:txBody>
      </p:sp>
      <p:sp>
        <p:nvSpPr>
          <p:cNvPr id="972804" name="Rectangle 4"/>
          <p:cNvSpPr>
            <a:spLocks noGrp="1" noChangeArrowheads="1"/>
          </p:cNvSpPr>
          <p:nvPr>
            <p:ph type="body" idx="1"/>
          </p:nvPr>
        </p:nvSpPr>
        <p:spPr>
          <a:xfrm>
            <a:off x="838200" y="1556792"/>
            <a:ext cx="6257652" cy="5112568"/>
          </a:xfrm>
        </p:spPr>
        <p:txBody>
          <a:bodyPr/>
          <a:lstStyle/>
          <a:p>
            <a:r>
              <a:rPr lang="en-US" altLang="en-US" dirty="0" smtClean="0"/>
              <a:t>Two-level Predictor</a:t>
            </a:r>
          </a:p>
          <a:p>
            <a:r>
              <a:rPr lang="en-US" altLang="en-US" dirty="0" smtClean="0"/>
              <a:t>Idea: taken/not taken of recently executed branches is related to behavior of next branch (as well as the history of that branch behavior)</a:t>
            </a:r>
          </a:p>
          <a:p>
            <a:pPr lvl="1"/>
            <a:r>
              <a:rPr lang="en-US" altLang="en-US" dirty="0" smtClean="0"/>
              <a:t>Then behavior of recent branches selects between, say, 4 predictions of next branch, updating just that prediction </a:t>
            </a:r>
          </a:p>
          <a:p>
            <a:pPr lvl="1"/>
            <a:r>
              <a:rPr lang="zh-CN" altLang="en-US" dirty="0" smtClean="0"/>
              <a:t>(</a:t>
            </a:r>
            <a:r>
              <a:rPr lang="en-US" altLang="zh-CN" i="1" dirty="0" smtClean="0"/>
              <a:t>m</a:t>
            </a:r>
            <a:r>
              <a:rPr lang="zh-CN" altLang="en-US" dirty="0" smtClean="0"/>
              <a:t>,</a:t>
            </a:r>
            <a:r>
              <a:rPr lang="en-US" altLang="zh-CN" i="1" dirty="0"/>
              <a:t>n</a:t>
            </a:r>
            <a:r>
              <a:rPr lang="zh-CN" altLang="en-US" dirty="0" smtClean="0"/>
              <a:t>) </a:t>
            </a:r>
            <a:r>
              <a:rPr lang="en-US" altLang="en-US" dirty="0" smtClean="0"/>
              <a:t>predictor</a:t>
            </a:r>
            <a:br>
              <a:rPr lang="en-US" altLang="en-US" dirty="0" smtClean="0"/>
            </a:br>
            <a:r>
              <a:rPr lang="en-US" altLang="en-US" i="1" dirty="0" smtClean="0"/>
              <a:t>m</a:t>
            </a:r>
            <a:r>
              <a:rPr lang="en-US" altLang="en-US" dirty="0" smtClean="0"/>
              <a:t>-bit global, </a:t>
            </a:r>
            <a:r>
              <a:rPr lang="en-US" altLang="en-US" i="1" dirty="0" smtClean="0"/>
              <a:t>n</a:t>
            </a:r>
            <a:r>
              <a:rPr lang="en-US" altLang="en-US" dirty="0" smtClean="0"/>
              <a:t>-bit local</a:t>
            </a:r>
          </a:p>
          <a:p>
            <a:pPr lvl="1"/>
            <a:r>
              <a:rPr lang="en-US" altLang="zh-CN" dirty="0"/>
              <a:t>T</a:t>
            </a:r>
            <a:r>
              <a:rPr lang="en-US" altLang="zh-CN" dirty="0" smtClean="0"/>
              <a:t>he global history </a:t>
            </a:r>
            <a:r>
              <a:rPr lang="en-US" altLang="zh-CN" dirty="0"/>
              <a:t>of the most recent </a:t>
            </a:r>
            <a:r>
              <a:rPr lang="en-US" altLang="zh-CN" i="1" dirty="0"/>
              <a:t>m</a:t>
            </a:r>
            <a:r>
              <a:rPr lang="en-US" altLang="zh-CN" dirty="0"/>
              <a:t> branches can be recorded in an </a:t>
            </a:r>
            <a:r>
              <a:rPr lang="en-US" altLang="zh-CN" i="1" dirty="0"/>
              <a:t>m</a:t>
            </a:r>
            <a:r>
              <a:rPr lang="en-US" altLang="zh-CN" dirty="0"/>
              <a:t>-bit shift </a:t>
            </a:r>
            <a:r>
              <a:rPr lang="en-US" altLang="zh-CN" dirty="0" smtClean="0"/>
              <a:t>register</a:t>
            </a:r>
            <a:endParaRPr lang="en-US" altLang="en-US" dirty="0" smtClean="0"/>
          </a:p>
        </p:txBody>
      </p:sp>
      <p:sp>
        <p:nvSpPr>
          <p:cNvPr id="972805" name="Rectangle 5"/>
          <p:cNvSpPr>
            <a:spLocks noChangeArrowheads="1"/>
          </p:cNvSpPr>
          <p:nvPr/>
        </p:nvSpPr>
        <p:spPr bwMode="auto">
          <a:xfrm>
            <a:off x="7734027" y="1641746"/>
            <a:ext cx="3178175" cy="336550"/>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lvl="1" algn="l">
              <a:lnSpc>
                <a:spcPct val="90000"/>
              </a:lnSpc>
              <a:spcBef>
                <a:spcPct val="30000"/>
              </a:spcBef>
            </a:pPr>
            <a:r>
              <a:rPr lang="en-US" altLang="en-US" b="1">
                <a:latin typeface="Helvetica" panose="020B0604020202020204" pitchFamily="34" charset="0"/>
              </a:rPr>
              <a:t>Branch address (4 bits)</a:t>
            </a:r>
          </a:p>
        </p:txBody>
      </p:sp>
      <p:sp>
        <p:nvSpPr>
          <p:cNvPr id="972806" name="Rectangle 6"/>
          <p:cNvSpPr>
            <a:spLocks noChangeArrowheads="1"/>
          </p:cNvSpPr>
          <p:nvPr/>
        </p:nvSpPr>
        <p:spPr bwMode="auto">
          <a:xfrm>
            <a:off x="7962627" y="2327547"/>
            <a:ext cx="2098675" cy="638175"/>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zh-CN" altLang="en-US" b="1">
                <a:latin typeface="Arial" panose="020B0604020202020204" pitchFamily="34" charset="0"/>
              </a:rPr>
              <a:t>2-</a:t>
            </a:r>
            <a:r>
              <a:rPr lang="en-US" altLang="en-US" b="1">
                <a:latin typeface="Arial" panose="020B0604020202020204" pitchFamily="34" charset="0"/>
              </a:rPr>
              <a:t>bits per branch </a:t>
            </a:r>
            <a:br>
              <a:rPr lang="en-US" altLang="en-US" b="1">
                <a:latin typeface="Arial" panose="020B0604020202020204" pitchFamily="34" charset="0"/>
              </a:rPr>
            </a:br>
            <a:r>
              <a:rPr lang="en-US" altLang="en-US" b="1">
                <a:latin typeface="Arial" panose="020B0604020202020204" pitchFamily="34" charset="0"/>
              </a:rPr>
              <a:t>local predictors</a:t>
            </a:r>
          </a:p>
        </p:txBody>
      </p:sp>
      <p:sp>
        <p:nvSpPr>
          <p:cNvPr id="972807" name="Rectangle 7"/>
          <p:cNvSpPr>
            <a:spLocks noChangeArrowheads="1"/>
          </p:cNvSpPr>
          <p:nvPr/>
        </p:nvSpPr>
        <p:spPr bwMode="auto">
          <a:xfrm>
            <a:off x="10564540" y="3797571"/>
            <a:ext cx="1298575" cy="363538"/>
          </a:xfrm>
          <a:prstGeom prst="rect">
            <a:avLst/>
          </a:prstGeom>
          <a:solidFill>
            <a:schemeClr val="bg1"/>
          </a:solidFill>
          <a:ln>
            <a:noFill/>
          </a:ln>
          <a:effectLst>
            <a:outerShdw dist="107763" dir="2700000" algn="ctr" rotWithShape="0">
              <a:schemeClr val="bg1"/>
            </a:outerShdw>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Lst>
        </p:spPr>
        <p:txBody>
          <a:bodyPr wrap="none" lIns="90487" tIns="44450" rIns="90487" bIns="44450">
            <a:spAutoFit/>
          </a:bodyPr>
          <a:lstStyle/>
          <a:p>
            <a:pPr algn="l"/>
            <a:r>
              <a:rPr lang="en-US" altLang="en-US" b="1">
                <a:latin typeface="Arial" panose="020B0604020202020204" pitchFamily="34" charset="0"/>
              </a:rPr>
              <a:t>Prediction</a:t>
            </a:r>
          </a:p>
        </p:txBody>
      </p:sp>
      <p:sp>
        <p:nvSpPr>
          <p:cNvPr id="972808" name="Rectangle 8"/>
          <p:cNvSpPr>
            <a:spLocks noChangeArrowheads="1"/>
          </p:cNvSpPr>
          <p:nvPr/>
        </p:nvSpPr>
        <p:spPr bwMode="auto">
          <a:xfrm>
            <a:off x="7464152" y="5756547"/>
            <a:ext cx="3070225" cy="912813"/>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zh-CN" altLang="en-US" b="1" dirty="0">
                <a:latin typeface="Arial" panose="020B0604020202020204" pitchFamily="34" charset="0"/>
              </a:rPr>
              <a:t>2-</a:t>
            </a:r>
            <a:r>
              <a:rPr lang="en-US" altLang="en-US" b="1" dirty="0">
                <a:latin typeface="Arial" panose="020B0604020202020204" pitchFamily="34" charset="0"/>
              </a:rPr>
              <a:t>bit global </a:t>
            </a:r>
          </a:p>
          <a:p>
            <a:r>
              <a:rPr lang="en-US" altLang="en-US" b="1" dirty="0">
                <a:latin typeface="Arial" panose="020B0604020202020204" pitchFamily="34" charset="0"/>
              </a:rPr>
              <a:t>branch history</a:t>
            </a:r>
          </a:p>
          <a:p>
            <a:r>
              <a:rPr lang="en-US" altLang="en-US" b="1" dirty="0">
                <a:latin typeface="Arial" panose="020B0604020202020204" pitchFamily="34" charset="0"/>
              </a:rPr>
              <a:t>(01 = not taken then taken)</a:t>
            </a:r>
          </a:p>
        </p:txBody>
      </p:sp>
      <p:sp>
        <p:nvSpPr>
          <p:cNvPr id="972810" name="Rectangle 10"/>
          <p:cNvSpPr>
            <a:spLocks noChangeArrowheads="1"/>
          </p:cNvSpPr>
          <p:nvPr/>
        </p:nvSpPr>
        <p:spPr bwMode="auto">
          <a:xfrm>
            <a:off x="10248626" y="3927746"/>
            <a:ext cx="279400" cy="15240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72815" name="Group 15"/>
          <p:cNvGrpSpPr>
            <a:grpSpLocks/>
          </p:cNvGrpSpPr>
          <p:nvPr/>
        </p:nvGrpSpPr>
        <p:grpSpPr bwMode="auto">
          <a:xfrm>
            <a:off x="8089626" y="3903934"/>
            <a:ext cx="1790700" cy="127000"/>
            <a:chOff x="3296" y="2416"/>
            <a:chExt cx="1128" cy="80"/>
          </a:xfrm>
        </p:grpSpPr>
        <p:sp>
          <p:nvSpPr>
            <p:cNvPr id="972809" name="Rectangle 9"/>
            <p:cNvSpPr>
              <a:spLocks noChangeArrowheads="1"/>
            </p:cNvSpPr>
            <p:nvPr/>
          </p:nvSpPr>
          <p:spPr bwMode="auto">
            <a:xfrm>
              <a:off x="3664" y="2416"/>
              <a:ext cx="184" cy="8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11" name="Rectangle 11"/>
            <p:cNvSpPr>
              <a:spLocks noChangeArrowheads="1"/>
            </p:cNvSpPr>
            <p:nvPr/>
          </p:nvSpPr>
          <p:spPr bwMode="auto">
            <a:xfrm>
              <a:off x="3296" y="2416"/>
              <a:ext cx="184" cy="8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12" name="Rectangle 12"/>
            <p:cNvSpPr>
              <a:spLocks noChangeArrowheads="1"/>
            </p:cNvSpPr>
            <p:nvPr/>
          </p:nvSpPr>
          <p:spPr bwMode="auto">
            <a:xfrm>
              <a:off x="3960" y="2416"/>
              <a:ext cx="184" cy="8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13" name="Rectangle 13"/>
            <p:cNvSpPr>
              <a:spLocks noChangeArrowheads="1"/>
            </p:cNvSpPr>
            <p:nvPr/>
          </p:nvSpPr>
          <p:spPr bwMode="auto">
            <a:xfrm>
              <a:off x="4240" y="2416"/>
              <a:ext cx="184" cy="8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72816" name="Group 16"/>
          <p:cNvGrpSpPr>
            <a:grpSpLocks/>
          </p:cNvGrpSpPr>
          <p:nvPr/>
        </p:nvGrpSpPr>
        <p:grpSpPr bwMode="auto">
          <a:xfrm>
            <a:off x="8089626" y="4059509"/>
            <a:ext cx="1790700" cy="127000"/>
            <a:chOff x="3296" y="2416"/>
            <a:chExt cx="1128" cy="80"/>
          </a:xfrm>
        </p:grpSpPr>
        <p:sp>
          <p:nvSpPr>
            <p:cNvPr id="972817" name="Rectangle 17"/>
            <p:cNvSpPr>
              <a:spLocks noChangeArrowheads="1"/>
            </p:cNvSpPr>
            <p:nvPr/>
          </p:nvSpPr>
          <p:spPr bwMode="auto">
            <a:xfrm>
              <a:off x="3664"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18" name="Rectangle 18"/>
            <p:cNvSpPr>
              <a:spLocks noChangeArrowheads="1"/>
            </p:cNvSpPr>
            <p:nvPr/>
          </p:nvSpPr>
          <p:spPr bwMode="auto">
            <a:xfrm>
              <a:off x="3296"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19" name="Rectangle 19"/>
            <p:cNvSpPr>
              <a:spLocks noChangeArrowheads="1"/>
            </p:cNvSpPr>
            <p:nvPr/>
          </p:nvSpPr>
          <p:spPr bwMode="auto">
            <a:xfrm>
              <a:off x="3960"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20" name="Rectangle 20"/>
            <p:cNvSpPr>
              <a:spLocks noChangeArrowheads="1"/>
            </p:cNvSpPr>
            <p:nvPr/>
          </p:nvSpPr>
          <p:spPr bwMode="auto">
            <a:xfrm>
              <a:off x="4240"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72821" name="Group 21"/>
          <p:cNvGrpSpPr>
            <a:grpSpLocks/>
          </p:cNvGrpSpPr>
          <p:nvPr/>
        </p:nvGrpSpPr>
        <p:grpSpPr bwMode="auto">
          <a:xfrm>
            <a:off x="8089626" y="4216671"/>
            <a:ext cx="1790700" cy="127000"/>
            <a:chOff x="3296" y="2416"/>
            <a:chExt cx="1128" cy="80"/>
          </a:xfrm>
        </p:grpSpPr>
        <p:sp>
          <p:nvSpPr>
            <p:cNvPr id="972822" name="Rectangle 22"/>
            <p:cNvSpPr>
              <a:spLocks noChangeArrowheads="1"/>
            </p:cNvSpPr>
            <p:nvPr/>
          </p:nvSpPr>
          <p:spPr bwMode="auto">
            <a:xfrm>
              <a:off x="3664"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23" name="Rectangle 23"/>
            <p:cNvSpPr>
              <a:spLocks noChangeArrowheads="1"/>
            </p:cNvSpPr>
            <p:nvPr/>
          </p:nvSpPr>
          <p:spPr bwMode="auto">
            <a:xfrm>
              <a:off x="3296"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24" name="Rectangle 24"/>
            <p:cNvSpPr>
              <a:spLocks noChangeArrowheads="1"/>
            </p:cNvSpPr>
            <p:nvPr/>
          </p:nvSpPr>
          <p:spPr bwMode="auto">
            <a:xfrm>
              <a:off x="3960"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25" name="Rectangle 25"/>
            <p:cNvSpPr>
              <a:spLocks noChangeArrowheads="1"/>
            </p:cNvSpPr>
            <p:nvPr/>
          </p:nvSpPr>
          <p:spPr bwMode="auto">
            <a:xfrm>
              <a:off x="4240"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72826" name="Group 26"/>
          <p:cNvGrpSpPr>
            <a:grpSpLocks/>
          </p:cNvGrpSpPr>
          <p:nvPr/>
        </p:nvGrpSpPr>
        <p:grpSpPr bwMode="auto">
          <a:xfrm>
            <a:off x="8089626" y="4372246"/>
            <a:ext cx="1790700" cy="127000"/>
            <a:chOff x="3296" y="2416"/>
            <a:chExt cx="1128" cy="80"/>
          </a:xfrm>
        </p:grpSpPr>
        <p:sp>
          <p:nvSpPr>
            <p:cNvPr id="972827" name="Rectangle 27"/>
            <p:cNvSpPr>
              <a:spLocks noChangeArrowheads="1"/>
            </p:cNvSpPr>
            <p:nvPr/>
          </p:nvSpPr>
          <p:spPr bwMode="auto">
            <a:xfrm>
              <a:off x="3664"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28" name="Rectangle 28"/>
            <p:cNvSpPr>
              <a:spLocks noChangeArrowheads="1"/>
            </p:cNvSpPr>
            <p:nvPr/>
          </p:nvSpPr>
          <p:spPr bwMode="auto">
            <a:xfrm>
              <a:off x="3296"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29" name="Rectangle 29"/>
            <p:cNvSpPr>
              <a:spLocks noChangeArrowheads="1"/>
            </p:cNvSpPr>
            <p:nvPr/>
          </p:nvSpPr>
          <p:spPr bwMode="auto">
            <a:xfrm>
              <a:off x="3960"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30" name="Rectangle 30"/>
            <p:cNvSpPr>
              <a:spLocks noChangeArrowheads="1"/>
            </p:cNvSpPr>
            <p:nvPr/>
          </p:nvSpPr>
          <p:spPr bwMode="auto">
            <a:xfrm>
              <a:off x="4240"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72831" name="Group 31"/>
          <p:cNvGrpSpPr>
            <a:grpSpLocks/>
          </p:cNvGrpSpPr>
          <p:nvPr/>
        </p:nvGrpSpPr>
        <p:grpSpPr bwMode="auto">
          <a:xfrm>
            <a:off x="8089626" y="4529409"/>
            <a:ext cx="1790700" cy="127000"/>
            <a:chOff x="3296" y="2416"/>
            <a:chExt cx="1128" cy="80"/>
          </a:xfrm>
        </p:grpSpPr>
        <p:sp>
          <p:nvSpPr>
            <p:cNvPr id="972832" name="Rectangle 32"/>
            <p:cNvSpPr>
              <a:spLocks noChangeArrowheads="1"/>
            </p:cNvSpPr>
            <p:nvPr/>
          </p:nvSpPr>
          <p:spPr bwMode="auto">
            <a:xfrm>
              <a:off x="3664"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33" name="Rectangle 33"/>
            <p:cNvSpPr>
              <a:spLocks noChangeArrowheads="1"/>
            </p:cNvSpPr>
            <p:nvPr/>
          </p:nvSpPr>
          <p:spPr bwMode="auto">
            <a:xfrm>
              <a:off x="3296"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34" name="Rectangle 34"/>
            <p:cNvSpPr>
              <a:spLocks noChangeArrowheads="1"/>
            </p:cNvSpPr>
            <p:nvPr/>
          </p:nvSpPr>
          <p:spPr bwMode="auto">
            <a:xfrm>
              <a:off x="3960"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35" name="Rectangle 35"/>
            <p:cNvSpPr>
              <a:spLocks noChangeArrowheads="1"/>
            </p:cNvSpPr>
            <p:nvPr/>
          </p:nvSpPr>
          <p:spPr bwMode="auto">
            <a:xfrm>
              <a:off x="4240"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72836" name="Group 36"/>
          <p:cNvGrpSpPr>
            <a:grpSpLocks/>
          </p:cNvGrpSpPr>
          <p:nvPr/>
        </p:nvGrpSpPr>
        <p:grpSpPr bwMode="auto">
          <a:xfrm>
            <a:off x="8089626" y="4684984"/>
            <a:ext cx="1790700" cy="127000"/>
            <a:chOff x="3296" y="2416"/>
            <a:chExt cx="1128" cy="80"/>
          </a:xfrm>
        </p:grpSpPr>
        <p:sp>
          <p:nvSpPr>
            <p:cNvPr id="972837" name="Rectangle 37"/>
            <p:cNvSpPr>
              <a:spLocks noChangeArrowheads="1"/>
            </p:cNvSpPr>
            <p:nvPr/>
          </p:nvSpPr>
          <p:spPr bwMode="auto">
            <a:xfrm>
              <a:off x="3664"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38" name="Rectangle 38"/>
            <p:cNvSpPr>
              <a:spLocks noChangeArrowheads="1"/>
            </p:cNvSpPr>
            <p:nvPr/>
          </p:nvSpPr>
          <p:spPr bwMode="auto">
            <a:xfrm>
              <a:off x="3296"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39" name="Rectangle 39"/>
            <p:cNvSpPr>
              <a:spLocks noChangeArrowheads="1"/>
            </p:cNvSpPr>
            <p:nvPr/>
          </p:nvSpPr>
          <p:spPr bwMode="auto">
            <a:xfrm>
              <a:off x="3960"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40" name="Rectangle 40"/>
            <p:cNvSpPr>
              <a:spLocks noChangeArrowheads="1"/>
            </p:cNvSpPr>
            <p:nvPr/>
          </p:nvSpPr>
          <p:spPr bwMode="auto">
            <a:xfrm>
              <a:off x="4240"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72841" name="Group 41"/>
          <p:cNvGrpSpPr>
            <a:grpSpLocks/>
          </p:cNvGrpSpPr>
          <p:nvPr/>
        </p:nvGrpSpPr>
        <p:grpSpPr bwMode="auto">
          <a:xfrm>
            <a:off x="8089626" y="4842146"/>
            <a:ext cx="1790700" cy="127000"/>
            <a:chOff x="3296" y="2416"/>
            <a:chExt cx="1128" cy="80"/>
          </a:xfrm>
        </p:grpSpPr>
        <p:sp>
          <p:nvSpPr>
            <p:cNvPr id="972842" name="Rectangle 42"/>
            <p:cNvSpPr>
              <a:spLocks noChangeArrowheads="1"/>
            </p:cNvSpPr>
            <p:nvPr/>
          </p:nvSpPr>
          <p:spPr bwMode="auto">
            <a:xfrm>
              <a:off x="3664"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43" name="Rectangle 43"/>
            <p:cNvSpPr>
              <a:spLocks noChangeArrowheads="1"/>
            </p:cNvSpPr>
            <p:nvPr/>
          </p:nvSpPr>
          <p:spPr bwMode="auto">
            <a:xfrm>
              <a:off x="3296"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44" name="Rectangle 44"/>
            <p:cNvSpPr>
              <a:spLocks noChangeArrowheads="1"/>
            </p:cNvSpPr>
            <p:nvPr/>
          </p:nvSpPr>
          <p:spPr bwMode="auto">
            <a:xfrm>
              <a:off x="3960"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45" name="Rectangle 45"/>
            <p:cNvSpPr>
              <a:spLocks noChangeArrowheads="1"/>
            </p:cNvSpPr>
            <p:nvPr/>
          </p:nvSpPr>
          <p:spPr bwMode="auto">
            <a:xfrm>
              <a:off x="4240"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72846" name="Group 46"/>
          <p:cNvGrpSpPr>
            <a:grpSpLocks/>
          </p:cNvGrpSpPr>
          <p:nvPr/>
        </p:nvGrpSpPr>
        <p:grpSpPr bwMode="auto">
          <a:xfrm>
            <a:off x="8089626" y="2937146"/>
            <a:ext cx="1790700" cy="127000"/>
            <a:chOff x="3296" y="2416"/>
            <a:chExt cx="1128" cy="80"/>
          </a:xfrm>
        </p:grpSpPr>
        <p:sp>
          <p:nvSpPr>
            <p:cNvPr id="972847" name="Rectangle 47"/>
            <p:cNvSpPr>
              <a:spLocks noChangeArrowheads="1"/>
            </p:cNvSpPr>
            <p:nvPr/>
          </p:nvSpPr>
          <p:spPr bwMode="auto">
            <a:xfrm>
              <a:off x="3664"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48" name="Rectangle 48"/>
            <p:cNvSpPr>
              <a:spLocks noChangeArrowheads="1"/>
            </p:cNvSpPr>
            <p:nvPr/>
          </p:nvSpPr>
          <p:spPr bwMode="auto">
            <a:xfrm>
              <a:off x="3296"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49" name="Rectangle 49"/>
            <p:cNvSpPr>
              <a:spLocks noChangeArrowheads="1"/>
            </p:cNvSpPr>
            <p:nvPr/>
          </p:nvSpPr>
          <p:spPr bwMode="auto">
            <a:xfrm>
              <a:off x="3960"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50" name="Rectangle 50"/>
            <p:cNvSpPr>
              <a:spLocks noChangeArrowheads="1"/>
            </p:cNvSpPr>
            <p:nvPr/>
          </p:nvSpPr>
          <p:spPr bwMode="auto">
            <a:xfrm>
              <a:off x="4240"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72851" name="Group 51"/>
          <p:cNvGrpSpPr>
            <a:grpSpLocks/>
          </p:cNvGrpSpPr>
          <p:nvPr/>
        </p:nvGrpSpPr>
        <p:grpSpPr bwMode="auto">
          <a:xfrm>
            <a:off x="8089626" y="3092721"/>
            <a:ext cx="1790700" cy="127000"/>
            <a:chOff x="3296" y="2416"/>
            <a:chExt cx="1128" cy="80"/>
          </a:xfrm>
        </p:grpSpPr>
        <p:sp>
          <p:nvSpPr>
            <p:cNvPr id="972852" name="Rectangle 52"/>
            <p:cNvSpPr>
              <a:spLocks noChangeArrowheads="1"/>
            </p:cNvSpPr>
            <p:nvPr/>
          </p:nvSpPr>
          <p:spPr bwMode="auto">
            <a:xfrm>
              <a:off x="3664"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53" name="Rectangle 53"/>
            <p:cNvSpPr>
              <a:spLocks noChangeArrowheads="1"/>
            </p:cNvSpPr>
            <p:nvPr/>
          </p:nvSpPr>
          <p:spPr bwMode="auto">
            <a:xfrm>
              <a:off x="3296"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54" name="Rectangle 54"/>
            <p:cNvSpPr>
              <a:spLocks noChangeArrowheads="1"/>
            </p:cNvSpPr>
            <p:nvPr/>
          </p:nvSpPr>
          <p:spPr bwMode="auto">
            <a:xfrm>
              <a:off x="3960"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55" name="Rectangle 55"/>
            <p:cNvSpPr>
              <a:spLocks noChangeArrowheads="1"/>
            </p:cNvSpPr>
            <p:nvPr/>
          </p:nvSpPr>
          <p:spPr bwMode="auto">
            <a:xfrm>
              <a:off x="4240"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72856" name="Group 56"/>
          <p:cNvGrpSpPr>
            <a:grpSpLocks/>
          </p:cNvGrpSpPr>
          <p:nvPr/>
        </p:nvGrpSpPr>
        <p:grpSpPr bwMode="auto">
          <a:xfrm>
            <a:off x="8089626" y="3248296"/>
            <a:ext cx="1790700" cy="127000"/>
            <a:chOff x="3296" y="2416"/>
            <a:chExt cx="1128" cy="80"/>
          </a:xfrm>
        </p:grpSpPr>
        <p:sp>
          <p:nvSpPr>
            <p:cNvPr id="972857" name="Rectangle 57"/>
            <p:cNvSpPr>
              <a:spLocks noChangeArrowheads="1"/>
            </p:cNvSpPr>
            <p:nvPr/>
          </p:nvSpPr>
          <p:spPr bwMode="auto">
            <a:xfrm>
              <a:off x="3664"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58" name="Rectangle 58"/>
            <p:cNvSpPr>
              <a:spLocks noChangeArrowheads="1"/>
            </p:cNvSpPr>
            <p:nvPr/>
          </p:nvSpPr>
          <p:spPr bwMode="auto">
            <a:xfrm>
              <a:off x="3296"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59" name="Rectangle 59"/>
            <p:cNvSpPr>
              <a:spLocks noChangeArrowheads="1"/>
            </p:cNvSpPr>
            <p:nvPr/>
          </p:nvSpPr>
          <p:spPr bwMode="auto">
            <a:xfrm>
              <a:off x="3960"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60" name="Rectangle 60"/>
            <p:cNvSpPr>
              <a:spLocks noChangeArrowheads="1"/>
            </p:cNvSpPr>
            <p:nvPr/>
          </p:nvSpPr>
          <p:spPr bwMode="auto">
            <a:xfrm>
              <a:off x="4240"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72861" name="Group 61"/>
          <p:cNvGrpSpPr>
            <a:grpSpLocks/>
          </p:cNvGrpSpPr>
          <p:nvPr/>
        </p:nvGrpSpPr>
        <p:grpSpPr bwMode="auto">
          <a:xfrm>
            <a:off x="8089626" y="3405459"/>
            <a:ext cx="1790700" cy="127000"/>
            <a:chOff x="3296" y="2416"/>
            <a:chExt cx="1128" cy="80"/>
          </a:xfrm>
        </p:grpSpPr>
        <p:sp>
          <p:nvSpPr>
            <p:cNvPr id="972862" name="Rectangle 62"/>
            <p:cNvSpPr>
              <a:spLocks noChangeArrowheads="1"/>
            </p:cNvSpPr>
            <p:nvPr/>
          </p:nvSpPr>
          <p:spPr bwMode="auto">
            <a:xfrm>
              <a:off x="3664"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63" name="Rectangle 63"/>
            <p:cNvSpPr>
              <a:spLocks noChangeArrowheads="1"/>
            </p:cNvSpPr>
            <p:nvPr/>
          </p:nvSpPr>
          <p:spPr bwMode="auto">
            <a:xfrm>
              <a:off x="3296"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64" name="Rectangle 64"/>
            <p:cNvSpPr>
              <a:spLocks noChangeArrowheads="1"/>
            </p:cNvSpPr>
            <p:nvPr/>
          </p:nvSpPr>
          <p:spPr bwMode="auto">
            <a:xfrm>
              <a:off x="3960"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65" name="Rectangle 65"/>
            <p:cNvSpPr>
              <a:spLocks noChangeArrowheads="1"/>
            </p:cNvSpPr>
            <p:nvPr/>
          </p:nvSpPr>
          <p:spPr bwMode="auto">
            <a:xfrm>
              <a:off x="4240"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72866" name="Group 66"/>
          <p:cNvGrpSpPr>
            <a:grpSpLocks/>
          </p:cNvGrpSpPr>
          <p:nvPr/>
        </p:nvGrpSpPr>
        <p:grpSpPr bwMode="auto">
          <a:xfrm>
            <a:off x="8089626" y="3561034"/>
            <a:ext cx="1790700" cy="127000"/>
            <a:chOff x="3296" y="2416"/>
            <a:chExt cx="1128" cy="80"/>
          </a:xfrm>
        </p:grpSpPr>
        <p:sp>
          <p:nvSpPr>
            <p:cNvPr id="972867" name="Rectangle 67"/>
            <p:cNvSpPr>
              <a:spLocks noChangeArrowheads="1"/>
            </p:cNvSpPr>
            <p:nvPr/>
          </p:nvSpPr>
          <p:spPr bwMode="auto">
            <a:xfrm>
              <a:off x="3664"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68" name="Rectangle 68"/>
            <p:cNvSpPr>
              <a:spLocks noChangeArrowheads="1"/>
            </p:cNvSpPr>
            <p:nvPr/>
          </p:nvSpPr>
          <p:spPr bwMode="auto">
            <a:xfrm>
              <a:off x="3296"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69" name="Rectangle 69"/>
            <p:cNvSpPr>
              <a:spLocks noChangeArrowheads="1"/>
            </p:cNvSpPr>
            <p:nvPr/>
          </p:nvSpPr>
          <p:spPr bwMode="auto">
            <a:xfrm>
              <a:off x="3960"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70" name="Rectangle 70"/>
            <p:cNvSpPr>
              <a:spLocks noChangeArrowheads="1"/>
            </p:cNvSpPr>
            <p:nvPr/>
          </p:nvSpPr>
          <p:spPr bwMode="auto">
            <a:xfrm>
              <a:off x="4240"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72871" name="Group 71"/>
          <p:cNvGrpSpPr>
            <a:grpSpLocks/>
          </p:cNvGrpSpPr>
          <p:nvPr/>
        </p:nvGrpSpPr>
        <p:grpSpPr bwMode="auto">
          <a:xfrm>
            <a:off x="8089626" y="3718196"/>
            <a:ext cx="1790700" cy="127000"/>
            <a:chOff x="3296" y="2416"/>
            <a:chExt cx="1128" cy="80"/>
          </a:xfrm>
        </p:grpSpPr>
        <p:sp>
          <p:nvSpPr>
            <p:cNvPr id="972872" name="Rectangle 72"/>
            <p:cNvSpPr>
              <a:spLocks noChangeArrowheads="1"/>
            </p:cNvSpPr>
            <p:nvPr/>
          </p:nvSpPr>
          <p:spPr bwMode="auto">
            <a:xfrm>
              <a:off x="3664"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73" name="Rectangle 73"/>
            <p:cNvSpPr>
              <a:spLocks noChangeArrowheads="1"/>
            </p:cNvSpPr>
            <p:nvPr/>
          </p:nvSpPr>
          <p:spPr bwMode="auto">
            <a:xfrm>
              <a:off x="3296"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74" name="Rectangle 74"/>
            <p:cNvSpPr>
              <a:spLocks noChangeArrowheads="1"/>
            </p:cNvSpPr>
            <p:nvPr/>
          </p:nvSpPr>
          <p:spPr bwMode="auto">
            <a:xfrm>
              <a:off x="3960"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75" name="Rectangle 75"/>
            <p:cNvSpPr>
              <a:spLocks noChangeArrowheads="1"/>
            </p:cNvSpPr>
            <p:nvPr/>
          </p:nvSpPr>
          <p:spPr bwMode="auto">
            <a:xfrm>
              <a:off x="4240" y="2416"/>
              <a:ext cx="184" cy="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cxnSp>
        <p:nvCxnSpPr>
          <p:cNvPr id="972876" name="AutoShape 76"/>
          <p:cNvCxnSpPr>
            <a:cxnSpLocks noChangeShapeType="1"/>
            <a:stCxn id="972805" idx="2"/>
            <a:endCxn id="972811" idx="1"/>
          </p:cNvCxnSpPr>
          <p:nvPr/>
        </p:nvCxnSpPr>
        <p:spPr bwMode="auto">
          <a:xfrm rot="5400000">
            <a:off x="7711801" y="2356121"/>
            <a:ext cx="1989138" cy="1233488"/>
          </a:xfrm>
          <a:prstGeom prst="bentConnector4">
            <a:avLst>
              <a:gd name="adj1" fmla="val 15880"/>
              <a:gd name="adj2" fmla="val 118532"/>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72877" name="Line 77"/>
          <p:cNvSpPr>
            <a:spLocks noChangeShapeType="1"/>
          </p:cNvSpPr>
          <p:nvPr/>
        </p:nvSpPr>
        <p:spPr bwMode="auto">
          <a:xfrm>
            <a:off x="9943826" y="4003946"/>
            <a:ext cx="3048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79" name="Rectangle 79"/>
          <p:cNvSpPr>
            <a:spLocks noChangeArrowheads="1"/>
          </p:cNvSpPr>
          <p:nvPr/>
        </p:nvSpPr>
        <p:spPr bwMode="auto">
          <a:xfrm>
            <a:off x="9029426" y="5604146"/>
            <a:ext cx="292100" cy="1270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80" name="Rectangle 80"/>
          <p:cNvSpPr>
            <a:spLocks noChangeArrowheads="1"/>
          </p:cNvSpPr>
          <p:nvPr/>
        </p:nvSpPr>
        <p:spPr bwMode="auto">
          <a:xfrm>
            <a:off x="8724626" y="5604146"/>
            <a:ext cx="292100" cy="1270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86" name="Freeform 86"/>
          <p:cNvSpPr>
            <a:spLocks/>
          </p:cNvSpPr>
          <p:nvPr/>
        </p:nvSpPr>
        <p:spPr bwMode="auto">
          <a:xfrm>
            <a:off x="8724626" y="5415234"/>
            <a:ext cx="609600" cy="188912"/>
          </a:xfrm>
          <a:custGeom>
            <a:avLst/>
            <a:gdLst>
              <a:gd name="T0" fmla="*/ 0 w 384"/>
              <a:gd name="T1" fmla="*/ 119 h 119"/>
              <a:gd name="T2" fmla="*/ 192 w 384"/>
              <a:gd name="T3" fmla="*/ 0 h 119"/>
              <a:gd name="T4" fmla="*/ 384 w 384"/>
              <a:gd name="T5" fmla="*/ 111 h 119"/>
            </a:gdLst>
            <a:ahLst/>
            <a:cxnLst>
              <a:cxn ang="0">
                <a:pos x="T0" y="T1"/>
              </a:cxn>
              <a:cxn ang="0">
                <a:pos x="T2" y="T3"/>
              </a:cxn>
              <a:cxn ang="0">
                <a:pos x="T4" y="T5"/>
              </a:cxn>
            </a:cxnLst>
            <a:rect l="0" t="0" r="r" b="b"/>
            <a:pathLst>
              <a:path w="384" h="119">
                <a:moveTo>
                  <a:pt x="0" y="119"/>
                </a:moveTo>
                <a:lnTo>
                  <a:pt x="192" y="0"/>
                </a:lnTo>
                <a:lnTo>
                  <a:pt x="384" y="111"/>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972887" name="AutoShape 87"/>
          <p:cNvCxnSpPr>
            <a:cxnSpLocks noChangeShapeType="1"/>
            <a:stCxn id="972886" idx="1"/>
            <a:endCxn id="972842" idx="2"/>
          </p:cNvCxnSpPr>
          <p:nvPr/>
        </p:nvCxnSpPr>
        <p:spPr bwMode="auto">
          <a:xfrm rot="5400000" flipH="1">
            <a:off x="8708751" y="5080271"/>
            <a:ext cx="431800" cy="209550"/>
          </a:xfrm>
          <a:prstGeom prst="bentConnector3">
            <a:avLst>
              <a:gd name="adj1" fmla="val 48162"/>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751435384"/>
      </p:ext>
    </p:extLst>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3826" name="Object 2"/>
          <p:cNvGraphicFramePr>
            <a:graphicFrameLocks/>
          </p:cNvGraphicFramePr>
          <p:nvPr>
            <p:extLst>
              <p:ext uri="{D42A27DB-BD31-4B8C-83A1-F6EECF244321}">
                <p14:modId xmlns:p14="http://schemas.microsoft.com/office/powerpoint/2010/main" val="93119669"/>
              </p:ext>
            </p:extLst>
          </p:nvPr>
        </p:nvGraphicFramePr>
        <p:xfrm>
          <a:off x="4545880" y="1307926"/>
          <a:ext cx="7670800" cy="5505450"/>
        </p:xfrm>
        <a:graphic>
          <a:graphicData uri="http://schemas.openxmlformats.org/presentationml/2006/ole">
            <mc:AlternateContent xmlns:mc="http://schemas.openxmlformats.org/markup-compatibility/2006">
              <mc:Choice xmlns:v="urn:schemas-microsoft-com:vml" Requires="v">
                <p:oleObj spid="_x0000_s86084" name="图表" r:id="rId4" imgW="7772527" imgH="5707339" progId="Excel.Chart.8">
                  <p:embed followColorScheme="full"/>
                </p:oleObj>
              </mc:Choice>
              <mc:Fallback>
                <p:oleObj name="图表" r:id="rId4" imgW="7772527" imgH="5707339" progId="Excel.Chart.8">
                  <p:embed followColorScheme="full"/>
                  <p:pic>
                    <p:nvPicPr>
                      <p:cNvPr id="973826" name="Object 2"/>
                      <p:cNvPicPr>
                        <a:picLocks noChangeArrowheads="1"/>
                      </p:cNvPicPr>
                      <p:nvPr/>
                    </p:nvPicPr>
                    <p:blipFill>
                      <a:blip r:embed="rId5"/>
                      <a:srcRect/>
                      <a:stretch>
                        <a:fillRect/>
                      </a:stretch>
                    </p:blipFill>
                    <p:spPr bwMode="auto">
                      <a:xfrm>
                        <a:off x="4545880" y="1307926"/>
                        <a:ext cx="7670800" cy="55054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3827" name="Rectangle 3"/>
          <p:cNvSpPr>
            <a:spLocks noGrp="1" noChangeArrowheads="1"/>
          </p:cNvSpPr>
          <p:nvPr>
            <p:ph type="title"/>
          </p:nvPr>
        </p:nvSpPr>
        <p:spPr/>
        <p:txBody>
          <a:bodyPr/>
          <a:lstStyle/>
          <a:p>
            <a:r>
              <a:rPr lang="en-US" altLang="en-US" dirty="0" smtClean="0"/>
              <a:t>Accuracy of Different </a:t>
            </a:r>
            <a:r>
              <a:rPr lang="en-US" altLang="zh-CN" dirty="0" smtClean="0"/>
              <a:t>BHT </a:t>
            </a:r>
            <a:r>
              <a:rPr lang="en-US" altLang="en-US" dirty="0" smtClean="0"/>
              <a:t>Schemes</a:t>
            </a:r>
            <a:endParaRPr lang="en-US" altLang="en-US" dirty="0"/>
          </a:p>
        </p:txBody>
      </p:sp>
      <p:sp>
        <p:nvSpPr>
          <p:cNvPr id="3" name="内容占位符 2"/>
          <p:cNvSpPr>
            <a:spLocks noGrp="1"/>
          </p:cNvSpPr>
          <p:nvPr>
            <p:ph idx="1"/>
          </p:nvPr>
        </p:nvSpPr>
        <p:spPr>
          <a:xfrm>
            <a:off x="191344" y="1556792"/>
            <a:ext cx="10515600" cy="5112568"/>
          </a:xfrm>
        </p:spPr>
        <p:txBody>
          <a:bodyPr/>
          <a:lstStyle/>
          <a:p>
            <a:r>
              <a:rPr lang="en-US" altLang="zh-CN" dirty="0" err="1"/>
              <a:t>Mispredict</a:t>
            </a:r>
            <a:r>
              <a:rPr lang="en-US" altLang="zh-CN" dirty="0"/>
              <a:t> because </a:t>
            </a:r>
            <a:r>
              <a:rPr lang="en-US" altLang="zh-CN" dirty="0" smtClean="0"/>
              <a:t>either</a:t>
            </a:r>
            <a:endParaRPr lang="en-US" altLang="zh-CN" dirty="0"/>
          </a:p>
          <a:p>
            <a:pPr lvl="1"/>
            <a:r>
              <a:rPr lang="en-US" altLang="zh-CN" dirty="0"/>
              <a:t>Wrong guess for that branch</a:t>
            </a:r>
          </a:p>
          <a:p>
            <a:pPr lvl="1"/>
            <a:r>
              <a:rPr lang="en-US" altLang="zh-CN" dirty="0"/>
              <a:t>Got branch history of wrong </a:t>
            </a:r>
            <a:r>
              <a:rPr lang="en-US" altLang="zh-CN" dirty="0" smtClean="0"/>
              <a:t/>
            </a:r>
            <a:br>
              <a:rPr lang="en-US" altLang="zh-CN" dirty="0" smtClean="0"/>
            </a:br>
            <a:r>
              <a:rPr lang="en-US" altLang="zh-CN" dirty="0" smtClean="0"/>
              <a:t>branch </a:t>
            </a:r>
            <a:r>
              <a:rPr lang="en-US" altLang="zh-CN" dirty="0"/>
              <a:t>when index the table</a:t>
            </a:r>
          </a:p>
          <a:p>
            <a:r>
              <a:rPr lang="en-US" altLang="zh-CN" dirty="0"/>
              <a:t>4096 entry table  programs </a:t>
            </a:r>
            <a:r>
              <a:rPr lang="en-US" altLang="zh-CN" dirty="0" smtClean="0"/>
              <a:t/>
            </a:r>
            <a:br>
              <a:rPr lang="en-US" altLang="zh-CN" dirty="0" smtClean="0"/>
            </a:br>
            <a:r>
              <a:rPr lang="en-US" altLang="zh-CN" dirty="0" smtClean="0"/>
              <a:t>vary </a:t>
            </a:r>
            <a:r>
              <a:rPr lang="en-US" altLang="zh-CN" dirty="0"/>
              <a:t>from 1% </a:t>
            </a:r>
            <a:r>
              <a:rPr lang="en-US" altLang="zh-CN" dirty="0" smtClean="0"/>
              <a:t>to 18%</a:t>
            </a:r>
          </a:p>
          <a:p>
            <a:r>
              <a:rPr lang="en-US" altLang="zh-CN" dirty="0" smtClean="0"/>
              <a:t>For </a:t>
            </a:r>
            <a:r>
              <a:rPr lang="en-US" altLang="zh-CN" dirty="0"/>
              <a:t>SPEC92</a:t>
            </a:r>
            <a:r>
              <a:rPr lang="en-US" altLang="zh-CN" dirty="0" smtClean="0"/>
              <a:t>, 4096 </a:t>
            </a:r>
            <a:r>
              <a:rPr lang="en-US" altLang="zh-CN" dirty="0"/>
              <a:t>about </a:t>
            </a:r>
            <a:r>
              <a:rPr lang="en-US" altLang="zh-CN" dirty="0" smtClean="0"/>
              <a:t/>
            </a:r>
            <a:br>
              <a:rPr lang="en-US" altLang="zh-CN" dirty="0" smtClean="0"/>
            </a:br>
            <a:r>
              <a:rPr lang="en-US" altLang="zh-CN" dirty="0" smtClean="0"/>
              <a:t>as </a:t>
            </a:r>
            <a:r>
              <a:rPr lang="en-US" altLang="zh-CN" dirty="0"/>
              <a:t>good as infinite table</a:t>
            </a:r>
          </a:p>
          <a:p>
            <a:endParaRPr lang="zh-CN" altLang="en-US" dirty="0"/>
          </a:p>
        </p:txBody>
      </p:sp>
      <p:sp>
        <p:nvSpPr>
          <p:cNvPr id="973828" name="Rectangle 4"/>
          <p:cNvSpPr>
            <a:spLocks noChangeArrowheads="1"/>
          </p:cNvSpPr>
          <p:nvPr/>
        </p:nvSpPr>
        <p:spPr bwMode="auto">
          <a:xfrm>
            <a:off x="6249337" y="1556792"/>
            <a:ext cx="4164601" cy="119776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algn="l"/>
            <a:r>
              <a:rPr lang="zh-CN" altLang="en-US" sz="2400" b="1" dirty="0">
                <a:solidFill>
                  <a:srgbClr val="FF0000"/>
                </a:solidFill>
              </a:rPr>
              <a:t>4096 </a:t>
            </a:r>
            <a:r>
              <a:rPr lang="en-US" altLang="en-US" sz="2400" b="1" dirty="0">
                <a:solidFill>
                  <a:srgbClr val="FF0000"/>
                </a:solidFill>
              </a:rPr>
              <a:t>Entries 2-bit BHT</a:t>
            </a:r>
          </a:p>
          <a:p>
            <a:pPr algn="l"/>
            <a:r>
              <a:rPr lang="en-US" altLang="en-US" sz="2400" b="1" dirty="0">
                <a:solidFill>
                  <a:srgbClr val="00B050"/>
                </a:solidFill>
              </a:rPr>
              <a:t>Unlimited Entries 2-bit BHT</a:t>
            </a:r>
          </a:p>
          <a:p>
            <a:pPr algn="l"/>
            <a:r>
              <a:rPr lang="en-US" altLang="en-US" sz="2400" b="1" dirty="0">
                <a:solidFill>
                  <a:srgbClr val="0000FF"/>
                </a:solidFill>
              </a:rPr>
              <a:t>1024 Entries (2,2) BHT</a:t>
            </a:r>
          </a:p>
        </p:txBody>
      </p:sp>
      <p:sp>
        <p:nvSpPr>
          <p:cNvPr id="973831" name="Rectangle 7"/>
          <p:cNvSpPr>
            <a:spLocks noChangeArrowheads="1"/>
          </p:cNvSpPr>
          <p:nvPr/>
        </p:nvSpPr>
        <p:spPr bwMode="auto">
          <a:xfrm rot="16200000">
            <a:off x="3874927" y="3598427"/>
            <a:ext cx="3330575" cy="363537"/>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spAutoFit/>
          </a:bodyPr>
          <a:lstStyle/>
          <a:p>
            <a:pPr algn="l"/>
            <a:r>
              <a:rPr lang="en-US" altLang="en-US" b="1" dirty="0">
                <a:latin typeface="Arial" panose="020B0604020202020204" pitchFamily="34" charset="0"/>
              </a:rPr>
              <a:t>Frequency of </a:t>
            </a:r>
            <a:r>
              <a:rPr lang="en-US" altLang="en-US" b="1" dirty="0" err="1">
                <a:latin typeface="Arial" panose="020B0604020202020204" pitchFamily="34" charset="0"/>
              </a:rPr>
              <a:t>Mispredictions</a:t>
            </a:r>
            <a:endParaRPr lang="en-US" altLang="en-US" b="1" dirty="0">
              <a:latin typeface="Arial" panose="020B0604020202020204" pitchFamily="34" charset="0"/>
            </a:endParaRPr>
          </a:p>
        </p:txBody>
      </p:sp>
    </p:spTree>
    <p:extLst>
      <p:ext uri="{BB962C8B-B14F-4D97-AF65-F5344CB8AC3E}">
        <p14:creationId xmlns:p14="http://schemas.microsoft.com/office/powerpoint/2010/main" val="352592980"/>
      </p:ext>
    </p:extLst>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83042"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en-US"/>
              <a:t>Re-evaluating Correlation</a:t>
            </a:r>
          </a:p>
        </p:txBody>
      </p:sp>
      <p:sp>
        <p:nvSpPr>
          <p:cNvPr id="983043" name="Rectangle 3"/>
          <p:cNvSpPr>
            <a:spLocks noGrp="1" noChangeArrowheads="1"/>
          </p:cNvSpPr>
          <p:nvPr>
            <p:ph type="body" idx="1"/>
          </p:nvPr>
        </p:nvSpPr>
        <p:spPr>
          <a:xfrm>
            <a:off x="911424" y="1700808"/>
            <a:ext cx="10513168"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tabLst>
                <a:tab pos="2800350" algn="r"/>
                <a:tab pos="3143250" algn="l"/>
                <a:tab pos="4514850" algn="r"/>
                <a:tab pos="6000750" algn="r"/>
              </a:tabLst>
            </a:pPr>
            <a:r>
              <a:rPr lang="en-US" altLang="en-US" dirty="0"/>
              <a:t>Several of the SPEC benchmarks have less than a dozen branches responsible for 90% of taken branches:</a:t>
            </a:r>
          </a:p>
          <a:p>
            <a:pPr marL="628650" lvl="1">
              <a:buNone/>
              <a:tabLst>
                <a:tab pos="2800350" algn="r"/>
                <a:tab pos="3143250" algn="l"/>
                <a:tab pos="4514850" algn="r"/>
                <a:tab pos="6000750" algn="r"/>
              </a:tabLst>
            </a:pPr>
            <a:r>
              <a:rPr lang="en-US" altLang="en-US" dirty="0"/>
              <a:t>program 	</a:t>
            </a:r>
            <a:r>
              <a:rPr lang="en-US" altLang="en-US" dirty="0" smtClean="0"/>
              <a:t>	branch </a:t>
            </a:r>
            <a:r>
              <a:rPr lang="en-US" altLang="en-US" dirty="0"/>
              <a:t>%	  	static	</a:t>
            </a:r>
            <a:r>
              <a:rPr lang="en-US" altLang="en-US" dirty="0" smtClean="0"/>
              <a:t>	# </a:t>
            </a:r>
            <a:r>
              <a:rPr lang="en-US" altLang="en-US" dirty="0"/>
              <a:t>= 90%	</a:t>
            </a:r>
          </a:p>
          <a:p>
            <a:pPr marL="628650" lvl="1">
              <a:buNone/>
              <a:tabLst>
                <a:tab pos="2800350" algn="r"/>
                <a:tab pos="3143250" algn="l"/>
                <a:tab pos="4514850" algn="r"/>
                <a:tab pos="6000750" algn="r"/>
              </a:tabLst>
            </a:pPr>
            <a:r>
              <a:rPr lang="en-US" altLang="en-US" dirty="0"/>
              <a:t>compress	</a:t>
            </a:r>
            <a:r>
              <a:rPr lang="en-US" altLang="en-US" dirty="0" smtClean="0"/>
              <a:t>	14</a:t>
            </a:r>
            <a:r>
              <a:rPr lang="en-US" altLang="en-US" dirty="0"/>
              <a:t>%		236	</a:t>
            </a:r>
            <a:r>
              <a:rPr lang="en-US" altLang="en-US" dirty="0" smtClean="0"/>
              <a:t>	13</a:t>
            </a:r>
            <a:endParaRPr lang="en-US" altLang="en-US" dirty="0"/>
          </a:p>
          <a:p>
            <a:pPr marL="628650" lvl="1">
              <a:buNone/>
              <a:tabLst>
                <a:tab pos="2800350" algn="r"/>
                <a:tab pos="3143250" algn="l"/>
                <a:tab pos="4514850" algn="r"/>
                <a:tab pos="6000750" algn="r"/>
              </a:tabLst>
            </a:pPr>
            <a:r>
              <a:rPr lang="en-US" altLang="en-US" u="sng" dirty="0" err="1">
                <a:solidFill>
                  <a:srgbClr val="FF0000"/>
                </a:solidFill>
              </a:rPr>
              <a:t>eqntott</a:t>
            </a:r>
            <a:r>
              <a:rPr lang="en-US" altLang="en-US" u="sng" dirty="0">
                <a:solidFill>
                  <a:srgbClr val="FF0000"/>
                </a:solidFill>
              </a:rPr>
              <a:t>	</a:t>
            </a:r>
            <a:r>
              <a:rPr lang="en-US" altLang="en-US" u="sng" dirty="0" smtClean="0">
                <a:solidFill>
                  <a:srgbClr val="FF0000"/>
                </a:solidFill>
              </a:rPr>
              <a:t>	25</a:t>
            </a:r>
            <a:r>
              <a:rPr lang="en-US" altLang="en-US" u="sng" dirty="0">
                <a:solidFill>
                  <a:srgbClr val="FF0000"/>
                </a:solidFill>
              </a:rPr>
              <a:t>%		494	</a:t>
            </a:r>
            <a:r>
              <a:rPr lang="en-US" altLang="en-US" u="sng" dirty="0" smtClean="0">
                <a:solidFill>
                  <a:srgbClr val="FF0000"/>
                </a:solidFill>
              </a:rPr>
              <a:t>	5</a:t>
            </a:r>
            <a:endParaRPr lang="en-US" altLang="en-US" u="sng" dirty="0">
              <a:solidFill>
                <a:srgbClr val="FF0000"/>
              </a:solidFill>
            </a:endParaRPr>
          </a:p>
          <a:p>
            <a:pPr marL="628650" lvl="1">
              <a:buNone/>
              <a:tabLst>
                <a:tab pos="2800350" algn="r"/>
                <a:tab pos="3143250" algn="l"/>
                <a:tab pos="4514850" algn="r"/>
                <a:tab pos="6000750" algn="r"/>
              </a:tabLst>
            </a:pPr>
            <a:r>
              <a:rPr lang="en-US" altLang="en-US" dirty="0" err="1"/>
              <a:t>gcc</a:t>
            </a:r>
            <a:r>
              <a:rPr lang="en-US" altLang="en-US" dirty="0"/>
              <a:t>	</a:t>
            </a:r>
            <a:r>
              <a:rPr lang="en-US" altLang="en-US" dirty="0" smtClean="0"/>
              <a:t>	15</a:t>
            </a:r>
            <a:r>
              <a:rPr lang="en-US" altLang="en-US" dirty="0"/>
              <a:t>%		9531	</a:t>
            </a:r>
            <a:r>
              <a:rPr lang="en-US" altLang="en-US" dirty="0" smtClean="0"/>
              <a:t>	2020</a:t>
            </a:r>
            <a:endParaRPr lang="en-US" altLang="en-US" dirty="0"/>
          </a:p>
          <a:p>
            <a:pPr marL="628650" lvl="1">
              <a:buNone/>
              <a:tabLst>
                <a:tab pos="2800350" algn="r"/>
                <a:tab pos="3143250" algn="l"/>
                <a:tab pos="4514850" algn="r"/>
                <a:tab pos="6000750" algn="r"/>
              </a:tabLst>
            </a:pPr>
            <a:r>
              <a:rPr lang="en-US" altLang="en-US" dirty="0"/>
              <a:t>mpeg	</a:t>
            </a:r>
            <a:r>
              <a:rPr lang="en-US" altLang="en-US" dirty="0" smtClean="0"/>
              <a:t>	10</a:t>
            </a:r>
            <a:r>
              <a:rPr lang="en-US" altLang="en-US" dirty="0"/>
              <a:t>%		5598	</a:t>
            </a:r>
            <a:r>
              <a:rPr lang="en-US" altLang="en-US" dirty="0" smtClean="0"/>
              <a:t>	532</a:t>
            </a:r>
            <a:endParaRPr lang="en-US" altLang="en-US" dirty="0"/>
          </a:p>
          <a:p>
            <a:pPr marL="628650" lvl="1">
              <a:buNone/>
              <a:tabLst>
                <a:tab pos="2800350" algn="r"/>
                <a:tab pos="3143250" algn="l"/>
                <a:tab pos="4514850" algn="r"/>
                <a:tab pos="6000750" algn="r"/>
              </a:tabLst>
            </a:pPr>
            <a:r>
              <a:rPr lang="en-US" altLang="en-US" dirty="0"/>
              <a:t>real </a:t>
            </a:r>
            <a:r>
              <a:rPr lang="en-US" altLang="en-US" dirty="0" err="1"/>
              <a:t>gcc</a:t>
            </a:r>
            <a:r>
              <a:rPr lang="en-US" altLang="en-US" dirty="0"/>
              <a:t>	</a:t>
            </a:r>
            <a:r>
              <a:rPr lang="en-US" altLang="en-US" dirty="0" smtClean="0"/>
              <a:t>	13</a:t>
            </a:r>
            <a:r>
              <a:rPr lang="en-US" altLang="en-US" dirty="0"/>
              <a:t>%		17361	</a:t>
            </a:r>
            <a:r>
              <a:rPr lang="en-US" altLang="en-US" dirty="0" smtClean="0"/>
              <a:t>	3214</a:t>
            </a:r>
            <a:endParaRPr lang="en-US" altLang="en-US" dirty="0"/>
          </a:p>
          <a:p>
            <a:pPr>
              <a:tabLst>
                <a:tab pos="2800350" algn="r"/>
                <a:tab pos="3143250" algn="l"/>
                <a:tab pos="4514850" algn="r"/>
                <a:tab pos="6000750" algn="r"/>
              </a:tabLst>
            </a:pPr>
            <a:r>
              <a:rPr lang="en-US" altLang="en-US" dirty="0"/>
              <a:t>Real programs + OS more like </a:t>
            </a:r>
            <a:r>
              <a:rPr lang="en-US" altLang="en-US" dirty="0" err="1"/>
              <a:t>gcc</a:t>
            </a:r>
            <a:endParaRPr lang="en-US" altLang="en-US" dirty="0"/>
          </a:p>
          <a:p>
            <a:pPr>
              <a:tabLst>
                <a:tab pos="2800350" algn="r"/>
                <a:tab pos="3143250" algn="l"/>
                <a:tab pos="4514850" algn="r"/>
                <a:tab pos="6000750" algn="r"/>
              </a:tabLst>
            </a:pPr>
            <a:r>
              <a:rPr lang="en-US" altLang="en-US" dirty="0"/>
              <a:t>Small benefits beyond benchmarks for correlation? problems with branch aliases?</a:t>
            </a:r>
          </a:p>
        </p:txBody>
      </p:sp>
    </p:spTree>
    <p:extLst>
      <p:ext uri="{BB962C8B-B14F-4D97-AF65-F5344CB8AC3E}">
        <p14:creationId xmlns:p14="http://schemas.microsoft.com/office/powerpoint/2010/main" val="975608286"/>
      </p:ext>
    </p:extLst>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6744072" y="2006869"/>
            <a:ext cx="5263327" cy="4471096"/>
          </a:xfrm>
          <a:prstGeom prst="rect">
            <a:avLst/>
          </a:prstGeom>
        </p:spPr>
      </p:pic>
      <p:sp>
        <p:nvSpPr>
          <p:cNvPr id="242690" name="Rectangle 2"/>
          <p:cNvSpPr>
            <a:spLocks noGrp="1" noChangeArrowheads="1"/>
          </p:cNvSpPr>
          <p:nvPr>
            <p:ph type="title"/>
          </p:nvPr>
        </p:nvSpPr>
        <p:spPr/>
        <p:txBody>
          <a:bodyPr/>
          <a:lstStyle/>
          <a:p>
            <a:r>
              <a:rPr lang="en-US" altLang="zh-CN" dirty="0" err="1" smtClean="0"/>
              <a:t>Gshare</a:t>
            </a:r>
            <a:r>
              <a:rPr lang="en-US" altLang="zh-CN" dirty="0" smtClean="0"/>
              <a:t>, a correlated </a:t>
            </a:r>
            <a:r>
              <a:rPr lang="en-AU" altLang="zh-CN" dirty="0"/>
              <a:t>b</a:t>
            </a:r>
            <a:r>
              <a:rPr lang="en-AU" dirty="0" smtClean="0"/>
              <a:t>ranch predictor</a:t>
            </a:r>
            <a:endParaRPr lang="en-AU" dirty="0"/>
          </a:p>
        </p:txBody>
      </p:sp>
      <p:sp>
        <p:nvSpPr>
          <p:cNvPr id="4" name="内容占位符 3"/>
          <p:cNvSpPr>
            <a:spLocks noGrp="1"/>
          </p:cNvSpPr>
          <p:nvPr>
            <p:ph idx="1"/>
          </p:nvPr>
        </p:nvSpPr>
        <p:spPr/>
        <p:txBody>
          <a:bodyPr/>
          <a:lstStyle/>
          <a:p>
            <a:r>
              <a:rPr lang="en-US" altLang="zh-CN" dirty="0"/>
              <a:t>In </a:t>
            </a:r>
            <a:r>
              <a:rPr lang="en-US" altLang="zh-CN" dirty="0" err="1"/>
              <a:t>gshare</a:t>
            </a:r>
            <a:r>
              <a:rPr lang="en-US" altLang="zh-CN" dirty="0"/>
              <a:t> the index is formed by combining the address of </a:t>
            </a:r>
            <a:r>
              <a:rPr lang="en-US" altLang="zh-CN" dirty="0" smtClean="0"/>
              <a:t>the branch </a:t>
            </a:r>
            <a:r>
              <a:rPr lang="en-US" altLang="zh-CN" dirty="0"/>
              <a:t>and the most recent </a:t>
            </a:r>
            <a:r>
              <a:rPr lang="en-US" altLang="zh-CN" dirty="0" smtClean="0"/>
              <a:t/>
            </a:r>
            <a:br>
              <a:rPr lang="en-US" altLang="zh-CN" dirty="0" smtClean="0"/>
            </a:br>
            <a:r>
              <a:rPr lang="en-US" altLang="zh-CN" dirty="0" smtClean="0"/>
              <a:t>conditional </a:t>
            </a:r>
            <a:r>
              <a:rPr lang="en-US" altLang="zh-CN" dirty="0"/>
              <a:t>branch outcomes </a:t>
            </a:r>
            <a:r>
              <a:rPr lang="en-US" altLang="zh-CN" dirty="0" smtClean="0"/>
              <a:t/>
            </a:r>
            <a:br>
              <a:rPr lang="en-US" altLang="zh-CN" dirty="0" smtClean="0"/>
            </a:br>
            <a:r>
              <a:rPr lang="en-US" altLang="zh-CN" dirty="0" smtClean="0"/>
              <a:t>using </a:t>
            </a:r>
            <a:r>
              <a:rPr lang="en-US" altLang="zh-CN" dirty="0"/>
              <a:t>an </a:t>
            </a:r>
            <a:r>
              <a:rPr lang="en-US" altLang="zh-CN" dirty="0" smtClean="0"/>
              <a:t>exclusive-OR</a:t>
            </a:r>
          </a:p>
          <a:p>
            <a:pPr lvl="1"/>
            <a:r>
              <a:rPr lang="en-US" altLang="zh-CN" dirty="0" smtClean="0"/>
              <a:t>Acts </a:t>
            </a:r>
            <a:r>
              <a:rPr lang="en-US" altLang="zh-CN" dirty="0"/>
              <a:t>as a hash of the branch address </a:t>
            </a:r>
            <a:r>
              <a:rPr lang="en-US" altLang="zh-CN" dirty="0" smtClean="0"/>
              <a:t/>
            </a:r>
            <a:br>
              <a:rPr lang="en-US" altLang="zh-CN" dirty="0" smtClean="0"/>
            </a:br>
            <a:r>
              <a:rPr lang="en-US" altLang="zh-CN" dirty="0" smtClean="0"/>
              <a:t>and </a:t>
            </a:r>
            <a:r>
              <a:rPr lang="en-US" altLang="zh-CN" dirty="0"/>
              <a:t>the branch </a:t>
            </a:r>
            <a:r>
              <a:rPr lang="en-US" altLang="zh-CN" dirty="0" smtClean="0"/>
              <a:t>history</a:t>
            </a:r>
            <a:endParaRPr lang="en-US" altLang="zh-CN" dirty="0"/>
          </a:p>
          <a:p>
            <a:pPr lvl="1"/>
            <a:r>
              <a:rPr lang="en-US" altLang="zh-CN" dirty="0"/>
              <a:t>The hashed result is used to index a </a:t>
            </a:r>
            <a:r>
              <a:rPr lang="en-US" altLang="zh-CN" dirty="0" smtClean="0"/>
              <a:t/>
            </a:r>
            <a:br>
              <a:rPr lang="en-US" altLang="zh-CN" dirty="0" smtClean="0"/>
            </a:br>
            <a:r>
              <a:rPr lang="en-US" altLang="zh-CN" dirty="0" smtClean="0"/>
              <a:t>prediction array </a:t>
            </a:r>
            <a:r>
              <a:rPr lang="en-US" altLang="zh-CN" dirty="0"/>
              <a:t>of 2-bit </a:t>
            </a:r>
            <a:r>
              <a:rPr lang="en-US" altLang="zh-CN" dirty="0" smtClean="0"/>
              <a:t>counters</a:t>
            </a:r>
          </a:p>
          <a:p>
            <a:r>
              <a:rPr lang="en-US" altLang="zh-CN" dirty="0" err="1"/>
              <a:t>G</a:t>
            </a:r>
            <a:r>
              <a:rPr lang="en-US" altLang="zh-CN" dirty="0" err="1" smtClean="0"/>
              <a:t>share</a:t>
            </a:r>
            <a:r>
              <a:rPr lang="en-US" altLang="zh-CN" dirty="0" smtClean="0"/>
              <a:t> works </a:t>
            </a:r>
            <a:r>
              <a:rPr lang="en-US" altLang="zh-CN" dirty="0"/>
              <a:t>remarkably well </a:t>
            </a:r>
            <a:r>
              <a:rPr lang="en-US" altLang="zh-CN" dirty="0" smtClean="0"/>
              <a:t>and is </a:t>
            </a:r>
            <a:r>
              <a:rPr lang="en-US" altLang="zh-CN" dirty="0"/>
              <a:t>often </a:t>
            </a:r>
            <a:r>
              <a:rPr lang="en-US" altLang="zh-CN" dirty="0" smtClean="0"/>
              <a:t/>
            </a:r>
            <a:br>
              <a:rPr lang="en-US" altLang="zh-CN" dirty="0" smtClean="0"/>
            </a:br>
            <a:r>
              <a:rPr lang="en-US" altLang="zh-CN" dirty="0" smtClean="0"/>
              <a:t>used </a:t>
            </a:r>
            <a:r>
              <a:rPr lang="en-US" altLang="zh-CN" dirty="0"/>
              <a:t>as the baseline for </a:t>
            </a:r>
            <a:r>
              <a:rPr lang="en-US" altLang="zh-CN" dirty="0" smtClean="0"/>
              <a:t>comparison</a:t>
            </a:r>
            <a:endParaRPr lang="en-US" altLang="zh-CN" dirty="0"/>
          </a:p>
          <a:p>
            <a:r>
              <a:rPr lang="en-US" altLang="zh-CN" dirty="0"/>
              <a:t>Predictors that combine local branch information and global branch history are </a:t>
            </a:r>
            <a:r>
              <a:rPr lang="en-US" altLang="zh-CN" dirty="0" smtClean="0"/>
              <a:t>also called </a:t>
            </a:r>
            <a:r>
              <a:rPr lang="en-US" altLang="zh-CN" i="1" dirty="0"/>
              <a:t>alloyed</a:t>
            </a:r>
            <a:r>
              <a:rPr lang="en-US" altLang="zh-CN" dirty="0"/>
              <a:t> predictors or </a:t>
            </a:r>
            <a:r>
              <a:rPr lang="en-US" altLang="zh-CN" i="1" dirty="0"/>
              <a:t>hybrid</a:t>
            </a:r>
            <a:r>
              <a:rPr lang="en-US" altLang="zh-CN" dirty="0"/>
              <a:t> predictors.</a:t>
            </a:r>
            <a:endParaRPr lang="zh-CN" altLang="en-US" dirty="0"/>
          </a:p>
        </p:txBody>
      </p:sp>
    </p:spTree>
    <p:extLst>
      <p:ext uri="{BB962C8B-B14F-4D97-AF65-F5344CB8AC3E}">
        <p14:creationId xmlns:p14="http://schemas.microsoft.com/office/powerpoint/2010/main" val="2243754520"/>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6010509" y="1700808"/>
            <a:ext cx="6145931" cy="4464496"/>
          </a:xfrm>
          <a:prstGeom prst="rect">
            <a:avLst/>
          </a:prstGeom>
        </p:spPr>
      </p:pic>
      <p:sp>
        <p:nvSpPr>
          <p:cNvPr id="959490" name="Rectangle 2"/>
          <p:cNvSpPr>
            <a:spLocks noGrp="1" noChangeArrowheads="1"/>
          </p:cNvSpPr>
          <p:nvPr>
            <p:ph type="title"/>
          </p:nvPr>
        </p:nvSpPr>
        <p:spPr/>
        <p:txBody>
          <a:bodyPr/>
          <a:lstStyle/>
          <a:p>
            <a:r>
              <a:rPr lang="en-US" altLang="en-US" smtClean="0"/>
              <a:t>Tournament Predictors</a:t>
            </a:r>
            <a:endParaRPr lang="en-US" altLang="en-US"/>
          </a:p>
        </p:txBody>
      </p:sp>
      <p:sp>
        <p:nvSpPr>
          <p:cNvPr id="959491" name="Rectangle 3"/>
          <p:cNvSpPr>
            <a:spLocks noGrp="1" noChangeArrowheads="1"/>
          </p:cNvSpPr>
          <p:nvPr>
            <p:ph type="body" idx="1"/>
          </p:nvPr>
        </p:nvSpPr>
        <p:spPr>
          <a:xfrm>
            <a:off x="335360" y="1556792"/>
            <a:ext cx="10081120" cy="5112568"/>
          </a:xfrm>
        </p:spPr>
        <p:txBody>
          <a:bodyPr/>
          <a:lstStyle/>
          <a:p>
            <a:r>
              <a:rPr lang="en-US" altLang="en-US" dirty="0" smtClean="0"/>
              <a:t>Motivation for correlating branch </a:t>
            </a:r>
            <a:br>
              <a:rPr lang="en-US" altLang="en-US" dirty="0" smtClean="0"/>
            </a:br>
            <a:r>
              <a:rPr lang="en-US" altLang="en-US" dirty="0" smtClean="0"/>
              <a:t>predictors is 2-bit predictor failed </a:t>
            </a:r>
            <a:br>
              <a:rPr lang="en-US" altLang="en-US" dirty="0" smtClean="0"/>
            </a:br>
            <a:r>
              <a:rPr lang="en-US" altLang="en-US" dirty="0" smtClean="0"/>
              <a:t>on important branches; by adding </a:t>
            </a:r>
            <a:br>
              <a:rPr lang="en-US" altLang="en-US" dirty="0" smtClean="0"/>
            </a:br>
            <a:r>
              <a:rPr lang="en-US" altLang="en-US" dirty="0" smtClean="0"/>
              <a:t>global information, performance </a:t>
            </a:r>
            <a:r>
              <a:rPr lang="en-US" altLang="en-US" dirty="0"/>
              <a:t/>
            </a:r>
            <a:br>
              <a:rPr lang="en-US" altLang="en-US" dirty="0"/>
            </a:br>
            <a:r>
              <a:rPr lang="en-US" altLang="en-US" dirty="0" smtClean="0"/>
              <a:t>improved</a:t>
            </a:r>
          </a:p>
          <a:p>
            <a:r>
              <a:rPr lang="en-US" altLang="en-US" dirty="0" smtClean="0"/>
              <a:t>Tournament predictors: use 2 </a:t>
            </a:r>
            <a:br>
              <a:rPr lang="en-US" altLang="en-US" dirty="0" smtClean="0"/>
            </a:br>
            <a:r>
              <a:rPr lang="en-US" altLang="en-US" dirty="0" smtClean="0"/>
              <a:t>predictors, 1 based on global </a:t>
            </a:r>
            <a:br>
              <a:rPr lang="en-US" altLang="en-US" dirty="0" smtClean="0"/>
            </a:br>
            <a:r>
              <a:rPr lang="en-US" altLang="en-US" dirty="0" smtClean="0"/>
              <a:t>information and 1 based on local </a:t>
            </a:r>
            <a:br>
              <a:rPr lang="en-US" altLang="en-US" dirty="0" smtClean="0"/>
            </a:br>
            <a:r>
              <a:rPr lang="en-US" altLang="en-US" dirty="0" smtClean="0"/>
              <a:t>information, and combine with </a:t>
            </a:r>
            <a:br>
              <a:rPr lang="en-US" altLang="en-US" dirty="0" smtClean="0"/>
            </a:br>
            <a:r>
              <a:rPr lang="en-US" altLang="en-US" dirty="0" smtClean="0"/>
              <a:t>a selector</a:t>
            </a:r>
          </a:p>
          <a:p>
            <a:r>
              <a:rPr lang="en-US" altLang="en-US" dirty="0" smtClean="0"/>
              <a:t>Hopes to select right predictor for right branch</a:t>
            </a:r>
            <a:endParaRPr lang="en-US" altLang="en-US" dirty="0"/>
          </a:p>
        </p:txBody>
      </p:sp>
    </p:spTree>
    <p:extLst>
      <p:ext uri="{BB962C8B-B14F-4D97-AF65-F5344CB8AC3E}">
        <p14:creationId xmlns:p14="http://schemas.microsoft.com/office/powerpoint/2010/main" val="125555225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594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5949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594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9491" grpId="0" build="p" autoUpdateAnimBg="0"/>
    </p:bldLst>
  </p:timing>
</p:sld>
</file>

<file path=ppt/slides/slide1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0516" name="Rectangle 4"/>
          <p:cNvSpPr>
            <a:spLocks noGrp="1" noChangeArrowheads="1"/>
          </p:cNvSpPr>
          <p:nvPr>
            <p:ph type="title"/>
          </p:nvPr>
        </p:nvSpPr>
        <p:spPr/>
        <p:txBody>
          <a:bodyPr/>
          <a:lstStyle/>
          <a:p>
            <a:r>
              <a:rPr lang="en-US" altLang="en-US" dirty="0" smtClean="0"/>
              <a:t>Tournament Predictor in Alpha 21264</a:t>
            </a:r>
            <a:endParaRPr lang="en-US" altLang="en-US" dirty="0"/>
          </a:p>
        </p:txBody>
      </p:sp>
      <p:sp>
        <p:nvSpPr>
          <p:cNvPr id="960517" name="Rectangle 5"/>
          <p:cNvSpPr>
            <a:spLocks noGrp="1" noChangeArrowheads="1"/>
          </p:cNvSpPr>
          <p:nvPr>
            <p:ph type="body" idx="1"/>
          </p:nvPr>
        </p:nvSpPr>
        <p:spPr/>
        <p:txBody>
          <a:bodyPr/>
          <a:lstStyle/>
          <a:p>
            <a:r>
              <a:rPr lang="en-US" altLang="zh-CN" dirty="0" smtClean="0"/>
              <a:t>Pioneered in Alpha processors, followed by several AMD ones</a:t>
            </a:r>
          </a:p>
          <a:p>
            <a:r>
              <a:rPr lang="zh-CN" altLang="en-US" dirty="0" smtClean="0"/>
              <a:t>4</a:t>
            </a:r>
            <a:r>
              <a:rPr lang="en-US" altLang="en-US" dirty="0" smtClean="0"/>
              <a:t>K 2-bit counters to choose from among a global predictor and a local predictor</a:t>
            </a:r>
          </a:p>
          <a:p>
            <a:r>
              <a:rPr lang="en-US" altLang="en-US" dirty="0" smtClean="0"/>
              <a:t>Global predictor also has 4K entries and is indexed by the history of the last 12 branches; each entry in the global predictor is a standard 2-bit predictor</a:t>
            </a:r>
          </a:p>
          <a:p>
            <a:pPr lvl="1"/>
            <a:r>
              <a:rPr lang="en-US" altLang="en-US" dirty="0" smtClean="0"/>
              <a:t>12-bit pattern: </a:t>
            </a:r>
          </a:p>
          <a:p>
            <a:pPr lvl="1"/>
            <a:r>
              <a:rPr lang="en-US" altLang="en-US" dirty="0" err="1" smtClean="0"/>
              <a:t>i</a:t>
            </a:r>
            <a:r>
              <a:rPr lang="en-US" altLang="en-US" baseline="30000" dirty="0" err="1" smtClean="0"/>
              <a:t>th</a:t>
            </a:r>
            <a:r>
              <a:rPr lang="en-US" altLang="en-US" dirty="0" smtClean="0"/>
              <a:t> bit 0 =&gt; </a:t>
            </a:r>
            <a:r>
              <a:rPr lang="en-US" altLang="en-US" dirty="0" err="1" smtClean="0"/>
              <a:t>i</a:t>
            </a:r>
            <a:r>
              <a:rPr lang="en-US" altLang="en-US" baseline="30000" dirty="0" err="1"/>
              <a:t>th</a:t>
            </a:r>
            <a:r>
              <a:rPr lang="en-US" altLang="en-US" dirty="0" smtClean="0"/>
              <a:t> prior branch not taken; </a:t>
            </a:r>
          </a:p>
          <a:p>
            <a:pPr lvl="1"/>
            <a:r>
              <a:rPr lang="en-US" altLang="en-US" dirty="0" err="1" smtClean="0"/>
              <a:t>i</a:t>
            </a:r>
            <a:r>
              <a:rPr lang="en-US" altLang="en-US" baseline="30000" dirty="0" err="1"/>
              <a:t>th</a:t>
            </a:r>
            <a:r>
              <a:rPr lang="en-US" altLang="en-US" dirty="0" smtClean="0"/>
              <a:t> bit 1 =&gt; </a:t>
            </a:r>
            <a:r>
              <a:rPr lang="en-US" altLang="en-US" dirty="0" err="1" smtClean="0"/>
              <a:t>i</a:t>
            </a:r>
            <a:r>
              <a:rPr lang="en-US" altLang="en-US" baseline="30000" dirty="0" err="1"/>
              <a:t>th</a:t>
            </a:r>
            <a:r>
              <a:rPr lang="en-US" altLang="en-US" dirty="0" smtClean="0"/>
              <a:t> prior branch taken; </a:t>
            </a:r>
            <a:endParaRPr lang="en-US" altLang="en-US" dirty="0"/>
          </a:p>
        </p:txBody>
      </p:sp>
    </p:spTree>
    <p:extLst>
      <p:ext uri="{BB962C8B-B14F-4D97-AF65-F5344CB8AC3E}">
        <p14:creationId xmlns:p14="http://schemas.microsoft.com/office/powerpoint/2010/main" val="24736806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605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6051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6051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96051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96051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96051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0517" grpId="0" build="p" autoUpdateAnimBg="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78" name="Rectangle 2"/>
          <p:cNvSpPr>
            <a:spLocks noGrp="1" noChangeArrowheads="1"/>
          </p:cNvSpPr>
          <p:nvPr>
            <p:ph type="title"/>
          </p:nvPr>
        </p:nvSpPr>
        <p:spPr/>
        <p:txBody>
          <a:bodyPr/>
          <a:lstStyle/>
          <a:p>
            <a:r>
              <a:rPr lang="en-US" altLang="en-US" smtClean="0"/>
              <a:t>Tournament Predictor in Alpha 21264</a:t>
            </a:r>
            <a:endParaRPr lang="zh-CN" altLang="en-US"/>
          </a:p>
        </p:txBody>
      </p:sp>
      <p:sp>
        <p:nvSpPr>
          <p:cNvPr id="1048579" name="Rectangle 3"/>
          <p:cNvSpPr>
            <a:spLocks noGrp="1" noChangeArrowheads="1"/>
          </p:cNvSpPr>
          <p:nvPr>
            <p:ph type="body" idx="1"/>
          </p:nvPr>
        </p:nvSpPr>
        <p:spPr/>
        <p:txBody>
          <a:bodyPr/>
          <a:lstStyle/>
          <a:p>
            <a:r>
              <a:rPr lang="en-US" altLang="en-US" dirty="0" smtClean="0"/>
              <a:t>Local predictor consists of a 2-level predictor: </a:t>
            </a:r>
          </a:p>
          <a:p>
            <a:pPr lvl="1"/>
            <a:r>
              <a:rPr lang="en-US" altLang="en-US" dirty="0" smtClean="0"/>
              <a:t>Top level a local history table consisting of 1024 10-bit entries; each 10-bit entry corresponds to the most recent 10 branch outcomes for the entry. 10-bit history allows patterns 10 branches to be discovered and predicted. </a:t>
            </a:r>
          </a:p>
          <a:p>
            <a:pPr lvl="1"/>
            <a:r>
              <a:rPr lang="en-US" altLang="en-US" dirty="0" smtClean="0"/>
              <a:t>Next level Selected entry from the local history table is used to index a table of 1K entries consisting a 3-bit saturating counters, which provide the local prediction</a:t>
            </a:r>
          </a:p>
          <a:p>
            <a:r>
              <a:rPr lang="en-US" altLang="en-US" dirty="0" smtClean="0"/>
              <a:t>Total size: 4K*2 + 4K*2 + 1K*10 + 1K*3 = 29K bits!  (~180,000 transistors)</a:t>
            </a:r>
            <a:endParaRPr lang="zh-CN" altLang="en-US" dirty="0"/>
          </a:p>
        </p:txBody>
      </p:sp>
    </p:spTree>
    <p:extLst>
      <p:ext uri="{BB962C8B-B14F-4D97-AF65-F5344CB8AC3E}">
        <p14:creationId xmlns:p14="http://schemas.microsoft.com/office/powerpoint/2010/main" val="134242402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4" name="Rectangle 2"/>
          <p:cNvSpPr>
            <a:spLocks noGrp="1" noChangeArrowheads="1"/>
          </p:cNvSpPr>
          <p:nvPr>
            <p:ph type="title"/>
          </p:nvPr>
        </p:nvSpPr>
        <p:spPr/>
        <p:txBody>
          <a:bodyPr/>
          <a:lstStyle/>
          <a:p>
            <a:r>
              <a:rPr lang="zh-CN" altLang="en-US" smtClean="0"/>
              <a:t>% </a:t>
            </a:r>
            <a:r>
              <a:rPr lang="en-US" altLang="en-US" smtClean="0"/>
              <a:t>of predictions from local predictor in Tournament Prediction Scheme</a:t>
            </a:r>
            <a:endParaRPr lang="en-US" altLang="en-US"/>
          </a:p>
        </p:txBody>
      </p:sp>
      <p:graphicFrame>
        <p:nvGraphicFramePr>
          <p:cNvPr id="1006597" name="Object 5"/>
          <p:cNvGraphicFramePr>
            <a:graphicFrameLocks noChangeAspect="1"/>
          </p:cNvGraphicFramePr>
          <p:nvPr>
            <p:extLst>
              <p:ext uri="{D42A27DB-BD31-4B8C-83A1-F6EECF244321}">
                <p14:modId xmlns:p14="http://schemas.microsoft.com/office/powerpoint/2010/main" val="230157292"/>
              </p:ext>
            </p:extLst>
          </p:nvPr>
        </p:nvGraphicFramePr>
        <p:xfrm>
          <a:off x="695400" y="1268760"/>
          <a:ext cx="11038512" cy="7548202"/>
        </p:xfrm>
        <a:graphic>
          <a:graphicData uri="http://schemas.openxmlformats.org/presentationml/2006/ole">
            <mc:AlternateContent xmlns:mc="http://schemas.openxmlformats.org/markup-compatibility/2006">
              <mc:Choice xmlns:v="urn:schemas-microsoft-com:vml" Requires="v">
                <p:oleObj spid="_x0000_s87108" name="工作表" r:id="rId3" imgW="8674100" imgH="5930900" progId="Excel.Sheet.8">
                  <p:embed/>
                </p:oleObj>
              </mc:Choice>
              <mc:Fallback>
                <p:oleObj name="工作表" r:id="rId3" imgW="8674100" imgH="5930900" progId="Excel.Sheet.8">
                  <p:embed/>
                  <p:pic>
                    <p:nvPicPr>
                      <p:cNvPr id="100659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400" y="1268760"/>
                        <a:ext cx="11038512" cy="7548202"/>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2243501417"/>
      </p:ext>
    </p:extLst>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5570" name="Rectangle 2"/>
          <p:cNvSpPr>
            <a:spLocks noGrp="1" noChangeArrowheads="1"/>
          </p:cNvSpPr>
          <p:nvPr>
            <p:ph type="title"/>
          </p:nvPr>
        </p:nvSpPr>
        <p:spPr>
          <a:xfrm>
            <a:off x="2514600" y="228600"/>
            <a:ext cx="7162800" cy="762000"/>
          </a:xfrm>
        </p:spPr>
        <p:txBody>
          <a:bodyPr/>
          <a:lstStyle/>
          <a:p>
            <a:r>
              <a:rPr lang="en-US" altLang="en-US"/>
              <a:t>Accuracy v. Size (SPEC89)</a:t>
            </a:r>
          </a:p>
        </p:txBody>
      </p:sp>
      <p:graphicFrame>
        <p:nvGraphicFramePr>
          <p:cNvPr id="1005572" name="Object 4"/>
          <p:cNvGraphicFramePr>
            <a:graphicFrameLocks noChangeAspect="1"/>
          </p:cNvGraphicFramePr>
          <p:nvPr>
            <p:extLst>
              <p:ext uri="{D42A27DB-BD31-4B8C-83A1-F6EECF244321}">
                <p14:modId xmlns:p14="http://schemas.microsoft.com/office/powerpoint/2010/main" val="2197667609"/>
              </p:ext>
            </p:extLst>
          </p:nvPr>
        </p:nvGraphicFramePr>
        <p:xfrm>
          <a:off x="263352" y="1009802"/>
          <a:ext cx="8675688" cy="5932487"/>
        </p:xfrm>
        <a:graphic>
          <a:graphicData uri="http://schemas.openxmlformats.org/presentationml/2006/ole">
            <mc:AlternateContent xmlns:mc="http://schemas.openxmlformats.org/markup-compatibility/2006">
              <mc:Choice xmlns:v="urn:schemas-microsoft-com:vml" Requires="v">
                <p:oleObj spid="_x0000_s89155" name="工作表" r:id="rId3" imgW="8674100" imgH="5930900" progId="Excel.Sheet.8">
                  <p:embed/>
                </p:oleObj>
              </mc:Choice>
              <mc:Fallback>
                <p:oleObj name="工作表" r:id="rId3" imgW="8674100" imgH="5930900" progId="Excel.Sheet.8">
                  <p:embed/>
                  <p:pic>
                    <p:nvPicPr>
                      <p:cNvPr id="100557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352" y="1009802"/>
                        <a:ext cx="8675688" cy="59324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 name="图片 1"/>
          <p:cNvPicPr>
            <a:picLocks noChangeAspect="1"/>
          </p:cNvPicPr>
          <p:nvPr/>
        </p:nvPicPr>
        <p:blipFill>
          <a:blip r:embed="rId5"/>
          <a:stretch>
            <a:fillRect/>
          </a:stretch>
        </p:blipFill>
        <p:spPr>
          <a:xfrm rot="16200000">
            <a:off x="7600948" y="2289236"/>
            <a:ext cx="5760640" cy="3287637"/>
          </a:xfrm>
          <a:prstGeom prst="rect">
            <a:avLst/>
          </a:prstGeom>
        </p:spPr>
      </p:pic>
    </p:spTree>
    <p:extLst>
      <p:ext uri="{BB962C8B-B14F-4D97-AF65-F5344CB8AC3E}">
        <p14:creationId xmlns:p14="http://schemas.microsoft.com/office/powerpoint/2010/main" val="1502252098"/>
      </p:ext>
    </p:extLst>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61542" name="Object 6"/>
          <p:cNvGraphicFramePr>
            <a:graphicFrameLocks noChangeAspect="1"/>
          </p:cNvGraphicFramePr>
          <p:nvPr>
            <p:extLst>
              <p:ext uri="{D42A27DB-BD31-4B8C-83A1-F6EECF244321}">
                <p14:modId xmlns:p14="http://schemas.microsoft.com/office/powerpoint/2010/main" val="3145593048"/>
              </p:ext>
            </p:extLst>
          </p:nvPr>
        </p:nvGraphicFramePr>
        <p:xfrm>
          <a:off x="3962400" y="1340768"/>
          <a:ext cx="8229600" cy="5705475"/>
        </p:xfrm>
        <a:graphic>
          <a:graphicData uri="http://schemas.openxmlformats.org/presentationml/2006/ole">
            <mc:AlternateContent xmlns:mc="http://schemas.openxmlformats.org/markup-compatibility/2006">
              <mc:Choice xmlns:v="urn:schemas-microsoft-com:vml" Requires="v">
                <p:oleObj spid="_x0000_s88131" name="图表" r:id="rId3" imgW="9716031" imgH="6734669" progId="Excel.Chart.8">
                  <p:embed/>
                </p:oleObj>
              </mc:Choice>
              <mc:Fallback>
                <p:oleObj name="图表" r:id="rId3" imgW="9716031" imgH="6734669" progId="Excel.Chart.8">
                  <p:embed/>
                  <p:pic>
                    <p:nvPicPr>
                      <p:cNvPr id="961542"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0" y="1340768"/>
                        <a:ext cx="8229600" cy="5705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61538" name="Rectangle 2"/>
          <p:cNvSpPr>
            <a:spLocks noGrp="1" noChangeArrowheads="1"/>
          </p:cNvSpPr>
          <p:nvPr>
            <p:ph type="title"/>
          </p:nvPr>
        </p:nvSpPr>
        <p:spPr/>
        <p:txBody>
          <a:bodyPr/>
          <a:lstStyle/>
          <a:p>
            <a:r>
              <a:rPr lang="en-US" altLang="en-US" smtClean="0"/>
              <a:t>Accuracy of Branch Prediction</a:t>
            </a:r>
            <a:endParaRPr lang="en-US" altLang="en-US"/>
          </a:p>
        </p:txBody>
      </p:sp>
      <p:sp>
        <p:nvSpPr>
          <p:cNvPr id="961539" name="Rectangle 3"/>
          <p:cNvSpPr>
            <a:spLocks noGrp="1" noChangeArrowheads="1"/>
          </p:cNvSpPr>
          <p:nvPr>
            <p:ph type="body" idx="1"/>
          </p:nvPr>
        </p:nvSpPr>
        <p:spPr>
          <a:xfrm>
            <a:off x="263352" y="1556792"/>
            <a:ext cx="11090448" cy="5112568"/>
          </a:xfrm>
        </p:spPr>
        <p:txBody>
          <a:bodyPr/>
          <a:lstStyle/>
          <a:p>
            <a:r>
              <a:rPr lang="en-US" altLang="en-US" dirty="0" smtClean="0"/>
              <a:t>Profile: branch profile </a:t>
            </a:r>
            <a:br>
              <a:rPr lang="en-US" altLang="en-US" dirty="0" smtClean="0"/>
            </a:br>
            <a:r>
              <a:rPr lang="en-US" altLang="en-US" dirty="0" smtClean="0"/>
              <a:t>from last execution</a:t>
            </a:r>
            <a:br>
              <a:rPr lang="en-US" altLang="en-US" dirty="0" smtClean="0"/>
            </a:br>
            <a:r>
              <a:rPr lang="en-US" altLang="en-US" dirty="0" smtClean="0"/>
              <a:t>(static in that in </a:t>
            </a:r>
            <a:br>
              <a:rPr lang="en-US" altLang="en-US" dirty="0" smtClean="0"/>
            </a:br>
            <a:r>
              <a:rPr lang="en-US" altLang="en-US" dirty="0" smtClean="0"/>
              <a:t>encoded in instruction, </a:t>
            </a:r>
            <a:br>
              <a:rPr lang="en-US" altLang="en-US" dirty="0" smtClean="0"/>
            </a:br>
            <a:r>
              <a:rPr lang="en-US" altLang="en-US" dirty="0" smtClean="0"/>
              <a:t>but profile)</a:t>
            </a:r>
            <a:endParaRPr lang="en-US" altLang="en-US" dirty="0"/>
          </a:p>
        </p:txBody>
      </p:sp>
    </p:spTree>
    <p:extLst>
      <p:ext uri="{BB962C8B-B14F-4D97-AF65-F5344CB8AC3E}">
        <p14:creationId xmlns:p14="http://schemas.microsoft.com/office/powerpoint/2010/main" val="1487482171"/>
      </p:ext>
    </p:extLst>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AU" smtClean="0"/>
              <a:t>Tagged Hybrid Predictors</a:t>
            </a:r>
            <a:endParaRPr lang="en-AU" dirty="0"/>
          </a:p>
        </p:txBody>
      </p:sp>
      <p:sp>
        <p:nvSpPr>
          <p:cNvPr id="242691" name="Rectangle 3"/>
          <p:cNvSpPr>
            <a:spLocks noGrp="1" noChangeArrowheads="1"/>
          </p:cNvSpPr>
          <p:nvPr>
            <p:ph type="body" idx="1"/>
          </p:nvPr>
        </p:nvSpPr>
        <p:spPr/>
        <p:txBody>
          <a:bodyPr/>
          <a:lstStyle/>
          <a:p>
            <a:r>
              <a:rPr lang="en-US" dirty="0" smtClean="0"/>
              <a:t>Need to have predictor for each branch and related history</a:t>
            </a:r>
          </a:p>
          <a:p>
            <a:pPr lvl="1"/>
            <a:r>
              <a:rPr lang="en-US" dirty="0" smtClean="0"/>
              <a:t>Problem:  this implies huge tables</a:t>
            </a:r>
          </a:p>
          <a:p>
            <a:pPr lvl="1"/>
            <a:r>
              <a:rPr lang="en-US" dirty="0"/>
              <a:t>How to </a:t>
            </a:r>
            <a:r>
              <a:rPr lang="en-US" dirty="0" smtClean="0"/>
              <a:t>combine multiple </a:t>
            </a:r>
            <a:r>
              <a:rPr lang="en-US" dirty="0"/>
              <a:t>predictors that track whether a prediction is likely to be associated </a:t>
            </a:r>
            <a:r>
              <a:rPr lang="en-US" dirty="0" smtClean="0"/>
              <a:t>with the </a:t>
            </a:r>
            <a:r>
              <a:rPr lang="en-US" dirty="0"/>
              <a:t>current </a:t>
            </a:r>
            <a:r>
              <a:rPr lang="en-US" dirty="0" smtClean="0"/>
              <a:t>branch?</a:t>
            </a:r>
          </a:p>
          <a:p>
            <a:r>
              <a:rPr lang="en-US" dirty="0" smtClean="0"/>
              <a:t>Solution:</a:t>
            </a:r>
          </a:p>
          <a:p>
            <a:pPr lvl="1"/>
            <a:r>
              <a:rPr lang="en-US" dirty="0" smtClean="0"/>
              <a:t>Use hash tables, whose hash value is based on branch address and branch history</a:t>
            </a:r>
          </a:p>
          <a:p>
            <a:pPr lvl="1"/>
            <a:r>
              <a:rPr lang="en-US" dirty="0" smtClean="0"/>
              <a:t>Longer histories may lead to increased chance of hash collision, so use multiple tables with increasingly shorter histories</a:t>
            </a:r>
          </a:p>
          <a:p>
            <a:r>
              <a:rPr lang="en-US" dirty="0" smtClean="0"/>
              <a:t>Also named TAGE: </a:t>
            </a:r>
            <a:r>
              <a:rPr lang="en-US" dirty="0" err="1" smtClean="0"/>
              <a:t>TAgged</a:t>
            </a:r>
            <a:r>
              <a:rPr lang="en-US" dirty="0" smtClean="0"/>
              <a:t> </a:t>
            </a:r>
            <a:r>
              <a:rPr lang="en-US" dirty="0" err="1" smtClean="0"/>
              <a:t>G</a:t>
            </a:r>
            <a:r>
              <a:rPr lang="en-US" dirty="0" err="1"/>
              <a:t>E</a:t>
            </a:r>
            <a:r>
              <a:rPr lang="en-US" dirty="0" err="1" smtClean="0"/>
              <a:t>ometic</a:t>
            </a:r>
            <a:r>
              <a:rPr lang="en-US" dirty="0" smtClean="0"/>
              <a:t> predictors</a:t>
            </a:r>
          </a:p>
          <a:p>
            <a:pPr lvl="1"/>
            <a:r>
              <a:rPr lang="en-US" altLang="zh-CN" dirty="0"/>
              <a:t>Originated from </a:t>
            </a:r>
            <a:r>
              <a:rPr lang="en-US" altLang="zh-CN" dirty="0" smtClean="0"/>
              <a:t>algorithm for </a:t>
            </a:r>
            <a:r>
              <a:rPr lang="en-US" altLang="zh-CN" dirty="0"/>
              <a:t>statistical compression called PPM (Prediction by Partial Matching)</a:t>
            </a:r>
            <a:endParaRPr lang="en-US" dirty="0"/>
          </a:p>
        </p:txBody>
      </p:sp>
    </p:spTree>
    <p:extLst>
      <p:ext uri="{BB962C8B-B14F-4D97-AF65-F5344CB8AC3E}">
        <p14:creationId xmlns:p14="http://schemas.microsoft.com/office/powerpoint/2010/main" val="3654354417"/>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4943872" y="1628800"/>
            <a:ext cx="7280808" cy="5040560"/>
          </a:xfrm>
          <a:prstGeom prst="rect">
            <a:avLst/>
          </a:prstGeom>
        </p:spPr>
      </p:pic>
      <p:sp>
        <p:nvSpPr>
          <p:cNvPr id="242690" name="Rectangle 2"/>
          <p:cNvSpPr>
            <a:spLocks noGrp="1" noChangeArrowheads="1"/>
          </p:cNvSpPr>
          <p:nvPr>
            <p:ph type="title"/>
          </p:nvPr>
        </p:nvSpPr>
        <p:spPr/>
        <p:txBody>
          <a:bodyPr/>
          <a:lstStyle/>
          <a:p>
            <a:r>
              <a:rPr lang="en-AU" dirty="0"/>
              <a:t>A </a:t>
            </a:r>
            <a:r>
              <a:rPr lang="en-AU" dirty="0" smtClean="0"/>
              <a:t>five-component Tagged Hybrid Predictors</a:t>
            </a:r>
            <a:endParaRPr lang="en-AU" dirty="0"/>
          </a:p>
        </p:txBody>
      </p:sp>
      <p:sp>
        <p:nvSpPr>
          <p:cNvPr id="4" name="内容占位符 3"/>
          <p:cNvSpPr>
            <a:spLocks noGrp="1"/>
          </p:cNvSpPr>
          <p:nvPr>
            <p:ph idx="1"/>
          </p:nvPr>
        </p:nvSpPr>
        <p:spPr>
          <a:xfrm>
            <a:off x="119336" y="1556792"/>
            <a:ext cx="11234464" cy="5112568"/>
          </a:xfrm>
        </p:spPr>
        <p:txBody>
          <a:bodyPr/>
          <a:lstStyle/>
          <a:p>
            <a:r>
              <a:rPr lang="en-US" altLang="zh-CN" dirty="0" smtClean="0"/>
              <a:t>5 </a:t>
            </a:r>
            <a:r>
              <a:rPr lang="en-US" altLang="zh-CN" dirty="0"/>
              <a:t>separate prediction </a:t>
            </a:r>
            <a:r>
              <a:rPr lang="en-US" altLang="zh-CN" dirty="0" smtClean="0"/>
              <a:t>tables</a:t>
            </a:r>
          </a:p>
          <a:p>
            <a:pPr lvl="1"/>
            <a:r>
              <a:rPr lang="en-US" altLang="zh-CN" dirty="0" smtClean="0"/>
              <a:t>Indexed </a:t>
            </a:r>
            <a:r>
              <a:rPr lang="en-US" altLang="zh-CN" dirty="0"/>
              <a:t>by a hash of the </a:t>
            </a:r>
            <a:r>
              <a:rPr lang="en-US" altLang="zh-CN" dirty="0" smtClean="0"/>
              <a:t/>
            </a:r>
            <a:br>
              <a:rPr lang="en-US" altLang="zh-CN" dirty="0" smtClean="0"/>
            </a:br>
            <a:r>
              <a:rPr lang="en-US" altLang="zh-CN" dirty="0" smtClean="0"/>
              <a:t>branch </a:t>
            </a:r>
            <a:r>
              <a:rPr lang="en-US" altLang="zh-CN" dirty="0"/>
              <a:t>address and a </a:t>
            </a:r>
            <a:r>
              <a:rPr lang="en-US" altLang="zh-CN" dirty="0" smtClean="0"/>
              <a:t/>
            </a:r>
            <a:br>
              <a:rPr lang="en-US" altLang="zh-CN" dirty="0" smtClean="0"/>
            </a:br>
            <a:r>
              <a:rPr lang="en-US" altLang="zh-CN" dirty="0" smtClean="0"/>
              <a:t>segment </a:t>
            </a:r>
            <a:r>
              <a:rPr lang="en-US" altLang="zh-CN" dirty="0"/>
              <a:t>of recent branch </a:t>
            </a:r>
            <a:r>
              <a:rPr lang="en-US" altLang="zh-CN" dirty="0" smtClean="0"/>
              <a:t/>
            </a:r>
            <a:br>
              <a:rPr lang="en-US" altLang="zh-CN" dirty="0" smtClean="0"/>
            </a:br>
            <a:r>
              <a:rPr lang="en-US" altLang="zh-CN" dirty="0" smtClean="0"/>
              <a:t>history </a:t>
            </a:r>
            <a:r>
              <a:rPr lang="en-US" altLang="zh-CN" dirty="0"/>
              <a:t>of length </a:t>
            </a:r>
            <a:r>
              <a:rPr lang="en-US" altLang="zh-CN" dirty="0" smtClean="0"/>
              <a:t>0–4 using the</a:t>
            </a:r>
            <a:br>
              <a:rPr lang="en-US" altLang="zh-CN" dirty="0" smtClean="0"/>
            </a:br>
            <a:r>
              <a:rPr lang="en-US" altLang="zh-CN" dirty="0" smtClean="0"/>
              <a:t>shift register </a:t>
            </a:r>
            <a:r>
              <a:rPr lang="en-US" altLang="zh-CN" dirty="0"/>
              <a:t>“h</a:t>
            </a:r>
            <a:r>
              <a:rPr lang="en-US" altLang="zh-CN" dirty="0" smtClean="0"/>
              <a:t>”  </a:t>
            </a:r>
          </a:p>
          <a:p>
            <a:pPr lvl="1"/>
            <a:r>
              <a:rPr lang="en-US" altLang="zh-CN" dirty="0" smtClean="0"/>
              <a:t>The </a:t>
            </a:r>
            <a:r>
              <a:rPr lang="en-US" altLang="zh-CN" dirty="0"/>
              <a:t>hash can be as simple as </a:t>
            </a:r>
            <a:r>
              <a:rPr lang="en-US" altLang="zh-CN" dirty="0" smtClean="0"/>
              <a:t/>
            </a:r>
            <a:br>
              <a:rPr lang="en-US" altLang="zh-CN" dirty="0" smtClean="0"/>
            </a:br>
            <a:r>
              <a:rPr lang="en-US" altLang="zh-CN" dirty="0" smtClean="0"/>
              <a:t>an </a:t>
            </a:r>
            <a:r>
              <a:rPr lang="en-US" altLang="zh-CN" dirty="0"/>
              <a:t>exclusive-OR, as in </a:t>
            </a:r>
            <a:r>
              <a:rPr lang="en-US" altLang="zh-CN" dirty="0" err="1" smtClean="0"/>
              <a:t>gshare</a:t>
            </a:r>
            <a:endParaRPr lang="en-US" altLang="zh-CN" dirty="0" smtClean="0"/>
          </a:p>
          <a:p>
            <a:pPr lvl="1"/>
            <a:r>
              <a:rPr lang="en-US" altLang="zh-CN" dirty="0" smtClean="0"/>
              <a:t>Each </a:t>
            </a:r>
            <a:r>
              <a:rPr lang="en-US" altLang="zh-CN" dirty="0"/>
              <a:t>predictor is a 2-bit (or </a:t>
            </a:r>
            <a:r>
              <a:rPr lang="en-US" altLang="zh-CN" dirty="0" smtClean="0"/>
              <a:t/>
            </a:r>
            <a:br>
              <a:rPr lang="en-US" altLang="zh-CN" dirty="0" smtClean="0"/>
            </a:br>
            <a:r>
              <a:rPr lang="en-US" altLang="zh-CN" dirty="0" smtClean="0"/>
              <a:t>possibly </a:t>
            </a:r>
            <a:r>
              <a:rPr lang="en-US" altLang="zh-CN" dirty="0"/>
              <a:t>3-bit) </a:t>
            </a:r>
            <a:r>
              <a:rPr lang="en-US" altLang="zh-CN" dirty="0" smtClean="0"/>
              <a:t>predictor</a:t>
            </a:r>
          </a:p>
          <a:p>
            <a:pPr lvl="1"/>
            <a:r>
              <a:rPr lang="en-US" altLang="zh-CN" dirty="0" smtClean="0"/>
              <a:t>The tags </a:t>
            </a:r>
            <a:r>
              <a:rPr lang="en-US" altLang="zh-CN" dirty="0"/>
              <a:t>are typically 4–8 </a:t>
            </a:r>
            <a:r>
              <a:rPr lang="en-US" altLang="zh-CN" dirty="0" smtClean="0"/>
              <a:t>bits</a:t>
            </a:r>
          </a:p>
          <a:p>
            <a:pPr lvl="1"/>
            <a:r>
              <a:rPr lang="en-US" altLang="zh-CN" dirty="0" smtClean="0"/>
              <a:t>The </a:t>
            </a:r>
            <a:r>
              <a:rPr lang="en-US" altLang="zh-CN" dirty="0"/>
              <a:t>chosen prediction is the one with the </a:t>
            </a:r>
            <a:r>
              <a:rPr lang="en-US" altLang="zh-CN" dirty="0" smtClean="0"/>
              <a:t/>
            </a:r>
            <a:br>
              <a:rPr lang="en-US" altLang="zh-CN" dirty="0" smtClean="0"/>
            </a:br>
            <a:r>
              <a:rPr lang="en-US" altLang="zh-CN" dirty="0" smtClean="0"/>
              <a:t>longest </a:t>
            </a:r>
            <a:r>
              <a:rPr lang="en-US" altLang="zh-CN" dirty="0"/>
              <a:t>history where the tags also match</a:t>
            </a:r>
            <a:endParaRPr lang="zh-CN" altLang="en-US" dirty="0"/>
          </a:p>
        </p:txBody>
      </p:sp>
    </p:spTree>
    <p:extLst>
      <p:ext uri="{BB962C8B-B14F-4D97-AF65-F5344CB8AC3E}">
        <p14:creationId xmlns:p14="http://schemas.microsoft.com/office/powerpoint/2010/main" val="1159912429"/>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a:t>C</a:t>
            </a:r>
            <a:r>
              <a:rPr lang="en-US" dirty="0" smtClean="0"/>
              <a:t>omparison of tagged hybrid predictor versus </a:t>
            </a:r>
            <a:r>
              <a:rPr lang="en-US" dirty="0" err="1" smtClean="0"/>
              <a:t>gshare</a:t>
            </a:r>
            <a:endParaRPr lang="en-AU" dirty="0"/>
          </a:p>
        </p:txBody>
      </p:sp>
      <p:sp>
        <p:nvSpPr>
          <p:cNvPr id="4" name="内容占位符 3"/>
          <p:cNvSpPr>
            <a:spLocks noGrp="1"/>
          </p:cNvSpPr>
          <p:nvPr>
            <p:ph idx="1"/>
          </p:nvPr>
        </p:nvSpPr>
        <p:spPr>
          <a:xfrm>
            <a:off x="335360" y="1556792"/>
            <a:ext cx="11018440" cy="5112568"/>
          </a:xfrm>
        </p:spPr>
        <p:txBody>
          <a:bodyPr/>
          <a:lstStyle/>
          <a:p>
            <a:r>
              <a:rPr lang="en-US" altLang="zh-CN" dirty="0" smtClean="0"/>
              <a:t>The </a:t>
            </a:r>
            <a:r>
              <a:rPr lang="en-US" altLang="zh-CN" dirty="0" err="1"/>
              <a:t>misprediction</a:t>
            </a:r>
            <a:r>
              <a:rPr lang="en-US" altLang="zh-CN" dirty="0"/>
              <a:t> rate </a:t>
            </a:r>
            <a:r>
              <a:rPr lang="en-US" altLang="zh-CN" dirty="0" smtClean="0"/>
              <a:t/>
            </a:r>
            <a:br>
              <a:rPr lang="en-US" altLang="zh-CN" dirty="0" smtClean="0"/>
            </a:br>
            <a:r>
              <a:rPr lang="en-US" altLang="zh-CN" dirty="0" smtClean="0"/>
              <a:t>is measured </a:t>
            </a:r>
            <a:r>
              <a:rPr lang="en-US" altLang="zh-CN" dirty="0"/>
              <a:t>as </a:t>
            </a:r>
            <a:r>
              <a:rPr lang="en-US" altLang="zh-CN" dirty="0" smtClean="0"/>
              <a:t/>
            </a:r>
            <a:br>
              <a:rPr lang="en-US" altLang="zh-CN" dirty="0" smtClean="0"/>
            </a:br>
            <a:r>
              <a:rPr lang="en-US" altLang="zh-CN" dirty="0" err="1" smtClean="0"/>
              <a:t>mispredicts</a:t>
            </a:r>
            <a:r>
              <a:rPr lang="en-US" altLang="zh-CN" dirty="0" smtClean="0"/>
              <a:t> </a:t>
            </a:r>
            <a:r>
              <a:rPr lang="en-US" altLang="zh-CN" dirty="0"/>
              <a:t>per 1000 </a:t>
            </a:r>
            <a:r>
              <a:rPr lang="en-US" altLang="zh-CN" dirty="0" smtClean="0"/>
              <a:t/>
            </a:r>
            <a:br>
              <a:rPr lang="en-US" altLang="zh-CN" dirty="0" smtClean="0"/>
            </a:br>
            <a:r>
              <a:rPr lang="en-US" altLang="zh-CN" dirty="0" smtClean="0"/>
              <a:t>instructions executed</a:t>
            </a:r>
          </a:p>
          <a:p>
            <a:r>
              <a:rPr lang="en-US" altLang="en-US" dirty="0"/>
              <a:t>Both predictors use the </a:t>
            </a:r>
            <a:r>
              <a:rPr lang="en-US" altLang="en-US" dirty="0" smtClean="0"/>
              <a:t/>
            </a:r>
            <a:br>
              <a:rPr lang="en-US" altLang="en-US" dirty="0" smtClean="0"/>
            </a:br>
            <a:r>
              <a:rPr lang="en-US" altLang="en-US" dirty="0" smtClean="0"/>
              <a:t>same </a:t>
            </a:r>
            <a:r>
              <a:rPr lang="en-US" altLang="en-US" dirty="0"/>
              <a:t>total number of </a:t>
            </a:r>
            <a:r>
              <a:rPr lang="en-US" altLang="en-US" dirty="0" smtClean="0"/>
              <a:t/>
            </a:r>
            <a:br>
              <a:rPr lang="en-US" altLang="en-US" dirty="0" smtClean="0"/>
            </a:br>
            <a:r>
              <a:rPr lang="en-US" altLang="en-US" dirty="0" smtClean="0"/>
              <a:t>bits</a:t>
            </a:r>
            <a:r>
              <a:rPr lang="en-US" altLang="en-US" dirty="0"/>
              <a:t>, although tagged </a:t>
            </a:r>
            <a:r>
              <a:rPr lang="en-US" altLang="en-US" dirty="0" smtClean="0"/>
              <a:t/>
            </a:r>
            <a:br>
              <a:rPr lang="en-US" altLang="en-US" dirty="0" smtClean="0"/>
            </a:br>
            <a:r>
              <a:rPr lang="en-US" altLang="en-US" dirty="0" smtClean="0"/>
              <a:t>hybrid </a:t>
            </a:r>
            <a:r>
              <a:rPr lang="en-US" altLang="en-US" dirty="0"/>
              <a:t>uses some of </a:t>
            </a:r>
            <a:r>
              <a:rPr lang="en-US" altLang="en-US" dirty="0" smtClean="0"/>
              <a:t/>
            </a:r>
            <a:br>
              <a:rPr lang="en-US" altLang="en-US" dirty="0" smtClean="0"/>
            </a:br>
            <a:r>
              <a:rPr lang="en-US" altLang="en-US" dirty="0" smtClean="0"/>
              <a:t>that </a:t>
            </a:r>
            <a:r>
              <a:rPr lang="en-US" altLang="en-US" dirty="0"/>
              <a:t>storage for tags, </a:t>
            </a:r>
            <a:r>
              <a:rPr lang="en-US" altLang="en-US" dirty="0" smtClean="0"/>
              <a:t/>
            </a:r>
            <a:br>
              <a:rPr lang="en-US" altLang="en-US" dirty="0" smtClean="0"/>
            </a:br>
            <a:r>
              <a:rPr lang="en-US" altLang="en-US" dirty="0" smtClean="0"/>
              <a:t>while </a:t>
            </a:r>
            <a:r>
              <a:rPr lang="en-US" altLang="en-US" dirty="0" err="1"/>
              <a:t>gshare</a:t>
            </a:r>
            <a:r>
              <a:rPr lang="en-US" altLang="en-US" dirty="0"/>
              <a:t> contains </a:t>
            </a:r>
            <a:r>
              <a:rPr lang="en-US" altLang="en-US" dirty="0" smtClean="0"/>
              <a:t/>
            </a:r>
            <a:br>
              <a:rPr lang="en-US" altLang="en-US" dirty="0" smtClean="0"/>
            </a:br>
            <a:r>
              <a:rPr lang="en-US" altLang="en-US" dirty="0" smtClean="0"/>
              <a:t>no </a:t>
            </a:r>
            <a:r>
              <a:rPr lang="en-US" altLang="en-US" dirty="0"/>
              <a:t>tags</a:t>
            </a:r>
            <a:endParaRPr lang="zh-CN" altLang="en-US" dirty="0"/>
          </a:p>
        </p:txBody>
      </p:sp>
      <p:pic>
        <p:nvPicPr>
          <p:cNvPr id="3" name="图片 2"/>
          <p:cNvPicPr>
            <a:picLocks noChangeAspect="1"/>
          </p:cNvPicPr>
          <p:nvPr/>
        </p:nvPicPr>
        <p:blipFill>
          <a:blip r:embed="rId3"/>
          <a:stretch>
            <a:fillRect/>
          </a:stretch>
        </p:blipFill>
        <p:spPr>
          <a:xfrm>
            <a:off x="4530321" y="1628800"/>
            <a:ext cx="7470335" cy="5052249"/>
          </a:xfrm>
          <a:prstGeom prst="rect">
            <a:avLst/>
          </a:prstGeom>
        </p:spPr>
      </p:pic>
    </p:spTree>
    <p:extLst>
      <p:ext uri="{BB962C8B-B14F-4D97-AF65-F5344CB8AC3E}">
        <p14:creationId xmlns:p14="http://schemas.microsoft.com/office/powerpoint/2010/main" val="241245523"/>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The </a:t>
            </a:r>
            <a:r>
              <a:rPr lang="en-US" altLang="zh-CN" dirty="0" err="1" smtClean="0"/>
              <a:t>misprediction</a:t>
            </a:r>
            <a:r>
              <a:rPr lang="en-US" altLang="zh-CN" dirty="0" smtClean="0"/>
              <a:t> rate on the Intel Core i7 920 and 6700</a:t>
            </a:r>
            <a:endParaRPr lang="zh-CN" altLang="en-US" dirty="0"/>
          </a:p>
        </p:txBody>
      </p:sp>
      <p:sp>
        <p:nvSpPr>
          <p:cNvPr id="6" name="内容占位符 5"/>
          <p:cNvSpPr>
            <a:spLocks noGrp="1"/>
          </p:cNvSpPr>
          <p:nvPr>
            <p:ph idx="1"/>
          </p:nvPr>
        </p:nvSpPr>
        <p:spPr>
          <a:xfrm>
            <a:off x="191344" y="1556792"/>
            <a:ext cx="11162456" cy="5112568"/>
          </a:xfrm>
        </p:spPr>
        <p:txBody>
          <a:bodyPr/>
          <a:lstStyle/>
          <a:p>
            <a:r>
              <a:rPr lang="en-US" altLang="zh-CN" dirty="0" smtClean="0"/>
              <a:t>SPECCPU2006int</a:t>
            </a:r>
          </a:p>
          <a:p>
            <a:r>
              <a:rPr lang="en-US" altLang="zh-CN" dirty="0"/>
              <a:t>i</a:t>
            </a:r>
            <a:r>
              <a:rPr lang="en-US" altLang="zh-CN" dirty="0" smtClean="0"/>
              <a:t>7 920 Nehalem</a:t>
            </a:r>
          </a:p>
          <a:p>
            <a:pPr lvl="1"/>
            <a:r>
              <a:rPr lang="en-US" altLang="zh-CN" dirty="0" smtClean="0"/>
              <a:t>Chosen from 3 different </a:t>
            </a:r>
            <a:br>
              <a:rPr lang="en-US" altLang="zh-CN" dirty="0" smtClean="0"/>
            </a:br>
            <a:r>
              <a:rPr lang="en-US" altLang="zh-CN" dirty="0" smtClean="0"/>
              <a:t>predictors by tracking the</a:t>
            </a:r>
            <a:br>
              <a:rPr lang="en-US" altLang="zh-CN" dirty="0" smtClean="0"/>
            </a:br>
            <a:r>
              <a:rPr lang="en-US" altLang="zh-CN" dirty="0" smtClean="0"/>
              <a:t>accuracy of each prediction</a:t>
            </a:r>
          </a:p>
          <a:p>
            <a:pPr lvl="2"/>
            <a:r>
              <a:rPr lang="en-US" altLang="zh-CN" dirty="0" smtClean="0"/>
              <a:t>Simple 2-bit predictor</a:t>
            </a:r>
          </a:p>
          <a:p>
            <a:pPr lvl="2"/>
            <a:r>
              <a:rPr lang="en-US" altLang="zh-CN" dirty="0" smtClean="0"/>
              <a:t>Global history predictor</a:t>
            </a:r>
          </a:p>
          <a:p>
            <a:pPr lvl="2"/>
            <a:r>
              <a:rPr lang="en-US" altLang="zh-CN" dirty="0" smtClean="0"/>
              <a:t>Loop exit predictor</a:t>
            </a:r>
          </a:p>
          <a:p>
            <a:pPr lvl="1"/>
            <a:r>
              <a:rPr lang="en-US" altLang="zh-CN" dirty="0" smtClean="0"/>
              <a:t>Like tournament predictor</a:t>
            </a:r>
          </a:p>
          <a:p>
            <a:pPr lvl="1"/>
            <a:endParaRPr lang="en-US" altLang="zh-CN" dirty="0" smtClean="0"/>
          </a:p>
          <a:p>
            <a:r>
              <a:rPr lang="en-US" altLang="zh-CN" dirty="0" smtClean="0"/>
              <a:t>i7 6700 </a:t>
            </a:r>
            <a:r>
              <a:rPr lang="en-US" altLang="zh-CN" dirty="0" err="1" smtClean="0"/>
              <a:t>Skylake</a:t>
            </a:r>
            <a:endParaRPr lang="en-US" altLang="zh-CN" dirty="0" smtClean="0"/>
          </a:p>
          <a:p>
            <a:pPr lvl="1"/>
            <a:r>
              <a:rPr lang="en-US" altLang="zh-CN" dirty="0" smtClean="0"/>
              <a:t>TAGE maybe</a:t>
            </a:r>
            <a:endParaRPr lang="zh-CN" altLang="en-US" dirty="0"/>
          </a:p>
        </p:txBody>
      </p:sp>
      <p:pic>
        <p:nvPicPr>
          <p:cNvPr id="3" name="图片 2"/>
          <p:cNvPicPr>
            <a:picLocks noChangeAspect="1"/>
          </p:cNvPicPr>
          <p:nvPr/>
        </p:nvPicPr>
        <p:blipFill>
          <a:blip r:embed="rId3"/>
          <a:stretch>
            <a:fillRect/>
          </a:stretch>
        </p:blipFill>
        <p:spPr>
          <a:xfrm>
            <a:off x="4750812" y="1712386"/>
            <a:ext cx="7105828" cy="4919420"/>
          </a:xfrm>
          <a:prstGeom prst="rect">
            <a:avLst/>
          </a:prstGeom>
        </p:spPr>
      </p:pic>
    </p:spTree>
    <p:extLst>
      <p:ext uri="{BB962C8B-B14F-4D97-AF65-F5344CB8AC3E}">
        <p14:creationId xmlns:p14="http://schemas.microsoft.com/office/powerpoint/2010/main" val="427461849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994" name="Rectangle 2"/>
          <p:cNvSpPr>
            <a:spLocks noGrp="1" noChangeArrowheads="1"/>
          </p:cNvSpPr>
          <p:nvPr>
            <p:ph type="title"/>
          </p:nvPr>
        </p:nvSpPr>
        <p:spPr/>
        <p:txBody>
          <a:bodyPr/>
          <a:lstStyle/>
          <a:p>
            <a:r>
              <a:rPr lang="en-US" altLang="en-US" dirty="0" smtClean="0"/>
              <a:t>Need Address at Same Time as Prediction: Branch </a:t>
            </a:r>
            <a:r>
              <a:rPr lang="en-US" altLang="en-US" dirty="0"/>
              <a:t>Target </a:t>
            </a:r>
            <a:r>
              <a:rPr lang="en-US" altLang="en-US" dirty="0" smtClean="0"/>
              <a:t>Buffer (BTB)</a:t>
            </a:r>
            <a:endParaRPr lang="en-US" altLang="en-US" dirty="0"/>
          </a:p>
        </p:txBody>
      </p:sp>
      <p:sp>
        <p:nvSpPr>
          <p:cNvPr id="980995" name="Rectangle 3"/>
          <p:cNvSpPr>
            <a:spLocks noGrp="1" noChangeArrowheads="1"/>
          </p:cNvSpPr>
          <p:nvPr>
            <p:ph type="body" idx="1"/>
          </p:nvPr>
        </p:nvSpPr>
        <p:spPr>
          <a:xfrm>
            <a:off x="479376" y="1556792"/>
            <a:ext cx="10874424" cy="5112568"/>
          </a:xfrm>
        </p:spPr>
        <p:txBody>
          <a:bodyPr/>
          <a:lstStyle/>
          <a:p>
            <a:r>
              <a:rPr lang="en-US" altLang="en-US" dirty="0" smtClean="0"/>
              <a:t>Also:  Branch Target Cache: Use </a:t>
            </a:r>
            <a:r>
              <a:rPr lang="en-US" altLang="en-US" dirty="0"/>
              <a:t>a</a:t>
            </a:r>
            <a:r>
              <a:rPr lang="en-US" altLang="en-US" dirty="0" smtClean="0"/>
              <a:t>ddress of branch index to get prediction AND branch address (if taken)</a:t>
            </a:r>
          </a:p>
          <a:p>
            <a:pPr lvl="1"/>
            <a:r>
              <a:rPr lang="en-US" altLang="en-US" dirty="0" smtClean="0"/>
              <a:t>Note: must check for branch match now, since can’t use wrong branch address</a:t>
            </a:r>
          </a:p>
          <a:p>
            <a:r>
              <a:rPr lang="en-US" altLang="zh-CN" dirty="0"/>
              <a:t>Support high instruction </a:t>
            </a:r>
            <a:r>
              <a:rPr lang="en-US" altLang="zh-CN" dirty="0" smtClean="0"/>
              <a:t/>
            </a:r>
            <a:br>
              <a:rPr lang="en-US" altLang="zh-CN" dirty="0" smtClean="0"/>
            </a:br>
            <a:r>
              <a:rPr lang="en-US" altLang="zh-CN" dirty="0" smtClean="0"/>
              <a:t>bandwidth</a:t>
            </a:r>
            <a:endParaRPr lang="en-US" altLang="zh-CN" dirty="0"/>
          </a:p>
          <a:p>
            <a:r>
              <a:rPr lang="en-US" altLang="zh-CN" dirty="0"/>
              <a:t>Branch-Target buffers</a:t>
            </a:r>
          </a:p>
          <a:p>
            <a:pPr lvl="1"/>
            <a:r>
              <a:rPr lang="en-US" altLang="zh-CN" dirty="0"/>
              <a:t>Next PC prediction buffer</a:t>
            </a:r>
          </a:p>
          <a:p>
            <a:pPr lvl="1"/>
            <a:r>
              <a:rPr lang="en-US" altLang="zh-CN" dirty="0"/>
              <a:t>Indexed by current PC</a:t>
            </a:r>
          </a:p>
          <a:p>
            <a:endParaRPr lang="en-US" altLang="en-US" dirty="0" smtClean="0"/>
          </a:p>
          <a:p>
            <a:endParaRPr lang="en-US" altLang="en-US" dirty="0" smtClean="0"/>
          </a:p>
          <a:p>
            <a:endParaRPr lang="en-US" altLang="en-US" dirty="0" smtClean="0"/>
          </a:p>
          <a:p>
            <a:endParaRPr lang="en-US" altLang="en-US" dirty="0" smtClean="0"/>
          </a:p>
          <a:p>
            <a:endParaRPr lang="en-US" altLang="en-US" dirty="0" smtClean="0"/>
          </a:p>
          <a:p>
            <a:endParaRPr lang="en-US" altLang="en-US" dirty="0" smtClean="0"/>
          </a:p>
          <a:p>
            <a:endParaRPr lang="en-US" altLang="en-US" dirty="0" smtClean="0"/>
          </a:p>
          <a:p>
            <a:endParaRPr lang="en-US" altLang="en-US" dirty="0" smtClean="0"/>
          </a:p>
          <a:p>
            <a:endParaRPr lang="zh-CN" altLang="en-US" dirty="0"/>
          </a:p>
        </p:txBody>
      </p:sp>
      <p:grpSp>
        <p:nvGrpSpPr>
          <p:cNvPr id="981029" name="Group 37"/>
          <p:cNvGrpSpPr>
            <a:grpSpLocks/>
          </p:cNvGrpSpPr>
          <p:nvPr/>
        </p:nvGrpSpPr>
        <p:grpSpPr bwMode="auto">
          <a:xfrm>
            <a:off x="4046835" y="2702236"/>
            <a:ext cx="8097837" cy="4138613"/>
            <a:chOff x="113" y="1665"/>
            <a:chExt cx="5101" cy="2607"/>
          </a:xfrm>
        </p:grpSpPr>
        <p:grpSp>
          <p:nvGrpSpPr>
            <p:cNvPr id="980996" name="Group 4"/>
            <p:cNvGrpSpPr>
              <a:grpSpLocks/>
            </p:cNvGrpSpPr>
            <p:nvPr/>
          </p:nvGrpSpPr>
          <p:grpSpPr bwMode="auto">
            <a:xfrm>
              <a:off x="1332" y="1665"/>
              <a:ext cx="3312" cy="1371"/>
              <a:chOff x="1440" y="2133"/>
              <a:chExt cx="3312" cy="1371"/>
            </a:xfrm>
          </p:grpSpPr>
          <p:grpSp>
            <p:nvGrpSpPr>
              <p:cNvPr id="980997" name="Group 5"/>
              <p:cNvGrpSpPr>
                <a:grpSpLocks/>
              </p:cNvGrpSpPr>
              <p:nvPr/>
            </p:nvGrpSpPr>
            <p:grpSpPr bwMode="auto">
              <a:xfrm>
                <a:off x="1440" y="2352"/>
                <a:ext cx="3312" cy="1152"/>
                <a:chOff x="960" y="1056"/>
                <a:chExt cx="3312" cy="1152"/>
              </a:xfrm>
            </p:grpSpPr>
            <p:sp>
              <p:nvSpPr>
                <p:cNvPr id="980998" name="Rectangle 6"/>
                <p:cNvSpPr>
                  <a:spLocks noChangeArrowheads="1"/>
                </p:cNvSpPr>
                <p:nvPr/>
              </p:nvSpPr>
              <p:spPr bwMode="auto">
                <a:xfrm>
                  <a:off x="960" y="1056"/>
                  <a:ext cx="1536" cy="192"/>
                </a:xfrm>
                <a:prstGeom prst="rect">
                  <a:avLst/>
                </a:prstGeom>
                <a:solidFill>
                  <a:srgbClr val="A6F6E5"/>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0999" name="Rectangle 7"/>
                <p:cNvSpPr>
                  <a:spLocks noChangeArrowheads="1"/>
                </p:cNvSpPr>
                <p:nvPr/>
              </p:nvSpPr>
              <p:spPr bwMode="auto">
                <a:xfrm>
                  <a:off x="2496" y="1056"/>
                  <a:ext cx="1536" cy="192"/>
                </a:xfrm>
                <a:prstGeom prst="rect">
                  <a:avLst/>
                </a:prstGeom>
                <a:solidFill>
                  <a:srgbClr val="FFFF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1000" name="Rectangle 8"/>
                <p:cNvSpPr>
                  <a:spLocks noChangeArrowheads="1"/>
                </p:cNvSpPr>
                <p:nvPr/>
              </p:nvSpPr>
              <p:spPr bwMode="auto">
                <a:xfrm>
                  <a:off x="4032" y="1056"/>
                  <a:ext cx="240" cy="192"/>
                </a:xfrm>
                <a:prstGeom prst="rect">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1001" name="Rectangle 9"/>
                <p:cNvSpPr>
                  <a:spLocks noChangeArrowheads="1"/>
                </p:cNvSpPr>
                <p:nvPr/>
              </p:nvSpPr>
              <p:spPr bwMode="auto">
                <a:xfrm>
                  <a:off x="960" y="1248"/>
                  <a:ext cx="1536" cy="192"/>
                </a:xfrm>
                <a:prstGeom prst="rect">
                  <a:avLst/>
                </a:prstGeom>
                <a:solidFill>
                  <a:srgbClr val="A6F6E5"/>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1002" name="Rectangle 10"/>
                <p:cNvSpPr>
                  <a:spLocks noChangeArrowheads="1"/>
                </p:cNvSpPr>
                <p:nvPr/>
              </p:nvSpPr>
              <p:spPr bwMode="auto">
                <a:xfrm>
                  <a:off x="2496" y="1248"/>
                  <a:ext cx="1536" cy="192"/>
                </a:xfrm>
                <a:prstGeom prst="rect">
                  <a:avLst/>
                </a:prstGeom>
                <a:solidFill>
                  <a:srgbClr val="FFFF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1003" name="Rectangle 11"/>
                <p:cNvSpPr>
                  <a:spLocks noChangeArrowheads="1"/>
                </p:cNvSpPr>
                <p:nvPr/>
              </p:nvSpPr>
              <p:spPr bwMode="auto">
                <a:xfrm>
                  <a:off x="4032" y="1248"/>
                  <a:ext cx="240" cy="192"/>
                </a:xfrm>
                <a:prstGeom prst="rect">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1004" name="Rectangle 12"/>
                <p:cNvSpPr>
                  <a:spLocks noChangeArrowheads="1"/>
                </p:cNvSpPr>
                <p:nvPr/>
              </p:nvSpPr>
              <p:spPr bwMode="auto">
                <a:xfrm>
                  <a:off x="960" y="1440"/>
                  <a:ext cx="1536" cy="192"/>
                </a:xfrm>
                <a:prstGeom prst="rect">
                  <a:avLst/>
                </a:prstGeom>
                <a:solidFill>
                  <a:srgbClr val="A6F6E5"/>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1005" name="Rectangle 13"/>
                <p:cNvSpPr>
                  <a:spLocks noChangeArrowheads="1"/>
                </p:cNvSpPr>
                <p:nvPr/>
              </p:nvSpPr>
              <p:spPr bwMode="auto">
                <a:xfrm>
                  <a:off x="2496" y="1440"/>
                  <a:ext cx="1536" cy="192"/>
                </a:xfrm>
                <a:prstGeom prst="rect">
                  <a:avLst/>
                </a:prstGeom>
                <a:solidFill>
                  <a:srgbClr val="FFFF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1006" name="Rectangle 14"/>
                <p:cNvSpPr>
                  <a:spLocks noChangeArrowheads="1"/>
                </p:cNvSpPr>
                <p:nvPr/>
              </p:nvSpPr>
              <p:spPr bwMode="auto">
                <a:xfrm>
                  <a:off x="4032" y="1440"/>
                  <a:ext cx="240" cy="192"/>
                </a:xfrm>
                <a:prstGeom prst="rect">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1007" name="Rectangle 15"/>
                <p:cNvSpPr>
                  <a:spLocks noChangeArrowheads="1"/>
                </p:cNvSpPr>
                <p:nvPr/>
              </p:nvSpPr>
              <p:spPr bwMode="auto">
                <a:xfrm>
                  <a:off x="960" y="1632"/>
                  <a:ext cx="1536" cy="192"/>
                </a:xfrm>
                <a:prstGeom prst="rect">
                  <a:avLst/>
                </a:prstGeom>
                <a:solidFill>
                  <a:srgbClr val="A6F6E5"/>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1008" name="Rectangle 16"/>
                <p:cNvSpPr>
                  <a:spLocks noChangeArrowheads="1"/>
                </p:cNvSpPr>
                <p:nvPr/>
              </p:nvSpPr>
              <p:spPr bwMode="auto">
                <a:xfrm>
                  <a:off x="2496" y="1632"/>
                  <a:ext cx="1536" cy="192"/>
                </a:xfrm>
                <a:prstGeom prst="rect">
                  <a:avLst/>
                </a:prstGeom>
                <a:solidFill>
                  <a:srgbClr val="FFFF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1009" name="Rectangle 17"/>
                <p:cNvSpPr>
                  <a:spLocks noChangeArrowheads="1"/>
                </p:cNvSpPr>
                <p:nvPr/>
              </p:nvSpPr>
              <p:spPr bwMode="auto">
                <a:xfrm>
                  <a:off x="4032" y="1632"/>
                  <a:ext cx="240" cy="192"/>
                </a:xfrm>
                <a:prstGeom prst="rect">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1010" name="Rectangle 18"/>
                <p:cNvSpPr>
                  <a:spLocks noChangeArrowheads="1"/>
                </p:cNvSpPr>
                <p:nvPr/>
              </p:nvSpPr>
              <p:spPr bwMode="auto">
                <a:xfrm>
                  <a:off x="960" y="1824"/>
                  <a:ext cx="1536" cy="192"/>
                </a:xfrm>
                <a:prstGeom prst="rect">
                  <a:avLst/>
                </a:prstGeom>
                <a:solidFill>
                  <a:srgbClr val="A6F6E5"/>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1011" name="Rectangle 19"/>
                <p:cNvSpPr>
                  <a:spLocks noChangeArrowheads="1"/>
                </p:cNvSpPr>
                <p:nvPr/>
              </p:nvSpPr>
              <p:spPr bwMode="auto">
                <a:xfrm>
                  <a:off x="2496" y="1824"/>
                  <a:ext cx="1536" cy="192"/>
                </a:xfrm>
                <a:prstGeom prst="rect">
                  <a:avLst/>
                </a:prstGeom>
                <a:solidFill>
                  <a:srgbClr val="FFFF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1012" name="Rectangle 20"/>
                <p:cNvSpPr>
                  <a:spLocks noChangeArrowheads="1"/>
                </p:cNvSpPr>
                <p:nvPr/>
              </p:nvSpPr>
              <p:spPr bwMode="auto">
                <a:xfrm>
                  <a:off x="4032" y="1824"/>
                  <a:ext cx="240" cy="192"/>
                </a:xfrm>
                <a:prstGeom prst="rect">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1013" name="Rectangle 21"/>
                <p:cNvSpPr>
                  <a:spLocks noChangeArrowheads="1"/>
                </p:cNvSpPr>
                <p:nvPr/>
              </p:nvSpPr>
              <p:spPr bwMode="auto">
                <a:xfrm>
                  <a:off x="960" y="2016"/>
                  <a:ext cx="1536" cy="192"/>
                </a:xfrm>
                <a:prstGeom prst="rect">
                  <a:avLst/>
                </a:prstGeom>
                <a:solidFill>
                  <a:srgbClr val="A6F6E5"/>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1014" name="Rectangle 22"/>
                <p:cNvSpPr>
                  <a:spLocks noChangeArrowheads="1"/>
                </p:cNvSpPr>
                <p:nvPr/>
              </p:nvSpPr>
              <p:spPr bwMode="auto">
                <a:xfrm>
                  <a:off x="2496" y="2016"/>
                  <a:ext cx="1536" cy="192"/>
                </a:xfrm>
                <a:prstGeom prst="rect">
                  <a:avLst/>
                </a:prstGeom>
                <a:solidFill>
                  <a:srgbClr val="FFFF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1015" name="Rectangle 23"/>
                <p:cNvSpPr>
                  <a:spLocks noChangeArrowheads="1"/>
                </p:cNvSpPr>
                <p:nvPr/>
              </p:nvSpPr>
              <p:spPr bwMode="auto">
                <a:xfrm>
                  <a:off x="4032" y="2016"/>
                  <a:ext cx="240" cy="192"/>
                </a:xfrm>
                <a:prstGeom prst="rect">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81016" name="Text Box 24"/>
              <p:cNvSpPr txBox="1">
                <a:spLocks noChangeArrowheads="1"/>
              </p:cNvSpPr>
              <p:nvPr/>
            </p:nvSpPr>
            <p:spPr bwMode="auto">
              <a:xfrm>
                <a:off x="1776" y="2133"/>
                <a:ext cx="860" cy="23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b="1"/>
                  <a:t>Branch PC</a:t>
                </a:r>
              </a:p>
            </p:txBody>
          </p:sp>
          <p:sp>
            <p:nvSpPr>
              <p:cNvPr id="981017" name="Text Box 25"/>
              <p:cNvSpPr txBox="1">
                <a:spLocks noChangeArrowheads="1"/>
              </p:cNvSpPr>
              <p:nvPr/>
            </p:nvSpPr>
            <p:spPr bwMode="auto">
              <a:xfrm>
                <a:off x="3221" y="2133"/>
                <a:ext cx="1021" cy="23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b="1"/>
                  <a:t>Predicted PC</a:t>
                </a:r>
              </a:p>
            </p:txBody>
          </p:sp>
        </p:grpSp>
        <p:sp>
          <p:nvSpPr>
            <p:cNvPr id="981018" name="Oval 26"/>
            <p:cNvSpPr>
              <a:spLocks noChangeArrowheads="1"/>
            </p:cNvSpPr>
            <p:nvPr/>
          </p:nvSpPr>
          <p:spPr bwMode="auto">
            <a:xfrm>
              <a:off x="1872" y="3269"/>
              <a:ext cx="384" cy="384"/>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b="1"/>
                <a:t>=?</a:t>
              </a:r>
            </a:p>
          </p:txBody>
        </p:sp>
        <p:sp>
          <p:nvSpPr>
            <p:cNvPr id="981019" name="Line 27"/>
            <p:cNvSpPr>
              <a:spLocks noChangeShapeType="1"/>
            </p:cNvSpPr>
            <p:nvPr/>
          </p:nvSpPr>
          <p:spPr bwMode="auto">
            <a:xfrm>
              <a:off x="2064" y="3029"/>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1020" name="Text Box 28"/>
            <p:cNvSpPr txBox="1">
              <a:spLocks noChangeArrowheads="1"/>
            </p:cNvSpPr>
            <p:nvPr/>
          </p:nvSpPr>
          <p:spPr bwMode="auto">
            <a:xfrm rot="5400000">
              <a:off x="179" y="2274"/>
              <a:ext cx="1285" cy="4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b="1"/>
                <a:t>PC of instruction</a:t>
              </a:r>
            </a:p>
            <a:p>
              <a:r>
                <a:rPr lang="en-US" altLang="en-US" b="1"/>
                <a:t>FETCH</a:t>
              </a:r>
            </a:p>
          </p:txBody>
        </p:sp>
        <p:sp>
          <p:nvSpPr>
            <p:cNvPr id="981021" name="AutoShape 29"/>
            <p:cNvSpPr>
              <a:spLocks/>
            </p:cNvSpPr>
            <p:nvPr/>
          </p:nvSpPr>
          <p:spPr bwMode="auto">
            <a:xfrm>
              <a:off x="1008" y="1877"/>
              <a:ext cx="288" cy="1200"/>
            </a:xfrm>
            <a:prstGeom prst="rightBrace">
              <a:avLst>
                <a:gd name="adj1" fmla="val 34722"/>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1022" name="Freeform 30"/>
            <p:cNvSpPr>
              <a:spLocks/>
            </p:cNvSpPr>
            <p:nvPr/>
          </p:nvSpPr>
          <p:spPr bwMode="auto">
            <a:xfrm>
              <a:off x="816" y="3077"/>
              <a:ext cx="1008" cy="384"/>
            </a:xfrm>
            <a:custGeom>
              <a:avLst/>
              <a:gdLst>
                <a:gd name="T0" fmla="*/ 0 w 1008"/>
                <a:gd name="T1" fmla="*/ 0 h 432"/>
                <a:gd name="T2" fmla="*/ 0 w 1008"/>
                <a:gd name="T3" fmla="*/ 432 h 432"/>
                <a:gd name="T4" fmla="*/ 1008 w 1008"/>
                <a:gd name="T5" fmla="*/ 432 h 432"/>
              </a:gdLst>
              <a:ahLst/>
              <a:cxnLst>
                <a:cxn ang="0">
                  <a:pos x="T0" y="T1"/>
                </a:cxn>
                <a:cxn ang="0">
                  <a:pos x="T2" y="T3"/>
                </a:cxn>
                <a:cxn ang="0">
                  <a:pos x="T4" y="T5"/>
                </a:cxn>
              </a:cxnLst>
              <a:rect l="0" t="0" r="r" b="b"/>
              <a:pathLst>
                <a:path w="1008" h="432">
                  <a:moveTo>
                    <a:pt x="0" y="0"/>
                  </a:moveTo>
                  <a:lnTo>
                    <a:pt x="0" y="432"/>
                  </a:lnTo>
                  <a:lnTo>
                    <a:pt x="1008" y="432"/>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1023" name="Line 31"/>
            <p:cNvSpPr>
              <a:spLocks noChangeShapeType="1"/>
            </p:cNvSpPr>
            <p:nvPr/>
          </p:nvSpPr>
          <p:spPr bwMode="auto">
            <a:xfrm>
              <a:off x="4512" y="3029"/>
              <a:ext cx="0" cy="2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1024" name="Text Box 32"/>
            <p:cNvSpPr txBox="1">
              <a:spLocks noChangeArrowheads="1"/>
            </p:cNvSpPr>
            <p:nvPr/>
          </p:nvSpPr>
          <p:spPr bwMode="auto">
            <a:xfrm>
              <a:off x="3984" y="3311"/>
              <a:ext cx="1230" cy="5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b="1"/>
                <a:t>Extra </a:t>
              </a:r>
            </a:p>
            <a:p>
              <a:r>
                <a:rPr lang="en-US" altLang="en-US" b="1"/>
                <a:t>prediction state</a:t>
              </a:r>
            </a:p>
            <a:p>
              <a:r>
                <a:rPr lang="en-US" altLang="en-US" b="1"/>
                <a:t>bits</a:t>
              </a:r>
            </a:p>
          </p:txBody>
        </p:sp>
        <p:sp>
          <p:nvSpPr>
            <p:cNvPr id="981025" name="Line 33"/>
            <p:cNvSpPr>
              <a:spLocks noChangeShapeType="1"/>
            </p:cNvSpPr>
            <p:nvPr/>
          </p:nvSpPr>
          <p:spPr bwMode="auto">
            <a:xfrm>
              <a:off x="2256" y="3461"/>
              <a:ext cx="33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1026" name="Text Box 34"/>
            <p:cNvSpPr txBox="1">
              <a:spLocks noChangeArrowheads="1"/>
            </p:cNvSpPr>
            <p:nvPr/>
          </p:nvSpPr>
          <p:spPr bwMode="auto">
            <a:xfrm>
              <a:off x="2592" y="3421"/>
              <a:ext cx="1392" cy="7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en-US" altLang="en-US" b="1"/>
                <a:t>Yes: instruction is branch and use predicted PC as next PC</a:t>
              </a:r>
              <a:endParaRPr lang="en-US" altLang="en-US"/>
            </a:p>
          </p:txBody>
        </p:sp>
        <p:sp>
          <p:nvSpPr>
            <p:cNvPr id="981027" name="Text Box 35"/>
            <p:cNvSpPr txBox="1">
              <a:spLocks noChangeArrowheads="1"/>
            </p:cNvSpPr>
            <p:nvPr/>
          </p:nvSpPr>
          <p:spPr bwMode="auto">
            <a:xfrm>
              <a:off x="113" y="3695"/>
              <a:ext cx="2075" cy="5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r"/>
              <a:r>
                <a:rPr lang="en-US" altLang="en-US" b="1"/>
                <a:t>No: branch not </a:t>
              </a:r>
            </a:p>
            <a:p>
              <a:pPr algn="r"/>
              <a:r>
                <a:rPr lang="en-US" altLang="en-US" b="1"/>
                <a:t>predicted, proceed normally</a:t>
              </a:r>
            </a:p>
            <a:p>
              <a:pPr algn="r"/>
              <a:r>
                <a:rPr lang="en-US" altLang="en-US" b="1"/>
                <a:t> (Next PC = PC+4)</a:t>
              </a:r>
              <a:endParaRPr lang="en-US" altLang="en-US"/>
            </a:p>
          </p:txBody>
        </p:sp>
        <p:sp>
          <p:nvSpPr>
            <p:cNvPr id="981028" name="Line 36"/>
            <p:cNvSpPr>
              <a:spLocks noChangeShapeType="1"/>
            </p:cNvSpPr>
            <p:nvPr/>
          </p:nvSpPr>
          <p:spPr bwMode="auto">
            <a:xfrm>
              <a:off x="2141" y="3609"/>
              <a:ext cx="1" cy="30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595355423"/>
      </p:ext>
    </p:extLst>
  </p:cSld>
  <p:clrMapOvr>
    <a:masterClrMapping/>
  </p:clrMapOvr>
  <p:transition>
    <p:wip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1" name="Rectangle 3"/>
          <p:cNvSpPr>
            <a:spLocks noGrp="1" noChangeArrowheads="1"/>
          </p:cNvSpPr>
          <p:nvPr>
            <p:ph type="body" idx="1"/>
          </p:nvPr>
        </p:nvSpPr>
        <p:spPr>
          <a:xfrm>
            <a:off x="335360" y="1556792"/>
            <a:ext cx="5764968" cy="5112568"/>
          </a:xfrm>
        </p:spPr>
        <p:txBody>
          <a:bodyPr/>
          <a:lstStyle/>
          <a:p>
            <a:r>
              <a:rPr lang="en-US" altLang="zh-CN" dirty="0" smtClean="0"/>
              <a:t>“</a:t>
            </a:r>
            <a:r>
              <a:rPr lang="en-US" altLang="zh-CN" dirty="0">
                <a:solidFill>
                  <a:srgbClr val="FF0000"/>
                </a:solidFill>
              </a:rPr>
              <a:t>Branch </a:t>
            </a:r>
            <a:r>
              <a:rPr lang="en-US" altLang="zh-CN" dirty="0" smtClean="0">
                <a:solidFill>
                  <a:srgbClr val="FF0000"/>
                </a:solidFill>
              </a:rPr>
              <a:t>folding</a:t>
            </a:r>
            <a:r>
              <a:rPr lang="en-US" altLang="zh-CN" dirty="0" smtClean="0"/>
              <a:t>” </a:t>
            </a:r>
            <a:r>
              <a:rPr lang="en-US" dirty="0" smtClean="0"/>
              <a:t>Optimization</a:t>
            </a:r>
            <a:endParaRPr lang="en-US" dirty="0"/>
          </a:p>
          <a:p>
            <a:pPr lvl="1"/>
            <a:r>
              <a:rPr lang="en-US" dirty="0"/>
              <a:t>Larger branch-target </a:t>
            </a:r>
            <a:r>
              <a:rPr lang="en-US" dirty="0" smtClean="0"/>
              <a:t>buffer is more</a:t>
            </a:r>
            <a:br>
              <a:rPr lang="en-US" dirty="0" smtClean="0"/>
            </a:br>
            <a:r>
              <a:rPr lang="en-US" dirty="0" smtClean="0"/>
              <a:t>accurate, but needs </a:t>
            </a:r>
            <a:r>
              <a:rPr lang="en-US" altLang="zh-CN" dirty="0"/>
              <a:t>longer decoding time</a:t>
            </a:r>
            <a:endParaRPr lang="en-US" dirty="0"/>
          </a:p>
          <a:p>
            <a:pPr lvl="1"/>
            <a:r>
              <a:rPr lang="en-US" dirty="0" smtClean="0"/>
              <a:t>Put </a:t>
            </a:r>
            <a:r>
              <a:rPr lang="en-US" dirty="0"/>
              <a:t>target instruction into </a:t>
            </a:r>
            <a:r>
              <a:rPr lang="en-US" dirty="0" smtClean="0"/>
              <a:t>buffer</a:t>
            </a:r>
            <a:br>
              <a:rPr lang="en-US" dirty="0" smtClean="0"/>
            </a:br>
            <a:r>
              <a:rPr lang="en-US" dirty="0" smtClean="0"/>
              <a:t>instead of target address</a:t>
            </a:r>
          </a:p>
          <a:p>
            <a:pPr lvl="1"/>
            <a:r>
              <a:rPr lang="en-US" dirty="0" smtClean="0"/>
              <a:t>If multiple issue, put multiple target</a:t>
            </a:r>
            <a:br>
              <a:rPr lang="en-US" dirty="0" smtClean="0"/>
            </a:br>
            <a:r>
              <a:rPr lang="en-US" dirty="0" smtClean="0"/>
              <a:t>instructions in the buffer</a:t>
            </a:r>
          </a:p>
          <a:p>
            <a:r>
              <a:rPr lang="en-US" dirty="0" smtClean="0"/>
              <a:t>Works best for unconditional jumps</a:t>
            </a:r>
          </a:p>
          <a:p>
            <a:pPr lvl="1"/>
            <a:r>
              <a:rPr lang="en-US" dirty="0" smtClean="0"/>
              <a:t>0 cycle execution</a:t>
            </a:r>
          </a:p>
          <a:p>
            <a:pPr lvl="1"/>
            <a:r>
              <a:rPr lang="en-US" dirty="0" smtClean="0"/>
              <a:t>Also good for conditional branches </a:t>
            </a:r>
            <a:endParaRPr lang="en-US" dirty="0"/>
          </a:p>
          <a:p>
            <a:endParaRPr lang="en-US" dirty="0"/>
          </a:p>
        </p:txBody>
      </p:sp>
      <p:sp>
        <p:nvSpPr>
          <p:cNvPr id="6" name="Title 5"/>
          <p:cNvSpPr>
            <a:spLocks noGrp="1"/>
          </p:cNvSpPr>
          <p:nvPr>
            <p:ph type="title"/>
          </p:nvPr>
        </p:nvSpPr>
        <p:spPr>
          <a:xfrm>
            <a:off x="263352" y="365125"/>
            <a:ext cx="11090448" cy="831627"/>
          </a:xfrm>
        </p:spPr>
        <p:txBody>
          <a:bodyPr/>
          <a:lstStyle/>
          <a:p>
            <a:r>
              <a:rPr lang="en-US" dirty="0" smtClean="0"/>
              <a:t>BTB Workflow</a:t>
            </a:r>
            <a:endParaRPr lang="en-US" dirty="0"/>
          </a:p>
        </p:txBody>
      </p:sp>
      <p:pic>
        <p:nvPicPr>
          <p:cNvPr id="7" name="图片 6"/>
          <p:cNvPicPr>
            <a:picLocks noChangeAspect="1"/>
          </p:cNvPicPr>
          <p:nvPr/>
        </p:nvPicPr>
        <p:blipFill>
          <a:blip r:embed="rId3"/>
          <a:stretch>
            <a:fillRect/>
          </a:stretch>
        </p:blipFill>
        <p:spPr>
          <a:xfrm>
            <a:off x="6100328" y="176485"/>
            <a:ext cx="6073336" cy="6492875"/>
          </a:xfrm>
          <a:prstGeom prst="rect">
            <a:avLst/>
          </a:prstGeom>
        </p:spPr>
      </p:pic>
    </p:spTree>
    <p:extLst>
      <p:ext uri="{BB962C8B-B14F-4D97-AF65-F5344CB8AC3E}">
        <p14:creationId xmlns:p14="http://schemas.microsoft.com/office/powerpoint/2010/main" val="442021214"/>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Penalties for BTB combinations</a:t>
            </a:r>
            <a:endParaRPr lang="zh-CN" altLang="en-US" dirty="0"/>
          </a:p>
        </p:txBody>
      </p:sp>
      <p:sp>
        <p:nvSpPr>
          <p:cNvPr id="4" name="内容占位符 3"/>
          <p:cNvSpPr>
            <a:spLocks noGrp="1"/>
          </p:cNvSpPr>
          <p:nvPr>
            <p:ph idx="1"/>
          </p:nvPr>
        </p:nvSpPr>
        <p:spPr>
          <a:xfrm>
            <a:off x="838200" y="4077072"/>
            <a:ext cx="10515600" cy="2592288"/>
          </a:xfrm>
        </p:spPr>
        <p:txBody>
          <a:bodyPr/>
          <a:lstStyle/>
          <a:p>
            <a:r>
              <a:rPr lang="en-US" altLang="zh-CN" dirty="0" smtClean="0"/>
              <a:t>No </a:t>
            </a:r>
            <a:r>
              <a:rPr lang="en-US" altLang="zh-CN" dirty="0"/>
              <a:t>branch penalty if everything is correctly predicted </a:t>
            </a:r>
            <a:endParaRPr lang="en-US" altLang="zh-CN" dirty="0" smtClean="0"/>
          </a:p>
          <a:p>
            <a:r>
              <a:rPr lang="en-US" altLang="zh-CN" dirty="0" smtClean="0"/>
              <a:t>If </a:t>
            </a:r>
            <a:r>
              <a:rPr lang="en-US" altLang="zh-CN" dirty="0"/>
              <a:t>the branch is not correctly predicted, the penalty is equal </a:t>
            </a:r>
            <a:r>
              <a:rPr lang="en-US" altLang="zh-CN" dirty="0" smtClean="0"/>
              <a:t>to</a:t>
            </a:r>
          </a:p>
          <a:p>
            <a:pPr lvl="1"/>
            <a:r>
              <a:rPr lang="en-US" altLang="zh-CN" dirty="0" smtClean="0"/>
              <a:t>1 clock cycle </a:t>
            </a:r>
            <a:r>
              <a:rPr lang="en-US" altLang="zh-CN" dirty="0"/>
              <a:t>to update the buffer with the correct information </a:t>
            </a:r>
            <a:r>
              <a:rPr lang="en-US" altLang="zh-CN" dirty="0" smtClean="0"/>
              <a:t>and </a:t>
            </a:r>
            <a:r>
              <a:rPr lang="en-US" altLang="zh-CN" dirty="0"/>
              <a:t>1 clock </a:t>
            </a:r>
            <a:r>
              <a:rPr lang="en-US" altLang="zh-CN" dirty="0" smtClean="0"/>
              <a:t>cycle </a:t>
            </a:r>
            <a:r>
              <a:rPr lang="en-US" altLang="zh-CN" dirty="0"/>
              <a:t>to restart fetching the next correct instruction for the </a:t>
            </a:r>
            <a:r>
              <a:rPr lang="en-US" altLang="zh-CN" dirty="0" smtClean="0"/>
              <a:t>branch</a:t>
            </a:r>
          </a:p>
          <a:p>
            <a:r>
              <a:rPr lang="en-US" altLang="zh-CN" dirty="0" smtClean="0"/>
              <a:t>If </a:t>
            </a:r>
            <a:r>
              <a:rPr lang="en-US" altLang="zh-CN" dirty="0"/>
              <a:t>the branch is not found and taken, a 2-cycle penalty is encountered, during which time the buffer is </a:t>
            </a:r>
            <a:r>
              <a:rPr lang="en-US" altLang="zh-CN" dirty="0" smtClean="0"/>
              <a:t>updated</a:t>
            </a:r>
            <a:endParaRPr lang="zh-CN" altLang="en-US" dirty="0"/>
          </a:p>
        </p:txBody>
      </p:sp>
      <p:pic>
        <p:nvPicPr>
          <p:cNvPr id="3" name="图片 2"/>
          <p:cNvPicPr>
            <a:picLocks noChangeAspect="1"/>
          </p:cNvPicPr>
          <p:nvPr/>
        </p:nvPicPr>
        <p:blipFill>
          <a:blip r:embed="rId3"/>
          <a:stretch>
            <a:fillRect/>
          </a:stretch>
        </p:blipFill>
        <p:spPr>
          <a:xfrm>
            <a:off x="863352" y="1495526"/>
            <a:ext cx="10297144" cy="2462930"/>
          </a:xfrm>
          <a:prstGeom prst="rect">
            <a:avLst/>
          </a:prstGeom>
        </p:spPr>
      </p:pic>
    </p:spTree>
    <p:extLst>
      <p:ext uri="{BB962C8B-B14F-4D97-AF65-F5344CB8AC3E}">
        <p14:creationId xmlns:p14="http://schemas.microsoft.com/office/powerpoint/2010/main" val="4078809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3586" name="Rectangle 2"/>
          <p:cNvSpPr>
            <a:spLocks noGrp="1" noChangeArrowheads="1"/>
          </p:cNvSpPr>
          <p:nvPr>
            <p:ph type="title"/>
          </p:nvPr>
        </p:nvSpPr>
        <p:spPr/>
        <p:txBody>
          <a:bodyPr/>
          <a:lstStyle/>
          <a:p>
            <a:r>
              <a:rPr lang="en-US" altLang="en-US" dirty="0"/>
              <a:t>Special </a:t>
            </a:r>
            <a:r>
              <a:rPr lang="en-US" altLang="en-US" dirty="0" smtClean="0"/>
              <a:t>Case: </a:t>
            </a:r>
            <a:r>
              <a:rPr lang="en-US" altLang="en-US" dirty="0"/>
              <a:t>Return Addresses</a:t>
            </a:r>
          </a:p>
        </p:txBody>
      </p:sp>
      <p:sp>
        <p:nvSpPr>
          <p:cNvPr id="963587" name="Rectangle 3"/>
          <p:cNvSpPr>
            <a:spLocks noGrp="1" noChangeArrowheads="1"/>
          </p:cNvSpPr>
          <p:nvPr>
            <p:ph type="body" idx="1"/>
          </p:nvPr>
        </p:nvSpPr>
        <p:spPr/>
        <p:txBody>
          <a:bodyPr/>
          <a:lstStyle/>
          <a:p>
            <a:r>
              <a:rPr lang="en-US" altLang="en-US" dirty="0"/>
              <a:t>Register Indirect branch hard to predict address</a:t>
            </a:r>
          </a:p>
          <a:p>
            <a:pPr lvl="1"/>
            <a:r>
              <a:rPr lang="en-US" altLang="en-US" dirty="0" smtClean="0"/>
              <a:t>In SPEC95, </a:t>
            </a:r>
            <a:r>
              <a:rPr lang="en-US" altLang="en-US" dirty="0"/>
              <a:t>procedure returns account for more than 15% of </a:t>
            </a:r>
            <a:r>
              <a:rPr lang="en-US" altLang="en-US" dirty="0" smtClean="0"/>
              <a:t>the branches </a:t>
            </a:r>
            <a:r>
              <a:rPr lang="en-US" altLang="en-US" dirty="0"/>
              <a:t>and the vast majority of the indirect jumps on </a:t>
            </a:r>
            <a:r>
              <a:rPr lang="en-US" altLang="en-US" dirty="0" smtClean="0"/>
              <a:t>average</a:t>
            </a:r>
          </a:p>
          <a:p>
            <a:pPr lvl="1"/>
            <a:r>
              <a:rPr lang="en-US" altLang="en-US" dirty="0"/>
              <a:t>an aggressive branch predictor achieves an </a:t>
            </a:r>
            <a:r>
              <a:rPr lang="en-US" altLang="en-US" dirty="0" smtClean="0"/>
              <a:t>accuracy of </a:t>
            </a:r>
            <a:r>
              <a:rPr lang="en-US" altLang="en-US" dirty="0"/>
              <a:t>less than 60% for such return branches</a:t>
            </a:r>
          </a:p>
          <a:p>
            <a:r>
              <a:rPr lang="en-US" altLang="en-US" dirty="0" smtClean="0"/>
              <a:t>Return Address Buffer (Stack)</a:t>
            </a:r>
          </a:p>
          <a:p>
            <a:pPr lvl="1"/>
            <a:r>
              <a:rPr lang="en-US" altLang="zh-CN" dirty="0"/>
              <a:t>Most unconditional branches come from function returns</a:t>
            </a:r>
          </a:p>
          <a:p>
            <a:pPr lvl="1"/>
            <a:r>
              <a:rPr lang="en-US" altLang="zh-CN" dirty="0"/>
              <a:t>The same procedure can be called from multiple sites</a:t>
            </a:r>
          </a:p>
          <a:p>
            <a:pPr lvl="2"/>
            <a:r>
              <a:rPr lang="en-US" altLang="zh-CN" dirty="0"/>
              <a:t>Causes the buffer to potentially forget about the return address from previous calls</a:t>
            </a:r>
          </a:p>
          <a:p>
            <a:pPr lvl="1"/>
            <a:r>
              <a:rPr lang="en-US" altLang="en-US" dirty="0"/>
              <a:t>Since stack discipline for procedures, save return address in small buffer that acts like a stack: 8 to 16 entries has small miss rate</a:t>
            </a:r>
          </a:p>
          <a:p>
            <a:pPr lvl="1"/>
            <a:r>
              <a:rPr lang="en-US" altLang="zh-CN" dirty="0" smtClean="0"/>
              <a:t>Create </a:t>
            </a:r>
            <a:r>
              <a:rPr lang="en-US" altLang="zh-CN" dirty="0"/>
              <a:t>return address buffer organized as a stack</a:t>
            </a:r>
          </a:p>
          <a:p>
            <a:pPr lvl="1"/>
            <a:endParaRPr lang="en-US" altLang="en-US" dirty="0"/>
          </a:p>
        </p:txBody>
      </p:sp>
    </p:spTree>
    <p:extLst>
      <p:ext uri="{BB962C8B-B14F-4D97-AF65-F5344CB8AC3E}">
        <p14:creationId xmlns:p14="http://schemas.microsoft.com/office/powerpoint/2010/main" val="42738023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6358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96358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96358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6358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96358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96358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963587">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963587">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96358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3587" grpId="0" build="p" autoUpdateAnimBg="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Return Address Predictor</a:t>
            </a:r>
            <a:endParaRPr lang="en-US" dirty="0"/>
          </a:p>
        </p:txBody>
      </p:sp>
      <p:sp>
        <p:nvSpPr>
          <p:cNvPr id="3" name="内容占位符 2"/>
          <p:cNvSpPr>
            <a:spLocks noGrp="1"/>
          </p:cNvSpPr>
          <p:nvPr>
            <p:ph idx="1"/>
          </p:nvPr>
        </p:nvSpPr>
        <p:spPr>
          <a:xfrm>
            <a:off x="479376" y="1556792"/>
            <a:ext cx="5256584" cy="5112568"/>
          </a:xfrm>
        </p:spPr>
        <p:txBody>
          <a:bodyPr/>
          <a:lstStyle/>
          <a:p>
            <a:r>
              <a:rPr lang="en-US" altLang="zh-CN" dirty="0" smtClean="0"/>
              <a:t>A </a:t>
            </a:r>
            <a:r>
              <a:rPr lang="en-US" altLang="zh-CN" dirty="0"/>
              <a:t>buffer of 0 entries implies that the standard branch prediction is </a:t>
            </a:r>
            <a:r>
              <a:rPr lang="en-US" altLang="zh-CN" dirty="0" smtClean="0"/>
              <a:t>used</a:t>
            </a:r>
          </a:p>
          <a:p>
            <a:r>
              <a:rPr lang="en-US" altLang="en-US" dirty="0"/>
              <a:t>Because call depths are typically not large, with some exceptions, a modest buffer works well</a:t>
            </a:r>
            <a:endParaRPr lang="en-US" altLang="zh-CN" dirty="0" smtClean="0"/>
          </a:p>
          <a:p>
            <a:endParaRPr lang="zh-CN" altLang="en-US" dirty="0"/>
          </a:p>
        </p:txBody>
      </p:sp>
      <p:pic>
        <p:nvPicPr>
          <p:cNvPr id="2" name="图片 1"/>
          <p:cNvPicPr>
            <a:picLocks noChangeAspect="1"/>
          </p:cNvPicPr>
          <p:nvPr/>
        </p:nvPicPr>
        <p:blipFill>
          <a:blip r:embed="rId3"/>
          <a:stretch>
            <a:fillRect/>
          </a:stretch>
        </p:blipFill>
        <p:spPr>
          <a:xfrm>
            <a:off x="5794796" y="1484784"/>
            <a:ext cx="5989836" cy="5292562"/>
          </a:xfrm>
          <a:prstGeom prst="rect">
            <a:avLst/>
          </a:prstGeom>
        </p:spPr>
      </p:pic>
    </p:spTree>
    <p:extLst>
      <p:ext uri="{BB962C8B-B14F-4D97-AF65-F5344CB8AC3E}">
        <p14:creationId xmlns:p14="http://schemas.microsoft.com/office/powerpoint/2010/main" val="1184315928"/>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Integrated Instruction Fetch Unit</a:t>
            </a:r>
            <a:endParaRPr lang="en-US" dirty="0"/>
          </a:p>
        </p:txBody>
      </p:sp>
      <p:sp>
        <p:nvSpPr>
          <p:cNvPr id="242691" name="Rectangle 3"/>
          <p:cNvSpPr>
            <a:spLocks noGrp="1" noChangeArrowheads="1"/>
          </p:cNvSpPr>
          <p:nvPr>
            <p:ph type="body" idx="1"/>
          </p:nvPr>
        </p:nvSpPr>
        <p:spPr/>
        <p:txBody>
          <a:bodyPr/>
          <a:lstStyle/>
          <a:p>
            <a:r>
              <a:rPr lang="en-US" dirty="0" smtClean="0"/>
              <a:t>Not as a simple pipeline stage as in 5 stage RISC pipeline</a:t>
            </a:r>
          </a:p>
          <a:p>
            <a:r>
              <a:rPr lang="en-US" dirty="0" smtClean="0"/>
              <a:t>A monolithic unit that performs:</a:t>
            </a:r>
          </a:p>
          <a:p>
            <a:pPr lvl="1"/>
            <a:r>
              <a:rPr lang="en-US" dirty="0"/>
              <a:t>Constant branch prediction, to </a:t>
            </a:r>
            <a:r>
              <a:rPr lang="en-US" dirty="0" smtClean="0"/>
              <a:t>drive the </a:t>
            </a:r>
            <a:r>
              <a:rPr lang="en-US" dirty="0"/>
              <a:t>fetch pipeline</a:t>
            </a:r>
          </a:p>
          <a:p>
            <a:pPr lvl="1"/>
            <a:r>
              <a:rPr lang="en-US" dirty="0" smtClean="0"/>
              <a:t>Instruction </a:t>
            </a:r>
            <a:r>
              <a:rPr lang="en-US" dirty="0" err="1" smtClean="0"/>
              <a:t>prefetch</a:t>
            </a:r>
            <a:r>
              <a:rPr lang="en-US" dirty="0" smtClean="0"/>
              <a:t>, </a:t>
            </a:r>
            <a:r>
              <a:rPr lang="en-US" altLang="zh-CN" dirty="0"/>
              <a:t>integrating it with branch prediction</a:t>
            </a:r>
            <a:endParaRPr lang="en-US" dirty="0" smtClean="0"/>
          </a:p>
          <a:p>
            <a:pPr lvl="2"/>
            <a:r>
              <a:rPr lang="en-US" dirty="0" smtClean="0"/>
              <a:t>Fetch </a:t>
            </a:r>
            <a:r>
              <a:rPr lang="en-US" dirty="0"/>
              <a:t>ahead </a:t>
            </a:r>
            <a:r>
              <a:rPr lang="en-US" dirty="0" smtClean="0"/>
              <a:t>to </a:t>
            </a:r>
            <a:r>
              <a:rPr lang="en-US" dirty="0"/>
              <a:t>deliver multiple instructions per clock</a:t>
            </a:r>
            <a:endParaRPr lang="en-US" dirty="0" smtClean="0"/>
          </a:p>
          <a:p>
            <a:pPr lvl="1"/>
            <a:r>
              <a:rPr lang="en-US" dirty="0" smtClean="0"/>
              <a:t>Instruction memory access and buffering</a:t>
            </a:r>
          </a:p>
          <a:p>
            <a:pPr lvl="2"/>
            <a:r>
              <a:rPr lang="en-US" dirty="0"/>
              <a:t>Deal with crossing cache lines, using </a:t>
            </a:r>
            <a:r>
              <a:rPr lang="en-US" dirty="0" err="1" smtClean="0"/>
              <a:t>prefetch</a:t>
            </a:r>
            <a:r>
              <a:rPr lang="en-US" dirty="0" smtClean="0"/>
              <a:t> </a:t>
            </a:r>
            <a:r>
              <a:rPr lang="en-US" dirty="0"/>
              <a:t>to </a:t>
            </a:r>
            <a:r>
              <a:rPr lang="en-US" dirty="0" smtClean="0"/>
              <a:t>hide the </a:t>
            </a:r>
            <a:r>
              <a:rPr lang="en-US" dirty="0"/>
              <a:t>cost of crossing cache </a:t>
            </a:r>
            <a:r>
              <a:rPr lang="en-US" dirty="0" smtClean="0"/>
              <a:t>blocks</a:t>
            </a:r>
          </a:p>
          <a:p>
            <a:r>
              <a:rPr lang="en-US" altLang="zh-CN" dirty="0" smtClean="0"/>
              <a:t>Nowadays, all </a:t>
            </a:r>
            <a:r>
              <a:rPr lang="en-US" altLang="zh-CN" dirty="0"/>
              <a:t>high-end </a:t>
            </a:r>
            <a:r>
              <a:rPr lang="en-US" altLang="zh-CN" dirty="0" smtClean="0"/>
              <a:t>processors use </a:t>
            </a:r>
            <a:r>
              <a:rPr lang="en-US" altLang="zh-CN" dirty="0"/>
              <a:t>a separate instruction fetch unit </a:t>
            </a:r>
            <a:r>
              <a:rPr lang="en-US" altLang="zh-CN" dirty="0" smtClean="0"/>
              <a:t>connected to </a:t>
            </a:r>
            <a:r>
              <a:rPr lang="en-US" altLang="zh-CN" dirty="0"/>
              <a:t>the rest of the pipeline by a buffer containing pending instructions</a:t>
            </a:r>
            <a:endParaRPr lang="en-US" dirty="0" smtClean="0"/>
          </a:p>
        </p:txBody>
      </p:sp>
    </p:spTree>
    <p:extLst>
      <p:ext uri="{BB962C8B-B14F-4D97-AF65-F5344CB8AC3E}">
        <p14:creationId xmlns:p14="http://schemas.microsoft.com/office/powerpoint/2010/main" val="2109676250"/>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5090" name="Rectangle 2"/>
          <p:cNvSpPr>
            <a:spLocks noGrp="1" noChangeArrowheads="1"/>
          </p:cNvSpPr>
          <p:nvPr>
            <p:ph type="title"/>
          </p:nvPr>
        </p:nvSpPr>
        <p:spPr/>
        <p:txBody>
          <a:bodyPr/>
          <a:lstStyle/>
          <a:p>
            <a:r>
              <a:rPr lang="en-US" altLang="en-US" smtClean="0"/>
              <a:t>Dynamic Branch Prediction Summary</a:t>
            </a:r>
            <a:endParaRPr lang="en-US" altLang="en-US"/>
          </a:p>
        </p:txBody>
      </p:sp>
      <p:sp>
        <p:nvSpPr>
          <p:cNvPr id="985091" name="Rectangle 3"/>
          <p:cNvSpPr>
            <a:spLocks noGrp="1" noChangeArrowheads="1"/>
          </p:cNvSpPr>
          <p:nvPr>
            <p:ph type="body" idx="1"/>
          </p:nvPr>
        </p:nvSpPr>
        <p:spPr>
          <a:xfrm>
            <a:off x="479376" y="1556792"/>
            <a:ext cx="11449272" cy="5112568"/>
          </a:xfrm>
        </p:spPr>
        <p:txBody>
          <a:bodyPr/>
          <a:lstStyle/>
          <a:p>
            <a:r>
              <a:rPr lang="en-US" altLang="en-US" dirty="0" smtClean="0"/>
              <a:t>Prediction becoming important part of scalar execution</a:t>
            </a:r>
          </a:p>
          <a:p>
            <a:r>
              <a:rPr lang="en-US" altLang="en-US" dirty="0" smtClean="0"/>
              <a:t>Branch History Table: 2 bits for loop accuracy</a:t>
            </a:r>
          </a:p>
          <a:p>
            <a:r>
              <a:rPr lang="en-US" altLang="en-US" dirty="0" smtClean="0"/>
              <a:t>Correlation: Recently executed branches correlated with next branch</a:t>
            </a:r>
          </a:p>
          <a:p>
            <a:pPr lvl="1"/>
            <a:r>
              <a:rPr lang="en-US" altLang="en-US" dirty="0" smtClean="0"/>
              <a:t>Either different branches</a:t>
            </a:r>
          </a:p>
          <a:p>
            <a:pPr lvl="1"/>
            <a:r>
              <a:rPr lang="en-US" altLang="en-US" dirty="0" smtClean="0"/>
              <a:t>Or different executions of same branches</a:t>
            </a:r>
          </a:p>
          <a:p>
            <a:r>
              <a:rPr lang="en-US" altLang="en-US" dirty="0" smtClean="0"/>
              <a:t>Tournament Predictor: more resources to competitive solutions and pick between them</a:t>
            </a:r>
          </a:p>
          <a:p>
            <a:r>
              <a:rPr lang="en-US" altLang="en-US" dirty="0" smtClean="0"/>
              <a:t>Branch Target Buffer: include branch address &amp; prediction</a:t>
            </a:r>
          </a:p>
          <a:p>
            <a:r>
              <a:rPr lang="en-US" altLang="en-US" dirty="0" smtClean="0"/>
              <a:t>Predicated Execution can reduce number of branches, number of </a:t>
            </a:r>
            <a:r>
              <a:rPr lang="en-US" altLang="en-US" dirty="0" err="1" smtClean="0"/>
              <a:t>mispredicted</a:t>
            </a:r>
            <a:r>
              <a:rPr lang="en-US" altLang="en-US" dirty="0" smtClean="0"/>
              <a:t> branches</a:t>
            </a:r>
          </a:p>
          <a:p>
            <a:r>
              <a:rPr lang="en-US" altLang="en-US" dirty="0" smtClean="0"/>
              <a:t>Return address stack for prediction of indirect jump</a:t>
            </a:r>
            <a:endParaRPr lang="en-US" altLang="en-US" dirty="0"/>
          </a:p>
        </p:txBody>
      </p:sp>
    </p:spTree>
    <p:extLst>
      <p:ext uri="{BB962C8B-B14F-4D97-AF65-F5344CB8AC3E}">
        <p14:creationId xmlns:p14="http://schemas.microsoft.com/office/powerpoint/2010/main" val="2658917512"/>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850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8509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85091">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985091">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985091">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85091">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985091">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985091">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98509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5091" grpId="0" build="p" autoUpdateAnimBg="0"/>
    </p:bldLst>
  </p:timing>
</p:sld>
</file>

<file path=ppt/slides/slide1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9970" name="Rectangle 2"/>
          <p:cNvSpPr>
            <a:spLocks noGrp="1" noChangeArrowheads="1"/>
          </p:cNvSpPr>
          <p:nvPr>
            <p:ph type="title"/>
          </p:nvPr>
        </p:nvSpPr>
        <p:spPr/>
        <p:txBody>
          <a:bodyPr/>
          <a:lstStyle/>
          <a:p>
            <a:r>
              <a:rPr lang="en-US" altLang="en-US" smtClean="0"/>
              <a:t>Pitfall: Sometimes bigger and dumber is better</a:t>
            </a:r>
            <a:endParaRPr lang="en-US" altLang="en-US"/>
          </a:p>
        </p:txBody>
      </p:sp>
      <p:sp>
        <p:nvSpPr>
          <p:cNvPr id="979971" name="Rectangle 3"/>
          <p:cNvSpPr>
            <a:spLocks noGrp="1" noChangeArrowheads="1"/>
          </p:cNvSpPr>
          <p:nvPr>
            <p:ph type="body" idx="1"/>
          </p:nvPr>
        </p:nvSpPr>
        <p:spPr/>
        <p:txBody>
          <a:bodyPr/>
          <a:lstStyle/>
          <a:p>
            <a:r>
              <a:rPr lang="zh-CN" altLang="en-US" smtClean="0"/>
              <a:t>21264 </a:t>
            </a:r>
            <a:r>
              <a:rPr lang="en-US" altLang="en-US" smtClean="0"/>
              <a:t>uses tournament predictor (29 Kbits)</a:t>
            </a:r>
          </a:p>
          <a:p>
            <a:r>
              <a:rPr lang="en-US" altLang="en-US" smtClean="0"/>
              <a:t>Earlier 21164 uses a simple 2-bit predictor with 2K entries (or a total of 4 Kbits)</a:t>
            </a:r>
          </a:p>
          <a:p>
            <a:r>
              <a:rPr lang="en-US" altLang="en-US" smtClean="0"/>
              <a:t>SPEC95 benchmarks, 21264 outperforms </a:t>
            </a:r>
          </a:p>
          <a:p>
            <a:pPr lvl="1"/>
            <a:r>
              <a:rPr lang="en-US" altLang="en-US" smtClean="0"/>
              <a:t>21264 avg. 11.5 mispredictions per 1000 instructions</a:t>
            </a:r>
          </a:p>
          <a:p>
            <a:pPr lvl="1"/>
            <a:r>
              <a:rPr lang="en-US" altLang="en-US" smtClean="0"/>
              <a:t>21164 avg. 16.5 mispredictions per 1000 instructions</a:t>
            </a:r>
          </a:p>
          <a:p>
            <a:r>
              <a:rPr lang="en-US" altLang="en-US" smtClean="0"/>
              <a:t>Reversed for transaction processing (TP) !</a:t>
            </a:r>
          </a:p>
          <a:p>
            <a:pPr lvl="1"/>
            <a:r>
              <a:rPr lang="en-US" altLang="en-US" smtClean="0"/>
              <a:t>21264 avg. 17 mispredictions per 1000 instructions</a:t>
            </a:r>
          </a:p>
          <a:p>
            <a:pPr lvl="1"/>
            <a:r>
              <a:rPr lang="en-US" altLang="en-US" smtClean="0"/>
              <a:t>21164 avg. 15 mispredictions per 1000 instructions</a:t>
            </a:r>
          </a:p>
          <a:p>
            <a:r>
              <a:rPr lang="en-US" altLang="en-US" smtClean="0"/>
              <a:t>TP code much larger &amp; 21164 hold 2X branch predictions based on local behavior (2K vs. 1K local predictor in the 21264) </a:t>
            </a:r>
            <a:endParaRPr lang="en-US" altLang="en-US" dirty="0"/>
          </a:p>
        </p:txBody>
      </p:sp>
    </p:spTree>
    <p:extLst>
      <p:ext uri="{BB962C8B-B14F-4D97-AF65-F5344CB8AC3E}">
        <p14:creationId xmlns:p14="http://schemas.microsoft.com/office/powerpoint/2010/main" val="104236856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799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799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79971">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979971">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979971">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79971">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979971">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979971">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97997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9971" grpId="0" build="p" autoUpdateAnimBg="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0274" name="Rectangle 2"/>
          <p:cNvSpPr>
            <a:spLocks noGrp="1" noChangeArrowheads="1"/>
          </p:cNvSpPr>
          <p:nvPr>
            <p:ph type="title"/>
          </p:nvPr>
        </p:nvSpPr>
        <p:spPr/>
        <p:txBody>
          <a:bodyPr/>
          <a:lstStyle/>
          <a:p>
            <a:r>
              <a:rPr lang="en-US" altLang="zh-CN"/>
              <a:t>What about Precise Interrupts?</a:t>
            </a:r>
          </a:p>
        </p:txBody>
      </p:sp>
      <p:sp>
        <p:nvSpPr>
          <p:cNvPr id="950275" name="Rectangle 3"/>
          <p:cNvSpPr>
            <a:spLocks noGrp="1" noChangeArrowheads="1"/>
          </p:cNvSpPr>
          <p:nvPr>
            <p:ph type="body" idx="1"/>
          </p:nvPr>
        </p:nvSpPr>
        <p:spPr/>
        <p:txBody>
          <a:bodyPr/>
          <a:lstStyle/>
          <a:p>
            <a:pPr>
              <a:lnSpc>
                <a:spcPct val="80000"/>
              </a:lnSpc>
            </a:pPr>
            <a:r>
              <a:rPr lang="en-US" altLang="zh-CN" dirty="0"/>
              <a:t>State of machine looks as if no instruction beyond faulting instructions has issued</a:t>
            </a:r>
          </a:p>
          <a:p>
            <a:pPr>
              <a:lnSpc>
                <a:spcPct val="80000"/>
              </a:lnSpc>
            </a:pPr>
            <a:endParaRPr lang="en-US" altLang="zh-CN" dirty="0"/>
          </a:p>
          <a:p>
            <a:pPr>
              <a:lnSpc>
                <a:spcPct val="80000"/>
              </a:lnSpc>
            </a:pPr>
            <a:r>
              <a:rPr lang="en-US" altLang="zh-CN" dirty="0" err="1"/>
              <a:t>Tomasulo</a:t>
            </a:r>
            <a:r>
              <a:rPr lang="en-US" altLang="zh-CN" dirty="0"/>
              <a:t> had:</a:t>
            </a:r>
            <a:br>
              <a:rPr lang="en-US" altLang="zh-CN" dirty="0"/>
            </a:br>
            <a:r>
              <a:rPr lang="en-US" altLang="zh-CN" dirty="0"/>
              <a:t/>
            </a:r>
            <a:br>
              <a:rPr lang="en-US" altLang="zh-CN" dirty="0"/>
            </a:br>
            <a:r>
              <a:rPr lang="en-US" altLang="zh-CN" dirty="0">
                <a:solidFill>
                  <a:srgbClr val="FF0000"/>
                </a:solidFill>
              </a:rPr>
              <a:t>In-order issue, out-of-order execution, and out-of-order completion</a:t>
            </a:r>
          </a:p>
          <a:p>
            <a:pPr>
              <a:lnSpc>
                <a:spcPct val="80000"/>
              </a:lnSpc>
            </a:pPr>
            <a:endParaRPr lang="en-US" altLang="zh-CN" dirty="0">
              <a:solidFill>
                <a:schemeClr val="hlink"/>
              </a:solidFill>
            </a:endParaRPr>
          </a:p>
          <a:p>
            <a:pPr>
              <a:lnSpc>
                <a:spcPct val="80000"/>
              </a:lnSpc>
            </a:pPr>
            <a:r>
              <a:rPr lang="en-US" altLang="zh-CN" dirty="0"/>
              <a:t>Need to “fix” the out-of-order completion aspect so that we can find precise breakpoint in </a:t>
            </a:r>
            <a:r>
              <a:rPr lang="en-US" altLang="zh-CN" dirty="0" smtClean="0"/>
              <a:t>instruction stream</a:t>
            </a:r>
          </a:p>
          <a:p>
            <a:pPr lvl="1">
              <a:lnSpc>
                <a:spcPct val="80000"/>
              </a:lnSpc>
            </a:pPr>
            <a:r>
              <a:rPr lang="en-US" altLang="zh-CN" dirty="0" smtClean="0"/>
              <a:t>Separate “execution complete” with “instruction commit”</a:t>
            </a:r>
            <a:endParaRPr lang="en-US" altLang="zh-CN" dirty="0"/>
          </a:p>
        </p:txBody>
      </p:sp>
    </p:spTree>
    <p:extLst>
      <p:ext uri="{BB962C8B-B14F-4D97-AF65-F5344CB8AC3E}">
        <p14:creationId xmlns:p14="http://schemas.microsoft.com/office/powerpoint/2010/main" val="192601588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AU" smtClean="0"/>
              <a:t>Hardware-Based Speculation</a:t>
            </a:r>
            <a:endParaRPr lang="en-AU" dirty="0"/>
          </a:p>
        </p:txBody>
      </p:sp>
      <p:sp>
        <p:nvSpPr>
          <p:cNvPr id="242691" name="Rectangle 3"/>
          <p:cNvSpPr>
            <a:spLocks noGrp="1" noChangeArrowheads="1"/>
          </p:cNvSpPr>
          <p:nvPr>
            <p:ph type="body" idx="1"/>
          </p:nvPr>
        </p:nvSpPr>
        <p:spPr/>
        <p:txBody>
          <a:bodyPr/>
          <a:lstStyle/>
          <a:p>
            <a:r>
              <a:rPr lang="en-US" dirty="0" smtClean="0"/>
              <a:t>Execute instructions along predicted execution paths but only commit the results if prediction was correct</a:t>
            </a:r>
          </a:p>
          <a:p>
            <a:r>
              <a:rPr lang="en-US" dirty="0" smtClean="0"/>
              <a:t>Instruction commit:  allowing an instruction to update the register file when instruction is no longer speculative</a:t>
            </a:r>
          </a:p>
          <a:p>
            <a:r>
              <a:rPr lang="en-US" dirty="0" smtClean="0"/>
              <a:t>Need an additional piece of hardware to prevent any irrevocable action until an instruction commits</a:t>
            </a:r>
          </a:p>
          <a:p>
            <a:pPr lvl="1"/>
            <a:r>
              <a:rPr lang="en-US" dirty="0" smtClean="0"/>
              <a:t>I.e. updating state or taking an execution</a:t>
            </a:r>
          </a:p>
          <a:p>
            <a:r>
              <a:rPr lang="en-US" dirty="0" smtClean="0"/>
              <a:t>Remember “history file” and “future file” we discussed before</a:t>
            </a:r>
          </a:p>
          <a:p>
            <a:pPr lvl="1"/>
            <a:r>
              <a:rPr lang="en-US" dirty="0" smtClean="0"/>
              <a:t>Now we need “</a:t>
            </a:r>
            <a:r>
              <a:rPr lang="en-US" dirty="0" smtClean="0">
                <a:solidFill>
                  <a:srgbClr val="FF0000"/>
                </a:solidFill>
              </a:rPr>
              <a:t>Reorder Buffer</a:t>
            </a:r>
            <a:r>
              <a:rPr lang="en-US" dirty="0" smtClean="0"/>
              <a:t>”</a:t>
            </a:r>
          </a:p>
        </p:txBody>
      </p:sp>
    </p:spTree>
    <p:extLst>
      <p:ext uri="{BB962C8B-B14F-4D97-AF65-F5344CB8AC3E}">
        <p14:creationId xmlns:p14="http://schemas.microsoft.com/office/powerpoint/2010/main" val="1064074664"/>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1298" name="Rectangle 2"/>
          <p:cNvSpPr>
            <a:spLocks noGrp="1" noChangeArrowheads="1"/>
          </p:cNvSpPr>
          <p:nvPr>
            <p:ph type="title"/>
          </p:nvPr>
        </p:nvSpPr>
        <p:spPr/>
        <p:txBody>
          <a:bodyPr/>
          <a:lstStyle/>
          <a:p>
            <a:r>
              <a:rPr lang="en-US" altLang="zh-CN" smtClean="0"/>
              <a:t>Relationship between precise interrupts and specultation:</a:t>
            </a:r>
            <a:endParaRPr lang="en-US" altLang="zh-CN"/>
          </a:p>
        </p:txBody>
      </p:sp>
      <p:sp>
        <p:nvSpPr>
          <p:cNvPr id="951299" name="Rectangle 3"/>
          <p:cNvSpPr>
            <a:spLocks noGrp="1" noChangeArrowheads="1"/>
          </p:cNvSpPr>
          <p:nvPr>
            <p:ph type="body" idx="1"/>
          </p:nvPr>
        </p:nvSpPr>
        <p:spPr/>
        <p:txBody>
          <a:bodyPr/>
          <a:lstStyle/>
          <a:p>
            <a:r>
              <a:rPr lang="en-US" altLang="zh-CN" dirty="0" smtClean="0"/>
              <a:t>Speculation: guess and check</a:t>
            </a:r>
          </a:p>
          <a:p>
            <a:r>
              <a:rPr lang="en-US" altLang="zh-CN" dirty="0" smtClean="0"/>
              <a:t>Important for branch prediction:</a:t>
            </a:r>
          </a:p>
          <a:p>
            <a:pPr lvl="1"/>
            <a:r>
              <a:rPr lang="en-US" altLang="zh-CN" dirty="0" smtClean="0"/>
              <a:t>Need to “take our best shot” at predicting branch direction.</a:t>
            </a:r>
          </a:p>
          <a:p>
            <a:r>
              <a:rPr lang="en-US" altLang="zh-CN" dirty="0" smtClean="0"/>
              <a:t>If we speculate and are wrong, need to back up and restart execution to point at which we predicted incorrectly:</a:t>
            </a:r>
          </a:p>
          <a:p>
            <a:pPr lvl="1"/>
            <a:r>
              <a:rPr lang="en-US" altLang="zh-CN" sz="2800" dirty="0" smtClean="0">
                <a:solidFill>
                  <a:srgbClr val="FF0000"/>
                </a:solidFill>
              </a:rPr>
              <a:t>This is exactly same as precise exceptions!</a:t>
            </a:r>
          </a:p>
          <a:p>
            <a:r>
              <a:rPr lang="en-US" altLang="zh-CN" dirty="0" smtClean="0"/>
              <a:t>Technique for both precise interrupts/exceptions and speculation:</a:t>
            </a:r>
            <a:r>
              <a:rPr lang="en-US" altLang="zh-CN" dirty="0" smtClean="0">
                <a:solidFill>
                  <a:srgbClr val="FF0000"/>
                </a:solidFill>
              </a:rPr>
              <a:t> in-order completion or commit</a:t>
            </a:r>
            <a:endParaRPr lang="en-US" altLang="zh-CN" dirty="0">
              <a:solidFill>
                <a:srgbClr val="FF0000"/>
              </a:solidFill>
            </a:endParaRPr>
          </a:p>
        </p:txBody>
      </p:sp>
    </p:spTree>
    <p:extLst>
      <p:ext uri="{BB962C8B-B14F-4D97-AF65-F5344CB8AC3E}">
        <p14:creationId xmlns:p14="http://schemas.microsoft.com/office/powerpoint/2010/main" val="9540341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512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5129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951299">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951299">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951299">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512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1299" grpId="0" build="p" autoUpdateAnimBg="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AU" smtClean="0"/>
              <a:t>Reorder Buffer</a:t>
            </a:r>
            <a:endParaRPr lang="en-AU" dirty="0"/>
          </a:p>
        </p:txBody>
      </p:sp>
      <p:sp>
        <p:nvSpPr>
          <p:cNvPr id="242691" name="Rectangle 3"/>
          <p:cNvSpPr>
            <a:spLocks noGrp="1" noChangeArrowheads="1"/>
          </p:cNvSpPr>
          <p:nvPr>
            <p:ph type="body" idx="1"/>
          </p:nvPr>
        </p:nvSpPr>
        <p:spPr/>
        <p:txBody>
          <a:bodyPr/>
          <a:lstStyle/>
          <a:p>
            <a:r>
              <a:rPr lang="en-US" dirty="0" smtClean="0"/>
              <a:t>Reorder buffer – holds the result of instruction between completion and commit. It has 4 fields:</a:t>
            </a:r>
          </a:p>
          <a:p>
            <a:pPr lvl="1"/>
            <a:r>
              <a:rPr lang="en-US" dirty="0" smtClean="0"/>
              <a:t>Instruction type:  branch/store/register</a:t>
            </a:r>
          </a:p>
          <a:p>
            <a:pPr lvl="1"/>
            <a:r>
              <a:rPr lang="en-US" dirty="0" smtClean="0"/>
              <a:t>Destination field:  register number</a:t>
            </a:r>
          </a:p>
          <a:p>
            <a:pPr lvl="1"/>
            <a:r>
              <a:rPr lang="en-US" dirty="0" smtClean="0"/>
              <a:t>Value field:  output value</a:t>
            </a:r>
          </a:p>
          <a:p>
            <a:pPr lvl="1"/>
            <a:r>
              <a:rPr lang="en-US" dirty="0" smtClean="0"/>
              <a:t>Ready field:  completed execution?</a:t>
            </a:r>
          </a:p>
          <a:p>
            <a:r>
              <a:rPr lang="en-US" dirty="0" smtClean="0"/>
              <a:t>Modify reservation stations:</a:t>
            </a:r>
          </a:p>
          <a:p>
            <a:pPr lvl="1"/>
            <a:r>
              <a:rPr lang="en-US" dirty="0" smtClean="0"/>
              <a:t>Operand source is now reorder buffer instead of functional unit</a:t>
            </a:r>
          </a:p>
          <a:p>
            <a:r>
              <a:rPr lang="en-US" altLang="zh-CN" dirty="0"/>
              <a:t>Register values and memory values are not written until an instruction commits</a:t>
            </a:r>
          </a:p>
          <a:p>
            <a:pPr lvl="1"/>
            <a:r>
              <a:rPr lang="en-US" altLang="zh-CN" dirty="0" smtClean="0"/>
              <a:t>On </a:t>
            </a:r>
            <a:r>
              <a:rPr lang="en-US" altLang="zh-CN" dirty="0" err="1" smtClean="0"/>
              <a:t>misprediction</a:t>
            </a:r>
            <a:r>
              <a:rPr lang="en-US" altLang="zh-CN" dirty="0" smtClean="0"/>
              <a:t>: Speculated </a:t>
            </a:r>
            <a:r>
              <a:rPr lang="en-US" altLang="zh-CN" dirty="0"/>
              <a:t>entries in ROB are cleared</a:t>
            </a:r>
          </a:p>
          <a:p>
            <a:pPr lvl="1"/>
            <a:r>
              <a:rPr lang="en-US" altLang="zh-CN" dirty="0" smtClean="0"/>
              <a:t>Exceptions: Not </a:t>
            </a:r>
            <a:r>
              <a:rPr lang="en-US" altLang="zh-CN" dirty="0"/>
              <a:t>recognized until it is ready to commit</a:t>
            </a:r>
          </a:p>
          <a:p>
            <a:endParaRPr lang="en-US" dirty="0" smtClean="0"/>
          </a:p>
        </p:txBody>
      </p:sp>
    </p:spTree>
    <p:extLst>
      <p:ext uri="{BB962C8B-B14F-4D97-AF65-F5344CB8AC3E}">
        <p14:creationId xmlns:p14="http://schemas.microsoft.com/office/powerpoint/2010/main" val="1568635259"/>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22" name="Rectangle 2"/>
          <p:cNvSpPr>
            <a:spLocks noGrp="1" noChangeArrowheads="1"/>
          </p:cNvSpPr>
          <p:nvPr>
            <p:ph type="title"/>
          </p:nvPr>
        </p:nvSpPr>
        <p:spPr>
          <a:xfrm>
            <a:off x="911424" y="726530"/>
            <a:ext cx="9247560" cy="409575"/>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HW support for precise interrupts</a:t>
            </a:r>
          </a:p>
        </p:txBody>
      </p:sp>
      <p:sp>
        <p:nvSpPr>
          <p:cNvPr id="952323" name="Rectangle 3"/>
          <p:cNvSpPr>
            <a:spLocks noGrp="1" noChangeArrowheads="1"/>
          </p:cNvSpPr>
          <p:nvPr>
            <p:ph type="body" idx="1"/>
          </p:nvPr>
        </p:nvSpPr>
        <p:spPr>
          <a:xfrm>
            <a:off x="335360" y="1556792"/>
            <a:ext cx="7010622" cy="5301209"/>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spcBef>
                <a:spcPct val="0"/>
              </a:spcBef>
            </a:pPr>
            <a:r>
              <a:rPr lang="en-US" altLang="zh-CN" dirty="0" smtClean="0"/>
              <a:t>Use </a:t>
            </a:r>
            <a:r>
              <a:rPr lang="en-US" altLang="zh-CN" dirty="0"/>
              <a:t>reorder buffer number instead of reservation station when execution completes</a:t>
            </a:r>
          </a:p>
          <a:p>
            <a:pPr lvl="1">
              <a:spcBef>
                <a:spcPct val="0"/>
              </a:spcBef>
            </a:pPr>
            <a:r>
              <a:rPr lang="en-US" altLang="zh-CN" dirty="0"/>
              <a:t>Supplies operands between execution complete &amp; commit</a:t>
            </a:r>
          </a:p>
          <a:p>
            <a:pPr lvl="1">
              <a:spcBef>
                <a:spcPct val="0"/>
              </a:spcBef>
            </a:pPr>
            <a:r>
              <a:rPr lang="en-US" altLang="zh-CN" dirty="0" smtClean="0"/>
              <a:t>Reorder </a:t>
            </a:r>
            <a:r>
              <a:rPr lang="en-US" altLang="zh-CN" dirty="0"/>
              <a:t>buffer can be operand source =&gt; more registers like </a:t>
            </a:r>
            <a:r>
              <a:rPr lang="en-US" altLang="zh-CN" dirty="0" smtClean="0"/>
              <a:t>Reservation Stations</a:t>
            </a:r>
          </a:p>
          <a:p>
            <a:pPr>
              <a:spcBef>
                <a:spcPct val="0"/>
              </a:spcBef>
            </a:pPr>
            <a:r>
              <a:rPr lang="en-US" altLang="zh-CN" dirty="0" smtClean="0"/>
              <a:t>Instructions </a:t>
            </a:r>
            <a:r>
              <a:rPr lang="en-US" altLang="zh-CN" u="sng" dirty="0" smtClean="0">
                <a:solidFill>
                  <a:srgbClr val="FF0000"/>
                </a:solidFill>
              </a:rPr>
              <a:t>commit</a:t>
            </a:r>
            <a:endParaRPr lang="en-US" altLang="zh-CN" dirty="0" smtClean="0">
              <a:solidFill>
                <a:srgbClr val="FF0000"/>
              </a:solidFill>
            </a:endParaRPr>
          </a:p>
          <a:p>
            <a:pPr lvl="1">
              <a:spcBef>
                <a:spcPct val="0"/>
              </a:spcBef>
            </a:pPr>
            <a:r>
              <a:rPr lang="en-US" altLang="zh-CN" dirty="0" smtClean="0"/>
              <a:t>Once </a:t>
            </a:r>
            <a:r>
              <a:rPr lang="en-US" altLang="zh-CN" dirty="0"/>
              <a:t>instruction commits, </a:t>
            </a:r>
            <a:r>
              <a:rPr lang="en-US" altLang="zh-CN" dirty="0" smtClean="0"/>
              <a:t>result </a:t>
            </a:r>
            <a:r>
              <a:rPr lang="en-US" altLang="zh-CN" dirty="0"/>
              <a:t>is put into </a:t>
            </a:r>
            <a:r>
              <a:rPr lang="en-US" altLang="zh-CN" dirty="0" smtClean="0"/>
              <a:t>register files</a:t>
            </a:r>
            <a:endParaRPr lang="en-US" altLang="zh-CN" dirty="0"/>
          </a:p>
          <a:p>
            <a:pPr>
              <a:spcBef>
                <a:spcPct val="0"/>
              </a:spcBef>
            </a:pPr>
            <a:r>
              <a:rPr lang="en-US" altLang="zh-CN" dirty="0"/>
              <a:t>As a result, easy to undo speculated instructions </a:t>
            </a:r>
            <a:r>
              <a:rPr lang="en-US" altLang="zh-CN" dirty="0" smtClean="0"/>
              <a:t>on </a:t>
            </a:r>
            <a:r>
              <a:rPr lang="en-US" altLang="zh-CN" dirty="0" err="1"/>
              <a:t>mispredicted</a:t>
            </a:r>
            <a:r>
              <a:rPr lang="en-US" altLang="zh-CN" dirty="0"/>
              <a:t> branches </a:t>
            </a:r>
            <a:br>
              <a:rPr lang="en-US" altLang="zh-CN" dirty="0"/>
            </a:br>
            <a:r>
              <a:rPr lang="en-US" altLang="zh-CN" u="sng" dirty="0">
                <a:solidFill>
                  <a:srgbClr val="FF0000"/>
                </a:solidFill>
              </a:rPr>
              <a:t>or exceptions</a:t>
            </a:r>
          </a:p>
        </p:txBody>
      </p:sp>
      <p:grpSp>
        <p:nvGrpSpPr>
          <p:cNvPr id="952343" name="Group 23"/>
          <p:cNvGrpSpPr>
            <a:grpSpLocks/>
          </p:cNvGrpSpPr>
          <p:nvPr/>
        </p:nvGrpSpPr>
        <p:grpSpPr bwMode="auto">
          <a:xfrm>
            <a:off x="7396782" y="2964333"/>
            <a:ext cx="4114800" cy="3702050"/>
            <a:chOff x="2996" y="1104"/>
            <a:chExt cx="2592" cy="2332"/>
          </a:xfrm>
        </p:grpSpPr>
        <p:sp>
          <p:nvSpPr>
            <p:cNvPr id="952325" name="Rectangle 5"/>
            <p:cNvSpPr>
              <a:spLocks noChangeArrowheads="1"/>
            </p:cNvSpPr>
            <p:nvPr/>
          </p:nvSpPr>
          <p:spPr bwMode="auto">
            <a:xfrm>
              <a:off x="4272" y="1248"/>
              <a:ext cx="1040" cy="656"/>
            </a:xfrm>
            <a:prstGeom prst="rect">
              <a:avLst/>
            </a:prstGeom>
            <a:solidFill>
              <a:srgbClr val="FFC000"/>
            </a:solidFill>
            <a:ln w="25400">
              <a:solidFill>
                <a:srgbClr val="FFC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sz="2400" dirty="0">
                  <a:latin typeface="Arial" panose="020B0604020202020204" pitchFamily="34" charset="0"/>
                </a:rPr>
                <a:t>Reorder</a:t>
              </a:r>
            </a:p>
            <a:p>
              <a:r>
                <a:rPr lang="en-US" altLang="zh-CN" sz="2400" dirty="0">
                  <a:latin typeface="Arial" panose="020B0604020202020204" pitchFamily="34" charset="0"/>
                </a:rPr>
                <a:t>Buffer</a:t>
              </a:r>
            </a:p>
          </p:txBody>
        </p:sp>
        <p:sp>
          <p:nvSpPr>
            <p:cNvPr id="952326" name="Rectangle 6"/>
            <p:cNvSpPr>
              <a:spLocks noChangeArrowheads="1"/>
            </p:cNvSpPr>
            <p:nvPr/>
          </p:nvSpPr>
          <p:spPr bwMode="auto">
            <a:xfrm>
              <a:off x="3320" y="1568"/>
              <a:ext cx="476" cy="74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a:latin typeface="Arial" panose="020B0604020202020204" pitchFamily="34" charset="0"/>
                </a:rPr>
                <a:t>FP</a:t>
              </a:r>
            </a:p>
            <a:p>
              <a:r>
                <a:rPr lang="en-US" altLang="zh-CN">
                  <a:latin typeface="Arial" panose="020B0604020202020204" pitchFamily="34" charset="0"/>
                </a:rPr>
                <a:t>Op</a:t>
              </a:r>
            </a:p>
            <a:p>
              <a:r>
                <a:rPr lang="en-US" altLang="zh-CN">
                  <a:latin typeface="Arial" panose="020B0604020202020204" pitchFamily="34" charset="0"/>
                </a:rPr>
                <a:t>Queue</a:t>
              </a:r>
            </a:p>
          </p:txBody>
        </p:sp>
        <p:sp>
          <p:nvSpPr>
            <p:cNvPr id="952327" name="Rectangle 7"/>
            <p:cNvSpPr>
              <a:spLocks noChangeArrowheads="1"/>
            </p:cNvSpPr>
            <p:nvPr/>
          </p:nvSpPr>
          <p:spPr bwMode="auto">
            <a:xfrm>
              <a:off x="3224" y="3032"/>
              <a:ext cx="656" cy="152"/>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a:latin typeface="Arial" panose="020B0604020202020204" pitchFamily="34" charset="0"/>
                </a:rPr>
                <a:t>FP Adder</a:t>
              </a:r>
            </a:p>
          </p:txBody>
        </p:sp>
        <p:sp>
          <p:nvSpPr>
            <p:cNvPr id="952328" name="Rectangle 8"/>
            <p:cNvSpPr>
              <a:spLocks noChangeArrowheads="1"/>
            </p:cNvSpPr>
            <p:nvPr/>
          </p:nvSpPr>
          <p:spPr bwMode="auto">
            <a:xfrm>
              <a:off x="4448" y="3032"/>
              <a:ext cx="656" cy="152"/>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a:latin typeface="Arial" panose="020B0604020202020204" pitchFamily="34" charset="0"/>
                </a:rPr>
                <a:t>FP Adder</a:t>
              </a:r>
            </a:p>
          </p:txBody>
        </p:sp>
        <p:sp>
          <p:nvSpPr>
            <p:cNvPr id="952329" name="Rectangle 9"/>
            <p:cNvSpPr>
              <a:spLocks noChangeArrowheads="1"/>
            </p:cNvSpPr>
            <p:nvPr/>
          </p:nvSpPr>
          <p:spPr bwMode="auto">
            <a:xfrm>
              <a:off x="3044" y="2756"/>
              <a:ext cx="908" cy="2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a:latin typeface="Arial" panose="020B0604020202020204" pitchFamily="34" charset="0"/>
                </a:rPr>
                <a:t>Res Stations</a:t>
              </a:r>
            </a:p>
          </p:txBody>
        </p:sp>
        <p:sp>
          <p:nvSpPr>
            <p:cNvPr id="952330" name="Rectangle 10"/>
            <p:cNvSpPr>
              <a:spLocks noChangeArrowheads="1"/>
            </p:cNvSpPr>
            <p:nvPr/>
          </p:nvSpPr>
          <p:spPr bwMode="auto">
            <a:xfrm>
              <a:off x="4304" y="2756"/>
              <a:ext cx="908" cy="2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a:latin typeface="Arial" panose="020B0604020202020204" pitchFamily="34" charset="0"/>
                </a:rPr>
                <a:t>Res Stations</a:t>
              </a:r>
            </a:p>
          </p:txBody>
        </p:sp>
        <p:sp>
          <p:nvSpPr>
            <p:cNvPr id="952331" name="Line 11"/>
            <p:cNvSpPr>
              <a:spLocks noChangeShapeType="1"/>
            </p:cNvSpPr>
            <p:nvPr/>
          </p:nvSpPr>
          <p:spPr bwMode="auto">
            <a:xfrm>
              <a:off x="2996" y="3408"/>
              <a:ext cx="256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32" name="Line 12"/>
            <p:cNvSpPr>
              <a:spLocks noChangeShapeType="1"/>
            </p:cNvSpPr>
            <p:nvPr/>
          </p:nvSpPr>
          <p:spPr bwMode="auto">
            <a:xfrm>
              <a:off x="5568" y="1112"/>
              <a:ext cx="0" cy="227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33" name="Line 13"/>
            <p:cNvSpPr>
              <a:spLocks noChangeShapeType="1"/>
            </p:cNvSpPr>
            <p:nvPr/>
          </p:nvSpPr>
          <p:spPr bwMode="auto">
            <a:xfrm flipH="1">
              <a:off x="4800" y="1104"/>
              <a:ext cx="7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34" name="Line 14"/>
            <p:cNvSpPr>
              <a:spLocks noChangeShapeType="1"/>
            </p:cNvSpPr>
            <p:nvPr/>
          </p:nvSpPr>
          <p:spPr bwMode="auto">
            <a:xfrm>
              <a:off x="4800" y="1104"/>
              <a:ext cx="0" cy="14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35" name="Line 15"/>
            <p:cNvSpPr>
              <a:spLocks noChangeShapeType="1"/>
            </p:cNvSpPr>
            <p:nvPr/>
          </p:nvSpPr>
          <p:spPr bwMode="auto">
            <a:xfrm>
              <a:off x="3552" y="3188"/>
              <a:ext cx="0" cy="224"/>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36" name="Line 16"/>
            <p:cNvSpPr>
              <a:spLocks noChangeShapeType="1"/>
            </p:cNvSpPr>
            <p:nvPr/>
          </p:nvSpPr>
          <p:spPr bwMode="auto">
            <a:xfrm>
              <a:off x="4764" y="3212"/>
              <a:ext cx="0" cy="224"/>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37" name="Line 17"/>
            <p:cNvSpPr>
              <a:spLocks noChangeShapeType="1"/>
            </p:cNvSpPr>
            <p:nvPr/>
          </p:nvSpPr>
          <p:spPr bwMode="auto">
            <a:xfrm>
              <a:off x="3528" y="2324"/>
              <a:ext cx="0" cy="416"/>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38" name="Line 18"/>
            <p:cNvSpPr>
              <a:spLocks noChangeShapeType="1"/>
            </p:cNvSpPr>
            <p:nvPr/>
          </p:nvSpPr>
          <p:spPr bwMode="auto">
            <a:xfrm>
              <a:off x="3536" y="2484"/>
              <a:ext cx="122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39" name="Line 19"/>
            <p:cNvSpPr>
              <a:spLocks noChangeShapeType="1"/>
            </p:cNvSpPr>
            <p:nvPr/>
          </p:nvSpPr>
          <p:spPr bwMode="auto">
            <a:xfrm>
              <a:off x="4800" y="2496"/>
              <a:ext cx="0" cy="236"/>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40" name="Line 20"/>
            <p:cNvSpPr>
              <a:spLocks noChangeShapeType="1"/>
            </p:cNvSpPr>
            <p:nvPr/>
          </p:nvSpPr>
          <p:spPr bwMode="auto">
            <a:xfrm>
              <a:off x="4800" y="1920"/>
              <a:ext cx="0" cy="548"/>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41" name="Line 21"/>
            <p:cNvSpPr>
              <a:spLocks noChangeShapeType="1"/>
            </p:cNvSpPr>
            <p:nvPr/>
          </p:nvSpPr>
          <p:spPr bwMode="auto">
            <a:xfrm flipH="1">
              <a:off x="4732" y="2484"/>
              <a:ext cx="844"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42" name="Rectangle 22"/>
            <p:cNvSpPr>
              <a:spLocks noChangeArrowheads="1"/>
            </p:cNvSpPr>
            <p:nvPr/>
          </p:nvSpPr>
          <p:spPr bwMode="auto">
            <a:xfrm>
              <a:off x="4432" y="2022"/>
              <a:ext cx="704" cy="308"/>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a:latin typeface="Arial" panose="020B0604020202020204" pitchFamily="34" charset="0"/>
                </a:rPr>
                <a:t>FP Regs</a:t>
              </a:r>
            </a:p>
          </p:txBody>
        </p:sp>
      </p:grpSp>
      <p:sp>
        <p:nvSpPr>
          <p:cNvPr id="952344" name="Text Box 24"/>
          <p:cNvSpPr txBox="1">
            <a:spLocks noChangeArrowheads="1"/>
          </p:cNvSpPr>
          <p:nvPr/>
        </p:nvSpPr>
        <p:spPr bwMode="auto">
          <a:xfrm>
            <a:off x="7441232" y="1484784"/>
            <a:ext cx="434340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en-US" altLang="zh-CN" sz="2800">
                <a:solidFill>
                  <a:srgbClr val="FF0000"/>
                </a:solidFill>
              </a:rPr>
              <a:t>Need HW buffer for results of uncommitted instructions: </a:t>
            </a:r>
            <a:r>
              <a:rPr lang="en-US" altLang="zh-CN" sz="2800" i="1">
                <a:solidFill>
                  <a:srgbClr val="FF0000"/>
                </a:solidFill>
              </a:rPr>
              <a:t>reorder buffer</a:t>
            </a:r>
            <a:endParaRPr lang="en-US" altLang="zh-CN" sz="2400">
              <a:solidFill>
                <a:srgbClr val="FF0000"/>
              </a:solidFill>
            </a:endParaRPr>
          </a:p>
          <a:p>
            <a:endParaRPr lang="zh-CN" altLang="en-US"/>
          </a:p>
        </p:txBody>
      </p:sp>
    </p:spTree>
    <p:extLst>
      <p:ext uri="{BB962C8B-B14F-4D97-AF65-F5344CB8AC3E}">
        <p14:creationId xmlns:p14="http://schemas.microsoft.com/office/powerpoint/2010/main" val="75721411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523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523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523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5232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5232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9523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23" grpId="0" build="p" bldLvl="2" autoUpdateAnimBg="0"/>
    </p:bldLst>
  </p:timing>
</p:sld>
</file>

<file path=ppt/slides/slide1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3346" name="Rectangle 2"/>
          <p:cNvSpPr>
            <a:spLocks noGrp="1" noChangeArrowheads="1"/>
          </p:cNvSpPr>
          <p:nvPr>
            <p:ph type="title"/>
          </p:nvPr>
        </p:nvSpPr>
        <p:spPr>
          <a:xfrm>
            <a:off x="263352" y="404664"/>
            <a:ext cx="11665296" cy="890736"/>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smtClean="0"/>
              <a:t>Speculative </a:t>
            </a:r>
            <a:r>
              <a:rPr lang="en-US" altLang="zh-CN" dirty="0" err="1"/>
              <a:t>Tomasulo</a:t>
            </a:r>
            <a:r>
              <a:rPr lang="en-US" altLang="zh-CN" dirty="0"/>
              <a:t> Algorithm</a:t>
            </a:r>
          </a:p>
        </p:txBody>
      </p:sp>
      <p:sp>
        <p:nvSpPr>
          <p:cNvPr id="953347" name="Rectangle 3"/>
          <p:cNvSpPr>
            <a:spLocks noGrp="1" noChangeArrowheads="1"/>
          </p:cNvSpPr>
          <p:nvPr>
            <p:ph type="body" idx="1"/>
          </p:nvPr>
        </p:nvSpPr>
        <p:spPr>
          <a:xfrm>
            <a:off x="335360" y="1484784"/>
            <a:ext cx="11017224" cy="434975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nSpc>
                <a:spcPct val="80000"/>
              </a:lnSpc>
              <a:buFont typeface="Wingdings" panose="05000000000000000000" pitchFamily="2" charset="2"/>
              <a:buNone/>
            </a:pPr>
            <a:r>
              <a:rPr lang="zh-CN" altLang="en-US" dirty="0">
                <a:solidFill>
                  <a:schemeClr val="hlink"/>
                </a:solidFill>
              </a:rPr>
              <a:t>1</a:t>
            </a:r>
            <a:r>
              <a:rPr lang="zh-CN" altLang="en-US" dirty="0" smtClean="0">
                <a:solidFill>
                  <a:schemeClr val="hlink"/>
                </a:solidFill>
              </a:rPr>
              <a:t>. </a:t>
            </a:r>
            <a:r>
              <a:rPr lang="en-US" altLang="zh-CN" b="1" dirty="0" smtClean="0">
                <a:solidFill>
                  <a:schemeClr val="hlink"/>
                </a:solidFill>
              </a:rPr>
              <a:t>Issue</a:t>
            </a:r>
            <a:r>
              <a:rPr lang="en-US" altLang="zh-CN" dirty="0" smtClean="0"/>
              <a:t>—get </a:t>
            </a:r>
            <a:r>
              <a:rPr lang="en-US" altLang="zh-CN" dirty="0"/>
              <a:t>instruction from FP Op Queue</a:t>
            </a:r>
          </a:p>
          <a:p>
            <a:pPr lvl="1">
              <a:lnSpc>
                <a:spcPct val="80000"/>
              </a:lnSpc>
              <a:buFont typeface="Wingdings" panose="05000000000000000000" pitchFamily="2" charset="2"/>
              <a:buNone/>
            </a:pPr>
            <a:r>
              <a:rPr lang="en-US" altLang="zh-CN" dirty="0"/>
              <a:t> 	If reservation station </a:t>
            </a:r>
            <a:r>
              <a:rPr lang="en-US" altLang="zh-CN" dirty="0">
                <a:solidFill>
                  <a:srgbClr val="FF0000"/>
                </a:solidFill>
              </a:rPr>
              <a:t>and reorder buffer slot</a:t>
            </a:r>
            <a:r>
              <a:rPr lang="en-US" altLang="zh-CN" dirty="0"/>
              <a:t> free, issue </a:t>
            </a:r>
            <a:r>
              <a:rPr lang="en-US" altLang="zh-CN" dirty="0" err="1"/>
              <a:t>instr</a:t>
            </a:r>
            <a:r>
              <a:rPr lang="en-US" altLang="zh-CN" dirty="0"/>
              <a:t> &amp; send operands </a:t>
            </a:r>
            <a:r>
              <a:rPr lang="en-US" altLang="zh-CN" dirty="0">
                <a:solidFill>
                  <a:srgbClr val="FF0000"/>
                </a:solidFill>
              </a:rPr>
              <a:t>&amp; reorder buffer no. for destination</a:t>
            </a:r>
            <a:r>
              <a:rPr lang="en-US" altLang="zh-CN" dirty="0"/>
              <a:t> (this stage sometimes called “dispatch”)</a:t>
            </a:r>
          </a:p>
          <a:p>
            <a:pPr>
              <a:lnSpc>
                <a:spcPct val="80000"/>
              </a:lnSpc>
              <a:buFont typeface="Wingdings" panose="05000000000000000000" pitchFamily="2" charset="2"/>
              <a:buNone/>
            </a:pPr>
            <a:r>
              <a:rPr lang="en-US" altLang="zh-CN" dirty="0" smtClean="0">
                <a:solidFill>
                  <a:schemeClr val="hlink"/>
                </a:solidFill>
              </a:rPr>
              <a:t>2. </a:t>
            </a:r>
            <a:r>
              <a:rPr lang="en-US" altLang="zh-CN" b="1" dirty="0" smtClean="0">
                <a:solidFill>
                  <a:schemeClr val="hlink"/>
                </a:solidFill>
              </a:rPr>
              <a:t>Execution</a:t>
            </a:r>
            <a:r>
              <a:rPr lang="en-US" altLang="zh-CN" dirty="0" smtClean="0"/>
              <a:t>—operate </a:t>
            </a:r>
            <a:r>
              <a:rPr lang="en-US" altLang="zh-CN" dirty="0"/>
              <a:t>on operands (EX)</a:t>
            </a:r>
          </a:p>
          <a:p>
            <a:pPr lvl="1">
              <a:lnSpc>
                <a:spcPct val="80000"/>
              </a:lnSpc>
              <a:buFont typeface="Wingdings" panose="05000000000000000000" pitchFamily="2" charset="2"/>
              <a:buNone/>
            </a:pPr>
            <a:r>
              <a:rPr lang="en-US" altLang="zh-CN" dirty="0"/>
              <a:t> 	When both operands ready then execute; if not ready, watch CDB for result; when both in reservation station, execute; checks RAW (sometimes called “issue”)</a:t>
            </a:r>
          </a:p>
          <a:p>
            <a:pPr>
              <a:lnSpc>
                <a:spcPct val="80000"/>
              </a:lnSpc>
              <a:buFont typeface="Wingdings" panose="05000000000000000000" pitchFamily="2" charset="2"/>
              <a:buNone/>
            </a:pPr>
            <a:r>
              <a:rPr lang="en-US" altLang="zh-CN" dirty="0" smtClean="0">
                <a:solidFill>
                  <a:schemeClr val="hlink"/>
                </a:solidFill>
              </a:rPr>
              <a:t>3. </a:t>
            </a:r>
            <a:r>
              <a:rPr lang="en-US" altLang="zh-CN" b="1" dirty="0" smtClean="0">
                <a:solidFill>
                  <a:schemeClr val="hlink"/>
                </a:solidFill>
              </a:rPr>
              <a:t>Write </a:t>
            </a:r>
            <a:r>
              <a:rPr lang="en-US" altLang="zh-CN" b="1" dirty="0">
                <a:solidFill>
                  <a:schemeClr val="hlink"/>
                </a:solidFill>
              </a:rPr>
              <a:t>result</a:t>
            </a:r>
            <a:r>
              <a:rPr lang="en-US" altLang="zh-CN" dirty="0"/>
              <a:t>—finish execution (WB)</a:t>
            </a:r>
          </a:p>
          <a:p>
            <a:pPr lvl="1">
              <a:lnSpc>
                <a:spcPct val="80000"/>
              </a:lnSpc>
              <a:buFont typeface="Wingdings" panose="05000000000000000000" pitchFamily="2" charset="2"/>
              <a:buNone/>
            </a:pPr>
            <a:r>
              <a:rPr lang="en-US" altLang="zh-CN" dirty="0"/>
              <a:t> 	Write on Common Data Bus to all awaiting FUs </a:t>
            </a:r>
            <a:r>
              <a:rPr lang="en-US" altLang="zh-CN" dirty="0" smtClean="0">
                <a:solidFill>
                  <a:srgbClr val="FF0000"/>
                </a:solidFill>
              </a:rPr>
              <a:t>&amp; </a:t>
            </a:r>
            <a:r>
              <a:rPr lang="en-US" altLang="zh-CN" dirty="0">
                <a:solidFill>
                  <a:srgbClr val="FF0000"/>
                </a:solidFill>
              </a:rPr>
              <a:t>reorder buffer</a:t>
            </a:r>
            <a:r>
              <a:rPr lang="en-US" altLang="zh-CN" dirty="0"/>
              <a:t>; mark reservation station available.</a:t>
            </a:r>
          </a:p>
          <a:p>
            <a:pPr>
              <a:lnSpc>
                <a:spcPct val="80000"/>
              </a:lnSpc>
              <a:buFont typeface="Wingdings" panose="05000000000000000000" pitchFamily="2" charset="2"/>
              <a:buNone/>
            </a:pPr>
            <a:r>
              <a:rPr lang="en-US" altLang="zh-CN" dirty="0" smtClean="0">
                <a:solidFill>
                  <a:schemeClr val="hlink"/>
                </a:solidFill>
              </a:rPr>
              <a:t>4. </a:t>
            </a:r>
            <a:r>
              <a:rPr lang="en-US" altLang="zh-CN" b="1" dirty="0" smtClean="0">
                <a:solidFill>
                  <a:schemeClr val="hlink"/>
                </a:solidFill>
              </a:rPr>
              <a:t>Commit</a:t>
            </a:r>
            <a:r>
              <a:rPr lang="en-US" altLang="zh-CN" dirty="0" smtClean="0">
                <a:solidFill>
                  <a:schemeClr val="accent1"/>
                </a:solidFill>
              </a:rPr>
              <a:t>—</a:t>
            </a:r>
            <a:r>
              <a:rPr lang="en-US" altLang="zh-CN" dirty="0" smtClean="0">
                <a:solidFill>
                  <a:srgbClr val="FF0000"/>
                </a:solidFill>
              </a:rPr>
              <a:t>update </a:t>
            </a:r>
            <a:r>
              <a:rPr lang="en-US" altLang="zh-CN" dirty="0">
                <a:solidFill>
                  <a:srgbClr val="FF0000"/>
                </a:solidFill>
              </a:rPr>
              <a:t>register with reorder result</a:t>
            </a:r>
          </a:p>
          <a:p>
            <a:pPr lvl="1">
              <a:lnSpc>
                <a:spcPct val="80000"/>
              </a:lnSpc>
              <a:buFont typeface="Wingdings" panose="05000000000000000000" pitchFamily="2" charset="2"/>
              <a:buNone/>
            </a:pPr>
            <a:r>
              <a:rPr lang="en-US" altLang="zh-CN" dirty="0">
                <a:solidFill>
                  <a:srgbClr val="FF0000"/>
                </a:solidFill>
              </a:rPr>
              <a:t> 	When instr. at head of reorder buffer &amp; result present, update register with result (or store to memory) and remove </a:t>
            </a:r>
            <a:r>
              <a:rPr lang="en-US" altLang="zh-CN" dirty="0" err="1">
                <a:solidFill>
                  <a:srgbClr val="FF0000"/>
                </a:solidFill>
              </a:rPr>
              <a:t>instr</a:t>
            </a:r>
            <a:r>
              <a:rPr lang="en-US" altLang="zh-CN" dirty="0">
                <a:solidFill>
                  <a:srgbClr val="FF0000"/>
                </a:solidFill>
              </a:rPr>
              <a:t> from reorder buffer. </a:t>
            </a:r>
            <a:r>
              <a:rPr lang="en-US" altLang="zh-CN" dirty="0" err="1">
                <a:solidFill>
                  <a:srgbClr val="FF0000"/>
                </a:solidFill>
              </a:rPr>
              <a:t>Mispredicted</a:t>
            </a:r>
            <a:r>
              <a:rPr lang="en-US" altLang="zh-CN" dirty="0">
                <a:solidFill>
                  <a:srgbClr val="FF0000"/>
                </a:solidFill>
              </a:rPr>
              <a:t> branch flushes reorder buffer (sometimes called “graduation”)</a:t>
            </a:r>
          </a:p>
        </p:txBody>
      </p:sp>
    </p:spTree>
    <p:extLst>
      <p:ext uri="{BB962C8B-B14F-4D97-AF65-F5344CB8AC3E}">
        <p14:creationId xmlns:p14="http://schemas.microsoft.com/office/powerpoint/2010/main" val="156240211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533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953347">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95334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95334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5334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953347">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953347">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95334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3347" grpId="0" build="p" autoUpdateAnimBg="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479376" y="365125"/>
            <a:ext cx="8568952" cy="831627"/>
          </a:xfrm>
        </p:spPr>
        <p:txBody>
          <a:bodyPr/>
          <a:lstStyle/>
          <a:p>
            <a:r>
              <a:rPr lang="en-AU" dirty="0" smtClean="0"/>
              <a:t>ROB Microarchitecture</a:t>
            </a:r>
            <a:endParaRPr lang="en-AU" dirty="0"/>
          </a:p>
        </p:txBody>
      </p:sp>
      <p:sp>
        <p:nvSpPr>
          <p:cNvPr id="4" name="内容占位符 3"/>
          <p:cNvSpPr>
            <a:spLocks noGrp="1"/>
          </p:cNvSpPr>
          <p:nvPr>
            <p:ph idx="1"/>
          </p:nvPr>
        </p:nvSpPr>
        <p:spPr>
          <a:xfrm>
            <a:off x="119336" y="1498923"/>
            <a:ext cx="6336704" cy="5112568"/>
          </a:xfrm>
        </p:spPr>
        <p:txBody>
          <a:bodyPr/>
          <a:lstStyle/>
          <a:p>
            <a:r>
              <a:rPr lang="en-US" altLang="en-US" dirty="0"/>
              <a:t>The basic structure of a FP unit using </a:t>
            </a:r>
            <a:r>
              <a:rPr lang="en-US" altLang="en-US" dirty="0" err="1"/>
              <a:t>Tomasulo's</a:t>
            </a:r>
            <a:r>
              <a:rPr lang="en-US" altLang="en-US" dirty="0"/>
              <a:t> algorithm and extended </a:t>
            </a:r>
            <a:r>
              <a:rPr lang="en-US" altLang="en-US" dirty="0" smtClean="0"/>
              <a:t>to </a:t>
            </a:r>
            <a:r>
              <a:rPr lang="en-US" altLang="en-US" dirty="0"/>
              <a:t>handle </a:t>
            </a:r>
            <a:r>
              <a:rPr lang="en-US" altLang="en-US" dirty="0" smtClean="0"/>
              <a:t>speculation</a:t>
            </a:r>
          </a:p>
          <a:p>
            <a:pPr lvl="1"/>
            <a:r>
              <a:rPr lang="en-US" altLang="en-US" dirty="0" smtClean="0"/>
              <a:t>the </a:t>
            </a:r>
            <a:r>
              <a:rPr lang="en-US" altLang="en-US" dirty="0"/>
              <a:t>addition of the ROB and the elimination of the store buffer, whose function is integrated into the </a:t>
            </a:r>
            <a:r>
              <a:rPr lang="en-US" altLang="en-US" dirty="0" smtClean="0"/>
              <a:t>ROB</a:t>
            </a:r>
          </a:p>
          <a:p>
            <a:pPr lvl="1"/>
            <a:r>
              <a:rPr lang="en-US" altLang="en-US" dirty="0" smtClean="0"/>
              <a:t>This </a:t>
            </a:r>
            <a:r>
              <a:rPr lang="en-US" altLang="en-US" dirty="0"/>
              <a:t>mechanism can be extended to allow multiple issues per clock by making the CDB wider to allow for multiple completions per </a:t>
            </a:r>
            <a:r>
              <a:rPr lang="en-US" altLang="en-US" dirty="0" smtClean="0"/>
              <a:t>clock</a:t>
            </a:r>
            <a:endParaRPr lang="en-US" altLang="en-US" dirty="0"/>
          </a:p>
          <a:p>
            <a:endParaRPr lang="zh-CN" altLang="en-US" dirty="0"/>
          </a:p>
        </p:txBody>
      </p:sp>
      <p:pic>
        <p:nvPicPr>
          <p:cNvPr id="2" name="图片 1"/>
          <p:cNvPicPr>
            <a:picLocks noChangeAspect="1"/>
          </p:cNvPicPr>
          <p:nvPr/>
        </p:nvPicPr>
        <p:blipFill>
          <a:blip r:embed="rId3"/>
          <a:stretch>
            <a:fillRect/>
          </a:stretch>
        </p:blipFill>
        <p:spPr>
          <a:xfrm>
            <a:off x="6386050" y="692696"/>
            <a:ext cx="5830630" cy="6067234"/>
          </a:xfrm>
          <a:prstGeom prst="rect">
            <a:avLst/>
          </a:prstGeom>
        </p:spPr>
      </p:pic>
    </p:spTree>
    <p:extLst>
      <p:ext uri="{BB962C8B-B14F-4D97-AF65-F5344CB8AC3E}">
        <p14:creationId xmlns:p14="http://schemas.microsoft.com/office/powerpoint/2010/main" val="698224441"/>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ROB Details</a:t>
            </a:r>
            <a:endParaRPr lang="zh-CN" altLang="en-US" dirty="0"/>
          </a:p>
        </p:txBody>
      </p:sp>
      <p:sp>
        <p:nvSpPr>
          <p:cNvPr id="4" name="内容占位符 3"/>
          <p:cNvSpPr>
            <a:spLocks noGrp="1"/>
          </p:cNvSpPr>
          <p:nvPr>
            <p:ph idx="1"/>
          </p:nvPr>
        </p:nvSpPr>
        <p:spPr>
          <a:xfrm>
            <a:off x="191344" y="1556792"/>
            <a:ext cx="5832648" cy="5112568"/>
          </a:xfrm>
        </p:spPr>
        <p:txBody>
          <a:bodyPr/>
          <a:lstStyle/>
          <a:p>
            <a:r>
              <a:rPr lang="en-US" altLang="zh-CN" dirty="0"/>
              <a:t> For the issuing instruction, </a:t>
            </a:r>
            <a:r>
              <a:rPr lang="en-US" altLang="zh-CN" dirty="0" err="1"/>
              <a:t>rd</a:t>
            </a:r>
            <a:r>
              <a:rPr lang="en-US" altLang="zh-CN" dirty="0"/>
              <a:t> is the destination, </a:t>
            </a:r>
            <a:r>
              <a:rPr lang="en-US" altLang="zh-CN" dirty="0" err="1"/>
              <a:t>rs</a:t>
            </a:r>
            <a:r>
              <a:rPr lang="en-US" altLang="zh-CN" dirty="0"/>
              <a:t> and </a:t>
            </a:r>
            <a:r>
              <a:rPr lang="en-US" altLang="zh-CN" dirty="0" err="1"/>
              <a:t>rt</a:t>
            </a:r>
            <a:r>
              <a:rPr lang="en-US" altLang="zh-CN" dirty="0"/>
              <a:t> are the sources, r is the reservation station allocated, b is the assigned ROB entry, and h is the head entry of the ROB. RS is the reservation station data </a:t>
            </a:r>
            <a:r>
              <a:rPr lang="en-US" altLang="zh-CN" dirty="0" smtClean="0"/>
              <a:t>structure</a:t>
            </a:r>
          </a:p>
          <a:p>
            <a:r>
              <a:rPr lang="en-US" altLang="zh-CN" dirty="0" smtClean="0"/>
              <a:t>The </a:t>
            </a:r>
            <a:r>
              <a:rPr lang="en-US" altLang="zh-CN" dirty="0"/>
              <a:t>value returned by a reservation station is called the result. Register-Stat is the register data structure, </a:t>
            </a:r>
            <a:r>
              <a:rPr lang="en-US" altLang="zh-CN" dirty="0" err="1"/>
              <a:t>Regs</a:t>
            </a:r>
            <a:r>
              <a:rPr lang="en-US" altLang="zh-CN" dirty="0"/>
              <a:t> represents the actual registers, and ROB is the reorder buffer data structure</a:t>
            </a:r>
            <a:endParaRPr lang="zh-CN" altLang="en-US" dirty="0"/>
          </a:p>
        </p:txBody>
      </p:sp>
      <p:pic>
        <p:nvPicPr>
          <p:cNvPr id="3" name="图片 2"/>
          <p:cNvPicPr>
            <a:picLocks noChangeAspect="1"/>
          </p:cNvPicPr>
          <p:nvPr/>
        </p:nvPicPr>
        <p:blipFill>
          <a:blip r:embed="rId3"/>
          <a:stretch>
            <a:fillRect/>
          </a:stretch>
        </p:blipFill>
        <p:spPr>
          <a:xfrm>
            <a:off x="6240016" y="116632"/>
            <a:ext cx="5832648" cy="6646317"/>
          </a:xfrm>
          <a:prstGeom prst="rect">
            <a:avLst/>
          </a:prstGeom>
        </p:spPr>
      </p:pic>
    </p:spTree>
    <p:extLst>
      <p:ext uri="{BB962C8B-B14F-4D97-AF65-F5344CB8AC3E}">
        <p14:creationId xmlns:p14="http://schemas.microsoft.com/office/powerpoint/2010/main" val="84870666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263352" y="365125"/>
            <a:ext cx="11090448" cy="831627"/>
          </a:xfrm>
        </p:spPr>
        <p:txBody>
          <a:bodyPr/>
          <a:lstStyle/>
          <a:p>
            <a:r>
              <a:rPr lang="en-AU" dirty="0" smtClean="0"/>
              <a:t>R</a:t>
            </a:r>
            <a:r>
              <a:rPr lang="en-US" altLang="zh-CN" dirty="0" smtClean="0"/>
              <a:t>OB Example</a:t>
            </a:r>
            <a:endParaRPr lang="en-AU" dirty="0"/>
          </a:p>
        </p:txBody>
      </p:sp>
      <p:sp>
        <p:nvSpPr>
          <p:cNvPr id="2" name="内容占位符 1"/>
          <p:cNvSpPr>
            <a:spLocks noGrp="1"/>
          </p:cNvSpPr>
          <p:nvPr>
            <p:ph idx="1"/>
          </p:nvPr>
        </p:nvSpPr>
        <p:spPr>
          <a:xfrm>
            <a:off x="335360" y="1556792"/>
            <a:ext cx="3875206" cy="5112568"/>
          </a:xfrm>
        </p:spPr>
        <p:txBody>
          <a:bodyPr/>
          <a:lstStyle/>
          <a:p>
            <a:r>
              <a:rPr lang="en-US" altLang="zh-CN" dirty="0" smtClean="0"/>
              <a:t>2 </a:t>
            </a:r>
            <a:r>
              <a:rPr lang="en-US" altLang="zh-CN" b="1" dirty="0" err="1" smtClean="0">
                <a:latin typeface="Courier New" panose="02070309020205020404" pitchFamily="49" charset="0"/>
                <a:cs typeface="Courier New" panose="02070309020205020404" pitchFamily="49" charset="0"/>
              </a:rPr>
              <a:t>fld</a:t>
            </a:r>
            <a:r>
              <a:rPr lang="en-US" altLang="zh-CN" dirty="0" smtClean="0"/>
              <a:t> committed</a:t>
            </a:r>
          </a:p>
          <a:p>
            <a:r>
              <a:rPr lang="en-US" altLang="zh-CN" b="1" dirty="0" err="1">
                <a:latin typeface="Courier New" panose="02070309020205020404" pitchFamily="49" charset="0"/>
                <a:cs typeface="Courier New" panose="02070309020205020404" pitchFamily="49" charset="0"/>
              </a:rPr>
              <a:t>fmul.d</a:t>
            </a:r>
            <a:r>
              <a:rPr lang="en-US" altLang="zh-CN" dirty="0" smtClean="0"/>
              <a:t> at the head</a:t>
            </a:r>
          </a:p>
          <a:p>
            <a:r>
              <a:rPr lang="en-US" altLang="zh-CN" b="1" dirty="0" err="1">
                <a:latin typeface="Courier New" panose="02070309020205020404" pitchFamily="49" charset="0"/>
                <a:cs typeface="Courier New" panose="02070309020205020404" pitchFamily="49" charset="0"/>
              </a:rPr>
              <a:t>fsub.d</a:t>
            </a:r>
            <a:r>
              <a:rPr lang="en-US" altLang="zh-CN" dirty="0" smtClean="0"/>
              <a:t> &amp; </a:t>
            </a:r>
            <a:r>
              <a:rPr lang="en-US" altLang="zh-CN" b="1" dirty="0" err="1">
                <a:latin typeface="Courier New" panose="02070309020205020404" pitchFamily="49" charset="0"/>
                <a:cs typeface="Courier New" panose="02070309020205020404" pitchFamily="49" charset="0"/>
              </a:rPr>
              <a:t>fadd.d</a:t>
            </a:r>
            <a:r>
              <a:rPr lang="en-US" altLang="zh-CN" dirty="0" smtClean="0"/>
              <a:t> complete execution,</a:t>
            </a:r>
            <a:br>
              <a:rPr lang="en-US" altLang="zh-CN" dirty="0" smtClean="0"/>
            </a:br>
            <a:r>
              <a:rPr lang="en-US" altLang="zh-CN" dirty="0" smtClean="0"/>
              <a:t>their results can be used for other instructions</a:t>
            </a:r>
          </a:p>
          <a:p>
            <a:r>
              <a:rPr lang="en-US" altLang="zh-CN" dirty="0" err="1" smtClean="0"/>
              <a:t>f</a:t>
            </a:r>
            <a:r>
              <a:rPr lang="en-US" altLang="zh-CN" b="1" dirty="0" err="1">
                <a:latin typeface="Courier New" panose="02070309020205020404" pitchFamily="49" charset="0"/>
                <a:cs typeface="Courier New" panose="02070309020205020404" pitchFamily="49" charset="0"/>
              </a:rPr>
              <a:t>div.d</a:t>
            </a:r>
            <a:r>
              <a:rPr lang="en-US" altLang="zh-CN" dirty="0" smtClean="0"/>
              <a:t> in execution, but not complete due to its long latency</a:t>
            </a:r>
            <a:endParaRPr lang="zh-CN" altLang="en-US" dirty="0"/>
          </a:p>
        </p:txBody>
      </p:sp>
      <p:pic>
        <p:nvPicPr>
          <p:cNvPr id="3" name="图片 2"/>
          <p:cNvPicPr>
            <a:picLocks noChangeAspect="1"/>
          </p:cNvPicPr>
          <p:nvPr/>
        </p:nvPicPr>
        <p:blipFill>
          <a:blip r:embed="rId3"/>
          <a:stretch>
            <a:fillRect/>
          </a:stretch>
        </p:blipFill>
        <p:spPr>
          <a:xfrm>
            <a:off x="4210566" y="109677"/>
            <a:ext cx="7934106" cy="6589343"/>
          </a:xfrm>
          <a:prstGeom prst="rect">
            <a:avLst/>
          </a:prstGeom>
        </p:spPr>
      </p:pic>
    </p:spTree>
    <p:extLst>
      <p:ext uri="{BB962C8B-B14F-4D97-AF65-F5344CB8AC3E}">
        <p14:creationId xmlns:p14="http://schemas.microsoft.com/office/powerpoint/2010/main" val="1269457021"/>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50" name="Rectangle 2"/>
          <p:cNvSpPr>
            <a:spLocks noGrp="1" noChangeArrowheads="1"/>
          </p:cNvSpPr>
          <p:nvPr>
            <p:ph type="title"/>
          </p:nvPr>
        </p:nvSpPr>
        <p:spPr/>
        <p:txBody>
          <a:bodyPr/>
          <a:lstStyle/>
          <a:p>
            <a:r>
              <a:rPr lang="en-US" altLang="zh-CN" dirty="0" smtClean="0"/>
              <a:t>Revisit the </a:t>
            </a:r>
            <a:r>
              <a:rPr lang="en-US" altLang="zh-CN" dirty="0" err="1" smtClean="0"/>
              <a:t>Tomasulo</a:t>
            </a:r>
            <a:r>
              <a:rPr lang="en-US" altLang="zh-CN" dirty="0" smtClean="0"/>
              <a:t> Loop Example</a:t>
            </a:r>
            <a:endParaRPr lang="en-US" altLang="zh-CN" dirty="0"/>
          </a:p>
        </p:txBody>
      </p:sp>
      <p:sp>
        <p:nvSpPr>
          <p:cNvPr id="923651" name="Rectangle 3"/>
          <p:cNvSpPr>
            <a:spLocks noGrp="1" noChangeArrowheads="1"/>
          </p:cNvSpPr>
          <p:nvPr>
            <p:ph type="body" idx="1"/>
          </p:nvPr>
        </p:nvSpPr>
        <p:spPr>
          <a:xfrm>
            <a:off x="838200" y="1556792"/>
            <a:ext cx="10874424" cy="5112568"/>
          </a:xfrm>
        </p:spPr>
        <p:txBody>
          <a:bodyPr/>
          <a:lstStyle/>
          <a:p>
            <a:r>
              <a:rPr lang="en-US" altLang="zh-CN" dirty="0"/>
              <a:t>Assume that we have issued all the instructions in the loop </a:t>
            </a:r>
            <a:r>
              <a:rPr lang="en-US" altLang="zh-CN" dirty="0" smtClean="0"/>
              <a:t>twice</a:t>
            </a:r>
            <a:endParaRPr lang="en-US" altLang="zh-CN" dirty="0"/>
          </a:p>
          <a:p>
            <a:pPr lvl="1"/>
            <a:r>
              <a:rPr lang="en-US" altLang="zh-CN" sz="2800" b="1" dirty="0" err="1">
                <a:latin typeface="Courier New" panose="02070309020205020404" pitchFamily="49" charset="0"/>
              </a:rPr>
              <a:t>fld</a:t>
            </a:r>
            <a:r>
              <a:rPr lang="en-US" altLang="zh-CN" dirty="0" smtClean="0"/>
              <a:t> </a:t>
            </a:r>
            <a:r>
              <a:rPr lang="en-US" altLang="zh-CN" dirty="0"/>
              <a:t>and </a:t>
            </a:r>
            <a:r>
              <a:rPr lang="en-US" altLang="zh-CN" sz="2800" b="1" dirty="0" err="1">
                <a:latin typeface="Courier New" panose="02070309020205020404" pitchFamily="49" charset="0"/>
              </a:rPr>
              <a:t>fmul.d</a:t>
            </a:r>
            <a:r>
              <a:rPr lang="en-US" altLang="zh-CN" dirty="0"/>
              <a:t> from the first iteration have committed and all </a:t>
            </a:r>
            <a:r>
              <a:rPr lang="en-US" altLang="zh-CN" dirty="0" smtClean="0"/>
              <a:t>other instructions </a:t>
            </a:r>
            <a:r>
              <a:rPr lang="en-US" altLang="zh-CN" dirty="0"/>
              <a:t>have completed </a:t>
            </a:r>
            <a:r>
              <a:rPr lang="en-US" altLang="zh-CN" dirty="0" smtClean="0"/>
              <a:t>execution</a:t>
            </a:r>
          </a:p>
          <a:p>
            <a:pPr lvl="1"/>
            <a:r>
              <a:rPr lang="en-US" altLang="zh-CN" dirty="0" smtClean="0"/>
              <a:t>Normally</a:t>
            </a:r>
            <a:r>
              <a:rPr lang="en-US" altLang="zh-CN" dirty="0"/>
              <a:t>, the </a:t>
            </a:r>
            <a:r>
              <a:rPr lang="en-US" altLang="zh-CN" sz="2800" b="1" dirty="0" err="1">
                <a:latin typeface="Courier New" panose="02070309020205020404" pitchFamily="49" charset="0"/>
              </a:rPr>
              <a:t>fsd</a:t>
            </a:r>
            <a:r>
              <a:rPr lang="en-US" altLang="zh-CN" dirty="0" smtClean="0"/>
              <a:t> </a:t>
            </a:r>
            <a:r>
              <a:rPr lang="en-US" altLang="zh-CN" dirty="0"/>
              <a:t>would wait in </a:t>
            </a:r>
            <a:r>
              <a:rPr lang="en-US" altLang="zh-CN" dirty="0" smtClean="0"/>
              <a:t>the ROB </a:t>
            </a:r>
            <a:r>
              <a:rPr lang="en-US" altLang="zh-CN" dirty="0"/>
              <a:t>for both the effective address operand (</a:t>
            </a:r>
            <a:r>
              <a:rPr lang="en-US" altLang="zh-CN" dirty="0" smtClean="0"/>
              <a:t>x1) </a:t>
            </a:r>
            <a:r>
              <a:rPr lang="en-US" altLang="zh-CN" dirty="0"/>
              <a:t>and the </a:t>
            </a:r>
            <a:r>
              <a:rPr lang="en-US" altLang="zh-CN" dirty="0" smtClean="0"/>
              <a:t>value (f4). </a:t>
            </a:r>
            <a:r>
              <a:rPr lang="en-US" altLang="zh-CN" dirty="0"/>
              <a:t>Because we are only considering the floating-point pipeline</a:t>
            </a:r>
            <a:r>
              <a:rPr lang="en-US" altLang="zh-CN" dirty="0" smtClean="0"/>
              <a:t>, assume </a:t>
            </a:r>
            <a:r>
              <a:rPr lang="en-US" altLang="zh-CN" dirty="0"/>
              <a:t>the effective address for the store is computed by the time the </a:t>
            </a:r>
            <a:r>
              <a:rPr lang="en-US" altLang="zh-CN" dirty="0" smtClean="0"/>
              <a:t>instruction is issued</a:t>
            </a:r>
            <a:endParaRPr lang="en-US" altLang="zh-CN" dirty="0"/>
          </a:p>
        </p:txBody>
      </p:sp>
      <p:sp>
        <p:nvSpPr>
          <p:cNvPr id="4" name="矩形 3"/>
          <p:cNvSpPr/>
          <p:nvPr/>
        </p:nvSpPr>
        <p:spPr>
          <a:xfrm>
            <a:off x="1919536" y="4313714"/>
            <a:ext cx="9289032" cy="2544286"/>
          </a:xfrm>
          <a:prstGeom prst="rect">
            <a:avLst/>
          </a:prstGeom>
        </p:spPr>
        <p:txBody>
          <a:bodyPr wrap="square">
            <a:spAutoFit/>
          </a:bodyPr>
          <a:lstStyle/>
          <a:p>
            <a:pPr marL="228600" lvl="0" indent="-228600" eaLnBrk="1" hangingPunct="1">
              <a:lnSpc>
                <a:spcPct val="90000"/>
              </a:lnSpc>
              <a:spcBef>
                <a:spcPts val="1000"/>
              </a:spcBef>
            </a:pPr>
            <a:r>
              <a:rPr kumimoji="0" lang="en-US" altLang="zh-CN" sz="2800" b="1" dirty="0">
                <a:solidFill>
                  <a:srgbClr val="0000FF"/>
                </a:solidFill>
                <a:latin typeface="Courier New" panose="02070309020205020404" pitchFamily="49" charset="0"/>
                <a:ea typeface="微软雅黑" panose="020B0503020204020204" pitchFamily="34" charset="-122"/>
                <a:cs typeface="Arial" panose="020B0604020202020204" pitchFamily="34" charset="0"/>
              </a:rPr>
              <a:t>Loop:	</a:t>
            </a:r>
            <a:r>
              <a:rPr kumimoji="0" lang="en-US" altLang="zh-CN" sz="2800" b="1" dirty="0" err="1">
                <a:solidFill>
                  <a:srgbClr val="0000FF"/>
                </a:solidFill>
                <a:latin typeface="Courier New" panose="02070309020205020404" pitchFamily="49" charset="0"/>
                <a:ea typeface="微软雅黑" panose="020B0503020204020204" pitchFamily="34" charset="-122"/>
                <a:cs typeface="Arial" panose="020B0604020202020204" pitchFamily="34" charset="0"/>
              </a:rPr>
              <a:t>fld</a:t>
            </a:r>
            <a:r>
              <a:rPr kumimoji="0" lang="en-US" altLang="zh-CN" sz="2800" b="1" dirty="0">
                <a:solidFill>
                  <a:srgbClr val="0000FF"/>
                </a:solidFill>
                <a:latin typeface="Courier New" panose="02070309020205020404" pitchFamily="49" charset="0"/>
                <a:ea typeface="微软雅黑" panose="020B0503020204020204" pitchFamily="34" charset="-122"/>
                <a:cs typeface="Arial" panose="020B0604020202020204" pitchFamily="34" charset="0"/>
              </a:rPr>
              <a:t> f0,0(x1)</a:t>
            </a:r>
          </a:p>
          <a:p>
            <a:pPr marL="228600" lvl="0" indent="-228600" eaLnBrk="1" hangingPunct="1">
              <a:lnSpc>
                <a:spcPct val="90000"/>
              </a:lnSpc>
              <a:spcBef>
                <a:spcPts val="1000"/>
              </a:spcBef>
            </a:pPr>
            <a:r>
              <a:rPr kumimoji="0" lang="en-US" altLang="zh-CN" sz="2800" b="1" dirty="0" smtClean="0">
                <a:solidFill>
                  <a:srgbClr val="0000FF"/>
                </a:solidFill>
                <a:latin typeface="Courier New" panose="02070309020205020404" pitchFamily="49" charset="0"/>
                <a:ea typeface="微软雅黑" panose="020B0503020204020204" pitchFamily="34" charset="-122"/>
                <a:cs typeface="Arial" panose="020B0604020202020204" pitchFamily="34" charset="0"/>
              </a:rPr>
              <a:t>			</a:t>
            </a:r>
            <a:r>
              <a:rPr kumimoji="0" lang="en-US" altLang="zh-CN" sz="2800" b="1" dirty="0" err="1" smtClean="0">
                <a:solidFill>
                  <a:srgbClr val="0000FF"/>
                </a:solidFill>
                <a:latin typeface="Courier New" panose="02070309020205020404" pitchFamily="49" charset="0"/>
                <a:ea typeface="微软雅黑" panose="020B0503020204020204" pitchFamily="34" charset="-122"/>
                <a:cs typeface="Arial" panose="020B0604020202020204" pitchFamily="34" charset="0"/>
              </a:rPr>
              <a:t>fmul.d</a:t>
            </a:r>
            <a:r>
              <a:rPr kumimoji="0" lang="en-US" altLang="zh-CN" sz="2800" b="1" dirty="0" smtClean="0">
                <a:solidFill>
                  <a:srgbClr val="0000FF"/>
                </a:solidFill>
                <a:latin typeface="Courier New" panose="02070309020205020404" pitchFamily="49" charset="0"/>
                <a:ea typeface="微软雅黑" panose="020B0503020204020204" pitchFamily="34" charset="-122"/>
                <a:cs typeface="Arial" panose="020B0604020202020204" pitchFamily="34" charset="0"/>
              </a:rPr>
              <a:t> </a:t>
            </a:r>
            <a:r>
              <a:rPr kumimoji="0" lang="en-US" altLang="zh-CN" sz="2800" b="1" dirty="0">
                <a:solidFill>
                  <a:srgbClr val="0000FF"/>
                </a:solidFill>
                <a:latin typeface="Courier New" panose="02070309020205020404" pitchFamily="49" charset="0"/>
                <a:ea typeface="微软雅黑" panose="020B0503020204020204" pitchFamily="34" charset="-122"/>
                <a:cs typeface="Arial" panose="020B0604020202020204" pitchFamily="34" charset="0"/>
              </a:rPr>
              <a:t>f4,f0,f2</a:t>
            </a:r>
          </a:p>
          <a:p>
            <a:pPr marL="228600" lvl="0" indent="-228600" eaLnBrk="1" hangingPunct="1">
              <a:lnSpc>
                <a:spcPct val="90000"/>
              </a:lnSpc>
              <a:spcBef>
                <a:spcPts val="1000"/>
              </a:spcBef>
            </a:pPr>
            <a:r>
              <a:rPr kumimoji="0" lang="en-US" altLang="zh-CN" sz="2800" b="1" dirty="0" smtClean="0">
                <a:solidFill>
                  <a:srgbClr val="0000FF"/>
                </a:solidFill>
                <a:latin typeface="Courier New" panose="02070309020205020404" pitchFamily="49" charset="0"/>
                <a:ea typeface="微软雅黑" panose="020B0503020204020204" pitchFamily="34" charset="-122"/>
                <a:cs typeface="Arial" panose="020B0604020202020204" pitchFamily="34" charset="0"/>
              </a:rPr>
              <a:t>			</a:t>
            </a:r>
            <a:r>
              <a:rPr kumimoji="0" lang="en-US" altLang="zh-CN" sz="2800" b="1" dirty="0" err="1" smtClean="0">
                <a:solidFill>
                  <a:srgbClr val="0000FF"/>
                </a:solidFill>
                <a:latin typeface="Courier New" panose="02070309020205020404" pitchFamily="49" charset="0"/>
                <a:ea typeface="微软雅黑" panose="020B0503020204020204" pitchFamily="34" charset="-122"/>
                <a:cs typeface="Arial" panose="020B0604020202020204" pitchFamily="34" charset="0"/>
              </a:rPr>
              <a:t>fsd</a:t>
            </a:r>
            <a:r>
              <a:rPr kumimoji="0" lang="en-US" altLang="zh-CN" sz="2800" b="1" dirty="0" smtClean="0">
                <a:solidFill>
                  <a:srgbClr val="0000FF"/>
                </a:solidFill>
                <a:latin typeface="Courier New" panose="02070309020205020404" pitchFamily="49" charset="0"/>
                <a:ea typeface="微软雅黑" panose="020B0503020204020204" pitchFamily="34" charset="-122"/>
                <a:cs typeface="Arial" panose="020B0604020202020204" pitchFamily="34" charset="0"/>
              </a:rPr>
              <a:t> </a:t>
            </a:r>
            <a:r>
              <a:rPr kumimoji="0" lang="en-US" altLang="zh-CN" sz="2800" b="1" dirty="0">
                <a:solidFill>
                  <a:srgbClr val="0000FF"/>
                </a:solidFill>
                <a:latin typeface="Courier New" panose="02070309020205020404" pitchFamily="49" charset="0"/>
                <a:ea typeface="微软雅黑" panose="020B0503020204020204" pitchFamily="34" charset="-122"/>
                <a:cs typeface="Arial" panose="020B0604020202020204" pitchFamily="34" charset="0"/>
              </a:rPr>
              <a:t>f4,0(x1)</a:t>
            </a:r>
          </a:p>
          <a:p>
            <a:pPr marL="228600" lvl="0" indent="-228600" eaLnBrk="1" hangingPunct="1">
              <a:lnSpc>
                <a:spcPct val="90000"/>
              </a:lnSpc>
              <a:spcBef>
                <a:spcPts val="1000"/>
              </a:spcBef>
            </a:pPr>
            <a:r>
              <a:rPr kumimoji="0" lang="en-US" altLang="zh-CN" sz="2800" b="1" dirty="0" smtClean="0">
                <a:solidFill>
                  <a:srgbClr val="0000FF"/>
                </a:solidFill>
                <a:latin typeface="Courier New" panose="02070309020205020404" pitchFamily="49" charset="0"/>
                <a:ea typeface="微软雅黑" panose="020B0503020204020204" pitchFamily="34" charset="-122"/>
                <a:cs typeface="Arial" panose="020B0604020202020204" pitchFamily="34" charset="0"/>
              </a:rPr>
              <a:t>			</a:t>
            </a:r>
            <a:r>
              <a:rPr kumimoji="0" lang="en-US" altLang="zh-CN" sz="2800" b="1" dirty="0" err="1" smtClean="0">
                <a:solidFill>
                  <a:srgbClr val="0000FF"/>
                </a:solidFill>
                <a:latin typeface="Courier New" panose="02070309020205020404" pitchFamily="49" charset="0"/>
                <a:ea typeface="微软雅黑" panose="020B0503020204020204" pitchFamily="34" charset="-122"/>
                <a:cs typeface="Arial" panose="020B0604020202020204" pitchFamily="34" charset="0"/>
              </a:rPr>
              <a:t>addi</a:t>
            </a:r>
            <a:r>
              <a:rPr kumimoji="0" lang="en-US" altLang="zh-CN" sz="2800" b="1" dirty="0" smtClean="0">
                <a:solidFill>
                  <a:srgbClr val="0000FF"/>
                </a:solidFill>
                <a:latin typeface="Courier New" panose="02070309020205020404" pitchFamily="49" charset="0"/>
                <a:ea typeface="微软雅黑" panose="020B0503020204020204" pitchFamily="34" charset="-122"/>
                <a:cs typeface="Arial" panose="020B0604020202020204" pitchFamily="34" charset="0"/>
              </a:rPr>
              <a:t> x1,x1,-8</a:t>
            </a:r>
            <a:endParaRPr kumimoji="0" lang="en-US" altLang="zh-CN" sz="2800" b="1" dirty="0">
              <a:solidFill>
                <a:srgbClr val="0000FF"/>
              </a:solidFill>
              <a:latin typeface="Courier New" panose="02070309020205020404" pitchFamily="49" charset="0"/>
              <a:ea typeface="微软雅黑" panose="020B0503020204020204" pitchFamily="34" charset="-122"/>
              <a:cs typeface="Arial" panose="020B0604020202020204" pitchFamily="34" charset="0"/>
            </a:endParaRPr>
          </a:p>
          <a:p>
            <a:pPr marL="228600" lvl="0" indent="-228600" eaLnBrk="1" hangingPunct="1">
              <a:lnSpc>
                <a:spcPct val="90000"/>
              </a:lnSpc>
              <a:spcBef>
                <a:spcPts val="1000"/>
              </a:spcBef>
            </a:pPr>
            <a:r>
              <a:rPr kumimoji="0" lang="en-US" altLang="zh-CN" sz="2800" b="1" dirty="0" smtClean="0">
                <a:solidFill>
                  <a:srgbClr val="0000FF"/>
                </a:solidFill>
                <a:latin typeface="Courier New" panose="02070309020205020404" pitchFamily="49" charset="0"/>
                <a:ea typeface="微软雅黑" panose="020B0503020204020204" pitchFamily="34" charset="-122"/>
                <a:cs typeface="Arial" panose="020B0604020202020204" pitchFamily="34" charset="0"/>
              </a:rPr>
              <a:t>			</a:t>
            </a:r>
            <a:r>
              <a:rPr kumimoji="0" lang="en-US" altLang="zh-CN" sz="2800" b="1" dirty="0" err="1" smtClean="0">
                <a:solidFill>
                  <a:srgbClr val="0000FF"/>
                </a:solidFill>
                <a:latin typeface="Courier New" panose="02070309020205020404" pitchFamily="49" charset="0"/>
                <a:ea typeface="微软雅黑" panose="020B0503020204020204" pitchFamily="34" charset="-122"/>
                <a:cs typeface="Arial" panose="020B0604020202020204" pitchFamily="34" charset="0"/>
              </a:rPr>
              <a:t>bne</a:t>
            </a:r>
            <a:r>
              <a:rPr kumimoji="0" lang="en-US" altLang="zh-CN" sz="2800" b="1" dirty="0" smtClean="0">
                <a:solidFill>
                  <a:srgbClr val="0000FF"/>
                </a:solidFill>
                <a:latin typeface="Courier New" panose="02070309020205020404" pitchFamily="49" charset="0"/>
                <a:ea typeface="微软雅黑" panose="020B0503020204020204" pitchFamily="34" charset="-122"/>
                <a:cs typeface="Arial" panose="020B0604020202020204" pitchFamily="34" charset="0"/>
              </a:rPr>
              <a:t> </a:t>
            </a:r>
            <a:r>
              <a:rPr kumimoji="0" lang="en-US" altLang="zh-CN" sz="2800" b="1" dirty="0">
                <a:solidFill>
                  <a:srgbClr val="0000FF"/>
                </a:solidFill>
                <a:latin typeface="Courier New" panose="02070309020205020404" pitchFamily="49" charset="0"/>
                <a:ea typeface="微软雅黑" panose="020B0503020204020204" pitchFamily="34" charset="-122"/>
                <a:cs typeface="Arial" panose="020B0604020202020204" pitchFamily="34" charset="0"/>
              </a:rPr>
              <a:t>x1,x2,Loop //branches if </a:t>
            </a:r>
            <a:r>
              <a:rPr kumimoji="0" lang="en-US" altLang="zh-CN" sz="2800" b="1" dirty="0" smtClean="0">
                <a:solidFill>
                  <a:srgbClr val="0000FF"/>
                </a:solidFill>
                <a:latin typeface="Courier New" panose="02070309020205020404" pitchFamily="49" charset="0"/>
                <a:ea typeface="微软雅黑" panose="020B0503020204020204" pitchFamily="34" charset="-122"/>
                <a:cs typeface="Arial" panose="020B0604020202020204" pitchFamily="34" charset="0"/>
              </a:rPr>
              <a:t>x1</a:t>
            </a:r>
            <a:r>
              <a:rPr kumimoji="0" lang="en-US" altLang="zh-CN" sz="2800" b="1" dirty="0" smtClean="0">
                <a:solidFill>
                  <a:srgbClr val="0000FF"/>
                </a:solidFill>
                <a:latin typeface="Courier New" panose="02070309020205020404" pitchFamily="49" charset="0"/>
                <a:ea typeface="微软雅黑" panose="020B0503020204020204" pitchFamily="34" charset="-122"/>
                <a:cs typeface="Arial" panose="020B0604020202020204" pitchFamily="34" charset="0"/>
                <a:sym typeface="Symbol" panose="05050102010706020507" pitchFamily="18" charset="2"/>
              </a:rPr>
              <a:t></a:t>
            </a:r>
            <a:r>
              <a:rPr kumimoji="0" lang="en-US" altLang="zh-CN" sz="2800" b="1" dirty="0" smtClean="0">
                <a:solidFill>
                  <a:srgbClr val="0000FF"/>
                </a:solidFill>
                <a:latin typeface="Courier New" panose="02070309020205020404" pitchFamily="49" charset="0"/>
                <a:ea typeface="微软雅黑" panose="020B0503020204020204" pitchFamily="34" charset="-122"/>
                <a:cs typeface="Arial" panose="020B0604020202020204" pitchFamily="34" charset="0"/>
              </a:rPr>
              <a:t>x2</a:t>
            </a:r>
            <a:endParaRPr kumimoji="0" lang="en-US" altLang="zh-CN" sz="2800" dirty="0">
              <a:solidFill>
                <a:srgbClr val="0000FF"/>
              </a:solidFill>
              <a:latin typeface="Courier New" panose="02070309020205020404" pitchFamily="49"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375573171"/>
      </p:ext>
    </p:extLst>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 name="图片 2"/>
          <p:cNvPicPr>
            <a:picLocks noChangeAspect="1"/>
          </p:cNvPicPr>
          <p:nvPr/>
        </p:nvPicPr>
        <p:blipFill>
          <a:blip r:embed="rId3"/>
          <a:stretch>
            <a:fillRect/>
          </a:stretch>
        </p:blipFill>
        <p:spPr>
          <a:xfrm>
            <a:off x="672632" y="116632"/>
            <a:ext cx="10846736" cy="6570851"/>
          </a:xfrm>
          <a:prstGeom prst="rect">
            <a:avLst/>
          </a:prstGeom>
        </p:spPr>
      </p:pic>
      <p:sp>
        <p:nvSpPr>
          <p:cNvPr id="4" name="文本框 3"/>
          <p:cNvSpPr txBox="1"/>
          <p:nvPr/>
        </p:nvSpPr>
        <p:spPr>
          <a:xfrm>
            <a:off x="6816080" y="5939988"/>
            <a:ext cx="300082" cy="369332"/>
          </a:xfrm>
          <a:prstGeom prst="rect">
            <a:avLst/>
          </a:prstGeom>
          <a:noFill/>
        </p:spPr>
        <p:txBody>
          <a:bodyPr wrap="none" rtlCol="0">
            <a:spAutoFit/>
          </a:bodyPr>
          <a:lstStyle/>
          <a:p>
            <a:r>
              <a:rPr lang="en-US" altLang="zh-CN" b="1" dirty="0" smtClean="0">
                <a:latin typeface="Times New Roman" panose="02020603050405020304" pitchFamily="18" charset="0"/>
                <a:cs typeface="Times New Roman" panose="02020603050405020304" pitchFamily="18" charset="0"/>
              </a:rPr>
              <a:t>7</a:t>
            </a:r>
            <a:endParaRPr lang="zh-CN"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063460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4370" name="Rectangle 2"/>
          <p:cNvSpPr>
            <a:spLocks noGrp="1" noChangeArrowheads="1"/>
          </p:cNvSpPr>
          <p:nvPr>
            <p:ph type="title"/>
          </p:nvPr>
        </p:nvSpPr>
        <p:spPr>
          <a:xfrm>
            <a:off x="767408" y="361950"/>
            <a:ext cx="10595520" cy="933450"/>
          </a:xfrm>
        </p:spPr>
        <p:txBody>
          <a:bodyPr/>
          <a:lstStyle/>
          <a:p>
            <a:r>
              <a:rPr lang="en-US" altLang="zh-CN" dirty="0"/>
              <a:t>What are the hardware complexities with </a:t>
            </a:r>
            <a:r>
              <a:rPr lang="en-US" altLang="zh-CN" dirty="0" smtClean="0"/>
              <a:t>Reorder </a:t>
            </a:r>
            <a:r>
              <a:rPr lang="en-US" altLang="zh-CN" dirty="0"/>
              <a:t>B</a:t>
            </a:r>
            <a:r>
              <a:rPr lang="en-US" altLang="zh-CN" dirty="0" smtClean="0"/>
              <a:t>uffer </a:t>
            </a:r>
            <a:r>
              <a:rPr lang="en-US" altLang="zh-CN" dirty="0"/>
              <a:t>(ROB)?</a:t>
            </a:r>
          </a:p>
        </p:txBody>
      </p:sp>
      <p:sp>
        <p:nvSpPr>
          <p:cNvPr id="954393" name="Rectangle 25"/>
          <p:cNvSpPr>
            <a:spLocks noGrp="1" noChangeArrowheads="1"/>
          </p:cNvSpPr>
          <p:nvPr>
            <p:ph type="body" idx="1"/>
          </p:nvPr>
        </p:nvSpPr>
        <p:spPr>
          <a:xfrm>
            <a:off x="623392" y="1543124"/>
            <a:ext cx="11089232" cy="5314876"/>
          </a:xfrm>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7" tIns="44450" rIns="90487" bIns="44450" numCol="1" anchor="t" anchorCtr="0" compatLnSpc="1">
            <a:prstTxWarp prst="textNoShape">
              <a:avLst/>
            </a:prstTxWarp>
          </a:bodyPr>
          <a:lstStyle/>
          <a:p>
            <a:pPr>
              <a:lnSpc>
                <a:spcPct val="80000"/>
              </a:lnSpc>
              <a:spcBef>
                <a:spcPct val="0"/>
              </a:spcBef>
            </a:pPr>
            <a:r>
              <a:rPr lang="en-US" altLang="zh-CN" dirty="0"/>
              <a:t>Need as many ports on ROB as register file</a:t>
            </a:r>
          </a:p>
          <a:p>
            <a:pPr lvl="1">
              <a:lnSpc>
                <a:spcPct val="80000"/>
              </a:lnSpc>
              <a:spcBef>
                <a:spcPct val="0"/>
              </a:spcBef>
            </a:pPr>
            <a:r>
              <a:rPr lang="en-US" altLang="zh-CN" dirty="0" smtClean="0"/>
              <a:t>4-way issue needs 4 write ports</a:t>
            </a:r>
            <a:br>
              <a:rPr lang="en-US" altLang="zh-CN" dirty="0" smtClean="0"/>
            </a:br>
            <a:r>
              <a:rPr lang="en-US" altLang="zh-CN" dirty="0" smtClean="0"/>
              <a:t>and 8 read ports</a:t>
            </a:r>
          </a:p>
          <a:p>
            <a:pPr>
              <a:lnSpc>
                <a:spcPct val="80000"/>
              </a:lnSpc>
              <a:spcBef>
                <a:spcPct val="0"/>
              </a:spcBef>
            </a:pPr>
            <a:endParaRPr lang="en-US" altLang="zh-CN" dirty="0"/>
          </a:p>
          <a:p>
            <a:pPr>
              <a:lnSpc>
                <a:spcPct val="80000"/>
              </a:lnSpc>
              <a:spcBef>
                <a:spcPct val="0"/>
              </a:spcBef>
            </a:pPr>
            <a:endParaRPr lang="en-US" altLang="zh-CN" sz="2400" dirty="0" smtClean="0"/>
          </a:p>
          <a:p>
            <a:pPr>
              <a:lnSpc>
                <a:spcPct val="80000"/>
              </a:lnSpc>
              <a:spcBef>
                <a:spcPct val="0"/>
              </a:spcBef>
            </a:pPr>
            <a:endParaRPr lang="en-US" altLang="zh-CN" sz="2400" dirty="0"/>
          </a:p>
          <a:p>
            <a:pPr>
              <a:lnSpc>
                <a:spcPct val="80000"/>
              </a:lnSpc>
              <a:spcBef>
                <a:spcPct val="0"/>
              </a:spcBef>
            </a:pPr>
            <a:endParaRPr lang="en-US" altLang="zh-CN" dirty="0" smtClean="0"/>
          </a:p>
          <a:p>
            <a:pPr>
              <a:lnSpc>
                <a:spcPct val="80000"/>
              </a:lnSpc>
              <a:spcBef>
                <a:spcPct val="0"/>
              </a:spcBef>
            </a:pPr>
            <a:endParaRPr lang="en-US" altLang="zh-CN" dirty="0"/>
          </a:p>
          <a:p>
            <a:pPr>
              <a:lnSpc>
                <a:spcPct val="80000"/>
              </a:lnSpc>
              <a:spcBef>
                <a:spcPct val="0"/>
              </a:spcBef>
            </a:pPr>
            <a:endParaRPr lang="en-US" altLang="zh-CN" dirty="0" smtClean="0"/>
          </a:p>
          <a:p>
            <a:pPr>
              <a:lnSpc>
                <a:spcPct val="80000"/>
              </a:lnSpc>
              <a:spcBef>
                <a:spcPct val="0"/>
              </a:spcBef>
            </a:pPr>
            <a:endParaRPr lang="en-US" altLang="zh-CN" dirty="0"/>
          </a:p>
          <a:p>
            <a:pPr>
              <a:lnSpc>
                <a:spcPct val="80000"/>
              </a:lnSpc>
              <a:spcBef>
                <a:spcPct val="0"/>
              </a:spcBef>
            </a:pPr>
            <a:endParaRPr lang="en-US" altLang="zh-CN" dirty="0" smtClean="0"/>
          </a:p>
          <a:p>
            <a:pPr>
              <a:lnSpc>
                <a:spcPct val="80000"/>
              </a:lnSpc>
              <a:spcBef>
                <a:spcPct val="0"/>
              </a:spcBef>
            </a:pPr>
            <a:endParaRPr lang="en-US" altLang="zh-CN" dirty="0"/>
          </a:p>
          <a:p>
            <a:pPr>
              <a:lnSpc>
                <a:spcPct val="80000"/>
              </a:lnSpc>
              <a:spcBef>
                <a:spcPct val="0"/>
              </a:spcBef>
            </a:pPr>
            <a:r>
              <a:rPr lang="en-US" altLang="zh-CN" dirty="0" smtClean="0"/>
              <a:t>How </a:t>
            </a:r>
            <a:r>
              <a:rPr lang="en-US" altLang="zh-CN" dirty="0"/>
              <a:t>do you find the latest version of a register?</a:t>
            </a:r>
          </a:p>
          <a:p>
            <a:pPr lvl="1">
              <a:lnSpc>
                <a:spcPct val="80000"/>
              </a:lnSpc>
              <a:spcBef>
                <a:spcPct val="0"/>
              </a:spcBef>
            </a:pPr>
            <a:r>
              <a:rPr lang="en-US" altLang="zh-CN" dirty="0"/>
              <a:t>(As specified by Smith paper) need associative comparison network</a:t>
            </a:r>
          </a:p>
          <a:p>
            <a:pPr lvl="1">
              <a:lnSpc>
                <a:spcPct val="80000"/>
              </a:lnSpc>
              <a:spcBef>
                <a:spcPct val="0"/>
              </a:spcBef>
            </a:pPr>
            <a:r>
              <a:rPr lang="en-US" altLang="zh-CN" dirty="0"/>
              <a:t>Could use future file or just use the register result status buffer to track which specific reorder buffer has received the </a:t>
            </a:r>
            <a:r>
              <a:rPr lang="en-US" altLang="zh-CN" dirty="0" smtClean="0"/>
              <a:t>value</a:t>
            </a:r>
            <a:endParaRPr lang="en-US" altLang="zh-CN" dirty="0"/>
          </a:p>
        </p:txBody>
      </p:sp>
      <p:grpSp>
        <p:nvGrpSpPr>
          <p:cNvPr id="954394" name="Group 26"/>
          <p:cNvGrpSpPr>
            <a:grpSpLocks/>
          </p:cNvGrpSpPr>
          <p:nvPr/>
        </p:nvGrpSpPr>
        <p:grpSpPr bwMode="auto">
          <a:xfrm>
            <a:off x="4428728" y="2006574"/>
            <a:ext cx="2819400" cy="3222626"/>
            <a:chOff x="144" y="1186"/>
            <a:chExt cx="1776" cy="2030"/>
          </a:xfrm>
        </p:grpSpPr>
        <p:sp>
          <p:nvSpPr>
            <p:cNvPr id="954395" name="Rectangle 27"/>
            <p:cNvSpPr>
              <a:spLocks noChangeArrowheads="1"/>
            </p:cNvSpPr>
            <p:nvPr/>
          </p:nvSpPr>
          <p:spPr bwMode="auto">
            <a:xfrm>
              <a:off x="144" y="2496"/>
              <a:ext cx="1776" cy="72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2800" b="1" dirty="0"/>
                <a:t>Reorder Table</a:t>
              </a:r>
              <a:endParaRPr lang="en-US" altLang="zh-CN" b="1" dirty="0"/>
            </a:p>
          </p:txBody>
        </p:sp>
        <p:sp>
          <p:nvSpPr>
            <p:cNvPr id="954396" name="Text Box 28"/>
            <p:cNvSpPr txBox="1">
              <a:spLocks noChangeArrowheads="1"/>
            </p:cNvSpPr>
            <p:nvPr/>
          </p:nvSpPr>
          <p:spPr bwMode="auto">
            <a:xfrm rot="-5400000">
              <a:off x="-66" y="1986"/>
              <a:ext cx="750"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altLang="zh-CN" b="1" dirty="0" err="1"/>
                <a:t>Dest</a:t>
              </a:r>
              <a:r>
                <a:rPr lang="en-US" altLang="zh-CN" b="1" dirty="0"/>
                <a:t> </a:t>
              </a:r>
              <a:r>
                <a:rPr lang="en-US" altLang="zh-CN" b="1" dirty="0" err="1"/>
                <a:t>Reg</a:t>
              </a:r>
              <a:endParaRPr lang="en-US" altLang="zh-CN" b="1" dirty="0"/>
            </a:p>
          </p:txBody>
        </p:sp>
        <p:sp>
          <p:nvSpPr>
            <p:cNvPr id="954397" name="Text Box 29"/>
            <p:cNvSpPr txBox="1">
              <a:spLocks noChangeArrowheads="1"/>
            </p:cNvSpPr>
            <p:nvPr/>
          </p:nvSpPr>
          <p:spPr bwMode="auto">
            <a:xfrm rot="16200000">
              <a:off x="411" y="2090"/>
              <a:ext cx="561" cy="23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altLang="zh-CN" b="1" dirty="0"/>
                <a:t>Result</a:t>
              </a:r>
            </a:p>
          </p:txBody>
        </p:sp>
        <p:sp>
          <p:nvSpPr>
            <p:cNvPr id="954398" name="Text Box 30"/>
            <p:cNvSpPr txBox="1">
              <a:spLocks noChangeArrowheads="1"/>
            </p:cNvSpPr>
            <p:nvPr/>
          </p:nvSpPr>
          <p:spPr bwMode="auto">
            <a:xfrm rot="16200000">
              <a:off x="585" y="1894"/>
              <a:ext cx="981" cy="23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altLang="zh-CN" b="1" dirty="0"/>
                <a:t>Exceptions?</a:t>
              </a:r>
            </a:p>
          </p:txBody>
        </p:sp>
        <p:sp>
          <p:nvSpPr>
            <p:cNvPr id="954399" name="Text Box 31"/>
            <p:cNvSpPr txBox="1">
              <a:spLocks noChangeArrowheads="1"/>
            </p:cNvSpPr>
            <p:nvPr/>
          </p:nvSpPr>
          <p:spPr bwMode="auto">
            <a:xfrm rot="-5400000">
              <a:off x="1231" y="2133"/>
              <a:ext cx="45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altLang="zh-CN" b="1"/>
                <a:t>Valid</a:t>
              </a:r>
            </a:p>
          </p:txBody>
        </p:sp>
        <p:sp>
          <p:nvSpPr>
            <p:cNvPr id="954400" name="Text Box 32"/>
            <p:cNvSpPr txBox="1">
              <a:spLocks noChangeArrowheads="1"/>
            </p:cNvSpPr>
            <p:nvPr/>
          </p:nvSpPr>
          <p:spPr bwMode="auto">
            <a:xfrm rot="16200000">
              <a:off x="1140" y="1725"/>
              <a:ext cx="1312" cy="23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altLang="zh-CN" b="1"/>
                <a:t>Program Counter</a:t>
              </a:r>
            </a:p>
          </p:txBody>
        </p:sp>
        <p:sp>
          <p:nvSpPr>
            <p:cNvPr id="954401" name="Line 33"/>
            <p:cNvSpPr>
              <a:spLocks noChangeShapeType="1"/>
            </p:cNvSpPr>
            <p:nvPr/>
          </p:nvSpPr>
          <p:spPr bwMode="auto">
            <a:xfrm>
              <a:off x="144" y="2640"/>
              <a:ext cx="177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4402" name="Line 34"/>
            <p:cNvSpPr>
              <a:spLocks noChangeShapeType="1"/>
            </p:cNvSpPr>
            <p:nvPr/>
          </p:nvSpPr>
          <p:spPr bwMode="auto">
            <a:xfrm>
              <a:off x="144" y="3024"/>
              <a:ext cx="177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54371" name="Group 3"/>
          <p:cNvGrpSpPr>
            <a:grpSpLocks/>
          </p:cNvGrpSpPr>
          <p:nvPr/>
        </p:nvGrpSpPr>
        <p:grpSpPr bwMode="auto">
          <a:xfrm>
            <a:off x="7741840" y="1527150"/>
            <a:ext cx="4114800" cy="3702050"/>
            <a:chOff x="1488" y="1440"/>
            <a:chExt cx="2592" cy="2332"/>
          </a:xfrm>
        </p:grpSpPr>
        <p:grpSp>
          <p:nvGrpSpPr>
            <p:cNvPr id="954372" name="Group 4"/>
            <p:cNvGrpSpPr>
              <a:grpSpLocks/>
            </p:cNvGrpSpPr>
            <p:nvPr/>
          </p:nvGrpSpPr>
          <p:grpSpPr bwMode="auto">
            <a:xfrm>
              <a:off x="1488" y="1440"/>
              <a:ext cx="2592" cy="2332"/>
              <a:chOff x="2996" y="1104"/>
              <a:chExt cx="2592" cy="2332"/>
            </a:xfrm>
          </p:grpSpPr>
          <p:sp>
            <p:nvSpPr>
              <p:cNvPr id="954373" name="Rectangle 5"/>
              <p:cNvSpPr>
                <a:spLocks noChangeArrowheads="1"/>
              </p:cNvSpPr>
              <p:nvPr/>
            </p:nvSpPr>
            <p:spPr bwMode="auto">
              <a:xfrm>
                <a:off x="4272" y="1248"/>
                <a:ext cx="1040" cy="656"/>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a:latin typeface="Arial" panose="020B0604020202020204" pitchFamily="34" charset="0"/>
                  </a:rPr>
                  <a:t>Reorder</a:t>
                </a:r>
              </a:p>
              <a:p>
                <a:r>
                  <a:rPr lang="en-US" altLang="zh-CN">
                    <a:latin typeface="Arial" panose="020B0604020202020204" pitchFamily="34" charset="0"/>
                  </a:rPr>
                  <a:t>Buffer</a:t>
                </a:r>
              </a:p>
            </p:txBody>
          </p:sp>
          <p:sp>
            <p:nvSpPr>
              <p:cNvPr id="954374" name="Rectangle 6"/>
              <p:cNvSpPr>
                <a:spLocks noChangeArrowheads="1"/>
              </p:cNvSpPr>
              <p:nvPr/>
            </p:nvSpPr>
            <p:spPr bwMode="auto">
              <a:xfrm>
                <a:off x="3320" y="1568"/>
                <a:ext cx="476" cy="74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a:latin typeface="Arial" panose="020B0604020202020204" pitchFamily="34" charset="0"/>
                  </a:rPr>
                  <a:t>FP</a:t>
                </a:r>
              </a:p>
              <a:p>
                <a:r>
                  <a:rPr lang="en-US" altLang="zh-CN">
                    <a:latin typeface="Arial" panose="020B0604020202020204" pitchFamily="34" charset="0"/>
                  </a:rPr>
                  <a:t>Op</a:t>
                </a:r>
              </a:p>
              <a:p>
                <a:r>
                  <a:rPr lang="en-US" altLang="zh-CN">
                    <a:latin typeface="Arial" panose="020B0604020202020204" pitchFamily="34" charset="0"/>
                  </a:rPr>
                  <a:t>Queue</a:t>
                </a:r>
              </a:p>
            </p:txBody>
          </p:sp>
          <p:sp>
            <p:nvSpPr>
              <p:cNvPr id="954375" name="Rectangle 7"/>
              <p:cNvSpPr>
                <a:spLocks noChangeArrowheads="1"/>
              </p:cNvSpPr>
              <p:nvPr/>
            </p:nvSpPr>
            <p:spPr bwMode="auto">
              <a:xfrm>
                <a:off x="3224" y="3032"/>
                <a:ext cx="656" cy="152"/>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a:latin typeface="Arial" panose="020B0604020202020204" pitchFamily="34" charset="0"/>
                  </a:rPr>
                  <a:t>FP Adder</a:t>
                </a:r>
              </a:p>
            </p:txBody>
          </p:sp>
          <p:sp>
            <p:nvSpPr>
              <p:cNvPr id="954376" name="Rectangle 8"/>
              <p:cNvSpPr>
                <a:spLocks noChangeArrowheads="1"/>
              </p:cNvSpPr>
              <p:nvPr/>
            </p:nvSpPr>
            <p:spPr bwMode="auto">
              <a:xfrm>
                <a:off x="4448" y="3032"/>
                <a:ext cx="656" cy="152"/>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a:latin typeface="Arial" panose="020B0604020202020204" pitchFamily="34" charset="0"/>
                  </a:rPr>
                  <a:t>FP Adder</a:t>
                </a:r>
              </a:p>
            </p:txBody>
          </p:sp>
          <p:sp>
            <p:nvSpPr>
              <p:cNvPr id="954377" name="Rectangle 9"/>
              <p:cNvSpPr>
                <a:spLocks noChangeArrowheads="1"/>
              </p:cNvSpPr>
              <p:nvPr/>
            </p:nvSpPr>
            <p:spPr bwMode="auto">
              <a:xfrm>
                <a:off x="3044" y="2756"/>
                <a:ext cx="908" cy="2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a:latin typeface="Arial" panose="020B0604020202020204" pitchFamily="34" charset="0"/>
                  </a:rPr>
                  <a:t>Res Stations</a:t>
                </a:r>
              </a:p>
            </p:txBody>
          </p:sp>
          <p:sp>
            <p:nvSpPr>
              <p:cNvPr id="954378" name="Rectangle 10"/>
              <p:cNvSpPr>
                <a:spLocks noChangeArrowheads="1"/>
              </p:cNvSpPr>
              <p:nvPr/>
            </p:nvSpPr>
            <p:spPr bwMode="auto">
              <a:xfrm>
                <a:off x="4304" y="2756"/>
                <a:ext cx="908" cy="2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a:latin typeface="Arial" panose="020B0604020202020204" pitchFamily="34" charset="0"/>
                  </a:rPr>
                  <a:t>Res Stations</a:t>
                </a:r>
              </a:p>
            </p:txBody>
          </p:sp>
          <p:sp>
            <p:nvSpPr>
              <p:cNvPr id="954379" name="Line 11"/>
              <p:cNvSpPr>
                <a:spLocks noChangeShapeType="1"/>
              </p:cNvSpPr>
              <p:nvPr/>
            </p:nvSpPr>
            <p:spPr bwMode="auto">
              <a:xfrm>
                <a:off x="2996" y="3408"/>
                <a:ext cx="256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4380" name="Line 12"/>
              <p:cNvSpPr>
                <a:spLocks noChangeShapeType="1"/>
              </p:cNvSpPr>
              <p:nvPr/>
            </p:nvSpPr>
            <p:spPr bwMode="auto">
              <a:xfrm>
                <a:off x="5568" y="1112"/>
                <a:ext cx="0" cy="227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4381" name="Line 13"/>
              <p:cNvSpPr>
                <a:spLocks noChangeShapeType="1"/>
              </p:cNvSpPr>
              <p:nvPr/>
            </p:nvSpPr>
            <p:spPr bwMode="auto">
              <a:xfrm flipH="1">
                <a:off x="4800" y="1104"/>
                <a:ext cx="7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4382" name="Line 14"/>
              <p:cNvSpPr>
                <a:spLocks noChangeShapeType="1"/>
              </p:cNvSpPr>
              <p:nvPr/>
            </p:nvSpPr>
            <p:spPr bwMode="auto">
              <a:xfrm>
                <a:off x="4800" y="1104"/>
                <a:ext cx="0" cy="14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4383" name="Line 15"/>
              <p:cNvSpPr>
                <a:spLocks noChangeShapeType="1"/>
              </p:cNvSpPr>
              <p:nvPr/>
            </p:nvSpPr>
            <p:spPr bwMode="auto">
              <a:xfrm>
                <a:off x="3552" y="3188"/>
                <a:ext cx="0" cy="224"/>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4384" name="Line 16"/>
              <p:cNvSpPr>
                <a:spLocks noChangeShapeType="1"/>
              </p:cNvSpPr>
              <p:nvPr/>
            </p:nvSpPr>
            <p:spPr bwMode="auto">
              <a:xfrm>
                <a:off x="4764" y="3212"/>
                <a:ext cx="0" cy="224"/>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4385" name="Line 17"/>
              <p:cNvSpPr>
                <a:spLocks noChangeShapeType="1"/>
              </p:cNvSpPr>
              <p:nvPr/>
            </p:nvSpPr>
            <p:spPr bwMode="auto">
              <a:xfrm>
                <a:off x="3528" y="2324"/>
                <a:ext cx="0" cy="416"/>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4386" name="Line 18"/>
              <p:cNvSpPr>
                <a:spLocks noChangeShapeType="1"/>
              </p:cNvSpPr>
              <p:nvPr/>
            </p:nvSpPr>
            <p:spPr bwMode="auto">
              <a:xfrm>
                <a:off x="3536" y="2484"/>
                <a:ext cx="122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4387" name="Line 19"/>
              <p:cNvSpPr>
                <a:spLocks noChangeShapeType="1"/>
              </p:cNvSpPr>
              <p:nvPr/>
            </p:nvSpPr>
            <p:spPr bwMode="auto">
              <a:xfrm>
                <a:off x="4800" y="2496"/>
                <a:ext cx="0" cy="236"/>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4388" name="Line 20"/>
              <p:cNvSpPr>
                <a:spLocks noChangeShapeType="1"/>
              </p:cNvSpPr>
              <p:nvPr/>
            </p:nvSpPr>
            <p:spPr bwMode="auto">
              <a:xfrm>
                <a:off x="4800" y="1920"/>
                <a:ext cx="0" cy="548"/>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4389" name="Line 21"/>
              <p:cNvSpPr>
                <a:spLocks noChangeShapeType="1"/>
              </p:cNvSpPr>
              <p:nvPr/>
            </p:nvSpPr>
            <p:spPr bwMode="auto">
              <a:xfrm flipH="1">
                <a:off x="4732" y="2484"/>
                <a:ext cx="844"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4390" name="Rectangle 22"/>
              <p:cNvSpPr>
                <a:spLocks noChangeArrowheads="1"/>
              </p:cNvSpPr>
              <p:nvPr/>
            </p:nvSpPr>
            <p:spPr bwMode="auto">
              <a:xfrm>
                <a:off x="4432" y="2022"/>
                <a:ext cx="704" cy="308"/>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a:latin typeface="Arial" panose="020B0604020202020204" pitchFamily="34" charset="0"/>
                  </a:rPr>
                  <a:t>FP Regs</a:t>
                </a:r>
              </a:p>
            </p:txBody>
          </p:sp>
        </p:grpSp>
        <p:sp>
          <p:nvSpPr>
            <p:cNvPr id="954391" name="Rectangle 23"/>
            <p:cNvSpPr>
              <a:spLocks noChangeArrowheads="1"/>
            </p:cNvSpPr>
            <p:nvPr/>
          </p:nvSpPr>
          <p:spPr bwMode="auto">
            <a:xfrm>
              <a:off x="2592" y="1504"/>
              <a:ext cx="192" cy="1208"/>
            </a:xfrm>
            <a:prstGeom prst="rect">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r>
                <a:rPr lang="en-US" altLang="zh-CN" b="1" dirty="0" err="1">
                  <a:solidFill>
                    <a:schemeClr val="bg1"/>
                  </a:solidFill>
                </a:rPr>
                <a:t>Compar</a:t>
              </a:r>
              <a:r>
                <a:rPr lang="en-US" altLang="zh-CN" b="1" dirty="0">
                  <a:solidFill>
                    <a:schemeClr val="bg1"/>
                  </a:solidFill>
                </a:rPr>
                <a:t> network</a:t>
              </a:r>
            </a:p>
          </p:txBody>
        </p:sp>
        <p:sp>
          <p:nvSpPr>
            <p:cNvPr id="954392" name="Line 24"/>
            <p:cNvSpPr>
              <a:spLocks noChangeShapeType="1"/>
            </p:cNvSpPr>
            <p:nvPr/>
          </p:nvSpPr>
          <p:spPr bwMode="auto">
            <a:xfrm>
              <a:off x="2256" y="2208"/>
              <a:ext cx="336" cy="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8215754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nodeType="clickEffect">
                                  <p:stCondLst>
                                    <p:cond delay="0"/>
                                  </p:stCondLst>
                                  <p:childTnLst>
                                    <p:set>
                                      <p:cBhvr>
                                        <p:cTn id="6" dur="1" fill="hold">
                                          <p:stCondLst>
                                            <p:cond delay="0"/>
                                          </p:stCondLst>
                                        </p:cTn>
                                        <p:tgtEl>
                                          <p:spTgt spid="954371"/>
                                        </p:tgtEl>
                                        <p:attrNameLst>
                                          <p:attrName>style.visibility</p:attrName>
                                        </p:attrNameLst>
                                      </p:cBhvr>
                                      <p:to>
                                        <p:strVal val="visible"/>
                                      </p:to>
                                    </p:set>
                                    <p:anim calcmode="lin" valueType="num">
                                      <p:cBhvr>
                                        <p:cTn id="7" dur="500" fill="hold"/>
                                        <p:tgtEl>
                                          <p:spTgt spid="954371"/>
                                        </p:tgtEl>
                                        <p:attrNameLst>
                                          <p:attrName>ppt_w</p:attrName>
                                        </p:attrNameLst>
                                      </p:cBhvr>
                                      <p:tavLst>
                                        <p:tav tm="0">
                                          <p:val>
                                            <p:fltVal val="0"/>
                                          </p:val>
                                        </p:tav>
                                        <p:tav tm="100000">
                                          <p:val>
                                            <p:strVal val="#ppt_w"/>
                                          </p:val>
                                        </p:tav>
                                      </p:tavLst>
                                    </p:anim>
                                    <p:anim calcmode="lin" valueType="num">
                                      <p:cBhvr>
                                        <p:cTn id="8" dur="500" fill="hold"/>
                                        <p:tgtEl>
                                          <p:spTgt spid="954371"/>
                                        </p:tgtEl>
                                        <p:attrNameLst>
                                          <p:attrName>ppt_h</p:attrName>
                                        </p:attrNameLst>
                                      </p:cBhvr>
                                      <p:tavLst>
                                        <p:tav tm="0">
                                          <p:val>
                                            <p:fltVal val="0"/>
                                          </p:val>
                                        </p:tav>
                                        <p:tav tm="100000">
                                          <p:val>
                                            <p:strVal val="#ppt_h"/>
                                          </p:val>
                                        </p:tav>
                                      </p:tavLst>
                                    </p:anim>
                                    <p:anim calcmode="lin" valueType="num">
                                      <p:cBhvr>
                                        <p:cTn id="9" dur="500" fill="hold"/>
                                        <p:tgtEl>
                                          <p:spTgt spid="954371"/>
                                        </p:tgtEl>
                                        <p:attrNameLst>
                                          <p:attrName>ppt_x</p:attrName>
                                        </p:attrNameLst>
                                      </p:cBhvr>
                                      <p:tavLst>
                                        <p:tav tm="0">
                                          <p:val>
                                            <p:fltVal val="0.5"/>
                                          </p:val>
                                        </p:tav>
                                        <p:tav tm="100000">
                                          <p:val>
                                            <p:strVal val="#ppt_x"/>
                                          </p:val>
                                        </p:tav>
                                      </p:tavLst>
                                    </p:anim>
                                    <p:anim calcmode="lin" valueType="num">
                                      <p:cBhvr>
                                        <p:cTn id="10" dur="500" fill="hold"/>
                                        <p:tgtEl>
                                          <p:spTgt spid="954371"/>
                                        </p:tgtEl>
                                        <p:attrNameLst>
                                          <p:attrName>ppt_y</p:attrName>
                                        </p:attrNameLst>
                                      </p:cBhvr>
                                      <p:tavLst>
                                        <p:tav tm="0">
                                          <p:val>
                                            <p:fltVal val="0.5"/>
                                          </p:val>
                                        </p:tav>
                                        <p:tav tm="100000">
                                          <p:val>
                                            <p:strVal val="#ppt_y"/>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2" fill="hold" grpId="0" nodeType="clickEffect">
                                  <p:stCondLst>
                                    <p:cond delay="0"/>
                                  </p:stCondLst>
                                  <p:childTnLst>
                                    <p:set>
                                      <p:cBhvr>
                                        <p:cTn id="14" dur="1" fill="hold">
                                          <p:stCondLst>
                                            <p:cond delay="0"/>
                                          </p:stCondLst>
                                        </p:cTn>
                                        <p:tgtEl>
                                          <p:spTgt spid="954393">
                                            <p:txEl>
                                              <p:pRg st="0" end="0"/>
                                            </p:txEl>
                                          </p:spTgt>
                                        </p:tgtEl>
                                        <p:attrNameLst>
                                          <p:attrName>style.visibility</p:attrName>
                                        </p:attrNameLst>
                                      </p:cBhvr>
                                      <p:to>
                                        <p:strVal val="visible"/>
                                      </p:to>
                                    </p:set>
                                    <p:anim calcmode="lin" valueType="num">
                                      <p:cBhvr additive="base">
                                        <p:cTn id="15" dur="500" fill="hold"/>
                                        <p:tgtEl>
                                          <p:spTgt spid="954393">
                                            <p:txEl>
                                              <p:pRg st="0" end="0"/>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954393">
                                            <p:txEl>
                                              <p:pRg st="0" end="0"/>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954393">
                                            <p:txEl>
                                              <p:pRg st="1" end="1"/>
                                            </p:txEl>
                                          </p:spTgt>
                                        </p:tgtEl>
                                        <p:attrNameLst>
                                          <p:attrName>style.visibility</p:attrName>
                                        </p:attrNameLst>
                                      </p:cBhvr>
                                      <p:to>
                                        <p:strVal val="visible"/>
                                      </p:to>
                                    </p:set>
                                    <p:anim calcmode="lin" valueType="num">
                                      <p:cBhvr additive="base">
                                        <p:cTn id="19" dur="500" fill="hold"/>
                                        <p:tgtEl>
                                          <p:spTgt spid="954393">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95439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954393">
                                            <p:txEl>
                                              <p:pRg st="11" end="11"/>
                                            </p:txEl>
                                          </p:spTgt>
                                        </p:tgtEl>
                                        <p:attrNameLst>
                                          <p:attrName>style.visibility</p:attrName>
                                        </p:attrNameLst>
                                      </p:cBhvr>
                                      <p:to>
                                        <p:strVal val="visible"/>
                                      </p:to>
                                    </p:set>
                                    <p:anim calcmode="lin" valueType="num">
                                      <p:cBhvr additive="base">
                                        <p:cTn id="25" dur="500" fill="hold"/>
                                        <p:tgtEl>
                                          <p:spTgt spid="954393">
                                            <p:txEl>
                                              <p:pRg st="11" end="11"/>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954393">
                                            <p:txEl>
                                              <p:pRg st="11" end="11"/>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954393">
                                            <p:txEl>
                                              <p:pRg st="12" end="12"/>
                                            </p:txEl>
                                          </p:spTgt>
                                        </p:tgtEl>
                                        <p:attrNameLst>
                                          <p:attrName>style.visibility</p:attrName>
                                        </p:attrNameLst>
                                      </p:cBhvr>
                                      <p:to>
                                        <p:strVal val="visible"/>
                                      </p:to>
                                    </p:set>
                                    <p:anim calcmode="lin" valueType="num">
                                      <p:cBhvr additive="base">
                                        <p:cTn id="29" dur="500" fill="hold"/>
                                        <p:tgtEl>
                                          <p:spTgt spid="954393">
                                            <p:txEl>
                                              <p:pRg st="12" end="12"/>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954393">
                                            <p:txEl>
                                              <p:pRg st="12" end="12"/>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954393">
                                            <p:txEl>
                                              <p:pRg st="13" end="13"/>
                                            </p:txEl>
                                          </p:spTgt>
                                        </p:tgtEl>
                                        <p:attrNameLst>
                                          <p:attrName>style.visibility</p:attrName>
                                        </p:attrNameLst>
                                      </p:cBhvr>
                                      <p:to>
                                        <p:strVal val="visible"/>
                                      </p:to>
                                    </p:set>
                                    <p:anim calcmode="lin" valueType="num">
                                      <p:cBhvr additive="base">
                                        <p:cTn id="33" dur="500" fill="hold"/>
                                        <p:tgtEl>
                                          <p:spTgt spid="954393">
                                            <p:txEl>
                                              <p:pRg st="13" end="13"/>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954393">
                                            <p:txEl>
                                              <p:pRg st="13" end="1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4393" grpId="0" build="p" autoUpdateAnimBg="0"/>
    </p:bldLst>
  </p:timing>
</p:sld>
</file>

<file path=ppt/slides/slide1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9186" name="Rectangle 2"/>
          <p:cNvSpPr>
            <a:spLocks noGrp="1" noChangeArrowheads="1"/>
          </p:cNvSpPr>
          <p:nvPr>
            <p:ph type="title"/>
          </p:nvPr>
        </p:nvSpPr>
        <p:spPr>
          <a:xfrm>
            <a:off x="911424" y="188640"/>
            <a:ext cx="10513168"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en-US" dirty="0"/>
              <a:t>Getting CPI &lt; 1: </a:t>
            </a:r>
            <a:r>
              <a:rPr lang="en-US" altLang="en-US" dirty="0" smtClean="0"/>
              <a:t>Issuing </a:t>
            </a:r>
            <a:r>
              <a:rPr lang="en-US" altLang="en-US" dirty="0"/>
              <a:t>Multiple </a:t>
            </a:r>
            <a:r>
              <a:rPr lang="en-US" altLang="en-US" dirty="0" smtClean="0"/>
              <a:t>Instructions/operations per Cycle</a:t>
            </a:r>
            <a:endParaRPr lang="en-US" altLang="en-US" dirty="0"/>
          </a:p>
        </p:txBody>
      </p:sp>
      <p:sp>
        <p:nvSpPr>
          <p:cNvPr id="989187" name="Rectangle 3"/>
          <p:cNvSpPr>
            <a:spLocks noGrp="1" noChangeArrowheads="1"/>
          </p:cNvSpPr>
          <p:nvPr>
            <p:ph type="body" idx="1"/>
          </p:nvPr>
        </p:nvSpPr>
        <p:spPr>
          <a:xfrm>
            <a:off x="479376" y="1556792"/>
            <a:ext cx="11161240" cy="476780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spcBef>
                <a:spcPct val="0"/>
              </a:spcBef>
            </a:pPr>
            <a:r>
              <a:rPr lang="en-US" altLang="en-US" dirty="0">
                <a:solidFill>
                  <a:srgbClr val="FF0000"/>
                </a:solidFill>
              </a:rPr>
              <a:t>Vector Processing</a:t>
            </a:r>
            <a:r>
              <a:rPr lang="en-US" altLang="en-US" dirty="0">
                <a:solidFill>
                  <a:schemeClr val="hlink"/>
                </a:solidFill>
              </a:rPr>
              <a:t>: </a:t>
            </a:r>
            <a:r>
              <a:rPr lang="en-US" altLang="en-US" dirty="0"/>
              <a:t>Explicit coding of independent loops as operations on large vectors of numbers</a:t>
            </a:r>
          </a:p>
          <a:p>
            <a:pPr lvl="1">
              <a:spcBef>
                <a:spcPct val="0"/>
              </a:spcBef>
            </a:pPr>
            <a:r>
              <a:rPr lang="en-US" altLang="en-US" dirty="0"/>
              <a:t>Multimedia instructions being added to many processors</a:t>
            </a:r>
            <a:r>
              <a:rPr lang="en-US" altLang="en-US" dirty="0">
                <a:solidFill>
                  <a:schemeClr val="hlink"/>
                </a:solidFill>
              </a:rPr>
              <a:t> </a:t>
            </a:r>
          </a:p>
          <a:p>
            <a:pPr>
              <a:spcBef>
                <a:spcPct val="0"/>
              </a:spcBef>
            </a:pPr>
            <a:r>
              <a:rPr lang="en-US" altLang="en-US" dirty="0">
                <a:solidFill>
                  <a:srgbClr val="FF0000"/>
                </a:solidFill>
              </a:rPr>
              <a:t>Superscalar</a:t>
            </a:r>
            <a:r>
              <a:rPr lang="en-US" altLang="en-US" dirty="0"/>
              <a:t>: varying no. instructions/cycle (1 to 8), scheduled by compiler or by HW (</a:t>
            </a:r>
            <a:r>
              <a:rPr lang="en-US" altLang="en-US" dirty="0" err="1" smtClean="0"/>
              <a:t>Tomasulo</a:t>
            </a:r>
            <a:r>
              <a:rPr lang="en-US" altLang="en-US" dirty="0" smtClean="0"/>
              <a:t>-like)</a:t>
            </a:r>
            <a:endParaRPr lang="en-US" altLang="en-US" dirty="0"/>
          </a:p>
          <a:p>
            <a:pPr lvl="1">
              <a:spcBef>
                <a:spcPct val="0"/>
              </a:spcBef>
            </a:pPr>
            <a:r>
              <a:rPr lang="en-US" altLang="en-US" dirty="0"/>
              <a:t>IBM PowerPC, Sun </a:t>
            </a:r>
            <a:r>
              <a:rPr lang="en-US" altLang="en-US" dirty="0" err="1"/>
              <a:t>UltraSparc</a:t>
            </a:r>
            <a:r>
              <a:rPr lang="en-US" altLang="en-US" dirty="0"/>
              <a:t>, DEC Alpha, Pentium III/4</a:t>
            </a:r>
          </a:p>
          <a:p>
            <a:pPr>
              <a:spcBef>
                <a:spcPct val="0"/>
              </a:spcBef>
            </a:pPr>
            <a:r>
              <a:rPr lang="en-US" altLang="en-US" dirty="0">
                <a:solidFill>
                  <a:srgbClr val="FF0000"/>
                </a:solidFill>
              </a:rPr>
              <a:t>(Very) Long Instruction Words (V)LIW</a:t>
            </a:r>
            <a:r>
              <a:rPr lang="en-US" altLang="en-US" dirty="0"/>
              <a:t>: </a:t>
            </a:r>
            <a:r>
              <a:rPr lang="en-US" altLang="en-US" dirty="0" smtClean="0"/>
              <a:t>fixed </a:t>
            </a:r>
            <a:r>
              <a:rPr lang="en-US" altLang="en-US" dirty="0"/>
              <a:t>number of instructions (4-16) scheduled by the compiler; put ops into wide templates </a:t>
            </a:r>
          </a:p>
          <a:p>
            <a:pPr lvl="1">
              <a:spcBef>
                <a:spcPct val="0"/>
              </a:spcBef>
            </a:pPr>
            <a:r>
              <a:rPr lang="en-US" altLang="en-US" dirty="0"/>
              <a:t>Intel Architecture-64 (IA-64) 64-bit address</a:t>
            </a:r>
          </a:p>
          <a:p>
            <a:pPr lvl="2">
              <a:spcBef>
                <a:spcPct val="0"/>
              </a:spcBef>
            </a:pPr>
            <a:r>
              <a:rPr lang="en-US" altLang="en-US" sz="2400" dirty="0"/>
              <a:t>Renamed: “Explicitly Parallel Instruction Computer (EPIC</a:t>
            </a:r>
            <a:r>
              <a:rPr lang="en-US" altLang="en-US" sz="2400" dirty="0" smtClean="0"/>
              <a:t>)”</a:t>
            </a:r>
            <a:endParaRPr lang="en-US" altLang="en-US" sz="2400" dirty="0"/>
          </a:p>
          <a:p>
            <a:pPr>
              <a:spcBef>
                <a:spcPct val="0"/>
              </a:spcBef>
            </a:pPr>
            <a:r>
              <a:rPr lang="en-US" altLang="en-US" dirty="0"/>
              <a:t>Anticipated success of multiple instructions lead to </a:t>
            </a:r>
            <a:br>
              <a:rPr lang="en-US" altLang="en-US" dirty="0"/>
            </a:br>
            <a:r>
              <a:rPr lang="en-US" altLang="en-US" dirty="0">
                <a:solidFill>
                  <a:srgbClr val="FF0000"/>
                </a:solidFill>
              </a:rPr>
              <a:t>Instructions Per Clock</a:t>
            </a:r>
            <a:r>
              <a:rPr lang="en-US" altLang="en-US" u="sng" dirty="0">
                <a:solidFill>
                  <a:schemeClr val="hlink"/>
                </a:solidFill>
              </a:rPr>
              <a:t> </a:t>
            </a:r>
            <a:r>
              <a:rPr lang="en-US" altLang="en-US" dirty="0"/>
              <a:t>cycle (</a:t>
            </a:r>
            <a:r>
              <a:rPr lang="en-US" altLang="en-US" dirty="0">
                <a:solidFill>
                  <a:srgbClr val="FF0000"/>
                </a:solidFill>
              </a:rPr>
              <a:t>IPC</a:t>
            </a:r>
            <a:r>
              <a:rPr lang="en-US" altLang="en-US" dirty="0"/>
              <a:t>) vs. CPI</a:t>
            </a:r>
          </a:p>
        </p:txBody>
      </p:sp>
    </p:spTree>
    <p:extLst>
      <p:ext uri="{BB962C8B-B14F-4D97-AF65-F5344CB8AC3E}">
        <p14:creationId xmlns:p14="http://schemas.microsoft.com/office/powerpoint/2010/main" val="356866655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8918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989187">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98918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98918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8918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98918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989187">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98918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9187" grpId="0" build="p" autoUpdateAnimBg="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AU" dirty="0" smtClean="0"/>
              <a:t>Multiple Issue</a:t>
            </a:r>
            <a:r>
              <a:rPr lang="en-US" dirty="0" smtClean="0"/>
              <a:t>: Achieve Real ILP</a:t>
            </a:r>
            <a:endParaRPr lang="en-AU" dirty="0"/>
          </a:p>
        </p:txBody>
      </p:sp>
      <p:sp>
        <p:nvSpPr>
          <p:cNvPr id="242691" name="Rectangle 3"/>
          <p:cNvSpPr>
            <a:spLocks noGrp="1" noChangeArrowheads="1"/>
          </p:cNvSpPr>
          <p:nvPr>
            <p:ph type="body" idx="1"/>
          </p:nvPr>
        </p:nvSpPr>
        <p:spPr/>
        <p:txBody>
          <a:bodyPr/>
          <a:lstStyle/>
          <a:p>
            <a:r>
              <a:rPr lang="en-US" altLang="zh-CN" dirty="0" smtClean="0"/>
              <a:t>3 Solutions </a:t>
            </a:r>
            <a:r>
              <a:rPr lang="en-US" dirty="0" smtClean="0"/>
              <a:t>To achieve CPI &lt; 1</a:t>
            </a:r>
          </a:p>
          <a:p>
            <a:pPr lvl="1"/>
            <a:r>
              <a:rPr lang="en-US" dirty="0"/>
              <a:t>N</a:t>
            </a:r>
            <a:r>
              <a:rPr lang="en-US" dirty="0" smtClean="0"/>
              <a:t>eed to complete multiple instructions per clock cycle</a:t>
            </a:r>
          </a:p>
          <a:p>
            <a:pPr lvl="1"/>
            <a:r>
              <a:rPr lang="en-US" dirty="0" smtClean="0"/>
              <a:t>Issue width: maximum number of instructions issued in a cycle</a:t>
            </a:r>
          </a:p>
          <a:p>
            <a:r>
              <a:rPr lang="en-US" dirty="0" smtClean="0"/>
              <a:t>Statically scheduled superscalar processors</a:t>
            </a:r>
          </a:p>
          <a:p>
            <a:pPr lvl="1"/>
            <a:r>
              <a:rPr lang="en-US" dirty="0" smtClean="0"/>
              <a:t>In order, if no dependence, issue one or more instructions</a:t>
            </a:r>
          </a:p>
          <a:p>
            <a:pPr lvl="1"/>
            <a:r>
              <a:rPr lang="en-US" dirty="0" smtClean="0"/>
              <a:t>Need compiler to arrange independent instructions near together</a:t>
            </a:r>
          </a:p>
          <a:p>
            <a:r>
              <a:rPr lang="en-US" altLang="zh-CN" dirty="0"/>
              <a:t>Dynamically scheduled superscalar </a:t>
            </a:r>
            <a:r>
              <a:rPr lang="en-US" altLang="zh-CN" dirty="0" smtClean="0"/>
              <a:t>processors</a:t>
            </a:r>
          </a:p>
          <a:p>
            <a:pPr lvl="1"/>
            <a:r>
              <a:rPr lang="en-US" altLang="zh-CN" dirty="0" smtClean="0"/>
              <a:t>Issue multiple instructions according to program order</a:t>
            </a:r>
          </a:p>
          <a:p>
            <a:pPr lvl="1"/>
            <a:r>
              <a:rPr lang="en-US" altLang="zh-CN" dirty="0" smtClean="0"/>
              <a:t>Use hardware to maintain the true dependence between instructions</a:t>
            </a:r>
            <a:endParaRPr lang="en-US" altLang="zh-CN" dirty="0"/>
          </a:p>
          <a:p>
            <a:r>
              <a:rPr lang="en-US" dirty="0" smtClean="0"/>
              <a:t>VLIW (very long instruction word) processors</a:t>
            </a:r>
          </a:p>
          <a:p>
            <a:pPr lvl="1"/>
            <a:r>
              <a:rPr lang="en-US" dirty="0" smtClean="0"/>
              <a:t>Define wide instruction format or instruction bundle</a:t>
            </a:r>
          </a:p>
          <a:p>
            <a:pPr lvl="1"/>
            <a:r>
              <a:rPr lang="en-US" dirty="0" smtClean="0"/>
              <a:t>Require compiler to fill in the parallel instructions or operations</a:t>
            </a:r>
          </a:p>
        </p:txBody>
      </p:sp>
    </p:spTree>
    <p:extLst>
      <p:ext uri="{BB962C8B-B14F-4D97-AF65-F5344CB8AC3E}">
        <p14:creationId xmlns:p14="http://schemas.microsoft.com/office/powerpoint/2010/main" val="1203766791"/>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AU" dirty="0" smtClean="0"/>
              <a:t>Multiple Issue </a:t>
            </a:r>
            <a:r>
              <a:rPr lang="en-US" altLang="zh-CN" dirty="0" smtClean="0"/>
              <a:t>Options</a:t>
            </a:r>
            <a:endParaRPr lang="en-AU" dirty="0"/>
          </a:p>
        </p:txBody>
      </p:sp>
      <p:sp>
        <p:nvSpPr>
          <p:cNvPr id="4" name="内容占位符 3"/>
          <p:cNvSpPr>
            <a:spLocks noGrp="1"/>
          </p:cNvSpPr>
          <p:nvPr>
            <p:ph idx="1"/>
          </p:nvPr>
        </p:nvSpPr>
        <p:spPr/>
        <p:txBody>
          <a:bodyPr/>
          <a:lstStyle/>
          <a:p>
            <a:endParaRPr lang="zh-CN" altLang="en-US"/>
          </a:p>
        </p:txBody>
      </p:sp>
      <p:pic>
        <p:nvPicPr>
          <p:cNvPr id="3" name="图片 2"/>
          <p:cNvPicPr>
            <a:picLocks noChangeAspect="1"/>
          </p:cNvPicPr>
          <p:nvPr/>
        </p:nvPicPr>
        <p:blipFill>
          <a:blip r:embed="rId3"/>
          <a:stretch>
            <a:fillRect/>
          </a:stretch>
        </p:blipFill>
        <p:spPr>
          <a:xfrm>
            <a:off x="581518" y="1556792"/>
            <a:ext cx="11229160" cy="4968552"/>
          </a:xfrm>
          <a:prstGeom prst="rect">
            <a:avLst/>
          </a:prstGeom>
        </p:spPr>
      </p:pic>
    </p:spTree>
    <p:extLst>
      <p:ext uri="{BB962C8B-B14F-4D97-AF65-F5344CB8AC3E}">
        <p14:creationId xmlns:p14="http://schemas.microsoft.com/office/powerpoint/2010/main" val="3669089677"/>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altLang="zh-CN" dirty="0"/>
              <a:t>Modern </a:t>
            </a:r>
            <a:r>
              <a:rPr lang="en-US" altLang="zh-CN" dirty="0" smtClean="0"/>
              <a:t>Microprocessor Architecture</a:t>
            </a:r>
            <a:endParaRPr lang="en-AU" dirty="0"/>
          </a:p>
        </p:txBody>
      </p:sp>
      <p:sp>
        <p:nvSpPr>
          <p:cNvPr id="242691" name="Rectangle 3"/>
          <p:cNvSpPr>
            <a:spLocks noGrp="1" noChangeArrowheads="1"/>
          </p:cNvSpPr>
          <p:nvPr>
            <p:ph type="body" idx="1"/>
          </p:nvPr>
        </p:nvSpPr>
        <p:spPr/>
        <p:txBody>
          <a:bodyPr/>
          <a:lstStyle/>
          <a:p>
            <a:r>
              <a:rPr lang="en-US" dirty="0" smtClean="0"/>
              <a:t>Dynamic scheduling + multiple issue + speculation</a:t>
            </a:r>
          </a:p>
          <a:p>
            <a:endParaRPr lang="en-US" dirty="0" smtClean="0"/>
          </a:p>
          <a:p>
            <a:r>
              <a:rPr lang="en-US" dirty="0" smtClean="0"/>
              <a:t>Two approaches:</a:t>
            </a:r>
          </a:p>
          <a:p>
            <a:pPr lvl="1"/>
            <a:r>
              <a:rPr lang="en-US" dirty="0" smtClean="0"/>
              <a:t>In order issue: assign reservation stations and update pipeline control table in half clock cycles</a:t>
            </a:r>
          </a:p>
          <a:p>
            <a:pPr lvl="2"/>
            <a:r>
              <a:rPr lang="en-US" sz="2400" dirty="0" smtClean="0"/>
              <a:t>Only supports 2 instructions/clock</a:t>
            </a:r>
          </a:p>
          <a:p>
            <a:pPr lvl="1"/>
            <a:r>
              <a:rPr lang="en-US" dirty="0" smtClean="0"/>
              <a:t>Design complex logic to handle any possible dependencies between the 3 or more instructions issued in a cycle</a:t>
            </a:r>
          </a:p>
          <a:p>
            <a:pPr lvl="1"/>
            <a:endParaRPr lang="en-US" dirty="0" smtClean="0"/>
          </a:p>
          <a:p>
            <a:r>
              <a:rPr lang="en-US" dirty="0" smtClean="0"/>
              <a:t>Issue logic is often the bottleneck in dynamically scheduled superscalars</a:t>
            </a:r>
          </a:p>
        </p:txBody>
      </p:sp>
    </p:spTree>
    <p:extLst>
      <p:ext uri="{BB962C8B-B14F-4D97-AF65-F5344CB8AC3E}">
        <p14:creationId xmlns:p14="http://schemas.microsoft.com/office/powerpoint/2010/main" val="114709744"/>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1234" name="Rectangle 2"/>
          <p:cNvSpPr>
            <a:spLocks noGrp="1" noChangeArrowheads="1"/>
          </p:cNvSpPr>
          <p:nvPr>
            <p:ph type="title"/>
          </p:nvPr>
        </p:nvSpPr>
        <p:spPr/>
        <p:txBody>
          <a:bodyPr/>
          <a:lstStyle/>
          <a:p>
            <a:r>
              <a:rPr lang="en-US" altLang="en-US" smtClean="0"/>
              <a:t>Dynamic Scheduling in Superscalar</a:t>
            </a:r>
            <a:br>
              <a:rPr lang="en-US" altLang="en-US" smtClean="0"/>
            </a:br>
            <a:r>
              <a:rPr lang="en-US" altLang="en-US" smtClean="0"/>
              <a:t>The easy way</a:t>
            </a:r>
            <a:endParaRPr lang="en-US" altLang="en-US"/>
          </a:p>
        </p:txBody>
      </p:sp>
      <p:sp>
        <p:nvSpPr>
          <p:cNvPr id="991235" name="Rectangle 3"/>
          <p:cNvSpPr>
            <a:spLocks noGrp="1" noChangeArrowheads="1"/>
          </p:cNvSpPr>
          <p:nvPr>
            <p:ph type="body" idx="1"/>
          </p:nvPr>
        </p:nvSpPr>
        <p:spPr/>
        <p:txBody>
          <a:bodyPr/>
          <a:lstStyle/>
          <a:p>
            <a:r>
              <a:rPr lang="en-US" altLang="en-US" dirty="0" smtClean="0"/>
              <a:t>How to issue two instructions and keep in-order instruction issue for </a:t>
            </a:r>
            <a:r>
              <a:rPr lang="en-US" altLang="en-US" dirty="0" err="1" smtClean="0"/>
              <a:t>Tomasulo</a:t>
            </a:r>
            <a:r>
              <a:rPr lang="en-US" altLang="en-US" dirty="0" smtClean="0"/>
              <a:t>?</a:t>
            </a:r>
          </a:p>
          <a:p>
            <a:pPr lvl="1"/>
            <a:r>
              <a:rPr lang="en-US" altLang="en-US" dirty="0" smtClean="0"/>
              <a:t>Assume 1 integer + 1 floating point</a:t>
            </a:r>
          </a:p>
          <a:p>
            <a:pPr lvl="1"/>
            <a:r>
              <a:rPr lang="en-US" altLang="en-US" dirty="0" smtClean="0"/>
              <a:t>1 </a:t>
            </a:r>
            <a:r>
              <a:rPr lang="en-US" altLang="en-US" dirty="0" err="1" smtClean="0"/>
              <a:t>Tomasulo</a:t>
            </a:r>
            <a:r>
              <a:rPr lang="en-US" altLang="en-US" dirty="0" smtClean="0"/>
              <a:t> control for integer, 1 for floating point</a:t>
            </a:r>
          </a:p>
          <a:p>
            <a:r>
              <a:rPr lang="en-US" altLang="en-US" dirty="0" smtClean="0"/>
              <a:t>Issue 2X Clock Rate, so that issue remains in order</a:t>
            </a:r>
          </a:p>
          <a:p>
            <a:r>
              <a:rPr lang="en-US" altLang="en-US" dirty="0" smtClean="0"/>
              <a:t>Only loads/stores might cause dependency between integer and FP issue:</a:t>
            </a:r>
          </a:p>
          <a:p>
            <a:pPr lvl="1"/>
            <a:r>
              <a:rPr lang="en-US" altLang="en-US" dirty="0" smtClean="0"/>
              <a:t>Replace load reservation station with a load queue; </a:t>
            </a:r>
            <a:br>
              <a:rPr lang="en-US" altLang="en-US" dirty="0" smtClean="0"/>
            </a:br>
            <a:r>
              <a:rPr lang="en-US" altLang="en-US" dirty="0" smtClean="0"/>
              <a:t>operands must be read in the order they are fetched</a:t>
            </a:r>
          </a:p>
          <a:p>
            <a:pPr lvl="1"/>
            <a:r>
              <a:rPr lang="en-US" altLang="en-US" dirty="0" smtClean="0"/>
              <a:t>Load checks addresses in Store Queue to avoid RAW violation</a:t>
            </a:r>
          </a:p>
          <a:p>
            <a:pPr lvl="1"/>
            <a:r>
              <a:rPr lang="en-US" altLang="en-US" dirty="0" smtClean="0"/>
              <a:t>Store checks addresses in Load Queue to avoid WAR,WAW</a:t>
            </a:r>
            <a:endParaRPr lang="en-US" altLang="en-US" dirty="0"/>
          </a:p>
        </p:txBody>
      </p:sp>
    </p:spTree>
    <p:extLst>
      <p:ext uri="{BB962C8B-B14F-4D97-AF65-F5344CB8AC3E}">
        <p14:creationId xmlns:p14="http://schemas.microsoft.com/office/powerpoint/2010/main" val="108784234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912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99123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99123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9123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9123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991235">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991235">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99123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1235" grpId="0" build="p" autoUpdateAnimBg="0"/>
    </p:bldLst>
  </p:timing>
</p:sld>
</file>

<file path=ppt/slides/slide1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4306" name="Rectangle 2"/>
          <p:cNvSpPr>
            <a:spLocks noGrp="1" noChangeArrowheads="1"/>
          </p:cNvSpPr>
          <p:nvPr>
            <p:ph type="title"/>
          </p:nvPr>
        </p:nvSpPr>
        <p:spPr/>
        <p:txBody>
          <a:bodyPr/>
          <a:lstStyle/>
          <a:p>
            <a:r>
              <a:rPr lang="en-US" altLang="en-US"/>
              <a:t>Multiple Issue Issues</a:t>
            </a:r>
          </a:p>
        </p:txBody>
      </p:sp>
      <p:sp>
        <p:nvSpPr>
          <p:cNvPr id="994307" name="Rectangle 3"/>
          <p:cNvSpPr>
            <a:spLocks noGrp="1" noChangeArrowheads="1"/>
          </p:cNvSpPr>
          <p:nvPr>
            <p:ph type="body" idx="1"/>
          </p:nvPr>
        </p:nvSpPr>
        <p:spPr>
          <a:xfrm>
            <a:off x="695400" y="1628800"/>
            <a:ext cx="10729192" cy="4896544"/>
          </a:xfrm>
        </p:spPr>
        <p:txBody>
          <a:bodyPr/>
          <a:lstStyle/>
          <a:p>
            <a:pPr>
              <a:spcBef>
                <a:spcPct val="0"/>
              </a:spcBef>
            </a:pPr>
            <a:r>
              <a:rPr lang="en-US" altLang="en-US" dirty="0">
                <a:solidFill>
                  <a:srgbClr val="FF0000"/>
                </a:solidFill>
              </a:rPr>
              <a:t>issue packet</a:t>
            </a:r>
            <a:r>
              <a:rPr lang="en-US" altLang="en-US" dirty="0"/>
              <a:t>: group of instructions from fetch unit that could potentially issue in 1 clock</a:t>
            </a:r>
          </a:p>
          <a:p>
            <a:pPr lvl="1">
              <a:spcBef>
                <a:spcPct val="0"/>
              </a:spcBef>
            </a:pPr>
            <a:r>
              <a:rPr lang="en-US" altLang="en-US" dirty="0"/>
              <a:t>If instruction causes structural hazard or a data hazard either due to earlier instruction in execution or to earlier instruction in issue packet, then instruction does not issue</a:t>
            </a:r>
          </a:p>
          <a:p>
            <a:pPr lvl="1">
              <a:spcBef>
                <a:spcPct val="0"/>
              </a:spcBef>
            </a:pPr>
            <a:r>
              <a:rPr lang="en-US" altLang="en-US" dirty="0"/>
              <a:t>0 to N instruction issues per clock cycle, for N-issue</a:t>
            </a:r>
          </a:p>
          <a:p>
            <a:pPr>
              <a:spcBef>
                <a:spcPct val="0"/>
              </a:spcBef>
            </a:pPr>
            <a:r>
              <a:rPr lang="en-US" altLang="en-US" dirty="0"/>
              <a:t>Performing issue checks in 1 cycle could limit clock cycle time: O(n</a:t>
            </a:r>
            <a:r>
              <a:rPr lang="en-US" altLang="en-US" baseline="30000" dirty="0"/>
              <a:t>2</a:t>
            </a:r>
            <a:r>
              <a:rPr lang="en-US" altLang="en-US" dirty="0"/>
              <a:t>-n) comparisons</a:t>
            </a:r>
          </a:p>
          <a:p>
            <a:pPr lvl="1">
              <a:spcBef>
                <a:spcPct val="0"/>
              </a:spcBef>
            </a:pPr>
            <a:r>
              <a:rPr lang="en-US" altLang="en-US" dirty="0"/>
              <a:t>=&gt; issue stage usually split and pipelined</a:t>
            </a:r>
          </a:p>
          <a:p>
            <a:pPr lvl="1">
              <a:spcBef>
                <a:spcPct val="0"/>
              </a:spcBef>
            </a:pPr>
            <a:r>
              <a:rPr lang="en-US" altLang="en-US" dirty="0"/>
              <a:t>1st stage decides how many instructions from within this packet can issue, 2nd stage examines hazards among selected instructions and those already been issued</a:t>
            </a:r>
          </a:p>
          <a:p>
            <a:pPr lvl="1">
              <a:spcBef>
                <a:spcPct val="0"/>
              </a:spcBef>
            </a:pPr>
            <a:r>
              <a:rPr lang="en-US" altLang="en-US" dirty="0"/>
              <a:t>=&gt; higher branch penalties =&gt; prediction accuracy important</a:t>
            </a:r>
          </a:p>
        </p:txBody>
      </p:sp>
    </p:spTree>
    <p:extLst>
      <p:ext uri="{BB962C8B-B14F-4D97-AF65-F5344CB8AC3E}">
        <p14:creationId xmlns:p14="http://schemas.microsoft.com/office/powerpoint/2010/main" val="140546220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9430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99430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99430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9430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99430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99430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99430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4307" grpId="0" build="p" autoUpdateAnimBg="0"/>
    </p:bldLst>
  </p:timing>
</p:sld>
</file>

<file path=ppt/slides/slide1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2258" name="Rectangle 2"/>
          <p:cNvSpPr>
            <a:spLocks noGrp="1" noChangeArrowheads="1"/>
          </p:cNvSpPr>
          <p:nvPr>
            <p:ph type="title"/>
          </p:nvPr>
        </p:nvSpPr>
        <p:spPr/>
        <p:txBody>
          <a:bodyPr/>
          <a:lstStyle/>
          <a:p>
            <a:r>
              <a:rPr lang="en-US" altLang="en-US" smtClean="0"/>
              <a:t>Multiple Issue Challenges</a:t>
            </a:r>
            <a:endParaRPr lang="en-US" altLang="en-US"/>
          </a:p>
        </p:txBody>
      </p:sp>
      <p:sp>
        <p:nvSpPr>
          <p:cNvPr id="992259" name="Rectangle 3"/>
          <p:cNvSpPr>
            <a:spLocks noGrp="1" noChangeArrowheads="1"/>
          </p:cNvSpPr>
          <p:nvPr>
            <p:ph type="body" idx="1"/>
          </p:nvPr>
        </p:nvSpPr>
        <p:spPr/>
        <p:txBody>
          <a:bodyPr/>
          <a:lstStyle/>
          <a:p>
            <a:r>
              <a:rPr lang="en-US" altLang="en-US" smtClean="0"/>
              <a:t>While Integer/FP split is simple for the HW, get CPI of 0.5 only for programs with:</a:t>
            </a:r>
          </a:p>
          <a:p>
            <a:pPr lvl="1"/>
            <a:r>
              <a:rPr lang="en-US" altLang="en-US" smtClean="0"/>
              <a:t>Exactly 50% FP operations AND No hazards</a:t>
            </a:r>
          </a:p>
          <a:p>
            <a:r>
              <a:rPr lang="en-US" altLang="en-US" smtClean="0"/>
              <a:t>If more instructions issue at same time, greater difficulty of decode and issue:</a:t>
            </a:r>
          </a:p>
          <a:p>
            <a:pPr lvl="1"/>
            <a:r>
              <a:rPr lang="en-US" altLang="en-US" smtClean="0"/>
              <a:t>Even 2-scalar =&gt; examine 2 opcodes, 6 register specifiers, &amp; decide if 1 or 2 instructions can issue; (N-issue ~O(N2-N) comparisons)</a:t>
            </a:r>
          </a:p>
          <a:p>
            <a:pPr lvl="1"/>
            <a:r>
              <a:rPr lang="en-US" altLang="en-US" smtClean="0"/>
              <a:t>Register file: need 2x reads and 1x writes/cycle</a:t>
            </a:r>
            <a:endParaRPr lang="en-US" altLang="en-US"/>
          </a:p>
        </p:txBody>
      </p:sp>
    </p:spTree>
    <p:extLst>
      <p:ext uri="{BB962C8B-B14F-4D97-AF65-F5344CB8AC3E}">
        <p14:creationId xmlns:p14="http://schemas.microsoft.com/office/powerpoint/2010/main" val="1925594366"/>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9225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992259">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99225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99225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9922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2259" grpId="0" build="p" autoUpdateAnimBg="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02" name="Rectangle 2"/>
          <p:cNvSpPr>
            <a:spLocks noGrp="1" noChangeArrowheads="1"/>
          </p:cNvSpPr>
          <p:nvPr>
            <p:ph type="title"/>
          </p:nvPr>
        </p:nvSpPr>
        <p:spPr/>
        <p:txBody>
          <a:bodyPr/>
          <a:lstStyle/>
          <a:p>
            <a:r>
              <a:rPr lang="en-US" altLang="zh-CN"/>
              <a:t>Other Issues</a:t>
            </a:r>
          </a:p>
        </p:txBody>
      </p:sp>
      <p:sp>
        <p:nvSpPr>
          <p:cNvPr id="1049603" name="Rectangle 3"/>
          <p:cNvSpPr>
            <a:spLocks noGrp="1" noChangeArrowheads="1"/>
          </p:cNvSpPr>
          <p:nvPr>
            <p:ph type="body" idx="1"/>
          </p:nvPr>
        </p:nvSpPr>
        <p:spPr>
          <a:xfrm>
            <a:off x="838200" y="1628800"/>
            <a:ext cx="10946432" cy="4429100"/>
          </a:xfrm>
        </p:spPr>
        <p:txBody>
          <a:bodyPr/>
          <a:lstStyle/>
          <a:p>
            <a:pPr>
              <a:lnSpc>
                <a:spcPct val="100000"/>
              </a:lnSpc>
              <a:spcBef>
                <a:spcPct val="10000"/>
              </a:spcBef>
            </a:pPr>
            <a:r>
              <a:rPr lang="en-US" altLang="en-US" dirty="0"/>
              <a:t>Rename logic: must be able to rename same register multiple times in one cycle!  For instance, consider 4-way issue:</a:t>
            </a:r>
          </a:p>
          <a:p>
            <a:pPr>
              <a:lnSpc>
                <a:spcPct val="100000"/>
              </a:lnSpc>
              <a:spcBef>
                <a:spcPct val="10000"/>
              </a:spcBef>
              <a:buFont typeface="Wingdings" panose="05000000000000000000" pitchFamily="2" charset="2"/>
              <a:buNone/>
            </a:pPr>
            <a:r>
              <a:rPr lang="en-US" altLang="en-US" dirty="0"/>
              <a:t>	</a:t>
            </a:r>
            <a:r>
              <a:rPr lang="en-US" altLang="en-US" b="1" dirty="0">
                <a:latin typeface="Courier New" panose="02070309020205020404" pitchFamily="49" charset="0"/>
              </a:rPr>
              <a:t>add </a:t>
            </a:r>
            <a:r>
              <a:rPr lang="en-US" altLang="en-US" b="1" dirty="0">
                <a:solidFill>
                  <a:schemeClr val="hlink"/>
                </a:solidFill>
                <a:latin typeface="Courier New" panose="02070309020205020404" pitchFamily="49" charset="0"/>
              </a:rPr>
              <a:t>r1</a:t>
            </a:r>
            <a:r>
              <a:rPr lang="en-US" altLang="en-US" b="1" dirty="0">
                <a:latin typeface="Courier New" panose="02070309020205020404" pitchFamily="49" charset="0"/>
              </a:rPr>
              <a:t>, r2, r3		add </a:t>
            </a:r>
            <a:r>
              <a:rPr lang="en-US" altLang="en-US" b="1" dirty="0">
                <a:solidFill>
                  <a:schemeClr val="hlink"/>
                </a:solidFill>
                <a:latin typeface="Courier New" panose="02070309020205020404" pitchFamily="49" charset="0"/>
              </a:rPr>
              <a:t>p11</a:t>
            </a:r>
            <a:r>
              <a:rPr lang="en-US" altLang="en-US" b="1" dirty="0">
                <a:latin typeface="Courier New" panose="02070309020205020404" pitchFamily="49" charset="0"/>
              </a:rPr>
              <a:t>, p4, p7</a:t>
            </a:r>
            <a:br>
              <a:rPr lang="en-US" altLang="en-US" b="1" dirty="0">
                <a:latin typeface="Courier New" panose="02070309020205020404" pitchFamily="49" charset="0"/>
              </a:rPr>
            </a:br>
            <a:r>
              <a:rPr lang="en-US" altLang="en-US" b="1" dirty="0">
                <a:latin typeface="Courier New" panose="02070309020205020404" pitchFamily="49" charset="0"/>
              </a:rPr>
              <a:t>sub r4, </a:t>
            </a:r>
            <a:r>
              <a:rPr lang="en-US" altLang="en-US" b="1" dirty="0">
                <a:solidFill>
                  <a:schemeClr val="hlink"/>
                </a:solidFill>
                <a:latin typeface="Courier New" panose="02070309020205020404" pitchFamily="49" charset="0"/>
              </a:rPr>
              <a:t>r1</a:t>
            </a:r>
            <a:r>
              <a:rPr lang="en-US" altLang="en-US" b="1" dirty="0">
                <a:latin typeface="Courier New" panose="02070309020205020404" pitchFamily="49" charset="0"/>
              </a:rPr>
              <a:t>, r2	</a:t>
            </a:r>
            <a:r>
              <a:rPr lang="en-US" altLang="en-US" b="1" dirty="0">
                <a:latin typeface="Courier New" panose="02070309020205020404" pitchFamily="49" charset="0"/>
                <a:sym typeface="Symbol" panose="05050102010706020507" pitchFamily="18" charset="2"/>
              </a:rPr>
              <a:t>	sub p22, </a:t>
            </a:r>
            <a:r>
              <a:rPr lang="en-US" altLang="en-US" b="1" dirty="0">
                <a:solidFill>
                  <a:schemeClr val="hlink"/>
                </a:solidFill>
                <a:latin typeface="Courier New" panose="02070309020205020404" pitchFamily="49" charset="0"/>
                <a:sym typeface="Symbol" panose="05050102010706020507" pitchFamily="18" charset="2"/>
              </a:rPr>
              <a:t>p11</a:t>
            </a:r>
            <a:r>
              <a:rPr lang="en-US" altLang="en-US" b="1" dirty="0">
                <a:latin typeface="Courier New" panose="02070309020205020404" pitchFamily="49" charset="0"/>
                <a:sym typeface="Symbol" panose="05050102010706020507" pitchFamily="18" charset="2"/>
              </a:rPr>
              <a:t>, p4</a:t>
            </a:r>
            <a:br>
              <a:rPr lang="en-US" altLang="en-US" b="1" dirty="0">
                <a:latin typeface="Courier New" panose="02070309020205020404" pitchFamily="49" charset="0"/>
                <a:sym typeface="Symbol" panose="05050102010706020507" pitchFamily="18" charset="2"/>
              </a:rPr>
            </a:br>
            <a:r>
              <a:rPr lang="en-US" altLang="en-US" b="1" dirty="0" err="1">
                <a:latin typeface="Courier New" panose="02070309020205020404" pitchFamily="49" charset="0"/>
                <a:sym typeface="Symbol" panose="05050102010706020507" pitchFamily="18" charset="2"/>
              </a:rPr>
              <a:t>lw</a:t>
            </a:r>
            <a:r>
              <a:rPr lang="en-US" altLang="en-US" b="1" dirty="0">
                <a:latin typeface="Courier New" panose="02070309020205020404" pitchFamily="49" charset="0"/>
                <a:sym typeface="Symbol" panose="05050102010706020507" pitchFamily="18" charset="2"/>
              </a:rPr>
              <a:t>  </a:t>
            </a:r>
            <a:r>
              <a:rPr lang="en-US" altLang="en-US" b="1" dirty="0">
                <a:solidFill>
                  <a:srgbClr val="0FEFEA"/>
                </a:solidFill>
                <a:latin typeface="Courier New" panose="02070309020205020404" pitchFamily="49" charset="0"/>
                <a:sym typeface="Symbol" panose="05050102010706020507" pitchFamily="18" charset="2"/>
              </a:rPr>
              <a:t>r1</a:t>
            </a:r>
            <a:r>
              <a:rPr lang="en-US" altLang="en-US" b="1" dirty="0">
                <a:latin typeface="Courier New" panose="02070309020205020404" pitchFamily="49" charset="0"/>
              </a:rPr>
              <a:t>, 4(r4)		</a:t>
            </a:r>
            <a:r>
              <a:rPr lang="en-US" altLang="en-US" b="1" dirty="0" err="1">
                <a:latin typeface="Courier New" panose="02070309020205020404" pitchFamily="49" charset="0"/>
              </a:rPr>
              <a:t>lw</a:t>
            </a:r>
            <a:r>
              <a:rPr lang="en-US" altLang="en-US" b="1" dirty="0">
                <a:latin typeface="Courier New" panose="02070309020205020404" pitchFamily="49" charset="0"/>
              </a:rPr>
              <a:t>  </a:t>
            </a:r>
            <a:r>
              <a:rPr lang="en-US" altLang="en-US" b="1" dirty="0">
                <a:solidFill>
                  <a:srgbClr val="0FEFEA"/>
                </a:solidFill>
                <a:latin typeface="Courier New" panose="02070309020205020404" pitchFamily="49" charset="0"/>
              </a:rPr>
              <a:t>p23</a:t>
            </a:r>
            <a:r>
              <a:rPr lang="en-US" altLang="en-US" b="1" dirty="0">
                <a:latin typeface="Courier New" panose="02070309020205020404" pitchFamily="49" charset="0"/>
              </a:rPr>
              <a:t>, 4(p22)</a:t>
            </a:r>
            <a:br>
              <a:rPr lang="en-US" altLang="en-US" b="1" dirty="0">
                <a:latin typeface="Courier New" panose="02070309020205020404" pitchFamily="49" charset="0"/>
              </a:rPr>
            </a:br>
            <a:r>
              <a:rPr lang="en-US" altLang="en-US" b="1" dirty="0">
                <a:latin typeface="Courier New" panose="02070309020205020404" pitchFamily="49" charset="0"/>
              </a:rPr>
              <a:t>add r5, </a:t>
            </a:r>
            <a:r>
              <a:rPr lang="en-US" altLang="en-US" b="1" dirty="0">
                <a:solidFill>
                  <a:srgbClr val="0FEFEA"/>
                </a:solidFill>
                <a:latin typeface="Courier New" panose="02070309020205020404" pitchFamily="49" charset="0"/>
              </a:rPr>
              <a:t>r1</a:t>
            </a:r>
            <a:r>
              <a:rPr lang="en-US" altLang="en-US" b="1" dirty="0">
                <a:latin typeface="Courier New" panose="02070309020205020404" pitchFamily="49" charset="0"/>
              </a:rPr>
              <a:t>, r2		add p12, </a:t>
            </a:r>
            <a:r>
              <a:rPr lang="en-US" altLang="en-US" b="1" dirty="0">
                <a:solidFill>
                  <a:srgbClr val="0FEFEA"/>
                </a:solidFill>
                <a:latin typeface="Courier New" panose="02070309020205020404" pitchFamily="49" charset="0"/>
              </a:rPr>
              <a:t>p23</a:t>
            </a:r>
            <a:r>
              <a:rPr lang="en-US" altLang="en-US" b="1" dirty="0">
                <a:latin typeface="Courier New" panose="02070309020205020404" pitchFamily="49" charset="0"/>
              </a:rPr>
              <a:t>, p4</a:t>
            </a:r>
            <a:endParaRPr lang="en-US" altLang="en-US" dirty="0">
              <a:latin typeface="Courier New" panose="02070309020205020404" pitchFamily="49" charset="0"/>
            </a:endParaRPr>
          </a:p>
          <a:p>
            <a:pPr>
              <a:lnSpc>
                <a:spcPct val="100000"/>
              </a:lnSpc>
              <a:spcBef>
                <a:spcPct val="10000"/>
              </a:spcBef>
              <a:buFont typeface="Wingdings" panose="05000000000000000000" pitchFamily="2" charset="2"/>
              <a:buNone/>
            </a:pPr>
            <a:r>
              <a:rPr lang="en-US" altLang="en-US" dirty="0"/>
              <a:t>	Imagine doing this transformation in a single cycle!</a:t>
            </a:r>
          </a:p>
          <a:p>
            <a:pPr>
              <a:lnSpc>
                <a:spcPct val="100000"/>
              </a:lnSpc>
              <a:spcBef>
                <a:spcPct val="10000"/>
              </a:spcBef>
            </a:pPr>
            <a:r>
              <a:rPr lang="en-US" altLang="en-US" dirty="0"/>
              <a:t>Result buses: Need to complete multiple instructions/cycle</a:t>
            </a:r>
          </a:p>
          <a:p>
            <a:pPr lvl="1">
              <a:lnSpc>
                <a:spcPct val="100000"/>
              </a:lnSpc>
              <a:spcBef>
                <a:spcPct val="10000"/>
              </a:spcBef>
            </a:pPr>
            <a:r>
              <a:rPr lang="en-US" altLang="en-US" dirty="0"/>
              <a:t>So, need multiple buses with associated matching logic at every reservation </a:t>
            </a:r>
            <a:r>
              <a:rPr lang="en-US" altLang="en-US" dirty="0" smtClean="0"/>
              <a:t>station</a:t>
            </a:r>
            <a:endParaRPr lang="en-US" altLang="en-US" dirty="0"/>
          </a:p>
          <a:p>
            <a:pPr lvl="1">
              <a:lnSpc>
                <a:spcPct val="100000"/>
              </a:lnSpc>
              <a:spcBef>
                <a:spcPct val="10000"/>
              </a:spcBef>
            </a:pPr>
            <a:r>
              <a:rPr lang="en-US" altLang="en-US" dirty="0"/>
              <a:t>Or, need multiple forwarding paths			</a:t>
            </a:r>
            <a:endParaRPr lang="zh-CN" altLang="en-US" dirty="0"/>
          </a:p>
        </p:txBody>
      </p:sp>
    </p:spTree>
    <p:extLst>
      <p:ext uri="{BB962C8B-B14F-4D97-AF65-F5344CB8AC3E}">
        <p14:creationId xmlns:p14="http://schemas.microsoft.com/office/powerpoint/2010/main" val="392331163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0210" name="Rectangle 2"/>
          <p:cNvSpPr>
            <a:spLocks noGrp="1" noChangeArrowheads="1"/>
          </p:cNvSpPr>
          <p:nvPr>
            <p:ph type="title"/>
          </p:nvPr>
        </p:nvSpPr>
        <p:spPr>
          <a:xfrm>
            <a:off x="983432" y="620688"/>
            <a:ext cx="8693968" cy="674712"/>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en-US" dirty="0" smtClean="0"/>
              <a:t>Simple 2-issue </a:t>
            </a:r>
            <a:r>
              <a:rPr lang="en-US" altLang="en-US" dirty="0" err="1" smtClean="0"/>
              <a:t>SuperScalar</a:t>
            </a:r>
            <a:endParaRPr lang="en-US" altLang="en-US" dirty="0"/>
          </a:p>
        </p:txBody>
      </p:sp>
      <p:sp>
        <p:nvSpPr>
          <p:cNvPr id="990211" name="Rectangle 3"/>
          <p:cNvSpPr>
            <a:spLocks noGrp="1" noChangeArrowheads="1"/>
          </p:cNvSpPr>
          <p:nvPr>
            <p:ph type="body" idx="1"/>
          </p:nvPr>
        </p:nvSpPr>
        <p:spPr>
          <a:xfrm>
            <a:off x="695400" y="1556792"/>
            <a:ext cx="10873208" cy="453920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spcBef>
                <a:spcPct val="0"/>
              </a:spcBef>
              <a:tabLst>
                <a:tab pos="2057400" algn="ctr"/>
                <a:tab pos="2743200" algn="ctr"/>
                <a:tab pos="3429000" algn="ctr"/>
                <a:tab pos="4114800" algn="ctr"/>
                <a:tab pos="4800600" algn="ctr"/>
                <a:tab pos="5486400" algn="ctr"/>
                <a:tab pos="6172200" algn="ctr"/>
                <a:tab pos="6858000" algn="ctr"/>
              </a:tabLst>
            </a:pPr>
            <a:r>
              <a:rPr lang="en-US" altLang="en-US" dirty="0"/>
              <a:t>Superscalar </a:t>
            </a:r>
            <a:r>
              <a:rPr lang="en-US" altLang="en-US" dirty="0" smtClean="0"/>
              <a:t>RISC32: </a:t>
            </a:r>
            <a:r>
              <a:rPr lang="en-US" altLang="en-US" dirty="0"/>
              <a:t>2 instructions, 1 FP &amp; 1 </a:t>
            </a:r>
            <a:r>
              <a:rPr lang="en-US" altLang="en-US" dirty="0" smtClean="0"/>
              <a:t>anything else</a:t>
            </a:r>
            <a:endParaRPr lang="en-US" altLang="en-US" sz="2400" dirty="0"/>
          </a:p>
          <a:p>
            <a:pPr lvl="1">
              <a:spcBef>
                <a:spcPct val="0"/>
              </a:spcBef>
              <a:buNone/>
              <a:tabLst>
                <a:tab pos="2057400" algn="ctr"/>
                <a:tab pos="2743200" algn="ctr"/>
                <a:tab pos="3429000" algn="ctr"/>
                <a:tab pos="4114800" algn="ctr"/>
                <a:tab pos="4800600" algn="ctr"/>
                <a:tab pos="5486400" algn="ctr"/>
                <a:tab pos="6172200" algn="ctr"/>
                <a:tab pos="6858000" algn="ctr"/>
              </a:tabLst>
            </a:pPr>
            <a:r>
              <a:rPr lang="en-US" altLang="en-US" dirty="0"/>
              <a:t>– Fetch 64-bits/clock cycle; </a:t>
            </a:r>
            <a:r>
              <a:rPr lang="en-US" altLang="en-US" dirty="0" err="1"/>
              <a:t>Int</a:t>
            </a:r>
            <a:r>
              <a:rPr lang="en-US" altLang="en-US" dirty="0"/>
              <a:t> on left, FP on right</a:t>
            </a:r>
          </a:p>
          <a:p>
            <a:pPr lvl="1">
              <a:spcBef>
                <a:spcPct val="0"/>
              </a:spcBef>
              <a:buNone/>
              <a:tabLst>
                <a:tab pos="2057400" algn="ctr"/>
                <a:tab pos="2743200" algn="ctr"/>
                <a:tab pos="3429000" algn="ctr"/>
                <a:tab pos="4114800" algn="ctr"/>
                <a:tab pos="4800600" algn="ctr"/>
                <a:tab pos="5486400" algn="ctr"/>
                <a:tab pos="6172200" algn="ctr"/>
                <a:tab pos="6858000" algn="ctr"/>
              </a:tabLst>
            </a:pPr>
            <a:r>
              <a:rPr lang="en-US" altLang="en-US" dirty="0"/>
              <a:t>– Can only issue 2nd instruction if 1st instruction issues</a:t>
            </a:r>
          </a:p>
          <a:p>
            <a:pPr lvl="1">
              <a:spcBef>
                <a:spcPct val="0"/>
              </a:spcBef>
              <a:buNone/>
              <a:tabLst>
                <a:tab pos="2057400" algn="ctr"/>
                <a:tab pos="2743200" algn="ctr"/>
                <a:tab pos="3429000" algn="ctr"/>
                <a:tab pos="4114800" algn="ctr"/>
                <a:tab pos="4800600" algn="ctr"/>
                <a:tab pos="5486400" algn="ctr"/>
                <a:tab pos="6172200" algn="ctr"/>
                <a:tab pos="6858000" algn="ctr"/>
              </a:tabLst>
            </a:pPr>
            <a:r>
              <a:rPr lang="en-US" altLang="en-US" dirty="0"/>
              <a:t>– More ports for FP registers to do FP load &amp; FP op in a pair</a:t>
            </a:r>
          </a:p>
          <a:p>
            <a:pPr>
              <a:spcBef>
                <a:spcPct val="0"/>
              </a:spcBef>
              <a:buNone/>
              <a:tabLst>
                <a:tab pos="2057400" algn="ctr"/>
                <a:tab pos="2743200" algn="ctr"/>
                <a:tab pos="3429000" algn="ctr"/>
                <a:tab pos="4114800" algn="ctr"/>
                <a:tab pos="4800600" algn="ctr"/>
                <a:tab pos="5486400" algn="ctr"/>
                <a:tab pos="6172200" algn="ctr"/>
                <a:tab pos="6858000" algn="ctr"/>
              </a:tabLst>
            </a:pPr>
            <a:r>
              <a:rPr lang="en-US" altLang="en-US" sz="2400" i="1" dirty="0"/>
              <a:t>	Type		Pipe	Stages		</a:t>
            </a:r>
            <a:r>
              <a:rPr lang="en-US" altLang="en-US" sz="2400" dirty="0"/>
              <a:t>				</a:t>
            </a:r>
          </a:p>
          <a:p>
            <a:pPr>
              <a:spcBef>
                <a:spcPct val="0"/>
              </a:spcBef>
              <a:buNone/>
              <a:tabLst>
                <a:tab pos="2057400" algn="ctr"/>
                <a:tab pos="2743200" algn="ctr"/>
                <a:tab pos="3429000" algn="ctr"/>
                <a:tab pos="4114800" algn="ctr"/>
                <a:tab pos="4800600" algn="ctr"/>
                <a:tab pos="5486400" algn="ctr"/>
                <a:tab pos="6172200" algn="ctr"/>
                <a:tab pos="6858000" algn="ctr"/>
              </a:tabLst>
            </a:pPr>
            <a:r>
              <a:rPr lang="en-US" altLang="en-US" sz="2400" dirty="0"/>
              <a:t>	Int. instruction	IF	ID	EX	MEM	WB			</a:t>
            </a:r>
          </a:p>
          <a:p>
            <a:pPr>
              <a:spcBef>
                <a:spcPct val="0"/>
              </a:spcBef>
              <a:buNone/>
              <a:tabLst>
                <a:tab pos="2057400" algn="ctr"/>
                <a:tab pos="2743200" algn="ctr"/>
                <a:tab pos="3429000" algn="ctr"/>
                <a:tab pos="4114800" algn="ctr"/>
                <a:tab pos="4800600" algn="ctr"/>
                <a:tab pos="5486400" algn="ctr"/>
                <a:tab pos="6172200" algn="ctr"/>
                <a:tab pos="6858000" algn="ctr"/>
              </a:tabLst>
            </a:pPr>
            <a:r>
              <a:rPr lang="en-US" altLang="en-US" sz="2400" dirty="0">
                <a:solidFill>
                  <a:schemeClr val="accent2"/>
                </a:solidFill>
              </a:rPr>
              <a:t>	</a:t>
            </a:r>
            <a:r>
              <a:rPr lang="en-US" altLang="en-US" sz="2400" dirty="0">
                <a:solidFill>
                  <a:srgbClr val="FF0000"/>
                </a:solidFill>
              </a:rPr>
              <a:t>FP instruction		IF	ID	EX	MEM	WB</a:t>
            </a:r>
            <a:r>
              <a:rPr lang="en-US" altLang="en-US" sz="2400" dirty="0"/>
              <a:t>			</a:t>
            </a:r>
          </a:p>
          <a:p>
            <a:pPr>
              <a:spcBef>
                <a:spcPct val="0"/>
              </a:spcBef>
              <a:buNone/>
              <a:tabLst>
                <a:tab pos="2057400" algn="ctr"/>
                <a:tab pos="2743200" algn="ctr"/>
                <a:tab pos="3429000" algn="ctr"/>
                <a:tab pos="4114800" algn="ctr"/>
                <a:tab pos="4800600" algn="ctr"/>
                <a:tab pos="5486400" algn="ctr"/>
                <a:tab pos="6172200" algn="ctr"/>
                <a:tab pos="6858000" algn="ctr"/>
              </a:tabLst>
            </a:pPr>
            <a:r>
              <a:rPr lang="en-US" altLang="en-US" sz="2400" dirty="0"/>
              <a:t>	Int. instruction		IF	ID	EX	MEM	WB		</a:t>
            </a:r>
          </a:p>
          <a:p>
            <a:pPr>
              <a:spcBef>
                <a:spcPct val="0"/>
              </a:spcBef>
              <a:buNone/>
              <a:tabLst>
                <a:tab pos="2057400" algn="ctr"/>
                <a:tab pos="2743200" algn="ctr"/>
                <a:tab pos="3429000" algn="ctr"/>
                <a:tab pos="4114800" algn="ctr"/>
                <a:tab pos="4800600" algn="ctr"/>
                <a:tab pos="5486400" algn="ctr"/>
                <a:tab pos="6172200" algn="ctr"/>
                <a:tab pos="6858000" algn="ctr"/>
              </a:tabLst>
            </a:pPr>
            <a:r>
              <a:rPr lang="en-US" altLang="en-US" sz="2400" dirty="0">
                <a:solidFill>
                  <a:schemeClr val="accent2"/>
                </a:solidFill>
              </a:rPr>
              <a:t>	</a:t>
            </a:r>
            <a:r>
              <a:rPr lang="en-US" altLang="en-US" sz="2400" dirty="0">
                <a:solidFill>
                  <a:srgbClr val="FF0000"/>
                </a:solidFill>
              </a:rPr>
              <a:t>FP instruction			IF	ID	EX	MEM	WB</a:t>
            </a:r>
            <a:r>
              <a:rPr lang="en-US" altLang="en-US" sz="2400" dirty="0"/>
              <a:t>		</a:t>
            </a:r>
          </a:p>
          <a:p>
            <a:pPr>
              <a:spcBef>
                <a:spcPct val="0"/>
              </a:spcBef>
              <a:buNone/>
              <a:tabLst>
                <a:tab pos="2057400" algn="ctr"/>
                <a:tab pos="2743200" algn="ctr"/>
                <a:tab pos="3429000" algn="ctr"/>
                <a:tab pos="4114800" algn="ctr"/>
                <a:tab pos="4800600" algn="ctr"/>
                <a:tab pos="5486400" algn="ctr"/>
                <a:tab pos="6172200" algn="ctr"/>
                <a:tab pos="6858000" algn="ctr"/>
              </a:tabLst>
            </a:pPr>
            <a:r>
              <a:rPr lang="en-US" altLang="en-US" sz="2400" dirty="0"/>
              <a:t>	Int. instruction			IF	ID	EX	MEM	WB	</a:t>
            </a:r>
          </a:p>
          <a:p>
            <a:pPr>
              <a:spcBef>
                <a:spcPct val="0"/>
              </a:spcBef>
              <a:buNone/>
              <a:tabLst>
                <a:tab pos="2057400" algn="ctr"/>
                <a:tab pos="2743200" algn="ctr"/>
                <a:tab pos="3429000" algn="ctr"/>
                <a:tab pos="4114800" algn="ctr"/>
                <a:tab pos="4800600" algn="ctr"/>
                <a:tab pos="5486400" algn="ctr"/>
                <a:tab pos="6172200" algn="ctr"/>
                <a:tab pos="6858000" algn="ctr"/>
              </a:tabLst>
            </a:pPr>
            <a:r>
              <a:rPr lang="en-US" altLang="en-US" sz="2400" dirty="0">
                <a:solidFill>
                  <a:schemeClr val="accent2"/>
                </a:solidFill>
              </a:rPr>
              <a:t>	</a:t>
            </a:r>
            <a:r>
              <a:rPr lang="en-US" altLang="en-US" sz="2400" dirty="0">
                <a:solidFill>
                  <a:srgbClr val="FF0000"/>
                </a:solidFill>
              </a:rPr>
              <a:t>FP instruction				IF	ID	EX	MEM	WB</a:t>
            </a:r>
            <a:endParaRPr lang="en-US" altLang="en-US" sz="2400" dirty="0">
              <a:solidFill>
                <a:schemeClr val="accent2"/>
              </a:solidFill>
            </a:endParaRPr>
          </a:p>
          <a:p>
            <a:pPr>
              <a:spcBef>
                <a:spcPct val="0"/>
              </a:spcBef>
              <a:tabLst>
                <a:tab pos="2057400" algn="ctr"/>
                <a:tab pos="2743200" algn="ctr"/>
                <a:tab pos="3429000" algn="ctr"/>
                <a:tab pos="4114800" algn="ctr"/>
                <a:tab pos="4800600" algn="ctr"/>
                <a:tab pos="5486400" algn="ctr"/>
                <a:tab pos="6172200" algn="ctr"/>
                <a:tab pos="6858000" algn="ctr"/>
              </a:tabLst>
            </a:pPr>
            <a:r>
              <a:rPr lang="en-US" altLang="en-US" dirty="0"/>
              <a:t> 1 cycle load delay expands to </a:t>
            </a:r>
            <a:r>
              <a:rPr lang="en-US" altLang="en-US" dirty="0">
                <a:solidFill>
                  <a:schemeClr val="hlink"/>
                </a:solidFill>
              </a:rPr>
              <a:t>3 instructions</a:t>
            </a:r>
            <a:r>
              <a:rPr lang="en-US" altLang="en-US" dirty="0"/>
              <a:t> in SS</a:t>
            </a:r>
            <a:endParaRPr lang="en-US" altLang="en-US" sz="2400" dirty="0"/>
          </a:p>
          <a:p>
            <a:pPr lvl="1">
              <a:spcBef>
                <a:spcPct val="0"/>
              </a:spcBef>
              <a:tabLst>
                <a:tab pos="2057400" algn="ctr"/>
                <a:tab pos="2743200" algn="ctr"/>
                <a:tab pos="3429000" algn="ctr"/>
                <a:tab pos="4114800" algn="ctr"/>
                <a:tab pos="4800600" algn="ctr"/>
                <a:tab pos="5486400" algn="ctr"/>
                <a:tab pos="6172200" algn="ctr"/>
                <a:tab pos="6858000" algn="ctr"/>
              </a:tabLst>
            </a:pPr>
            <a:r>
              <a:rPr lang="en-US" altLang="en-US" dirty="0"/>
              <a:t>instruction in right half can’t use it, nor instructions in next </a:t>
            </a:r>
            <a:r>
              <a:rPr lang="en-US" altLang="en-US" dirty="0" smtClean="0"/>
              <a:t>slot</a:t>
            </a:r>
          </a:p>
          <a:p>
            <a:pPr>
              <a:spcBef>
                <a:spcPct val="0"/>
              </a:spcBef>
              <a:tabLst>
                <a:tab pos="2057400" algn="ctr"/>
                <a:tab pos="2743200" algn="ctr"/>
                <a:tab pos="3429000" algn="ctr"/>
                <a:tab pos="4114800" algn="ctr"/>
                <a:tab pos="4800600" algn="ctr"/>
                <a:tab pos="5486400" algn="ctr"/>
                <a:tab pos="6172200" algn="ctr"/>
                <a:tab pos="6858000" algn="ctr"/>
              </a:tabLst>
            </a:pPr>
            <a:r>
              <a:rPr lang="en-US" altLang="en-US" dirty="0" smtClean="0"/>
              <a:t>Need speculated execution based on precise branch prediction</a:t>
            </a:r>
            <a:endParaRPr lang="en-US" altLang="en-US" dirty="0"/>
          </a:p>
        </p:txBody>
      </p:sp>
    </p:spTree>
    <p:extLst>
      <p:ext uri="{BB962C8B-B14F-4D97-AF65-F5344CB8AC3E}">
        <p14:creationId xmlns:p14="http://schemas.microsoft.com/office/powerpoint/2010/main" val="204538331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902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99021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99021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990211">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990211">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990211">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990211">
                                            <p:txEl>
                                              <p:pRg st="6" end="6"/>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990211">
                                            <p:txEl>
                                              <p:pRg st="7" end="7"/>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990211">
                                            <p:txEl>
                                              <p:pRg st="8" end="8"/>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990211">
                                            <p:txEl>
                                              <p:pRg st="9" end="9"/>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990211">
                                            <p:txEl>
                                              <p:pRg st="10" end="10"/>
                                            </p:txEl>
                                          </p:spTgt>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499"/>
                                          </p:stCondLst>
                                        </p:cTn>
                                        <p:tgtEl>
                                          <p:spTgt spid="990211">
                                            <p:txEl>
                                              <p:pRg st="11" end="11"/>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499"/>
                                          </p:stCondLst>
                                        </p:cTn>
                                        <p:tgtEl>
                                          <p:spTgt spid="990211">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990211">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0211" grpId="0" build="p" autoUpdateAnimBg="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Multiple </a:t>
            </a:r>
            <a:r>
              <a:rPr lang="en-US" dirty="0"/>
              <a:t>issue processor with speculation</a:t>
            </a:r>
          </a:p>
        </p:txBody>
      </p:sp>
      <p:sp>
        <p:nvSpPr>
          <p:cNvPr id="2" name="内容占位符 1"/>
          <p:cNvSpPr>
            <a:spLocks noGrp="1"/>
          </p:cNvSpPr>
          <p:nvPr>
            <p:ph idx="1"/>
          </p:nvPr>
        </p:nvSpPr>
        <p:spPr>
          <a:xfrm>
            <a:off x="443745" y="1629129"/>
            <a:ext cx="5436231" cy="5112568"/>
          </a:xfrm>
        </p:spPr>
        <p:txBody>
          <a:bodyPr/>
          <a:lstStyle/>
          <a:p>
            <a:r>
              <a:rPr lang="en-US" altLang="zh-CN" dirty="0"/>
              <a:t>T</a:t>
            </a:r>
            <a:r>
              <a:rPr lang="en-US" altLang="zh-CN" dirty="0" smtClean="0"/>
              <a:t>he organization allows </a:t>
            </a:r>
            <a:r>
              <a:rPr lang="en-US" altLang="zh-CN" dirty="0"/>
              <a:t>a FP multiply, FP add, integer, and load/store to all issues simultaneously </a:t>
            </a:r>
            <a:endParaRPr lang="en-US" altLang="zh-CN" dirty="0" smtClean="0"/>
          </a:p>
          <a:p>
            <a:pPr lvl="1"/>
            <a:r>
              <a:rPr lang="en-US" altLang="zh-CN" dirty="0" smtClean="0"/>
              <a:t>Assuming </a:t>
            </a:r>
            <a:r>
              <a:rPr lang="en-US" altLang="zh-CN" dirty="0"/>
              <a:t>one issue per clock </a:t>
            </a:r>
            <a:r>
              <a:rPr lang="en-US" altLang="zh-CN" dirty="0" smtClean="0"/>
              <a:t/>
            </a:r>
            <a:br>
              <a:rPr lang="en-US" altLang="zh-CN" dirty="0" smtClean="0"/>
            </a:br>
            <a:r>
              <a:rPr lang="en-US" altLang="zh-CN" dirty="0" smtClean="0"/>
              <a:t>per </a:t>
            </a:r>
            <a:r>
              <a:rPr lang="en-US" altLang="zh-CN" dirty="0"/>
              <a:t>functional </a:t>
            </a:r>
            <a:r>
              <a:rPr lang="en-US" altLang="zh-CN" dirty="0" smtClean="0"/>
              <a:t>unit)</a:t>
            </a:r>
          </a:p>
          <a:p>
            <a:r>
              <a:rPr lang="en-US" altLang="zh-CN" dirty="0" smtClean="0"/>
              <a:t>Several </a:t>
            </a:r>
            <a:r>
              <a:rPr lang="en-US" altLang="zh-CN" dirty="0" err="1"/>
              <a:t>datapaths</a:t>
            </a:r>
            <a:r>
              <a:rPr lang="en-US" altLang="zh-CN" dirty="0"/>
              <a:t> must be widened to support multiple </a:t>
            </a:r>
            <a:r>
              <a:rPr lang="en-US" altLang="zh-CN" dirty="0" smtClean="0"/>
              <a:t>issues</a:t>
            </a:r>
          </a:p>
          <a:p>
            <a:pPr lvl="1"/>
            <a:r>
              <a:rPr lang="en-US" altLang="zh-CN" dirty="0" smtClean="0"/>
              <a:t>CDB and the </a:t>
            </a:r>
            <a:r>
              <a:rPr lang="en-US" altLang="zh-CN" dirty="0"/>
              <a:t>operand </a:t>
            </a:r>
            <a:r>
              <a:rPr lang="en-US" altLang="zh-CN" dirty="0" smtClean="0"/>
              <a:t>buses</a:t>
            </a:r>
          </a:p>
          <a:p>
            <a:r>
              <a:rPr lang="en-US" altLang="en-US" dirty="0" smtClean="0"/>
              <a:t>Instruction </a:t>
            </a:r>
            <a:r>
              <a:rPr lang="en-US" altLang="en-US" dirty="0"/>
              <a:t>issue </a:t>
            </a:r>
            <a:r>
              <a:rPr lang="en-US" altLang="en-US" dirty="0" smtClean="0"/>
              <a:t>logic </a:t>
            </a:r>
            <a:r>
              <a:rPr lang="en-US" altLang="en-US" dirty="0"/>
              <a:t>not shown</a:t>
            </a:r>
            <a:endParaRPr lang="zh-CN" altLang="en-US" dirty="0"/>
          </a:p>
        </p:txBody>
      </p:sp>
      <p:pic>
        <p:nvPicPr>
          <p:cNvPr id="3" name="图片 2"/>
          <p:cNvPicPr>
            <a:picLocks noChangeAspect="1"/>
          </p:cNvPicPr>
          <p:nvPr/>
        </p:nvPicPr>
        <p:blipFill>
          <a:blip r:embed="rId3"/>
          <a:stretch>
            <a:fillRect/>
          </a:stretch>
        </p:blipFill>
        <p:spPr>
          <a:xfrm>
            <a:off x="5701545" y="1484784"/>
            <a:ext cx="6455535" cy="5279649"/>
          </a:xfrm>
          <a:prstGeom prst="rect">
            <a:avLst/>
          </a:prstGeom>
        </p:spPr>
      </p:pic>
    </p:spTree>
    <p:extLst>
      <p:ext uri="{BB962C8B-B14F-4D97-AF65-F5344CB8AC3E}">
        <p14:creationId xmlns:p14="http://schemas.microsoft.com/office/powerpoint/2010/main" val="1769723381"/>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Issue Logic</a:t>
            </a:r>
            <a:endParaRPr lang="zh-CN" altLang="en-US" dirty="0"/>
          </a:p>
        </p:txBody>
      </p:sp>
      <p:sp>
        <p:nvSpPr>
          <p:cNvPr id="4" name="内容占位符 3"/>
          <p:cNvSpPr>
            <a:spLocks noGrp="1"/>
          </p:cNvSpPr>
          <p:nvPr>
            <p:ph idx="1"/>
          </p:nvPr>
        </p:nvSpPr>
        <p:spPr>
          <a:xfrm>
            <a:off x="335360" y="1643016"/>
            <a:ext cx="5328592" cy="5112568"/>
          </a:xfrm>
        </p:spPr>
        <p:txBody>
          <a:bodyPr/>
          <a:lstStyle/>
          <a:p>
            <a:r>
              <a:rPr lang="en-US" altLang="zh-CN" dirty="0" smtClean="0"/>
              <a:t>For two dependent instructions</a:t>
            </a:r>
          </a:p>
          <a:p>
            <a:pPr marL="914400" lvl="1" indent="-457200">
              <a:buFont typeface="+mj-lt"/>
              <a:buAutoNum type="arabicPeriod"/>
            </a:pPr>
            <a:r>
              <a:rPr lang="en-US" altLang="zh-CN" dirty="0" smtClean="0"/>
              <a:t>FP load</a:t>
            </a:r>
          </a:p>
          <a:p>
            <a:pPr marL="914400" lvl="1" indent="-457200">
              <a:buFont typeface="+mj-lt"/>
              <a:buAutoNum type="arabicPeriod"/>
            </a:pPr>
            <a:r>
              <a:rPr lang="en-US" altLang="zh-CN" dirty="0" smtClean="0"/>
              <a:t>FP operation using load result</a:t>
            </a:r>
          </a:p>
          <a:p>
            <a:r>
              <a:rPr lang="en-US" altLang="zh-CN" dirty="0" smtClean="0"/>
              <a:t>Notations</a:t>
            </a:r>
          </a:p>
          <a:p>
            <a:pPr lvl="1"/>
            <a:r>
              <a:rPr lang="en-US" altLang="zh-CN" dirty="0" smtClean="0"/>
              <a:t>x1/x2: reservation stations</a:t>
            </a:r>
          </a:p>
          <a:p>
            <a:pPr lvl="1"/>
            <a:r>
              <a:rPr lang="en-US" altLang="zh-CN" dirty="0" smtClean="0"/>
              <a:t>b1/b2: reorder buffer entries</a:t>
            </a:r>
          </a:p>
          <a:p>
            <a:pPr lvl="1"/>
            <a:r>
              <a:rPr lang="en-US" altLang="zh-CN" dirty="0" smtClean="0"/>
              <a:t>rd1/rd2: destination registers</a:t>
            </a:r>
          </a:p>
          <a:p>
            <a:pPr lvl="1"/>
            <a:r>
              <a:rPr lang="en-US" altLang="zh-CN" dirty="0" smtClean="0"/>
              <a:t>rs1/rs2/rt2: source registers</a:t>
            </a:r>
          </a:p>
          <a:p>
            <a:pPr lvl="1"/>
            <a:r>
              <a:rPr lang="en-US" altLang="zh-CN" dirty="0" smtClean="0"/>
              <a:t>RS: reservation station data structure</a:t>
            </a:r>
            <a:endParaRPr lang="zh-CN" altLang="en-US" dirty="0"/>
          </a:p>
        </p:txBody>
      </p:sp>
      <p:pic>
        <p:nvPicPr>
          <p:cNvPr id="3" name="图片 2"/>
          <p:cNvPicPr>
            <a:picLocks noChangeAspect="1"/>
          </p:cNvPicPr>
          <p:nvPr/>
        </p:nvPicPr>
        <p:blipFill>
          <a:blip r:embed="rId3"/>
          <a:stretch>
            <a:fillRect/>
          </a:stretch>
        </p:blipFill>
        <p:spPr>
          <a:xfrm>
            <a:off x="5663952" y="116632"/>
            <a:ext cx="6271772" cy="6642256"/>
          </a:xfrm>
          <a:prstGeom prst="rect">
            <a:avLst/>
          </a:prstGeom>
        </p:spPr>
      </p:pic>
    </p:spTree>
    <p:extLst>
      <p:ext uri="{BB962C8B-B14F-4D97-AF65-F5344CB8AC3E}">
        <p14:creationId xmlns:p14="http://schemas.microsoft.com/office/powerpoint/2010/main" val="245429000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1" name="Rectangle 3"/>
          <p:cNvSpPr>
            <a:spLocks noGrp="1" noChangeArrowheads="1"/>
          </p:cNvSpPr>
          <p:nvPr>
            <p:ph type="body" idx="1"/>
          </p:nvPr>
        </p:nvSpPr>
        <p:spPr>
          <a:xfrm>
            <a:off x="838200" y="1556792"/>
            <a:ext cx="10946432" cy="5112568"/>
          </a:xfrm>
        </p:spPr>
        <p:txBody>
          <a:bodyPr/>
          <a:lstStyle/>
          <a:p>
            <a:r>
              <a:rPr lang="en-US" altLang="zh-CN" dirty="0"/>
              <a:t>Assign a reservation station and a reorder buffer for every instruction that </a:t>
            </a:r>
            <a:r>
              <a:rPr lang="en-US" altLang="zh-CN" dirty="0" smtClean="0"/>
              <a:t>might be </a:t>
            </a:r>
            <a:r>
              <a:rPr lang="en-US" altLang="zh-CN" dirty="0"/>
              <a:t>issued in the next issue </a:t>
            </a:r>
            <a:r>
              <a:rPr lang="en-US" altLang="zh-CN" dirty="0" smtClean="0"/>
              <a:t>bundle</a:t>
            </a:r>
          </a:p>
          <a:p>
            <a:r>
              <a:rPr lang="en-US" dirty="0" smtClean="0"/>
              <a:t>Examine all the dependencies among the instructions in the bundle. If dependencies exist in bundle, encode them in RS</a:t>
            </a:r>
          </a:p>
          <a:p>
            <a:pPr lvl="1"/>
            <a:r>
              <a:rPr lang="en-US" dirty="0"/>
              <a:t>If </a:t>
            </a:r>
            <a:r>
              <a:rPr lang="en-US" dirty="0" smtClean="0"/>
              <a:t>depends </a:t>
            </a:r>
            <a:r>
              <a:rPr lang="en-US" dirty="0"/>
              <a:t>on an earlier instruction in the </a:t>
            </a:r>
            <a:r>
              <a:rPr lang="en-US" dirty="0" smtClean="0"/>
              <a:t>bundle, use </a:t>
            </a:r>
            <a:r>
              <a:rPr lang="en-US" dirty="0"/>
              <a:t>the assigned </a:t>
            </a:r>
            <a:r>
              <a:rPr lang="en-US" dirty="0" smtClean="0"/>
              <a:t>ROB </a:t>
            </a:r>
            <a:r>
              <a:rPr lang="en-US" dirty="0"/>
              <a:t>number to update the reservation table </a:t>
            </a:r>
            <a:r>
              <a:rPr lang="en-US" dirty="0" smtClean="0"/>
              <a:t>for the </a:t>
            </a:r>
            <a:r>
              <a:rPr lang="en-US" dirty="0"/>
              <a:t>dependent </a:t>
            </a:r>
            <a:r>
              <a:rPr lang="en-US" dirty="0" smtClean="0"/>
              <a:t>instruction</a:t>
            </a:r>
          </a:p>
          <a:p>
            <a:pPr lvl="1"/>
            <a:r>
              <a:rPr lang="en-US" dirty="0" smtClean="0"/>
              <a:t>Otherwise</a:t>
            </a:r>
            <a:r>
              <a:rPr lang="en-US" dirty="0"/>
              <a:t>, use the existing reservation table </a:t>
            </a:r>
            <a:r>
              <a:rPr lang="en-US" dirty="0" smtClean="0"/>
              <a:t>and ROB </a:t>
            </a:r>
            <a:r>
              <a:rPr lang="en-US" dirty="0"/>
              <a:t>information to update the reservation table entries for the </a:t>
            </a:r>
            <a:r>
              <a:rPr lang="en-US" dirty="0" smtClean="0"/>
              <a:t>issuing instruction</a:t>
            </a:r>
            <a:endParaRPr lang="en-US" dirty="0"/>
          </a:p>
          <a:p>
            <a:pPr>
              <a:lnSpc>
                <a:spcPct val="90000"/>
              </a:lnSpc>
            </a:pPr>
            <a:r>
              <a:rPr lang="en-US" dirty="0" smtClean="0"/>
              <a:t>Also need to handle multiple completion/commit</a:t>
            </a:r>
          </a:p>
          <a:p>
            <a:pPr>
              <a:lnSpc>
                <a:spcPct val="90000"/>
              </a:lnSpc>
            </a:pPr>
            <a:r>
              <a:rPr lang="en-US" dirty="0" smtClean="0"/>
              <a:t>To simplify RS allocation:</a:t>
            </a:r>
          </a:p>
          <a:p>
            <a:pPr lvl="1">
              <a:lnSpc>
                <a:spcPct val="90000"/>
              </a:lnSpc>
            </a:pPr>
            <a:r>
              <a:rPr lang="en-US" dirty="0" smtClean="0"/>
              <a:t>Limit </a:t>
            </a:r>
            <a:r>
              <a:rPr lang="en-US" dirty="0"/>
              <a:t>the number of instructions of a given class that can be issued in a “bundle</a:t>
            </a:r>
            <a:r>
              <a:rPr lang="en-US" dirty="0" smtClean="0"/>
              <a:t>”, i.e</a:t>
            </a:r>
            <a:r>
              <a:rPr lang="en-US" dirty="0"/>
              <a:t>. on FP, one integer, one load, one store</a:t>
            </a:r>
          </a:p>
          <a:p>
            <a:pPr>
              <a:lnSpc>
                <a:spcPct val="90000"/>
              </a:lnSpc>
            </a:pPr>
            <a:endParaRPr lang="en-US" dirty="0" smtClean="0"/>
          </a:p>
        </p:txBody>
      </p:sp>
      <p:sp>
        <p:nvSpPr>
          <p:cNvPr id="6" name="Title 5"/>
          <p:cNvSpPr>
            <a:spLocks noGrp="1"/>
          </p:cNvSpPr>
          <p:nvPr>
            <p:ph type="title"/>
          </p:nvPr>
        </p:nvSpPr>
        <p:spPr/>
        <p:txBody>
          <a:bodyPr/>
          <a:lstStyle/>
          <a:p>
            <a:r>
              <a:rPr lang="en-US" dirty="0" smtClean="0"/>
              <a:t>Multiple Issue Steps</a:t>
            </a:r>
            <a:endParaRPr lang="en-US" dirty="0"/>
          </a:p>
        </p:txBody>
      </p:sp>
    </p:spTree>
    <p:extLst>
      <p:ext uri="{BB962C8B-B14F-4D97-AF65-F5344CB8AC3E}">
        <p14:creationId xmlns:p14="http://schemas.microsoft.com/office/powerpoint/2010/main" val="4211397021"/>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1" name="Rectangle 3"/>
          <p:cNvSpPr>
            <a:spLocks noGrp="1" noChangeArrowheads="1"/>
          </p:cNvSpPr>
          <p:nvPr>
            <p:ph type="body" idx="1"/>
          </p:nvPr>
        </p:nvSpPr>
        <p:spPr/>
        <p:txBody>
          <a:bodyPr/>
          <a:lstStyle/>
          <a:p>
            <a:r>
              <a:rPr lang="en-US" dirty="0"/>
              <a:t>Loop increments each element of </a:t>
            </a:r>
            <a:r>
              <a:rPr lang="en-US" dirty="0" smtClean="0"/>
              <a:t>an integer </a:t>
            </a:r>
            <a:r>
              <a:rPr lang="en-US" dirty="0"/>
              <a:t>array</a:t>
            </a:r>
            <a:endParaRPr lang="en-US" dirty="0" smtClean="0"/>
          </a:p>
          <a:p>
            <a:pPr marL="0" indent="0">
              <a:buNone/>
            </a:pPr>
            <a:r>
              <a:rPr lang="en-US" sz="2400" b="1" dirty="0" smtClean="0">
                <a:latin typeface="Courier New" panose="02070309020205020404" pitchFamily="49" charset="0"/>
                <a:cs typeface="Courier New" panose="02070309020205020404" pitchFamily="49" charset="0"/>
              </a:rPr>
              <a:t>	Loop</a:t>
            </a: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ld</a:t>
            </a:r>
            <a:r>
              <a:rPr lang="en-US" sz="2400" b="1" dirty="0">
                <a:latin typeface="Courier New" panose="02070309020205020404" pitchFamily="49" charset="0"/>
                <a:cs typeface="Courier New" panose="02070309020205020404" pitchFamily="49" charset="0"/>
              </a:rPr>
              <a:t> x2,0(x1)		//x2=array element</a:t>
            </a:r>
          </a:p>
          <a:p>
            <a:pPr marL="0" indent="0">
              <a:buNone/>
            </a:pPr>
            <a:r>
              <a:rPr lang="en-US" sz="2400" b="1" dirty="0">
                <a:latin typeface="Courier New" panose="02070309020205020404" pitchFamily="49" charset="0"/>
                <a:cs typeface="Courier New" panose="02070309020205020404" pitchFamily="49" charset="0"/>
              </a:rPr>
              <a:t>	</a:t>
            </a:r>
            <a:r>
              <a:rPr lang="en-US" sz="2400" b="1" dirty="0" smtClean="0">
                <a:latin typeface="Courier New" panose="02070309020205020404" pitchFamily="49" charset="0"/>
                <a:cs typeface="Courier New" panose="02070309020205020404" pitchFamily="49" charset="0"/>
              </a:rPr>
              <a:t>	</a:t>
            </a:r>
            <a:r>
              <a:rPr lang="en-US" sz="2400" b="1" dirty="0" err="1" smtClean="0">
                <a:latin typeface="Courier New" panose="02070309020205020404" pitchFamily="49" charset="0"/>
                <a:cs typeface="Courier New" panose="02070309020205020404" pitchFamily="49" charset="0"/>
              </a:rPr>
              <a:t>addi</a:t>
            </a:r>
            <a:r>
              <a:rPr lang="en-US" sz="2400" b="1" dirty="0" smtClean="0">
                <a:latin typeface="Courier New" panose="02070309020205020404" pitchFamily="49" charset="0"/>
                <a:cs typeface="Courier New" panose="02070309020205020404" pitchFamily="49" charset="0"/>
              </a:rPr>
              <a:t> </a:t>
            </a:r>
            <a:r>
              <a:rPr lang="en-US" sz="2400" b="1" dirty="0">
                <a:latin typeface="Courier New" panose="02070309020205020404" pitchFamily="49" charset="0"/>
                <a:cs typeface="Courier New" panose="02070309020205020404" pitchFamily="49" charset="0"/>
              </a:rPr>
              <a:t>x2,x2,1		//increment </a:t>
            </a:r>
            <a:r>
              <a:rPr lang="en-US" sz="2400" b="1" dirty="0" smtClean="0">
                <a:latin typeface="Courier New" panose="02070309020205020404" pitchFamily="49" charset="0"/>
                <a:cs typeface="Courier New" panose="02070309020205020404" pitchFamily="49" charset="0"/>
              </a:rPr>
              <a:t>x2 by 1</a:t>
            </a:r>
            <a:endParaRPr lang="en-US" sz="2400" b="1" dirty="0">
              <a:latin typeface="Courier New" panose="02070309020205020404" pitchFamily="49" charset="0"/>
              <a:cs typeface="Courier New" panose="02070309020205020404" pitchFamily="49" charset="0"/>
            </a:endParaRPr>
          </a:p>
          <a:p>
            <a:pPr marL="0" indent="0">
              <a:buNone/>
            </a:pPr>
            <a:r>
              <a:rPr lang="en-US" sz="2400" b="1" dirty="0">
                <a:latin typeface="Courier New" panose="02070309020205020404" pitchFamily="49" charset="0"/>
                <a:cs typeface="Courier New" panose="02070309020205020404" pitchFamily="49" charset="0"/>
              </a:rPr>
              <a:t>	</a:t>
            </a:r>
            <a:r>
              <a:rPr lang="en-US" sz="2400" b="1" dirty="0" smtClean="0">
                <a:latin typeface="Courier New" panose="02070309020205020404" pitchFamily="49" charset="0"/>
                <a:cs typeface="Courier New" panose="02070309020205020404" pitchFamily="49" charset="0"/>
              </a:rPr>
              <a:t>	</a:t>
            </a:r>
            <a:r>
              <a:rPr lang="en-US" sz="2400" b="1" dirty="0" err="1" smtClean="0">
                <a:latin typeface="Courier New" panose="02070309020205020404" pitchFamily="49" charset="0"/>
                <a:cs typeface="Courier New" panose="02070309020205020404" pitchFamily="49" charset="0"/>
              </a:rPr>
              <a:t>sd</a:t>
            </a:r>
            <a:r>
              <a:rPr lang="en-US" sz="2400" b="1" dirty="0" smtClean="0">
                <a:latin typeface="Courier New" panose="02070309020205020404" pitchFamily="49" charset="0"/>
                <a:cs typeface="Courier New" panose="02070309020205020404" pitchFamily="49" charset="0"/>
              </a:rPr>
              <a:t> </a:t>
            </a:r>
            <a:r>
              <a:rPr lang="en-US" sz="2400" b="1" dirty="0">
                <a:latin typeface="Courier New" panose="02070309020205020404" pitchFamily="49" charset="0"/>
                <a:cs typeface="Courier New" panose="02070309020205020404" pitchFamily="49" charset="0"/>
              </a:rPr>
              <a:t>x2,0(x1)		//store result</a:t>
            </a:r>
          </a:p>
          <a:p>
            <a:pPr marL="0" indent="0">
              <a:buNone/>
            </a:pPr>
            <a:r>
              <a:rPr lang="en-US" sz="2400" b="1" dirty="0">
                <a:latin typeface="Courier New" panose="02070309020205020404" pitchFamily="49" charset="0"/>
                <a:cs typeface="Courier New" panose="02070309020205020404" pitchFamily="49" charset="0"/>
              </a:rPr>
              <a:t>	</a:t>
            </a:r>
            <a:r>
              <a:rPr lang="en-US" sz="2400" b="1" dirty="0" smtClean="0">
                <a:latin typeface="Courier New" panose="02070309020205020404" pitchFamily="49" charset="0"/>
                <a:cs typeface="Courier New" panose="02070309020205020404" pitchFamily="49" charset="0"/>
              </a:rPr>
              <a:t>	</a:t>
            </a:r>
            <a:r>
              <a:rPr lang="en-US" sz="2400" b="1" dirty="0" err="1" smtClean="0">
                <a:latin typeface="Courier New" panose="02070309020205020404" pitchFamily="49" charset="0"/>
                <a:cs typeface="Courier New" panose="02070309020205020404" pitchFamily="49" charset="0"/>
              </a:rPr>
              <a:t>addi</a:t>
            </a:r>
            <a:r>
              <a:rPr lang="en-US" sz="2400" b="1" dirty="0" smtClean="0">
                <a:latin typeface="Courier New" panose="02070309020205020404" pitchFamily="49" charset="0"/>
                <a:cs typeface="Courier New" panose="02070309020205020404" pitchFamily="49" charset="0"/>
              </a:rPr>
              <a:t> </a:t>
            </a:r>
            <a:r>
              <a:rPr lang="en-US" sz="2400" b="1" dirty="0">
                <a:latin typeface="Courier New" panose="02070309020205020404" pitchFamily="49" charset="0"/>
                <a:cs typeface="Courier New" panose="02070309020205020404" pitchFamily="49" charset="0"/>
              </a:rPr>
              <a:t>x1,x1,8		//increment pointer</a:t>
            </a:r>
          </a:p>
          <a:p>
            <a:pPr marL="0" indent="0">
              <a:buNone/>
            </a:pPr>
            <a:r>
              <a:rPr lang="en-US" sz="2400" b="1" dirty="0">
                <a:latin typeface="Courier New" panose="02070309020205020404" pitchFamily="49" charset="0"/>
                <a:cs typeface="Courier New" panose="02070309020205020404" pitchFamily="49" charset="0"/>
              </a:rPr>
              <a:t>	</a:t>
            </a:r>
            <a:r>
              <a:rPr lang="en-US" sz="2400" b="1" dirty="0" smtClean="0">
                <a:latin typeface="Courier New" panose="02070309020205020404" pitchFamily="49" charset="0"/>
                <a:cs typeface="Courier New" panose="02070309020205020404" pitchFamily="49" charset="0"/>
              </a:rPr>
              <a:t>	</a:t>
            </a:r>
            <a:r>
              <a:rPr lang="en-US" sz="2400" b="1" dirty="0" err="1" smtClean="0">
                <a:latin typeface="Courier New" panose="02070309020205020404" pitchFamily="49" charset="0"/>
                <a:cs typeface="Courier New" panose="02070309020205020404" pitchFamily="49" charset="0"/>
              </a:rPr>
              <a:t>bne</a:t>
            </a:r>
            <a:r>
              <a:rPr lang="en-US" sz="2400" b="1" dirty="0" smtClean="0">
                <a:latin typeface="Courier New" panose="02070309020205020404" pitchFamily="49" charset="0"/>
                <a:cs typeface="Courier New" panose="02070309020205020404" pitchFamily="49" charset="0"/>
              </a:rPr>
              <a:t> </a:t>
            </a:r>
            <a:r>
              <a:rPr lang="en-US" sz="2400" b="1" dirty="0">
                <a:latin typeface="Courier New" panose="02070309020205020404" pitchFamily="49" charset="0"/>
                <a:cs typeface="Courier New" panose="02070309020205020404" pitchFamily="49" charset="0"/>
              </a:rPr>
              <a:t>x2,x3,Loop	</a:t>
            </a:r>
            <a:r>
              <a:rPr lang="en-US" sz="2400" b="1" dirty="0" smtClean="0">
                <a:latin typeface="Courier New" panose="02070309020205020404" pitchFamily="49" charset="0"/>
                <a:cs typeface="Courier New" panose="02070309020205020404" pitchFamily="49" charset="0"/>
              </a:rPr>
              <a:t>	//</a:t>
            </a:r>
            <a:r>
              <a:rPr lang="en-US" sz="2400" b="1" dirty="0">
                <a:latin typeface="Courier New" panose="02070309020205020404" pitchFamily="49" charset="0"/>
                <a:cs typeface="Courier New" panose="02070309020205020404" pitchFamily="49" charset="0"/>
              </a:rPr>
              <a:t>branch if not </a:t>
            </a:r>
            <a:r>
              <a:rPr lang="en-US" sz="2400" b="1" dirty="0" smtClean="0">
                <a:latin typeface="Courier New" panose="02070309020205020404" pitchFamily="49" charset="0"/>
                <a:cs typeface="Courier New" panose="02070309020205020404" pitchFamily="49" charset="0"/>
              </a:rPr>
              <a:t>last</a:t>
            </a:r>
          </a:p>
          <a:p>
            <a:r>
              <a:rPr lang="en-US" dirty="0" smtClean="0"/>
              <a:t>Assume there </a:t>
            </a:r>
            <a:r>
              <a:rPr lang="en-US" dirty="0"/>
              <a:t>are separate integer functional units for effective address </a:t>
            </a:r>
            <a:r>
              <a:rPr lang="en-US" dirty="0" smtClean="0"/>
              <a:t>calculation, for </a:t>
            </a:r>
            <a:r>
              <a:rPr lang="en-US" dirty="0"/>
              <a:t>ALU operations, and for branch condition </a:t>
            </a:r>
            <a:r>
              <a:rPr lang="en-US" dirty="0" smtClean="0"/>
              <a:t>evaluation</a:t>
            </a:r>
          </a:p>
          <a:p>
            <a:r>
              <a:rPr lang="en-US" dirty="0" smtClean="0"/>
              <a:t>Branch </a:t>
            </a:r>
            <a:r>
              <a:rPr lang="en-US" altLang="zh-CN" dirty="0"/>
              <a:t>can be a critical performance limiter, speculation helps significantly</a:t>
            </a:r>
            <a:endParaRPr lang="en-US" dirty="0"/>
          </a:p>
        </p:txBody>
      </p:sp>
      <p:sp>
        <p:nvSpPr>
          <p:cNvPr id="6" name="Title 5"/>
          <p:cNvSpPr>
            <a:spLocks noGrp="1"/>
          </p:cNvSpPr>
          <p:nvPr>
            <p:ph type="title"/>
          </p:nvPr>
        </p:nvSpPr>
        <p:spPr/>
        <p:txBody>
          <a:bodyPr/>
          <a:lstStyle/>
          <a:p>
            <a:r>
              <a:rPr lang="en-US" dirty="0" smtClean="0"/>
              <a:t>Example of a 2-issue processor</a:t>
            </a:r>
            <a:endParaRPr lang="en-US" dirty="0"/>
          </a:p>
        </p:txBody>
      </p:sp>
    </p:spTree>
    <p:extLst>
      <p:ext uri="{BB962C8B-B14F-4D97-AF65-F5344CB8AC3E}">
        <p14:creationId xmlns:p14="http://schemas.microsoft.com/office/powerpoint/2010/main" val="3969333332"/>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rot="5400000">
            <a:off x="-2857953" y="3049296"/>
            <a:ext cx="6930220" cy="831627"/>
          </a:xfrm>
        </p:spPr>
        <p:txBody>
          <a:bodyPr/>
          <a:lstStyle/>
          <a:p>
            <a:r>
              <a:rPr lang="en-US" dirty="0" smtClean="0"/>
              <a:t>Example (No Speculation)</a:t>
            </a:r>
            <a:endParaRPr lang="en-US" dirty="0"/>
          </a:p>
        </p:txBody>
      </p:sp>
      <p:pic>
        <p:nvPicPr>
          <p:cNvPr id="3" name="图片 2"/>
          <p:cNvPicPr>
            <a:picLocks noChangeAspect="1"/>
          </p:cNvPicPr>
          <p:nvPr/>
        </p:nvPicPr>
        <p:blipFill>
          <a:blip r:embed="rId3"/>
          <a:stretch>
            <a:fillRect/>
          </a:stretch>
        </p:blipFill>
        <p:spPr>
          <a:xfrm>
            <a:off x="1343472" y="125342"/>
            <a:ext cx="10225136" cy="5921015"/>
          </a:xfrm>
          <a:prstGeom prst="rect">
            <a:avLst/>
          </a:prstGeom>
        </p:spPr>
      </p:pic>
      <p:sp>
        <p:nvSpPr>
          <p:cNvPr id="2" name="矩形 1"/>
          <p:cNvSpPr/>
          <p:nvPr/>
        </p:nvSpPr>
        <p:spPr>
          <a:xfrm>
            <a:off x="1343472" y="6099223"/>
            <a:ext cx="10513168" cy="830997"/>
          </a:xfrm>
          <a:prstGeom prst="rect">
            <a:avLst/>
          </a:prstGeom>
        </p:spPr>
        <p:txBody>
          <a:bodyPr wrap="square">
            <a:spAutoFit/>
          </a:bodyPr>
          <a:lstStyle/>
          <a:p>
            <a:r>
              <a:rPr lang="en-US" altLang="zh-CN" sz="2400" dirty="0" smtClean="0">
                <a:solidFill>
                  <a:srgbClr val="0000FF"/>
                </a:solidFill>
              </a:rPr>
              <a:t>The </a:t>
            </a:r>
            <a:r>
              <a:rPr lang="en-US" altLang="zh-CN" sz="2400" b="1" dirty="0" err="1">
                <a:solidFill>
                  <a:srgbClr val="0000FF"/>
                </a:solidFill>
                <a:latin typeface="Courier New" panose="02070309020205020404" pitchFamily="49" charset="0"/>
                <a:cs typeface="Courier New" panose="02070309020205020404" pitchFamily="49" charset="0"/>
              </a:rPr>
              <a:t>ld</a:t>
            </a:r>
            <a:r>
              <a:rPr lang="en-US" altLang="zh-CN" sz="2400" dirty="0">
                <a:solidFill>
                  <a:srgbClr val="0000FF"/>
                </a:solidFill>
              </a:rPr>
              <a:t> following the </a:t>
            </a:r>
            <a:r>
              <a:rPr lang="en-US" altLang="zh-CN" sz="2400" b="1" dirty="0" err="1">
                <a:solidFill>
                  <a:srgbClr val="0000FF"/>
                </a:solidFill>
                <a:latin typeface="Courier New" panose="02070309020205020404" pitchFamily="49" charset="0"/>
                <a:cs typeface="Courier New" panose="02070309020205020404" pitchFamily="49" charset="0"/>
              </a:rPr>
              <a:t>bne</a:t>
            </a:r>
            <a:r>
              <a:rPr lang="en-US" altLang="zh-CN" sz="2400" dirty="0">
                <a:solidFill>
                  <a:srgbClr val="0000FF"/>
                </a:solidFill>
              </a:rPr>
              <a:t> cannot start execution earlier because it must wait until the branch outcome is determined</a:t>
            </a:r>
            <a:endParaRPr lang="zh-CN" altLang="en-US" sz="2400" dirty="0">
              <a:solidFill>
                <a:srgbClr val="0000FF"/>
              </a:solidFill>
            </a:endParaRPr>
          </a:p>
        </p:txBody>
      </p:sp>
    </p:spTree>
    <p:extLst>
      <p:ext uri="{BB962C8B-B14F-4D97-AF65-F5344CB8AC3E}">
        <p14:creationId xmlns:p14="http://schemas.microsoft.com/office/powerpoint/2010/main" val="2926433817"/>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rot="5400000">
            <a:off x="-2885839" y="3077181"/>
            <a:ext cx="7058000" cy="903635"/>
          </a:xfrm>
        </p:spPr>
        <p:txBody>
          <a:bodyPr/>
          <a:lstStyle/>
          <a:p>
            <a:r>
              <a:rPr lang="en-US" altLang="zh-CN" dirty="0"/>
              <a:t>Example </a:t>
            </a:r>
            <a:r>
              <a:rPr lang="en-US" altLang="zh-CN" dirty="0" smtClean="0"/>
              <a:t>(with </a:t>
            </a:r>
            <a:r>
              <a:rPr lang="en-US" altLang="zh-CN" dirty="0"/>
              <a:t>Speculation)</a:t>
            </a:r>
            <a:endParaRPr lang="zh-CN" altLang="en-US" dirty="0"/>
          </a:p>
        </p:txBody>
      </p:sp>
      <p:pic>
        <p:nvPicPr>
          <p:cNvPr id="3" name="图片 2"/>
          <p:cNvPicPr>
            <a:picLocks noChangeAspect="1"/>
          </p:cNvPicPr>
          <p:nvPr/>
        </p:nvPicPr>
        <p:blipFill>
          <a:blip r:embed="rId3"/>
          <a:stretch>
            <a:fillRect/>
          </a:stretch>
        </p:blipFill>
        <p:spPr>
          <a:xfrm>
            <a:off x="1271464" y="41146"/>
            <a:ext cx="10081120" cy="6080140"/>
          </a:xfrm>
          <a:prstGeom prst="rect">
            <a:avLst/>
          </a:prstGeom>
        </p:spPr>
      </p:pic>
      <p:sp>
        <p:nvSpPr>
          <p:cNvPr id="4" name="矩形 3"/>
          <p:cNvSpPr/>
          <p:nvPr/>
        </p:nvSpPr>
        <p:spPr>
          <a:xfrm>
            <a:off x="1271464" y="6237312"/>
            <a:ext cx="10369152" cy="461665"/>
          </a:xfrm>
          <a:prstGeom prst="rect">
            <a:avLst/>
          </a:prstGeom>
        </p:spPr>
        <p:txBody>
          <a:bodyPr wrap="square">
            <a:spAutoFit/>
          </a:bodyPr>
          <a:lstStyle/>
          <a:p>
            <a:r>
              <a:rPr lang="en-US" altLang="zh-CN" sz="2400" dirty="0" smtClean="0">
                <a:solidFill>
                  <a:srgbClr val="0000FF"/>
                </a:solidFill>
              </a:rPr>
              <a:t>The </a:t>
            </a:r>
            <a:r>
              <a:rPr lang="en-US" altLang="zh-CN" sz="2400" b="1" dirty="0" err="1">
                <a:solidFill>
                  <a:srgbClr val="0000FF"/>
                </a:solidFill>
                <a:latin typeface="Courier New" panose="02070309020205020404" pitchFamily="49" charset="0"/>
                <a:cs typeface="Courier New" panose="02070309020205020404" pitchFamily="49" charset="0"/>
              </a:rPr>
              <a:t>ld</a:t>
            </a:r>
            <a:r>
              <a:rPr lang="en-US" altLang="zh-CN" sz="2400" dirty="0">
                <a:solidFill>
                  <a:srgbClr val="0000FF"/>
                </a:solidFill>
              </a:rPr>
              <a:t> following the </a:t>
            </a:r>
            <a:r>
              <a:rPr lang="en-US" altLang="zh-CN" sz="2400" b="1" dirty="0" err="1">
                <a:solidFill>
                  <a:srgbClr val="0000FF"/>
                </a:solidFill>
                <a:latin typeface="Courier New" panose="02070309020205020404" pitchFamily="49" charset="0"/>
                <a:cs typeface="Courier New" panose="02070309020205020404" pitchFamily="49" charset="0"/>
              </a:rPr>
              <a:t>bne</a:t>
            </a:r>
            <a:r>
              <a:rPr lang="en-US" altLang="zh-CN" sz="2400" dirty="0">
                <a:solidFill>
                  <a:srgbClr val="0000FF"/>
                </a:solidFill>
              </a:rPr>
              <a:t> can start execution early because it is speculative</a:t>
            </a:r>
            <a:endParaRPr lang="zh-CN" altLang="en-US" sz="2400" dirty="0">
              <a:solidFill>
                <a:srgbClr val="0000FF"/>
              </a:solidFill>
            </a:endParaRPr>
          </a:p>
        </p:txBody>
      </p:sp>
    </p:spTree>
    <p:extLst>
      <p:ext uri="{BB962C8B-B14F-4D97-AF65-F5344CB8AC3E}">
        <p14:creationId xmlns:p14="http://schemas.microsoft.com/office/powerpoint/2010/main" val="118889592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Replace ROB with Renaming </a:t>
            </a:r>
            <a:r>
              <a:rPr lang="en-US" altLang="zh-CN" dirty="0" smtClean="0"/>
              <a:t>Registers</a:t>
            </a:r>
            <a:endParaRPr lang="en-US" dirty="0"/>
          </a:p>
        </p:txBody>
      </p:sp>
      <p:sp>
        <p:nvSpPr>
          <p:cNvPr id="242691" name="Rectangle 3"/>
          <p:cNvSpPr>
            <a:spLocks noGrp="1" noChangeArrowheads="1"/>
          </p:cNvSpPr>
          <p:nvPr>
            <p:ph type="body" idx="1"/>
          </p:nvPr>
        </p:nvSpPr>
        <p:spPr>
          <a:xfrm>
            <a:off x="479376" y="1556792"/>
            <a:ext cx="11377264" cy="5112568"/>
          </a:xfrm>
        </p:spPr>
        <p:txBody>
          <a:bodyPr/>
          <a:lstStyle/>
          <a:p>
            <a:r>
              <a:rPr lang="en-US" dirty="0" smtClean="0"/>
              <a:t>In </a:t>
            </a:r>
            <a:r>
              <a:rPr lang="en-US" dirty="0" err="1"/>
              <a:t>Tomasulo’s</a:t>
            </a:r>
            <a:r>
              <a:rPr lang="en-US" dirty="0"/>
              <a:t> algorithm, the values of the architecturally visible </a:t>
            </a:r>
            <a:r>
              <a:rPr lang="en-US" dirty="0" smtClean="0"/>
              <a:t>registers (x0</a:t>
            </a:r>
            <a:r>
              <a:rPr lang="en-US" dirty="0"/>
              <a:t>, . . . r31 and f0, . . . f31) are </a:t>
            </a:r>
            <a:r>
              <a:rPr lang="en-US" dirty="0" smtClean="0"/>
              <a:t>contained in</a:t>
            </a:r>
            <a:endParaRPr lang="en-US" dirty="0"/>
          </a:p>
          <a:p>
            <a:pPr lvl="1"/>
            <a:r>
              <a:rPr lang="en-US" dirty="0" smtClean="0"/>
              <a:t>Register file, and </a:t>
            </a:r>
            <a:r>
              <a:rPr lang="en-US" dirty="0" smtClean="0">
                <a:solidFill>
                  <a:srgbClr val="FF0000"/>
                </a:solidFill>
              </a:rPr>
              <a:t>virtual registers</a:t>
            </a:r>
            <a:r>
              <a:rPr lang="en-US" dirty="0" smtClean="0"/>
              <a:t> in reservation stations and </a:t>
            </a:r>
            <a:r>
              <a:rPr lang="en-US" dirty="0"/>
              <a:t>ROB</a:t>
            </a:r>
          </a:p>
          <a:p>
            <a:r>
              <a:rPr lang="en-US" dirty="0" smtClean="0"/>
              <a:t>Instead of virtual registers from reservation stations and reorder buffer, create a single hardware register pool (</a:t>
            </a:r>
            <a:r>
              <a:rPr lang="en-US" dirty="0" smtClean="0">
                <a:solidFill>
                  <a:srgbClr val="FF0000"/>
                </a:solidFill>
              </a:rPr>
              <a:t>physical register</a:t>
            </a:r>
            <a:r>
              <a:rPr lang="en-US" dirty="0" smtClean="0"/>
              <a:t>)</a:t>
            </a:r>
          </a:p>
          <a:p>
            <a:pPr lvl="1"/>
            <a:r>
              <a:rPr lang="en-US" dirty="0" smtClean="0"/>
              <a:t>Contains all architectural visible registers and virtual registers</a:t>
            </a:r>
          </a:p>
          <a:p>
            <a:pPr lvl="1"/>
            <a:r>
              <a:rPr lang="en-US" dirty="0" smtClean="0"/>
              <a:t>Maintain hardware-based map between architectural and physical registers</a:t>
            </a:r>
          </a:p>
          <a:p>
            <a:r>
              <a:rPr lang="en-US" altLang="zh-CN" dirty="0"/>
              <a:t>Still need a ROB-like queue to update </a:t>
            </a:r>
            <a:r>
              <a:rPr lang="en-US" altLang="zh-CN" dirty="0" smtClean="0"/>
              <a:t>the map table </a:t>
            </a:r>
            <a:r>
              <a:rPr lang="en-US" altLang="zh-CN" dirty="0"/>
              <a:t>in order</a:t>
            </a:r>
          </a:p>
          <a:p>
            <a:r>
              <a:rPr lang="en-US" dirty="0" smtClean="0"/>
              <a:t>During instruction issue</a:t>
            </a:r>
          </a:p>
          <a:p>
            <a:pPr lvl="1"/>
            <a:r>
              <a:rPr lang="en-US" dirty="0"/>
              <a:t>Use the map to locate physical registers corresponding to source architectural registers, and allocating </a:t>
            </a:r>
            <a:r>
              <a:rPr lang="en-US" dirty="0" smtClean="0"/>
              <a:t>a new </a:t>
            </a:r>
            <a:r>
              <a:rPr lang="en-US" dirty="0"/>
              <a:t>unused register for the </a:t>
            </a:r>
            <a:r>
              <a:rPr lang="en-US" dirty="0" smtClean="0"/>
              <a:t>destination</a:t>
            </a:r>
          </a:p>
        </p:txBody>
      </p:sp>
    </p:spTree>
    <p:extLst>
      <p:ext uri="{BB962C8B-B14F-4D97-AF65-F5344CB8AC3E}">
        <p14:creationId xmlns:p14="http://schemas.microsoft.com/office/powerpoint/2010/main" val="1420486926"/>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Renaming Registers</a:t>
            </a:r>
            <a:endParaRPr lang="zh-CN" altLang="en-US" dirty="0"/>
          </a:p>
        </p:txBody>
      </p:sp>
      <p:sp>
        <p:nvSpPr>
          <p:cNvPr id="3" name="内容占位符 2"/>
          <p:cNvSpPr>
            <a:spLocks noGrp="1"/>
          </p:cNvSpPr>
          <p:nvPr>
            <p:ph idx="1"/>
          </p:nvPr>
        </p:nvSpPr>
        <p:spPr/>
        <p:txBody>
          <a:bodyPr/>
          <a:lstStyle/>
          <a:p>
            <a:r>
              <a:rPr lang="en-US" altLang="zh-CN" dirty="0"/>
              <a:t>WAW and WAR hazards are </a:t>
            </a:r>
            <a:r>
              <a:rPr lang="en-US" altLang="zh-CN" dirty="0" smtClean="0"/>
              <a:t>avoided by </a:t>
            </a:r>
            <a:r>
              <a:rPr lang="en-US" altLang="zh-CN" dirty="0"/>
              <a:t>renaming of the destination </a:t>
            </a:r>
            <a:r>
              <a:rPr lang="en-US" altLang="zh-CN" dirty="0" smtClean="0"/>
              <a:t>register</a:t>
            </a:r>
          </a:p>
          <a:p>
            <a:r>
              <a:rPr lang="en-US" altLang="zh-CN" dirty="0" smtClean="0"/>
              <a:t>Speculation </a:t>
            </a:r>
            <a:r>
              <a:rPr lang="en-US" altLang="zh-CN" dirty="0"/>
              <a:t>recovery is </a:t>
            </a:r>
            <a:r>
              <a:rPr lang="en-US" altLang="zh-CN" dirty="0" smtClean="0"/>
              <a:t>handled because </a:t>
            </a:r>
            <a:r>
              <a:rPr lang="en-US" altLang="zh-CN" dirty="0"/>
              <a:t>a physical register holding an instruction destination does not become </a:t>
            </a:r>
            <a:r>
              <a:rPr lang="en-US" altLang="zh-CN" dirty="0" smtClean="0"/>
              <a:t>the architectural </a:t>
            </a:r>
            <a:r>
              <a:rPr lang="en-US" altLang="zh-CN" dirty="0"/>
              <a:t>register until the instruction </a:t>
            </a:r>
            <a:r>
              <a:rPr lang="en-US" altLang="zh-CN" dirty="0" smtClean="0"/>
              <a:t>commits</a:t>
            </a:r>
            <a:endParaRPr lang="en-US" altLang="zh-CN" dirty="0"/>
          </a:p>
          <a:p>
            <a:r>
              <a:rPr lang="en-US" altLang="zh-CN" dirty="0" smtClean="0"/>
              <a:t>Renaming register simplifies </a:t>
            </a:r>
            <a:r>
              <a:rPr lang="en-US" altLang="zh-CN" dirty="0"/>
              <a:t>commit:</a:t>
            </a:r>
          </a:p>
          <a:p>
            <a:pPr lvl="1"/>
            <a:r>
              <a:rPr lang="en-US" altLang="zh-CN" dirty="0"/>
              <a:t>Record that </a:t>
            </a:r>
            <a:r>
              <a:rPr lang="en-US" altLang="zh-CN" dirty="0" smtClean="0"/>
              <a:t>the mapping </a:t>
            </a:r>
            <a:r>
              <a:rPr lang="en-US" altLang="zh-CN" dirty="0"/>
              <a:t>between architectural </a:t>
            </a:r>
            <a:r>
              <a:rPr lang="en-US" altLang="zh-CN" dirty="0" smtClean="0"/>
              <a:t>destination register </a:t>
            </a:r>
            <a:r>
              <a:rPr lang="en-US" altLang="zh-CN" dirty="0"/>
              <a:t>and physical register is no longer speculative</a:t>
            </a:r>
          </a:p>
          <a:p>
            <a:pPr lvl="1"/>
            <a:r>
              <a:rPr lang="en-US" altLang="zh-CN" dirty="0"/>
              <a:t>Free up physical register used to hold older value</a:t>
            </a:r>
          </a:p>
          <a:p>
            <a:pPr lvl="1"/>
            <a:r>
              <a:rPr lang="en-US" altLang="zh-CN" dirty="0"/>
              <a:t>In other words:  SWAP physical registers on commit</a:t>
            </a:r>
          </a:p>
          <a:p>
            <a:r>
              <a:rPr lang="en-US" altLang="zh-CN" dirty="0" smtClean="0"/>
              <a:t>Leads to: the subset </a:t>
            </a:r>
            <a:r>
              <a:rPr lang="en-US" altLang="zh-CN" dirty="0"/>
              <a:t>of physical registers contains architecturally visible </a:t>
            </a:r>
            <a:r>
              <a:rPr lang="en-US" altLang="zh-CN" dirty="0" smtClean="0"/>
              <a:t>registers is changing with time</a:t>
            </a:r>
            <a:endParaRPr lang="en-US" altLang="zh-CN" dirty="0"/>
          </a:p>
        </p:txBody>
      </p:sp>
    </p:spTree>
    <p:extLst>
      <p:ext uri="{BB962C8B-B14F-4D97-AF65-F5344CB8AC3E}">
        <p14:creationId xmlns:p14="http://schemas.microsoft.com/office/powerpoint/2010/main" val="48987696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Example of 6-issue in a cycle</a:t>
            </a:r>
            <a:endParaRPr lang="en-US" dirty="0"/>
          </a:p>
        </p:txBody>
      </p:sp>
      <p:sp>
        <p:nvSpPr>
          <p:cNvPr id="242691" name="Rectangle 3"/>
          <p:cNvSpPr>
            <a:spLocks noGrp="1" noChangeArrowheads="1"/>
          </p:cNvSpPr>
          <p:nvPr>
            <p:ph type="body" idx="1"/>
          </p:nvPr>
        </p:nvSpPr>
        <p:spPr>
          <a:xfrm>
            <a:off x="407368" y="1556792"/>
            <a:ext cx="11305256" cy="5112568"/>
          </a:xfrm>
        </p:spPr>
        <p:txBody>
          <a:bodyPr/>
          <a:lstStyle/>
          <a:p>
            <a:r>
              <a:rPr lang="en-US" dirty="0" smtClean="0"/>
              <a:t>Combining instruction issue with register renaming in a cycle</a:t>
            </a:r>
          </a:p>
          <a:p>
            <a:pPr lvl="1"/>
            <a:r>
              <a:rPr lang="en-US" dirty="0" smtClean="0"/>
              <a:t>Issue logic pre-reserves enough physical registers for the bundle</a:t>
            </a:r>
          </a:p>
          <a:p>
            <a:pPr lvl="1"/>
            <a:r>
              <a:rPr lang="en-US" dirty="0" smtClean="0"/>
              <a:t>Issue logic finds dependencies within bundle, maps registers as necessary</a:t>
            </a:r>
          </a:p>
          <a:p>
            <a:pPr lvl="1"/>
            <a:r>
              <a:rPr lang="en-US" dirty="0" smtClean="0"/>
              <a:t>Issue logic finds dependencies between current bundle and already in-flight bundles, maps registers as necessary</a:t>
            </a:r>
          </a:p>
          <a:p>
            <a:pPr lvl="2"/>
            <a:r>
              <a:rPr lang="en-US" altLang="en-US" dirty="0"/>
              <a:t>physical registers holding </a:t>
            </a:r>
            <a:r>
              <a:rPr lang="en-US" altLang="en-US" dirty="0" smtClean="0">
                <a:latin typeface="Courier New" panose="02070309020205020404" pitchFamily="49" charset="0"/>
                <a:cs typeface="Courier New" panose="02070309020205020404" pitchFamily="49" charset="0"/>
              </a:rPr>
              <a:t>x1</a:t>
            </a:r>
            <a:r>
              <a:rPr lang="en-US" altLang="en-US" dirty="0">
                <a:latin typeface="Courier New" panose="02070309020205020404" pitchFamily="49" charset="0"/>
                <a:cs typeface="Courier New" panose="02070309020205020404" pitchFamily="49" charset="0"/>
              </a:rPr>
              <a:t>, x2, </a:t>
            </a:r>
            <a:r>
              <a:rPr lang="en-US" altLang="en-US" dirty="0"/>
              <a:t>and </a:t>
            </a:r>
            <a:r>
              <a:rPr lang="en-US" altLang="en-US" dirty="0">
                <a:latin typeface="Courier New" panose="02070309020205020404" pitchFamily="49" charset="0"/>
                <a:cs typeface="Courier New" panose="02070309020205020404" pitchFamily="49" charset="0"/>
              </a:rPr>
              <a:t>x3</a:t>
            </a:r>
            <a:r>
              <a:rPr lang="en-US" altLang="en-US" dirty="0"/>
              <a:t> are initially </a:t>
            </a:r>
            <a:r>
              <a:rPr lang="en-US" altLang="en-US" dirty="0">
                <a:latin typeface="Courier New" panose="02070309020205020404" pitchFamily="49" charset="0"/>
                <a:cs typeface="Courier New" panose="02070309020205020404" pitchFamily="49" charset="0"/>
              </a:rPr>
              <a:t>p1, p2,</a:t>
            </a:r>
            <a:r>
              <a:rPr lang="en-US" altLang="en-US" dirty="0"/>
              <a:t> and </a:t>
            </a:r>
            <a:r>
              <a:rPr lang="en-US" altLang="en-US" dirty="0">
                <a:latin typeface="Courier New" panose="02070309020205020404" pitchFamily="49" charset="0"/>
                <a:cs typeface="Courier New" panose="02070309020205020404" pitchFamily="49" charset="0"/>
              </a:rPr>
              <a:t>p3</a:t>
            </a:r>
            <a:r>
              <a:rPr lang="en-US" altLang="en-US" dirty="0"/>
              <a:t> </a:t>
            </a:r>
            <a:endParaRPr lang="en-US" dirty="0"/>
          </a:p>
        </p:txBody>
      </p:sp>
      <p:pic>
        <p:nvPicPr>
          <p:cNvPr id="3" name="图片 2"/>
          <p:cNvPicPr>
            <a:picLocks noChangeAspect="1"/>
          </p:cNvPicPr>
          <p:nvPr/>
        </p:nvPicPr>
        <p:blipFill>
          <a:blip r:embed="rId3"/>
          <a:stretch>
            <a:fillRect/>
          </a:stretch>
        </p:blipFill>
        <p:spPr>
          <a:xfrm>
            <a:off x="838200" y="3861048"/>
            <a:ext cx="10874424" cy="2903851"/>
          </a:xfrm>
          <a:prstGeom prst="rect">
            <a:avLst/>
          </a:prstGeom>
        </p:spPr>
      </p:pic>
    </p:spTree>
    <p:extLst>
      <p:ext uri="{BB962C8B-B14F-4D97-AF65-F5344CB8AC3E}">
        <p14:creationId xmlns:p14="http://schemas.microsoft.com/office/powerpoint/2010/main" val="4000353485"/>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5330" name="Rectangle 2"/>
          <p:cNvSpPr>
            <a:spLocks noGrp="1" noChangeArrowheads="1"/>
          </p:cNvSpPr>
          <p:nvPr>
            <p:ph type="title"/>
          </p:nvPr>
        </p:nvSpPr>
        <p:spPr>
          <a:xfrm>
            <a:off x="695400" y="365125"/>
            <a:ext cx="11233248" cy="831627"/>
          </a:xfrm>
        </p:spPr>
        <p:txBody>
          <a:bodyPr/>
          <a:lstStyle/>
          <a:p>
            <a:r>
              <a:rPr lang="en-US" altLang="en-US" dirty="0" smtClean="0"/>
              <a:t>Renaming by mapping to physical registers</a:t>
            </a:r>
            <a:endParaRPr lang="en-US" altLang="en-US" dirty="0"/>
          </a:p>
        </p:txBody>
      </p:sp>
      <p:sp>
        <p:nvSpPr>
          <p:cNvPr id="995331" name="Rectangle 3"/>
          <p:cNvSpPr>
            <a:spLocks noGrp="1" noChangeArrowheads="1"/>
          </p:cNvSpPr>
          <p:nvPr>
            <p:ph type="body" idx="1"/>
          </p:nvPr>
        </p:nvSpPr>
        <p:spPr>
          <a:xfrm>
            <a:off x="551384" y="1556792"/>
            <a:ext cx="11377264" cy="5112568"/>
          </a:xfrm>
        </p:spPr>
        <p:txBody>
          <a:bodyPr/>
          <a:lstStyle/>
          <a:p>
            <a:r>
              <a:rPr lang="en-US" altLang="zh-CN" dirty="0" smtClean="0"/>
              <a:t>Physical </a:t>
            </a:r>
            <a:r>
              <a:rPr lang="en-US" altLang="zh-CN" dirty="0"/>
              <a:t>register de-allocation is more difficult</a:t>
            </a:r>
          </a:p>
          <a:p>
            <a:pPr lvl="1"/>
            <a:r>
              <a:rPr lang="en-US" altLang="zh-CN" dirty="0" smtClean="0"/>
              <a:t>Before free </a:t>
            </a:r>
            <a:r>
              <a:rPr lang="en-US" altLang="zh-CN" dirty="0"/>
              <a:t>up a physical register, </a:t>
            </a:r>
            <a:r>
              <a:rPr lang="en-US" altLang="zh-CN" dirty="0" smtClean="0"/>
              <a:t>must </a:t>
            </a:r>
            <a:r>
              <a:rPr lang="en-US" altLang="zh-CN" dirty="0"/>
              <a:t>know that it no longer corresponds to </a:t>
            </a:r>
            <a:r>
              <a:rPr lang="en-US" altLang="zh-CN" dirty="0" smtClean="0"/>
              <a:t>an architectural register</a:t>
            </a:r>
          </a:p>
          <a:p>
            <a:pPr lvl="2"/>
            <a:r>
              <a:rPr lang="en-US" altLang="zh-CN" sz="2400" dirty="0" smtClean="0"/>
              <a:t>Renaming table no entry </a:t>
            </a:r>
            <a:r>
              <a:rPr lang="en-US" altLang="zh-CN" sz="2400" dirty="0"/>
              <a:t>points to a particular physical </a:t>
            </a:r>
            <a:r>
              <a:rPr lang="en-US" altLang="zh-CN" sz="2400" dirty="0" smtClean="0"/>
              <a:t>register</a:t>
            </a:r>
          </a:p>
          <a:p>
            <a:pPr lvl="1"/>
            <a:r>
              <a:rPr lang="en-US" altLang="zh-CN" dirty="0"/>
              <a:t> </a:t>
            </a:r>
            <a:r>
              <a:rPr lang="en-US" altLang="zh-CN" dirty="0" smtClean="0"/>
              <a:t>And </a:t>
            </a:r>
            <a:r>
              <a:rPr lang="en-US" altLang="zh-CN" dirty="0"/>
              <a:t>no further outstanding uses of it</a:t>
            </a:r>
            <a:endParaRPr lang="en-US" altLang="zh-CN" dirty="0" smtClean="0"/>
          </a:p>
          <a:p>
            <a:pPr lvl="2"/>
            <a:r>
              <a:rPr lang="en-US" altLang="zh-CN" sz="2400" dirty="0" smtClean="0"/>
              <a:t>Examine </a:t>
            </a:r>
            <a:r>
              <a:rPr lang="en-US" altLang="zh-CN" sz="2400" dirty="0"/>
              <a:t>the source register specifiers of all instructions in the functional </a:t>
            </a:r>
            <a:r>
              <a:rPr lang="en-US" altLang="zh-CN" sz="2400" dirty="0" smtClean="0"/>
              <a:t>unit queues</a:t>
            </a:r>
            <a:endParaRPr lang="en-US" altLang="zh-CN" sz="2400" dirty="0"/>
          </a:p>
          <a:p>
            <a:r>
              <a:rPr lang="en-US" altLang="zh-CN" dirty="0" smtClean="0"/>
              <a:t>Simple </a:t>
            </a:r>
            <a:r>
              <a:rPr lang="en-US" altLang="zh-CN" dirty="0"/>
              <a:t>approach</a:t>
            </a:r>
            <a:r>
              <a:rPr lang="en-US" altLang="zh-CN" dirty="0" smtClean="0"/>
              <a:t>: </a:t>
            </a:r>
            <a:r>
              <a:rPr lang="en-US" altLang="zh-CN" dirty="0"/>
              <a:t>simply wait until another instruction </a:t>
            </a:r>
            <a:r>
              <a:rPr lang="en-US" altLang="zh-CN" dirty="0" smtClean="0"/>
              <a:t>that writes </a:t>
            </a:r>
            <a:r>
              <a:rPr lang="en-US" altLang="zh-CN" dirty="0"/>
              <a:t>the same architectural register </a:t>
            </a:r>
            <a:r>
              <a:rPr lang="en-US" altLang="zh-CN" dirty="0" smtClean="0"/>
              <a:t>commits (no further outstanding use)</a:t>
            </a:r>
            <a:endParaRPr lang="en-US" altLang="en-US" dirty="0" smtClean="0"/>
          </a:p>
          <a:p>
            <a:r>
              <a:rPr lang="en-US" altLang="en-US" dirty="0" smtClean="0"/>
              <a:t>Adds 40-80 extra registers: Alpha, Pentium,…</a:t>
            </a:r>
          </a:p>
          <a:p>
            <a:pPr lvl="1"/>
            <a:r>
              <a:rPr lang="en-US" altLang="en-US" dirty="0" smtClean="0"/>
              <a:t>Size limits number of instructions in execution (used until commit)</a:t>
            </a:r>
          </a:p>
          <a:p>
            <a:pPr lvl="1"/>
            <a:r>
              <a:rPr lang="en-US" altLang="en-US" dirty="0" smtClean="0"/>
              <a:t>In some systems or literatures, physical register is also called </a:t>
            </a:r>
            <a:r>
              <a:rPr lang="en-US" altLang="en-US" dirty="0" smtClean="0">
                <a:solidFill>
                  <a:srgbClr val="FF0000"/>
                </a:solidFill>
              </a:rPr>
              <a:t>virtual register</a:t>
            </a:r>
            <a:endParaRPr lang="en-US" altLang="en-US" dirty="0">
              <a:solidFill>
                <a:srgbClr val="FF0000"/>
              </a:solidFill>
            </a:endParaRPr>
          </a:p>
        </p:txBody>
      </p:sp>
    </p:spTree>
    <p:extLst>
      <p:ext uri="{BB962C8B-B14F-4D97-AF65-F5344CB8AC3E}">
        <p14:creationId xmlns:p14="http://schemas.microsoft.com/office/powerpoint/2010/main" val="260413069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9533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99533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99533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995331">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99533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95331">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95331">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995331">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99533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5331" grpId="0" build="p" autoUpdateAnimBg="0"/>
    </p:bldLst>
  </p:timing>
</p:sld>
</file>

<file path=ppt/slides/slide1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6354" name="Rectangle 2"/>
          <p:cNvSpPr>
            <a:spLocks noGrp="1" noChangeArrowheads="1"/>
          </p:cNvSpPr>
          <p:nvPr>
            <p:ph type="title"/>
          </p:nvPr>
        </p:nvSpPr>
        <p:spPr/>
        <p:txBody>
          <a:bodyPr/>
          <a:lstStyle/>
          <a:p>
            <a:r>
              <a:rPr lang="en-US" altLang="zh-CN" dirty="0" smtClean="0"/>
              <a:t>S</a:t>
            </a:r>
            <a:r>
              <a:rPr lang="en-US" altLang="en-US" dirty="0" smtClean="0"/>
              <a:t>peculation Pros and Cons</a:t>
            </a:r>
            <a:endParaRPr lang="en-US" altLang="en-US" dirty="0"/>
          </a:p>
        </p:txBody>
      </p:sp>
      <p:sp>
        <p:nvSpPr>
          <p:cNvPr id="996355" name="Rectangle 3"/>
          <p:cNvSpPr>
            <a:spLocks noGrp="1" noChangeArrowheads="1"/>
          </p:cNvSpPr>
          <p:nvPr>
            <p:ph type="body" idx="1"/>
          </p:nvPr>
        </p:nvSpPr>
        <p:spPr/>
        <p:txBody>
          <a:bodyPr/>
          <a:lstStyle/>
          <a:p>
            <a:r>
              <a:rPr lang="en-US" altLang="en-US" dirty="0" smtClean="0"/>
              <a:t>Speculation Pro: uncover events that would otherwise stall the pipeline (cache misses, branches)</a:t>
            </a:r>
          </a:p>
          <a:p>
            <a:r>
              <a:rPr lang="en-US" altLang="en-US" dirty="0" smtClean="0"/>
              <a:t>Speculation Con: speculate costly if exceptional event occurs when speculation was incorrect</a:t>
            </a:r>
          </a:p>
          <a:p>
            <a:r>
              <a:rPr lang="en-US" altLang="en-US" dirty="0" smtClean="0"/>
              <a:t>Typical solution: speculation allows only low-cost exceptional events (1st-level cache miss)</a:t>
            </a:r>
          </a:p>
          <a:p>
            <a:r>
              <a:rPr lang="en-US" altLang="en-US" dirty="0" smtClean="0"/>
              <a:t>When expensive exceptional event occurs, (2nd-level cache miss or TLB miss) processor waits until the instruction causing event is no longer speculative before handling the event</a:t>
            </a:r>
          </a:p>
          <a:p>
            <a:r>
              <a:rPr lang="en-US" altLang="en-US" dirty="0" smtClean="0"/>
              <a:t>Assuming single branch per cycle: future may speculate across multiple branches!</a:t>
            </a:r>
            <a:endParaRPr lang="en-US" altLang="en-US" dirty="0"/>
          </a:p>
        </p:txBody>
      </p:sp>
    </p:spTree>
    <p:extLst>
      <p:ext uri="{BB962C8B-B14F-4D97-AF65-F5344CB8AC3E}">
        <p14:creationId xmlns:p14="http://schemas.microsoft.com/office/powerpoint/2010/main" val="243725817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963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9635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9635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9635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963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6355" grpId="0" build="p" autoUpdateAnimBg="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How Much to Speculate?</a:t>
            </a:r>
            <a:endParaRPr lang="en-US" dirty="0"/>
          </a:p>
        </p:txBody>
      </p:sp>
      <p:sp>
        <p:nvSpPr>
          <p:cNvPr id="242691" name="Rectangle 3"/>
          <p:cNvSpPr>
            <a:spLocks noGrp="1" noChangeArrowheads="1"/>
          </p:cNvSpPr>
          <p:nvPr>
            <p:ph type="body" idx="1"/>
          </p:nvPr>
        </p:nvSpPr>
        <p:spPr/>
        <p:txBody>
          <a:bodyPr/>
          <a:lstStyle/>
          <a:p>
            <a:r>
              <a:rPr lang="en-US" dirty="0" err="1" smtClean="0"/>
              <a:t>Mis</a:t>
            </a:r>
            <a:r>
              <a:rPr lang="en-US" dirty="0" smtClean="0"/>
              <a:t>-speculation degrades performance and power relative to no speculation</a:t>
            </a:r>
          </a:p>
          <a:p>
            <a:pPr lvl="1"/>
            <a:r>
              <a:rPr lang="en-US" dirty="0" smtClean="0"/>
              <a:t>May cause additional misses (cache, TLB)</a:t>
            </a:r>
          </a:p>
          <a:p>
            <a:r>
              <a:rPr lang="en-US" dirty="0" smtClean="0"/>
              <a:t>Prevent speculative code from causing higher costing misses (e.g. L2)</a:t>
            </a:r>
          </a:p>
          <a:p>
            <a:r>
              <a:rPr lang="en-US" dirty="0" smtClean="0"/>
              <a:t>Speculating through multiple branches</a:t>
            </a:r>
          </a:p>
          <a:p>
            <a:pPr lvl="1"/>
            <a:r>
              <a:rPr lang="en-US" dirty="0" smtClean="0"/>
              <a:t>Complicates speculation recovery</a:t>
            </a:r>
          </a:p>
          <a:p>
            <a:r>
              <a:rPr lang="en-US" dirty="0" smtClean="0"/>
              <a:t>Speculation and energy efficiency</a:t>
            </a:r>
          </a:p>
          <a:p>
            <a:pPr lvl="1"/>
            <a:r>
              <a:rPr lang="en-US" dirty="0" smtClean="0"/>
              <a:t>Note:  speculation is only energy efficient when it significantly improves performance</a:t>
            </a:r>
          </a:p>
          <a:p>
            <a:r>
              <a:rPr lang="en-US" dirty="0" smtClean="0"/>
              <a:t>Speculation may lead to data leakage</a:t>
            </a:r>
          </a:p>
          <a:p>
            <a:pPr lvl="1"/>
            <a:r>
              <a:rPr lang="en-US" dirty="0"/>
              <a:t>Transient-Execution Attacks: A Computer </a:t>
            </a:r>
            <a:r>
              <a:rPr lang="en-US" dirty="0" smtClean="0"/>
              <a:t>Architect Perspective</a:t>
            </a:r>
          </a:p>
          <a:p>
            <a:pPr lvl="1"/>
            <a:endParaRPr lang="en-US" dirty="0" smtClean="0"/>
          </a:p>
        </p:txBody>
      </p:sp>
    </p:spTree>
    <p:extLst>
      <p:ext uri="{BB962C8B-B14F-4D97-AF65-F5344CB8AC3E}">
        <p14:creationId xmlns:p14="http://schemas.microsoft.com/office/powerpoint/2010/main" val="3377245529"/>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Effects of Speculation</a:t>
            </a:r>
            <a:endParaRPr lang="en-US" dirty="0"/>
          </a:p>
        </p:txBody>
      </p:sp>
      <p:sp>
        <p:nvSpPr>
          <p:cNvPr id="4" name="TextBox 3"/>
          <p:cNvSpPr txBox="1"/>
          <p:nvPr/>
        </p:nvSpPr>
        <p:spPr>
          <a:xfrm>
            <a:off x="2423592" y="1446933"/>
            <a:ext cx="2160240" cy="523220"/>
          </a:xfrm>
          <a:prstGeom prst="rect">
            <a:avLst/>
          </a:prstGeom>
          <a:noFill/>
        </p:spPr>
        <p:txBody>
          <a:bodyPr wrap="square" rtlCol="0">
            <a:spAutoFit/>
          </a:bodyPr>
          <a:lstStyle/>
          <a:p>
            <a:pPr algn="ctr"/>
            <a:r>
              <a:rPr lang="en-US" sz="2800" dirty="0" smtClean="0">
                <a:solidFill>
                  <a:srgbClr val="3399FF"/>
                </a:solidFill>
                <a:latin typeface="+mj-lt"/>
              </a:rPr>
              <a:t>integer</a:t>
            </a:r>
            <a:endParaRPr lang="en-US" sz="2800" dirty="0">
              <a:solidFill>
                <a:srgbClr val="3399FF"/>
              </a:solidFill>
              <a:latin typeface="+mj-lt"/>
            </a:endParaRPr>
          </a:p>
        </p:txBody>
      </p:sp>
      <p:pic>
        <p:nvPicPr>
          <p:cNvPr id="2" name="图片 1"/>
          <p:cNvPicPr>
            <a:picLocks noChangeAspect="1"/>
          </p:cNvPicPr>
          <p:nvPr/>
        </p:nvPicPr>
        <p:blipFill>
          <a:blip r:embed="rId3"/>
          <a:stretch>
            <a:fillRect/>
          </a:stretch>
        </p:blipFill>
        <p:spPr>
          <a:xfrm>
            <a:off x="1133167" y="1932302"/>
            <a:ext cx="7255128" cy="4737058"/>
          </a:xfrm>
          <a:prstGeom prst="rect">
            <a:avLst/>
          </a:prstGeom>
        </p:spPr>
      </p:pic>
      <p:sp>
        <p:nvSpPr>
          <p:cNvPr id="8" name="Rectangle 7"/>
          <p:cNvSpPr/>
          <p:nvPr/>
        </p:nvSpPr>
        <p:spPr bwMode="auto">
          <a:xfrm>
            <a:off x="1919536" y="1484784"/>
            <a:ext cx="3312368" cy="584775"/>
          </a:xfrm>
          <a:prstGeom prst="rect">
            <a:avLst/>
          </a:prstGeom>
          <a:noFill/>
          <a:ln w="3492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eaLnBrk="1" hangingPunct="1">
              <a:spcBef>
                <a:spcPct val="20000"/>
              </a:spcBef>
              <a:buClr>
                <a:schemeClr val="tx1"/>
              </a:buClr>
              <a:buSzPct val="60000"/>
            </a:pPr>
            <a:endParaRPr kumimoji="0" lang="en-US" sz="3200">
              <a:latin typeface="Arial Black" pitchFamily="34" charset="0"/>
            </a:endParaRPr>
          </a:p>
        </p:txBody>
      </p:sp>
      <p:sp>
        <p:nvSpPr>
          <p:cNvPr id="3" name="矩形 2"/>
          <p:cNvSpPr/>
          <p:nvPr/>
        </p:nvSpPr>
        <p:spPr>
          <a:xfrm>
            <a:off x="5844350" y="1484784"/>
            <a:ext cx="6347649" cy="2677656"/>
          </a:xfrm>
          <a:prstGeom prst="rect">
            <a:avLst/>
          </a:prstGeom>
        </p:spPr>
        <p:txBody>
          <a:bodyPr wrap="square">
            <a:spAutoFit/>
          </a:bodyPr>
          <a:lstStyle/>
          <a:p>
            <a:r>
              <a:rPr lang="en-US" altLang="zh-CN" sz="2800" dirty="0">
                <a:solidFill>
                  <a:srgbClr val="0000FF"/>
                </a:solidFill>
              </a:rPr>
              <a:t>The fraction of instructions that are executed as a result of </a:t>
            </a:r>
            <a:r>
              <a:rPr lang="en-US" altLang="zh-CN" sz="2800" dirty="0" err="1">
                <a:solidFill>
                  <a:srgbClr val="0000FF"/>
                </a:solidFill>
              </a:rPr>
              <a:t>misspeculation</a:t>
            </a:r>
            <a:r>
              <a:rPr lang="en-US" altLang="zh-CN" sz="2800" dirty="0">
                <a:solidFill>
                  <a:srgbClr val="0000FF"/>
                </a:solidFill>
              </a:rPr>
              <a:t> is typically much higher for integer programs (the first five) versus FP programs (the last five</a:t>
            </a:r>
            <a:r>
              <a:rPr lang="en-US" altLang="zh-CN" sz="2800" dirty="0" smtClean="0">
                <a:solidFill>
                  <a:srgbClr val="0000FF"/>
                </a:solidFill>
              </a:rPr>
              <a:t>)</a:t>
            </a:r>
          </a:p>
          <a:p>
            <a:r>
              <a:rPr lang="en-US" altLang="zh-CN" sz="2800" dirty="0" smtClean="0">
                <a:solidFill>
                  <a:srgbClr val="0000FF"/>
                </a:solidFill>
              </a:rPr>
              <a:t>(a </a:t>
            </a:r>
            <a:r>
              <a:rPr lang="en-US" altLang="zh-CN" sz="2800" dirty="0">
                <a:solidFill>
                  <a:srgbClr val="0000FF"/>
                </a:solidFill>
              </a:rPr>
              <a:t>subset of the </a:t>
            </a:r>
            <a:r>
              <a:rPr lang="en-US" altLang="zh-CN" sz="2800" dirty="0" smtClean="0">
                <a:solidFill>
                  <a:srgbClr val="0000FF"/>
                </a:solidFill>
              </a:rPr>
              <a:t>SPEC2000)</a:t>
            </a:r>
            <a:endParaRPr lang="zh-CN" altLang="en-US" sz="2800" dirty="0">
              <a:solidFill>
                <a:srgbClr val="0000FF"/>
              </a:solidFill>
            </a:endParaRPr>
          </a:p>
        </p:txBody>
      </p:sp>
    </p:spTree>
    <p:extLst>
      <p:ext uri="{BB962C8B-B14F-4D97-AF65-F5344CB8AC3E}">
        <p14:creationId xmlns:p14="http://schemas.microsoft.com/office/powerpoint/2010/main" val="2288162475"/>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Other Speculation Ideas</a:t>
            </a:r>
            <a:endParaRPr lang="en-US" dirty="0"/>
          </a:p>
        </p:txBody>
      </p:sp>
      <p:sp>
        <p:nvSpPr>
          <p:cNvPr id="242691" name="Rectangle 3"/>
          <p:cNvSpPr>
            <a:spLocks noGrp="1" noChangeArrowheads="1"/>
          </p:cNvSpPr>
          <p:nvPr>
            <p:ph type="body" idx="1"/>
          </p:nvPr>
        </p:nvSpPr>
        <p:spPr>
          <a:xfrm>
            <a:off x="551384" y="1556792"/>
            <a:ext cx="11449272" cy="5112568"/>
          </a:xfrm>
        </p:spPr>
        <p:txBody>
          <a:bodyPr/>
          <a:lstStyle/>
          <a:p>
            <a:pPr marL="228600" lvl="1">
              <a:spcBef>
                <a:spcPts val="1000"/>
              </a:spcBef>
            </a:pPr>
            <a:r>
              <a:rPr lang="en-US" altLang="zh-CN" sz="2800" dirty="0" smtClean="0"/>
              <a:t>Address </a:t>
            </a:r>
            <a:r>
              <a:rPr lang="en-US" altLang="zh-CN" sz="2800" dirty="0"/>
              <a:t>aliasing </a:t>
            </a:r>
            <a:r>
              <a:rPr lang="en-US" altLang="zh-CN" sz="2800" dirty="0" smtClean="0"/>
              <a:t>prediction</a:t>
            </a:r>
          </a:p>
          <a:p>
            <a:pPr marL="685800" lvl="2">
              <a:spcBef>
                <a:spcPts val="1000"/>
              </a:spcBef>
            </a:pPr>
            <a:r>
              <a:rPr lang="en-US" altLang="zh-CN" sz="2400" dirty="0" smtClean="0"/>
              <a:t>Determine </a:t>
            </a:r>
            <a:r>
              <a:rPr lang="en-US" altLang="zh-CN" sz="2400" dirty="0"/>
              <a:t>if two stores or a load and a store reference the same </a:t>
            </a:r>
            <a:r>
              <a:rPr lang="en-US" altLang="zh-CN" sz="2400" dirty="0" smtClean="0"/>
              <a:t>address. If not, can change their order</a:t>
            </a:r>
          </a:p>
          <a:p>
            <a:pPr marL="685800" lvl="2">
              <a:spcBef>
                <a:spcPts val="1000"/>
              </a:spcBef>
            </a:pPr>
            <a:r>
              <a:rPr lang="en-US" altLang="zh-CN" sz="2400" dirty="0"/>
              <a:t>U</a:t>
            </a:r>
            <a:r>
              <a:rPr lang="en-US" altLang="zh-CN" sz="2400" dirty="0" smtClean="0"/>
              <a:t>sed in </a:t>
            </a:r>
            <a:r>
              <a:rPr lang="en-US" altLang="zh-CN" sz="2400" dirty="0"/>
              <a:t>some processors </a:t>
            </a:r>
            <a:r>
              <a:rPr lang="en-US" altLang="zh-CN" sz="2400" dirty="0" smtClean="0"/>
              <a:t>to </a:t>
            </a:r>
            <a:r>
              <a:rPr lang="en-US" altLang="zh-CN" sz="2400" dirty="0"/>
              <a:t>allow for reordering</a:t>
            </a:r>
          </a:p>
          <a:p>
            <a:r>
              <a:rPr lang="en-US" dirty="0" smtClean="0"/>
              <a:t>Value prediction</a:t>
            </a:r>
          </a:p>
          <a:p>
            <a:pPr lvl="1"/>
            <a:r>
              <a:rPr lang="en-US" altLang="zh-CN" dirty="0"/>
              <a:t>P</a:t>
            </a:r>
            <a:r>
              <a:rPr lang="en-US" altLang="zh-CN" dirty="0" smtClean="0"/>
              <a:t>redict </a:t>
            </a:r>
            <a:r>
              <a:rPr lang="en-US" altLang="zh-CN" dirty="0"/>
              <a:t>the value that will be produced by an </a:t>
            </a:r>
            <a:r>
              <a:rPr lang="en-US" altLang="zh-CN" dirty="0" smtClean="0"/>
              <a:t>instruction</a:t>
            </a:r>
          </a:p>
          <a:p>
            <a:pPr lvl="1"/>
            <a:r>
              <a:rPr lang="en-US" dirty="0" smtClean="0"/>
              <a:t>Uses:</a:t>
            </a:r>
          </a:p>
          <a:p>
            <a:pPr lvl="2"/>
            <a:r>
              <a:rPr lang="en-US" dirty="0" smtClean="0"/>
              <a:t>Loads that load from a constant pool</a:t>
            </a:r>
          </a:p>
          <a:p>
            <a:pPr lvl="2"/>
            <a:r>
              <a:rPr lang="en-US" dirty="0" smtClean="0"/>
              <a:t>Instruction that produces a value from a small set of values</a:t>
            </a:r>
          </a:p>
          <a:p>
            <a:pPr lvl="1"/>
            <a:r>
              <a:rPr lang="en-US" altLang="zh-CN" dirty="0" smtClean="0"/>
              <a:t>If highly </a:t>
            </a:r>
            <a:r>
              <a:rPr lang="en-US" altLang="zh-CN" dirty="0"/>
              <a:t>accurate</a:t>
            </a:r>
            <a:r>
              <a:rPr lang="en-US" altLang="zh-CN" dirty="0" smtClean="0"/>
              <a:t>, can </a:t>
            </a:r>
            <a:r>
              <a:rPr lang="en-US" altLang="zh-CN" dirty="0"/>
              <a:t>eliminate data flow restrictions and </a:t>
            </a:r>
            <a:r>
              <a:rPr lang="en-US" altLang="zh-CN" dirty="0" smtClean="0"/>
              <a:t>achieve higher </a:t>
            </a:r>
            <a:r>
              <a:rPr lang="en-US" altLang="zh-CN" dirty="0"/>
              <a:t>rates of ILP</a:t>
            </a:r>
            <a:endParaRPr lang="en-US" dirty="0" smtClean="0"/>
          </a:p>
          <a:p>
            <a:pPr lvl="1"/>
            <a:r>
              <a:rPr lang="en-US" dirty="0" smtClean="0"/>
              <a:t>Still under investigation</a:t>
            </a:r>
          </a:p>
        </p:txBody>
      </p:sp>
    </p:spTree>
    <p:extLst>
      <p:ext uri="{BB962C8B-B14F-4D97-AF65-F5344CB8AC3E}">
        <p14:creationId xmlns:p14="http://schemas.microsoft.com/office/powerpoint/2010/main" val="1387083992"/>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8402" name="Rectangle 2"/>
          <p:cNvSpPr>
            <a:spLocks noGrp="1" noChangeArrowheads="1"/>
          </p:cNvSpPr>
          <p:nvPr>
            <p:ph type="title"/>
          </p:nvPr>
        </p:nvSpPr>
        <p:spPr/>
        <p:txBody>
          <a:bodyPr/>
          <a:lstStyle/>
          <a:p>
            <a:r>
              <a:rPr lang="en-US" altLang="en-US" smtClean="0"/>
              <a:t>Limits to ILP</a:t>
            </a:r>
            <a:endParaRPr lang="en-US" altLang="en-US"/>
          </a:p>
        </p:txBody>
      </p:sp>
      <p:sp>
        <p:nvSpPr>
          <p:cNvPr id="998403" name="Rectangle 3"/>
          <p:cNvSpPr>
            <a:spLocks noGrp="1" noChangeArrowheads="1"/>
          </p:cNvSpPr>
          <p:nvPr>
            <p:ph type="body" idx="1"/>
          </p:nvPr>
        </p:nvSpPr>
        <p:spPr/>
        <p:txBody>
          <a:bodyPr/>
          <a:lstStyle/>
          <a:p>
            <a:r>
              <a:rPr lang="en-US" altLang="en-US" smtClean="0"/>
              <a:t>Conflicting studies of amount</a:t>
            </a:r>
          </a:p>
          <a:p>
            <a:pPr lvl="1"/>
            <a:r>
              <a:rPr lang="en-US" altLang="en-US" smtClean="0"/>
              <a:t>Benchmarks (vectorized Fortran FP vs. integer C programs)</a:t>
            </a:r>
          </a:p>
          <a:p>
            <a:pPr lvl="1"/>
            <a:r>
              <a:rPr lang="en-US" altLang="en-US" smtClean="0"/>
              <a:t>Hardware sophistication</a:t>
            </a:r>
          </a:p>
          <a:p>
            <a:pPr lvl="1"/>
            <a:r>
              <a:rPr lang="en-US" altLang="en-US" smtClean="0"/>
              <a:t>Compiler sophistication</a:t>
            </a:r>
          </a:p>
          <a:p>
            <a:r>
              <a:rPr lang="en-US" altLang="en-US" smtClean="0"/>
              <a:t>How much ILP is available using existing mechanisms with increasing HW budgets?</a:t>
            </a:r>
          </a:p>
          <a:p>
            <a:r>
              <a:rPr lang="en-US" altLang="en-US" smtClean="0"/>
              <a:t>Do we need to invent new HW/SW mechanisms to keep on processor performance curve?</a:t>
            </a:r>
          </a:p>
          <a:p>
            <a:pPr lvl="1"/>
            <a:r>
              <a:rPr lang="en-US" altLang="en-US" smtClean="0"/>
              <a:t>Intel MMX, SSE (Streaming SIMD Extensions): 64 bit ints </a:t>
            </a:r>
          </a:p>
          <a:p>
            <a:pPr lvl="1"/>
            <a:r>
              <a:rPr lang="en-US" altLang="en-US" smtClean="0"/>
              <a:t>Intel SSE2: 128 bit, including 2 64-bit Fl. Pt. per clock</a:t>
            </a:r>
          </a:p>
          <a:p>
            <a:pPr lvl="1"/>
            <a:r>
              <a:rPr lang="en-US" altLang="en-US" smtClean="0"/>
              <a:t>Motorola AltaVec: 128 bit ints and FPs</a:t>
            </a:r>
          </a:p>
          <a:p>
            <a:pPr lvl="1"/>
            <a:r>
              <a:rPr lang="en-US" altLang="en-US" smtClean="0"/>
              <a:t>Supersparc Multimedia ops, etc.</a:t>
            </a:r>
            <a:endParaRPr lang="en-US" altLang="en-US"/>
          </a:p>
        </p:txBody>
      </p:sp>
    </p:spTree>
    <p:extLst>
      <p:ext uri="{BB962C8B-B14F-4D97-AF65-F5344CB8AC3E}">
        <p14:creationId xmlns:p14="http://schemas.microsoft.com/office/powerpoint/2010/main" val="291877493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9840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99840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99840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998403">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998403">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99840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99840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99840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99840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499"/>
                                          </p:stCondLst>
                                        </p:cTn>
                                        <p:tgtEl>
                                          <p:spTgt spid="99840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8403" grpId="0" build="p" autoUpdateAnimBg="0"/>
    </p:bldLst>
  </p:timing>
</p:sld>
</file>

<file path=ppt/slides/slide1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9426" name="Rectangle 2"/>
          <p:cNvSpPr>
            <a:spLocks noGrp="1" noChangeArrowheads="1"/>
          </p:cNvSpPr>
          <p:nvPr>
            <p:ph type="title"/>
          </p:nvPr>
        </p:nvSpPr>
        <p:spPr>
          <a:xfrm>
            <a:off x="1271464" y="260648"/>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en-US" dirty="0" smtClean="0"/>
              <a:t>The approach of study</a:t>
            </a:r>
            <a:endParaRPr lang="en-US" altLang="en-US" dirty="0"/>
          </a:p>
        </p:txBody>
      </p:sp>
      <p:sp>
        <p:nvSpPr>
          <p:cNvPr id="999427" name="Rectangle 3"/>
          <p:cNvSpPr>
            <a:spLocks noGrp="1" noChangeArrowheads="1"/>
          </p:cNvSpPr>
          <p:nvPr>
            <p:ph type="body" idx="1"/>
          </p:nvPr>
        </p:nvSpPr>
        <p:spPr>
          <a:xfrm>
            <a:off x="695400" y="1628800"/>
            <a:ext cx="11017224" cy="515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nSpc>
                <a:spcPct val="80000"/>
              </a:lnSpc>
              <a:spcBef>
                <a:spcPct val="10000"/>
              </a:spcBef>
              <a:buFont typeface="Wingdings" panose="05000000000000000000" pitchFamily="2" charset="2"/>
              <a:buNone/>
            </a:pPr>
            <a:r>
              <a:rPr lang="en-US" altLang="en-US" dirty="0"/>
              <a:t>Initial HW Model here; MIPS compilers. </a:t>
            </a:r>
          </a:p>
          <a:p>
            <a:pPr>
              <a:lnSpc>
                <a:spcPct val="80000"/>
              </a:lnSpc>
              <a:spcBef>
                <a:spcPct val="10000"/>
              </a:spcBef>
              <a:buFont typeface="Wingdings" panose="05000000000000000000" pitchFamily="2" charset="2"/>
              <a:buNone/>
            </a:pPr>
            <a:r>
              <a:rPr lang="en-US" altLang="en-US" dirty="0"/>
              <a:t>Assumptions for ideal/perfect machine to start:</a:t>
            </a:r>
            <a:endParaRPr lang="en-US" altLang="en-US" sz="2400" dirty="0"/>
          </a:p>
          <a:p>
            <a:pPr>
              <a:lnSpc>
                <a:spcPct val="80000"/>
              </a:lnSpc>
              <a:spcBef>
                <a:spcPct val="10000"/>
              </a:spcBef>
              <a:buFont typeface="Wingdings" panose="05000000000000000000" pitchFamily="2" charset="2"/>
              <a:buNone/>
            </a:pPr>
            <a:r>
              <a:rPr lang="en-US" altLang="en-US" dirty="0"/>
              <a:t>	1. </a:t>
            </a:r>
            <a:r>
              <a:rPr lang="en-US" altLang="en-US" i="1" dirty="0">
                <a:solidFill>
                  <a:srgbClr val="FF0000"/>
                </a:solidFill>
              </a:rPr>
              <a:t>Register renaming</a:t>
            </a:r>
            <a:r>
              <a:rPr lang="en-US" altLang="en-US" i="1" dirty="0">
                <a:solidFill>
                  <a:schemeClr val="hlink"/>
                </a:solidFill>
              </a:rPr>
              <a:t> </a:t>
            </a:r>
            <a:r>
              <a:rPr lang="en-US" altLang="en-US" dirty="0"/>
              <a:t>– infinite virtual registers </a:t>
            </a:r>
            <a:br>
              <a:rPr lang="en-US" altLang="en-US" dirty="0"/>
            </a:br>
            <a:r>
              <a:rPr lang="en-US" altLang="en-US" dirty="0"/>
              <a:t>=&gt; all register WAW &amp; WAR hazards are avoided</a:t>
            </a:r>
          </a:p>
          <a:p>
            <a:pPr>
              <a:lnSpc>
                <a:spcPct val="80000"/>
              </a:lnSpc>
              <a:spcBef>
                <a:spcPct val="10000"/>
              </a:spcBef>
              <a:buFont typeface="Wingdings" panose="05000000000000000000" pitchFamily="2" charset="2"/>
              <a:buNone/>
            </a:pPr>
            <a:r>
              <a:rPr lang="en-US" altLang="en-US" dirty="0"/>
              <a:t>	2. </a:t>
            </a:r>
            <a:r>
              <a:rPr lang="en-US" altLang="en-US" i="1" dirty="0">
                <a:solidFill>
                  <a:srgbClr val="FF0000"/>
                </a:solidFill>
              </a:rPr>
              <a:t>Branch prediction</a:t>
            </a:r>
            <a:r>
              <a:rPr lang="en-US" altLang="en-US" i="1" dirty="0">
                <a:solidFill>
                  <a:schemeClr val="hlink"/>
                </a:solidFill>
              </a:rPr>
              <a:t> </a:t>
            </a:r>
            <a:r>
              <a:rPr lang="en-US" altLang="en-US" dirty="0"/>
              <a:t>– perfect; no </a:t>
            </a:r>
            <a:r>
              <a:rPr lang="en-US" altLang="en-US" dirty="0" err="1"/>
              <a:t>mispredictions</a:t>
            </a:r>
            <a:r>
              <a:rPr lang="en-US" altLang="en-US" dirty="0"/>
              <a:t> </a:t>
            </a:r>
          </a:p>
          <a:p>
            <a:pPr>
              <a:lnSpc>
                <a:spcPct val="80000"/>
              </a:lnSpc>
              <a:spcBef>
                <a:spcPct val="10000"/>
              </a:spcBef>
              <a:buFont typeface="Wingdings" panose="05000000000000000000" pitchFamily="2" charset="2"/>
              <a:buNone/>
            </a:pPr>
            <a:r>
              <a:rPr lang="en-US" altLang="en-US" dirty="0"/>
              <a:t>	3. </a:t>
            </a:r>
            <a:r>
              <a:rPr lang="en-US" altLang="en-US" i="1" dirty="0">
                <a:solidFill>
                  <a:srgbClr val="FF0000"/>
                </a:solidFill>
              </a:rPr>
              <a:t>Jump prediction</a:t>
            </a:r>
            <a:r>
              <a:rPr lang="en-US" altLang="en-US" i="1" dirty="0">
                <a:solidFill>
                  <a:schemeClr val="hlink"/>
                </a:solidFill>
              </a:rPr>
              <a:t> </a:t>
            </a:r>
            <a:r>
              <a:rPr lang="en-US" altLang="en-US" dirty="0"/>
              <a:t>– all jumps perfectly predicted </a:t>
            </a:r>
            <a:br>
              <a:rPr lang="en-US" altLang="en-US" dirty="0"/>
            </a:br>
            <a:r>
              <a:rPr lang="en-US" altLang="en-US" dirty="0"/>
              <a:t>2 &amp; 3 =&gt; machine with perfect speculation &amp; an unbounded buffer of instructions available</a:t>
            </a:r>
          </a:p>
          <a:p>
            <a:pPr>
              <a:lnSpc>
                <a:spcPct val="80000"/>
              </a:lnSpc>
              <a:spcBef>
                <a:spcPct val="10000"/>
              </a:spcBef>
              <a:buFont typeface="Wingdings" panose="05000000000000000000" pitchFamily="2" charset="2"/>
              <a:buNone/>
            </a:pPr>
            <a:r>
              <a:rPr lang="en-US" altLang="en-US" dirty="0"/>
              <a:t>	4. </a:t>
            </a:r>
            <a:r>
              <a:rPr lang="en-US" altLang="en-US" i="1" dirty="0">
                <a:solidFill>
                  <a:srgbClr val="FF0000"/>
                </a:solidFill>
              </a:rPr>
              <a:t>Memory-address alias analysis</a:t>
            </a:r>
            <a:r>
              <a:rPr lang="en-US" altLang="en-US" i="1" dirty="0">
                <a:solidFill>
                  <a:schemeClr val="hlink"/>
                </a:solidFill>
              </a:rPr>
              <a:t> </a:t>
            </a:r>
            <a:r>
              <a:rPr lang="en-US" altLang="en-US" dirty="0"/>
              <a:t>– addresses are known &amp; a store can be moved before a load provided addresses not equal</a:t>
            </a:r>
          </a:p>
          <a:p>
            <a:pPr>
              <a:lnSpc>
                <a:spcPct val="80000"/>
              </a:lnSpc>
              <a:spcBef>
                <a:spcPct val="10000"/>
              </a:spcBef>
              <a:buFont typeface="Wingdings" panose="05000000000000000000" pitchFamily="2" charset="2"/>
              <a:buNone/>
            </a:pPr>
            <a:r>
              <a:rPr lang="en-US" altLang="en-US" dirty="0"/>
              <a:t>Also: </a:t>
            </a:r>
            <a:br>
              <a:rPr lang="en-US" altLang="en-US" dirty="0"/>
            </a:br>
            <a:r>
              <a:rPr lang="en-US" altLang="en-US" dirty="0"/>
              <a:t>unlimited number of instructions issued/clock cycle; perfect caches;</a:t>
            </a:r>
            <a:br>
              <a:rPr lang="en-US" altLang="en-US" dirty="0"/>
            </a:br>
            <a:r>
              <a:rPr lang="en-US" altLang="en-US" dirty="0"/>
              <a:t>1 cycle latency for all instructions (FP *,/);</a:t>
            </a:r>
          </a:p>
        </p:txBody>
      </p:sp>
    </p:spTree>
    <p:extLst>
      <p:ext uri="{BB962C8B-B14F-4D97-AF65-F5344CB8AC3E}">
        <p14:creationId xmlns:p14="http://schemas.microsoft.com/office/powerpoint/2010/main" val="1035359785"/>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9942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9942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9942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9942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99427">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999427">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99942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9427" grpId="0" build="p" autoUpdateAnimBg="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450" name="Rectangle 2"/>
          <p:cNvSpPr>
            <a:spLocks noGrp="1" noChangeArrowheads="1"/>
          </p:cNvSpPr>
          <p:nvPr>
            <p:ph type="title"/>
          </p:nvPr>
        </p:nvSpPr>
        <p:spPr>
          <a:xfrm>
            <a:off x="911424" y="152400"/>
            <a:ext cx="9070776"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en-US" dirty="0"/>
              <a:t>Upper Limit to ILP: Ideal Machine</a:t>
            </a:r>
            <a:endParaRPr lang="en-US" altLang="en-US" sz="2000" b="1" dirty="0">
              <a:solidFill>
                <a:schemeClr val="tx1"/>
              </a:solidFill>
            </a:endParaRPr>
          </a:p>
        </p:txBody>
      </p:sp>
      <p:pic>
        <p:nvPicPr>
          <p:cNvPr id="1000451" name="Picture 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0" y="1371600"/>
            <a:ext cx="8331200" cy="549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0452" name="Rectangle 4"/>
          <p:cNvSpPr>
            <a:spLocks noChangeArrowheads="1"/>
          </p:cNvSpPr>
          <p:nvPr/>
        </p:nvSpPr>
        <p:spPr bwMode="auto">
          <a:xfrm>
            <a:off x="3738564" y="2424113"/>
            <a:ext cx="2354813"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400" b="1"/>
              <a:t>Integer: 18 - 60</a:t>
            </a:r>
          </a:p>
        </p:txBody>
      </p:sp>
      <p:sp>
        <p:nvSpPr>
          <p:cNvPr id="1000453" name="Rectangle 5"/>
          <p:cNvSpPr>
            <a:spLocks noChangeArrowheads="1"/>
          </p:cNvSpPr>
          <p:nvPr/>
        </p:nvSpPr>
        <p:spPr bwMode="auto">
          <a:xfrm>
            <a:off x="6958013" y="1871663"/>
            <a:ext cx="1893148"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400" b="1"/>
              <a:t>FP: 75 - 150</a:t>
            </a:r>
          </a:p>
        </p:txBody>
      </p:sp>
      <p:sp>
        <p:nvSpPr>
          <p:cNvPr id="1000454" name="Rectangle 6"/>
          <p:cNvSpPr>
            <a:spLocks noChangeArrowheads="1"/>
          </p:cNvSpPr>
          <p:nvPr/>
        </p:nvSpPr>
        <p:spPr bwMode="auto">
          <a:xfrm rot="16200000">
            <a:off x="1643631" y="3643515"/>
            <a:ext cx="867226"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3200" b="1"/>
              <a:t>IPC</a:t>
            </a:r>
          </a:p>
        </p:txBody>
      </p:sp>
    </p:spTree>
    <p:extLst>
      <p:ext uri="{BB962C8B-B14F-4D97-AF65-F5344CB8AC3E}">
        <p14:creationId xmlns:p14="http://schemas.microsoft.com/office/powerpoint/2010/main" val="1091350436"/>
      </p:ext>
    </p:extLst>
  </p:cSld>
  <p:clrMapOvr>
    <a:masterClrMapping/>
  </p:clrMapOvr>
  <p:transition>
    <p:wipe/>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1474" name="Object 2">
            <a:hlinkClick r:id="" action="ppaction://ole?verb=0"/>
          </p:cNvPr>
          <p:cNvGraphicFramePr>
            <a:graphicFrameLocks/>
          </p:cNvGraphicFramePr>
          <p:nvPr>
            <p:extLst>
              <p:ext uri="{D42A27DB-BD31-4B8C-83A1-F6EECF244321}">
                <p14:modId xmlns:p14="http://schemas.microsoft.com/office/powerpoint/2010/main" val="1442867192"/>
              </p:ext>
            </p:extLst>
          </p:nvPr>
        </p:nvGraphicFramePr>
        <p:xfrm>
          <a:off x="3433812" y="1223218"/>
          <a:ext cx="8278812" cy="5518150"/>
        </p:xfrm>
        <a:graphic>
          <a:graphicData uri="http://schemas.openxmlformats.org/presentationml/2006/ole">
            <mc:AlternateContent xmlns:mc="http://schemas.openxmlformats.org/markup-compatibility/2006">
              <mc:Choice xmlns:v="urn:schemas-microsoft-com:vml" Requires="v">
                <p:oleObj spid="_x0000_s90180" name="图表" r:id="rId3" imgW="8382174" imgH="5722538" progId="Excel.Chart.8">
                  <p:embed followColorScheme="full"/>
                </p:oleObj>
              </mc:Choice>
              <mc:Fallback>
                <p:oleObj name="图表" r:id="rId3" imgW="8382174" imgH="5722538" progId="Excel.Chart.8">
                  <p:embed followColorScheme="full"/>
                  <p:pic>
                    <p:nvPicPr>
                      <p:cNvPr id="1001474" name="Object 2">
                        <a:hlinkClick r:id="" action="ppaction://ole?verb=0"/>
                      </p:cNvPr>
                      <p:cNvPicPr>
                        <a:picLocks noChangeArrowheads="1"/>
                      </p:cNvPicPr>
                      <p:nvPr/>
                    </p:nvPicPr>
                    <p:blipFill>
                      <a:blip r:embed="rId4"/>
                      <a:srcRect/>
                      <a:stretch>
                        <a:fillRect/>
                      </a:stretch>
                    </p:blipFill>
                    <p:spPr bwMode="auto">
                      <a:xfrm>
                        <a:off x="3433812" y="1223218"/>
                        <a:ext cx="8278812" cy="55181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01475" name="Rectangle 3"/>
          <p:cNvSpPr>
            <a:spLocks noGrp="1" noChangeArrowheads="1"/>
          </p:cNvSpPr>
          <p:nvPr>
            <p:ph type="title"/>
          </p:nvPr>
        </p:nvSpPr>
        <p:spPr>
          <a:xfrm>
            <a:off x="1943100" y="400050"/>
            <a:ext cx="9265468" cy="381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en-US" dirty="0"/>
              <a:t>More Realistic HW: Branch Impact</a:t>
            </a:r>
            <a:endParaRPr lang="en-US" altLang="en-US" sz="2000" b="1" dirty="0">
              <a:solidFill>
                <a:schemeClr val="tx1"/>
              </a:solidFill>
            </a:endParaRPr>
          </a:p>
        </p:txBody>
      </p:sp>
      <p:sp>
        <p:nvSpPr>
          <p:cNvPr id="1001477" name="Rectangle 5"/>
          <p:cNvSpPr>
            <a:spLocks noChangeArrowheads="1"/>
          </p:cNvSpPr>
          <p:nvPr/>
        </p:nvSpPr>
        <p:spPr bwMode="auto">
          <a:xfrm>
            <a:off x="8383638" y="6147643"/>
            <a:ext cx="90088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b="1">
                <a:latin typeface="Arial" panose="020B0604020202020204" pitchFamily="34" charset="0"/>
              </a:rPr>
              <a:t>Profile</a:t>
            </a:r>
          </a:p>
        </p:txBody>
      </p:sp>
      <p:sp>
        <p:nvSpPr>
          <p:cNvPr id="1001478" name="Rectangle 6"/>
          <p:cNvSpPr>
            <a:spLocks noChangeArrowheads="1"/>
          </p:cNvSpPr>
          <p:nvPr/>
        </p:nvSpPr>
        <p:spPr bwMode="auto">
          <a:xfrm>
            <a:off x="6910438" y="6147643"/>
            <a:ext cx="1259961"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b="1">
                <a:solidFill>
                  <a:schemeClr val="accent1"/>
                </a:solidFill>
                <a:latin typeface="Arial" panose="020B0604020202020204" pitchFamily="34" charset="0"/>
              </a:rPr>
              <a:t>BHT (512)</a:t>
            </a:r>
          </a:p>
        </p:txBody>
      </p:sp>
      <p:sp>
        <p:nvSpPr>
          <p:cNvPr id="1001479" name="Rectangle 7"/>
          <p:cNvSpPr>
            <a:spLocks noChangeArrowheads="1"/>
          </p:cNvSpPr>
          <p:nvPr/>
        </p:nvSpPr>
        <p:spPr bwMode="auto">
          <a:xfrm>
            <a:off x="4865738" y="6147643"/>
            <a:ext cx="15017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b="1">
                <a:solidFill>
                  <a:schemeClr val="accent2"/>
                </a:solidFill>
                <a:latin typeface="Arial" panose="020B0604020202020204" pitchFamily="34" charset="0"/>
              </a:rPr>
              <a:t>Tournament</a:t>
            </a:r>
          </a:p>
        </p:txBody>
      </p:sp>
      <p:sp>
        <p:nvSpPr>
          <p:cNvPr id="1001480" name="Rectangle 8"/>
          <p:cNvSpPr>
            <a:spLocks noChangeArrowheads="1"/>
          </p:cNvSpPr>
          <p:nvPr/>
        </p:nvSpPr>
        <p:spPr bwMode="auto">
          <a:xfrm>
            <a:off x="3824338" y="6147643"/>
            <a:ext cx="96500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b="1">
                <a:solidFill>
                  <a:schemeClr val="hlink"/>
                </a:solidFill>
                <a:latin typeface="Arial" panose="020B0604020202020204" pitchFamily="34" charset="0"/>
              </a:rPr>
              <a:t>Perfect</a:t>
            </a:r>
          </a:p>
        </p:txBody>
      </p:sp>
      <p:sp>
        <p:nvSpPr>
          <p:cNvPr id="1001481" name="Rectangle 9"/>
          <p:cNvSpPr>
            <a:spLocks noChangeArrowheads="1"/>
          </p:cNvSpPr>
          <p:nvPr/>
        </p:nvSpPr>
        <p:spPr bwMode="auto">
          <a:xfrm>
            <a:off x="9888588" y="6185743"/>
            <a:ext cx="1670330"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b="1">
                <a:solidFill>
                  <a:srgbClr val="DC0081"/>
                </a:solidFill>
                <a:latin typeface="Arial" panose="020B0604020202020204" pitchFamily="34" charset="0"/>
              </a:rPr>
              <a:t>No prediction</a:t>
            </a:r>
          </a:p>
        </p:txBody>
      </p:sp>
      <p:sp>
        <p:nvSpPr>
          <p:cNvPr id="1001482" name="Rectangle 10"/>
          <p:cNvSpPr>
            <a:spLocks noChangeArrowheads="1"/>
          </p:cNvSpPr>
          <p:nvPr/>
        </p:nvSpPr>
        <p:spPr bwMode="auto">
          <a:xfrm>
            <a:off x="9285337" y="1066056"/>
            <a:ext cx="172162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400" b="1" dirty="0"/>
              <a:t>FP: 15 - 45</a:t>
            </a:r>
          </a:p>
        </p:txBody>
      </p:sp>
      <p:sp>
        <p:nvSpPr>
          <p:cNvPr id="1001483" name="Rectangle 11"/>
          <p:cNvSpPr>
            <a:spLocks noChangeArrowheads="1"/>
          </p:cNvSpPr>
          <p:nvPr/>
        </p:nvSpPr>
        <p:spPr bwMode="auto">
          <a:xfrm>
            <a:off x="5703938" y="3142506"/>
            <a:ext cx="2183291"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400" b="1"/>
              <a:t>Integer: 6 - 12</a:t>
            </a:r>
          </a:p>
        </p:txBody>
      </p:sp>
      <p:sp>
        <p:nvSpPr>
          <p:cNvPr id="1001484" name="Rectangle 12"/>
          <p:cNvSpPr>
            <a:spLocks noChangeArrowheads="1"/>
          </p:cNvSpPr>
          <p:nvPr/>
        </p:nvSpPr>
        <p:spPr bwMode="auto">
          <a:xfrm rot="16200000">
            <a:off x="2980355" y="3695158"/>
            <a:ext cx="867226"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3200" b="1"/>
              <a:t>IPC</a:t>
            </a:r>
          </a:p>
        </p:txBody>
      </p:sp>
      <p:sp>
        <p:nvSpPr>
          <p:cNvPr id="1001485" name="Text Box 13"/>
          <p:cNvSpPr txBox="1">
            <a:spLocks noChangeArrowheads="1"/>
          </p:cNvSpPr>
          <p:nvPr/>
        </p:nvSpPr>
        <p:spPr bwMode="auto">
          <a:xfrm>
            <a:off x="436859" y="1484784"/>
            <a:ext cx="6235205"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eaLnBrk="1" hangingPunct="1"/>
            <a:r>
              <a:rPr lang="en-US" altLang="en-US" sz="2800" dirty="0">
                <a:solidFill>
                  <a:srgbClr val="3333CC"/>
                </a:solidFill>
              </a:rPr>
              <a:t>Change from Infinite window to examine to 2000 and maximum issue of 64 instructions per clock cycle</a:t>
            </a:r>
            <a:endParaRPr lang="zh-CN" altLang="en-US" sz="2800" dirty="0"/>
          </a:p>
        </p:txBody>
      </p:sp>
    </p:spTree>
    <p:extLst>
      <p:ext uri="{BB962C8B-B14F-4D97-AF65-F5344CB8AC3E}">
        <p14:creationId xmlns:p14="http://schemas.microsoft.com/office/powerpoint/2010/main" val="1458279981"/>
      </p:ext>
    </p:extLst>
  </p:cSld>
  <p:clrMapOvr>
    <a:masterClrMapping/>
  </p:clrMapOvr>
  <p:transition>
    <p:wipe/>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2498" name="Object 2">
            <a:hlinkClick r:id="" action="ppaction://ole?verb=0"/>
          </p:cNvPr>
          <p:cNvGraphicFramePr>
            <a:graphicFrameLocks/>
          </p:cNvGraphicFramePr>
          <p:nvPr/>
        </p:nvGraphicFramePr>
        <p:xfrm>
          <a:off x="1854200" y="1084264"/>
          <a:ext cx="8255000" cy="5507037"/>
        </p:xfrm>
        <a:graphic>
          <a:graphicData uri="http://schemas.openxmlformats.org/presentationml/2006/ole">
            <mc:AlternateContent xmlns:mc="http://schemas.openxmlformats.org/markup-compatibility/2006">
              <mc:Choice xmlns:v="urn:schemas-microsoft-com:vml" Requires="v">
                <p:oleObj spid="_x0000_s91203" name="图表" r:id="rId3" imgW="8359224" imgH="5707339" progId="Excel.Chart.8">
                  <p:embed followColorScheme="full"/>
                </p:oleObj>
              </mc:Choice>
              <mc:Fallback>
                <p:oleObj name="图表" r:id="rId3" imgW="8359224" imgH="5707339" progId="Excel.Chart.8">
                  <p:embed followColorScheme="full"/>
                  <p:pic>
                    <p:nvPicPr>
                      <p:cNvPr id="1002498" name="Object 2">
                        <a:hlinkClick r:id="" action="ppaction://ole?verb=0"/>
                      </p:cNvPr>
                      <p:cNvPicPr>
                        <a:picLocks noChangeArrowheads="1"/>
                      </p:cNvPicPr>
                      <p:nvPr/>
                    </p:nvPicPr>
                    <p:blipFill>
                      <a:blip r:embed="rId4"/>
                      <a:srcRect/>
                      <a:stretch>
                        <a:fillRect/>
                      </a:stretch>
                    </p:blipFill>
                    <p:spPr bwMode="auto">
                      <a:xfrm>
                        <a:off x="1854200" y="1084264"/>
                        <a:ext cx="8255000" cy="55070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02499" name="Rectangle 3"/>
          <p:cNvSpPr>
            <a:spLocks noGrp="1" noChangeArrowheads="1"/>
          </p:cNvSpPr>
          <p:nvPr>
            <p:ph type="title"/>
          </p:nvPr>
        </p:nvSpPr>
        <p:spPr>
          <a:xfrm>
            <a:off x="839416" y="64665"/>
            <a:ext cx="8820150" cy="1205932"/>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en-US" dirty="0"/>
              <a:t>More Realistic HW: </a:t>
            </a:r>
            <a:br>
              <a:rPr lang="en-US" altLang="en-US" dirty="0"/>
            </a:br>
            <a:r>
              <a:rPr lang="en-US" altLang="en-US" dirty="0"/>
              <a:t>Renaming Register Impact</a:t>
            </a:r>
            <a:endParaRPr lang="en-US" altLang="en-US" sz="1800" b="1" dirty="0">
              <a:solidFill>
                <a:schemeClr val="tx1"/>
              </a:solidFill>
            </a:endParaRPr>
          </a:p>
        </p:txBody>
      </p:sp>
      <p:sp>
        <p:nvSpPr>
          <p:cNvPr id="1002500" name="Rectangle 4"/>
          <p:cNvSpPr>
            <a:spLocks noGrp="1" noChangeArrowheads="1"/>
          </p:cNvSpPr>
          <p:nvPr>
            <p:ph type="body" idx="1"/>
          </p:nvPr>
        </p:nvSpPr>
        <p:spPr>
          <a:xfrm>
            <a:off x="2667000" y="1600200"/>
            <a:ext cx="3619500" cy="12573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buFont typeface="Wingdings" panose="05000000000000000000" pitchFamily="2" charset="2"/>
              <a:buNone/>
            </a:pPr>
            <a:r>
              <a:rPr lang="zh-CN" altLang="en-US"/>
              <a:t>	</a:t>
            </a:r>
            <a:r>
              <a:rPr lang="en-US" altLang="en-US"/>
              <a:t>Change  2000 instr window, 64 instr issue, 8K 2 level Prediction</a:t>
            </a:r>
          </a:p>
        </p:txBody>
      </p:sp>
      <p:sp>
        <p:nvSpPr>
          <p:cNvPr id="1002501" name="Rectangle 5"/>
          <p:cNvSpPr>
            <a:spLocks noChangeArrowheads="1"/>
          </p:cNvSpPr>
          <p:nvPr/>
        </p:nvSpPr>
        <p:spPr bwMode="auto">
          <a:xfrm>
            <a:off x="6310313" y="6389688"/>
            <a:ext cx="52578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en-US" sz="2400" b="1"/>
              <a:t>64</a:t>
            </a:r>
          </a:p>
        </p:txBody>
      </p:sp>
      <p:sp>
        <p:nvSpPr>
          <p:cNvPr id="1002502" name="Rectangle 6"/>
          <p:cNvSpPr>
            <a:spLocks noChangeArrowheads="1"/>
          </p:cNvSpPr>
          <p:nvPr/>
        </p:nvSpPr>
        <p:spPr bwMode="auto">
          <a:xfrm>
            <a:off x="7897814" y="6389688"/>
            <a:ext cx="95218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400" b="1">
                <a:solidFill>
                  <a:schemeClr val="accent1"/>
                </a:solidFill>
              </a:rPr>
              <a:t>None</a:t>
            </a:r>
          </a:p>
        </p:txBody>
      </p:sp>
      <p:sp>
        <p:nvSpPr>
          <p:cNvPr id="1002503" name="Rectangle 7"/>
          <p:cNvSpPr>
            <a:spLocks noChangeArrowheads="1"/>
          </p:cNvSpPr>
          <p:nvPr/>
        </p:nvSpPr>
        <p:spPr bwMode="auto">
          <a:xfrm>
            <a:off x="4621213" y="6389688"/>
            <a:ext cx="697308"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en-US" sz="2400" b="1" dirty="0">
                <a:solidFill>
                  <a:schemeClr val="accent2"/>
                </a:solidFill>
              </a:rPr>
              <a:t>256</a:t>
            </a:r>
          </a:p>
        </p:txBody>
      </p:sp>
      <p:sp>
        <p:nvSpPr>
          <p:cNvPr id="1002504" name="Rectangle 8"/>
          <p:cNvSpPr>
            <a:spLocks noChangeArrowheads="1"/>
          </p:cNvSpPr>
          <p:nvPr/>
        </p:nvSpPr>
        <p:spPr bwMode="auto">
          <a:xfrm>
            <a:off x="3287714" y="6389688"/>
            <a:ext cx="1189429"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400" b="1">
                <a:solidFill>
                  <a:schemeClr val="hlink"/>
                </a:solidFill>
              </a:rPr>
              <a:t>Infinite</a:t>
            </a:r>
          </a:p>
        </p:txBody>
      </p:sp>
      <p:sp>
        <p:nvSpPr>
          <p:cNvPr id="1002505" name="Rectangle 9"/>
          <p:cNvSpPr>
            <a:spLocks noChangeArrowheads="1"/>
          </p:cNvSpPr>
          <p:nvPr/>
        </p:nvSpPr>
        <p:spPr bwMode="auto">
          <a:xfrm>
            <a:off x="7148513" y="6389688"/>
            <a:ext cx="52578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en-US" sz="2400" b="1">
                <a:solidFill>
                  <a:srgbClr val="DC0081"/>
                </a:solidFill>
              </a:rPr>
              <a:t>32</a:t>
            </a:r>
          </a:p>
        </p:txBody>
      </p:sp>
      <p:sp>
        <p:nvSpPr>
          <p:cNvPr id="1002506" name="Rectangle 10"/>
          <p:cNvSpPr>
            <a:spLocks noChangeArrowheads="1"/>
          </p:cNvSpPr>
          <p:nvPr/>
        </p:nvSpPr>
        <p:spPr bwMode="auto">
          <a:xfrm>
            <a:off x="5484813" y="6389688"/>
            <a:ext cx="697308"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en-US" sz="2400" b="1">
                <a:solidFill>
                  <a:srgbClr val="114FFB"/>
                </a:solidFill>
              </a:rPr>
              <a:t>128</a:t>
            </a:r>
          </a:p>
        </p:txBody>
      </p:sp>
      <p:sp>
        <p:nvSpPr>
          <p:cNvPr id="1002507" name="Rectangle 11"/>
          <p:cNvSpPr>
            <a:spLocks noChangeArrowheads="1"/>
          </p:cNvSpPr>
          <p:nvPr/>
        </p:nvSpPr>
        <p:spPr bwMode="auto">
          <a:xfrm>
            <a:off x="3352801" y="3429000"/>
            <a:ext cx="2183291"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400" b="1"/>
              <a:t>Integer: 5 - 15</a:t>
            </a:r>
          </a:p>
        </p:txBody>
      </p:sp>
      <p:sp>
        <p:nvSpPr>
          <p:cNvPr id="1002508" name="Rectangle 12"/>
          <p:cNvSpPr>
            <a:spLocks noChangeArrowheads="1"/>
          </p:cNvSpPr>
          <p:nvPr/>
        </p:nvSpPr>
        <p:spPr bwMode="auto">
          <a:xfrm>
            <a:off x="7345532" y="1712392"/>
            <a:ext cx="170463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400" b="1" dirty="0"/>
              <a:t>FP: 11 - 45</a:t>
            </a:r>
          </a:p>
        </p:txBody>
      </p:sp>
      <p:sp>
        <p:nvSpPr>
          <p:cNvPr id="1002509" name="Rectangle 13"/>
          <p:cNvSpPr>
            <a:spLocks noChangeArrowheads="1"/>
          </p:cNvSpPr>
          <p:nvPr/>
        </p:nvSpPr>
        <p:spPr bwMode="auto">
          <a:xfrm rot="16200000">
            <a:off x="1529331" y="3643515"/>
            <a:ext cx="867226"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3200" b="1"/>
              <a:t>IPC</a:t>
            </a:r>
          </a:p>
        </p:txBody>
      </p:sp>
    </p:spTree>
    <p:extLst>
      <p:ext uri="{BB962C8B-B14F-4D97-AF65-F5344CB8AC3E}">
        <p14:creationId xmlns:p14="http://schemas.microsoft.com/office/powerpoint/2010/main" val="2543073893"/>
      </p:ext>
    </p:extLst>
  </p:cSld>
  <p:clrMapOvr>
    <a:masterClrMapping/>
  </p:clrMapOvr>
  <p:transition>
    <p:wipe/>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22"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9000" y="927100"/>
            <a:ext cx="8496300" cy="538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3523" name="Rectangle 3"/>
          <p:cNvSpPr>
            <a:spLocks noGrp="1" noChangeArrowheads="1"/>
          </p:cNvSpPr>
          <p:nvPr>
            <p:ph type="title"/>
          </p:nvPr>
        </p:nvSpPr>
        <p:spPr>
          <a:xfrm>
            <a:off x="1199456" y="457200"/>
            <a:ext cx="8725594" cy="381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en-US" dirty="0"/>
              <a:t>More Realistic HW: </a:t>
            </a:r>
            <a:br>
              <a:rPr lang="en-US" altLang="en-US" dirty="0"/>
            </a:br>
            <a:r>
              <a:rPr lang="en-US" altLang="en-US" dirty="0"/>
              <a:t>Memory Address Alias Impact</a:t>
            </a:r>
            <a:endParaRPr lang="en-US" altLang="en-US" sz="2000" b="1" dirty="0">
              <a:solidFill>
                <a:schemeClr val="tx1"/>
              </a:solidFill>
            </a:endParaRPr>
          </a:p>
        </p:txBody>
      </p:sp>
      <p:sp>
        <p:nvSpPr>
          <p:cNvPr id="1003524" name="Rectangle 4"/>
          <p:cNvSpPr>
            <a:spLocks noGrp="1" noChangeArrowheads="1"/>
          </p:cNvSpPr>
          <p:nvPr>
            <p:ph type="body" idx="1"/>
          </p:nvPr>
        </p:nvSpPr>
        <p:spPr>
          <a:xfrm>
            <a:off x="577057" y="1675382"/>
            <a:ext cx="4191000" cy="118745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buFont typeface="Wingdings" panose="05000000000000000000" pitchFamily="2" charset="2"/>
              <a:buNone/>
            </a:pPr>
            <a:r>
              <a:rPr lang="zh-CN" altLang="en-US" dirty="0"/>
              <a:t>	</a:t>
            </a:r>
            <a:r>
              <a:rPr lang="en-US" altLang="en-US" dirty="0"/>
              <a:t>Change  2000 </a:t>
            </a:r>
            <a:r>
              <a:rPr lang="en-US" altLang="en-US" dirty="0" err="1"/>
              <a:t>instr</a:t>
            </a:r>
            <a:r>
              <a:rPr lang="en-US" altLang="en-US" dirty="0"/>
              <a:t> window, 64 </a:t>
            </a:r>
            <a:r>
              <a:rPr lang="en-US" altLang="en-US" dirty="0" err="1"/>
              <a:t>instr</a:t>
            </a:r>
            <a:r>
              <a:rPr lang="en-US" altLang="en-US" dirty="0"/>
              <a:t> issue, 8K 2 level Prediction, 256 renaming registers</a:t>
            </a:r>
          </a:p>
        </p:txBody>
      </p:sp>
      <p:sp>
        <p:nvSpPr>
          <p:cNvPr id="1003525" name="Rectangle 5"/>
          <p:cNvSpPr>
            <a:spLocks noChangeArrowheads="1"/>
          </p:cNvSpPr>
          <p:nvPr/>
        </p:nvSpPr>
        <p:spPr bwMode="auto">
          <a:xfrm>
            <a:off x="8342314" y="6097588"/>
            <a:ext cx="95218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400" b="1"/>
              <a:t>None</a:t>
            </a:r>
          </a:p>
        </p:txBody>
      </p:sp>
      <p:sp>
        <p:nvSpPr>
          <p:cNvPr id="1003526" name="Rectangle 6"/>
          <p:cNvSpPr>
            <a:spLocks noChangeArrowheads="1"/>
          </p:cNvSpPr>
          <p:nvPr/>
        </p:nvSpPr>
        <p:spPr bwMode="auto">
          <a:xfrm>
            <a:off x="4113213" y="6097588"/>
            <a:ext cx="2814874" cy="8284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400" b="1">
                <a:solidFill>
                  <a:schemeClr val="accent2"/>
                </a:solidFill>
              </a:rPr>
              <a:t>Global/Stack perf;</a:t>
            </a:r>
            <a:br>
              <a:rPr lang="en-US" altLang="en-US" sz="2400" b="1">
                <a:solidFill>
                  <a:schemeClr val="accent2"/>
                </a:solidFill>
              </a:rPr>
            </a:br>
            <a:r>
              <a:rPr lang="en-US" altLang="en-US" sz="2400" b="1">
                <a:solidFill>
                  <a:schemeClr val="accent2"/>
                </a:solidFill>
              </a:rPr>
              <a:t>heap conflicts</a:t>
            </a:r>
          </a:p>
        </p:txBody>
      </p:sp>
      <p:sp>
        <p:nvSpPr>
          <p:cNvPr id="1003527" name="Rectangle 7"/>
          <p:cNvSpPr>
            <a:spLocks noChangeArrowheads="1"/>
          </p:cNvSpPr>
          <p:nvPr/>
        </p:nvSpPr>
        <p:spPr bwMode="auto">
          <a:xfrm>
            <a:off x="2735264" y="6097588"/>
            <a:ext cx="1227901"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400" b="1">
                <a:solidFill>
                  <a:schemeClr val="hlink"/>
                </a:solidFill>
              </a:rPr>
              <a:t>Perfect</a:t>
            </a:r>
          </a:p>
        </p:txBody>
      </p:sp>
      <p:sp>
        <p:nvSpPr>
          <p:cNvPr id="1003528" name="Rectangle 8"/>
          <p:cNvSpPr>
            <a:spLocks noChangeArrowheads="1"/>
          </p:cNvSpPr>
          <p:nvPr/>
        </p:nvSpPr>
        <p:spPr bwMode="auto">
          <a:xfrm>
            <a:off x="6818314" y="6097588"/>
            <a:ext cx="1279197" cy="8284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400" b="1" dirty="0" err="1">
                <a:solidFill>
                  <a:srgbClr val="114FFB"/>
                </a:solidFill>
              </a:rPr>
              <a:t>Inspec</a:t>
            </a:r>
            <a:r>
              <a:rPr lang="en-US" altLang="en-US" sz="2400" b="1" dirty="0">
                <a:solidFill>
                  <a:srgbClr val="114FFB"/>
                </a:solidFill>
              </a:rPr>
              <a:t>.</a:t>
            </a:r>
            <a:br>
              <a:rPr lang="en-US" altLang="en-US" sz="2400" b="1" dirty="0">
                <a:solidFill>
                  <a:srgbClr val="114FFB"/>
                </a:solidFill>
              </a:rPr>
            </a:br>
            <a:r>
              <a:rPr lang="en-US" altLang="en-US" sz="2400" b="1" dirty="0" err="1">
                <a:solidFill>
                  <a:srgbClr val="114FFB"/>
                </a:solidFill>
              </a:rPr>
              <a:t>Assem</a:t>
            </a:r>
            <a:r>
              <a:rPr lang="en-US" altLang="en-US" sz="2400" b="1" dirty="0">
                <a:solidFill>
                  <a:srgbClr val="114FFB"/>
                </a:solidFill>
              </a:rPr>
              <a:t>.</a:t>
            </a:r>
          </a:p>
        </p:txBody>
      </p:sp>
      <p:sp>
        <p:nvSpPr>
          <p:cNvPr id="1003529" name="Rectangle 9"/>
          <p:cNvSpPr>
            <a:spLocks noChangeArrowheads="1"/>
          </p:cNvSpPr>
          <p:nvPr/>
        </p:nvSpPr>
        <p:spPr bwMode="auto">
          <a:xfrm>
            <a:off x="7377114" y="1795463"/>
            <a:ext cx="1550105" cy="119776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400" b="1"/>
              <a:t>FP: 4 - 45</a:t>
            </a:r>
          </a:p>
          <a:p>
            <a:pPr algn="l"/>
            <a:r>
              <a:rPr lang="en-US" altLang="en-US" sz="2400" b="1"/>
              <a:t>(Fortran,</a:t>
            </a:r>
          </a:p>
          <a:p>
            <a:pPr algn="l"/>
            <a:r>
              <a:rPr lang="en-US" altLang="en-US" sz="2400" b="1"/>
              <a:t>no heap)</a:t>
            </a:r>
          </a:p>
        </p:txBody>
      </p:sp>
      <p:sp>
        <p:nvSpPr>
          <p:cNvPr id="1003530" name="Rectangle 10"/>
          <p:cNvSpPr>
            <a:spLocks noChangeArrowheads="1"/>
          </p:cNvSpPr>
          <p:nvPr/>
        </p:nvSpPr>
        <p:spPr bwMode="auto">
          <a:xfrm>
            <a:off x="3795713" y="3262313"/>
            <a:ext cx="2011770"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400" b="1"/>
              <a:t>Integer: 4 - 9</a:t>
            </a:r>
          </a:p>
        </p:txBody>
      </p:sp>
      <p:sp>
        <p:nvSpPr>
          <p:cNvPr id="1003531" name="Rectangle 11"/>
          <p:cNvSpPr>
            <a:spLocks noChangeArrowheads="1"/>
          </p:cNvSpPr>
          <p:nvPr/>
        </p:nvSpPr>
        <p:spPr bwMode="auto">
          <a:xfrm rot="16200000">
            <a:off x="1643631" y="3643515"/>
            <a:ext cx="867226"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3200" b="1"/>
              <a:t>IPC</a:t>
            </a:r>
          </a:p>
        </p:txBody>
      </p:sp>
    </p:spTree>
    <p:extLst>
      <p:ext uri="{BB962C8B-B14F-4D97-AF65-F5344CB8AC3E}">
        <p14:creationId xmlns:p14="http://schemas.microsoft.com/office/powerpoint/2010/main" val="1447690358"/>
      </p:ext>
    </p:extLst>
  </p:cSld>
  <p:clrMapOvr>
    <a:masterClrMapping/>
  </p:clrMapOvr>
  <p:transition>
    <p:wipe/>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4546"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8000" y="993775"/>
            <a:ext cx="8623300" cy="55245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4547" name="Rectangle 3"/>
          <p:cNvSpPr>
            <a:spLocks noGrp="1" noChangeArrowheads="1"/>
          </p:cNvSpPr>
          <p:nvPr>
            <p:ph type="title"/>
          </p:nvPr>
        </p:nvSpPr>
        <p:spPr>
          <a:xfrm>
            <a:off x="767408" y="609600"/>
            <a:ext cx="9805342" cy="381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en-US" dirty="0"/>
              <a:t>Realistic HW for </a:t>
            </a:r>
            <a:r>
              <a:rPr lang="en-US" altLang="en-US" dirty="0" smtClean="0"/>
              <a:t>2000</a:t>
            </a:r>
            <a:r>
              <a:rPr lang="en-US" altLang="en-US" dirty="0"/>
              <a:t>: Window Impact</a:t>
            </a:r>
            <a:endParaRPr lang="en-US" altLang="en-US" sz="2000" b="1" dirty="0">
              <a:solidFill>
                <a:schemeClr val="tx1"/>
              </a:solidFill>
            </a:endParaRPr>
          </a:p>
        </p:txBody>
      </p:sp>
      <p:sp>
        <p:nvSpPr>
          <p:cNvPr id="1004548" name="Rectangle 4"/>
          <p:cNvSpPr>
            <a:spLocks noGrp="1" noChangeArrowheads="1"/>
          </p:cNvSpPr>
          <p:nvPr>
            <p:ph type="body" idx="1"/>
          </p:nvPr>
        </p:nvSpPr>
        <p:spPr>
          <a:xfrm>
            <a:off x="429715" y="1596388"/>
            <a:ext cx="5378253" cy="127635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buFont typeface="Wingdings" panose="05000000000000000000" pitchFamily="2" charset="2"/>
              <a:buNone/>
            </a:pPr>
            <a:r>
              <a:rPr lang="zh-CN" altLang="en-US" dirty="0"/>
              <a:t>	</a:t>
            </a:r>
            <a:r>
              <a:rPr lang="en-US" altLang="en-US" dirty="0"/>
              <a:t>Perfect disambiguation (HW), 1K Selective Prediction, 16 entry return, 64 registers, issue as many as window</a:t>
            </a:r>
          </a:p>
        </p:txBody>
      </p:sp>
      <p:sp>
        <p:nvSpPr>
          <p:cNvPr id="1004549" name="Rectangle 5"/>
          <p:cNvSpPr>
            <a:spLocks noChangeArrowheads="1"/>
          </p:cNvSpPr>
          <p:nvPr/>
        </p:nvSpPr>
        <p:spPr bwMode="auto">
          <a:xfrm>
            <a:off x="5548313" y="6351588"/>
            <a:ext cx="52578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en-US" sz="2400" b="1"/>
              <a:t>64</a:t>
            </a:r>
          </a:p>
        </p:txBody>
      </p:sp>
      <p:sp>
        <p:nvSpPr>
          <p:cNvPr id="1004550" name="Rectangle 6"/>
          <p:cNvSpPr>
            <a:spLocks noChangeArrowheads="1"/>
          </p:cNvSpPr>
          <p:nvPr/>
        </p:nvSpPr>
        <p:spPr bwMode="auto">
          <a:xfrm>
            <a:off x="7148513" y="6351588"/>
            <a:ext cx="52578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en-US" sz="2400" b="1">
                <a:solidFill>
                  <a:schemeClr val="accent1"/>
                </a:solidFill>
              </a:rPr>
              <a:t>16</a:t>
            </a:r>
          </a:p>
        </p:txBody>
      </p:sp>
      <p:sp>
        <p:nvSpPr>
          <p:cNvPr id="1004551" name="Rectangle 7"/>
          <p:cNvSpPr>
            <a:spLocks noChangeArrowheads="1"/>
          </p:cNvSpPr>
          <p:nvPr/>
        </p:nvSpPr>
        <p:spPr bwMode="auto">
          <a:xfrm>
            <a:off x="3884613" y="6351588"/>
            <a:ext cx="697308"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en-US" sz="2400" b="1">
                <a:solidFill>
                  <a:schemeClr val="accent2"/>
                </a:solidFill>
              </a:rPr>
              <a:t>256</a:t>
            </a:r>
          </a:p>
        </p:txBody>
      </p:sp>
      <p:sp>
        <p:nvSpPr>
          <p:cNvPr id="1004552" name="Rectangle 8"/>
          <p:cNvSpPr>
            <a:spLocks noChangeArrowheads="1"/>
          </p:cNvSpPr>
          <p:nvPr/>
        </p:nvSpPr>
        <p:spPr bwMode="auto">
          <a:xfrm>
            <a:off x="2703514" y="6351588"/>
            <a:ext cx="1189429"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400" b="1">
                <a:solidFill>
                  <a:schemeClr val="hlink"/>
                </a:solidFill>
              </a:rPr>
              <a:t>Infinite</a:t>
            </a:r>
          </a:p>
        </p:txBody>
      </p:sp>
      <p:sp>
        <p:nvSpPr>
          <p:cNvPr id="1004553" name="Rectangle 9"/>
          <p:cNvSpPr>
            <a:spLocks noChangeArrowheads="1"/>
          </p:cNvSpPr>
          <p:nvPr/>
        </p:nvSpPr>
        <p:spPr bwMode="auto">
          <a:xfrm>
            <a:off x="6323013" y="6351588"/>
            <a:ext cx="52578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en-US" sz="2400" b="1">
                <a:solidFill>
                  <a:srgbClr val="DC0081"/>
                </a:solidFill>
              </a:rPr>
              <a:t>32</a:t>
            </a:r>
          </a:p>
        </p:txBody>
      </p:sp>
      <p:sp>
        <p:nvSpPr>
          <p:cNvPr id="1004554" name="Rectangle 10"/>
          <p:cNvSpPr>
            <a:spLocks noChangeArrowheads="1"/>
          </p:cNvSpPr>
          <p:nvPr/>
        </p:nvSpPr>
        <p:spPr bwMode="auto">
          <a:xfrm>
            <a:off x="4684713" y="6351588"/>
            <a:ext cx="697308"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en-US" sz="2400" b="1">
                <a:solidFill>
                  <a:srgbClr val="114FFB"/>
                </a:solidFill>
              </a:rPr>
              <a:t>128</a:t>
            </a:r>
          </a:p>
        </p:txBody>
      </p:sp>
      <p:sp>
        <p:nvSpPr>
          <p:cNvPr id="1004555" name="Rectangle 11"/>
          <p:cNvSpPr>
            <a:spLocks noChangeArrowheads="1"/>
          </p:cNvSpPr>
          <p:nvPr/>
        </p:nvSpPr>
        <p:spPr bwMode="auto">
          <a:xfrm>
            <a:off x="7948614" y="6351588"/>
            <a:ext cx="35426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en-US" sz="2400" b="1">
                <a:solidFill>
                  <a:srgbClr val="712000"/>
                </a:solidFill>
              </a:rPr>
              <a:t>8</a:t>
            </a:r>
          </a:p>
        </p:txBody>
      </p:sp>
      <p:sp>
        <p:nvSpPr>
          <p:cNvPr id="1004556" name="Rectangle 12"/>
          <p:cNvSpPr>
            <a:spLocks noChangeArrowheads="1"/>
          </p:cNvSpPr>
          <p:nvPr/>
        </p:nvSpPr>
        <p:spPr bwMode="auto">
          <a:xfrm>
            <a:off x="8799514" y="6351588"/>
            <a:ext cx="35426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en-US" sz="2400" b="1">
                <a:solidFill>
                  <a:srgbClr val="005400"/>
                </a:solidFill>
              </a:rPr>
              <a:t>4</a:t>
            </a:r>
          </a:p>
        </p:txBody>
      </p:sp>
      <p:sp>
        <p:nvSpPr>
          <p:cNvPr id="1004557" name="Rectangle 13"/>
          <p:cNvSpPr>
            <a:spLocks noChangeArrowheads="1"/>
          </p:cNvSpPr>
          <p:nvPr/>
        </p:nvSpPr>
        <p:spPr bwMode="auto">
          <a:xfrm>
            <a:off x="4043364" y="3738563"/>
            <a:ext cx="2183291"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400" b="1"/>
              <a:t>Integer: 6 - 12</a:t>
            </a:r>
          </a:p>
        </p:txBody>
      </p:sp>
      <p:sp>
        <p:nvSpPr>
          <p:cNvPr id="1004558" name="Rectangle 14"/>
          <p:cNvSpPr>
            <a:spLocks noChangeArrowheads="1"/>
          </p:cNvSpPr>
          <p:nvPr/>
        </p:nvSpPr>
        <p:spPr bwMode="auto">
          <a:xfrm>
            <a:off x="7186614" y="2005013"/>
            <a:ext cx="155010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400" b="1"/>
              <a:t>FP: 8 - 45</a:t>
            </a:r>
          </a:p>
        </p:txBody>
      </p:sp>
      <p:sp>
        <p:nvSpPr>
          <p:cNvPr id="1004559" name="Rectangle 15"/>
          <p:cNvSpPr>
            <a:spLocks noChangeArrowheads="1"/>
          </p:cNvSpPr>
          <p:nvPr/>
        </p:nvSpPr>
        <p:spPr bwMode="auto">
          <a:xfrm rot="16200000">
            <a:off x="1491231" y="3605415"/>
            <a:ext cx="867226"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3200" b="1"/>
              <a:t>IPC</a:t>
            </a:r>
          </a:p>
        </p:txBody>
      </p:sp>
    </p:spTree>
    <p:extLst>
      <p:ext uri="{BB962C8B-B14F-4D97-AF65-F5344CB8AC3E}">
        <p14:creationId xmlns:p14="http://schemas.microsoft.com/office/powerpoint/2010/main" val="2662630575"/>
      </p:ext>
    </p:extLst>
  </p:cSld>
  <p:clrMapOvr>
    <a:masterClrMapping/>
  </p:clrMapOvr>
  <p:transition>
    <p:wipe/>
  </p:transition>
</p:sld>
</file>

<file path=ppt/slides/slide1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9666" name="Rectangle 2"/>
          <p:cNvSpPr>
            <a:spLocks noGrp="1" noChangeArrowheads="1"/>
          </p:cNvSpPr>
          <p:nvPr>
            <p:ph type="title"/>
          </p:nvPr>
        </p:nvSpPr>
        <p:spPr>
          <a:xfrm>
            <a:off x="983432" y="404664"/>
            <a:ext cx="10369152" cy="914400"/>
          </a:xfrm>
        </p:spPr>
        <p:txBody>
          <a:bodyPr/>
          <a:lstStyle/>
          <a:p>
            <a:r>
              <a:rPr lang="en-US" altLang="en-US" dirty="0"/>
              <a:t>How to Exceed ILP Limits of this study?</a:t>
            </a:r>
          </a:p>
        </p:txBody>
      </p:sp>
      <p:sp>
        <p:nvSpPr>
          <p:cNvPr id="1009667" name="Rectangle 3"/>
          <p:cNvSpPr>
            <a:spLocks noGrp="1" noChangeArrowheads="1"/>
          </p:cNvSpPr>
          <p:nvPr>
            <p:ph type="body" idx="1"/>
          </p:nvPr>
        </p:nvSpPr>
        <p:spPr>
          <a:xfrm>
            <a:off x="623392" y="1600200"/>
            <a:ext cx="10873208" cy="4343400"/>
          </a:xfrm>
        </p:spPr>
        <p:txBody>
          <a:bodyPr/>
          <a:lstStyle/>
          <a:p>
            <a:r>
              <a:rPr lang="en-US" altLang="en-US" dirty="0"/>
              <a:t>WAR and WAW hazards through memory: eliminated WAW and WAR hazards through register renaming, but not in memory usage</a:t>
            </a:r>
          </a:p>
          <a:p>
            <a:r>
              <a:rPr lang="en-US" altLang="en-US" dirty="0"/>
              <a:t>Unnecessary dependences (compiler not unrolling loops so iteration variable dependence)</a:t>
            </a:r>
          </a:p>
          <a:p>
            <a:r>
              <a:rPr lang="en-US" altLang="en-US" dirty="0"/>
              <a:t>Overcoming the data flow limit: </a:t>
            </a:r>
            <a:r>
              <a:rPr lang="en-US" altLang="en-US" dirty="0">
                <a:solidFill>
                  <a:srgbClr val="FF0000"/>
                </a:solidFill>
              </a:rPr>
              <a:t>value prediction</a:t>
            </a:r>
            <a:r>
              <a:rPr lang="en-US" altLang="en-US" dirty="0"/>
              <a:t>, predicting values and speculating on prediction</a:t>
            </a:r>
          </a:p>
          <a:p>
            <a:pPr lvl="1"/>
            <a:r>
              <a:rPr lang="en-US" altLang="en-US" dirty="0">
                <a:solidFill>
                  <a:srgbClr val="FF0000"/>
                </a:solidFill>
              </a:rPr>
              <a:t>Address value prediction and speculation</a:t>
            </a:r>
            <a:r>
              <a:rPr lang="en-US" altLang="en-US" dirty="0"/>
              <a:t> predicts addresses and speculates by reordering loads and stores; could provide better aliasing analysis, only need predict if </a:t>
            </a:r>
            <a:r>
              <a:rPr lang="en-US" altLang="en-US" dirty="0" smtClean="0"/>
              <a:t>addresses are equal</a:t>
            </a:r>
            <a:endParaRPr lang="en-US" altLang="en-US" dirty="0"/>
          </a:p>
        </p:txBody>
      </p:sp>
    </p:spTree>
    <p:extLst>
      <p:ext uri="{BB962C8B-B14F-4D97-AF65-F5344CB8AC3E}">
        <p14:creationId xmlns:p14="http://schemas.microsoft.com/office/powerpoint/2010/main" val="31388053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096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096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0966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10096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9667" grpId="0" build="p" autoUpdateAnimBg="0"/>
    </p:bldLst>
  </p:timing>
</p:sld>
</file>

<file path=ppt/slides/slide1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1410" name="Rectangle 2"/>
          <p:cNvSpPr>
            <a:spLocks noGrp="1" noChangeArrowheads="1"/>
          </p:cNvSpPr>
          <p:nvPr>
            <p:ph type="title"/>
          </p:nvPr>
        </p:nvSpPr>
        <p:spPr/>
        <p:txBody>
          <a:bodyPr/>
          <a:lstStyle/>
          <a:p>
            <a:r>
              <a:rPr lang="en-US" altLang="en-US" smtClean="0"/>
              <a:t>Another Approach: Mulithreaded Execution for Servers</a:t>
            </a:r>
            <a:endParaRPr lang="en-US" altLang="en-US"/>
          </a:p>
        </p:txBody>
      </p:sp>
      <p:sp>
        <p:nvSpPr>
          <p:cNvPr id="1041411" name="Rectangle 3"/>
          <p:cNvSpPr>
            <a:spLocks noGrp="1" noChangeArrowheads="1"/>
          </p:cNvSpPr>
          <p:nvPr>
            <p:ph type="body" idx="1"/>
          </p:nvPr>
        </p:nvSpPr>
        <p:spPr/>
        <p:txBody>
          <a:bodyPr/>
          <a:lstStyle/>
          <a:p>
            <a:r>
              <a:rPr lang="en-US" altLang="en-US" dirty="0" smtClean="0"/>
              <a:t>Thread: </a:t>
            </a:r>
            <a:r>
              <a:rPr lang="en-US" altLang="zh-CN" dirty="0" smtClean="0"/>
              <a:t>light weight </a:t>
            </a:r>
            <a:r>
              <a:rPr lang="en-US" altLang="en-US" dirty="0" smtClean="0"/>
              <a:t>process with own instructions and data</a:t>
            </a:r>
          </a:p>
          <a:p>
            <a:pPr lvl="1"/>
            <a:r>
              <a:rPr lang="en-US" altLang="en-US" dirty="0"/>
              <a:t>T</a:t>
            </a:r>
            <a:r>
              <a:rPr lang="en-US" altLang="en-US" dirty="0" smtClean="0"/>
              <a:t>hread may be a process part of a parallel program of multiple processes, or it may be an independent program</a:t>
            </a:r>
          </a:p>
          <a:p>
            <a:pPr lvl="1"/>
            <a:r>
              <a:rPr lang="en-US" altLang="en-US" dirty="0" smtClean="0"/>
              <a:t>Each thread has all the state (instructions, data, PC, register state, and so on) necessary to allow it to execute</a:t>
            </a:r>
          </a:p>
          <a:p>
            <a:r>
              <a:rPr lang="en-US" altLang="en-US" dirty="0" smtClean="0"/>
              <a:t>Multithreading: multiple threads to share the functional units of 1 processor via overlapping</a:t>
            </a:r>
          </a:p>
          <a:p>
            <a:pPr lvl="1"/>
            <a:r>
              <a:rPr lang="en-US" altLang="en-US" dirty="0"/>
              <a:t>P</a:t>
            </a:r>
            <a:r>
              <a:rPr lang="en-US" altLang="en-US" dirty="0" smtClean="0"/>
              <a:t>rocessor must duplicate independent state of each thread e.g., a separate copy of register file and a separate PC</a:t>
            </a:r>
          </a:p>
          <a:p>
            <a:pPr lvl="1"/>
            <a:r>
              <a:rPr lang="en-US" altLang="en-US" dirty="0"/>
              <a:t>M</a:t>
            </a:r>
            <a:r>
              <a:rPr lang="en-US" altLang="en-US" dirty="0" smtClean="0"/>
              <a:t>emory shared through the virtual memory mechanisms</a:t>
            </a:r>
          </a:p>
          <a:p>
            <a:r>
              <a:rPr lang="en-US" altLang="en-US" dirty="0" smtClean="0"/>
              <a:t>Threads execute overlapped, often interleaved</a:t>
            </a:r>
          </a:p>
          <a:p>
            <a:pPr lvl="1"/>
            <a:r>
              <a:rPr lang="en-US" altLang="en-US" dirty="0" smtClean="0"/>
              <a:t>When a thread is stalled, perhaps for a cache miss, another thread can be executed, improving throughput</a:t>
            </a:r>
            <a:endParaRPr lang="en-US" altLang="en-US" dirty="0"/>
          </a:p>
        </p:txBody>
      </p:sp>
    </p:spTree>
    <p:extLst>
      <p:ext uri="{BB962C8B-B14F-4D97-AF65-F5344CB8AC3E}">
        <p14:creationId xmlns:p14="http://schemas.microsoft.com/office/powerpoint/2010/main" val="210009361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414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04141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04141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4141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104141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1041411">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041411">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10414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1411" grpId="0" build="p" autoUpdateAnimBg="0"/>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0018" name="Rectangle 1026"/>
          <p:cNvSpPr>
            <a:spLocks noGrp="1" noChangeArrowheads="1"/>
          </p:cNvSpPr>
          <p:nvPr>
            <p:ph type="title"/>
          </p:nvPr>
        </p:nvSpPr>
        <p:spPr/>
        <p:txBody>
          <a:bodyPr/>
          <a:lstStyle/>
          <a:p>
            <a:r>
              <a:rPr lang="en-US" altLang="en-US" smtClean="0"/>
              <a:t>What if Can Change Instruction Set?</a:t>
            </a:r>
            <a:endParaRPr lang="en-US" altLang="en-US"/>
          </a:p>
        </p:txBody>
      </p:sp>
      <p:sp>
        <p:nvSpPr>
          <p:cNvPr id="1110019" name="Rectangle 1027"/>
          <p:cNvSpPr>
            <a:spLocks noGrp="1" noChangeArrowheads="1"/>
          </p:cNvSpPr>
          <p:nvPr>
            <p:ph type="body" idx="1"/>
          </p:nvPr>
        </p:nvSpPr>
        <p:spPr/>
        <p:txBody>
          <a:bodyPr/>
          <a:lstStyle/>
          <a:p>
            <a:r>
              <a:rPr lang="en-US" altLang="en-US" smtClean="0"/>
              <a:t>Superscalar processors decide on the fly how many instructions to issue</a:t>
            </a:r>
          </a:p>
          <a:p>
            <a:pPr lvl="1"/>
            <a:r>
              <a:rPr lang="en-US" altLang="en-US" smtClean="0"/>
              <a:t>HW complexity of Number of instructions to issue O(n2)</a:t>
            </a:r>
          </a:p>
          <a:p>
            <a:r>
              <a:rPr lang="en-US" altLang="en-US" smtClean="0"/>
              <a:t>Why not allow compiler to schedule instruction level parallelism explicitly?</a:t>
            </a:r>
          </a:p>
          <a:p>
            <a:r>
              <a:rPr lang="en-US" altLang="en-US" smtClean="0"/>
              <a:t>Format the instructions in a potential issue packet so that HW need not check explicitly for dependences</a:t>
            </a:r>
            <a:endParaRPr lang="en-US" altLang="en-US"/>
          </a:p>
        </p:txBody>
      </p:sp>
    </p:spTree>
    <p:extLst>
      <p:ext uri="{BB962C8B-B14F-4D97-AF65-F5344CB8AC3E}">
        <p14:creationId xmlns:p14="http://schemas.microsoft.com/office/powerpoint/2010/main" val="1995350882"/>
      </p:ext>
    </p:extLst>
  </p:cSld>
  <p:clrMapOvr>
    <a:masterClrMapping/>
  </p:clrMapOvr>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altLang="zh-CN" dirty="0" smtClean="0"/>
              <a:t>LIW or </a:t>
            </a:r>
            <a:r>
              <a:rPr lang="en-AU" dirty="0" smtClean="0"/>
              <a:t>VLIW Processors</a:t>
            </a:r>
            <a:endParaRPr lang="en-AU" dirty="0"/>
          </a:p>
        </p:txBody>
      </p:sp>
      <p:sp>
        <p:nvSpPr>
          <p:cNvPr id="242691" name="Rectangle 3"/>
          <p:cNvSpPr>
            <a:spLocks noGrp="1" noChangeArrowheads="1"/>
          </p:cNvSpPr>
          <p:nvPr>
            <p:ph type="body" idx="1"/>
          </p:nvPr>
        </p:nvSpPr>
        <p:spPr/>
        <p:txBody>
          <a:bodyPr/>
          <a:lstStyle/>
          <a:p>
            <a:r>
              <a:rPr lang="en-US" dirty="0" smtClean="0"/>
              <a:t>Package multiple operations into one instruction</a:t>
            </a:r>
          </a:p>
          <a:p>
            <a:r>
              <a:rPr lang="en-US" dirty="0" smtClean="0"/>
              <a:t>Example VLIW processor:</a:t>
            </a:r>
          </a:p>
          <a:p>
            <a:pPr lvl="1"/>
            <a:r>
              <a:rPr lang="en-US" dirty="0" smtClean="0"/>
              <a:t>One integer instruction (or branch)</a:t>
            </a:r>
          </a:p>
          <a:p>
            <a:pPr lvl="1"/>
            <a:r>
              <a:rPr lang="en-US" dirty="0" smtClean="0"/>
              <a:t>Two independent floating-point operations</a:t>
            </a:r>
          </a:p>
          <a:p>
            <a:pPr lvl="1"/>
            <a:r>
              <a:rPr lang="en-US" dirty="0" smtClean="0"/>
              <a:t>Two independent memory references</a:t>
            </a:r>
          </a:p>
          <a:p>
            <a:r>
              <a:rPr lang="en-US" dirty="0" smtClean="0"/>
              <a:t>Must be enough parallelism in code to fill the available slots</a:t>
            </a:r>
          </a:p>
          <a:p>
            <a:r>
              <a:rPr lang="en-US" altLang="zh-CN" dirty="0"/>
              <a:t>Disadvantages:</a:t>
            </a:r>
          </a:p>
          <a:p>
            <a:pPr lvl="1"/>
            <a:r>
              <a:rPr lang="en-US" altLang="zh-CN" dirty="0"/>
              <a:t>Statically finding parallelism</a:t>
            </a:r>
          </a:p>
          <a:p>
            <a:pPr lvl="1"/>
            <a:r>
              <a:rPr lang="en-US" altLang="zh-CN" dirty="0"/>
              <a:t>Code size</a:t>
            </a:r>
          </a:p>
          <a:p>
            <a:pPr lvl="1"/>
            <a:r>
              <a:rPr lang="en-US" altLang="zh-CN" dirty="0"/>
              <a:t>No hazard detection hardware</a:t>
            </a:r>
          </a:p>
          <a:p>
            <a:pPr lvl="1"/>
            <a:r>
              <a:rPr lang="en-US" altLang="zh-CN" dirty="0"/>
              <a:t>Binary code </a:t>
            </a:r>
            <a:r>
              <a:rPr lang="en-US" altLang="zh-CN" dirty="0" smtClean="0"/>
              <a:t>compatibility</a:t>
            </a:r>
            <a:endParaRPr lang="en-US" altLang="zh-CN" dirty="0"/>
          </a:p>
        </p:txBody>
      </p:sp>
    </p:spTree>
    <p:extLst>
      <p:ext uri="{BB962C8B-B14F-4D97-AF65-F5344CB8AC3E}">
        <p14:creationId xmlns:p14="http://schemas.microsoft.com/office/powerpoint/2010/main" val="522601316"/>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42" name="Rectangle 2"/>
          <p:cNvSpPr>
            <a:spLocks noGrp="1" noChangeArrowheads="1"/>
          </p:cNvSpPr>
          <p:nvPr>
            <p:ph type="title"/>
          </p:nvPr>
        </p:nvSpPr>
        <p:spPr/>
        <p:txBody>
          <a:bodyPr/>
          <a:lstStyle/>
          <a:p>
            <a:r>
              <a:rPr lang="en-US" altLang="zh-CN" smtClean="0"/>
              <a:t>VLIW: Very Long Instruction Word</a:t>
            </a:r>
            <a:endParaRPr lang="en-US" altLang="zh-CN"/>
          </a:p>
        </p:txBody>
      </p:sp>
      <p:sp>
        <p:nvSpPr>
          <p:cNvPr id="1085443" name="Rectangle 3"/>
          <p:cNvSpPr>
            <a:spLocks noGrp="1" noChangeArrowheads="1"/>
          </p:cNvSpPr>
          <p:nvPr>
            <p:ph type="body" idx="1"/>
          </p:nvPr>
        </p:nvSpPr>
        <p:spPr/>
        <p:txBody>
          <a:bodyPr/>
          <a:lstStyle/>
          <a:p>
            <a:r>
              <a:rPr lang="en-US" altLang="zh-CN" smtClean="0"/>
              <a:t>Each “instruction” has explicit coding for multiple operations</a:t>
            </a:r>
          </a:p>
          <a:p>
            <a:pPr lvl="1"/>
            <a:r>
              <a:rPr lang="en-US" altLang="zh-CN" smtClean="0"/>
              <a:t>In IA-64, grouping called a “packet”</a:t>
            </a:r>
          </a:p>
          <a:p>
            <a:pPr lvl="1"/>
            <a:r>
              <a:rPr lang="en-US" altLang="zh-CN" smtClean="0"/>
              <a:t>In Transmeta, grouping called a “molecule” (with “atoms” as ops)</a:t>
            </a:r>
          </a:p>
          <a:p>
            <a:r>
              <a:rPr lang="en-US" altLang="zh-CN" smtClean="0"/>
              <a:t>Tradeoff instruction space for simple decoding</a:t>
            </a:r>
          </a:p>
          <a:p>
            <a:pPr lvl="1"/>
            <a:r>
              <a:rPr lang="en-US" altLang="zh-CN" smtClean="0"/>
              <a:t>The long instruction word has room for many operations</a:t>
            </a:r>
          </a:p>
          <a:p>
            <a:pPr lvl="1"/>
            <a:r>
              <a:rPr lang="en-US" altLang="zh-CN" smtClean="0"/>
              <a:t>By definition, all the operations the compiler puts in the long instruction word are independent =&gt; execute in parallel</a:t>
            </a:r>
          </a:p>
          <a:p>
            <a:pPr lvl="1"/>
            <a:r>
              <a:rPr lang="en-US" altLang="zh-CN" smtClean="0"/>
              <a:t>E.g., 2 integer operations, 2 FP ops, 2 Memory refs, 1 branch</a:t>
            </a:r>
          </a:p>
          <a:p>
            <a:pPr lvl="2"/>
            <a:r>
              <a:rPr lang="en-US" altLang="zh-CN" smtClean="0"/>
              <a:t>16 to 24 bits per field =&gt; 7*16 or 112 bits to 7*24 or 168 bits wide</a:t>
            </a:r>
          </a:p>
          <a:p>
            <a:pPr lvl="1"/>
            <a:r>
              <a:rPr lang="en-US" altLang="zh-CN" smtClean="0"/>
              <a:t>Need compiling technique that schedules across several branches</a:t>
            </a:r>
          </a:p>
          <a:p>
            <a:endParaRPr lang="zh-CN" altLang="en-US"/>
          </a:p>
        </p:txBody>
      </p:sp>
    </p:spTree>
    <p:extLst>
      <p:ext uri="{BB962C8B-B14F-4D97-AF65-F5344CB8AC3E}">
        <p14:creationId xmlns:p14="http://schemas.microsoft.com/office/powerpoint/2010/main" val="1383454117"/>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6466"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Recall: Unrolled Loop that Minimizes Stalls for Scalar</a:t>
            </a:r>
          </a:p>
        </p:txBody>
      </p:sp>
      <p:sp>
        <p:nvSpPr>
          <p:cNvPr id="1086467" name="Rectangle 3"/>
          <p:cNvSpPr>
            <a:spLocks noChangeArrowheads="1"/>
          </p:cNvSpPr>
          <p:nvPr/>
        </p:nvSpPr>
        <p:spPr bwMode="auto">
          <a:xfrm>
            <a:off x="2197100" y="1143000"/>
            <a:ext cx="8458200" cy="2235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468" name="Rectangle 4"/>
          <p:cNvSpPr>
            <a:spLocks noChangeArrowheads="1"/>
          </p:cNvSpPr>
          <p:nvPr/>
        </p:nvSpPr>
        <p:spPr bwMode="auto">
          <a:xfrm>
            <a:off x="3033713" y="1825625"/>
            <a:ext cx="6665912" cy="4573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lgn="l">
              <a:tabLst>
                <a:tab pos="971550" algn="l"/>
                <a:tab pos="1885950" algn="l"/>
                <a:tab pos="3657600" algn="l"/>
              </a:tabLst>
              <a:defRPr sz="2400">
                <a:solidFill>
                  <a:schemeClr val="tx1"/>
                </a:solidFill>
                <a:latin typeface="Times New Roman" panose="02020603050405020304" pitchFamily="18" charset="0"/>
                <a:ea typeface="宋体" panose="02010600030101010101" pitchFamily="2" charset="-122"/>
              </a:defRPr>
            </a:lvl1pPr>
            <a:lvl2pPr algn="l">
              <a:tabLst>
                <a:tab pos="971550" algn="l"/>
                <a:tab pos="1885950" algn="l"/>
                <a:tab pos="3657600" algn="l"/>
              </a:tabLst>
              <a:defRPr sz="2400">
                <a:solidFill>
                  <a:schemeClr val="tx1"/>
                </a:solidFill>
                <a:latin typeface="Times New Roman" panose="02020603050405020304" pitchFamily="18" charset="0"/>
                <a:ea typeface="宋体" panose="02010600030101010101" pitchFamily="2" charset="-122"/>
              </a:defRPr>
            </a:lvl2pPr>
            <a:lvl3pPr algn="l">
              <a:tabLst>
                <a:tab pos="971550" algn="l"/>
                <a:tab pos="1885950" algn="l"/>
                <a:tab pos="3657600" algn="l"/>
              </a:tabLst>
              <a:defRPr sz="2400">
                <a:solidFill>
                  <a:schemeClr val="tx1"/>
                </a:solidFill>
                <a:latin typeface="Times New Roman" panose="02020603050405020304" pitchFamily="18" charset="0"/>
                <a:ea typeface="宋体" panose="02010600030101010101" pitchFamily="2" charset="-122"/>
              </a:defRPr>
            </a:lvl3pPr>
            <a:lvl4pPr algn="l">
              <a:tabLst>
                <a:tab pos="971550" algn="l"/>
                <a:tab pos="1885950" algn="l"/>
                <a:tab pos="3657600" algn="l"/>
              </a:tabLst>
              <a:defRPr sz="2400">
                <a:solidFill>
                  <a:schemeClr val="tx1"/>
                </a:solidFill>
                <a:latin typeface="Times New Roman" panose="02020603050405020304" pitchFamily="18" charset="0"/>
                <a:ea typeface="宋体" panose="02010600030101010101" pitchFamily="2" charset="-122"/>
              </a:defRPr>
            </a:lvl4pPr>
            <a:lvl5pPr algn="l">
              <a:tabLst>
                <a:tab pos="971550" algn="l"/>
                <a:tab pos="1885950" algn="l"/>
                <a:tab pos="3657600" algn="l"/>
              </a:tabLst>
              <a:defRPr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tabLst>
                <a:tab pos="971550" algn="l"/>
                <a:tab pos="1885950" algn="l"/>
                <a:tab pos="3657600" algn="l"/>
              </a:tabLst>
              <a:defRPr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tabLst>
                <a:tab pos="971550" algn="l"/>
                <a:tab pos="1885950" algn="l"/>
                <a:tab pos="3657600" algn="l"/>
              </a:tabLst>
              <a:defRPr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tabLst>
                <a:tab pos="971550" algn="l"/>
                <a:tab pos="1885950" algn="l"/>
                <a:tab pos="3657600" algn="l"/>
              </a:tabLst>
              <a:defRPr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tabLst>
                <a:tab pos="971550" algn="l"/>
                <a:tab pos="1885950" algn="l"/>
                <a:tab pos="3657600" algn="l"/>
              </a:tabLst>
              <a:defRPr sz="2400">
                <a:solidFill>
                  <a:schemeClr val="tx1"/>
                </a:solidFill>
                <a:latin typeface="Times New Roman" panose="02020603050405020304" pitchFamily="18" charset="0"/>
                <a:ea typeface="宋体" panose="02010600030101010101" pitchFamily="2" charset="-122"/>
              </a:defRPr>
            </a:lvl9pPr>
          </a:lstStyle>
          <a:p>
            <a:r>
              <a:rPr lang="zh-CN" altLang="en-US" sz="1800" b="1">
                <a:latin typeface="Arial" panose="020B0604020202020204" pitchFamily="34" charset="0"/>
              </a:rPr>
              <a:t>1 </a:t>
            </a:r>
            <a:r>
              <a:rPr lang="en-US" altLang="zh-CN" sz="1800" b="1">
                <a:latin typeface="Courier New" panose="02070309020205020404" pitchFamily="49" charset="0"/>
              </a:rPr>
              <a:t>Loop:	L.D	F0,0(R1)</a:t>
            </a:r>
          </a:p>
          <a:p>
            <a:r>
              <a:rPr lang="en-US" altLang="zh-CN" sz="1800" b="1">
                <a:latin typeface="Arial" panose="020B0604020202020204" pitchFamily="34" charset="0"/>
              </a:rPr>
              <a:t>2</a:t>
            </a:r>
            <a:r>
              <a:rPr lang="en-US" altLang="zh-CN" sz="1800" b="1">
                <a:latin typeface="Courier New" panose="02070309020205020404" pitchFamily="49" charset="0"/>
              </a:rPr>
              <a:t>	L.D	F6,-8(R1)</a:t>
            </a:r>
          </a:p>
          <a:p>
            <a:r>
              <a:rPr lang="en-US" altLang="zh-CN" sz="1800" b="1">
                <a:latin typeface="Arial" panose="020B0604020202020204" pitchFamily="34" charset="0"/>
              </a:rPr>
              <a:t>3</a:t>
            </a:r>
            <a:r>
              <a:rPr lang="en-US" altLang="zh-CN" sz="1800" b="1">
                <a:latin typeface="Courier New" panose="02070309020205020404" pitchFamily="49" charset="0"/>
              </a:rPr>
              <a:t>	L.D	F10,-16(R1)</a:t>
            </a:r>
          </a:p>
          <a:p>
            <a:r>
              <a:rPr lang="en-US" altLang="zh-CN" sz="1800" b="1">
                <a:latin typeface="Arial" panose="020B0604020202020204" pitchFamily="34" charset="0"/>
              </a:rPr>
              <a:t>4</a:t>
            </a:r>
            <a:r>
              <a:rPr lang="en-US" altLang="zh-CN" sz="1800" b="1">
                <a:latin typeface="Courier New" panose="02070309020205020404" pitchFamily="49" charset="0"/>
              </a:rPr>
              <a:t>	L.D	F14,-24(R1)</a:t>
            </a:r>
          </a:p>
          <a:p>
            <a:r>
              <a:rPr lang="en-US" altLang="zh-CN" sz="1800" b="1">
                <a:latin typeface="Arial" panose="020B0604020202020204" pitchFamily="34" charset="0"/>
              </a:rPr>
              <a:t>5</a:t>
            </a:r>
            <a:r>
              <a:rPr lang="en-US" altLang="zh-CN" sz="1800" b="1">
                <a:latin typeface="Courier New" panose="02070309020205020404" pitchFamily="49" charset="0"/>
              </a:rPr>
              <a:t>	ADD.D	F4,F0,F2</a:t>
            </a:r>
          </a:p>
          <a:p>
            <a:r>
              <a:rPr lang="en-US" altLang="zh-CN" sz="1800" b="1">
                <a:latin typeface="Arial" panose="020B0604020202020204" pitchFamily="34" charset="0"/>
              </a:rPr>
              <a:t>6</a:t>
            </a:r>
            <a:r>
              <a:rPr lang="en-US" altLang="zh-CN" sz="1800" b="1">
                <a:latin typeface="Courier New" panose="02070309020205020404" pitchFamily="49" charset="0"/>
              </a:rPr>
              <a:t>	ADD.D	F8,F6,F2</a:t>
            </a:r>
          </a:p>
          <a:p>
            <a:r>
              <a:rPr lang="en-US" altLang="zh-CN" sz="1800" b="1">
                <a:latin typeface="Arial" panose="020B0604020202020204" pitchFamily="34" charset="0"/>
              </a:rPr>
              <a:t>7</a:t>
            </a:r>
            <a:r>
              <a:rPr lang="en-US" altLang="zh-CN" sz="1800" b="1">
                <a:latin typeface="Courier New" panose="02070309020205020404" pitchFamily="49" charset="0"/>
              </a:rPr>
              <a:t>	ADD.D	F12,F10,F2</a:t>
            </a:r>
          </a:p>
          <a:p>
            <a:r>
              <a:rPr lang="en-US" altLang="zh-CN" sz="1800" b="1">
                <a:latin typeface="Arial" panose="020B0604020202020204" pitchFamily="34" charset="0"/>
              </a:rPr>
              <a:t>8</a:t>
            </a:r>
            <a:r>
              <a:rPr lang="en-US" altLang="zh-CN" sz="1800" b="1">
                <a:latin typeface="Courier New" panose="02070309020205020404" pitchFamily="49" charset="0"/>
              </a:rPr>
              <a:t>	ADD.D	F16,F14,F2</a:t>
            </a:r>
          </a:p>
          <a:p>
            <a:r>
              <a:rPr lang="en-US" altLang="zh-CN" sz="1800" b="1">
                <a:latin typeface="Arial" panose="020B0604020202020204" pitchFamily="34" charset="0"/>
              </a:rPr>
              <a:t>9</a:t>
            </a:r>
            <a:r>
              <a:rPr lang="en-US" altLang="zh-CN" sz="1800" b="1">
                <a:latin typeface="Courier New" panose="02070309020205020404" pitchFamily="49" charset="0"/>
              </a:rPr>
              <a:t>	S.D	0(R1),F4</a:t>
            </a:r>
          </a:p>
          <a:p>
            <a:r>
              <a:rPr lang="en-US" altLang="zh-CN" sz="1800" b="1">
                <a:latin typeface="Arial" panose="020B0604020202020204" pitchFamily="34" charset="0"/>
              </a:rPr>
              <a:t>10</a:t>
            </a:r>
            <a:r>
              <a:rPr lang="en-US" altLang="zh-CN" sz="1800" b="1">
                <a:latin typeface="Courier New" panose="02070309020205020404" pitchFamily="49" charset="0"/>
              </a:rPr>
              <a:t>	S.D	-8(R1),F8</a:t>
            </a:r>
          </a:p>
          <a:p>
            <a:r>
              <a:rPr lang="en-US" altLang="zh-CN" sz="1800" b="1">
                <a:latin typeface="Arial" panose="020B0604020202020204" pitchFamily="34" charset="0"/>
              </a:rPr>
              <a:t>11</a:t>
            </a:r>
            <a:r>
              <a:rPr lang="en-US" altLang="zh-CN" sz="1800" b="1">
                <a:latin typeface="Courier New" panose="02070309020205020404" pitchFamily="49" charset="0"/>
              </a:rPr>
              <a:t>	S.D	-16(R1),F12</a:t>
            </a:r>
          </a:p>
          <a:p>
            <a:r>
              <a:rPr lang="en-US" altLang="zh-CN" sz="1800" b="1">
                <a:latin typeface="Arial" panose="020B0604020202020204" pitchFamily="34" charset="0"/>
              </a:rPr>
              <a:t>12</a:t>
            </a:r>
            <a:r>
              <a:rPr lang="en-US" altLang="zh-CN" sz="1800" b="1">
                <a:latin typeface="Courier New" panose="02070309020205020404" pitchFamily="49" charset="0"/>
              </a:rPr>
              <a:t>	DSUBUI	R1,R1,#32</a:t>
            </a:r>
          </a:p>
          <a:p>
            <a:r>
              <a:rPr lang="en-US" altLang="zh-CN" sz="1800" b="1">
                <a:latin typeface="Arial" panose="020B0604020202020204" pitchFamily="34" charset="0"/>
              </a:rPr>
              <a:t>13</a:t>
            </a:r>
            <a:r>
              <a:rPr lang="en-US" altLang="zh-CN" sz="1800" b="1">
                <a:latin typeface="Courier New" panose="02070309020205020404" pitchFamily="49" charset="0"/>
              </a:rPr>
              <a:t>	BNEZ	R1,LOOP</a:t>
            </a:r>
          </a:p>
          <a:p>
            <a:r>
              <a:rPr lang="en-US" altLang="zh-CN" sz="1800" b="1">
                <a:latin typeface="Arial" panose="020B0604020202020204" pitchFamily="34" charset="0"/>
              </a:rPr>
              <a:t>14</a:t>
            </a:r>
            <a:r>
              <a:rPr lang="en-US" altLang="zh-CN" sz="1800" b="1">
                <a:latin typeface="Courier New" panose="02070309020205020404" pitchFamily="49" charset="0"/>
              </a:rPr>
              <a:t>	S.D	</a:t>
            </a:r>
            <a:r>
              <a:rPr lang="en-US" altLang="zh-CN" sz="1800" b="1">
                <a:solidFill>
                  <a:schemeClr val="accent2"/>
                </a:solidFill>
                <a:latin typeface="Courier New" panose="02070309020205020404" pitchFamily="49" charset="0"/>
              </a:rPr>
              <a:t>8</a:t>
            </a:r>
            <a:r>
              <a:rPr lang="en-US" altLang="zh-CN" sz="1800" b="1">
                <a:latin typeface="Courier New" panose="02070309020205020404" pitchFamily="49" charset="0"/>
              </a:rPr>
              <a:t>(R1),F16	</a:t>
            </a:r>
            <a:r>
              <a:rPr lang="en-US" altLang="zh-CN" sz="1800" b="1">
                <a:solidFill>
                  <a:schemeClr val="accent2"/>
                </a:solidFill>
                <a:latin typeface="Courier New" panose="02070309020205020404" pitchFamily="49" charset="0"/>
              </a:rPr>
              <a:t>; 8-32 = -24</a:t>
            </a:r>
            <a:br>
              <a:rPr lang="en-US" altLang="zh-CN" sz="1800" b="1">
                <a:solidFill>
                  <a:schemeClr val="accent2"/>
                </a:solidFill>
                <a:latin typeface="Courier New" panose="02070309020205020404" pitchFamily="49" charset="0"/>
              </a:rPr>
            </a:br>
            <a:endParaRPr lang="en-US" altLang="zh-CN" sz="1800" b="1">
              <a:latin typeface="Courier New" panose="02070309020205020404" pitchFamily="49" charset="0"/>
            </a:endParaRPr>
          </a:p>
          <a:p>
            <a:r>
              <a:rPr lang="en-US" altLang="zh-CN" b="1">
                <a:latin typeface="Arial" panose="020B0604020202020204" pitchFamily="34" charset="0"/>
              </a:rPr>
              <a:t>14 clock cycles, or 3.5 per iteration</a:t>
            </a:r>
          </a:p>
        </p:txBody>
      </p:sp>
      <p:sp>
        <p:nvSpPr>
          <p:cNvPr id="1086469" name="Rectangle 5"/>
          <p:cNvSpPr>
            <a:spLocks noChangeArrowheads="1"/>
          </p:cNvSpPr>
          <p:nvPr/>
        </p:nvSpPr>
        <p:spPr bwMode="auto">
          <a:xfrm>
            <a:off x="7548564" y="1882776"/>
            <a:ext cx="2619308" cy="643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a:latin typeface="Arial" panose="020B0604020202020204" pitchFamily="34" charset="0"/>
              </a:rPr>
              <a:t>L.D to ADD.D: 1 Cycle</a:t>
            </a:r>
          </a:p>
          <a:p>
            <a:pPr algn="l"/>
            <a:r>
              <a:rPr lang="en-US" altLang="zh-CN">
                <a:latin typeface="Arial" panose="020B0604020202020204" pitchFamily="34" charset="0"/>
              </a:rPr>
              <a:t>ADD.D to S.D: 2 Cycles</a:t>
            </a:r>
          </a:p>
        </p:txBody>
      </p:sp>
    </p:spTree>
    <p:extLst>
      <p:ext uri="{BB962C8B-B14F-4D97-AF65-F5344CB8AC3E}">
        <p14:creationId xmlns:p14="http://schemas.microsoft.com/office/powerpoint/2010/main" val="275038020"/>
      </p:ext>
    </p:extLst>
  </p:cSld>
  <p:clrMapOvr>
    <a:masterClrMapping/>
  </p:clrMapOvr>
  <p:transition>
    <p:wipe/>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7490" name="Rectangle 2"/>
          <p:cNvSpPr>
            <a:spLocks noGrp="1" noChangeArrowheads="1"/>
          </p:cNvSpPr>
          <p:nvPr>
            <p:ph type="title"/>
          </p:nvPr>
        </p:nvSpPr>
        <p:spPr>
          <a:xfrm>
            <a:off x="2514600" y="645072"/>
            <a:ext cx="7162800" cy="5334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smtClean="0"/>
              <a:t>Loop Unrolling in VLIW</a:t>
            </a:r>
            <a:endParaRPr lang="en-US" altLang="zh-CN" dirty="0"/>
          </a:p>
        </p:txBody>
      </p:sp>
      <p:sp>
        <p:nvSpPr>
          <p:cNvPr id="1087491" name="Rectangle 3"/>
          <p:cNvSpPr>
            <a:spLocks noGrp="1" noChangeArrowheads="1"/>
          </p:cNvSpPr>
          <p:nvPr>
            <p:ph type="body" idx="1"/>
          </p:nvPr>
        </p:nvSpPr>
        <p:spPr>
          <a:xfrm>
            <a:off x="695400" y="1556792"/>
            <a:ext cx="11233248" cy="507176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marL="0" indent="0">
              <a:spcBef>
                <a:spcPct val="0"/>
              </a:spcBef>
              <a:buNone/>
              <a:tabLst>
                <a:tab pos="1663700" algn="l"/>
                <a:tab pos="3263900" algn="l"/>
                <a:tab pos="5207000" algn="l"/>
                <a:tab pos="6172200" algn="l"/>
                <a:tab pos="8293100" algn="r"/>
              </a:tabLst>
            </a:pPr>
            <a:r>
              <a:rPr lang="en-US" altLang="zh-CN" sz="2000" i="1" dirty="0" smtClean="0"/>
              <a:t>Memory 	  Memory	     FP	      FP		Int. op/		Clock</a:t>
            </a:r>
            <a:br>
              <a:rPr lang="en-US" altLang="zh-CN" sz="2000" i="1" dirty="0" smtClean="0"/>
            </a:br>
            <a:r>
              <a:rPr lang="en-US" altLang="zh-CN" sz="2000" i="1" dirty="0" smtClean="0"/>
              <a:t>reference 1	  reference 2	     operation 1	      op. 2 	branch</a:t>
            </a:r>
          </a:p>
          <a:p>
            <a:pPr marL="0" indent="0">
              <a:lnSpc>
                <a:spcPct val="120000"/>
              </a:lnSpc>
              <a:spcBef>
                <a:spcPct val="0"/>
              </a:spcBef>
              <a:buNone/>
              <a:tabLst>
                <a:tab pos="1663700" algn="l"/>
                <a:tab pos="3263900" algn="l"/>
                <a:tab pos="5207000" algn="l"/>
                <a:tab pos="6172200" algn="l"/>
                <a:tab pos="8293100" algn="r"/>
              </a:tabLst>
            </a:pPr>
            <a:r>
              <a:rPr lang="en-US" altLang="zh-CN" sz="1800" dirty="0" smtClean="0"/>
              <a:t>L.D F0,0(R1)	  L.D F6,-8(R1)						1</a:t>
            </a:r>
          </a:p>
          <a:p>
            <a:pPr marL="0" indent="0">
              <a:spcBef>
                <a:spcPct val="0"/>
              </a:spcBef>
              <a:buNone/>
              <a:tabLst>
                <a:tab pos="1663700" algn="l"/>
                <a:tab pos="3263900" algn="l"/>
                <a:tab pos="5207000" algn="l"/>
                <a:tab pos="6172200" algn="l"/>
                <a:tab pos="8293100" algn="r"/>
              </a:tabLst>
            </a:pPr>
            <a:r>
              <a:rPr lang="en-US" altLang="zh-CN" sz="1800" dirty="0" smtClean="0"/>
              <a:t>L.D F10,-16(R1)	  L.D F14,-24(R1)					2</a:t>
            </a:r>
          </a:p>
          <a:p>
            <a:pPr marL="0" indent="0">
              <a:spcBef>
                <a:spcPct val="0"/>
              </a:spcBef>
              <a:buNone/>
              <a:tabLst>
                <a:tab pos="1663700" algn="l"/>
                <a:tab pos="3263900" algn="l"/>
                <a:tab pos="5207000" algn="l"/>
                <a:tab pos="6172200" algn="l"/>
                <a:tab pos="8293100" algn="r"/>
              </a:tabLst>
            </a:pPr>
            <a:r>
              <a:rPr lang="en-US" altLang="zh-CN" sz="1800" dirty="0" smtClean="0"/>
              <a:t>L.D F18,-32(R1)	  L.D F22,-40(R1)</a:t>
            </a:r>
            <a:r>
              <a:rPr lang="en-US" altLang="zh-CN" sz="1800" dirty="0"/>
              <a:t> </a:t>
            </a:r>
            <a:r>
              <a:rPr lang="en-US" altLang="zh-CN" sz="1800" dirty="0" smtClean="0"/>
              <a:t> ADD.D F4,F0,F2</a:t>
            </a:r>
            <a:r>
              <a:rPr lang="en-US" altLang="zh-CN" sz="1800" dirty="0"/>
              <a:t> </a:t>
            </a:r>
            <a:r>
              <a:rPr lang="en-US" altLang="zh-CN" sz="1800" dirty="0" smtClean="0"/>
              <a:t>     ADD.D F8,F6,F2			3</a:t>
            </a:r>
          </a:p>
          <a:p>
            <a:pPr marL="0" indent="0">
              <a:spcBef>
                <a:spcPct val="0"/>
              </a:spcBef>
              <a:buNone/>
              <a:tabLst>
                <a:tab pos="1663700" algn="l"/>
                <a:tab pos="3263900" algn="l"/>
                <a:tab pos="5207000" algn="l"/>
                <a:tab pos="6172200" algn="l"/>
                <a:tab pos="8293100" algn="r"/>
              </a:tabLst>
            </a:pPr>
            <a:r>
              <a:rPr lang="en-US" altLang="zh-CN" sz="1800" dirty="0" smtClean="0"/>
              <a:t>L.D F26,-48(R1)		     ADD.D F12,F10,F2  ADD.D F16,F14,F2			4</a:t>
            </a:r>
          </a:p>
          <a:p>
            <a:pPr marL="0" indent="0">
              <a:spcBef>
                <a:spcPct val="0"/>
              </a:spcBef>
              <a:buNone/>
              <a:tabLst>
                <a:tab pos="1663700" algn="l"/>
                <a:tab pos="3263900" algn="l"/>
                <a:tab pos="5207000" algn="l"/>
                <a:tab pos="6172200" algn="l"/>
                <a:tab pos="8293100" algn="r"/>
              </a:tabLst>
            </a:pPr>
            <a:r>
              <a:rPr lang="en-US" altLang="zh-CN" sz="1800" dirty="0" smtClean="0"/>
              <a:t>		     ADD.D F20,F18,F2  ADD.D F24,F22,F2			5</a:t>
            </a:r>
          </a:p>
          <a:p>
            <a:pPr marL="0" indent="0">
              <a:spcBef>
                <a:spcPct val="0"/>
              </a:spcBef>
              <a:buNone/>
              <a:tabLst>
                <a:tab pos="1663700" algn="l"/>
                <a:tab pos="3263900" algn="l"/>
                <a:tab pos="5207000" algn="l"/>
                <a:tab pos="6172200" algn="l"/>
                <a:tab pos="8293100" algn="r"/>
              </a:tabLst>
            </a:pPr>
            <a:r>
              <a:rPr lang="en-US" altLang="zh-CN" sz="1800" dirty="0" smtClean="0"/>
              <a:t>S.D 0(R1),F4	  S.D -8(R1),F8	     ADD.D F28,F26,F2				6</a:t>
            </a:r>
          </a:p>
          <a:p>
            <a:pPr marL="0" indent="0">
              <a:spcBef>
                <a:spcPct val="0"/>
              </a:spcBef>
              <a:buNone/>
              <a:tabLst>
                <a:tab pos="1663700" algn="l"/>
                <a:tab pos="3263900" algn="l"/>
                <a:tab pos="5207000" algn="l"/>
                <a:tab pos="6172200" algn="l"/>
                <a:tab pos="8293100" algn="r"/>
              </a:tabLst>
            </a:pPr>
            <a:r>
              <a:rPr lang="en-US" altLang="zh-CN" sz="1800" dirty="0" smtClean="0"/>
              <a:t>S.D -16(R1),F12</a:t>
            </a:r>
            <a:r>
              <a:rPr lang="en-US" altLang="zh-CN" sz="1800" dirty="0"/>
              <a:t> </a:t>
            </a:r>
            <a:r>
              <a:rPr lang="en-US" altLang="zh-CN" sz="1800" dirty="0" smtClean="0"/>
              <a:t> S.D -24(R1),F16					7</a:t>
            </a:r>
          </a:p>
          <a:p>
            <a:pPr marL="0" indent="0">
              <a:spcBef>
                <a:spcPct val="0"/>
              </a:spcBef>
              <a:buNone/>
              <a:tabLst>
                <a:tab pos="1663700" algn="l"/>
                <a:tab pos="3263900" algn="l"/>
                <a:tab pos="5207000" algn="l"/>
                <a:tab pos="6172200" algn="l"/>
                <a:tab pos="8293100" algn="r"/>
              </a:tabLst>
            </a:pPr>
            <a:r>
              <a:rPr lang="en-US" altLang="zh-CN" sz="1800" dirty="0" smtClean="0"/>
              <a:t>S.D -32(R1),F20  S.D -40(R1),F24			                    DSUBUI  R1,R1,#48	8</a:t>
            </a:r>
          </a:p>
          <a:p>
            <a:pPr marL="0" indent="0">
              <a:spcBef>
                <a:spcPct val="0"/>
              </a:spcBef>
              <a:buNone/>
              <a:tabLst>
                <a:tab pos="1663700" algn="l"/>
                <a:tab pos="3263900" algn="l"/>
                <a:tab pos="5207000" algn="l"/>
                <a:tab pos="6172200" algn="l"/>
                <a:tab pos="8293100" algn="r"/>
              </a:tabLst>
            </a:pPr>
            <a:r>
              <a:rPr lang="en-US" altLang="zh-CN" sz="1800" dirty="0" smtClean="0"/>
              <a:t>S.D -0(R1),F28				                    BNEZ R1,LOOP		9</a:t>
            </a:r>
            <a:endParaRPr lang="en-US" altLang="zh-CN" dirty="0" smtClean="0"/>
          </a:p>
          <a:p>
            <a:pPr marL="0" indent="0">
              <a:spcBef>
                <a:spcPct val="0"/>
              </a:spcBef>
              <a:buNone/>
              <a:tabLst>
                <a:tab pos="1663700" algn="l"/>
                <a:tab pos="3263900" algn="l"/>
                <a:tab pos="5207000" algn="l"/>
                <a:tab pos="6172200" algn="l"/>
                <a:tab pos="8293100" algn="r"/>
              </a:tabLst>
            </a:pPr>
            <a:endParaRPr lang="en-US" altLang="zh-CN" dirty="0" smtClean="0">
              <a:solidFill>
                <a:schemeClr val="hlink"/>
              </a:solidFill>
            </a:endParaRPr>
          </a:p>
          <a:p>
            <a:pPr marL="0" indent="0">
              <a:spcBef>
                <a:spcPct val="0"/>
              </a:spcBef>
              <a:buNone/>
              <a:tabLst>
                <a:tab pos="1663700" algn="l"/>
                <a:tab pos="3263900" algn="l"/>
                <a:tab pos="5207000" algn="l"/>
                <a:tab pos="6172200" algn="l"/>
                <a:tab pos="8293100" algn="r"/>
              </a:tabLst>
            </a:pPr>
            <a:r>
              <a:rPr lang="en-US" altLang="zh-CN" dirty="0" smtClean="0">
                <a:solidFill>
                  <a:schemeClr val="hlink"/>
                </a:solidFill>
              </a:rPr>
              <a:t>  </a:t>
            </a:r>
            <a:r>
              <a:rPr lang="en-US" altLang="zh-CN" dirty="0" smtClean="0">
                <a:solidFill>
                  <a:srgbClr val="FF0000"/>
                </a:solidFill>
              </a:rPr>
              <a:t>Unrolled 7 times to avoid delays</a:t>
            </a:r>
          </a:p>
          <a:p>
            <a:pPr marL="0" indent="0">
              <a:spcBef>
                <a:spcPct val="0"/>
              </a:spcBef>
              <a:buNone/>
              <a:tabLst>
                <a:tab pos="1663700" algn="l"/>
                <a:tab pos="3263900" algn="l"/>
                <a:tab pos="5207000" algn="l"/>
                <a:tab pos="6172200" algn="l"/>
                <a:tab pos="8293100" algn="r"/>
              </a:tabLst>
            </a:pPr>
            <a:r>
              <a:rPr lang="en-US" altLang="zh-CN" dirty="0" smtClean="0">
                <a:solidFill>
                  <a:srgbClr val="FF0000"/>
                </a:solidFill>
              </a:rPr>
              <a:t>  7 results in 9 clocks, or 1.3 clocks per iteration (1.8X)</a:t>
            </a:r>
          </a:p>
          <a:p>
            <a:pPr marL="0" indent="0">
              <a:spcBef>
                <a:spcPct val="0"/>
              </a:spcBef>
              <a:buNone/>
              <a:tabLst>
                <a:tab pos="1663700" algn="l"/>
                <a:tab pos="3263900" algn="l"/>
                <a:tab pos="5207000" algn="l"/>
                <a:tab pos="6172200" algn="l"/>
                <a:tab pos="8293100" algn="r"/>
              </a:tabLst>
            </a:pPr>
            <a:r>
              <a:rPr lang="en-US" altLang="zh-CN" dirty="0" smtClean="0">
                <a:solidFill>
                  <a:srgbClr val="FF0000"/>
                </a:solidFill>
              </a:rPr>
              <a:t>  Average: 2.5 ops per clock, 50% efficiency</a:t>
            </a:r>
          </a:p>
          <a:p>
            <a:pPr marL="0" indent="0">
              <a:spcBef>
                <a:spcPct val="0"/>
              </a:spcBef>
              <a:buNone/>
              <a:tabLst>
                <a:tab pos="1663700" algn="l"/>
                <a:tab pos="3263900" algn="l"/>
                <a:tab pos="5207000" algn="l"/>
                <a:tab pos="6172200" algn="l"/>
                <a:tab pos="8293100" algn="r"/>
              </a:tabLst>
            </a:pPr>
            <a:r>
              <a:rPr lang="en-US" altLang="zh-CN" dirty="0" smtClean="0"/>
              <a:t>  Note: Need more registers in VLIW (15 vs. 6 in </a:t>
            </a:r>
            <a:r>
              <a:rPr lang="en-US" altLang="zh-CN" dirty="0" err="1" smtClean="0"/>
              <a:t>SuperScalar</a:t>
            </a:r>
            <a:r>
              <a:rPr lang="en-US" altLang="zh-CN" dirty="0" smtClean="0"/>
              <a:t>)</a:t>
            </a:r>
            <a:endParaRPr lang="en-US" altLang="zh-CN" dirty="0"/>
          </a:p>
        </p:txBody>
      </p:sp>
      <p:sp>
        <p:nvSpPr>
          <p:cNvPr id="1087492" name="Line 4"/>
          <p:cNvSpPr>
            <a:spLocks noChangeShapeType="1"/>
          </p:cNvSpPr>
          <p:nvPr/>
        </p:nvSpPr>
        <p:spPr bwMode="auto">
          <a:xfrm>
            <a:off x="1559496" y="2343027"/>
            <a:ext cx="3810000" cy="3810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7493" name="Line 5"/>
          <p:cNvSpPr>
            <a:spLocks noChangeShapeType="1"/>
          </p:cNvSpPr>
          <p:nvPr/>
        </p:nvSpPr>
        <p:spPr bwMode="auto">
          <a:xfrm flipH="1">
            <a:off x="4079776" y="2857995"/>
            <a:ext cx="2965450" cy="67945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7494" name="Line 6"/>
          <p:cNvSpPr>
            <a:spLocks noChangeShapeType="1"/>
          </p:cNvSpPr>
          <p:nvPr/>
        </p:nvSpPr>
        <p:spPr bwMode="auto">
          <a:xfrm>
            <a:off x="695400" y="2132856"/>
            <a:ext cx="1087320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801569449"/>
      </p:ext>
    </p:extLst>
  </p:cSld>
  <p:clrMapOvr>
    <a:masterClrMapping/>
  </p:clrMapOvr>
  <p:transition>
    <p:wipe/>
  </p:transition>
</p:sld>
</file>

<file path=ppt/slides/slide1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2914" name="Rectangle 2"/>
          <p:cNvSpPr>
            <a:spLocks noGrp="1" noChangeArrowheads="1"/>
          </p:cNvSpPr>
          <p:nvPr>
            <p:ph type="title"/>
          </p:nvPr>
        </p:nvSpPr>
        <p:spPr/>
        <p:txBody>
          <a:bodyPr/>
          <a:lstStyle/>
          <a:p>
            <a:r>
              <a:rPr lang="en-US" altLang="zh-CN" dirty="0" smtClean="0"/>
              <a:t>Recall: Software Pipelining</a:t>
            </a:r>
            <a:endParaRPr lang="en-US" altLang="zh-CN" dirty="0"/>
          </a:p>
        </p:txBody>
      </p:sp>
      <p:sp>
        <p:nvSpPr>
          <p:cNvPr id="1062915" name="Rectangle 3"/>
          <p:cNvSpPr>
            <a:spLocks noGrp="1" noChangeArrowheads="1"/>
          </p:cNvSpPr>
          <p:nvPr>
            <p:ph type="body" idx="1"/>
          </p:nvPr>
        </p:nvSpPr>
        <p:spPr/>
        <p:txBody>
          <a:bodyPr/>
          <a:lstStyle/>
          <a:p>
            <a:r>
              <a:rPr lang="en-US" altLang="zh-CN" dirty="0" smtClean="0"/>
              <a:t>Observation: if iterations from loops are independent, then can get more ILP by taking instructions from different iterations</a:t>
            </a:r>
          </a:p>
          <a:p>
            <a:r>
              <a:rPr lang="en-US" altLang="zh-CN" dirty="0" smtClean="0"/>
              <a:t>Software pipelining: reorganizes loops so that each iteration is made from instructions chosen from different iterations of the original loop (~ </a:t>
            </a:r>
            <a:r>
              <a:rPr lang="en-US" altLang="zh-CN" dirty="0" err="1" smtClean="0"/>
              <a:t>Tomasulo</a:t>
            </a:r>
            <a:r>
              <a:rPr lang="en-US" altLang="zh-CN" dirty="0" smtClean="0"/>
              <a:t> in SW)</a:t>
            </a:r>
            <a:endParaRPr lang="en-US" altLang="zh-CN" dirty="0"/>
          </a:p>
        </p:txBody>
      </p:sp>
      <p:pic>
        <p:nvPicPr>
          <p:cNvPr id="1062916" name="Picture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3872" y="3429000"/>
            <a:ext cx="6409928" cy="33123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4215036"/>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62915">
                                            <p:txEl>
                                              <p:pRg st="0" end="0"/>
                                            </p:txEl>
                                          </p:spTgt>
                                        </p:tgtEl>
                                        <p:attrNameLst>
                                          <p:attrName>style.visibility</p:attrName>
                                        </p:attrNameLst>
                                      </p:cBhvr>
                                      <p:to>
                                        <p:strVal val="visible"/>
                                      </p:to>
                                    </p:set>
                                    <p:anim calcmode="lin" valueType="num">
                                      <p:cBhvr additive="base">
                                        <p:cTn id="7" dur="500" fill="hold"/>
                                        <p:tgtEl>
                                          <p:spTgt spid="106291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629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62915">
                                            <p:txEl>
                                              <p:pRg st="1" end="1"/>
                                            </p:txEl>
                                          </p:spTgt>
                                        </p:tgtEl>
                                        <p:attrNameLst>
                                          <p:attrName>style.visibility</p:attrName>
                                        </p:attrNameLst>
                                      </p:cBhvr>
                                      <p:to>
                                        <p:strVal val="visible"/>
                                      </p:to>
                                    </p:set>
                                    <p:anim calcmode="lin" valueType="num">
                                      <p:cBhvr additive="base">
                                        <p:cTn id="13" dur="500" fill="hold"/>
                                        <p:tgtEl>
                                          <p:spTgt spid="106291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062915">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2915" grpId="0" build="p" autoUpdateAnimBg="0"/>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3938" name="Rectangle 2"/>
          <p:cNvSpPr>
            <a:spLocks noGrp="1" noChangeArrowheads="1"/>
          </p:cNvSpPr>
          <p:nvPr>
            <p:ph type="title"/>
          </p:nvPr>
        </p:nvSpPr>
        <p:spPr>
          <a:xfrm>
            <a:off x="767408" y="544860"/>
            <a:ext cx="10369152" cy="723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smtClean="0"/>
              <a:t>Recall: Software </a:t>
            </a:r>
            <a:r>
              <a:rPr lang="en-US" altLang="zh-CN" dirty="0"/>
              <a:t>Pipelining Example</a:t>
            </a:r>
          </a:p>
        </p:txBody>
      </p:sp>
      <p:sp>
        <p:nvSpPr>
          <p:cNvPr id="1063939" name="Rectangle 3"/>
          <p:cNvSpPr>
            <a:spLocks noGrp="1" noChangeArrowheads="1"/>
          </p:cNvSpPr>
          <p:nvPr>
            <p:ph type="body" idx="1"/>
          </p:nvPr>
        </p:nvSpPr>
        <p:spPr>
          <a:xfrm>
            <a:off x="479376" y="1745288"/>
            <a:ext cx="4154835" cy="4203992"/>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marL="514350" indent="-514350">
              <a:buNone/>
              <a:tabLst>
                <a:tab pos="1257300" algn="l"/>
              </a:tabLst>
            </a:pPr>
            <a:r>
              <a:rPr lang="en-US" altLang="zh-CN" sz="2400" dirty="0"/>
              <a:t>Before: Unrolled 3 </a:t>
            </a:r>
            <a:r>
              <a:rPr lang="en-US" altLang="zh-CN" sz="2400" dirty="0" smtClean="0"/>
              <a:t>times</a:t>
            </a:r>
          </a:p>
          <a:p>
            <a:pPr marL="514350" indent="-514350">
              <a:buNone/>
              <a:tabLst>
                <a:tab pos="1257300" algn="l"/>
              </a:tabLst>
            </a:pPr>
            <a:endParaRPr lang="en-US" altLang="zh-CN" sz="2400" dirty="0"/>
          </a:p>
          <a:p>
            <a:pPr marL="514350" indent="-514350">
              <a:spcBef>
                <a:spcPct val="0"/>
              </a:spcBef>
              <a:buNone/>
              <a:tabLst>
                <a:tab pos="1257300" algn="l"/>
              </a:tabLst>
            </a:pPr>
            <a:r>
              <a:rPr lang="en-US" altLang="zh-CN" sz="2400" dirty="0">
                <a:solidFill>
                  <a:schemeClr val="accent1"/>
                </a:solidFill>
              </a:rPr>
              <a:t> </a:t>
            </a:r>
            <a:r>
              <a:rPr lang="en-US" altLang="zh-CN" sz="2400" b="1" dirty="0">
                <a:solidFill>
                  <a:srgbClr val="FF0000"/>
                </a:solidFill>
              </a:rPr>
              <a:t>1 </a:t>
            </a:r>
            <a:r>
              <a:rPr lang="en-US" altLang="zh-CN" sz="2400" b="1" dirty="0">
                <a:solidFill>
                  <a:srgbClr val="FF0000"/>
                </a:solidFill>
                <a:latin typeface="Courier New" panose="02070309020205020404" pitchFamily="49" charset="0"/>
              </a:rPr>
              <a:t>	L.D	F0,0(R1)</a:t>
            </a:r>
          </a:p>
          <a:p>
            <a:pPr marL="514350" indent="-514350">
              <a:spcBef>
                <a:spcPct val="0"/>
              </a:spcBef>
              <a:buNone/>
              <a:tabLst>
                <a:tab pos="1257300" algn="l"/>
              </a:tabLst>
            </a:pPr>
            <a:r>
              <a:rPr lang="en-US" altLang="zh-CN" sz="2400" b="1" dirty="0">
                <a:solidFill>
                  <a:srgbClr val="FF0000"/>
                </a:solidFill>
              </a:rPr>
              <a:t> 2</a:t>
            </a:r>
            <a:r>
              <a:rPr lang="en-US" altLang="zh-CN" sz="2400" b="1" dirty="0">
                <a:solidFill>
                  <a:srgbClr val="FF0000"/>
                </a:solidFill>
                <a:latin typeface="Courier New" panose="02070309020205020404" pitchFamily="49" charset="0"/>
              </a:rPr>
              <a:t>	</a:t>
            </a:r>
            <a:r>
              <a:rPr lang="en-US" altLang="zh-CN" sz="2400" b="1" dirty="0" smtClean="0">
                <a:solidFill>
                  <a:srgbClr val="FF0000"/>
                </a:solidFill>
                <a:latin typeface="Courier New" panose="02070309020205020404" pitchFamily="49" charset="0"/>
              </a:rPr>
              <a:t>ADD.D F4,F0,F2</a:t>
            </a:r>
            <a:endParaRPr lang="en-US" altLang="zh-CN" sz="2400" b="1" dirty="0">
              <a:solidFill>
                <a:srgbClr val="FF0000"/>
              </a:solidFill>
              <a:latin typeface="Courier New" panose="02070309020205020404" pitchFamily="49" charset="0"/>
            </a:endParaRPr>
          </a:p>
          <a:p>
            <a:pPr marL="514350" indent="-514350">
              <a:spcBef>
                <a:spcPct val="0"/>
              </a:spcBef>
              <a:buNone/>
              <a:tabLst>
                <a:tab pos="1257300" algn="l"/>
              </a:tabLst>
            </a:pPr>
            <a:r>
              <a:rPr lang="en-US" altLang="zh-CN" sz="2400" b="1" dirty="0">
                <a:solidFill>
                  <a:srgbClr val="FF0000"/>
                </a:solidFill>
              </a:rPr>
              <a:t> 3</a:t>
            </a:r>
            <a:r>
              <a:rPr lang="en-US" altLang="zh-CN" sz="2400" b="1" dirty="0">
                <a:solidFill>
                  <a:srgbClr val="FF0000"/>
                </a:solidFill>
                <a:latin typeface="Courier New" panose="02070309020205020404" pitchFamily="49" charset="0"/>
              </a:rPr>
              <a:t>	S.D	0(R1),F4</a:t>
            </a:r>
            <a:r>
              <a:rPr lang="en-US" altLang="zh-CN" sz="2400" dirty="0">
                <a:latin typeface="Courier New" panose="02070309020205020404" pitchFamily="49" charset="0"/>
              </a:rPr>
              <a:t> 	</a:t>
            </a:r>
          </a:p>
          <a:p>
            <a:pPr marL="514350" indent="-514350">
              <a:spcBef>
                <a:spcPct val="0"/>
              </a:spcBef>
              <a:buNone/>
              <a:tabLst>
                <a:tab pos="1257300" algn="l"/>
              </a:tabLst>
            </a:pPr>
            <a:r>
              <a:rPr lang="en-US" altLang="zh-CN" sz="2400" dirty="0">
                <a:solidFill>
                  <a:schemeClr val="hlink"/>
                </a:solidFill>
              </a:rPr>
              <a:t> </a:t>
            </a:r>
            <a:r>
              <a:rPr lang="en-US" altLang="zh-CN" sz="2400" b="1" dirty="0">
                <a:solidFill>
                  <a:schemeClr val="hlink"/>
                </a:solidFill>
              </a:rPr>
              <a:t>4</a:t>
            </a:r>
            <a:r>
              <a:rPr lang="en-US" altLang="zh-CN" sz="2400" b="1" dirty="0">
                <a:solidFill>
                  <a:schemeClr val="hlink"/>
                </a:solidFill>
                <a:latin typeface="Courier New" panose="02070309020205020404" pitchFamily="49" charset="0"/>
              </a:rPr>
              <a:t>	L.D	F6,-8(R1)</a:t>
            </a:r>
          </a:p>
          <a:p>
            <a:pPr marL="514350" indent="-514350">
              <a:spcBef>
                <a:spcPct val="0"/>
              </a:spcBef>
              <a:buNone/>
              <a:tabLst>
                <a:tab pos="1257300" algn="l"/>
              </a:tabLst>
            </a:pPr>
            <a:r>
              <a:rPr lang="en-US" altLang="zh-CN" sz="2400" b="1" dirty="0">
                <a:solidFill>
                  <a:schemeClr val="hlink"/>
                </a:solidFill>
              </a:rPr>
              <a:t> 5</a:t>
            </a:r>
            <a:r>
              <a:rPr lang="en-US" altLang="zh-CN" sz="2400" b="1" dirty="0">
                <a:solidFill>
                  <a:schemeClr val="hlink"/>
                </a:solidFill>
                <a:latin typeface="Courier New" panose="02070309020205020404" pitchFamily="49" charset="0"/>
              </a:rPr>
              <a:t>	</a:t>
            </a:r>
            <a:r>
              <a:rPr lang="en-US" altLang="zh-CN" sz="2400" b="1" dirty="0" smtClean="0">
                <a:solidFill>
                  <a:schemeClr val="hlink"/>
                </a:solidFill>
                <a:latin typeface="Courier New" panose="02070309020205020404" pitchFamily="49" charset="0"/>
              </a:rPr>
              <a:t>ADD.D F8,F6,F2</a:t>
            </a:r>
            <a:endParaRPr lang="en-US" altLang="zh-CN" sz="2400" b="1" dirty="0">
              <a:solidFill>
                <a:schemeClr val="hlink"/>
              </a:solidFill>
              <a:latin typeface="Courier New" panose="02070309020205020404" pitchFamily="49" charset="0"/>
            </a:endParaRPr>
          </a:p>
          <a:p>
            <a:pPr marL="514350" indent="-514350">
              <a:spcBef>
                <a:spcPct val="0"/>
              </a:spcBef>
              <a:buNone/>
              <a:tabLst>
                <a:tab pos="1257300" algn="l"/>
              </a:tabLst>
            </a:pPr>
            <a:r>
              <a:rPr lang="en-US" altLang="zh-CN" sz="2400" b="1" dirty="0">
                <a:solidFill>
                  <a:schemeClr val="hlink"/>
                </a:solidFill>
              </a:rPr>
              <a:t> 6</a:t>
            </a:r>
            <a:r>
              <a:rPr lang="en-US" altLang="zh-CN" sz="2400" b="1" dirty="0">
                <a:solidFill>
                  <a:schemeClr val="hlink"/>
                </a:solidFill>
                <a:latin typeface="Courier New" panose="02070309020205020404" pitchFamily="49" charset="0"/>
              </a:rPr>
              <a:t>	S.D	-8(R1),</a:t>
            </a:r>
            <a:r>
              <a:rPr lang="en-US" altLang="zh-CN" sz="2400" b="1" dirty="0" smtClean="0">
                <a:solidFill>
                  <a:schemeClr val="hlink"/>
                </a:solidFill>
                <a:latin typeface="Courier New" panose="02070309020205020404" pitchFamily="49" charset="0"/>
              </a:rPr>
              <a:t>F8</a:t>
            </a:r>
            <a:r>
              <a:rPr lang="en-US" altLang="zh-CN" sz="2400" dirty="0">
                <a:latin typeface="Courier New" panose="02070309020205020404" pitchFamily="49" charset="0"/>
              </a:rPr>
              <a:t>	</a:t>
            </a:r>
          </a:p>
          <a:p>
            <a:pPr marL="514350" indent="-514350">
              <a:spcBef>
                <a:spcPct val="0"/>
              </a:spcBef>
              <a:buNone/>
              <a:tabLst>
                <a:tab pos="1257300" algn="l"/>
              </a:tabLst>
            </a:pPr>
            <a:r>
              <a:rPr lang="en-US" altLang="zh-CN" sz="2400" dirty="0">
                <a:solidFill>
                  <a:schemeClr val="accent2"/>
                </a:solidFill>
              </a:rPr>
              <a:t> </a:t>
            </a:r>
            <a:r>
              <a:rPr lang="en-US" altLang="zh-CN" sz="2400" b="1" dirty="0">
                <a:solidFill>
                  <a:srgbClr val="3333CC"/>
                </a:solidFill>
              </a:rPr>
              <a:t>7</a:t>
            </a:r>
            <a:r>
              <a:rPr lang="en-US" altLang="zh-CN" sz="2400" b="1" dirty="0">
                <a:solidFill>
                  <a:srgbClr val="3333CC"/>
                </a:solidFill>
                <a:latin typeface="Courier New" panose="02070309020205020404" pitchFamily="49" charset="0"/>
              </a:rPr>
              <a:t>	L.D	F10,-16(R1)</a:t>
            </a:r>
          </a:p>
          <a:p>
            <a:pPr marL="514350" indent="-514350">
              <a:spcBef>
                <a:spcPct val="0"/>
              </a:spcBef>
              <a:buNone/>
              <a:tabLst>
                <a:tab pos="1257300" algn="l"/>
              </a:tabLst>
            </a:pPr>
            <a:r>
              <a:rPr lang="en-US" altLang="zh-CN" sz="2400" b="1" dirty="0">
                <a:solidFill>
                  <a:srgbClr val="3333CC"/>
                </a:solidFill>
              </a:rPr>
              <a:t> 8</a:t>
            </a:r>
            <a:r>
              <a:rPr lang="en-US" altLang="zh-CN" sz="2400" b="1" dirty="0">
                <a:solidFill>
                  <a:srgbClr val="3333CC"/>
                </a:solidFill>
                <a:latin typeface="Courier New" panose="02070309020205020404" pitchFamily="49" charset="0"/>
              </a:rPr>
              <a:t>	ADD.D	F12,F10,F2</a:t>
            </a:r>
          </a:p>
          <a:p>
            <a:pPr marL="514350" indent="-514350">
              <a:spcBef>
                <a:spcPct val="0"/>
              </a:spcBef>
              <a:buNone/>
              <a:tabLst>
                <a:tab pos="1257300" algn="l"/>
              </a:tabLst>
            </a:pPr>
            <a:r>
              <a:rPr lang="en-US" altLang="zh-CN" sz="2400" b="1" dirty="0">
                <a:solidFill>
                  <a:srgbClr val="3333CC"/>
                </a:solidFill>
              </a:rPr>
              <a:t> 9</a:t>
            </a:r>
            <a:r>
              <a:rPr lang="en-US" altLang="zh-CN" sz="2400" b="1" dirty="0">
                <a:solidFill>
                  <a:srgbClr val="3333CC"/>
                </a:solidFill>
                <a:latin typeface="Courier New" panose="02070309020205020404" pitchFamily="49" charset="0"/>
              </a:rPr>
              <a:t>	S.D	-16(R1),F12</a:t>
            </a:r>
            <a:endParaRPr lang="en-US" altLang="zh-CN" sz="2400" b="1" dirty="0">
              <a:solidFill>
                <a:schemeClr val="accent2"/>
              </a:solidFill>
              <a:latin typeface="Courier New" panose="02070309020205020404" pitchFamily="49" charset="0"/>
            </a:endParaRPr>
          </a:p>
          <a:p>
            <a:pPr marL="514350" indent="-514350">
              <a:spcBef>
                <a:spcPct val="0"/>
              </a:spcBef>
              <a:buNone/>
              <a:tabLst>
                <a:tab pos="1257300" algn="l"/>
              </a:tabLst>
            </a:pPr>
            <a:r>
              <a:rPr lang="en-US" altLang="zh-CN" sz="2400" dirty="0"/>
              <a:t> 10</a:t>
            </a:r>
            <a:r>
              <a:rPr lang="en-US" altLang="zh-CN" sz="2400" dirty="0">
                <a:latin typeface="Courier New" panose="02070309020205020404" pitchFamily="49" charset="0"/>
              </a:rPr>
              <a:t>	DSUBUI	R1,R1,</a:t>
            </a:r>
            <a:r>
              <a:rPr lang="en-US" altLang="zh-CN" sz="2400" dirty="0">
                <a:solidFill>
                  <a:schemeClr val="tx2"/>
                </a:solidFill>
                <a:latin typeface="Courier New" panose="02070309020205020404" pitchFamily="49" charset="0"/>
              </a:rPr>
              <a:t>#24</a:t>
            </a:r>
            <a:endParaRPr lang="en-US" altLang="zh-CN" sz="2400" dirty="0">
              <a:latin typeface="Courier New" panose="02070309020205020404" pitchFamily="49" charset="0"/>
            </a:endParaRPr>
          </a:p>
          <a:p>
            <a:pPr marL="514350" indent="-514350">
              <a:spcBef>
                <a:spcPct val="0"/>
              </a:spcBef>
              <a:buNone/>
              <a:tabLst>
                <a:tab pos="1257300" algn="l"/>
              </a:tabLst>
            </a:pPr>
            <a:r>
              <a:rPr lang="en-US" altLang="zh-CN" sz="2400" dirty="0"/>
              <a:t> 11</a:t>
            </a:r>
            <a:r>
              <a:rPr lang="en-US" altLang="zh-CN" sz="2400" dirty="0">
                <a:latin typeface="Courier New" panose="02070309020205020404" pitchFamily="49" charset="0"/>
              </a:rPr>
              <a:t>	BNEZ	R1,LOOP</a:t>
            </a:r>
          </a:p>
        </p:txBody>
      </p:sp>
      <p:sp>
        <p:nvSpPr>
          <p:cNvPr id="1063940" name="Rectangle 4"/>
          <p:cNvSpPr>
            <a:spLocks noChangeArrowheads="1"/>
          </p:cNvSpPr>
          <p:nvPr/>
        </p:nvSpPr>
        <p:spPr bwMode="auto">
          <a:xfrm>
            <a:off x="5004322" y="1556792"/>
            <a:ext cx="6708301" cy="3606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514350" indent="-514350" algn="l">
              <a:tabLst>
                <a:tab pos="1435100" algn="l"/>
                <a:tab pos="2971800" algn="l"/>
              </a:tabLst>
              <a:defRPr sz="2400">
                <a:solidFill>
                  <a:schemeClr val="tx1"/>
                </a:solidFill>
                <a:latin typeface="Times New Roman" panose="02020603050405020304" pitchFamily="18" charset="0"/>
                <a:ea typeface="宋体" panose="02010600030101010101" pitchFamily="2" charset="-122"/>
              </a:defRPr>
            </a:lvl1pPr>
            <a:lvl2pPr marL="1085850" indent="-228600" algn="l">
              <a:tabLst>
                <a:tab pos="1435100" algn="l"/>
                <a:tab pos="2971800" algn="l"/>
              </a:tabLst>
              <a:defRPr sz="2400">
                <a:solidFill>
                  <a:schemeClr val="tx1"/>
                </a:solidFill>
                <a:latin typeface="Times New Roman" panose="02020603050405020304" pitchFamily="18" charset="0"/>
                <a:ea typeface="宋体" panose="02010600030101010101" pitchFamily="2" charset="-122"/>
              </a:defRPr>
            </a:lvl2pPr>
            <a:lvl3pPr marL="1428750" indent="-228600" algn="l">
              <a:tabLst>
                <a:tab pos="1435100" algn="l"/>
                <a:tab pos="2971800" algn="l"/>
              </a:tabLst>
              <a:defRPr sz="2400">
                <a:solidFill>
                  <a:schemeClr val="tx1"/>
                </a:solidFill>
                <a:latin typeface="Times New Roman" panose="02020603050405020304" pitchFamily="18" charset="0"/>
                <a:ea typeface="宋体" panose="02010600030101010101" pitchFamily="2" charset="-122"/>
              </a:defRPr>
            </a:lvl3pPr>
            <a:lvl4pPr marL="1714500" indent="-171450" algn="l">
              <a:tabLst>
                <a:tab pos="1435100" algn="l"/>
                <a:tab pos="2971800" algn="l"/>
              </a:tabLst>
              <a:defRPr sz="2400">
                <a:solidFill>
                  <a:schemeClr val="tx1"/>
                </a:solidFill>
                <a:latin typeface="Times New Roman" panose="02020603050405020304" pitchFamily="18" charset="0"/>
                <a:ea typeface="宋体" panose="02010600030101010101" pitchFamily="2" charset="-122"/>
              </a:defRPr>
            </a:lvl4pPr>
            <a:lvl5pPr marL="2000250" indent="-171450" algn="l">
              <a:tabLst>
                <a:tab pos="1435100" algn="l"/>
                <a:tab pos="2971800" algn="l"/>
              </a:tabLst>
              <a:defRPr sz="2400">
                <a:solidFill>
                  <a:schemeClr val="tx1"/>
                </a:solidFill>
                <a:latin typeface="Times New Roman" panose="02020603050405020304" pitchFamily="18" charset="0"/>
                <a:ea typeface="宋体" panose="02010600030101010101" pitchFamily="2" charset="-122"/>
              </a:defRPr>
            </a:lvl5pPr>
            <a:lvl6pPr marL="2457450" indent="-171450" eaLnBrk="0" fontAlgn="base" hangingPunct="0">
              <a:spcBef>
                <a:spcPct val="0"/>
              </a:spcBef>
              <a:spcAft>
                <a:spcPct val="0"/>
              </a:spcAft>
              <a:tabLst>
                <a:tab pos="1435100" algn="l"/>
                <a:tab pos="2971800" algn="l"/>
              </a:tabLst>
              <a:defRPr sz="2400">
                <a:solidFill>
                  <a:schemeClr val="tx1"/>
                </a:solidFill>
                <a:latin typeface="Times New Roman" panose="02020603050405020304" pitchFamily="18" charset="0"/>
                <a:ea typeface="宋体" panose="02010600030101010101" pitchFamily="2" charset="-122"/>
              </a:defRPr>
            </a:lvl6pPr>
            <a:lvl7pPr marL="2914650" indent="-171450" eaLnBrk="0" fontAlgn="base" hangingPunct="0">
              <a:spcBef>
                <a:spcPct val="0"/>
              </a:spcBef>
              <a:spcAft>
                <a:spcPct val="0"/>
              </a:spcAft>
              <a:tabLst>
                <a:tab pos="1435100" algn="l"/>
                <a:tab pos="2971800" algn="l"/>
              </a:tabLst>
              <a:defRPr sz="2400">
                <a:solidFill>
                  <a:schemeClr val="tx1"/>
                </a:solidFill>
                <a:latin typeface="Times New Roman" panose="02020603050405020304" pitchFamily="18" charset="0"/>
                <a:ea typeface="宋体" panose="02010600030101010101" pitchFamily="2" charset="-122"/>
              </a:defRPr>
            </a:lvl7pPr>
            <a:lvl8pPr marL="3371850" indent="-171450" eaLnBrk="0" fontAlgn="base" hangingPunct="0">
              <a:spcBef>
                <a:spcPct val="0"/>
              </a:spcBef>
              <a:spcAft>
                <a:spcPct val="0"/>
              </a:spcAft>
              <a:tabLst>
                <a:tab pos="1435100" algn="l"/>
                <a:tab pos="2971800" algn="l"/>
              </a:tabLst>
              <a:defRPr sz="2400">
                <a:solidFill>
                  <a:schemeClr val="tx1"/>
                </a:solidFill>
                <a:latin typeface="Times New Roman" panose="02020603050405020304" pitchFamily="18" charset="0"/>
                <a:ea typeface="宋体" panose="02010600030101010101" pitchFamily="2" charset="-122"/>
              </a:defRPr>
            </a:lvl8pPr>
            <a:lvl9pPr marL="3829050" indent="-171450" eaLnBrk="0" fontAlgn="base" hangingPunct="0">
              <a:spcBef>
                <a:spcPct val="0"/>
              </a:spcBef>
              <a:spcAft>
                <a:spcPct val="0"/>
              </a:spcAft>
              <a:tabLst>
                <a:tab pos="1435100" algn="l"/>
                <a:tab pos="2971800" algn="l"/>
              </a:tabLst>
              <a:defRPr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30000"/>
              </a:spcBef>
            </a:pPr>
            <a:r>
              <a:rPr lang="en-US" altLang="zh-CN" dirty="0">
                <a:solidFill>
                  <a:srgbClr val="0000FF"/>
                </a:solidFill>
                <a:latin typeface="Arial" panose="020B0604020202020204" pitchFamily="34" charset="0"/>
              </a:rPr>
              <a:t>After: Software </a:t>
            </a:r>
            <a:r>
              <a:rPr lang="en-US" altLang="zh-CN" dirty="0" smtClean="0">
                <a:solidFill>
                  <a:srgbClr val="0000FF"/>
                </a:solidFill>
                <a:latin typeface="Arial" panose="020B0604020202020204" pitchFamily="34" charset="0"/>
              </a:rPr>
              <a:t>Pipelined</a:t>
            </a:r>
          </a:p>
          <a:p>
            <a:pPr>
              <a:lnSpc>
                <a:spcPct val="90000"/>
              </a:lnSpc>
              <a:spcBef>
                <a:spcPct val="30000"/>
              </a:spcBef>
            </a:pPr>
            <a:endParaRPr lang="en-US" altLang="zh-CN" dirty="0">
              <a:solidFill>
                <a:srgbClr val="0000FF"/>
              </a:solidFill>
              <a:latin typeface="Arial" panose="020B0604020202020204" pitchFamily="34" charset="0"/>
            </a:endParaRPr>
          </a:p>
          <a:p>
            <a:r>
              <a:rPr lang="en-US" altLang="zh-CN" sz="1800" b="1" dirty="0">
                <a:solidFill>
                  <a:schemeClr val="accent1"/>
                </a:solidFill>
                <a:latin typeface="Arial" panose="020B0604020202020204" pitchFamily="34" charset="0"/>
              </a:rPr>
              <a:t> </a:t>
            </a:r>
            <a:r>
              <a:rPr lang="en-US" altLang="zh-CN" b="1" dirty="0">
                <a:solidFill>
                  <a:srgbClr val="FF0000"/>
                </a:solidFill>
                <a:latin typeface="Arial" panose="020B0604020202020204" pitchFamily="34" charset="0"/>
              </a:rPr>
              <a:t>1</a:t>
            </a:r>
            <a:r>
              <a:rPr lang="en-US" altLang="zh-CN" b="1" dirty="0">
                <a:solidFill>
                  <a:srgbClr val="FF0000"/>
                </a:solidFill>
                <a:latin typeface="Courier New" panose="02070309020205020404" pitchFamily="49" charset="0"/>
              </a:rPr>
              <a:t>	S.D	0(R1),F4 ;	Stores M[</a:t>
            </a:r>
            <a:r>
              <a:rPr lang="en-US" altLang="zh-CN" b="1" dirty="0" err="1">
                <a:solidFill>
                  <a:srgbClr val="FF0000"/>
                </a:solidFill>
                <a:latin typeface="Courier New" panose="02070309020205020404" pitchFamily="49" charset="0"/>
              </a:rPr>
              <a:t>i</a:t>
            </a:r>
            <a:r>
              <a:rPr lang="en-US" altLang="zh-CN" b="1" dirty="0">
                <a:solidFill>
                  <a:srgbClr val="FF0000"/>
                </a:solidFill>
                <a:latin typeface="Courier New" panose="02070309020205020404" pitchFamily="49" charset="0"/>
              </a:rPr>
              <a:t>]</a:t>
            </a:r>
          </a:p>
          <a:p>
            <a:r>
              <a:rPr lang="en-US" altLang="zh-CN" b="1" dirty="0">
                <a:solidFill>
                  <a:schemeClr val="hlink"/>
                </a:solidFill>
                <a:latin typeface="Arial" panose="020B0604020202020204" pitchFamily="34" charset="0"/>
              </a:rPr>
              <a:t> 2</a:t>
            </a:r>
            <a:r>
              <a:rPr lang="en-US" altLang="zh-CN" b="1" dirty="0">
                <a:solidFill>
                  <a:schemeClr val="hlink"/>
                </a:solidFill>
                <a:latin typeface="Courier New" panose="02070309020205020404" pitchFamily="49" charset="0"/>
              </a:rPr>
              <a:t>	ADD.D	F4,F0,F2 ;	Adds to M[i-1]</a:t>
            </a:r>
          </a:p>
          <a:p>
            <a:r>
              <a:rPr lang="en-US" altLang="zh-CN" b="1" dirty="0">
                <a:solidFill>
                  <a:schemeClr val="accent2"/>
                </a:solidFill>
                <a:latin typeface="Arial" panose="020B0604020202020204" pitchFamily="34" charset="0"/>
              </a:rPr>
              <a:t> </a:t>
            </a:r>
            <a:r>
              <a:rPr lang="en-US" altLang="zh-CN" b="1" dirty="0">
                <a:solidFill>
                  <a:srgbClr val="3333CC"/>
                </a:solidFill>
                <a:latin typeface="Arial" panose="020B0604020202020204" pitchFamily="34" charset="0"/>
              </a:rPr>
              <a:t>3</a:t>
            </a:r>
            <a:r>
              <a:rPr lang="en-US" altLang="zh-CN" b="1" dirty="0">
                <a:solidFill>
                  <a:srgbClr val="3333CC"/>
                </a:solidFill>
                <a:latin typeface="Courier New" panose="02070309020205020404" pitchFamily="49" charset="0"/>
              </a:rPr>
              <a:t>	L.D	F0,-16(R1);	Loads M[i-2]</a:t>
            </a:r>
            <a:endParaRPr lang="en-US" altLang="zh-CN" b="1" dirty="0">
              <a:solidFill>
                <a:schemeClr val="accent2"/>
              </a:solidFill>
              <a:latin typeface="Courier New" panose="02070309020205020404" pitchFamily="49" charset="0"/>
            </a:endParaRPr>
          </a:p>
          <a:p>
            <a:r>
              <a:rPr lang="en-US" altLang="zh-CN" b="1" dirty="0">
                <a:solidFill>
                  <a:schemeClr val="accent2"/>
                </a:solidFill>
                <a:latin typeface="Arial" panose="020B0604020202020204" pitchFamily="34" charset="0"/>
              </a:rPr>
              <a:t> </a:t>
            </a:r>
            <a:r>
              <a:rPr lang="en-US" altLang="zh-CN" b="1" dirty="0">
                <a:latin typeface="Arial" panose="020B0604020202020204" pitchFamily="34" charset="0"/>
              </a:rPr>
              <a:t>4</a:t>
            </a:r>
            <a:r>
              <a:rPr lang="en-US" altLang="zh-CN" b="1" dirty="0">
                <a:latin typeface="Courier New" panose="02070309020205020404" pitchFamily="49" charset="0"/>
              </a:rPr>
              <a:t>	DSUBUI	R1,R1,</a:t>
            </a:r>
            <a:r>
              <a:rPr lang="en-US" altLang="zh-CN" b="1" dirty="0">
                <a:solidFill>
                  <a:schemeClr val="tx2"/>
                </a:solidFill>
                <a:latin typeface="Courier New" panose="02070309020205020404" pitchFamily="49" charset="0"/>
              </a:rPr>
              <a:t>#8</a:t>
            </a:r>
            <a:endParaRPr lang="en-US" altLang="zh-CN" b="1" dirty="0">
              <a:latin typeface="Courier New" panose="02070309020205020404" pitchFamily="49" charset="0"/>
            </a:endParaRPr>
          </a:p>
          <a:p>
            <a:r>
              <a:rPr lang="en-US" altLang="zh-CN" b="1" dirty="0">
                <a:latin typeface="Arial" panose="020B0604020202020204" pitchFamily="34" charset="0"/>
              </a:rPr>
              <a:t> 5</a:t>
            </a:r>
            <a:r>
              <a:rPr lang="en-US" altLang="zh-CN" b="1" dirty="0">
                <a:latin typeface="Courier New" panose="02070309020205020404" pitchFamily="49" charset="0"/>
              </a:rPr>
              <a:t>	BNEZ	R1,LOOP</a:t>
            </a:r>
          </a:p>
        </p:txBody>
      </p:sp>
      <p:sp>
        <p:nvSpPr>
          <p:cNvPr id="1063941" name="Line 5"/>
          <p:cNvSpPr>
            <a:spLocks noChangeShapeType="1"/>
          </p:cNvSpPr>
          <p:nvPr/>
        </p:nvSpPr>
        <p:spPr bwMode="auto">
          <a:xfrm flipV="1">
            <a:off x="3431704" y="2564902"/>
            <a:ext cx="1572617" cy="792089"/>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942" name="Line 6"/>
          <p:cNvSpPr>
            <a:spLocks noChangeShapeType="1"/>
          </p:cNvSpPr>
          <p:nvPr/>
        </p:nvSpPr>
        <p:spPr bwMode="auto">
          <a:xfrm flipV="1">
            <a:off x="3846390" y="2924944"/>
            <a:ext cx="1157931" cy="10592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943" name="Line 7"/>
          <p:cNvSpPr>
            <a:spLocks noChangeShapeType="1"/>
          </p:cNvSpPr>
          <p:nvPr/>
        </p:nvSpPr>
        <p:spPr bwMode="auto">
          <a:xfrm flipV="1">
            <a:off x="3846388" y="3298343"/>
            <a:ext cx="1157933" cy="1433751"/>
          </a:xfrm>
          <a:prstGeom prst="line">
            <a:avLst/>
          </a:prstGeom>
          <a:noFill/>
          <a:ln w="38100">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944" name="Rectangle 8"/>
          <p:cNvSpPr>
            <a:spLocks noChangeArrowheads="1"/>
          </p:cNvSpPr>
          <p:nvPr/>
        </p:nvSpPr>
        <p:spPr bwMode="auto">
          <a:xfrm>
            <a:off x="5159896" y="4732095"/>
            <a:ext cx="6768752" cy="19979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l">
              <a:buFontTx/>
              <a:buChar char="•"/>
            </a:pPr>
            <a:r>
              <a:rPr lang="zh-CN" altLang="en-US" sz="2800" dirty="0">
                <a:solidFill>
                  <a:srgbClr val="0000FF"/>
                </a:solidFill>
              </a:rPr>
              <a:t> </a:t>
            </a:r>
            <a:r>
              <a:rPr lang="en-US" altLang="zh-CN" sz="2800" dirty="0">
                <a:solidFill>
                  <a:srgbClr val="0000FF"/>
                </a:solidFill>
              </a:rPr>
              <a:t>Symbolic Loop Unrolling</a:t>
            </a:r>
            <a:endParaRPr lang="en-US" altLang="zh-CN" sz="2000" dirty="0">
              <a:solidFill>
                <a:srgbClr val="0000FF"/>
              </a:solidFill>
            </a:endParaRPr>
          </a:p>
          <a:p>
            <a:pPr algn="l">
              <a:buFontTx/>
              <a:buChar char="–"/>
            </a:pPr>
            <a:r>
              <a:rPr lang="en-US" altLang="zh-CN" sz="2400" dirty="0">
                <a:solidFill>
                  <a:srgbClr val="0000FF"/>
                </a:solidFill>
              </a:rPr>
              <a:t>  Maximize result-use distance </a:t>
            </a:r>
          </a:p>
          <a:p>
            <a:pPr algn="l">
              <a:buFontTx/>
              <a:buChar char="–"/>
            </a:pPr>
            <a:r>
              <a:rPr lang="en-US" altLang="zh-CN" sz="2400" dirty="0">
                <a:solidFill>
                  <a:srgbClr val="0000FF"/>
                </a:solidFill>
              </a:rPr>
              <a:t>  Less code space than unrolling</a:t>
            </a:r>
          </a:p>
          <a:p>
            <a:pPr algn="l">
              <a:buFontTx/>
              <a:buChar char="–"/>
            </a:pPr>
            <a:r>
              <a:rPr lang="en-US" altLang="zh-CN" sz="2400" dirty="0" smtClean="0">
                <a:solidFill>
                  <a:srgbClr val="0000FF"/>
                </a:solidFill>
              </a:rPr>
              <a:t>  Loop control overhead once per iteration </a:t>
            </a:r>
            <a:r>
              <a:rPr lang="en-US" altLang="zh-CN" sz="2400" dirty="0">
                <a:solidFill>
                  <a:srgbClr val="0000FF"/>
                </a:solidFill>
              </a:rPr>
              <a:t>vs. once per each unrolled iteration in loop unrolling</a:t>
            </a:r>
          </a:p>
        </p:txBody>
      </p:sp>
      <p:sp>
        <p:nvSpPr>
          <p:cNvPr id="1063987" name="Text Box 51"/>
          <p:cNvSpPr txBox="1">
            <a:spLocks noChangeArrowheads="1"/>
          </p:cNvSpPr>
          <p:nvPr/>
        </p:nvSpPr>
        <p:spPr bwMode="auto">
          <a:xfrm>
            <a:off x="6790426" y="4239652"/>
            <a:ext cx="4862228" cy="49244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600" b="1" i="1" dirty="0">
                <a:solidFill>
                  <a:srgbClr val="FF0000"/>
                </a:solidFill>
              </a:rPr>
              <a:t>5 </a:t>
            </a:r>
            <a:r>
              <a:rPr lang="en-US" altLang="zh-CN" sz="2600" b="1" i="1" dirty="0">
                <a:solidFill>
                  <a:srgbClr val="FF0000"/>
                </a:solidFill>
              </a:rPr>
              <a:t>cycles per </a:t>
            </a:r>
            <a:r>
              <a:rPr lang="en-US" altLang="zh-CN" sz="2600" b="1" i="1" dirty="0" smtClean="0">
                <a:solidFill>
                  <a:srgbClr val="FF0000"/>
                </a:solidFill>
              </a:rPr>
              <a:t>iteration, no stall</a:t>
            </a:r>
            <a:endParaRPr lang="en-US" altLang="zh-CN" sz="2600" b="1" dirty="0">
              <a:solidFill>
                <a:srgbClr val="FF0000"/>
              </a:solidFill>
            </a:endParaRPr>
          </a:p>
        </p:txBody>
      </p:sp>
    </p:spTree>
    <p:extLst>
      <p:ext uri="{BB962C8B-B14F-4D97-AF65-F5344CB8AC3E}">
        <p14:creationId xmlns:p14="http://schemas.microsoft.com/office/powerpoint/2010/main" val="4206446502"/>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063987"/>
                                        </p:tgtEl>
                                        <p:attrNameLst>
                                          <p:attrName>style.visibility</p:attrName>
                                        </p:attrNameLst>
                                      </p:cBhvr>
                                      <p:to>
                                        <p:strVal val="visible"/>
                                      </p:to>
                                    </p:set>
                                    <p:anim calcmode="lin" valueType="num">
                                      <p:cBhvr>
                                        <p:cTn id="7" dur="500" fill="hold"/>
                                        <p:tgtEl>
                                          <p:spTgt spid="1063987"/>
                                        </p:tgtEl>
                                        <p:attrNameLst>
                                          <p:attrName>ppt_w</p:attrName>
                                        </p:attrNameLst>
                                      </p:cBhvr>
                                      <p:tavLst>
                                        <p:tav tm="0">
                                          <p:val>
                                            <p:fltVal val="0"/>
                                          </p:val>
                                        </p:tav>
                                        <p:tav tm="100000">
                                          <p:val>
                                            <p:strVal val="#ppt_w"/>
                                          </p:val>
                                        </p:tav>
                                      </p:tavLst>
                                    </p:anim>
                                    <p:anim calcmode="lin" valueType="num">
                                      <p:cBhvr>
                                        <p:cTn id="8" dur="500" fill="hold"/>
                                        <p:tgtEl>
                                          <p:spTgt spid="106398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3987" grpId="0" autoUpdateAnimBg="0"/>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0562" name="Rectangle 2"/>
          <p:cNvSpPr>
            <a:spLocks noGrp="1" noChangeArrowheads="1"/>
          </p:cNvSpPr>
          <p:nvPr>
            <p:ph type="title"/>
          </p:nvPr>
        </p:nvSpPr>
        <p:spPr>
          <a:xfrm>
            <a:off x="839416" y="152400"/>
            <a:ext cx="11017224" cy="1143000"/>
          </a:xfrm>
        </p:spPr>
        <p:txBody>
          <a:bodyPr/>
          <a:lstStyle/>
          <a:p>
            <a:r>
              <a:rPr lang="en-US" altLang="zh-CN" dirty="0"/>
              <a:t>Software Pipelining </a:t>
            </a:r>
            <a:r>
              <a:rPr lang="en-US" altLang="zh-CN" dirty="0" smtClean="0"/>
              <a:t>with Loop Unrolling</a:t>
            </a:r>
            <a:br>
              <a:rPr lang="en-US" altLang="zh-CN" dirty="0" smtClean="0"/>
            </a:br>
            <a:r>
              <a:rPr lang="en-US" altLang="zh-CN" dirty="0" smtClean="0"/>
              <a:t>in </a:t>
            </a:r>
            <a:r>
              <a:rPr lang="en-US" altLang="zh-CN" dirty="0"/>
              <a:t>VLIW</a:t>
            </a:r>
          </a:p>
        </p:txBody>
      </p:sp>
      <p:sp>
        <p:nvSpPr>
          <p:cNvPr id="1090563" name="Rectangle 3"/>
          <p:cNvSpPr>
            <a:spLocks noGrp="1" noChangeArrowheads="1"/>
          </p:cNvSpPr>
          <p:nvPr>
            <p:ph type="body" idx="1"/>
          </p:nvPr>
        </p:nvSpPr>
        <p:spPr>
          <a:xfrm>
            <a:off x="839416" y="1524000"/>
            <a:ext cx="11017224" cy="5217368"/>
          </a:xfrm>
        </p:spPr>
        <p:txBody>
          <a:bodyPr/>
          <a:lstStyle/>
          <a:p>
            <a:pPr>
              <a:buFont typeface="Wingdings" panose="05000000000000000000" pitchFamily="2" charset="2"/>
              <a:buNone/>
            </a:pPr>
            <a:r>
              <a:rPr lang="en-US" altLang="zh-CN" sz="1800" i="1" dirty="0"/>
              <a:t>Memory 	Memory		FP		FP	Int. op/	                      Clock</a:t>
            </a:r>
          </a:p>
          <a:p>
            <a:pPr>
              <a:lnSpc>
                <a:spcPct val="80000"/>
              </a:lnSpc>
              <a:buFont typeface="Wingdings" panose="05000000000000000000" pitchFamily="2" charset="2"/>
              <a:buNone/>
            </a:pPr>
            <a:r>
              <a:rPr lang="en-US" altLang="zh-CN" sz="1800" i="1" dirty="0"/>
              <a:t>reference 1	reference 2	operation 1	 op. 2 	    branch</a:t>
            </a:r>
          </a:p>
          <a:p>
            <a:pPr>
              <a:lnSpc>
                <a:spcPct val="120000"/>
              </a:lnSpc>
              <a:buFont typeface="Wingdings" panose="05000000000000000000" pitchFamily="2" charset="2"/>
              <a:buNone/>
            </a:pPr>
            <a:r>
              <a:rPr lang="en-US" altLang="zh-CN" sz="1600" dirty="0"/>
              <a:t>L.D F0,-48(R1)	ST 0(R1),F4	ADD.D F4,F0,F2				1</a:t>
            </a:r>
          </a:p>
          <a:p>
            <a:pPr>
              <a:buFont typeface="Wingdings" panose="05000000000000000000" pitchFamily="2" charset="2"/>
              <a:buNone/>
            </a:pPr>
            <a:r>
              <a:rPr lang="en-US" altLang="zh-CN" sz="1600" dirty="0"/>
              <a:t>L.D F6,-56(R1)	ST -8(R1),F8	ADD.D F8,F6,F2		DSUBUI R1,R1,#24	2</a:t>
            </a:r>
          </a:p>
          <a:p>
            <a:pPr>
              <a:buFont typeface="Wingdings" panose="05000000000000000000" pitchFamily="2" charset="2"/>
              <a:buNone/>
            </a:pPr>
            <a:r>
              <a:rPr lang="en-US" altLang="zh-CN" sz="1600" dirty="0"/>
              <a:t>L.D F10,-40(R1)	ST 8(R1),F12	ADD.D F12,F10,F2		BNEZ R1,LOOP	3</a:t>
            </a:r>
          </a:p>
          <a:p>
            <a:pPr>
              <a:lnSpc>
                <a:spcPct val="100000"/>
              </a:lnSpc>
              <a:spcBef>
                <a:spcPct val="0"/>
              </a:spcBef>
            </a:pPr>
            <a:r>
              <a:rPr lang="en-US" altLang="zh-CN" dirty="0">
                <a:solidFill>
                  <a:srgbClr val="FF0000"/>
                </a:solidFill>
              </a:rPr>
              <a:t>Software pipelined across 9 iterations of original loop</a:t>
            </a:r>
          </a:p>
          <a:p>
            <a:pPr lvl="1">
              <a:lnSpc>
                <a:spcPct val="100000"/>
              </a:lnSpc>
              <a:spcBef>
                <a:spcPct val="0"/>
              </a:spcBef>
            </a:pPr>
            <a:r>
              <a:rPr lang="en-US" altLang="zh-CN" dirty="0">
                <a:solidFill>
                  <a:srgbClr val="FF0000"/>
                </a:solidFill>
              </a:rPr>
              <a:t>In each iteration of above loop, we:</a:t>
            </a:r>
          </a:p>
          <a:p>
            <a:pPr lvl="2">
              <a:lnSpc>
                <a:spcPct val="100000"/>
              </a:lnSpc>
              <a:spcBef>
                <a:spcPct val="0"/>
              </a:spcBef>
            </a:pPr>
            <a:r>
              <a:rPr lang="en-US" altLang="zh-CN" dirty="0">
                <a:solidFill>
                  <a:srgbClr val="FF0000"/>
                </a:solidFill>
              </a:rPr>
              <a:t>Store to m,m-8,m-16		(iterations I-3,I-2,I-1)</a:t>
            </a:r>
          </a:p>
          <a:p>
            <a:pPr lvl="2">
              <a:lnSpc>
                <a:spcPct val="100000"/>
              </a:lnSpc>
              <a:spcBef>
                <a:spcPct val="0"/>
              </a:spcBef>
            </a:pPr>
            <a:r>
              <a:rPr lang="en-US" altLang="zh-CN" dirty="0">
                <a:solidFill>
                  <a:srgbClr val="FF0000"/>
                </a:solidFill>
              </a:rPr>
              <a:t>Compute for m-24,m-32,m-40	(iterations I,I+1,I+2)</a:t>
            </a:r>
          </a:p>
          <a:p>
            <a:pPr lvl="2">
              <a:lnSpc>
                <a:spcPct val="100000"/>
              </a:lnSpc>
              <a:spcBef>
                <a:spcPct val="0"/>
              </a:spcBef>
            </a:pPr>
            <a:r>
              <a:rPr lang="en-US" altLang="zh-CN" dirty="0">
                <a:solidFill>
                  <a:srgbClr val="FF0000"/>
                </a:solidFill>
              </a:rPr>
              <a:t>Load from m-48,m-56,m-64	(iterations I+3,I+4,I+5)</a:t>
            </a:r>
          </a:p>
          <a:p>
            <a:pPr>
              <a:lnSpc>
                <a:spcPct val="100000"/>
              </a:lnSpc>
              <a:spcBef>
                <a:spcPct val="0"/>
              </a:spcBef>
            </a:pPr>
            <a:r>
              <a:rPr lang="en-US" altLang="zh-CN" dirty="0">
                <a:solidFill>
                  <a:srgbClr val="FF0000"/>
                </a:solidFill>
              </a:rPr>
              <a:t>9 results in 9 cycles, or 1 clock per iteration</a:t>
            </a:r>
          </a:p>
          <a:p>
            <a:pPr>
              <a:lnSpc>
                <a:spcPct val="100000"/>
              </a:lnSpc>
              <a:spcBef>
                <a:spcPct val="0"/>
              </a:spcBef>
            </a:pPr>
            <a:r>
              <a:rPr lang="en-US" altLang="zh-CN" dirty="0">
                <a:solidFill>
                  <a:srgbClr val="FF0000"/>
                </a:solidFill>
              </a:rPr>
              <a:t>Average: 3.3 ops per clock, 66% efficiency</a:t>
            </a:r>
          </a:p>
          <a:p>
            <a:pPr>
              <a:lnSpc>
                <a:spcPct val="100000"/>
              </a:lnSpc>
              <a:spcBef>
                <a:spcPct val="0"/>
              </a:spcBef>
              <a:buFont typeface="Wingdings" panose="05000000000000000000" pitchFamily="2" charset="2"/>
              <a:buNone/>
            </a:pPr>
            <a:r>
              <a:rPr lang="en-US" altLang="zh-CN" dirty="0"/>
              <a:t>  Note: Need fewer registers for software pipelining</a:t>
            </a:r>
          </a:p>
          <a:p>
            <a:pPr>
              <a:lnSpc>
                <a:spcPct val="100000"/>
              </a:lnSpc>
              <a:spcBef>
                <a:spcPct val="0"/>
              </a:spcBef>
              <a:buFont typeface="Wingdings" panose="05000000000000000000" pitchFamily="2" charset="2"/>
              <a:buNone/>
            </a:pPr>
            <a:r>
              <a:rPr lang="en-US" altLang="zh-CN" dirty="0"/>
              <a:t>		 (only using 7 registers here, was using 15)</a:t>
            </a:r>
          </a:p>
          <a:p>
            <a:pPr>
              <a:buFont typeface="Wingdings" panose="05000000000000000000" pitchFamily="2" charset="2"/>
              <a:buNone/>
            </a:pPr>
            <a:endParaRPr lang="en-US" altLang="zh-CN" sz="1600" dirty="0"/>
          </a:p>
        </p:txBody>
      </p:sp>
      <p:sp>
        <p:nvSpPr>
          <p:cNvPr id="1090564" name="Line 4"/>
          <p:cNvSpPr>
            <a:spLocks noChangeShapeType="1"/>
          </p:cNvSpPr>
          <p:nvPr/>
        </p:nvSpPr>
        <p:spPr bwMode="auto">
          <a:xfrm>
            <a:off x="1752600" y="2133600"/>
            <a:ext cx="8686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41122636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1586" name="Rectangle 2"/>
          <p:cNvSpPr>
            <a:spLocks noGrp="1" noChangeArrowheads="1"/>
          </p:cNvSpPr>
          <p:nvPr>
            <p:ph type="title"/>
          </p:nvPr>
        </p:nvSpPr>
        <p:spPr>
          <a:xfrm>
            <a:off x="839416" y="620688"/>
            <a:ext cx="7162800" cy="5334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Trace Scheduling</a:t>
            </a:r>
          </a:p>
        </p:txBody>
      </p:sp>
      <p:sp>
        <p:nvSpPr>
          <p:cNvPr id="1091587" name="Rectangle 3"/>
          <p:cNvSpPr>
            <a:spLocks noGrp="1" noChangeArrowheads="1"/>
          </p:cNvSpPr>
          <p:nvPr>
            <p:ph type="body" idx="1"/>
          </p:nvPr>
        </p:nvSpPr>
        <p:spPr>
          <a:xfrm>
            <a:off x="551384" y="1556792"/>
            <a:ext cx="11089232" cy="377720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spcBef>
                <a:spcPct val="0"/>
              </a:spcBef>
            </a:pPr>
            <a:r>
              <a:rPr lang="en-US" altLang="zh-CN" dirty="0"/>
              <a:t>Parallelism across IF branches vs. LOOP branches?</a:t>
            </a:r>
          </a:p>
          <a:p>
            <a:pPr>
              <a:spcBef>
                <a:spcPct val="0"/>
              </a:spcBef>
            </a:pPr>
            <a:r>
              <a:rPr lang="en-US" altLang="zh-CN" dirty="0"/>
              <a:t>Two steps:</a:t>
            </a:r>
          </a:p>
          <a:p>
            <a:pPr lvl="1">
              <a:spcBef>
                <a:spcPct val="0"/>
              </a:spcBef>
            </a:pPr>
            <a:r>
              <a:rPr lang="en-US" altLang="zh-CN" i="1" dirty="0">
                <a:solidFill>
                  <a:srgbClr val="FF0000"/>
                </a:solidFill>
              </a:rPr>
              <a:t>Trace Selection</a:t>
            </a:r>
            <a:endParaRPr lang="en-US" altLang="zh-CN" dirty="0">
              <a:solidFill>
                <a:srgbClr val="FF0000"/>
              </a:solidFill>
            </a:endParaRPr>
          </a:p>
          <a:p>
            <a:pPr lvl="2">
              <a:spcBef>
                <a:spcPct val="0"/>
              </a:spcBef>
            </a:pPr>
            <a:r>
              <a:rPr lang="en-US" altLang="zh-CN" dirty="0"/>
              <a:t>Find likely sequence of basic blocks (</a:t>
            </a:r>
            <a:r>
              <a:rPr lang="en-US" altLang="zh-CN" i="1" u="sng" dirty="0">
                <a:solidFill>
                  <a:srgbClr val="FF0000"/>
                </a:solidFill>
              </a:rPr>
              <a:t>trace</a:t>
            </a:r>
            <a:r>
              <a:rPr lang="en-US" altLang="zh-CN" dirty="0"/>
              <a:t>) </a:t>
            </a:r>
            <a:r>
              <a:rPr lang="en-US" altLang="zh-CN" dirty="0" smtClean="0"/>
              <a:t>of </a:t>
            </a:r>
            <a:r>
              <a:rPr lang="en-US" altLang="zh-CN" dirty="0"/>
              <a:t>(statically predicted </a:t>
            </a:r>
            <a:r>
              <a:rPr lang="en-US" altLang="zh-CN" dirty="0" smtClean="0"/>
              <a:t/>
            </a:r>
            <a:br>
              <a:rPr lang="en-US" altLang="zh-CN" dirty="0" smtClean="0"/>
            </a:br>
            <a:r>
              <a:rPr lang="en-US" altLang="zh-CN" dirty="0" smtClean="0"/>
              <a:t>or </a:t>
            </a:r>
            <a:r>
              <a:rPr lang="en-US" altLang="zh-CN" dirty="0"/>
              <a:t>profile predicted) </a:t>
            </a:r>
            <a:r>
              <a:rPr lang="en-US" altLang="zh-CN" dirty="0" smtClean="0"/>
              <a:t>long </a:t>
            </a:r>
            <a:r>
              <a:rPr lang="en-US" altLang="zh-CN" dirty="0"/>
              <a:t>sequence of straight-line code</a:t>
            </a:r>
          </a:p>
          <a:p>
            <a:pPr lvl="1">
              <a:spcBef>
                <a:spcPct val="0"/>
              </a:spcBef>
            </a:pPr>
            <a:r>
              <a:rPr lang="en-US" altLang="zh-CN" i="1" dirty="0">
                <a:solidFill>
                  <a:srgbClr val="FF0000"/>
                </a:solidFill>
              </a:rPr>
              <a:t>Trace Compaction</a:t>
            </a:r>
            <a:endParaRPr lang="en-US" altLang="zh-CN" dirty="0">
              <a:solidFill>
                <a:srgbClr val="FF0000"/>
              </a:solidFill>
            </a:endParaRPr>
          </a:p>
          <a:p>
            <a:pPr lvl="2">
              <a:spcBef>
                <a:spcPct val="0"/>
              </a:spcBef>
            </a:pPr>
            <a:r>
              <a:rPr lang="en-US" altLang="zh-CN" dirty="0"/>
              <a:t>Squeeze trace into few VLIW instructions</a:t>
            </a:r>
          </a:p>
          <a:p>
            <a:pPr lvl="2">
              <a:spcBef>
                <a:spcPct val="0"/>
              </a:spcBef>
            </a:pPr>
            <a:r>
              <a:rPr lang="en-US" altLang="zh-CN" dirty="0"/>
              <a:t>Need bookkeeping code in case prediction is wrong </a:t>
            </a:r>
          </a:p>
          <a:p>
            <a:pPr>
              <a:spcBef>
                <a:spcPct val="0"/>
              </a:spcBef>
            </a:pPr>
            <a:r>
              <a:rPr lang="en-US" altLang="zh-CN" dirty="0"/>
              <a:t>This is a form of compiler-generated speculation</a:t>
            </a:r>
          </a:p>
          <a:p>
            <a:pPr lvl="1">
              <a:spcBef>
                <a:spcPct val="0"/>
              </a:spcBef>
            </a:pPr>
            <a:r>
              <a:rPr lang="en-US" altLang="zh-CN" dirty="0"/>
              <a:t>Compiler must generate “fixup” code to handle cases in which trace is not the taken branch</a:t>
            </a:r>
          </a:p>
          <a:p>
            <a:pPr lvl="1">
              <a:spcBef>
                <a:spcPct val="0"/>
              </a:spcBef>
            </a:pPr>
            <a:r>
              <a:rPr lang="en-US" altLang="zh-CN" dirty="0"/>
              <a:t>Needs extra registers: undoes bad guess by discarding</a:t>
            </a:r>
          </a:p>
          <a:p>
            <a:pPr>
              <a:spcBef>
                <a:spcPct val="0"/>
              </a:spcBef>
            </a:pPr>
            <a:r>
              <a:rPr lang="en-US" altLang="zh-CN" dirty="0"/>
              <a:t>Subtle compiler bugs mean wrong answer </a:t>
            </a:r>
            <a:br>
              <a:rPr lang="en-US" altLang="zh-CN" dirty="0"/>
            </a:br>
            <a:r>
              <a:rPr lang="en-US" altLang="zh-CN" dirty="0"/>
              <a:t>vs. poorer performance; no hardware interlocks</a:t>
            </a:r>
          </a:p>
        </p:txBody>
      </p:sp>
      <p:grpSp>
        <p:nvGrpSpPr>
          <p:cNvPr id="1091588" name="Group 4"/>
          <p:cNvGrpSpPr>
            <a:grpSpLocks/>
          </p:cNvGrpSpPr>
          <p:nvPr/>
        </p:nvGrpSpPr>
        <p:grpSpPr bwMode="auto">
          <a:xfrm>
            <a:off x="9768408" y="1700808"/>
            <a:ext cx="1872208" cy="2664296"/>
            <a:chOff x="4510" y="1740"/>
            <a:chExt cx="606" cy="1054"/>
          </a:xfrm>
        </p:grpSpPr>
        <p:sp>
          <p:nvSpPr>
            <p:cNvPr id="1091589" name="Line 5"/>
            <p:cNvSpPr>
              <a:spLocks noChangeShapeType="1"/>
            </p:cNvSpPr>
            <p:nvPr/>
          </p:nvSpPr>
          <p:spPr bwMode="auto">
            <a:xfrm>
              <a:off x="4652" y="1784"/>
              <a:ext cx="428" cy="34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1590" name="Line 6"/>
            <p:cNvSpPr>
              <a:spLocks noChangeShapeType="1"/>
            </p:cNvSpPr>
            <p:nvPr/>
          </p:nvSpPr>
          <p:spPr bwMode="auto">
            <a:xfrm flipH="1">
              <a:off x="4510" y="1970"/>
              <a:ext cx="376" cy="42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1591" name="Line 7"/>
            <p:cNvSpPr>
              <a:spLocks noChangeShapeType="1"/>
            </p:cNvSpPr>
            <p:nvPr/>
          </p:nvSpPr>
          <p:spPr bwMode="auto">
            <a:xfrm>
              <a:off x="4688" y="2216"/>
              <a:ext cx="428" cy="34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1592" name="Line 8"/>
            <p:cNvSpPr>
              <a:spLocks noChangeShapeType="1"/>
            </p:cNvSpPr>
            <p:nvPr/>
          </p:nvSpPr>
          <p:spPr bwMode="auto">
            <a:xfrm flipH="1">
              <a:off x="4510" y="2366"/>
              <a:ext cx="376" cy="42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1593" name="Freeform 9"/>
            <p:cNvSpPr>
              <a:spLocks/>
            </p:cNvSpPr>
            <p:nvPr/>
          </p:nvSpPr>
          <p:spPr bwMode="auto">
            <a:xfrm>
              <a:off x="4680" y="1740"/>
              <a:ext cx="277" cy="1021"/>
            </a:xfrm>
            <a:custGeom>
              <a:avLst/>
              <a:gdLst>
                <a:gd name="T0" fmla="*/ 24 w 277"/>
                <a:gd name="T1" fmla="*/ 0 h 1021"/>
                <a:gd name="T2" fmla="*/ 48 w 277"/>
                <a:gd name="T3" fmla="*/ 12 h 1021"/>
                <a:gd name="T4" fmla="*/ 72 w 277"/>
                <a:gd name="T5" fmla="*/ 36 h 1021"/>
                <a:gd name="T6" fmla="*/ 96 w 277"/>
                <a:gd name="T7" fmla="*/ 48 h 1021"/>
                <a:gd name="T8" fmla="*/ 120 w 277"/>
                <a:gd name="T9" fmla="*/ 48 h 1021"/>
                <a:gd name="T10" fmla="*/ 144 w 277"/>
                <a:gd name="T11" fmla="*/ 72 h 1021"/>
                <a:gd name="T12" fmla="*/ 168 w 277"/>
                <a:gd name="T13" fmla="*/ 72 h 1021"/>
                <a:gd name="T14" fmla="*/ 192 w 277"/>
                <a:gd name="T15" fmla="*/ 84 h 1021"/>
                <a:gd name="T16" fmla="*/ 216 w 277"/>
                <a:gd name="T17" fmla="*/ 96 h 1021"/>
                <a:gd name="T18" fmla="*/ 228 w 277"/>
                <a:gd name="T19" fmla="*/ 120 h 1021"/>
                <a:gd name="T20" fmla="*/ 252 w 277"/>
                <a:gd name="T21" fmla="*/ 132 h 1021"/>
                <a:gd name="T22" fmla="*/ 252 w 277"/>
                <a:gd name="T23" fmla="*/ 156 h 1021"/>
                <a:gd name="T24" fmla="*/ 264 w 277"/>
                <a:gd name="T25" fmla="*/ 180 h 1021"/>
                <a:gd name="T26" fmla="*/ 276 w 277"/>
                <a:gd name="T27" fmla="*/ 204 h 1021"/>
                <a:gd name="T28" fmla="*/ 276 w 277"/>
                <a:gd name="T29" fmla="*/ 228 h 1021"/>
                <a:gd name="T30" fmla="*/ 276 w 277"/>
                <a:gd name="T31" fmla="*/ 252 h 1021"/>
                <a:gd name="T32" fmla="*/ 252 w 277"/>
                <a:gd name="T33" fmla="*/ 264 h 1021"/>
                <a:gd name="T34" fmla="*/ 228 w 277"/>
                <a:gd name="T35" fmla="*/ 276 h 1021"/>
                <a:gd name="T36" fmla="*/ 228 w 277"/>
                <a:gd name="T37" fmla="*/ 300 h 1021"/>
                <a:gd name="T38" fmla="*/ 204 w 277"/>
                <a:gd name="T39" fmla="*/ 312 h 1021"/>
                <a:gd name="T40" fmla="*/ 192 w 277"/>
                <a:gd name="T41" fmla="*/ 336 h 1021"/>
                <a:gd name="T42" fmla="*/ 180 w 277"/>
                <a:gd name="T43" fmla="*/ 360 h 1021"/>
                <a:gd name="T44" fmla="*/ 156 w 277"/>
                <a:gd name="T45" fmla="*/ 372 h 1021"/>
                <a:gd name="T46" fmla="*/ 156 w 277"/>
                <a:gd name="T47" fmla="*/ 396 h 1021"/>
                <a:gd name="T48" fmla="*/ 132 w 277"/>
                <a:gd name="T49" fmla="*/ 408 h 1021"/>
                <a:gd name="T50" fmla="*/ 108 w 277"/>
                <a:gd name="T51" fmla="*/ 420 h 1021"/>
                <a:gd name="T52" fmla="*/ 108 w 277"/>
                <a:gd name="T53" fmla="*/ 444 h 1021"/>
                <a:gd name="T54" fmla="*/ 108 w 277"/>
                <a:gd name="T55" fmla="*/ 468 h 1021"/>
                <a:gd name="T56" fmla="*/ 132 w 277"/>
                <a:gd name="T57" fmla="*/ 480 h 1021"/>
                <a:gd name="T58" fmla="*/ 144 w 277"/>
                <a:gd name="T59" fmla="*/ 504 h 1021"/>
                <a:gd name="T60" fmla="*/ 168 w 277"/>
                <a:gd name="T61" fmla="*/ 528 h 1021"/>
                <a:gd name="T62" fmla="*/ 192 w 277"/>
                <a:gd name="T63" fmla="*/ 564 h 1021"/>
                <a:gd name="T64" fmla="*/ 216 w 277"/>
                <a:gd name="T65" fmla="*/ 612 h 1021"/>
                <a:gd name="T66" fmla="*/ 252 w 277"/>
                <a:gd name="T67" fmla="*/ 636 h 1021"/>
                <a:gd name="T68" fmla="*/ 264 w 277"/>
                <a:gd name="T69" fmla="*/ 660 h 1021"/>
                <a:gd name="T70" fmla="*/ 240 w 277"/>
                <a:gd name="T71" fmla="*/ 684 h 1021"/>
                <a:gd name="T72" fmla="*/ 228 w 277"/>
                <a:gd name="T73" fmla="*/ 708 h 1021"/>
                <a:gd name="T74" fmla="*/ 204 w 277"/>
                <a:gd name="T75" fmla="*/ 720 h 1021"/>
                <a:gd name="T76" fmla="*/ 180 w 277"/>
                <a:gd name="T77" fmla="*/ 744 h 1021"/>
                <a:gd name="T78" fmla="*/ 168 w 277"/>
                <a:gd name="T79" fmla="*/ 780 h 1021"/>
                <a:gd name="T80" fmla="*/ 144 w 277"/>
                <a:gd name="T81" fmla="*/ 792 h 1021"/>
                <a:gd name="T82" fmla="*/ 132 w 277"/>
                <a:gd name="T83" fmla="*/ 816 h 1021"/>
                <a:gd name="T84" fmla="*/ 120 w 277"/>
                <a:gd name="T85" fmla="*/ 840 h 1021"/>
                <a:gd name="T86" fmla="*/ 108 w 277"/>
                <a:gd name="T87" fmla="*/ 864 h 1021"/>
                <a:gd name="T88" fmla="*/ 96 w 277"/>
                <a:gd name="T89" fmla="*/ 888 h 1021"/>
                <a:gd name="T90" fmla="*/ 72 w 277"/>
                <a:gd name="T91" fmla="*/ 912 h 1021"/>
                <a:gd name="T92" fmla="*/ 60 w 277"/>
                <a:gd name="T93" fmla="*/ 936 h 1021"/>
                <a:gd name="T94" fmla="*/ 36 w 277"/>
                <a:gd name="T95" fmla="*/ 948 h 1021"/>
                <a:gd name="T96" fmla="*/ 24 w 277"/>
                <a:gd name="T97" fmla="*/ 972 h 1021"/>
                <a:gd name="T98" fmla="*/ 12 w 277"/>
                <a:gd name="T99" fmla="*/ 996 h 1021"/>
                <a:gd name="T100" fmla="*/ 0 w 277"/>
                <a:gd name="T101" fmla="*/ 1020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77" h="1021">
                  <a:moveTo>
                    <a:pt x="24" y="0"/>
                  </a:moveTo>
                  <a:lnTo>
                    <a:pt x="48" y="12"/>
                  </a:lnTo>
                  <a:lnTo>
                    <a:pt x="72" y="36"/>
                  </a:lnTo>
                  <a:lnTo>
                    <a:pt x="96" y="48"/>
                  </a:lnTo>
                  <a:lnTo>
                    <a:pt x="120" y="48"/>
                  </a:lnTo>
                  <a:lnTo>
                    <a:pt x="144" y="72"/>
                  </a:lnTo>
                  <a:lnTo>
                    <a:pt x="168" y="72"/>
                  </a:lnTo>
                  <a:lnTo>
                    <a:pt x="192" y="84"/>
                  </a:lnTo>
                  <a:lnTo>
                    <a:pt x="216" y="96"/>
                  </a:lnTo>
                  <a:lnTo>
                    <a:pt x="228" y="120"/>
                  </a:lnTo>
                  <a:lnTo>
                    <a:pt x="252" y="132"/>
                  </a:lnTo>
                  <a:lnTo>
                    <a:pt x="252" y="156"/>
                  </a:lnTo>
                  <a:lnTo>
                    <a:pt x="264" y="180"/>
                  </a:lnTo>
                  <a:lnTo>
                    <a:pt x="276" y="204"/>
                  </a:lnTo>
                  <a:lnTo>
                    <a:pt x="276" y="228"/>
                  </a:lnTo>
                  <a:lnTo>
                    <a:pt x="276" y="252"/>
                  </a:lnTo>
                  <a:lnTo>
                    <a:pt x="252" y="264"/>
                  </a:lnTo>
                  <a:lnTo>
                    <a:pt x="228" y="276"/>
                  </a:lnTo>
                  <a:lnTo>
                    <a:pt x="228" y="300"/>
                  </a:lnTo>
                  <a:lnTo>
                    <a:pt x="204" y="312"/>
                  </a:lnTo>
                  <a:lnTo>
                    <a:pt x="192" y="336"/>
                  </a:lnTo>
                  <a:lnTo>
                    <a:pt x="180" y="360"/>
                  </a:lnTo>
                  <a:lnTo>
                    <a:pt x="156" y="372"/>
                  </a:lnTo>
                  <a:lnTo>
                    <a:pt x="156" y="396"/>
                  </a:lnTo>
                  <a:lnTo>
                    <a:pt x="132" y="408"/>
                  </a:lnTo>
                  <a:lnTo>
                    <a:pt x="108" y="420"/>
                  </a:lnTo>
                  <a:lnTo>
                    <a:pt x="108" y="444"/>
                  </a:lnTo>
                  <a:lnTo>
                    <a:pt x="108" y="468"/>
                  </a:lnTo>
                  <a:lnTo>
                    <a:pt x="132" y="480"/>
                  </a:lnTo>
                  <a:lnTo>
                    <a:pt x="144" y="504"/>
                  </a:lnTo>
                  <a:lnTo>
                    <a:pt x="168" y="528"/>
                  </a:lnTo>
                  <a:lnTo>
                    <a:pt x="192" y="564"/>
                  </a:lnTo>
                  <a:lnTo>
                    <a:pt x="216" y="612"/>
                  </a:lnTo>
                  <a:lnTo>
                    <a:pt x="252" y="636"/>
                  </a:lnTo>
                  <a:lnTo>
                    <a:pt x="264" y="660"/>
                  </a:lnTo>
                  <a:lnTo>
                    <a:pt x="240" y="684"/>
                  </a:lnTo>
                  <a:lnTo>
                    <a:pt x="228" y="708"/>
                  </a:lnTo>
                  <a:lnTo>
                    <a:pt x="204" y="720"/>
                  </a:lnTo>
                  <a:lnTo>
                    <a:pt x="180" y="744"/>
                  </a:lnTo>
                  <a:lnTo>
                    <a:pt x="168" y="780"/>
                  </a:lnTo>
                  <a:lnTo>
                    <a:pt x="144" y="792"/>
                  </a:lnTo>
                  <a:lnTo>
                    <a:pt x="132" y="816"/>
                  </a:lnTo>
                  <a:lnTo>
                    <a:pt x="120" y="840"/>
                  </a:lnTo>
                  <a:lnTo>
                    <a:pt x="108" y="864"/>
                  </a:lnTo>
                  <a:lnTo>
                    <a:pt x="96" y="888"/>
                  </a:lnTo>
                  <a:lnTo>
                    <a:pt x="72" y="912"/>
                  </a:lnTo>
                  <a:lnTo>
                    <a:pt x="60" y="936"/>
                  </a:lnTo>
                  <a:lnTo>
                    <a:pt x="36" y="948"/>
                  </a:lnTo>
                  <a:lnTo>
                    <a:pt x="24" y="972"/>
                  </a:lnTo>
                  <a:lnTo>
                    <a:pt x="12" y="996"/>
                  </a:lnTo>
                  <a:lnTo>
                    <a:pt x="0" y="1020"/>
                  </a:lnTo>
                </a:path>
              </a:pathLst>
            </a:custGeom>
            <a:noFill/>
            <a:ln w="25400" cap="rnd"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extLst>
      <p:ext uri="{BB962C8B-B14F-4D97-AF65-F5344CB8AC3E}">
        <p14:creationId xmlns:p14="http://schemas.microsoft.com/office/powerpoint/2010/main" val="96137336"/>
      </p:ext>
    </p:extLst>
  </p:cSld>
  <p:clrMapOvr>
    <a:masterClrMapping/>
  </p:clrMapOvr>
  <p:transition>
    <p:wipe/>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2610" name="Rectangle 2"/>
          <p:cNvSpPr>
            <a:spLocks noGrp="1" noChangeArrowheads="1"/>
          </p:cNvSpPr>
          <p:nvPr>
            <p:ph type="title"/>
          </p:nvPr>
        </p:nvSpPr>
        <p:spPr/>
        <p:txBody>
          <a:bodyPr/>
          <a:lstStyle/>
          <a:p>
            <a:r>
              <a:rPr lang="en-US" altLang="zh-CN" smtClean="0"/>
              <a:t>Advantages of HW (Tomasulo) vs. SW (VLIW) Speculation</a:t>
            </a:r>
            <a:endParaRPr lang="en-US" altLang="zh-CN"/>
          </a:p>
        </p:txBody>
      </p:sp>
      <p:sp>
        <p:nvSpPr>
          <p:cNvPr id="1092611" name="Rectangle 3"/>
          <p:cNvSpPr>
            <a:spLocks noGrp="1" noChangeArrowheads="1"/>
          </p:cNvSpPr>
          <p:nvPr>
            <p:ph type="body" idx="1"/>
          </p:nvPr>
        </p:nvSpPr>
        <p:spPr/>
        <p:txBody>
          <a:bodyPr/>
          <a:lstStyle/>
          <a:p>
            <a:r>
              <a:rPr lang="en-US" altLang="zh-CN" smtClean="0"/>
              <a:t>HW advantages:</a:t>
            </a:r>
          </a:p>
          <a:p>
            <a:pPr lvl="1"/>
            <a:r>
              <a:rPr lang="en-US" altLang="zh-CN" smtClean="0"/>
              <a:t>HW better at memory disambiguation since knows actual addresses</a:t>
            </a:r>
          </a:p>
          <a:p>
            <a:pPr lvl="1"/>
            <a:r>
              <a:rPr lang="en-US" altLang="zh-CN" smtClean="0"/>
              <a:t>HW better at branch prediction since lower overhead</a:t>
            </a:r>
          </a:p>
          <a:p>
            <a:pPr lvl="1"/>
            <a:r>
              <a:rPr lang="en-US" altLang="zh-CN" smtClean="0"/>
              <a:t>HW maintains precise exception model</a:t>
            </a:r>
          </a:p>
          <a:p>
            <a:pPr lvl="1"/>
            <a:r>
              <a:rPr lang="en-US" altLang="zh-CN" smtClean="0"/>
              <a:t>HW does not execute bookkeeping instructions</a:t>
            </a:r>
          </a:p>
          <a:p>
            <a:pPr lvl="1"/>
            <a:r>
              <a:rPr lang="en-US" altLang="zh-CN" smtClean="0"/>
              <a:t>Same software works across multiple implementations</a:t>
            </a:r>
          </a:p>
          <a:p>
            <a:pPr lvl="1"/>
            <a:r>
              <a:rPr lang="en-US" altLang="zh-CN" smtClean="0"/>
              <a:t>Smaller code size (not as many nops filling blank instructions)</a:t>
            </a:r>
          </a:p>
          <a:p>
            <a:r>
              <a:rPr lang="en-US" altLang="zh-CN" smtClean="0"/>
              <a:t>SW advantages:</a:t>
            </a:r>
          </a:p>
          <a:p>
            <a:pPr lvl="1"/>
            <a:r>
              <a:rPr lang="en-US" altLang="zh-CN" smtClean="0"/>
              <a:t>Window size that is examined for parallelism much higher</a:t>
            </a:r>
          </a:p>
          <a:p>
            <a:pPr lvl="1"/>
            <a:r>
              <a:rPr lang="en-US" altLang="zh-CN" smtClean="0"/>
              <a:t>Much less hardware involved in VLIW (unless you are Intel…!)</a:t>
            </a:r>
          </a:p>
          <a:p>
            <a:pPr lvl="1"/>
            <a:r>
              <a:rPr lang="en-US" altLang="zh-CN" smtClean="0"/>
              <a:t>More involved types of speculation can be done more easily</a:t>
            </a:r>
          </a:p>
          <a:p>
            <a:pPr lvl="1"/>
            <a:r>
              <a:rPr lang="en-US" altLang="zh-CN" smtClean="0"/>
              <a:t>Speculation can be based on large-scale program behavior, not just local information</a:t>
            </a:r>
            <a:endParaRPr lang="en-US" altLang="zh-CN" dirty="0"/>
          </a:p>
        </p:txBody>
      </p:sp>
    </p:spTree>
    <p:extLst>
      <p:ext uri="{BB962C8B-B14F-4D97-AF65-F5344CB8AC3E}">
        <p14:creationId xmlns:p14="http://schemas.microsoft.com/office/powerpoint/2010/main" val="1094416779"/>
      </p:ext>
    </p:extLst>
  </p:cSld>
  <p:clrMapOvr>
    <a:masterClrMapping/>
  </p:clrMapOvr>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634" name="Rectangle 2"/>
          <p:cNvSpPr>
            <a:spLocks noGrp="1" noChangeArrowheads="1"/>
          </p:cNvSpPr>
          <p:nvPr>
            <p:ph type="title"/>
          </p:nvPr>
        </p:nvSpPr>
        <p:spPr/>
        <p:txBody>
          <a:bodyPr/>
          <a:lstStyle/>
          <a:p>
            <a:r>
              <a:rPr lang="en-US" altLang="zh-CN" smtClean="0"/>
              <a:t>Superscalar v. VLIW</a:t>
            </a:r>
            <a:endParaRPr lang="en-US" altLang="zh-CN"/>
          </a:p>
        </p:txBody>
      </p:sp>
      <p:sp>
        <p:nvSpPr>
          <p:cNvPr id="1093635" name="Rectangle 3"/>
          <p:cNvSpPr>
            <a:spLocks noGrp="1" noChangeArrowheads="1"/>
          </p:cNvSpPr>
          <p:nvPr>
            <p:ph type="body" sz="half" idx="1"/>
          </p:nvPr>
        </p:nvSpPr>
        <p:spPr/>
        <p:txBody>
          <a:bodyPr/>
          <a:lstStyle/>
          <a:p>
            <a:r>
              <a:rPr lang="en-US" altLang="zh-CN" smtClean="0"/>
              <a:t>Smaller code size</a:t>
            </a:r>
          </a:p>
          <a:p>
            <a:r>
              <a:rPr lang="en-US" altLang="zh-CN" smtClean="0"/>
              <a:t>Binary compatibility across generations of hardware</a:t>
            </a:r>
            <a:endParaRPr lang="en-US" altLang="zh-CN"/>
          </a:p>
        </p:txBody>
      </p:sp>
      <p:sp>
        <p:nvSpPr>
          <p:cNvPr id="1093636" name="Rectangle 4"/>
          <p:cNvSpPr>
            <a:spLocks noGrp="1" noChangeArrowheads="1"/>
          </p:cNvSpPr>
          <p:nvPr>
            <p:ph type="body" sz="half" idx="2"/>
          </p:nvPr>
        </p:nvSpPr>
        <p:spPr/>
        <p:txBody>
          <a:bodyPr/>
          <a:lstStyle/>
          <a:p>
            <a:r>
              <a:rPr lang="en-US" altLang="zh-CN" smtClean="0"/>
              <a:t>Simplified Hardware for decoding, issuing instructions</a:t>
            </a:r>
          </a:p>
          <a:p>
            <a:r>
              <a:rPr lang="en-US" altLang="zh-CN" smtClean="0"/>
              <a:t>No Interlock Hardware (compiler checks?)</a:t>
            </a:r>
          </a:p>
          <a:p>
            <a:r>
              <a:rPr lang="en-US" altLang="zh-CN" smtClean="0"/>
              <a:t>More registers, but simplified Hardware for Register Ports (multiple independent register files?)</a:t>
            </a:r>
            <a:endParaRPr lang="en-US" altLang="zh-CN"/>
          </a:p>
        </p:txBody>
      </p:sp>
    </p:spTree>
    <p:extLst>
      <p:ext uri="{BB962C8B-B14F-4D97-AF65-F5344CB8AC3E}">
        <p14:creationId xmlns:p14="http://schemas.microsoft.com/office/powerpoint/2010/main" val="704986990"/>
      </p:ext>
    </p:extLst>
  </p:cSld>
  <p:clrMapOvr>
    <a:masterClrMapping/>
  </p:clrMapOvr>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1042" name="Rectangle 1026"/>
          <p:cNvSpPr>
            <a:spLocks noGrp="1" noChangeArrowheads="1"/>
          </p:cNvSpPr>
          <p:nvPr>
            <p:ph type="title"/>
          </p:nvPr>
        </p:nvSpPr>
        <p:spPr/>
        <p:txBody>
          <a:bodyPr/>
          <a:lstStyle/>
          <a:p>
            <a:r>
              <a:rPr lang="en-US" altLang="en-US" smtClean="0"/>
              <a:t>Problems with First Generation VLIW</a:t>
            </a:r>
            <a:endParaRPr lang="en-US" altLang="en-US"/>
          </a:p>
        </p:txBody>
      </p:sp>
      <p:sp>
        <p:nvSpPr>
          <p:cNvPr id="1111043" name="Rectangle 1027"/>
          <p:cNvSpPr>
            <a:spLocks noGrp="1" noChangeArrowheads="1"/>
          </p:cNvSpPr>
          <p:nvPr>
            <p:ph type="body" idx="1"/>
          </p:nvPr>
        </p:nvSpPr>
        <p:spPr/>
        <p:txBody>
          <a:bodyPr/>
          <a:lstStyle/>
          <a:p>
            <a:r>
              <a:rPr lang="en-US" altLang="en-US" smtClean="0"/>
              <a:t>Increase in code size</a:t>
            </a:r>
          </a:p>
          <a:p>
            <a:pPr lvl="1"/>
            <a:r>
              <a:rPr lang="en-US" altLang="en-US" smtClean="0"/>
              <a:t>generating enough operations in a straight-line code fragment requires ambitiously unrolling loops</a:t>
            </a:r>
          </a:p>
          <a:p>
            <a:pPr lvl="1"/>
            <a:r>
              <a:rPr lang="en-US" altLang="en-US" smtClean="0"/>
              <a:t>whenever VLIW instructions are not full, unused functional units translate to wasted bits in instruction encoding</a:t>
            </a:r>
          </a:p>
          <a:p>
            <a:r>
              <a:rPr lang="en-US" altLang="en-US" smtClean="0"/>
              <a:t>Operated in lock-step; no hazard detection HW</a:t>
            </a:r>
          </a:p>
          <a:p>
            <a:pPr lvl="1"/>
            <a:r>
              <a:rPr lang="en-US" altLang="en-US" smtClean="0"/>
              <a:t>a stall in any functional unit pipeline caused entire processor to stall, since all functional units must be kept synchronized</a:t>
            </a:r>
          </a:p>
          <a:p>
            <a:pPr lvl="1"/>
            <a:r>
              <a:rPr lang="en-US" altLang="en-US" smtClean="0"/>
              <a:t>Compiler might prediction function units, but caches hard to predict</a:t>
            </a:r>
          </a:p>
          <a:p>
            <a:r>
              <a:rPr lang="en-US" altLang="en-US" smtClean="0"/>
              <a:t>Binary code compatibility</a:t>
            </a:r>
          </a:p>
          <a:p>
            <a:pPr lvl="1"/>
            <a:r>
              <a:rPr lang="en-US" altLang="en-US" smtClean="0"/>
              <a:t>Pure VLIW =&gt; different numbers of functional units and unit latencies require different versions of the code</a:t>
            </a:r>
            <a:endParaRPr lang="en-US" altLang="en-US"/>
          </a:p>
        </p:txBody>
      </p:sp>
    </p:spTree>
    <p:extLst>
      <p:ext uri="{BB962C8B-B14F-4D97-AF65-F5344CB8AC3E}">
        <p14:creationId xmlns:p14="http://schemas.microsoft.com/office/powerpoint/2010/main" val="1730785213"/>
      </p:ext>
    </p:extLst>
  </p:cSld>
  <p:clrMapOvr>
    <a:masterClrMapping/>
  </p:clrMapOvr>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4658" name="Rectangle 2"/>
          <p:cNvSpPr>
            <a:spLocks noGrp="1" noChangeArrowheads="1"/>
          </p:cNvSpPr>
          <p:nvPr>
            <p:ph type="title"/>
          </p:nvPr>
        </p:nvSpPr>
        <p:spPr>
          <a:xfrm>
            <a:off x="1487488" y="188640"/>
            <a:ext cx="9067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Intel/HP IA-64 “Explicitly Parallel Instruction Computer (EPIC)”</a:t>
            </a:r>
          </a:p>
        </p:txBody>
      </p:sp>
      <p:sp>
        <p:nvSpPr>
          <p:cNvPr id="1094659" name="Rectangle 3"/>
          <p:cNvSpPr>
            <a:spLocks noGrp="1" noChangeArrowheads="1"/>
          </p:cNvSpPr>
          <p:nvPr>
            <p:ph type="body" idx="1"/>
          </p:nvPr>
        </p:nvSpPr>
        <p:spPr>
          <a:xfrm>
            <a:off x="623392" y="1772816"/>
            <a:ext cx="10729192" cy="378978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nSpc>
                <a:spcPct val="80000"/>
              </a:lnSpc>
            </a:pPr>
            <a:r>
              <a:rPr lang="en-US" altLang="zh-CN" u="sng" dirty="0">
                <a:solidFill>
                  <a:srgbClr val="FF0000"/>
                </a:solidFill>
              </a:rPr>
              <a:t>IA-64</a:t>
            </a:r>
            <a:r>
              <a:rPr lang="en-US" altLang="zh-CN" dirty="0"/>
              <a:t>: instruction set architecture; EPIC is type</a:t>
            </a:r>
          </a:p>
          <a:p>
            <a:pPr lvl="1">
              <a:lnSpc>
                <a:spcPct val="80000"/>
              </a:lnSpc>
            </a:pPr>
            <a:r>
              <a:rPr lang="en-US" altLang="zh-CN" dirty="0"/>
              <a:t>EPIC = 2nd generation VLIW?</a:t>
            </a:r>
            <a:endParaRPr lang="en-US" altLang="zh-CN" sz="3200" dirty="0"/>
          </a:p>
          <a:p>
            <a:pPr>
              <a:lnSpc>
                <a:spcPct val="80000"/>
              </a:lnSpc>
            </a:pPr>
            <a:r>
              <a:rPr lang="en-US" altLang="zh-CN" u="sng" dirty="0">
                <a:solidFill>
                  <a:srgbClr val="FF0000"/>
                </a:solidFill>
              </a:rPr>
              <a:t>Itanium</a:t>
            </a:r>
            <a:r>
              <a:rPr lang="en-US" altLang="zh-CN" b="1" dirty="0">
                <a:solidFill>
                  <a:srgbClr val="FF0000"/>
                </a:solidFill>
              </a:rPr>
              <a:t>™</a:t>
            </a:r>
            <a:r>
              <a:rPr lang="en-US" altLang="zh-CN" dirty="0"/>
              <a:t> is name of first implementation (2001)</a:t>
            </a:r>
          </a:p>
          <a:p>
            <a:pPr lvl="1">
              <a:lnSpc>
                <a:spcPct val="80000"/>
              </a:lnSpc>
            </a:pPr>
            <a:r>
              <a:rPr lang="en-US" altLang="zh-CN" dirty="0"/>
              <a:t>Highly parallel and deeply pipelined hardware at 800Mhz</a:t>
            </a:r>
            <a:endParaRPr lang="en-US" altLang="zh-CN" sz="3200" dirty="0"/>
          </a:p>
          <a:p>
            <a:pPr lvl="1">
              <a:lnSpc>
                <a:spcPct val="103000"/>
              </a:lnSpc>
            </a:pPr>
            <a:r>
              <a:rPr lang="en-US" altLang="zh-CN" dirty="0"/>
              <a:t>6-wide, 10-stage pipeline at 800Mhz on 0.18 µ process</a:t>
            </a:r>
            <a:endParaRPr lang="en-US" altLang="zh-CN" sz="3200" dirty="0"/>
          </a:p>
          <a:p>
            <a:pPr>
              <a:lnSpc>
                <a:spcPct val="80000"/>
              </a:lnSpc>
            </a:pPr>
            <a:r>
              <a:rPr lang="en-US" altLang="zh-CN" dirty="0"/>
              <a:t>128 64-bit integer registers + 128 82-bit floating point registers</a:t>
            </a:r>
          </a:p>
          <a:p>
            <a:pPr lvl="1">
              <a:lnSpc>
                <a:spcPct val="80000"/>
              </a:lnSpc>
            </a:pPr>
            <a:r>
              <a:rPr lang="en-US" altLang="zh-CN" dirty="0"/>
              <a:t>Not separate register files per functional unit as in old VLIW</a:t>
            </a:r>
            <a:endParaRPr lang="en-US" altLang="zh-CN" sz="3200" dirty="0"/>
          </a:p>
          <a:p>
            <a:pPr>
              <a:lnSpc>
                <a:spcPct val="80000"/>
              </a:lnSpc>
            </a:pPr>
            <a:r>
              <a:rPr lang="en-US" altLang="zh-CN" dirty="0"/>
              <a:t>Hardware checks dependencies </a:t>
            </a:r>
            <a:br>
              <a:rPr lang="en-US" altLang="zh-CN" dirty="0"/>
            </a:br>
            <a:r>
              <a:rPr lang="en-US" altLang="zh-CN" dirty="0"/>
              <a:t>(interlocks =&gt; binary compatibility over time)</a:t>
            </a:r>
          </a:p>
          <a:p>
            <a:pPr>
              <a:lnSpc>
                <a:spcPct val="80000"/>
              </a:lnSpc>
            </a:pPr>
            <a:r>
              <a:rPr lang="en-US" altLang="zh-CN" dirty="0"/>
              <a:t>Predicated execution (select 1 out of 64 1-bit flags) </a:t>
            </a:r>
            <a:br>
              <a:rPr lang="en-US" altLang="zh-CN" dirty="0"/>
            </a:br>
            <a:r>
              <a:rPr lang="en-US" altLang="zh-CN" dirty="0"/>
              <a:t>=&gt; 40% fewer </a:t>
            </a:r>
            <a:r>
              <a:rPr lang="en-US" altLang="zh-CN" dirty="0" err="1"/>
              <a:t>mispredictions</a:t>
            </a:r>
            <a:r>
              <a:rPr lang="en-US" altLang="zh-CN" dirty="0"/>
              <a:t>?</a:t>
            </a:r>
          </a:p>
          <a:p>
            <a:pPr>
              <a:lnSpc>
                <a:spcPct val="80000"/>
              </a:lnSpc>
            </a:pPr>
            <a:endParaRPr lang="zh-CN" altLang="en-US" sz="2000" dirty="0"/>
          </a:p>
        </p:txBody>
      </p:sp>
    </p:spTree>
    <p:extLst>
      <p:ext uri="{BB962C8B-B14F-4D97-AF65-F5344CB8AC3E}">
        <p14:creationId xmlns:p14="http://schemas.microsoft.com/office/powerpoint/2010/main" val="2048026614"/>
      </p:ext>
    </p:extLst>
  </p:cSld>
  <p:clrMapOvr>
    <a:masterClrMapping/>
  </p:clrMapOvr>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9234" name="Rectangle 1026"/>
          <p:cNvSpPr>
            <a:spLocks noGrp="1" noChangeArrowheads="1"/>
          </p:cNvSpPr>
          <p:nvPr>
            <p:ph type="title"/>
          </p:nvPr>
        </p:nvSpPr>
        <p:spPr/>
        <p:txBody>
          <a:bodyPr/>
          <a:lstStyle/>
          <a:p>
            <a:r>
              <a:rPr lang="en-US" altLang="en-US" smtClean="0"/>
              <a:t>IA-64 Registers</a:t>
            </a:r>
            <a:endParaRPr lang="en-US" altLang="en-US"/>
          </a:p>
        </p:txBody>
      </p:sp>
      <p:sp>
        <p:nvSpPr>
          <p:cNvPr id="1119235" name="Rectangle 1027"/>
          <p:cNvSpPr>
            <a:spLocks noGrp="1" noChangeArrowheads="1"/>
          </p:cNvSpPr>
          <p:nvPr>
            <p:ph type="body" idx="1"/>
          </p:nvPr>
        </p:nvSpPr>
        <p:spPr>
          <a:xfrm>
            <a:off x="407368" y="1556792"/>
            <a:ext cx="11305256" cy="5112568"/>
          </a:xfrm>
        </p:spPr>
        <p:txBody>
          <a:bodyPr/>
          <a:lstStyle/>
          <a:p>
            <a:r>
              <a:rPr lang="en-US" altLang="en-US" dirty="0" smtClean="0"/>
              <a:t>The integer registers are configured to help accelerate procedure calls using a register stack </a:t>
            </a:r>
          </a:p>
          <a:p>
            <a:pPr lvl="1"/>
            <a:r>
              <a:rPr lang="en-US" altLang="en-US" dirty="0" smtClean="0"/>
              <a:t>mechanism similar to that developed in the Berkeley RISC-I processor and used in the SPARC architecture. </a:t>
            </a:r>
          </a:p>
          <a:p>
            <a:pPr lvl="1"/>
            <a:r>
              <a:rPr lang="en-US" altLang="en-US" dirty="0" smtClean="0"/>
              <a:t>Registers 0-31 are always accessible and addressed as 0-31</a:t>
            </a:r>
          </a:p>
          <a:p>
            <a:pPr lvl="1"/>
            <a:r>
              <a:rPr lang="en-US" altLang="en-US" dirty="0" smtClean="0"/>
              <a:t>Registers 32-128 are used as a register stack and each procedure is allocated a set of registers (from 0 to 96)</a:t>
            </a:r>
          </a:p>
          <a:p>
            <a:pPr lvl="1"/>
            <a:r>
              <a:rPr lang="en-US" altLang="en-US" dirty="0" smtClean="0"/>
              <a:t>The new register stack frame is created for a called procedure by renaming the registers in hardware; </a:t>
            </a:r>
          </a:p>
          <a:p>
            <a:pPr lvl="1"/>
            <a:r>
              <a:rPr lang="en-US" altLang="en-US" dirty="0" smtClean="0"/>
              <a:t>a special register called the current frame pointer (CFM) points to the set of registers to be used by a given procedure</a:t>
            </a:r>
          </a:p>
          <a:p>
            <a:r>
              <a:rPr lang="en-US" altLang="en-US" dirty="0" smtClean="0"/>
              <a:t>8 64-bit Branch registers used to hold branch destination addresses for indirect branches; 64 1-bit predict registers</a:t>
            </a:r>
            <a:endParaRPr lang="en-US" altLang="en-US" dirty="0"/>
          </a:p>
        </p:txBody>
      </p:sp>
    </p:spTree>
    <p:extLst>
      <p:ext uri="{BB962C8B-B14F-4D97-AF65-F5344CB8AC3E}">
        <p14:creationId xmlns:p14="http://schemas.microsoft.com/office/powerpoint/2010/main" val="1896788864"/>
      </p:ext>
    </p:extLst>
  </p:cSld>
  <p:clrMapOvr>
    <a:masterClrMapping/>
  </p:clrMapOvr>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0258" name="Rectangle 2"/>
          <p:cNvSpPr>
            <a:spLocks noGrp="1" noChangeArrowheads="1"/>
          </p:cNvSpPr>
          <p:nvPr>
            <p:ph type="title"/>
          </p:nvPr>
        </p:nvSpPr>
        <p:spPr/>
        <p:txBody>
          <a:bodyPr/>
          <a:lstStyle/>
          <a:p>
            <a:r>
              <a:rPr lang="en-US" altLang="en-US" smtClean="0"/>
              <a:t>IA-64 Registers</a:t>
            </a:r>
            <a:endParaRPr lang="en-US" altLang="en-US"/>
          </a:p>
        </p:txBody>
      </p:sp>
      <p:sp>
        <p:nvSpPr>
          <p:cNvPr id="1120259" name="Rectangle 3"/>
          <p:cNvSpPr>
            <a:spLocks noGrp="1" noChangeArrowheads="1"/>
          </p:cNvSpPr>
          <p:nvPr>
            <p:ph type="body" idx="1"/>
          </p:nvPr>
        </p:nvSpPr>
        <p:spPr/>
        <p:txBody>
          <a:bodyPr/>
          <a:lstStyle/>
          <a:p>
            <a:r>
              <a:rPr lang="en-US" altLang="en-US" smtClean="0"/>
              <a:t>Both the integer and floating point registers support register rotation for registers 32-128. </a:t>
            </a:r>
          </a:p>
          <a:p>
            <a:r>
              <a:rPr lang="en-US" altLang="en-US" smtClean="0"/>
              <a:t>Register rotation is designed to ease the task of allocating of registers in software pipelined loops</a:t>
            </a:r>
          </a:p>
          <a:p>
            <a:r>
              <a:rPr lang="en-US" altLang="en-US" smtClean="0"/>
              <a:t>When combined with predication, possible to avoid the need for unrolling and for separate prologue and epilogue code for a software pipelined loop</a:t>
            </a:r>
          </a:p>
          <a:p>
            <a:pPr lvl="1"/>
            <a:r>
              <a:rPr lang="en-US" altLang="en-US" smtClean="0"/>
              <a:t>makes the SW-pipelining usable for loops with smaller numbers of iterations, where the overheads would traditionally negate many of the advantages</a:t>
            </a:r>
            <a:endParaRPr lang="en-US" altLang="en-US"/>
          </a:p>
        </p:txBody>
      </p:sp>
    </p:spTree>
    <p:extLst>
      <p:ext uri="{BB962C8B-B14F-4D97-AF65-F5344CB8AC3E}">
        <p14:creationId xmlns:p14="http://schemas.microsoft.com/office/powerpoint/2010/main" val="1954123199"/>
      </p:ext>
    </p:extLst>
  </p:cSld>
  <p:clrMapOvr>
    <a:masterClrMapping/>
  </p:clrMapOvr>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8210" name="Rectangle 2"/>
          <p:cNvSpPr>
            <a:spLocks noGrp="1" noChangeArrowheads="1"/>
          </p:cNvSpPr>
          <p:nvPr>
            <p:ph type="title"/>
          </p:nvPr>
        </p:nvSpPr>
        <p:spPr>
          <a:xfrm>
            <a:off x="407368" y="332656"/>
            <a:ext cx="11593288"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EPIC: Explicitly Parallel Instruction Computer</a:t>
            </a:r>
          </a:p>
        </p:txBody>
      </p:sp>
      <p:sp>
        <p:nvSpPr>
          <p:cNvPr id="1118211" name="Rectangle 3"/>
          <p:cNvSpPr>
            <a:spLocks noGrp="1" noChangeArrowheads="1"/>
          </p:cNvSpPr>
          <p:nvPr>
            <p:ph type="body" idx="1"/>
          </p:nvPr>
        </p:nvSpPr>
        <p:spPr>
          <a:xfrm>
            <a:off x="335360" y="1628800"/>
            <a:ext cx="11233248" cy="37052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nSpc>
                <a:spcPct val="80000"/>
              </a:lnSpc>
            </a:pPr>
            <a:r>
              <a:rPr lang="en-US" altLang="en-US" dirty="0">
                <a:solidFill>
                  <a:srgbClr val="FF0000"/>
                </a:solidFill>
              </a:rPr>
              <a:t>Instruction group</a:t>
            </a:r>
            <a:r>
              <a:rPr lang="en-US" altLang="en-US" dirty="0"/>
              <a:t>: a sequence of consecutive instructions with no register data dependences</a:t>
            </a:r>
          </a:p>
          <a:p>
            <a:pPr lvl="1">
              <a:lnSpc>
                <a:spcPct val="80000"/>
              </a:lnSpc>
            </a:pPr>
            <a:r>
              <a:rPr lang="en-US" altLang="en-US" dirty="0"/>
              <a:t>All the instructions in a group could be executed in parallel, if sufficient hardware resources existed and if any dependences through memory were preserved</a:t>
            </a:r>
          </a:p>
          <a:p>
            <a:pPr lvl="1">
              <a:lnSpc>
                <a:spcPct val="80000"/>
              </a:lnSpc>
            </a:pPr>
            <a:r>
              <a:rPr lang="en-US" altLang="en-US" dirty="0"/>
              <a:t>An instruction group can be arbitrarily long, but the compiler must explicitly indicate the boundary between one instruction group and another by placing a </a:t>
            </a:r>
            <a:r>
              <a:rPr lang="en-US" altLang="en-US" dirty="0">
                <a:solidFill>
                  <a:srgbClr val="FF0000"/>
                </a:solidFill>
              </a:rPr>
              <a:t>stop</a:t>
            </a:r>
            <a:r>
              <a:rPr lang="en-US" altLang="en-US" dirty="0"/>
              <a:t> between 2 instructions that belong to different groups</a:t>
            </a:r>
            <a:endParaRPr lang="en-US" altLang="zh-CN" sz="2000" dirty="0"/>
          </a:p>
          <a:p>
            <a:pPr>
              <a:lnSpc>
                <a:spcPct val="80000"/>
              </a:lnSpc>
            </a:pPr>
            <a:r>
              <a:rPr lang="en-US" altLang="en-US" dirty="0"/>
              <a:t>IA-64 instructions are encoded in </a:t>
            </a:r>
            <a:r>
              <a:rPr lang="en-US" altLang="en-US" dirty="0">
                <a:solidFill>
                  <a:srgbClr val="FF0000"/>
                </a:solidFill>
              </a:rPr>
              <a:t>bundles</a:t>
            </a:r>
            <a:r>
              <a:rPr lang="en-US" altLang="en-US" dirty="0"/>
              <a:t>, which are 128 bits wide. </a:t>
            </a:r>
          </a:p>
          <a:p>
            <a:pPr lvl="1">
              <a:lnSpc>
                <a:spcPct val="80000"/>
              </a:lnSpc>
            </a:pPr>
            <a:r>
              <a:rPr lang="en-US" altLang="en-US" dirty="0"/>
              <a:t>Each bundle consists of a 5-bit template field and 3 instructions, each 41 bits in length</a:t>
            </a:r>
          </a:p>
          <a:p>
            <a:pPr>
              <a:lnSpc>
                <a:spcPct val="80000"/>
              </a:lnSpc>
            </a:pPr>
            <a:r>
              <a:rPr lang="en-US" altLang="zh-CN" sz="2400" dirty="0"/>
              <a:t>3 Instructions in 128 bit “groups”; field determines if instructions dependent or independent</a:t>
            </a:r>
          </a:p>
          <a:p>
            <a:pPr lvl="1">
              <a:lnSpc>
                <a:spcPct val="80000"/>
              </a:lnSpc>
            </a:pPr>
            <a:r>
              <a:rPr lang="en-US" altLang="zh-CN" sz="2000" dirty="0"/>
              <a:t>Smaller code size than old VLIW, larger than x86/RISC</a:t>
            </a:r>
          </a:p>
          <a:p>
            <a:pPr lvl="1">
              <a:lnSpc>
                <a:spcPct val="80000"/>
              </a:lnSpc>
            </a:pPr>
            <a:r>
              <a:rPr lang="en-US" altLang="zh-CN" sz="2000" dirty="0"/>
              <a:t>Groups can be linked to show independence &gt; 3 </a:t>
            </a:r>
            <a:r>
              <a:rPr lang="en-US" altLang="zh-CN" sz="2000" dirty="0" err="1"/>
              <a:t>instr</a:t>
            </a:r>
            <a:endParaRPr lang="en-US" altLang="zh-CN" sz="2000" dirty="0"/>
          </a:p>
        </p:txBody>
      </p:sp>
    </p:spTree>
    <p:extLst>
      <p:ext uri="{BB962C8B-B14F-4D97-AF65-F5344CB8AC3E}">
        <p14:creationId xmlns:p14="http://schemas.microsoft.com/office/powerpoint/2010/main" val="4117349044"/>
      </p:ext>
    </p:extLst>
  </p:cSld>
  <p:clrMapOvr>
    <a:masterClrMapping/>
  </p:clrMapOvr>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1282" name="Rectangle 2"/>
          <p:cNvSpPr>
            <a:spLocks noGrp="1" noChangeArrowheads="1"/>
          </p:cNvSpPr>
          <p:nvPr>
            <p:ph type="title"/>
          </p:nvPr>
        </p:nvSpPr>
        <p:spPr>
          <a:xfrm>
            <a:off x="1127448" y="152400"/>
            <a:ext cx="8549952" cy="1143000"/>
          </a:xfrm>
        </p:spPr>
        <p:txBody>
          <a:bodyPr/>
          <a:lstStyle/>
          <a:p>
            <a:r>
              <a:rPr lang="zh-CN" altLang="en-US" dirty="0"/>
              <a:t>5 </a:t>
            </a:r>
            <a:r>
              <a:rPr lang="en-US" altLang="en-US" dirty="0"/>
              <a:t>Types of Execution in Bundle</a:t>
            </a:r>
          </a:p>
        </p:txBody>
      </p:sp>
      <p:sp>
        <p:nvSpPr>
          <p:cNvPr id="1121283" name="Rectangle 3"/>
          <p:cNvSpPr>
            <a:spLocks noGrp="1" noChangeArrowheads="1"/>
          </p:cNvSpPr>
          <p:nvPr>
            <p:ph type="body" idx="1"/>
          </p:nvPr>
        </p:nvSpPr>
        <p:spPr>
          <a:xfrm>
            <a:off x="1676400" y="1484784"/>
            <a:ext cx="8686800" cy="4001616"/>
          </a:xfrm>
        </p:spPr>
        <p:txBody>
          <a:bodyPr/>
          <a:lstStyle/>
          <a:p>
            <a:pPr marL="0" indent="0">
              <a:buNone/>
              <a:tabLst>
                <a:tab pos="1371600" algn="l"/>
                <a:tab pos="2806700" algn="l"/>
                <a:tab pos="4749800" algn="l"/>
              </a:tabLst>
            </a:pPr>
            <a:r>
              <a:rPr lang="en-US" altLang="en-US" sz="2000" i="1" dirty="0"/>
              <a:t>Execution 	Instruction	Instruction 	Example</a:t>
            </a:r>
            <a:br>
              <a:rPr lang="en-US" altLang="en-US" sz="2000" i="1" dirty="0"/>
            </a:br>
            <a:r>
              <a:rPr lang="en-US" altLang="en-US" sz="2000" i="1" dirty="0"/>
              <a:t>Unit Slot	type	Description	Instructions</a:t>
            </a:r>
            <a:endParaRPr lang="en-US" altLang="en-US" sz="2000" dirty="0"/>
          </a:p>
          <a:p>
            <a:pPr marL="0" indent="0">
              <a:buNone/>
              <a:tabLst>
                <a:tab pos="1371600" algn="l"/>
                <a:tab pos="2806700" algn="l"/>
                <a:tab pos="4749800" algn="l"/>
              </a:tabLst>
            </a:pPr>
            <a:r>
              <a:rPr lang="en-US" altLang="en-US" sz="2000" dirty="0"/>
              <a:t>I-unit	A	Integer ALU	add, subtract, and, or, </a:t>
            </a:r>
            <a:r>
              <a:rPr lang="en-US" altLang="en-US" sz="2000" dirty="0" err="1"/>
              <a:t>cmp</a:t>
            </a:r>
            <a:endParaRPr lang="en-US" altLang="en-US" sz="2000" dirty="0"/>
          </a:p>
          <a:p>
            <a:pPr marL="0" indent="0">
              <a:buNone/>
              <a:tabLst>
                <a:tab pos="1371600" algn="l"/>
                <a:tab pos="2806700" algn="l"/>
                <a:tab pos="4749800" algn="l"/>
              </a:tabLst>
            </a:pPr>
            <a:r>
              <a:rPr lang="en-US" altLang="en-US" sz="2000" dirty="0"/>
              <a:t>	I	Non-ALU </a:t>
            </a:r>
            <a:r>
              <a:rPr lang="en-US" altLang="en-US" sz="2000" dirty="0" err="1"/>
              <a:t>Int</a:t>
            </a:r>
            <a:r>
              <a:rPr lang="en-US" altLang="en-US" sz="2000" dirty="0"/>
              <a:t>	shifts, bit tests, moves</a:t>
            </a:r>
          </a:p>
          <a:p>
            <a:pPr marL="0" indent="0">
              <a:buNone/>
              <a:tabLst>
                <a:tab pos="1371600" algn="l"/>
                <a:tab pos="2806700" algn="l"/>
                <a:tab pos="4749800" algn="l"/>
              </a:tabLst>
            </a:pPr>
            <a:r>
              <a:rPr lang="en-US" altLang="en-US" sz="2000" dirty="0"/>
              <a:t>M-unit	A	Integer ALU	add, subtract, and, or, </a:t>
            </a:r>
            <a:r>
              <a:rPr lang="en-US" altLang="en-US" sz="2000" dirty="0" err="1"/>
              <a:t>cmp</a:t>
            </a:r>
            <a:endParaRPr lang="en-US" altLang="en-US" sz="2000" dirty="0"/>
          </a:p>
          <a:p>
            <a:pPr marL="0" indent="0">
              <a:buNone/>
              <a:tabLst>
                <a:tab pos="1371600" algn="l"/>
                <a:tab pos="2806700" algn="l"/>
                <a:tab pos="4749800" algn="l"/>
              </a:tabLst>
            </a:pPr>
            <a:r>
              <a:rPr lang="en-US" altLang="en-US" sz="2000" dirty="0"/>
              <a:t>	M	Memory access	Loads, stores for </a:t>
            </a:r>
            <a:r>
              <a:rPr lang="en-US" altLang="en-US" sz="2000" dirty="0" err="1"/>
              <a:t>int</a:t>
            </a:r>
            <a:r>
              <a:rPr lang="en-US" altLang="en-US" sz="2000" dirty="0"/>
              <a:t>/FP </a:t>
            </a:r>
            <a:r>
              <a:rPr lang="en-US" altLang="en-US" sz="2000" dirty="0" err="1"/>
              <a:t>regs</a:t>
            </a:r>
            <a:endParaRPr lang="en-US" altLang="en-US" sz="2000" dirty="0"/>
          </a:p>
          <a:p>
            <a:pPr marL="0" indent="0">
              <a:buNone/>
              <a:tabLst>
                <a:tab pos="1371600" algn="l"/>
                <a:tab pos="2806700" algn="l"/>
                <a:tab pos="4749800" algn="l"/>
              </a:tabLst>
            </a:pPr>
            <a:r>
              <a:rPr lang="en-US" altLang="en-US" sz="2000" dirty="0"/>
              <a:t>F-unit	F	Floating point	Floating point instructions</a:t>
            </a:r>
          </a:p>
          <a:p>
            <a:pPr marL="0" indent="0">
              <a:buNone/>
              <a:tabLst>
                <a:tab pos="1371600" algn="l"/>
                <a:tab pos="2806700" algn="l"/>
                <a:tab pos="4749800" algn="l"/>
              </a:tabLst>
            </a:pPr>
            <a:r>
              <a:rPr lang="en-US" altLang="en-US" sz="2000" dirty="0"/>
              <a:t>B-unit	B	Branches	Conditional branches, calls </a:t>
            </a:r>
          </a:p>
          <a:p>
            <a:pPr marL="0" indent="0">
              <a:buNone/>
              <a:tabLst>
                <a:tab pos="1371600" algn="l"/>
                <a:tab pos="2806700" algn="l"/>
                <a:tab pos="4749800" algn="l"/>
              </a:tabLst>
            </a:pPr>
            <a:r>
              <a:rPr lang="en-US" altLang="en-US" sz="2000" dirty="0"/>
              <a:t>L+X	L+X	Extended	Extended </a:t>
            </a:r>
            <a:r>
              <a:rPr lang="en-US" altLang="en-US" sz="2000" dirty="0" err="1"/>
              <a:t>immediates</a:t>
            </a:r>
            <a:r>
              <a:rPr lang="en-US" altLang="en-US" sz="2000" dirty="0"/>
              <a:t>, stops</a:t>
            </a:r>
          </a:p>
        </p:txBody>
      </p:sp>
      <p:sp>
        <p:nvSpPr>
          <p:cNvPr id="1121284" name="Text Box 4"/>
          <p:cNvSpPr txBox="1">
            <a:spLocks noChangeArrowheads="1"/>
          </p:cNvSpPr>
          <p:nvPr/>
        </p:nvSpPr>
        <p:spPr bwMode="auto">
          <a:xfrm>
            <a:off x="695400" y="5268564"/>
            <a:ext cx="11089232" cy="138499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a:r>
              <a:rPr lang="zh-CN" altLang="en-US" sz="2800" dirty="0" smtClean="0">
                <a:solidFill>
                  <a:srgbClr val="0000FF"/>
                </a:solidFill>
              </a:rPr>
              <a:t>5</a:t>
            </a:r>
            <a:r>
              <a:rPr lang="zh-CN" altLang="en-US" sz="2800" dirty="0">
                <a:solidFill>
                  <a:srgbClr val="0000FF"/>
                </a:solidFill>
              </a:rPr>
              <a:t>-</a:t>
            </a:r>
            <a:r>
              <a:rPr lang="en-US" altLang="en-US" sz="2800" dirty="0">
                <a:solidFill>
                  <a:srgbClr val="0000FF"/>
                </a:solidFill>
              </a:rPr>
              <a:t>bit template field within each bundle describes both the presence of any stops associated with the bundle </a:t>
            </a:r>
            <a:r>
              <a:rPr lang="en-US" altLang="en-US" sz="2800" i="1" dirty="0">
                <a:solidFill>
                  <a:srgbClr val="0000FF"/>
                </a:solidFill>
              </a:rPr>
              <a:t>and</a:t>
            </a:r>
            <a:r>
              <a:rPr lang="en-US" altLang="en-US" sz="2800" dirty="0">
                <a:solidFill>
                  <a:srgbClr val="0000FF"/>
                </a:solidFill>
              </a:rPr>
              <a:t> the execution unit type required by each instruction within the </a:t>
            </a:r>
            <a:r>
              <a:rPr lang="en-US" altLang="en-US" sz="2800" dirty="0" smtClean="0">
                <a:solidFill>
                  <a:srgbClr val="0000FF"/>
                </a:solidFill>
              </a:rPr>
              <a:t>bundle</a:t>
            </a:r>
            <a:endParaRPr lang="en-US" altLang="en-US" sz="2800" dirty="0">
              <a:solidFill>
                <a:srgbClr val="0000FF"/>
              </a:solidFill>
            </a:endParaRPr>
          </a:p>
        </p:txBody>
      </p:sp>
    </p:spTree>
    <p:extLst>
      <p:ext uri="{BB962C8B-B14F-4D97-AF65-F5344CB8AC3E}">
        <p14:creationId xmlns:p14="http://schemas.microsoft.com/office/powerpoint/2010/main" val="1755700092"/>
      </p:ext>
    </p:extLst>
  </p:cSld>
  <p:clrMapOvr>
    <a:masterClrMapping/>
  </p:clrMapOvr>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82" name="AutoShape 2"/>
          <p:cNvSpPr>
            <a:spLocks noChangeAspect="1" noChangeArrowheads="1"/>
          </p:cNvSpPr>
          <p:nvPr/>
        </p:nvSpPr>
        <p:spPr bwMode="auto">
          <a:xfrm>
            <a:off x="4986338" y="2851151"/>
            <a:ext cx="804862" cy="669925"/>
          </a:xfrm>
          <a:prstGeom prst="leftRightArrow">
            <a:avLst>
              <a:gd name="adj1" fmla="val 50000"/>
              <a:gd name="adj2" fmla="val 24028"/>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683" name="Rectangle 3"/>
          <p:cNvSpPr>
            <a:spLocks noChangeAspect="1" noChangeArrowheads="1"/>
          </p:cNvSpPr>
          <p:nvPr/>
        </p:nvSpPr>
        <p:spPr bwMode="auto">
          <a:xfrm>
            <a:off x="2001838" y="1258888"/>
            <a:ext cx="8513762" cy="385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095684" name="Picture 4" descr="Diephoto"/>
          <p:cNvPicPr preferRelativeResize="0">
            <a:picLocks noChangeAspect="1" noChangeArrowheads="1"/>
          </p:cNvPicPr>
          <p:nvPr/>
        </p:nvPicPr>
        <p:blipFill>
          <a:blip r:embed="rId3" cstate="print">
            <a:lum bright="-20000" contrast="20000"/>
            <a:extLst>
              <a:ext uri="{28A0092B-C50C-407E-A947-70E740481C1C}">
                <a14:useLocalDpi xmlns:a14="http://schemas.microsoft.com/office/drawing/2010/main" val="0"/>
              </a:ext>
            </a:extLst>
          </a:blip>
          <a:srcRect/>
          <a:stretch>
            <a:fillRect/>
          </a:stretch>
        </p:blipFill>
        <p:spPr bwMode="auto">
          <a:xfrm>
            <a:off x="2109788" y="1792288"/>
            <a:ext cx="2838450" cy="2762250"/>
          </a:xfrm>
          <a:prstGeom prst="rect">
            <a:avLst/>
          </a:prstGeom>
          <a:noFill/>
          <a:extLst>
            <a:ext uri="{909E8E84-426E-40DD-AFC4-6F175D3DCCD1}">
              <a14:hiddenFill xmlns:a14="http://schemas.microsoft.com/office/drawing/2010/main">
                <a:solidFill>
                  <a:srgbClr val="FFFFFF"/>
                </a:solidFill>
              </a14:hiddenFill>
            </a:ext>
          </a:extLst>
        </p:spPr>
      </p:pic>
      <p:sp>
        <p:nvSpPr>
          <p:cNvPr id="1095685" name="Rectangle 5"/>
          <p:cNvSpPr>
            <a:spLocks noChangeAspect="1" noChangeArrowheads="1"/>
          </p:cNvSpPr>
          <p:nvPr/>
        </p:nvSpPr>
        <p:spPr bwMode="auto">
          <a:xfrm>
            <a:off x="2116139" y="2435225"/>
            <a:ext cx="738187" cy="2027238"/>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686" name="Rectangle 6"/>
          <p:cNvSpPr>
            <a:spLocks noChangeAspect="1" noChangeArrowheads="1"/>
          </p:cNvSpPr>
          <p:nvPr/>
        </p:nvSpPr>
        <p:spPr bwMode="auto">
          <a:xfrm>
            <a:off x="2854325" y="3279776"/>
            <a:ext cx="1530350" cy="1147763"/>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687" name="Rectangle 7"/>
          <p:cNvSpPr>
            <a:spLocks noChangeAspect="1" noChangeArrowheads="1"/>
          </p:cNvSpPr>
          <p:nvPr/>
        </p:nvSpPr>
        <p:spPr bwMode="auto">
          <a:xfrm>
            <a:off x="4384675" y="3279776"/>
            <a:ext cx="490538" cy="1147763"/>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688" name="Rectangle 8"/>
          <p:cNvSpPr>
            <a:spLocks noChangeAspect="1" noChangeArrowheads="1"/>
          </p:cNvSpPr>
          <p:nvPr/>
        </p:nvSpPr>
        <p:spPr bwMode="auto">
          <a:xfrm>
            <a:off x="2862264" y="2787651"/>
            <a:ext cx="1316037" cy="493713"/>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689" name="Rectangle 9"/>
          <p:cNvSpPr>
            <a:spLocks noChangeAspect="1" noChangeArrowheads="1"/>
          </p:cNvSpPr>
          <p:nvPr/>
        </p:nvSpPr>
        <p:spPr bwMode="auto">
          <a:xfrm>
            <a:off x="2854326" y="2374901"/>
            <a:ext cx="1255713" cy="411163"/>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690" name="Rectangle 10"/>
          <p:cNvSpPr>
            <a:spLocks noChangeAspect="1" noChangeArrowheads="1"/>
          </p:cNvSpPr>
          <p:nvPr/>
        </p:nvSpPr>
        <p:spPr bwMode="auto">
          <a:xfrm>
            <a:off x="2854325" y="1882776"/>
            <a:ext cx="2020888" cy="492125"/>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691" name="Rectangle 11"/>
          <p:cNvSpPr>
            <a:spLocks noChangeAspect="1" noChangeArrowheads="1"/>
          </p:cNvSpPr>
          <p:nvPr/>
        </p:nvSpPr>
        <p:spPr bwMode="auto">
          <a:xfrm>
            <a:off x="4110039" y="2374901"/>
            <a:ext cx="765175" cy="411163"/>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692" name="Rectangle 12"/>
          <p:cNvSpPr>
            <a:spLocks noChangeAspect="1" noChangeArrowheads="1"/>
          </p:cNvSpPr>
          <p:nvPr/>
        </p:nvSpPr>
        <p:spPr bwMode="auto">
          <a:xfrm>
            <a:off x="4183063" y="2786063"/>
            <a:ext cx="692150" cy="493712"/>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693" name="Rectangle 13"/>
          <p:cNvSpPr>
            <a:spLocks noChangeAspect="1" noChangeArrowheads="1"/>
          </p:cNvSpPr>
          <p:nvPr/>
        </p:nvSpPr>
        <p:spPr bwMode="auto">
          <a:xfrm>
            <a:off x="2125663" y="1827214"/>
            <a:ext cx="728662" cy="600075"/>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694" name="Text Box 14"/>
          <p:cNvSpPr txBox="1">
            <a:spLocks noChangeAspect="1" noChangeArrowheads="1"/>
          </p:cNvSpPr>
          <p:nvPr/>
        </p:nvSpPr>
        <p:spPr bwMode="auto">
          <a:xfrm>
            <a:off x="3481388" y="1944688"/>
            <a:ext cx="5889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600" b="1">
                <a:solidFill>
                  <a:schemeClr val="bg1"/>
                </a:solidFill>
              </a:rPr>
              <a:t>FPU</a:t>
            </a:r>
            <a:endParaRPr lang="en-US" altLang="zh-CN" sz="1600">
              <a:solidFill>
                <a:schemeClr val="bg1"/>
              </a:solidFill>
            </a:endParaRPr>
          </a:p>
        </p:txBody>
      </p:sp>
      <p:sp>
        <p:nvSpPr>
          <p:cNvPr id="1095695" name="Text Box 15"/>
          <p:cNvSpPr txBox="1">
            <a:spLocks noChangeAspect="1" noChangeArrowheads="1"/>
          </p:cNvSpPr>
          <p:nvPr/>
        </p:nvSpPr>
        <p:spPr bwMode="auto">
          <a:xfrm>
            <a:off x="2109789" y="1868488"/>
            <a:ext cx="82105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400" b="1">
                <a:solidFill>
                  <a:schemeClr val="bg1"/>
                </a:solidFill>
              </a:rPr>
              <a:t>IA-32</a:t>
            </a:r>
          </a:p>
          <a:p>
            <a:pPr algn="l"/>
            <a:r>
              <a:rPr lang="en-US" altLang="zh-CN" sz="1400" b="1">
                <a:solidFill>
                  <a:schemeClr val="bg1"/>
                </a:solidFill>
              </a:rPr>
              <a:t>Control</a:t>
            </a:r>
            <a:endParaRPr lang="en-US" altLang="zh-CN" sz="1400">
              <a:solidFill>
                <a:schemeClr val="bg1"/>
              </a:solidFill>
            </a:endParaRPr>
          </a:p>
        </p:txBody>
      </p:sp>
      <p:sp>
        <p:nvSpPr>
          <p:cNvPr id="1095696" name="Text Box 16"/>
          <p:cNvSpPr txBox="1">
            <a:spLocks noChangeAspect="1" noChangeArrowheads="1"/>
          </p:cNvSpPr>
          <p:nvPr/>
        </p:nvSpPr>
        <p:spPr bwMode="auto">
          <a:xfrm>
            <a:off x="2078039" y="3186113"/>
            <a:ext cx="840295"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400" b="1">
                <a:solidFill>
                  <a:schemeClr val="bg1"/>
                </a:solidFill>
              </a:rPr>
              <a:t>Instr.</a:t>
            </a:r>
          </a:p>
          <a:p>
            <a:pPr algn="l"/>
            <a:r>
              <a:rPr lang="en-US" altLang="zh-CN" sz="1400" b="1">
                <a:solidFill>
                  <a:schemeClr val="bg1"/>
                </a:solidFill>
              </a:rPr>
              <a:t>Fetch &amp;</a:t>
            </a:r>
          </a:p>
          <a:p>
            <a:pPr algn="l"/>
            <a:r>
              <a:rPr lang="en-US" altLang="zh-CN" sz="1400" b="1">
                <a:solidFill>
                  <a:schemeClr val="bg1"/>
                </a:solidFill>
              </a:rPr>
              <a:t>Decode</a:t>
            </a:r>
            <a:endParaRPr lang="en-US" altLang="zh-CN" sz="1400">
              <a:solidFill>
                <a:schemeClr val="bg1"/>
              </a:solidFill>
            </a:endParaRPr>
          </a:p>
        </p:txBody>
      </p:sp>
      <p:sp>
        <p:nvSpPr>
          <p:cNvPr id="1095697" name="Text Box 17"/>
          <p:cNvSpPr txBox="1">
            <a:spLocks noChangeAspect="1" noChangeArrowheads="1"/>
          </p:cNvSpPr>
          <p:nvPr/>
        </p:nvSpPr>
        <p:spPr bwMode="auto">
          <a:xfrm>
            <a:off x="3297238" y="3614738"/>
            <a:ext cx="7921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600" b="1">
                <a:solidFill>
                  <a:schemeClr val="bg1"/>
                </a:solidFill>
              </a:rPr>
              <a:t>Cache</a:t>
            </a:r>
            <a:endParaRPr lang="en-US" altLang="zh-CN" sz="1600">
              <a:solidFill>
                <a:schemeClr val="bg1"/>
              </a:solidFill>
            </a:endParaRPr>
          </a:p>
        </p:txBody>
      </p:sp>
      <p:sp>
        <p:nvSpPr>
          <p:cNvPr id="1095698" name="Text Box 18"/>
          <p:cNvSpPr txBox="1">
            <a:spLocks noChangeAspect="1" noChangeArrowheads="1"/>
          </p:cNvSpPr>
          <p:nvPr/>
        </p:nvSpPr>
        <p:spPr bwMode="auto">
          <a:xfrm>
            <a:off x="4181476" y="2906713"/>
            <a:ext cx="7159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400" b="1">
                <a:solidFill>
                  <a:schemeClr val="bg1"/>
                </a:solidFill>
              </a:rPr>
              <a:t>Cache</a:t>
            </a:r>
            <a:endParaRPr lang="en-US" altLang="zh-CN" sz="1400">
              <a:solidFill>
                <a:schemeClr val="bg1"/>
              </a:solidFill>
            </a:endParaRPr>
          </a:p>
        </p:txBody>
      </p:sp>
      <p:sp>
        <p:nvSpPr>
          <p:cNvPr id="1095699" name="Text Box 19"/>
          <p:cNvSpPr txBox="1">
            <a:spLocks noChangeAspect="1" noChangeArrowheads="1"/>
          </p:cNvSpPr>
          <p:nvPr/>
        </p:nvSpPr>
        <p:spPr bwMode="auto">
          <a:xfrm>
            <a:off x="4184650" y="2436813"/>
            <a:ext cx="5778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600" b="1">
                <a:solidFill>
                  <a:schemeClr val="bg1"/>
                </a:solidFill>
              </a:rPr>
              <a:t>TLB</a:t>
            </a:r>
            <a:endParaRPr lang="en-US" altLang="zh-CN" sz="1600">
              <a:solidFill>
                <a:schemeClr val="bg1"/>
              </a:solidFill>
            </a:endParaRPr>
          </a:p>
        </p:txBody>
      </p:sp>
      <p:sp>
        <p:nvSpPr>
          <p:cNvPr id="1095700" name="Text Box 20"/>
          <p:cNvSpPr txBox="1">
            <a:spLocks noChangeAspect="1" noChangeArrowheads="1"/>
          </p:cNvSpPr>
          <p:nvPr/>
        </p:nvSpPr>
        <p:spPr bwMode="auto">
          <a:xfrm>
            <a:off x="2908301" y="2921000"/>
            <a:ext cx="12668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400" b="1">
                <a:solidFill>
                  <a:schemeClr val="bg1"/>
                </a:solidFill>
              </a:rPr>
              <a:t>Integer Units</a:t>
            </a:r>
            <a:endParaRPr lang="en-US" altLang="zh-CN" sz="1400">
              <a:solidFill>
                <a:schemeClr val="bg1"/>
              </a:solidFill>
            </a:endParaRPr>
          </a:p>
        </p:txBody>
      </p:sp>
      <p:sp>
        <p:nvSpPr>
          <p:cNvPr id="1095701" name="Text Box 21"/>
          <p:cNvSpPr txBox="1">
            <a:spLocks noChangeAspect="1" noChangeArrowheads="1"/>
          </p:cNvSpPr>
          <p:nvPr/>
        </p:nvSpPr>
        <p:spPr bwMode="auto">
          <a:xfrm>
            <a:off x="2840039" y="2459038"/>
            <a:ext cx="12969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400" b="1">
                <a:solidFill>
                  <a:schemeClr val="bg1"/>
                </a:solidFill>
              </a:rPr>
              <a:t>IA-64 Control</a:t>
            </a:r>
            <a:endParaRPr lang="en-US" altLang="zh-CN" sz="1400">
              <a:solidFill>
                <a:schemeClr val="bg1"/>
              </a:solidFill>
            </a:endParaRPr>
          </a:p>
        </p:txBody>
      </p:sp>
      <p:sp>
        <p:nvSpPr>
          <p:cNvPr id="1095702" name="Text Box 22"/>
          <p:cNvSpPr txBox="1">
            <a:spLocks noChangeAspect="1" noChangeArrowheads="1"/>
          </p:cNvSpPr>
          <p:nvPr/>
        </p:nvSpPr>
        <p:spPr bwMode="auto">
          <a:xfrm>
            <a:off x="4362450" y="3602038"/>
            <a:ext cx="5667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600" b="1">
                <a:solidFill>
                  <a:schemeClr val="bg1"/>
                </a:solidFill>
              </a:rPr>
              <a:t>Bus</a:t>
            </a:r>
            <a:endParaRPr lang="en-US" altLang="zh-CN" sz="1600">
              <a:solidFill>
                <a:schemeClr val="bg1"/>
              </a:solidFill>
            </a:endParaRPr>
          </a:p>
        </p:txBody>
      </p:sp>
      <p:sp>
        <p:nvSpPr>
          <p:cNvPr id="1095703" name="Rectangle 23"/>
          <p:cNvSpPr>
            <a:spLocks noChangeArrowheads="1"/>
          </p:cNvSpPr>
          <p:nvPr/>
        </p:nvSpPr>
        <p:spPr bwMode="auto">
          <a:xfrm>
            <a:off x="2125664" y="1798638"/>
            <a:ext cx="2816225" cy="272415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704" name="Text Box 24"/>
          <p:cNvSpPr txBox="1">
            <a:spLocks noChangeArrowheads="1"/>
          </p:cNvSpPr>
          <p:nvPr/>
        </p:nvSpPr>
        <p:spPr bwMode="auto">
          <a:xfrm>
            <a:off x="1958976" y="4992688"/>
            <a:ext cx="3014663" cy="4572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a:t>Core Processor Die</a:t>
            </a:r>
          </a:p>
        </p:txBody>
      </p:sp>
      <p:sp>
        <p:nvSpPr>
          <p:cNvPr id="1095705" name="Text Box 25"/>
          <p:cNvSpPr txBox="1">
            <a:spLocks noChangeArrowheads="1"/>
          </p:cNvSpPr>
          <p:nvPr/>
        </p:nvSpPr>
        <p:spPr bwMode="auto">
          <a:xfrm>
            <a:off x="7043302" y="5664994"/>
            <a:ext cx="2809875" cy="4572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b="1" dirty="0"/>
              <a:t>4 </a:t>
            </a:r>
            <a:r>
              <a:rPr lang="en-US" altLang="zh-CN" sz="2400" b="1" dirty="0"/>
              <a:t>x 1MB L3 cache </a:t>
            </a:r>
          </a:p>
        </p:txBody>
      </p:sp>
      <p:sp>
        <p:nvSpPr>
          <p:cNvPr id="1095706" name="Rectangle 26"/>
          <p:cNvSpPr>
            <a:spLocks noGrp="1" noChangeArrowheads="1"/>
          </p:cNvSpPr>
          <p:nvPr>
            <p:ph type="title"/>
          </p:nvPr>
        </p:nvSpPr>
        <p:spPr>
          <a:xfrm>
            <a:off x="1981200" y="561976"/>
            <a:ext cx="8153400" cy="885825"/>
          </a:xfrm>
        </p:spPr>
        <p:txBody>
          <a:bodyPr/>
          <a:lstStyle/>
          <a:p>
            <a:r>
              <a:rPr lang="en-US" altLang="zh-CN" sz="3600" dirty="0"/>
              <a:t>Itanium™ Processor Silicon</a:t>
            </a:r>
            <a:br>
              <a:rPr lang="en-US" altLang="zh-CN" sz="3600" dirty="0"/>
            </a:br>
            <a:r>
              <a:rPr lang="en-US" altLang="zh-CN" sz="2400" i="1" dirty="0"/>
              <a:t>(Copyright: Intel at </a:t>
            </a:r>
            <a:r>
              <a:rPr lang="en-US" altLang="zh-CN" sz="2400" i="1" dirty="0" err="1"/>
              <a:t>Hotchips</a:t>
            </a:r>
            <a:r>
              <a:rPr lang="en-US" altLang="zh-CN" sz="2400" i="1" dirty="0"/>
              <a:t> ’00)</a:t>
            </a:r>
            <a:br>
              <a:rPr lang="en-US" altLang="zh-CN" sz="2400" i="1" dirty="0"/>
            </a:br>
            <a:endParaRPr lang="en-US" altLang="zh-CN" sz="2400" i="1" dirty="0"/>
          </a:p>
        </p:txBody>
      </p:sp>
      <p:pic>
        <p:nvPicPr>
          <p:cNvPr id="1095707" name="Picture 27" descr="cm1plot_M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67400" y="1635101"/>
            <a:ext cx="2312988" cy="1684337"/>
          </a:xfrm>
          <a:prstGeom prst="rect">
            <a:avLst/>
          </a:prstGeom>
          <a:noFill/>
          <a:extLst>
            <a:ext uri="{909E8E84-426E-40DD-AFC4-6F175D3DCCD1}">
              <a14:hiddenFill xmlns:a14="http://schemas.microsoft.com/office/drawing/2010/main">
                <a:solidFill>
                  <a:srgbClr val="FFFFFF"/>
                </a:solidFill>
              </a14:hiddenFill>
            </a:ext>
          </a:extLst>
        </p:spPr>
      </p:pic>
      <p:pic>
        <p:nvPicPr>
          <p:cNvPr id="1095708" name="Picture 28" descr="rotated"/>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67400" y="3540100"/>
            <a:ext cx="2293938" cy="1689100"/>
          </a:xfrm>
          <a:prstGeom prst="rect">
            <a:avLst/>
          </a:prstGeom>
          <a:noFill/>
          <a:extLst>
            <a:ext uri="{909E8E84-426E-40DD-AFC4-6F175D3DCCD1}">
              <a14:hiddenFill xmlns:a14="http://schemas.microsoft.com/office/drawing/2010/main">
                <a:solidFill>
                  <a:srgbClr val="FFFFFF"/>
                </a:solidFill>
              </a14:hiddenFill>
            </a:ext>
          </a:extLst>
        </p:spPr>
      </p:pic>
      <p:pic>
        <p:nvPicPr>
          <p:cNvPr id="1095709" name="Picture 29" descr="rotated"/>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05800" y="3540100"/>
            <a:ext cx="2293938" cy="1689100"/>
          </a:xfrm>
          <a:prstGeom prst="rect">
            <a:avLst/>
          </a:prstGeom>
          <a:noFill/>
          <a:extLst>
            <a:ext uri="{909E8E84-426E-40DD-AFC4-6F175D3DCCD1}">
              <a14:hiddenFill xmlns:a14="http://schemas.microsoft.com/office/drawing/2010/main">
                <a:solidFill>
                  <a:srgbClr val="FFFFFF"/>
                </a:solidFill>
              </a14:hiddenFill>
            </a:ext>
          </a:extLst>
        </p:spPr>
      </p:pic>
      <p:pic>
        <p:nvPicPr>
          <p:cNvPr id="1095710" name="Picture 30" descr="cm1plot_M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05800" y="1635101"/>
            <a:ext cx="2312988" cy="1684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4368741"/>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7730" name="Rectangle 2"/>
          <p:cNvSpPr>
            <a:spLocks noGrp="1" noChangeArrowheads="1"/>
          </p:cNvSpPr>
          <p:nvPr>
            <p:ph type="title"/>
          </p:nvPr>
        </p:nvSpPr>
        <p:spPr>
          <a:xfrm>
            <a:off x="2063552" y="467248"/>
            <a:ext cx="7988300" cy="1143000"/>
          </a:xfrm>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p>
            <a:r>
              <a:rPr lang="en-US" altLang="zh-CN" sz="3600" dirty="0"/>
              <a:t>Itanium™ Machine Characteristics</a:t>
            </a:r>
            <a:br>
              <a:rPr lang="en-US" altLang="zh-CN" sz="3600" dirty="0"/>
            </a:br>
            <a:r>
              <a:rPr lang="en-US" altLang="zh-CN" sz="2400" i="1" dirty="0"/>
              <a:t>(Copyright: Intel at </a:t>
            </a:r>
            <a:r>
              <a:rPr lang="en-US" altLang="zh-CN" sz="2400" i="1" dirty="0" err="1"/>
              <a:t>Hotchips</a:t>
            </a:r>
            <a:r>
              <a:rPr lang="en-US" altLang="zh-CN" sz="2400" i="1" dirty="0"/>
              <a:t> ’00)</a:t>
            </a:r>
            <a:br>
              <a:rPr lang="en-US" altLang="zh-CN" sz="2400" i="1" dirty="0"/>
            </a:br>
            <a:endParaRPr lang="en-US" altLang="zh-CN" sz="2400" i="1" dirty="0"/>
          </a:p>
        </p:txBody>
      </p:sp>
      <p:grpSp>
        <p:nvGrpSpPr>
          <p:cNvPr id="1097731" name="Group 3"/>
          <p:cNvGrpSpPr>
            <a:grpSpLocks/>
          </p:cNvGrpSpPr>
          <p:nvPr/>
        </p:nvGrpSpPr>
        <p:grpSpPr bwMode="auto">
          <a:xfrm>
            <a:off x="1846264" y="1446608"/>
            <a:ext cx="8408987" cy="1365250"/>
            <a:chOff x="203" y="578"/>
            <a:chExt cx="5297" cy="860"/>
          </a:xfrm>
        </p:grpSpPr>
        <p:sp>
          <p:nvSpPr>
            <p:cNvPr id="1097732" name="Rectangle 4"/>
            <p:cNvSpPr>
              <a:spLocks noChangeArrowheads="1"/>
            </p:cNvSpPr>
            <p:nvPr/>
          </p:nvSpPr>
          <p:spPr bwMode="auto">
            <a:xfrm>
              <a:off x="2224" y="1219"/>
              <a:ext cx="3276"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400">
                  <a:latin typeface="Times New Roman" panose="02020603050405020304" pitchFamily="18" charset="0"/>
                </a:rPr>
                <a:t>Organic Land Grid Array</a:t>
              </a:r>
            </a:p>
          </p:txBody>
        </p:sp>
        <p:sp>
          <p:nvSpPr>
            <p:cNvPr id="1097733" name="Rectangle 5"/>
            <p:cNvSpPr>
              <a:spLocks noChangeArrowheads="1"/>
            </p:cNvSpPr>
            <p:nvPr/>
          </p:nvSpPr>
          <p:spPr bwMode="auto">
            <a:xfrm>
              <a:off x="203" y="1219"/>
              <a:ext cx="1992"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400">
                  <a:latin typeface="Times New Roman" panose="02020603050405020304" pitchFamily="18" charset="0"/>
                </a:rPr>
                <a:t>Package</a:t>
              </a:r>
            </a:p>
          </p:txBody>
        </p:sp>
        <p:sp>
          <p:nvSpPr>
            <p:cNvPr id="1097734" name="Rectangle 6"/>
            <p:cNvSpPr>
              <a:spLocks noChangeArrowheads="1"/>
            </p:cNvSpPr>
            <p:nvPr/>
          </p:nvSpPr>
          <p:spPr bwMode="auto">
            <a:xfrm>
              <a:off x="2224" y="1006"/>
              <a:ext cx="3276"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zh-CN" altLang="en-US" sz="1400">
                  <a:latin typeface="Times New Roman" panose="02020603050405020304" pitchFamily="18" charset="0"/>
                </a:rPr>
                <a:t>0.18</a:t>
              </a:r>
              <a:r>
                <a:rPr lang="en-US" altLang="zh-CN" sz="1400">
                  <a:latin typeface="Times New Roman" panose="02020603050405020304" pitchFamily="18" charset="0"/>
                </a:rPr>
                <a:t>u CMOS, 6 metal layer</a:t>
              </a:r>
            </a:p>
          </p:txBody>
        </p:sp>
        <p:sp>
          <p:nvSpPr>
            <p:cNvPr id="1097735" name="Rectangle 7"/>
            <p:cNvSpPr>
              <a:spLocks noChangeArrowheads="1"/>
            </p:cNvSpPr>
            <p:nvPr/>
          </p:nvSpPr>
          <p:spPr bwMode="auto">
            <a:xfrm>
              <a:off x="203" y="1006"/>
              <a:ext cx="1992"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400">
                  <a:latin typeface="Times New Roman" panose="02020603050405020304" pitchFamily="18" charset="0"/>
                </a:rPr>
                <a:t>Process</a:t>
              </a:r>
            </a:p>
          </p:txBody>
        </p:sp>
        <p:sp>
          <p:nvSpPr>
            <p:cNvPr id="1097736" name="Rectangle 8"/>
            <p:cNvSpPr>
              <a:spLocks noChangeArrowheads="1"/>
            </p:cNvSpPr>
            <p:nvPr/>
          </p:nvSpPr>
          <p:spPr bwMode="auto">
            <a:xfrm>
              <a:off x="2224" y="792"/>
              <a:ext cx="3276"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zh-CN" altLang="en-US" sz="1400">
                  <a:latin typeface="Times New Roman" panose="02020603050405020304" pitchFamily="18" charset="0"/>
                </a:rPr>
                <a:t>25.4</a:t>
              </a:r>
              <a:r>
                <a:rPr lang="en-US" altLang="zh-CN" sz="1400">
                  <a:latin typeface="Times New Roman" panose="02020603050405020304" pitchFamily="18" charset="0"/>
                </a:rPr>
                <a:t>M CPU; 295M L3</a:t>
              </a:r>
            </a:p>
          </p:txBody>
        </p:sp>
        <p:sp>
          <p:nvSpPr>
            <p:cNvPr id="1097737" name="Rectangle 9"/>
            <p:cNvSpPr>
              <a:spLocks noChangeArrowheads="1"/>
            </p:cNvSpPr>
            <p:nvPr/>
          </p:nvSpPr>
          <p:spPr bwMode="auto">
            <a:xfrm>
              <a:off x="203" y="792"/>
              <a:ext cx="1992"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400">
                  <a:latin typeface="Times New Roman" panose="02020603050405020304" pitchFamily="18" charset="0"/>
                </a:rPr>
                <a:t>Transistor Count</a:t>
              </a:r>
            </a:p>
          </p:txBody>
        </p:sp>
        <p:sp>
          <p:nvSpPr>
            <p:cNvPr id="1097738" name="Rectangle 10"/>
            <p:cNvSpPr>
              <a:spLocks noChangeArrowheads="1"/>
            </p:cNvSpPr>
            <p:nvPr/>
          </p:nvSpPr>
          <p:spPr bwMode="auto">
            <a:xfrm>
              <a:off x="2224" y="578"/>
              <a:ext cx="3276"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zh-CN" altLang="en-US" sz="1400">
                  <a:latin typeface="Times New Roman" panose="02020603050405020304" pitchFamily="18" charset="0"/>
                </a:rPr>
                <a:t>800 </a:t>
              </a:r>
              <a:r>
                <a:rPr lang="en-US" altLang="zh-CN" sz="1400">
                  <a:latin typeface="Times New Roman" panose="02020603050405020304" pitchFamily="18" charset="0"/>
                </a:rPr>
                <a:t>MHz</a:t>
              </a:r>
            </a:p>
          </p:txBody>
        </p:sp>
        <p:sp>
          <p:nvSpPr>
            <p:cNvPr id="1097739" name="Rectangle 11"/>
            <p:cNvSpPr>
              <a:spLocks noChangeArrowheads="1"/>
            </p:cNvSpPr>
            <p:nvPr/>
          </p:nvSpPr>
          <p:spPr bwMode="auto">
            <a:xfrm>
              <a:off x="203" y="578"/>
              <a:ext cx="1992"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400">
                  <a:latin typeface="Times New Roman" panose="02020603050405020304" pitchFamily="18" charset="0"/>
                </a:rPr>
                <a:t>Frequency</a:t>
              </a:r>
            </a:p>
          </p:txBody>
        </p:sp>
      </p:grpSp>
      <p:sp>
        <p:nvSpPr>
          <p:cNvPr id="1097740" name="Rectangle 12"/>
          <p:cNvSpPr>
            <a:spLocks noChangeArrowheads="1"/>
          </p:cNvSpPr>
          <p:nvPr/>
        </p:nvSpPr>
        <p:spPr bwMode="auto">
          <a:xfrm>
            <a:off x="5054600" y="6193234"/>
            <a:ext cx="5200650" cy="3476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buFont typeface="Wingdings" panose="05000000000000000000" pitchFamily="2" charset="2"/>
              <a:buNone/>
            </a:pPr>
            <a:r>
              <a:rPr lang="zh-CN" altLang="en-US" sz="1400">
                <a:latin typeface="Times New Roman" panose="02020603050405020304" pitchFamily="18" charset="0"/>
              </a:rPr>
              <a:t>2.1 </a:t>
            </a:r>
            <a:r>
              <a:rPr lang="en-US" altLang="zh-CN" sz="1400">
                <a:latin typeface="Times New Roman" panose="02020603050405020304" pitchFamily="18" charset="0"/>
              </a:rPr>
              <a:t>GB/sec; 4-way Glueless MP</a:t>
            </a:r>
          </a:p>
        </p:txBody>
      </p:sp>
      <p:sp>
        <p:nvSpPr>
          <p:cNvPr id="1097741" name="Rectangle 13"/>
          <p:cNvSpPr>
            <a:spLocks noChangeArrowheads="1"/>
          </p:cNvSpPr>
          <p:nvPr/>
        </p:nvSpPr>
        <p:spPr bwMode="auto">
          <a:xfrm>
            <a:off x="1846263" y="6193234"/>
            <a:ext cx="3162300" cy="3476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400">
                <a:latin typeface="Times New Roman" panose="02020603050405020304" pitchFamily="18" charset="0"/>
              </a:rPr>
              <a:t>System Bus</a:t>
            </a:r>
          </a:p>
        </p:txBody>
      </p:sp>
      <p:sp>
        <p:nvSpPr>
          <p:cNvPr id="1097742" name="Rectangle 14"/>
          <p:cNvSpPr>
            <a:spLocks noChangeArrowheads="1"/>
          </p:cNvSpPr>
          <p:nvPr/>
        </p:nvSpPr>
        <p:spPr bwMode="auto">
          <a:xfrm>
            <a:off x="5054600" y="5845571"/>
            <a:ext cx="5200650" cy="3476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zh-CN" altLang="en-US" sz="1400">
                <a:latin typeface="Times New Roman" panose="02020603050405020304" pitchFamily="18" charset="0"/>
              </a:rPr>
              <a:t>4</a:t>
            </a:r>
            <a:r>
              <a:rPr lang="en-US" altLang="zh-CN" sz="1400">
                <a:latin typeface="Times New Roman" panose="02020603050405020304" pitchFamily="18" charset="0"/>
              </a:rPr>
              <a:t>MB, 4-way s.a., BW of 12.8 GB/sec; </a:t>
            </a:r>
          </a:p>
        </p:txBody>
      </p:sp>
      <p:sp>
        <p:nvSpPr>
          <p:cNvPr id="1097743" name="Rectangle 15"/>
          <p:cNvSpPr>
            <a:spLocks noChangeArrowheads="1"/>
          </p:cNvSpPr>
          <p:nvPr/>
        </p:nvSpPr>
        <p:spPr bwMode="auto">
          <a:xfrm>
            <a:off x="1846263" y="5845571"/>
            <a:ext cx="3162300" cy="3476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400">
                <a:latin typeface="Times New Roman" panose="02020603050405020304" pitchFamily="18" charset="0"/>
              </a:rPr>
              <a:t>L3 Cache</a:t>
            </a:r>
          </a:p>
        </p:txBody>
      </p:sp>
      <p:sp>
        <p:nvSpPr>
          <p:cNvPr id="1097744" name="Rectangle 16"/>
          <p:cNvSpPr>
            <a:spLocks noChangeArrowheads="1"/>
          </p:cNvSpPr>
          <p:nvPr/>
        </p:nvSpPr>
        <p:spPr bwMode="auto">
          <a:xfrm>
            <a:off x="5054600" y="5177234"/>
            <a:ext cx="5200650" cy="3476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400">
                <a:latin typeface="Times New Roman" panose="02020603050405020304" pitchFamily="18" charset="0"/>
              </a:rPr>
              <a:t>Dual ported 96K Unified &amp; 16KD;  16KI</a:t>
            </a:r>
          </a:p>
        </p:txBody>
      </p:sp>
      <p:sp>
        <p:nvSpPr>
          <p:cNvPr id="1097745" name="Rectangle 17"/>
          <p:cNvSpPr>
            <a:spLocks noChangeArrowheads="1"/>
          </p:cNvSpPr>
          <p:nvPr/>
        </p:nvSpPr>
        <p:spPr bwMode="auto">
          <a:xfrm>
            <a:off x="1846263" y="5175646"/>
            <a:ext cx="3162300" cy="3476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400">
                <a:latin typeface="Times New Roman" panose="02020603050405020304" pitchFamily="18" charset="0"/>
              </a:rPr>
              <a:t>L2/L1 Cache </a:t>
            </a:r>
          </a:p>
        </p:txBody>
      </p:sp>
      <p:sp>
        <p:nvSpPr>
          <p:cNvPr id="1097746" name="Rectangle 18"/>
          <p:cNvSpPr>
            <a:spLocks noChangeArrowheads="1"/>
          </p:cNvSpPr>
          <p:nvPr/>
        </p:nvSpPr>
        <p:spPr bwMode="auto">
          <a:xfrm>
            <a:off x="5054600" y="5504259"/>
            <a:ext cx="5200650" cy="3476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zh-CN" altLang="en-US" sz="1400">
                <a:latin typeface="Times New Roman" panose="02020603050405020304" pitchFamily="18" charset="0"/>
              </a:rPr>
              <a:t>6 / 2 </a:t>
            </a:r>
            <a:r>
              <a:rPr lang="en-US" altLang="zh-CN" sz="1400">
                <a:latin typeface="Times New Roman" panose="02020603050405020304" pitchFamily="18" charset="0"/>
              </a:rPr>
              <a:t>clocks</a:t>
            </a:r>
          </a:p>
        </p:txBody>
      </p:sp>
      <p:sp>
        <p:nvSpPr>
          <p:cNvPr id="1097747" name="Rectangle 19"/>
          <p:cNvSpPr>
            <a:spLocks noChangeArrowheads="1"/>
          </p:cNvSpPr>
          <p:nvPr/>
        </p:nvSpPr>
        <p:spPr bwMode="auto">
          <a:xfrm>
            <a:off x="1846263" y="5504259"/>
            <a:ext cx="3162300" cy="3476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400">
                <a:latin typeface="Times New Roman" panose="02020603050405020304" pitchFamily="18" charset="0"/>
              </a:rPr>
              <a:t>L2/L1 Latency</a:t>
            </a:r>
          </a:p>
        </p:txBody>
      </p:sp>
      <p:sp>
        <p:nvSpPr>
          <p:cNvPr id="1097748" name="Rectangle 20"/>
          <p:cNvSpPr>
            <a:spLocks noChangeArrowheads="1"/>
          </p:cNvSpPr>
          <p:nvPr/>
        </p:nvSpPr>
        <p:spPr bwMode="auto">
          <a:xfrm>
            <a:off x="1846263" y="5504259"/>
            <a:ext cx="3162300" cy="3476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sz="1400">
              <a:latin typeface="Times New Roman" panose="02020603050405020304" pitchFamily="18" charset="0"/>
            </a:endParaRPr>
          </a:p>
        </p:txBody>
      </p:sp>
      <p:sp>
        <p:nvSpPr>
          <p:cNvPr id="1097749" name="Rectangle 21"/>
          <p:cNvSpPr>
            <a:spLocks noChangeArrowheads="1"/>
          </p:cNvSpPr>
          <p:nvPr/>
        </p:nvSpPr>
        <p:spPr bwMode="auto">
          <a:xfrm>
            <a:off x="5054600" y="6531371"/>
            <a:ext cx="5200650" cy="3476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400">
                <a:latin typeface="Times New Roman" panose="02020603050405020304" pitchFamily="18" charset="0"/>
              </a:rPr>
              <a:t>Scalable to large (512+ proc) systems</a:t>
            </a:r>
          </a:p>
        </p:txBody>
      </p:sp>
      <p:sp>
        <p:nvSpPr>
          <p:cNvPr id="1097750" name="Rectangle 22"/>
          <p:cNvSpPr>
            <a:spLocks noChangeArrowheads="1"/>
          </p:cNvSpPr>
          <p:nvPr/>
        </p:nvSpPr>
        <p:spPr bwMode="auto">
          <a:xfrm>
            <a:off x="5054600" y="4845446"/>
            <a:ext cx="5200650" cy="3476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zh-CN" altLang="en-US" sz="1400">
                <a:latin typeface="Times New Roman" panose="02020603050405020304" pitchFamily="18" charset="0"/>
              </a:rPr>
              <a:t>64 </a:t>
            </a:r>
            <a:r>
              <a:rPr lang="en-US" altLang="zh-CN" sz="1400">
                <a:latin typeface="Times New Roman" panose="02020603050405020304" pitchFamily="18" charset="0"/>
              </a:rPr>
              <a:t>entry ITLB, 32/96 2-level DTLB, VHPT</a:t>
            </a:r>
          </a:p>
        </p:txBody>
      </p:sp>
      <p:sp>
        <p:nvSpPr>
          <p:cNvPr id="1097751" name="Rectangle 23"/>
          <p:cNvSpPr>
            <a:spLocks noChangeArrowheads="1"/>
          </p:cNvSpPr>
          <p:nvPr/>
        </p:nvSpPr>
        <p:spPr bwMode="auto">
          <a:xfrm>
            <a:off x="1846263" y="4843859"/>
            <a:ext cx="3162300" cy="3476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400">
                <a:latin typeface="Times New Roman" panose="02020603050405020304" pitchFamily="18" charset="0"/>
              </a:rPr>
              <a:t>Virtual Memory Support</a:t>
            </a:r>
          </a:p>
        </p:txBody>
      </p:sp>
      <p:grpSp>
        <p:nvGrpSpPr>
          <p:cNvPr id="1097752" name="Group 24"/>
          <p:cNvGrpSpPr>
            <a:grpSpLocks/>
          </p:cNvGrpSpPr>
          <p:nvPr/>
        </p:nvGrpSpPr>
        <p:grpSpPr bwMode="auto">
          <a:xfrm>
            <a:off x="1846264" y="2811859"/>
            <a:ext cx="8408987" cy="2062163"/>
            <a:chOff x="203" y="2714"/>
            <a:chExt cx="5297" cy="1299"/>
          </a:xfrm>
        </p:grpSpPr>
        <p:sp>
          <p:nvSpPr>
            <p:cNvPr id="1097753" name="Rectangle 25"/>
            <p:cNvSpPr>
              <a:spLocks noChangeArrowheads="1"/>
            </p:cNvSpPr>
            <p:nvPr/>
          </p:nvSpPr>
          <p:spPr bwMode="auto">
            <a:xfrm>
              <a:off x="2224" y="2714"/>
              <a:ext cx="3276"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zh-CN" altLang="en-US" sz="1400">
                  <a:latin typeface="Times New Roman" panose="02020603050405020304" pitchFamily="18" charset="0"/>
                </a:rPr>
                <a:t>6 </a:t>
              </a:r>
              <a:r>
                <a:rPr lang="en-US" altLang="zh-CN" sz="1400">
                  <a:latin typeface="Times New Roman" panose="02020603050405020304" pitchFamily="18" charset="0"/>
                </a:rPr>
                <a:t>insts/clock  (4 ALU/MM, 2 Ld/St, 2 FP, 3 Br)</a:t>
              </a:r>
            </a:p>
          </p:txBody>
        </p:sp>
        <p:sp>
          <p:nvSpPr>
            <p:cNvPr id="1097754" name="Rectangle 26"/>
            <p:cNvSpPr>
              <a:spLocks noChangeArrowheads="1"/>
            </p:cNvSpPr>
            <p:nvPr/>
          </p:nvSpPr>
          <p:spPr bwMode="auto">
            <a:xfrm>
              <a:off x="203" y="2714"/>
              <a:ext cx="1992"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400">
                  <a:latin typeface="Times New Roman" panose="02020603050405020304" pitchFamily="18" charset="0"/>
                </a:rPr>
                <a:t>Machine Width</a:t>
              </a:r>
            </a:p>
          </p:txBody>
        </p:sp>
        <p:sp>
          <p:nvSpPr>
            <p:cNvPr id="1097755" name="Rectangle 27"/>
            <p:cNvSpPr>
              <a:spLocks noChangeArrowheads="1"/>
            </p:cNvSpPr>
            <p:nvPr/>
          </p:nvSpPr>
          <p:spPr bwMode="auto">
            <a:xfrm>
              <a:off x="2224" y="3581"/>
              <a:ext cx="3276"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zh-CN" altLang="en-US" sz="1400">
                  <a:latin typeface="Times New Roman" panose="02020603050405020304" pitchFamily="18" charset="0"/>
                </a:rPr>
                <a:t>3.2 </a:t>
              </a:r>
              <a:r>
                <a:rPr lang="en-US" altLang="zh-CN" sz="1400">
                  <a:latin typeface="Times New Roman" panose="02020603050405020304" pitchFamily="18" charset="0"/>
                </a:rPr>
                <a:t>GFlops (DP/EP); 6.4 GFlops (SP)</a:t>
              </a:r>
            </a:p>
          </p:txBody>
        </p:sp>
        <p:sp>
          <p:nvSpPr>
            <p:cNvPr id="1097756" name="Rectangle 28"/>
            <p:cNvSpPr>
              <a:spLocks noChangeArrowheads="1"/>
            </p:cNvSpPr>
            <p:nvPr/>
          </p:nvSpPr>
          <p:spPr bwMode="auto">
            <a:xfrm>
              <a:off x="203" y="3580"/>
              <a:ext cx="1992"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400">
                  <a:latin typeface="Times New Roman" panose="02020603050405020304" pitchFamily="18" charset="0"/>
                </a:rPr>
                <a:t>FP Compute Bandwidth</a:t>
              </a:r>
            </a:p>
          </p:txBody>
        </p:sp>
        <p:sp>
          <p:nvSpPr>
            <p:cNvPr id="1097757" name="Rectangle 29"/>
            <p:cNvSpPr>
              <a:spLocks noChangeArrowheads="1"/>
            </p:cNvSpPr>
            <p:nvPr/>
          </p:nvSpPr>
          <p:spPr bwMode="auto">
            <a:xfrm>
              <a:off x="2224" y="3794"/>
              <a:ext cx="3276"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zh-CN" altLang="en-US" sz="1400">
                  <a:latin typeface="Times New Roman" panose="02020603050405020304" pitchFamily="18" charset="0"/>
                </a:rPr>
                <a:t>4 </a:t>
              </a:r>
              <a:r>
                <a:rPr lang="en-US" altLang="zh-CN" sz="1400">
                  <a:latin typeface="Times New Roman" panose="02020603050405020304" pitchFamily="18" charset="0"/>
                </a:rPr>
                <a:t>DP (8 SP) operands/clock</a:t>
              </a:r>
            </a:p>
          </p:txBody>
        </p:sp>
        <p:sp>
          <p:nvSpPr>
            <p:cNvPr id="1097758" name="Rectangle 30"/>
            <p:cNvSpPr>
              <a:spLocks noChangeArrowheads="1"/>
            </p:cNvSpPr>
            <p:nvPr/>
          </p:nvSpPr>
          <p:spPr bwMode="auto">
            <a:xfrm>
              <a:off x="203" y="3793"/>
              <a:ext cx="1992"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400">
                  <a:latin typeface="Times New Roman" panose="02020603050405020304" pitchFamily="18" charset="0"/>
                </a:rPr>
                <a:t>Memory -&gt; FP Bandwidth</a:t>
              </a:r>
            </a:p>
          </p:txBody>
        </p:sp>
        <p:sp>
          <p:nvSpPr>
            <p:cNvPr id="1097759" name="Rectangle 31"/>
            <p:cNvSpPr>
              <a:spLocks noChangeArrowheads="1"/>
            </p:cNvSpPr>
            <p:nvPr/>
          </p:nvSpPr>
          <p:spPr bwMode="auto">
            <a:xfrm>
              <a:off x="2224" y="2928"/>
              <a:ext cx="3276"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zh-CN" altLang="en-US" sz="1400">
                  <a:latin typeface="Times New Roman" panose="02020603050405020304" pitchFamily="18" charset="0"/>
                </a:rPr>
                <a:t>14 </a:t>
              </a:r>
              <a:r>
                <a:rPr lang="en-US" altLang="zh-CN" sz="1400">
                  <a:latin typeface="Times New Roman" panose="02020603050405020304" pitchFamily="18" charset="0"/>
                </a:rPr>
                <a:t>ported 128 GR &amp; 128 FR; 64 Predicates</a:t>
              </a:r>
            </a:p>
          </p:txBody>
        </p:sp>
        <p:sp>
          <p:nvSpPr>
            <p:cNvPr id="1097760" name="Rectangle 32"/>
            <p:cNvSpPr>
              <a:spLocks noChangeArrowheads="1"/>
            </p:cNvSpPr>
            <p:nvPr/>
          </p:nvSpPr>
          <p:spPr bwMode="auto">
            <a:xfrm>
              <a:off x="2224" y="3148"/>
              <a:ext cx="3276"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zh-CN" altLang="en-US" sz="1400">
                  <a:latin typeface="Times New Roman" panose="02020603050405020304" pitchFamily="18" charset="0"/>
                </a:rPr>
                <a:t>32 </a:t>
              </a:r>
              <a:r>
                <a:rPr lang="en-US" altLang="zh-CN" sz="1400">
                  <a:latin typeface="Times New Roman" panose="02020603050405020304" pitchFamily="18" charset="0"/>
                </a:rPr>
                <a:t>entry ALAT, Exception Deferral</a:t>
              </a:r>
            </a:p>
          </p:txBody>
        </p:sp>
        <p:sp>
          <p:nvSpPr>
            <p:cNvPr id="1097761" name="Rectangle 33"/>
            <p:cNvSpPr>
              <a:spLocks noChangeArrowheads="1"/>
            </p:cNvSpPr>
            <p:nvPr/>
          </p:nvSpPr>
          <p:spPr bwMode="auto">
            <a:xfrm>
              <a:off x="203" y="3147"/>
              <a:ext cx="1992"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400">
                  <a:latin typeface="Times New Roman" panose="02020603050405020304" pitchFamily="18" charset="0"/>
                </a:rPr>
                <a:t>Speculation</a:t>
              </a:r>
            </a:p>
          </p:txBody>
        </p:sp>
        <p:sp>
          <p:nvSpPr>
            <p:cNvPr id="1097762" name="Rectangle 34"/>
            <p:cNvSpPr>
              <a:spLocks noChangeArrowheads="1"/>
            </p:cNvSpPr>
            <p:nvPr/>
          </p:nvSpPr>
          <p:spPr bwMode="auto">
            <a:xfrm>
              <a:off x="203" y="2927"/>
              <a:ext cx="1992"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400">
                  <a:latin typeface="Times New Roman" panose="02020603050405020304" pitchFamily="18" charset="0"/>
                </a:rPr>
                <a:t>Registers</a:t>
              </a:r>
            </a:p>
          </p:txBody>
        </p:sp>
        <p:sp>
          <p:nvSpPr>
            <p:cNvPr id="1097763" name="Rectangle 35"/>
            <p:cNvSpPr>
              <a:spLocks noChangeArrowheads="1"/>
            </p:cNvSpPr>
            <p:nvPr/>
          </p:nvSpPr>
          <p:spPr bwMode="auto">
            <a:xfrm>
              <a:off x="203" y="3360"/>
              <a:ext cx="1992"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400">
                  <a:latin typeface="Times New Roman" panose="02020603050405020304" pitchFamily="18" charset="0"/>
                </a:rPr>
                <a:t>Branch Prediction</a:t>
              </a:r>
            </a:p>
          </p:txBody>
        </p:sp>
        <p:sp>
          <p:nvSpPr>
            <p:cNvPr id="1097764" name="Rectangle 36"/>
            <p:cNvSpPr>
              <a:spLocks noChangeArrowheads="1"/>
            </p:cNvSpPr>
            <p:nvPr/>
          </p:nvSpPr>
          <p:spPr bwMode="auto">
            <a:xfrm>
              <a:off x="2224" y="3361"/>
              <a:ext cx="3276" cy="2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400">
                  <a:latin typeface="Times New Roman" panose="02020603050405020304" pitchFamily="18" charset="0"/>
                </a:rPr>
                <a:t>Multilevel 4-stage Prediction Hierarchy</a:t>
              </a:r>
            </a:p>
          </p:txBody>
        </p:sp>
      </p:grpSp>
      <p:sp>
        <p:nvSpPr>
          <p:cNvPr id="1097765" name="Line 37"/>
          <p:cNvSpPr>
            <a:spLocks noChangeShapeType="1"/>
          </p:cNvSpPr>
          <p:nvPr/>
        </p:nvSpPr>
        <p:spPr bwMode="auto">
          <a:xfrm>
            <a:off x="1893888" y="1445021"/>
            <a:ext cx="0" cy="5440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7766" name="Line 38"/>
          <p:cNvSpPr>
            <a:spLocks noChangeShapeType="1"/>
          </p:cNvSpPr>
          <p:nvPr/>
        </p:nvSpPr>
        <p:spPr bwMode="auto">
          <a:xfrm flipV="1">
            <a:off x="10279063" y="1445021"/>
            <a:ext cx="0" cy="54340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7767" name="Line 39"/>
          <p:cNvSpPr>
            <a:spLocks noChangeShapeType="1"/>
          </p:cNvSpPr>
          <p:nvPr/>
        </p:nvSpPr>
        <p:spPr bwMode="auto">
          <a:xfrm flipV="1">
            <a:off x="5008563" y="1445021"/>
            <a:ext cx="0" cy="543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97768" name="Group 40"/>
          <p:cNvGrpSpPr>
            <a:grpSpLocks/>
          </p:cNvGrpSpPr>
          <p:nvPr/>
        </p:nvGrpSpPr>
        <p:grpSpPr bwMode="auto">
          <a:xfrm>
            <a:off x="1893889" y="1446609"/>
            <a:ext cx="8385175" cy="5438775"/>
            <a:chOff x="233" y="578"/>
            <a:chExt cx="5282" cy="3426"/>
          </a:xfrm>
        </p:grpSpPr>
        <p:sp>
          <p:nvSpPr>
            <p:cNvPr id="1097769" name="Line 41"/>
            <p:cNvSpPr>
              <a:spLocks noChangeShapeType="1"/>
            </p:cNvSpPr>
            <p:nvPr/>
          </p:nvSpPr>
          <p:spPr bwMode="auto">
            <a:xfrm>
              <a:off x="245" y="578"/>
              <a:ext cx="527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7770" name="Line 42"/>
            <p:cNvSpPr>
              <a:spLocks noChangeShapeType="1"/>
            </p:cNvSpPr>
            <p:nvPr/>
          </p:nvSpPr>
          <p:spPr bwMode="auto">
            <a:xfrm>
              <a:off x="245" y="792"/>
              <a:ext cx="527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7771" name="Line 43"/>
            <p:cNvSpPr>
              <a:spLocks noChangeShapeType="1"/>
            </p:cNvSpPr>
            <p:nvPr/>
          </p:nvSpPr>
          <p:spPr bwMode="auto">
            <a:xfrm>
              <a:off x="245" y="1006"/>
              <a:ext cx="527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7772" name="Line 44"/>
            <p:cNvSpPr>
              <a:spLocks noChangeShapeType="1"/>
            </p:cNvSpPr>
            <p:nvPr/>
          </p:nvSpPr>
          <p:spPr bwMode="auto">
            <a:xfrm>
              <a:off x="245" y="1220"/>
              <a:ext cx="527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7773" name="Line 45"/>
            <p:cNvSpPr>
              <a:spLocks noChangeShapeType="1"/>
            </p:cNvSpPr>
            <p:nvPr/>
          </p:nvSpPr>
          <p:spPr bwMode="auto">
            <a:xfrm>
              <a:off x="245" y="1434"/>
              <a:ext cx="527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7774" name="Line 46"/>
            <p:cNvSpPr>
              <a:spLocks noChangeShapeType="1"/>
            </p:cNvSpPr>
            <p:nvPr/>
          </p:nvSpPr>
          <p:spPr bwMode="auto">
            <a:xfrm>
              <a:off x="245" y="3575"/>
              <a:ext cx="527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7775" name="Line 47"/>
            <p:cNvSpPr>
              <a:spLocks noChangeShapeType="1"/>
            </p:cNvSpPr>
            <p:nvPr/>
          </p:nvSpPr>
          <p:spPr bwMode="auto">
            <a:xfrm>
              <a:off x="245" y="4004"/>
              <a:ext cx="527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7776" name="Line 48"/>
            <p:cNvSpPr>
              <a:spLocks noChangeShapeType="1"/>
            </p:cNvSpPr>
            <p:nvPr/>
          </p:nvSpPr>
          <p:spPr bwMode="auto">
            <a:xfrm>
              <a:off x="245" y="2505"/>
              <a:ext cx="527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7777" name="Line 49"/>
            <p:cNvSpPr>
              <a:spLocks noChangeShapeType="1"/>
            </p:cNvSpPr>
            <p:nvPr/>
          </p:nvSpPr>
          <p:spPr bwMode="auto">
            <a:xfrm>
              <a:off x="245" y="2291"/>
              <a:ext cx="527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7778" name="Line 50"/>
            <p:cNvSpPr>
              <a:spLocks noChangeShapeType="1"/>
            </p:cNvSpPr>
            <p:nvPr/>
          </p:nvSpPr>
          <p:spPr bwMode="auto">
            <a:xfrm>
              <a:off x="245" y="2076"/>
              <a:ext cx="527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7779" name="Line 51"/>
            <p:cNvSpPr>
              <a:spLocks noChangeShapeType="1"/>
            </p:cNvSpPr>
            <p:nvPr/>
          </p:nvSpPr>
          <p:spPr bwMode="auto">
            <a:xfrm>
              <a:off x="245" y="1862"/>
              <a:ext cx="527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7780" name="Line 52"/>
            <p:cNvSpPr>
              <a:spLocks noChangeShapeType="1"/>
            </p:cNvSpPr>
            <p:nvPr/>
          </p:nvSpPr>
          <p:spPr bwMode="auto">
            <a:xfrm>
              <a:off x="245" y="3361"/>
              <a:ext cx="527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7781" name="Line 53"/>
            <p:cNvSpPr>
              <a:spLocks noChangeShapeType="1"/>
            </p:cNvSpPr>
            <p:nvPr/>
          </p:nvSpPr>
          <p:spPr bwMode="auto">
            <a:xfrm>
              <a:off x="245" y="2719"/>
              <a:ext cx="527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7782" name="Line 54"/>
            <p:cNvSpPr>
              <a:spLocks noChangeShapeType="1"/>
            </p:cNvSpPr>
            <p:nvPr/>
          </p:nvSpPr>
          <p:spPr bwMode="auto">
            <a:xfrm>
              <a:off x="245" y="3147"/>
              <a:ext cx="527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7783" name="Line 55"/>
            <p:cNvSpPr>
              <a:spLocks noChangeShapeType="1"/>
            </p:cNvSpPr>
            <p:nvPr/>
          </p:nvSpPr>
          <p:spPr bwMode="auto">
            <a:xfrm>
              <a:off x="245" y="1651"/>
              <a:ext cx="527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7784" name="Line 56"/>
            <p:cNvSpPr>
              <a:spLocks noChangeShapeType="1"/>
            </p:cNvSpPr>
            <p:nvPr/>
          </p:nvSpPr>
          <p:spPr bwMode="auto">
            <a:xfrm>
              <a:off x="233" y="2937"/>
              <a:ext cx="528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616029642"/>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9778" name="Group 2"/>
          <p:cNvGrpSpPr>
            <a:grpSpLocks/>
          </p:cNvGrpSpPr>
          <p:nvPr/>
        </p:nvGrpSpPr>
        <p:grpSpPr bwMode="auto">
          <a:xfrm>
            <a:off x="1822450" y="1406525"/>
            <a:ext cx="8782050" cy="5246688"/>
            <a:chOff x="188" y="886"/>
            <a:chExt cx="5532" cy="3305"/>
          </a:xfrm>
        </p:grpSpPr>
        <p:sp>
          <p:nvSpPr>
            <p:cNvPr id="1099779" name="Rectangle 3"/>
            <p:cNvSpPr>
              <a:spLocks noChangeArrowheads="1"/>
            </p:cNvSpPr>
            <p:nvPr/>
          </p:nvSpPr>
          <p:spPr bwMode="auto">
            <a:xfrm>
              <a:off x="198" y="886"/>
              <a:ext cx="847" cy="368"/>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a:lnSpc>
                  <a:spcPct val="90000"/>
                </a:lnSpc>
              </a:pPr>
              <a:r>
                <a:rPr lang="en-US" altLang="zh-CN" b="1" i="1">
                  <a:solidFill>
                    <a:schemeClr val="tx2"/>
                  </a:solidFill>
                  <a:latin typeface="Arial" panose="020B0604020202020204" pitchFamily="34" charset="0"/>
                </a:rPr>
                <a:t>Branch   </a:t>
              </a:r>
              <a:br>
                <a:rPr lang="en-US" altLang="zh-CN" b="1" i="1">
                  <a:solidFill>
                    <a:schemeClr val="tx2"/>
                  </a:solidFill>
                  <a:latin typeface="Arial" panose="020B0604020202020204" pitchFamily="34" charset="0"/>
                </a:rPr>
              </a:br>
              <a:r>
                <a:rPr lang="en-US" altLang="zh-CN" b="1" i="1">
                  <a:solidFill>
                    <a:schemeClr val="tx2"/>
                  </a:solidFill>
                  <a:latin typeface="Arial" panose="020B0604020202020204" pitchFamily="34" charset="0"/>
                </a:rPr>
                <a:t>Hints</a:t>
              </a:r>
            </a:p>
          </p:txBody>
        </p:sp>
        <p:sp>
          <p:nvSpPr>
            <p:cNvPr id="1099780" name="Rectangle 4"/>
            <p:cNvSpPr>
              <a:spLocks noChangeArrowheads="1"/>
            </p:cNvSpPr>
            <p:nvPr/>
          </p:nvSpPr>
          <p:spPr bwMode="auto">
            <a:xfrm>
              <a:off x="4932" y="886"/>
              <a:ext cx="713" cy="371"/>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90000"/>
                </a:lnSpc>
              </a:pPr>
              <a:r>
                <a:rPr lang="en-US" altLang="zh-CN" b="1" i="1">
                  <a:solidFill>
                    <a:schemeClr val="tx2"/>
                  </a:solidFill>
                  <a:latin typeface="Arial" panose="020B0604020202020204" pitchFamily="34" charset="0"/>
                </a:rPr>
                <a:t>Memory </a:t>
              </a:r>
              <a:br>
                <a:rPr lang="en-US" altLang="zh-CN" b="1" i="1">
                  <a:solidFill>
                    <a:schemeClr val="tx2"/>
                  </a:solidFill>
                  <a:latin typeface="Arial" panose="020B0604020202020204" pitchFamily="34" charset="0"/>
                </a:rPr>
              </a:br>
              <a:r>
                <a:rPr lang="en-US" altLang="zh-CN" b="1" i="1">
                  <a:solidFill>
                    <a:schemeClr val="tx2"/>
                  </a:solidFill>
                  <a:latin typeface="Arial" panose="020B0604020202020204" pitchFamily="34" charset="0"/>
                </a:rPr>
                <a:t>Hints</a:t>
              </a:r>
              <a:endParaRPr lang="en-US" altLang="zh-CN" b="1" i="1">
                <a:solidFill>
                  <a:srgbClr val="7FFF00"/>
                </a:solidFill>
                <a:latin typeface="Arial" panose="020B0604020202020204" pitchFamily="34" charset="0"/>
              </a:endParaRPr>
            </a:p>
          </p:txBody>
        </p:sp>
        <p:sp>
          <p:nvSpPr>
            <p:cNvPr id="1099781" name="Rectangle 5"/>
            <p:cNvSpPr>
              <a:spLocks noChangeArrowheads="1"/>
            </p:cNvSpPr>
            <p:nvPr/>
          </p:nvSpPr>
          <p:spPr bwMode="auto">
            <a:xfrm>
              <a:off x="188" y="1880"/>
              <a:ext cx="964" cy="2279"/>
            </a:xfrm>
            <a:prstGeom prst="rect">
              <a:avLst/>
            </a:prstGeom>
            <a:noFill/>
            <a:ln w="28575">
              <a:solidFill>
                <a:srgbClr val="7FFF00"/>
              </a:solidFill>
              <a:miter lim="800000"/>
              <a:headEnd/>
              <a:tailEnd/>
            </a:ln>
            <a:effectLst/>
            <a:extLst>
              <a:ext uri="{909E8E84-426E-40DD-AFC4-6F175D3DCCD1}">
                <a14:hiddenFill xmlns:a14="http://schemas.microsoft.com/office/drawing/2010/main">
                  <a:solidFill>
                    <a:srgbClr val="B5B5F9">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782" name="Rectangle 6"/>
            <p:cNvSpPr>
              <a:spLocks noChangeArrowheads="1"/>
            </p:cNvSpPr>
            <p:nvPr/>
          </p:nvSpPr>
          <p:spPr bwMode="auto">
            <a:xfrm>
              <a:off x="257" y="2382"/>
              <a:ext cx="808" cy="1255"/>
            </a:xfrm>
            <a:prstGeom prst="rect">
              <a:avLst/>
            </a:prstGeom>
            <a:solidFill>
              <a:srgbClr val="000000">
                <a:alpha val="50000"/>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b="1">
                  <a:latin typeface="Arial" panose="020B0604020202020204" pitchFamily="34" charset="0"/>
                </a:rPr>
                <a:t>Instruction</a:t>
              </a:r>
            </a:p>
            <a:p>
              <a:r>
                <a:rPr lang="en-US" altLang="zh-CN" b="1">
                  <a:latin typeface="Arial" panose="020B0604020202020204" pitchFamily="34" charset="0"/>
                </a:rPr>
                <a:t>Cache</a:t>
              </a:r>
            </a:p>
            <a:p>
              <a:r>
                <a:rPr lang="en-US" altLang="zh-CN" b="1">
                  <a:latin typeface="Arial" panose="020B0604020202020204" pitchFamily="34" charset="0"/>
                </a:rPr>
                <a:t>&amp; Branch</a:t>
              </a:r>
              <a:br>
                <a:rPr lang="en-US" altLang="zh-CN" b="1">
                  <a:latin typeface="Arial" panose="020B0604020202020204" pitchFamily="34" charset="0"/>
                </a:rPr>
              </a:br>
              <a:r>
                <a:rPr lang="en-US" altLang="zh-CN" b="1">
                  <a:latin typeface="Arial" panose="020B0604020202020204" pitchFamily="34" charset="0"/>
                </a:rPr>
                <a:t>Predictors</a:t>
              </a:r>
              <a:endParaRPr lang="en-US" altLang="zh-CN" b="1">
                <a:solidFill>
                  <a:schemeClr val="tx2"/>
                </a:solidFill>
                <a:latin typeface="Arial" panose="020B0604020202020204" pitchFamily="34" charset="0"/>
              </a:endParaRPr>
            </a:p>
          </p:txBody>
        </p:sp>
        <p:sp>
          <p:nvSpPr>
            <p:cNvPr id="1099783" name="Rectangle 7"/>
            <p:cNvSpPr>
              <a:spLocks noChangeArrowheads="1"/>
            </p:cNvSpPr>
            <p:nvPr/>
          </p:nvSpPr>
          <p:spPr bwMode="auto">
            <a:xfrm>
              <a:off x="284" y="1863"/>
              <a:ext cx="568" cy="212"/>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en-US" sz="1600" b="1">
                  <a:solidFill>
                    <a:srgbClr val="000000"/>
                  </a:solidFill>
                  <a:effectLst>
                    <a:outerShdw blurRad="38100" dist="38100" dir="2700000" algn="tl">
                      <a:srgbClr val="C0C0C0"/>
                    </a:outerShdw>
                  </a:effectLst>
                </a:rPr>
                <a:t>   </a:t>
              </a:r>
              <a:r>
                <a:rPr lang="en-US" altLang="zh-CN" sz="1600" b="1">
                  <a:solidFill>
                    <a:srgbClr val="7FFF00"/>
                  </a:solidFill>
                  <a:effectLst>
                    <a:outerShdw blurRad="38100" dist="38100" dir="2700000" algn="tl">
                      <a:srgbClr val="C0C0C0"/>
                    </a:outerShdw>
                  </a:effectLst>
                </a:rPr>
                <a:t>Fetch</a:t>
              </a:r>
              <a:endParaRPr lang="en-US" altLang="zh-CN" sz="1600" b="1">
                <a:solidFill>
                  <a:srgbClr val="000000"/>
                </a:solidFill>
                <a:effectLst>
                  <a:outerShdw blurRad="38100" dist="38100" dir="2700000" algn="tl">
                    <a:srgbClr val="C0C0C0"/>
                  </a:outerShdw>
                </a:effectLst>
              </a:endParaRPr>
            </a:p>
          </p:txBody>
        </p:sp>
        <p:sp>
          <p:nvSpPr>
            <p:cNvPr id="1099784" name="Rectangle 8"/>
            <p:cNvSpPr>
              <a:spLocks noChangeArrowheads="1"/>
            </p:cNvSpPr>
            <p:nvPr/>
          </p:nvSpPr>
          <p:spPr bwMode="auto">
            <a:xfrm>
              <a:off x="4704" y="1887"/>
              <a:ext cx="868" cy="2304"/>
            </a:xfrm>
            <a:prstGeom prst="rect">
              <a:avLst/>
            </a:prstGeom>
            <a:noFill/>
            <a:ln w="28575">
              <a:solidFill>
                <a:srgbClr val="7FFF00"/>
              </a:solidFill>
              <a:miter lim="800000"/>
              <a:headEnd/>
              <a:tailEnd/>
            </a:ln>
            <a:effectLst/>
            <a:extLst>
              <a:ext uri="{909E8E84-426E-40DD-AFC4-6F175D3DCCD1}">
                <a14:hiddenFill xmlns:a14="http://schemas.microsoft.com/office/drawing/2010/main">
                  <a:solidFill>
                    <a:schemeClr val="bg1">
                      <a:alpha val="5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785" name="Rectangle 9"/>
            <p:cNvSpPr>
              <a:spLocks noChangeArrowheads="1"/>
            </p:cNvSpPr>
            <p:nvPr/>
          </p:nvSpPr>
          <p:spPr bwMode="auto">
            <a:xfrm>
              <a:off x="4712" y="2515"/>
              <a:ext cx="823" cy="1020"/>
            </a:xfrm>
            <a:prstGeom prst="rect">
              <a:avLst/>
            </a:prstGeom>
            <a:solidFill>
              <a:srgbClr val="000000">
                <a:alpha val="50000"/>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latin typeface="Times New Roman" panose="02020603050405020304" pitchFamily="18" charset="0"/>
              </a:endParaRPr>
            </a:p>
          </p:txBody>
        </p:sp>
        <p:sp>
          <p:nvSpPr>
            <p:cNvPr id="1099786" name="Rectangle 10"/>
            <p:cNvSpPr>
              <a:spLocks noChangeArrowheads="1"/>
            </p:cNvSpPr>
            <p:nvPr/>
          </p:nvSpPr>
          <p:spPr bwMode="auto">
            <a:xfrm>
              <a:off x="4743" y="1863"/>
              <a:ext cx="804" cy="367"/>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en-US" sz="1600" b="1">
                  <a:solidFill>
                    <a:srgbClr val="7FFF00"/>
                  </a:solidFill>
                  <a:effectLst>
                    <a:outerShdw blurRad="38100" dist="38100" dir="2700000" algn="tl">
                      <a:srgbClr val="C0C0C0"/>
                    </a:outerShdw>
                  </a:effectLst>
                </a:rPr>
                <a:t>  </a:t>
              </a:r>
              <a:r>
                <a:rPr lang="en-US" altLang="zh-CN" sz="1600" b="1">
                  <a:solidFill>
                    <a:srgbClr val="7FFF00"/>
                  </a:solidFill>
                  <a:effectLst>
                    <a:outerShdw blurRad="38100" dist="38100" dir="2700000" algn="tl">
                      <a:srgbClr val="C0C0C0"/>
                    </a:outerShdw>
                  </a:effectLst>
                </a:rPr>
                <a:t>Memory </a:t>
              </a:r>
              <a:br>
                <a:rPr lang="en-US" altLang="zh-CN" sz="1600" b="1">
                  <a:solidFill>
                    <a:srgbClr val="7FFF00"/>
                  </a:solidFill>
                  <a:effectLst>
                    <a:outerShdw blurRad="38100" dist="38100" dir="2700000" algn="tl">
                      <a:srgbClr val="C0C0C0"/>
                    </a:outerShdw>
                  </a:effectLst>
                </a:rPr>
              </a:br>
              <a:r>
                <a:rPr lang="en-US" altLang="zh-CN" sz="1600" b="1">
                  <a:solidFill>
                    <a:srgbClr val="7FFF00"/>
                  </a:solidFill>
                  <a:effectLst>
                    <a:outerShdw blurRad="38100" dist="38100" dir="2700000" algn="tl">
                      <a:srgbClr val="C0C0C0"/>
                    </a:outerShdw>
                  </a:effectLst>
                </a:rPr>
                <a:t>Subsystem</a:t>
              </a:r>
            </a:p>
          </p:txBody>
        </p:sp>
        <p:sp>
          <p:nvSpPr>
            <p:cNvPr id="1099787" name="Rectangle 11"/>
            <p:cNvSpPr>
              <a:spLocks noChangeArrowheads="1"/>
            </p:cNvSpPr>
            <p:nvPr/>
          </p:nvSpPr>
          <p:spPr bwMode="auto">
            <a:xfrm>
              <a:off x="4702" y="2563"/>
              <a:ext cx="1018" cy="871"/>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a:r>
                <a:rPr lang="en-US" altLang="zh-CN" sz="2200" b="1"/>
                <a:t>Three levels of cache:</a:t>
              </a:r>
              <a:br>
                <a:rPr lang="en-US" altLang="zh-CN" sz="2200" b="1"/>
              </a:br>
              <a:r>
                <a:rPr lang="en-US" altLang="zh-CN" b="1">
                  <a:latin typeface="Arial" panose="020B0604020202020204" pitchFamily="34" charset="0"/>
                </a:rPr>
                <a:t>L1, L2, L3</a:t>
              </a:r>
              <a:endParaRPr lang="en-US" altLang="zh-CN" b="1">
                <a:solidFill>
                  <a:schemeClr val="tx2"/>
                </a:solidFill>
                <a:latin typeface="Arial" panose="020B0604020202020204" pitchFamily="34" charset="0"/>
              </a:endParaRPr>
            </a:p>
          </p:txBody>
        </p:sp>
        <p:grpSp>
          <p:nvGrpSpPr>
            <p:cNvPr id="1099788" name="Group 12"/>
            <p:cNvGrpSpPr>
              <a:grpSpLocks/>
            </p:cNvGrpSpPr>
            <p:nvPr/>
          </p:nvGrpSpPr>
          <p:grpSpPr bwMode="auto">
            <a:xfrm>
              <a:off x="1098" y="2643"/>
              <a:ext cx="276" cy="704"/>
              <a:chOff x="1098" y="2436"/>
              <a:chExt cx="276" cy="704"/>
            </a:xfrm>
          </p:grpSpPr>
          <p:sp>
            <p:nvSpPr>
              <p:cNvPr id="1099789" name="Line 13"/>
              <p:cNvSpPr>
                <a:spLocks noChangeShapeType="1"/>
              </p:cNvSpPr>
              <p:nvPr/>
            </p:nvSpPr>
            <p:spPr bwMode="auto">
              <a:xfrm>
                <a:off x="1099" y="2436"/>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790" name="Line 14"/>
              <p:cNvSpPr>
                <a:spLocks noChangeShapeType="1"/>
              </p:cNvSpPr>
              <p:nvPr/>
            </p:nvSpPr>
            <p:spPr bwMode="auto">
              <a:xfrm>
                <a:off x="1098" y="2590"/>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791" name="Line 15"/>
              <p:cNvSpPr>
                <a:spLocks noChangeShapeType="1"/>
              </p:cNvSpPr>
              <p:nvPr/>
            </p:nvSpPr>
            <p:spPr bwMode="auto">
              <a:xfrm>
                <a:off x="1099" y="2726"/>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792" name="Line 16"/>
              <p:cNvSpPr>
                <a:spLocks noChangeShapeType="1"/>
              </p:cNvSpPr>
              <p:nvPr/>
            </p:nvSpPr>
            <p:spPr bwMode="auto">
              <a:xfrm>
                <a:off x="1099" y="2860"/>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793" name="Line 17"/>
              <p:cNvSpPr>
                <a:spLocks noChangeShapeType="1"/>
              </p:cNvSpPr>
              <p:nvPr/>
            </p:nvSpPr>
            <p:spPr bwMode="auto">
              <a:xfrm>
                <a:off x="1099" y="3013"/>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794" name="Line 18"/>
              <p:cNvSpPr>
                <a:spLocks noChangeShapeType="1"/>
              </p:cNvSpPr>
              <p:nvPr/>
            </p:nvSpPr>
            <p:spPr bwMode="auto">
              <a:xfrm>
                <a:off x="1098" y="3140"/>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99795" name="Group 19"/>
            <p:cNvGrpSpPr>
              <a:grpSpLocks/>
            </p:cNvGrpSpPr>
            <p:nvPr/>
          </p:nvGrpSpPr>
          <p:grpSpPr bwMode="auto">
            <a:xfrm>
              <a:off x="4598" y="2709"/>
              <a:ext cx="139" cy="658"/>
              <a:chOff x="1098" y="2436"/>
              <a:chExt cx="276" cy="704"/>
            </a:xfrm>
          </p:grpSpPr>
          <p:sp>
            <p:nvSpPr>
              <p:cNvPr id="1099796" name="Line 20"/>
              <p:cNvSpPr>
                <a:spLocks noChangeShapeType="1"/>
              </p:cNvSpPr>
              <p:nvPr/>
            </p:nvSpPr>
            <p:spPr bwMode="auto">
              <a:xfrm>
                <a:off x="1099" y="2436"/>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797" name="Line 21"/>
              <p:cNvSpPr>
                <a:spLocks noChangeShapeType="1"/>
              </p:cNvSpPr>
              <p:nvPr/>
            </p:nvSpPr>
            <p:spPr bwMode="auto">
              <a:xfrm>
                <a:off x="1098" y="2590"/>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798" name="Line 22"/>
              <p:cNvSpPr>
                <a:spLocks noChangeShapeType="1"/>
              </p:cNvSpPr>
              <p:nvPr/>
            </p:nvSpPr>
            <p:spPr bwMode="auto">
              <a:xfrm>
                <a:off x="1099" y="2726"/>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799" name="Line 23"/>
              <p:cNvSpPr>
                <a:spLocks noChangeShapeType="1"/>
              </p:cNvSpPr>
              <p:nvPr/>
            </p:nvSpPr>
            <p:spPr bwMode="auto">
              <a:xfrm>
                <a:off x="1099" y="2860"/>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800" name="Line 24"/>
              <p:cNvSpPr>
                <a:spLocks noChangeShapeType="1"/>
              </p:cNvSpPr>
              <p:nvPr/>
            </p:nvSpPr>
            <p:spPr bwMode="auto">
              <a:xfrm>
                <a:off x="1099" y="3013"/>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801" name="Line 25"/>
              <p:cNvSpPr>
                <a:spLocks noChangeShapeType="1"/>
              </p:cNvSpPr>
              <p:nvPr/>
            </p:nvSpPr>
            <p:spPr bwMode="auto">
              <a:xfrm>
                <a:off x="1098" y="3140"/>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099802" name="Group 26"/>
          <p:cNvGrpSpPr>
            <a:grpSpLocks/>
          </p:cNvGrpSpPr>
          <p:nvPr/>
        </p:nvGrpSpPr>
        <p:grpSpPr bwMode="auto">
          <a:xfrm>
            <a:off x="3022600" y="1281114"/>
            <a:ext cx="3278188" cy="5349875"/>
            <a:chOff x="944" y="807"/>
            <a:chExt cx="2065" cy="3370"/>
          </a:xfrm>
        </p:grpSpPr>
        <p:sp>
          <p:nvSpPr>
            <p:cNvPr id="1099803" name="Rectangle 27"/>
            <p:cNvSpPr>
              <a:spLocks noChangeArrowheads="1"/>
            </p:cNvSpPr>
            <p:nvPr/>
          </p:nvSpPr>
          <p:spPr bwMode="auto">
            <a:xfrm>
              <a:off x="1953" y="1879"/>
              <a:ext cx="760" cy="2298"/>
            </a:xfrm>
            <a:prstGeom prst="rect">
              <a:avLst/>
            </a:prstGeom>
            <a:noFill/>
            <a:ln w="28575">
              <a:solidFill>
                <a:srgbClr val="7FFF00"/>
              </a:solidFill>
              <a:miter lim="800000"/>
              <a:headEnd/>
              <a:tailEnd/>
            </a:ln>
            <a:effectLst/>
            <a:extLst>
              <a:ext uri="{909E8E84-426E-40DD-AFC4-6F175D3DCCD1}">
                <a14:hiddenFill xmlns:a14="http://schemas.microsoft.com/office/drawing/2010/main">
                  <a:solidFill>
                    <a:schemeClr val="bg1">
                      <a:alpha val="5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804" name="Rectangle 28"/>
            <p:cNvSpPr>
              <a:spLocks noChangeArrowheads="1"/>
            </p:cNvSpPr>
            <p:nvPr/>
          </p:nvSpPr>
          <p:spPr bwMode="auto">
            <a:xfrm>
              <a:off x="2025" y="807"/>
              <a:ext cx="984" cy="524"/>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a:lnSpc>
                  <a:spcPct val="90000"/>
                </a:lnSpc>
              </a:pPr>
              <a:r>
                <a:rPr lang="en-US" altLang="zh-CN" b="1" i="1">
                  <a:solidFill>
                    <a:schemeClr val="tx2"/>
                  </a:solidFill>
                  <a:latin typeface="Arial" panose="020B0604020202020204" pitchFamily="34" charset="0"/>
                </a:rPr>
                <a:t>Register Stack </a:t>
              </a:r>
              <a:br>
                <a:rPr lang="en-US" altLang="zh-CN" b="1" i="1">
                  <a:solidFill>
                    <a:schemeClr val="tx2"/>
                  </a:solidFill>
                  <a:latin typeface="Arial" panose="020B0604020202020204" pitchFamily="34" charset="0"/>
                </a:rPr>
              </a:br>
              <a:r>
                <a:rPr lang="en-US" altLang="zh-CN" b="1" i="1">
                  <a:solidFill>
                    <a:schemeClr val="tx2"/>
                  </a:solidFill>
                  <a:latin typeface="Arial" panose="020B0604020202020204" pitchFamily="34" charset="0"/>
                </a:rPr>
                <a:t>&amp; Rotation</a:t>
              </a:r>
              <a:endParaRPr lang="en-US" altLang="zh-CN" b="1" i="1">
                <a:solidFill>
                  <a:srgbClr val="7FFF00"/>
                </a:solidFill>
                <a:latin typeface="Arial" panose="020B0604020202020204" pitchFamily="34" charset="0"/>
              </a:endParaRPr>
            </a:p>
          </p:txBody>
        </p:sp>
        <p:sp>
          <p:nvSpPr>
            <p:cNvPr id="1099805" name="Rectangle 29"/>
            <p:cNvSpPr>
              <a:spLocks noChangeArrowheads="1"/>
            </p:cNvSpPr>
            <p:nvPr/>
          </p:nvSpPr>
          <p:spPr bwMode="auto">
            <a:xfrm>
              <a:off x="944" y="886"/>
              <a:ext cx="1044" cy="371"/>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90000"/>
                </a:lnSpc>
              </a:pPr>
              <a:r>
                <a:rPr lang="zh-CN" altLang="en-US" b="1" i="1">
                  <a:solidFill>
                    <a:schemeClr val="tx2"/>
                  </a:solidFill>
                  <a:latin typeface="Arial" panose="020B0604020202020204" pitchFamily="34" charset="0"/>
                </a:rPr>
                <a:t>    </a:t>
              </a:r>
              <a:r>
                <a:rPr lang="en-US" altLang="zh-CN" b="1" i="1">
                  <a:solidFill>
                    <a:schemeClr val="tx2"/>
                  </a:solidFill>
                  <a:latin typeface="Arial" panose="020B0604020202020204" pitchFamily="34" charset="0"/>
                </a:rPr>
                <a:t>Explicit </a:t>
              </a:r>
            </a:p>
            <a:p>
              <a:pPr algn="l">
                <a:lnSpc>
                  <a:spcPct val="90000"/>
                </a:lnSpc>
              </a:pPr>
              <a:r>
                <a:rPr lang="en-US" altLang="zh-CN" b="1" i="1">
                  <a:solidFill>
                    <a:schemeClr val="tx2"/>
                  </a:solidFill>
                  <a:latin typeface="Arial" panose="020B0604020202020204" pitchFamily="34" charset="0"/>
                </a:rPr>
                <a:t>    Parallelism</a:t>
              </a:r>
              <a:endParaRPr lang="en-US" altLang="zh-CN" sz="1600" b="1" i="1">
                <a:solidFill>
                  <a:srgbClr val="7FFF00"/>
                </a:solidFill>
              </a:endParaRPr>
            </a:p>
          </p:txBody>
        </p:sp>
        <p:sp>
          <p:nvSpPr>
            <p:cNvPr id="1099806" name="Rectangle 30"/>
            <p:cNvSpPr>
              <a:spLocks noChangeArrowheads="1"/>
            </p:cNvSpPr>
            <p:nvPr/>
          </p:nvSpPr>
          <p:spPr bwMode="auto">
            <a:xfrm>
              <a:off x="2001" y="2389"/>
              <a:ext cx="664" cy="1344"/>
            </a:xfrm>
            <a:prstGeom prst="rect">
              <a:avLst/>
            </a:prstGeom>
            <a:solidFill>
              <a:srgbClr val="000000">
                <a:alpha val="50000"/>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zh-CN" altLang="en-US" b="1">
                  <a:latin typeface="Arial" panose="020B0604020202020204" pitchFamily="34" charset="0"/>
                </a:rPr>
                <a:t>128 </a:t>
              </a:r>
              <a:r>
                <a:rPr lang="en-US" altLang="zh-CN" b="1">
                  <a:latin typeface="Arial" panose="020B0604020202020204" pitchFamily="34" charset="0"/>
                </a:rPr>
                <a:t>GR &amp;</a:t>
              </a:r>
            </a:p>
            <a:p>
              <a:r>
                <a:rPr lang="en-US" altLang="zh-CN" b="1">
                  <a:latin typeface="Arial" panose="020B0604020202020204" pitchFamily="34" charset="0"/>
                </a:rPr>
                <a:t>128 FR,</a:t>
              </a:r>
            </a:p>
            <a:p>
              <a:r>
                <a:rPr lang="en-US" altLang="zh-CN" b="1">
                  <a:latin typeface="Arial" panose="020B0604020202020204" pitchFamily="34" charset="0"/>
                </a:rPr>
                <a:t>Register</a:t>
              </a:r>
            </a:p>
            <a:p>
              <a:r>
                <a:rPr lang="en-US" altLang="zh-CN" b="1">
                  <a:latin typeface="Arial" panose="020B0604020202020204" pitchFamily="34" charset="0"/>
                </a:rPr>
                <a:t>Remap</a:t>
              </a:r>
              <a:br>
                <a:rPr lang="en-US" altLang="zh-CN" b="1">
                  <a:latin typeface="Arial" panose="020B0604020202020204" pitchFamily="34" charset="0"/>
                </a:rPr>
              </a:br>
              <a:r>
                <a:rPr lang="en-US" altLang="zh-CN" b="1">
                  <a:latin typeface="Arial" panose="020B0604020202020204" pitchFamily="34" charset="0"/>
                </a:rPr>
                <a:t>&amp;</a:t>
              </a:r>
              <a:br>
                <a:rPr lang="en-US" altLang="zh-CN" b="1">
                  <a:latin typeface="Arial" panose="020B0604020202020204" pitchFamily="34" charset="0"/>
                </a:rPr>
              </a:br>
              <a:r>
                <a:rPr lang="en-US" altLang="zh-CN" b="1">
                  <a:latin typeface="Arial" panose="020B0604020202020204" pitchFamily="34" charset="0"/>
                </a:rPr>
                <a:t>Stack </a:t>
              </a:r>
            </a:p>
            <a:p>
              <a:r>
                <a:rPr lang="en-US" altLang="zh-CN" b="1">
                  <a:latin typeface="Arial" panose="020B0604020202020204" pitchFamily="34" charset="0"/>
                </a:rPr>
                <a:t>Engine</a:t>
              </a:r>
              <a:endParaRPr lang="en-US" altLang="zh-CN" b="1">
                <a:solidFill>
                  <a:schemeClr val="tx2"/>
                </a:solidFill>
                <a:latin typeface="Arial" panose="020B0604020202020204" pitchFamily="34" charset="0"/>
              </a:endParaRPr>
            </a:p>
          </p:txBody>
        </p:sp>
        <p:sp>
          <p:nvSpPr>
            <p:cNvPr id="1099807" name="Rectangle 31"/>
            <p:cNvSpPr>
              <a:spLocks noChangeArrowheads="1"/>
            </p:cNvSpPr>
            <p:nvPr/>
          </p:nvSpPr>
          <p:spPr bwMode="auto">
            <a:xfrm>
              <a:off x="1977" y="1863"/>
              <a:ext cx="668" cy="367"/>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1600" b="1">
                  <a:solidFill>
                    <a:srgbClr val="7FFF00"/>
                  </a:solidFill>
                  <a:effectLst>
                    <a:outerShdw blurRad="38100" dist="38100" dir="2700000" algn="tl">
                      <a:srgbClr val="C0C0C0"/>
                    </a:outerShdw>
                  </a:effectLst>
                </a:rPr>
                <a:t>Register </a:t>
              </a:r>
            </a:p>
            <a:p>
              <a:pPr algn="l"/>
              <a:r>
                <a:rPr lang="en-US" altLang="zh-CN" sz="1600" b="1">
                  <a:solidFill>
                    <a:srgbClr val="7FFF00"/>
                  </a:solidFill>
                  <a:effectLst>
                    <a:outerShdw blurRad="38100" dist="38100" dir="2700000" algn="tl">
                      <a:srgbClr val="C0C0C0"/>
                    </a:outerShdw>
                  </a:effectLst>
                </a:rPr>
                <a:t>Handling</a:t>
              </a:r>
              <a:endParaRPr lang="en-US" altLang="zh-CN" sz="1600" b="1">
                <a:solidFill>
                  <a:schemeClr val="bg2"/>
                </a:solidFill>
                <a:effectLst>
                  <a:outerShdw blurRad="38100" dist="38100" dir="2700000" algn="tl">
                    <a:srgbClr val="C0C0C0"/>
                  </a:outerShdw>
                </a:effectLst>
              </a:endParaRPr>
            </a:p>
          </p:txBody>
        </p:sp>
        <p:sp>
          <p:nvSpPr>
            <p:cNvPr id="1099808" name="Rectangle 32"/>
            <p:cNvSpPr>
              <a:spLocks noChangeArrowheads="1"/>
            </p:cNvSpPr>
            <p:nvPr/>
          </p:nvSpPr>
          <p:spPr bwMode="auto">
            <a:xfrm>
              <a:off x="1377" y="1879"/>
              <a:ext cx="424" cy="2297"/>
            </a:xfrm>
            <a:prstGeom prst="rect">
              <a:avLst/>
            </a:prstGeom>
            <a:noFill/>
            <a:ln w="28575">
              <a:solidFill>
                <a:srgbClr val="7FFF00"/>
              </a:solidFill>
              <a:miter lim="800000"/>
              <a:headEnd/>
              <a:tailEnd/>
            </a:ln>
            <a:effectLst/>
            <a:extLst>
              <a:ext uri="{909E8E84-426E-40DD-AFC4-6F175D3DCCD1}">
                <a14:hiddenFill xmlns:a14="http://schemas.microsoft.com/office/drawing/2010/main">
                  <a:solidFill>
                    <a:schemeClr val="bg1">
                      <a:alpha val="5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809" name="Rectangle 33"/>
            <p:cNvSpPr>
              <a:spLocks noChangeArrowheads="1"/>
            </p:cNvSpPr>
            <p:nvPr/>
          </p:nvSpPr>
          <p:spPr bwMode="auto">
            <a:xfrm rot="5400000">
              <a:off x="733" y="2955"/>
              <a:ext cx="1720" cy="240"/>
            </a:xfrm>
            <a:prstGeom prst="rect">
              <a:avLst/>
            </a:prstGeom>
            <a:solidFill>
              <a:srgbClr val="000000">
                <a:alpha val="50000"/>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b="1">
                  <a:latin typeface="Arial" panose="020B0604020202020204" pitchFamily="34" charset="0"/>
                </a:rPr>
                <a:t>Fast, Simple 6-Issue</a:t>
              </a:r>
              <a:endParaRPr lang="en-US" altLang="zh-CN" b="1">
                <a:solidFill>
                  <a:schemeClr val="tx2"/>
                </a:solidFill>
                <a:latin typeface="Arial" panose="020B0604020202020204" pitchFamily="34" charset="0"/>
              </a:endParaRPr>
            </a:p>
          </p:txBody>
        </p:sp>
        <p:sp>
          <p:nvSpPr>
            <p:cNvPr id="1099810" name="Rectangle 34"/>
            <p:cNvSpPr>
              <a:spLocks noChangeArrowheads="1"/>
            </p:cNvSpPr>
            <p:nvPr/>
          </p:nvSpPr>
          <p:spPr bwMode="auto">
            <a:xfrm>
              <a:off x="1365" y="1863"/>
              <a:ext cx="445" cy="212"/>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1600" b="1">
                  <a:solidFill>
                    <a:srgbClr val="7FFF00"/>
                  </a:solidFill>
                  <a:effectLst>
                    <a:outerShdw blurRad="38100" dist="38100" dir="2700000" algn="tl">
                      <a:srgbClr val="C0C0C0"/>
                    </a:outerShdw>
                  </a:effectLst>
                </a:rPr>
                <a:t>Issue</a:t>
              </a:r>
              <a:endParaRPr lang="en-US" altLang="zh-CN" sz="1600" b="1">
                <a:solidFill>
                  <a:schemeClr val="bg2"/>
                </a:solidFill>
                <a:effectLst>
                  <a:outerShdw blurRad="38100" dist="38100" dir="2700000" algn="tl">
                    <a:srgbClr val="C0C0C0"/>
                  </a:outerShdw>
                </a:effectLst>
              </a:endParaRPr>
            </a:p>
          </p:txBody>
        </p:sp>
        <p:grpSp>
          <p:nvGrpSpPr>
            <p:cNvPr id="1099811" name="Group 35"/>
            <p:cNvGrpSpPr>
              <a:grpSpLocks/>
            </p:cNvGrpSpPr>
            <p:nvPr/>
          </p:nvGrpSpPr>
          <p:grpSpPr bwMode="auto">
            <a:xfrm>
              <a:off x="1808" y="2649"/>
              <a:ext cx="139" cy="658"/>
              <a:chOff x="1098" y="2436"/>
              <a:chExt cx="276" cy="704"/>
            </a:xfrm>
          </p:grpSpPr>
          <p:sp>
            <p:nvSpPr>
              <p:cNvPr id="1099812" name="Line 36"/>
              <p:cNvSpPr>
                <a:spLocks noChangeShapeType="1"/>
              </p:cNvSpPr>
              <p:nvPr/>
            </p:nvSpPr>
            <p:spPr bwMode="auto">
              <a:xfrm>
                <a:off x="1099" y="2436"/>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813" name="Line 37"/>
              <p:cNvSpPr>
                <a:spLocks noChangeShapeType="1"/>
              </p:cNvSpPr>
              <p:nvPr/>
            </p:nvSpPr>
            <p:spPr bwMode="auto">
              <a:xfrm>
                <a:off x="1098" y="2590"/>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814" name="Line 38"/>
              <p:cNvSpPr>
                <a:spLocks noChangeShapeType="1"/>
              </p:cNvSpPr>
              <p:nvPr/>
            </p:nvSpPr>
            <p:spPr bwMode="auto">
              <a:xfrm>
                <a:off x="1099" y="2726"/>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815" name="Line 39"/>
              <p:cNvSpPr>
                <a:spLocks noChangeShapeType="1"/>
              </p:cNvSpPr>
              <p:nvPr/>
            </p:nvSpPr>
            <p:spPr bwMode="auto">
              <a:xfrm>
                <a:off x="1099" y="2860"/>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816" name="Line 40"/>
              <p:cNvSpPr>
                <a:spLocks noChangeShapeType="1"/>
              </p:cNvSpPr>
              <p:nvPr/>
            </p:nvSpPr>
            <p:spPr bwMode="auto">
              <a:xfrm>
                <a:off x="1099" y="3013"/>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817" name="Line 41"/>
              <p:cNvSpPr>
                <a:spLocks noChangeShapeType="1"/>
              </p:cNvSpPr>
              <p:nvPr/>
            </p:nvSpPr>
            <p:spPr bwMode="auto">
              <a:xfrm>
                <a:off x="1098" y="3140"/>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99818" name="Group 42"/>
            <p:cNvGrpSpPr>
              <a:grpSpLocks/>
            </p:cNvGrpSpPr>
            <p:nvPr/>
          </p:nvGrpSpPr>
          <p:grpSpPr bwMode="auto">
            <a:xfrm>
              <a:off x="2713" y="2681"/>
              <a:ext cx="139" cy="658"/>
              <a:chOff x="1098" y="2436"/>
              <a:chExt cx="276" cy="704"/>
            </a:xfrm>
          </p:grpSpPr>
          <p:sp>
            <p:nvSpPr>
              <p:cNvPr id="1099819" name="Line 43"/>
              <p:cNvSpPr>
                <a:spLocks noChangeShapeType="1"/>
              </p:cNvSpPr>
              <p:nvPr/>
            </p:nvSpPr>
            <p:spPr bwMode="auto">
              <a:xfrm>
                <a:off x="1099" y="2436"/>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820" name="Line 44"/>
              <p:cNvSpPr>
                <a:spLocks noChangeShapeType="1"/>
              </p:cNvSpPr>
              <p:nvPr/>
            </p:nvSpPr>
            <p:spPr bwMode="auto">
              <a:xfrm>
                <a:off x="1098" y="2590"/>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821" name="Line 45"/>
              <p:cNvSpPr>
                <a:spLocks noChangeShapeType="1"/>
              </p:cNvSpPr>
              <p:nvPr/>
            </p:nvSpPr>
            <p:spPr bwMode="auto">
              <a:xfrm>
                <a:off x="1099" y="2726"/>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822" name="Line 46"/>
              <p:cNvSpPr>
                <a:spLocks noChangeShapeType="1"/>
              </p:cNvSpPr>
              <p:nvPr/>
            </p:nvSpPr>
            <p:spPr bwMode="auto">
              <a:xfrm>
                <a:off x="1099" y="2860"/>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823" name="Line 47"/>
              <p:cNvSpPr>
                <a:spLocks noChangeShapeType="1"/>
              </p:cNvSpPr>
              <p:nvPr/>
            </p:nvSpPr>
            <p:spPr bwMode="auto">
              <a:xfrm>
                <a:off x="1099" y="3013"/>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824" name="Line 48"/>
              <p:cNvSpPr>
                <a:spLocks noChangeShapeType="1"/>
              </p:cNvSpPr>
              <p:nvPr/>
            </p:nvSpPr>
            <p:spPr bwMode="auto">
              <a:xfrm>
                <a:off x="1098" y="3140"/>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99825" name="Rectangle 49"/>
          <p:cNvSpPr>
            <a:spLocks noChangeArrowheads="1"/>
          </p:cNvSpPr>
          <p:nvPr/>
        </p:nvSpPr>
        <p:spPr bwMode="auto">
          <a:xfrm>
            <a:off x="5864226" y="2957514"/>
            <a:ext cx="974725" cy="333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a:r>
              <a:rPr lang="en-US" altLang="zh-CN" sz="1600" b="1">
                <a:solidFill>
                  <a:srgbClr val="7FFF00"/>
                </a:solidFill>
                <a:effectLst>
                  <a:outerShdw blurRad="38100" dist="38100" dir="2700000" algn="tl">
                    <a:srgbClr val="C0C0C0"/>
                  </a:outerShdw>
                </a:effectLst>
              </a:rPr>
              <a:t>Control</a:t>
            </a:r>
            <a:endParaRPr lang="en-US" altLang="zh-CN" sz="1600" b="1">
              <a:solidFill>
                <a:schemeClr val="bg2"/>
              </a:solidFill>
              <a:effectLst>
                <a:outerShdw blurRad="38100" dist="38100" dir="2700000" algn="tl">
                  <a:srgbClr val="C0C0C0"/>
                </a:outerShdw>
              </a:effectLst>
            </a:endParaRPr>
          </a:p>
        </p:txBody>
      </p:sp>
      <p:grpSp>
        <p:nvGrpSpPr>
          <p:cNvPr id="1099826" name="Group 50"/>
          <p:cNvGrpSpPr>
            <a:grpSpLocks/>
          </p:cNvGrpSpPr>
          <p:nvPr/>
        </p:nvGrpSpPr>
        <p:grpSpPr bwMode="auto">
          <a:xfrm>
            <a:off x="1524000" y="217314"/>
            <a:ext cx="9144000" cy="6596062"/>
            <a:chOff x="0" y="55"/>
            <a:chExt cx="5760" cy="4155"/>
          </a:xfrm>
        </p:grpSpPr>
        <p:sp>
          <p:nvSpPr>
            <p:cNvPr id="1099827" name="Rectangle 51"/>
            <p:cNvSpPr>
              <a:spLocks noChangeArrowheads="1"/>
            </p:cNvSpPr>
            <p:nvPr/>
          </p:nvSpPr>
          <p:spPr bwMode="auto">
            <a:xfrm>
              <a:off x="208" y="1547"/>
              <a:ext cx="2706"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1600" b="1">
                  <a:solidFill>
                    <a:srgbClr val="7FFF00"/>
                  </a:solidFill>
                  <a:effectLst>
                    <a:outerShdw blurRad="38100" dist="38100" dir="2700000" algn="tl">
                      <a:srgbClr val="C0C0C0"/>
                    </a:outerShdw>
                  </a:effectLst>
                </a:rPr>
                <a:t>Micro-architecture Features  in hardware</a:t>
              </a:r>
              <a:r>
                <a:rPr lang="en-US" altLang="zh-CN" b="1">
                  <a:solidFill>
                    <a:srgbClr val="D9DB1A"/>
                  </a:solidFill>
                  <a:effectLst>
                    <a:outerShdw blurRad="38100" dist="38100" dir="2700000" algn="tl">
                      <a:srgbClr val="C0C0C0"/>
                    </a:outerShdw>
                  </a:effectLst>
                  <a:latin typeface="Arial" panose="020B0604020202020204" pitchFamily="34" charset="0"/>
                </a:rPr>
                <a:t>: </a:t>
              </a:r>
            </a:p>
          </p:txBody>
        </p:sp>
        <p:sp>
          <p:nvSpPr>
            <p:cNvPr id="1099828" name="Rectangle 52"/>
            <p:cNvSpPr>
              <a:spLocks noChangeArrowheads="1"/>
            </p:cNvSpPr>
            <p:nvPr/>
          </p:nvSpPr>
          <p:spPr bwMode="auto">
            <a:xfrm>
              <a:off x="0" y="55"/>
              <a:ext cx="5760" cy="3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r>
                <a:rPr lang="en-US" altLang="zh-CN" sz="2800" b="1">
                  <a:solidFill>
                    <a:schemeClr val="hlink"/>
                  </a:solidFill>
                </a:rPr>
                <a:t>Itanium™ EPIC Design Maximizes SW-HW Synergy</a:t>
              </a:r>
            </a:p>
            <a:p>
              <a:r>
                <a:rPr lang="en-US" altLang="zh-CN" sz="2000" b="1" i="1">
                  <a:solidFill>
                    <a:schemeClr val="hlink"/>
                  </a:solidFill>
                </a:rPr>
                <a:t>(Copyright: Intel at Hotchips ’00)</a:t>
              </a:r>
            </a:p>
          </p:txBody>
        </p:sp>
        <p:sp>
          <p:nvSpPr>
            <p:cNvPr id="1099829" name="Rectangle 53"/>
            <p:cNvSpPr>
              <a:spLocks noChangeArrowheads="1"/>
            </p:cNvSpPr>
            <p:nvPr/>
          </p:nvSpPr>
          <p:spPr bwMode="auto">
            <a:xfrm>
              <a:off x="118" y="1485"/>
              <a:ext cx="5509" cy="2725"/>
            </a:xfrm>
            <a:prstGeom prst="rect">
              <a:avLst/>
            </a:prstGeom>
            <a:noFill/>
            <a:ln w="25400">
              <a:solidFill>
                <a:schemeClr val="tx1"/>
              </a:solidFill>
              <a:prstDash val="dash"/>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830" name="Rectangle 54"/>
            <p:cNvSpPr>
              <a:spLocks noChangeArrowheads="1"/>
            </p:cNvSpPr>
            <p:nvPr/>
          </p:nvSpPr>
          <p:spPr bwMode="auto">
            <a:xfrm>
              <a:off x="117" y="477"/>
              <a:ext cx="5513" cy="959"/>
            </a:xfrm>
            <a:prstGeom prst="rect">
              <a:avLst/>
            </a:prstGeom>
            <a:noFill/>
            <a:ln w="25400">
              <a:solidFill>
                <a:schemeClr val="tx1"/>
              </a:solidFill>
              <a:prstDash val="dash"/>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831" name="Rectangle 55"/>
            <p:cNvSpPr>
              <a:spLocks noChangeArrowheads="1"/>
            </p:cNvSpPr>
            <p:nvPr/>
          </p:nvSpPr>
          <p:spPr bwMode="auto">
            <a:xfrm>
              <a:off x="205" y="516"/>
              <a:ext cx="3451"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b="1" i="1">
                  <a:solidFill>
                    <a:schemeClr val="tx2"/>
                  </a:solidFill>
                  <a:latin typeface="Arial" panose="020B0604020202020204" pitchFamily="34" charset="0"/>
                </a:rPr>
                <a:t>Architecture Features programmed by compiler</a:t>
              </a:r>
              <a:r>
                <a:rPr lang="en-US" altLang="zh-CN" b="1">
                  <a:solidFill>
                    <a:srgbClr val="D9DB1A"/>
                  </a:solidFill>
                  <a:effectLst>
                    <a:outerShdw blurRad="38100" dist="38100" dir="2700000" algn="tl">
                      <a:srgbClr val="C0C0C0"/>
                    </a:outerShdw>
                  </a:effectLst>
                  <a:latin typeface="Arial" panose="020B0604020202020204" pitchFamily="34" charset="0"/>
                </a:rPr>
                <a:t>:</a:t>
              </a:r>
            </a:p>
          </p:txBody>
        </p:sp>
        <p:sp>
          <p:nvSpPr>
            <p:cNvPr id="1099832" name="Rectangle 56"/>
            <p:cNvSpPr>
              <a:spLocks noChangeArrowheads="1"/>
            </p:cNvSpPr>
            <p:nvPr/>
          </p:nvSpPr>
          <p:spPr bwMode="auto">
            <a:xfrm>
              <a:off x="2742" y="955"/>
              <a:ext cx="90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b="1" i="1">
                  <a:solidFill>
                    <a:schemeClr val="tx2"/>
                  </a:solidFill>
                  <a:latin typeface="Arial" panose="020B0604020202020204" pitchFamily="34" charset="0"/>
                </a:rPr>
                <a:t>Predication</a:t>
              </a:r>
              <a:endParaRPr lang="en-US" altLang="zh-CN" b="1" i="1">
                <a:solidFill>
                  <a:srgbClr val="7FFF00"/>
                </a:solidFill>
                <a:latin typeface="Arial" panose="020B0604020202020204" pitchFamily="34" charset="0"/>
              </a:endParaRPr>
            </a:p>
          </p:txBody>
        </p:sp>
        <p:sp>
          <p:nvSpPr>
            <p:cNvPr id="1099833" name="Rectangle 57"/>
            <p:cNvSpPr>
              <a:spLocks noChangeArrowheads="1"/>
            </p:cNvSpPr>
            <p:nvPr/>
          </p:nvSpPr>
          <p:spPr bwMode="auto">
            <a:xfrm>
              <a:off x="3651" y="877"/>
              <a:ext cx="1133" cy="3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90000"/>
                </a:lnSpc>
              </a:pPr>
              <a:r>
                <a:rPr lang="en-US" altLang="zh-CN" b="1" i="1">
                  <a:solidFill>
                    <a:schemeClr val="tx2"/>
                  </a:solidFill>
                  <a:latin typeface="Arial" panose="020B0604020202020204" pitchFamily="34" charset="0"/>
                </a:rPr>
                <a:t>Data &amp; Control</a:t>
              </a:r>
            </a:p>
            <a:p>
              <a:pPr algn="l"/>
              <a:r>
                <a:rPr lang="en-US" altLang="zh-CN" b="1" i="1">
                  <a:solidFill>
                    <a:schemeClr val="tx2"/>
                  </a:solidFill>
                  <a:latin typeface="Arial" panose="020B0604020202020204" pitchFamily="34" charset="0"/>
                </a:rPr>
                <a:t>Speculation</a:t>
              </a:r>
              <a:endParaRPr lang="en-US" altLang="zh-CN" b="1" i="1">
                <a:solidFill>
                  <a:srgbClr val="00CC00"/>
                </a:solidFill>
                <a:latin typeface="Arial" panose="020B0604020202020204" pitchFamily="34" charset="0"/>
              </a:endParaRPr>
            </a:p>
          </p:txBody>
        </p:sp>
        <p:sp>
          <p:nvSpPr>
            <p:cNvPr id="1099834" name="Rectangle 58"/>
            <p:cNvSpPr>
              <a:spLocks noChangeArrowheads="1"/>
            </p:cNvSpPr>
            <p:nvPr/>
          </p:nvSpPr>
          <p:spPr bwMode="auto">
            <a:xfrm>
              <a:off x="2784" y="1887"/>
              <a:ext cx="472" cy="2306"/>
            </a:xfrm>
            <a:prstGeom prst="rect">
              <a:avLst/>
            </a:prstGeom>
            <a:noFill/>
            <a:ln w="28575">
              <a:solidFill>
                <a:srgbClr val="7FFF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835" name="Rectangle 59"/>
            <p:cNvSpPr>
              <a:spLocks noChangeArrowheads="1"/>
            </p:cNvSpPr>
            <p:nvPr/>
          </p:nvSpPr>
          <p:spPr bwMode="auto">
            <a:xfrm rot="5400000">
              <a:off x="2112" y="2890"/>
              <a:ext cx="1832" cy="229"/>
            </a:xfrm>
            <a:prstGeom prst="rect">
              <a:avLst/>
            </a:prstGeom>
            <a:solidFill>
              <a:srgbClr val="000000">
                <a:alpha val="50000"/>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sz="1700" b="1"/>
                <a:t>Bypasses &amp; Dependencies</a:t>
              </a:r>
              <a:endParaRPr lang="en-US" altLang="zh-CN" sz="1600" b="1">
                <a:solidFill>
                  <a:schemeClr val="tx2"/>
                </a:solidFill>
              </a:endParaRPr>
            </a:p>
          </p:txBody>
        </p:sp>
        <p:sp>
          <p:nvSpPr>
            <p:cNvPr id="1099836" name="Rectangle 60"/>
            <p:cNvSpPr>
              <a:spLocks noChangeArrowheads="1"/>
            </p:cNvSpPr>
            <p:nvPr/>
          </p:nvSpPr>
          <p:spPr bwMode="auto">
            <a:xfrm>
              <a:off x="3378" y="1863"/>
              <a:ext cx="1308"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1600" b="1">
                  <a:solidFill>
                    <a:srgbClr val="7FFF00"/>
                  </a:solidFill>
                  <a:effectLst>
                    <a:outerShdw blurRad="38100" dist="38100" dir="2700000" algn="tl">
                      <a:srgbClr val="C0C0C0"/>
                    </a:outerShdw>
                  </a:effectLst>
                </a:rPr>
                <a:t>Parallel  Resources</a:t>
              </a:r>
            </a:p>
          </p:txBody>
        </p:sp>
        <p:sp>
          <p:nvSpPr>
            <p:cNvPr id="1099837" name="Rectangle 61"/>
            <p:cNvSpPr>
              <a:spLocks noChangeArrowheads="1"/>
            </p:cNvSpPr>
            <p:nvPr/>
          </p:nvSpPr>
          <p:spPr bwMode="auto">
            <a:xfrm>
              <a:off x="3394" y="1887"/>
              <a:ext cx="1262" cy="2307"/>
            </a:xfrm>
            <a:prstGeom prst="rect">
              <a:avLst/>
            </a:prstGeom>
            <a:noFill/>
            <a:ln w="28575">
              <a:solidFill>
                <a:srgbClr val="7FFF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838" name="Rectangle 62"/>
            <p:cNvSpPr>
              <a:spLocks noChangeArrowheads="1"/>
            </p:cNvSpPr>
            <p:nvPr/>
          </p:nvSpPr>
          <p:spPr bwMode="auto">
            <a:xfrm>
              <a:off x="3462" y="2083"/>
              <a:ext cx="1096" cy="480"/>
            </a:xfrm>
            <a:prstGeom prst="rect">
              <a:avLst/>
            </a:prstGeom>
            <a:solidFill>
              <a:srgbClr val="000000">
                <a:alpha val="50000"/>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zh-CN" altLang="en-US" b="1">
                  <a:latin typeface="Arial" panose="020B0604020202020204" pitchFamily="34" charset="0"/>
                </a:rPr>
                <a:t>4 </a:t>
              </a:r>
              <a:r>
                <a:rPr lang="en-US" altLang="zh-CN" b="1">
                  <a:latin typeface="Arial" panose="020B0604020202020204" pitchFamily="34" charset="0"/>
                </a:rPr>
                <a:t>Integer + </a:t>
              </a:r>
            </a:p>
            <a:p>
              <a:r>
                <a:rPr lang="en-US" altLang="zh-CN" b="1">
                  <a:latin typeface="Arial" panose="020B0604020202020204" pitchFamily="34" charset="0"/>
                </a:rPr>
                <a:t>4 MMX  Units</a:t>
              </a:r>
              <a:endParaRPr lang="en-US" altLang="zh-CN" sz="1600" b="1">
                <a:solidFill>
                  <a:schemeClr val="tx2"/>
                </a:solidFill>
              </a:endParaRPr>
            </a:p>
          </p:txBody>
        </p:sp>
        <p:sp>
          <p:nvSpPr>
            <p:cNvPr id="1099839" name="Rectangle 63"/>
            <p:cNvSpPr>
              <a:spLocks noChangeArrowheads="1"/>
            </p:cNvSpPr>
            <p:nvPr/>
          </p:nvSpPr>
          <p:spPr bwMode="auto">
            <a:xfrm>
              <a:off x="3453" y="2607"/>
              <a:ext cx="1096" cy="458"/>
            </a:xfrm>
            <a:prstGeom prst="rect">
              <a:avLst/>
            </a:prstGeom>
            <a:solidFill>
              <a:srgbClr val="000000">
                <a:alpha val="50000"/>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zh-CN" altLang="en-US" b="1">
                  <a:latin typeface="Arial" panose="020B0604020202020204" pitchFamily="34" charset="0"/>
                </a:rPr>
                <a:t>2 </a:t>
              </a:r>
              <a:r>
                <a:rPr lang="en-US" altLang="zh-CN" b="1">
                  <a:latin typeface="Arial" panose="020B0604020202020204" pitchFamily="34" charset="0"/>
                </a:rPr>
                <a:t>FMACs  </a:t>
              </a:r>
            </a:p>
            <a:p>
              <a:r>
                <a:rPr lang="en-US" altLang="zh-CN" b="1">
                  <a:latin typeface="Arial" panose="020B0604020202020204" pitchFamily="34" charset="0"/>
                </a:rPr>
                <a:t>(4 for SSE)</a:t>
              </a:r>
              <a:endParaRPr lang="en-US" altLang="zh-CN" b="1">
                <a:solidFill>
                  <a:schemeClr val="tx2"/>
                </a:solidFill>
                <a:latin typeface="Arial" panose="020B0604020202020204" pitchFamily="34" charset="0"/>
              </a:endParaRPr>
            </a:p>
          </p:txBody>
        </p:sp>
        <p:sp>
          <p:nvSpPr>
            <p:cNvPr id="1099840" name="Rectangle 64"/>
            <p:cNvSpPr>
              <a:spLocks noChangeArrowheads="1"/>
            </p:cNvSpPr>
            <p:nvPr/>
          </p:nvSpPr>
          <p:spPr bwMode="auto">
            <a:xfrm>
              <a:off x="3461" y="3108"/>
              <a:ext cx="1086" cy="450"/>
            </a:xfrm>
            <a:prstGeom prst="rect">
              <a:avLst/>
            </a:prstGeom>
            <a:solidFill>
              <a:srgbClr val="000000">
                <a:alpha val="50000"/>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zh-CN" altLang="en-US" b="1">
                  <a:solidFill>
                    <a:schemeClr val="tx2"/>
                  </a:solidFill>
                  <a:latin typeface="Arial" panose="020B0604020202020204" pitchFamily="34" charset="0"/>
                </a:rPr>
                <a:t> </a:t>
              </a:r>
              <a:r>
                <a:rPr lang="zh-CN" altLang="en-US" b="1">
                  <a:latin typeface="Arial" panose="020B0604020202020204" pitchFamily="34" charset="0"/>
                </a:rPr>
                <a:t>2 </a:t>
              </a:r>
              <a:r>
                <a:rPr lang="en-US" altLang="zh-CN" b="1">
                  <a:latin typeface="Arial" panose="020B0604020202020204" pitchFamily="34" charset="0"/>
                </a:rPr>
                <a:t>L.D/ST units</a:t>
              </a:r>
              <a:endParaRPr lang="en-US" altLang="zh-CN" b="1">
                <a:solidFill>
                  <a:schemeClr val="tx2"/>
                </a:solidFill>
                <a:latin typeface="Arial" panose="020B0604020202020204" pitchFamily="34" charset="0"/>
              </a:endParaRPr>
            </a:p>
          </p:txBody>
        </p:sp>
        <p:sp>
          <p:nvSpPr>
            <p:cNvPr id="1099841" name="Rectangle 65"/>
            <p:cNvSpPr>
              <a:spLocks noChangeArrowheads="1"/>
            </p:cNvSpPr>
            <p:nvPr/>
          </p:nvSpPr>
          <p:spPr bwMode="auto">
            <a:xfrm>
              <a:off x="4405" y="2124"/>
              <a:ext cx="116"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842" name="Rectangle 66"/>
            <p:cNvSpPr>
              <a:spLocks noChangeArrowheads="1"/>
            </p:cNvSpPr>
            <p:nvPr/>
          </p:nvSpPr>
          <p:spPr bwMode="auto">
            <a:xfrm>
              <a:off x="3453" y="3598"/>
              <a:ext cx="1096" cy="188"/>
            </a:xfrm>
            <a:prstGeom prst="rect">
              <a:avLst/>
            </a:prstGeom>
            <a:solidFill>
              <a:srgbClr val="000000">
                <a:alpha val="50000"/>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zh-CN" altLang="en-US" b="1">
                  <a:latin typeface="Arial" panose="020B0604020202020204" pitchFamily="34" charset="0"/>
                </a:rPr>
                <a:t>32 </a:t>
              </a:r>
              <a:r>
                <a:rPr lang="en-US" altLang="zh-CN" b="1">
                  <a:latin typeface="Arial" panose="020B0604020202020204" pitchFamily="34" charset="0"/>
                </a:rPr>
                <a:t>entry ALAT</a:t>
              </a:r>
              <a:endParaRPr lang="en-US" altLang="zh-CN" b="1">
                <a:solidFill>
                  <a:schemeClr val="tx2"/>
                </a:solidFill>
                <a:latin typeface="Arial" panose="020B0604020202020204" pitchFamily="34" charset="0"/>
              </a:endParaRPr>
            </a:p>
          </p:txBody>
        </p:sp>
        <p:grpSp>
          <p:nvGrpSpPr>
            <p:cNvPr id="1099843" name="Group 67"/>
            <p:cNvGrpSpPr>
              <a:grpSpLocks/>
            </p:cNvGrpSpPr>
            <p:nvPr/>
          </p:nvGrpSpPr>
          <p:grpSpPr bwMode="auto">
            <a:xfrm>
              <a:off x="3248" y="2694"/>
              <a:ext cx="139" cy="658"/>
              <a:chOff x="1098" y="2436"/>
              <a:chExt cx="276" cy="704"/>
            </a:xfrm>
          </p:grpSpPr>
          <p:sp>
            <p:nvSpPr>
              <p:cNvPr id="1099844" name="Line 68"/>
              <p:cNvSpPr>
                <a:spLocks noChangeShapeType="1"/>
              </p:cNvSpPr>
              <p:nvPr/>
            </p:nvSpPr>
            <p:spPr bwMode="auto">
              <a:xfrm>
                <a:off x="1099" y="2436"/>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845" name="Line 69"/>
              <p:cNvSpPr>
                <a:spLocks noChangeShapeType="1"/>
              </p:cNvSpPr>
              <p:nvPr/>
            </p:nvSpPr>
            <p:spPr bwMode="auto">
              <a:xfrm>
                <a:off x="1098" y="2590"/>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846" name="Line 70"/>
              <p:cNvSpPr>
                <a:spLocks noChangeShapeType="1"/>
              </p:cNvSpPr>
              <p:nvPr/>
            </p:nvSpPr>
            <p:spPr bwMode="auto">
              <a:xfrm>
                <a:off x="1099" y="2726"/>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847" name="Line 71"/>
              <p:cNvSpPr>
                <a:spLocks noChangeShapeType="1"/>
              </p:cNvSpPr>
              <p:nvPr/>
            </p:nvSpPr>
            <p:spPr bwMode="auto">
              <a:xfrm>
                <a:off x="1099" y="2860"/>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848" name="Line 72"/>
              <p:cNvSpPr>
                <a:spLocks noChangeShapeType="1"/>
              </p:cNvSpPr>
              <p:nvPr/>
            </p:nvSpPr>
            <p:spPr bwMode="auto">
              <a:xfrm>
                <a:off x="1099" y="3013"/>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849" name="Line 73"/>
              <p:cNvSpPr>
                <a:spLocks noChangeShapeType="1"/>
              </p:cNvSpPr>
              <p:nvPr/>
            </p:nvSpPr>
            <p:spPr bwMode="auto">
              <a:xfrm>
                <a:off x="1098" y="3140"/>
                <a:ext cx="275"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99850" name="Rectangle 74"/>
            <p:cNvSpPr>
              <a:spLocks noChangeArrowheads="1"/>
            </p:cNvSpPr>
            <p:nvPr/>
          </p:nvSpPr>
          <p:spPr bwMode="auto">
            <a:xfrm>
              <a:off x="2111" y="3968"/>
              <a:ext cx="2427" cy="180"/>
            </a:xfrm>
            <a:prstGeom prst="rect">
              <a:avLst/>
            </a:prstGeom>
            <a:solidFill>
              <a:srgbClr val="000000">
                <a:alpha val="50000"/>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b="1">
                  <a:latin typeface="Arial" panose="020B0604020202020204" pitchFamily="34" charset="0"/>
                </a:rPr>
                <a:t>Speculation Deferral Management</a:t>
              </a:r>
              <a:endParaRPr lang="en-US" altLang="zh-CN" b="1">
                <a:solidFill>
                  <a:schemeClr val="tx2"/>
                </a:solidFill>
                <a:latin typeface="Arial" panose="020B0604020202020204" pitchFamily="34" charset="0"/>
              </a:endParaRPr>
            </a:p>
          </p:txBody>
        </p:sp>
      </p:grpSp>
    </p:spTree>
    <p:extLst>
      <p:ext uri="{BB962C8B-B14F-4D97-AF65-F5344CB8AC3E}">
        <p14:creationId xmlns:p14="http://schemas.microsoft.com/office/powerpoint/2010/main" val="57502076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09980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0997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1826" name="Rectangle 2"/>
          <p:cNvSpPr>
            <a:spLocks noGrp="1" noChangeArrowheads="1"/>
          </p:cNvSpPr>
          <p:nvPr>
            <p:ph type="title"/>
          </p:nvPr>
        </p:nvSpPr>
        <p:spPr/>
        <p:txBody>
          <a:bodyPr/>
          <a:lstStyle/>
          <a:p>
            <a:r>
              <a:rPr lang="zh-CN" altLang="en-US" dirty="0" smtClean="0"/>
              <a:t>10 </a:t>
            </a:r>
            <a:r>
              <a:rPr lang="en-US" altLang="zh-CN" dirty="0" smtClean="0"/>
              <a:t>Stage In-Order Core Pipeline</a:t>
            </a:r>
            <a:br>
              <a:rPr lang="en-US" altLang="zh-CN" dirty="0" smtClean="0"/>
            </a:br>
            <a:r>
              <a:rPr lang="en-US" altLang="zh-CN" sz="3200" dirty="0" smtClean="0"/>
              <a:t>(Copyright: Intel at </a:t>
            </a:r>
            <a:r>
              <a:rPr lang="en-US" altLang="zh-CN" sz="3200" dirty="0" err="1" smtClean="0"/>
              <a:t>Hotchips</a:t>
            </a:r>
            <a:r>
              <a:rPr lang="en-US" altLang="zh-CN" sz="3200" dirty="0" smtClean="0"/>
              <a:t> ’00)</a:t>
            </a:r>
            <a:endParaRPr lang="en-US" altLang="zh-CN" sz="3200" dirty="0"/>
          </a:p>
        </p:txBody>
      </p:sp>
      <p:sp>
        <p:nvSpPr>
          <p:cNvPr id="1101827" name="Freeform 3"/>
          <p:cNvSpPr>
            <a:spLocks/>
          </p:cNvSpPr>
          <p:nvPr/>
        </p:nvSpPr>
        <p:spPr bwMode="gray">
          <a:xfrm>
            <a:off x="3780134" y="1494572"/>
            <a:ext cx="3165475" cy="2500313"/>
          </a:xfrm>
          <a:custGeom>
            <a:avLst/>
            <a:gdLst>
              <a:gd name="T0" fmla="*/ 0 w 2262"/>
              <a:gd name="T1" fmla="*/ 1569 h 1569"/>
              <a:gd name="T2" fmla="*/ 317 w 2262"/>
              <a:gd name="T3" fmla="*/ 0 h 1569"/>
              <a:gd name="T4" fmla="*/ 2262 w 2262"/>
              <a:gd name="T5" fmla="*/ 0 h 1569"/>
              <a:gd name="T6" fmla="*/ 2262 w 2262"/>
              <a:gd name="T7" fmla="*/ 1209 h 1569"/>
              <a:gd name="T8" fmla="*/ 1671 w 2262"/>
              <a:gd name="T9" fmla="*/ 1569 h 1569"/>
              <a:gd name="T10" fmla="*/ 0 w 2262"/>
              <a:gd name="T11" fmla="*/ 1569 h 1569"/>
            </a:gdLst>
            <a:ahLst/>
            <a:cxnLst>
              <a:cxn ang="0">
                <a:pos x="T0" y="T1"/>
              </a:cxn>
              <a:cxn ang="0">
                <a:pos x="T2" y="T3"/>
              </a:cxn>
              <a:cxn ang="0">
                <a:pos x="T4" y="T5"/>
              </a:cxn>
              <a:cxn ang="0">
                <a:pos x="T6" y="T7"/>
              </a:cxn>
              <a:cxn ang="0">
                <a:pos x="T8" y="T9"/>
              </a:cxn>
              <a:cxn ang="0">
                <a:pos x="T10" y="T11"/>
              </a:cxn>
            </a:cxnLst>
            <a:rect l="0" t="0" r="r" b="b"/>
            <a:pathLst>
              <a:path w="2262" h="1569">
                <a:moveTo>
                  <a:pt x="0" y="1569"/>
                </a:moveTo>
                <a:lnTo>
                  <a:pt x="317" y="0"/>
                </a:lnTo>
                <a:lnTo>
                  <a:pt x="2262" y="0"/>
                </a:lnTo>
                <a:lnTo>
                  <a:pt x="2262" y="1209"/>
                </a:lnTo>
                <a:lnTo>
                  <a:pt x="1671" y="1569"/>
                </a:lnTo>
                <a:lnTo>
                  <a:pt x="0" y="1569"/>
                </a:lnTo>
                <a:close/>
              </a:path>
            </a:pathLst>
          </a:custGeom>
          <a:solidFill>
            <a:schemeClr val="accent1"/>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828" name="Rectangle 4"/>
          <p:cNvSpPr>
            <a:spLocks noChangeArrowheads="1"/>
          </p:cNvSpPr>
          <p:nvPr/>
        </p:nvSpPr>
        <p:spPr bwMode="gray">
          <a:xfrm>
            <a:off x="4254797" y="1540609"/>
            <a:ext cx="2701925" cy="19050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829" name="Rectangle 5"/>
          <p:cNvSpPr>
            <a:spLocks noChangeArrowheads="1"/>
          </p:cNvSpPr>
          <p:nvPr/>
        </p:nvSpPr>
        <p:spPr bwMode="gray">
          <a:xfrm>
            <a:off x="4194471" y="1592997"/>
            <a:ext cx="3098800" cy="18594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marL="109538" indent="-109538" algn="l">
              <a:defRPr sz="2400">
                <a:solidFill>
                  <a:schemeClr val="tx1"/>
                </a:solidFill>
                <a:latin typeface="Times New Roman" panose="02020603050405020304" pitchFamily="18" charset="0"/>
                <a:ea typeface="宋体" panose="02010600030101010101" pitchFamily="2" charset="-122"/>
              </a:defRPr>
            </a:lvl1pPr>
            <a:lvl2pPr algn="l">
              <a:defRPr sz="2400">
                <a:solidFill>
                  <a:schemeClr val="tx1"/>
                </a:solidFill>
                <a:latin typeface="Times New Roman" panose="02020603050405020304" pitchFamily="18" charset="0"/>
                <a:ea typeface="宋体" panose="02010600030101010101" pitchFamily="2" charset="-122"/>
              </a:defRPr>
            </a:lvl2pPr>
            <a:lvl3pPr algn="l">
              <a:defRPr sz="2400">
                <a:solidFill>
                  <a:schemeClr val="tx1"/>
                </a:solidFill>
                <a:latin typeface="Times New Roman" panose="02020603050405020304" pitchFamily="18" charset="0"/>
                <a:ea typeface="宋体" panose="02010600030101010101" pitchFamily="2" charset="-122"/>
              </a:defRPr>
            </a:lvl3pPr>
            <a:lvl4pPr algn="l">
              <a:defRPr sz="2400">
                <a:solidFill>
                  <a:schemeClr val="tx1"/>
                </a:solidFill>
                <a:latin typeface="Times New Roman" panose="02020603050405020304" pitchFamily="18" charset="0"/>
                <a:ea typeface="宋体" panose="02010600030101010101" pitchFamily="2" charset="-122"/>
              </a:defRPr>
            </a:lvl4pPr>
            <a:lvl5pPr algn="l">
              <a:defRPr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sz="2000" b="1">
                <a:solidFill>
                  <a:schemeClr val="tx2"/>
                </a:solidFill>
                <a:effectLst>
                  <a:outerShdw blurRad="38100" dist="38100" dir="2700000" algn="tl">
                    <a:srgbClr val="C0C0C0"/>
                  </a:outerShdw>
                </a:effectLst>
                <a:latin typeface="Arial" panose="020B0604020202020204" pitchFamily="34" charset="0"/>
              </a:rPr>
              <a:t>Front End</a:t>
            </a:r>
            <a:endParaRPr lang="en-US" altLang="zh-CN" b="1">
              <a:solidFill>
                <a:srgbClr val="037C03"/>
              </a:solidFill>
              <a:effectLst>
                <a:outerShdw blurRad="38100" dist="38100" dir="2700000" algn="tl">
                  <a:srgbClr val="C0C0C0"/>
                </a:outerShdw>
              </a:effectLst>
              <a:latin typeface="Arial" panose="020B0604020202020204" pitchFamily="34" charset="0"/>
            </a:endParaRPr>
          </a:p>
          <a:p>
            <a:pPr>
              <a:buFontTx/>
              <a:buChar char="•"/>
            </a:pPr>
            <a:r>
              <a:rPr lang="en-US" altLang="zh-CN" sz="1900" b="1">
                <a:solidFill>
                  <a:schemeClr val="hlink"/>
                </a:solidFill>
                <a:effectLst>
                  <a:outerShdw blurRad="38100" dist="38100" dir="2700000" algn="tl">
                    <a:srgbClr val="C0C0C0"/>
                  </a:outerShdw>
                </a:effectLst>
                <a:latin typeface="Arial" panose="020B0604020202020204" pitchFamily="34" charset="0"/>
              </a:rPr>
              <a:t>Pre-fetch/Fetch of up   to 6 instructions/cycle</a:t>
            </a:r>
          </a:p>
          <a:p>
            <a:pPr>
              <a:buFontTx/>
              <a:buChar char="•"/>
            </a:pPr>
            <a:r>
              <a:rPr lang="en-US" altLang="zh-CN" sz="1900" b="1">
                <a:solidFill>
                  <a:schemeClr val="hlink"/>
                </a:solidFill>
                <a:effectLst>
                  <a:outerShdw blurRad="38100" dist="38100" dir="2700000" algn="tl">
                    <a:srgbClr val="C0C0C0"/>
                  </a:outerShdw>
                </a:effectLst>
                <a:latin typeface="Arial" panose="020B0604020202020204" pitchFamily="34" charset="0"/>
              </a:rPr>
              <a:t>Hierarchy of branch predictors</a:t>
            </a:r>
          </a:p>
          <a:p>
            <a:pPr>
              <a:buFontTx/>
              <a:buChar char="•"/>
            </a:pPr>
            <a:r>
              <a:rPr lang="en-US" altLang="zh-CN" sz="1900" b="1">
                <a:solidFill>
                  <a:schemeClr val="hlink"/>
                </a:solidFill>
                <a:effectLst>
                  <a:outerShdw blurRad="38100" dist="38100" dir="2700000" algn="tl">
                    <a:srgbClr val="C0C0C0"/>
                  </a:outerShdw>
                </a:effectLst>
                <a:latin typeface="Arial" panose="020B0604020202020204" pitchFamily="34" charset="0"/>
              </a:rPr>
              <a:t>Decoupling buffer</a:t>
            </a:r>
          </a:p>
        </p:txBody>
      </p:sp>
      <p:sp>
        <p:nvSpPr>
          <p:cNvPr id="1101830" name="Freeform 6"/>
          <p:cNvSpPr>
            <a:spLocks/>
          </p:cNvSpPr>
          <p:nvPr/>
        </p:nvSpPr>
        <p:spPr bwMode="gray">
          <a:xfrm>
            <a:off x="3624558" y="4818797"/>
            <a:ext cx="3746500" cy="2047875"/>
          </a:xfrm>
          <a:custGeom>
            <a:avLst/>
            <a:gdLst>
              <a:gd name="T0" fmla="*/ 0 w 2360"/>
              <a:gd name="T1" fmla="*/ 320 h 1290"/>
              <a:gd name="T2" fmla="*/ 1400 w 2360"/>
              <a:gd name="T3" fmla="*/ 0 h 1290"/>
              <a:gd name="T4" fmla="*/ 2360 w 2360"/>
              <a:gd name="T5" fmla="*/ 0 h 1290"/>
              <a:gd name="T6" fmla="*/ 1990 w 2360"/>
              <a:gd name="T7" fmla="*/ 1280 h 1290"/>
              <a:gd name="T8" fmla="*/ 20 w 2360"/>
              <a:gd name="T9" fmla="*/ 1290 h 1290"/>
              <a:gd name="T10" fmla="*/ 0 w 2360"/>
              <a:gd name="T11" fmla="*/ 320 h 1290"/>
            </a:gdLst>
            <a:ahLst/>
            <a:cxnLst>
              <a:cxn ang="0">
                <a:pos x="T0" y="T1"/>
              </a:cxn>
              <a:cxn ang="0">
                <a:pos x="T2" y="T3"/>
              </a:cxn>
              <a:cxn ang="0">
                <a:pos x="T4" y="T5"/>
              </a:cxn>
              <a:cxn ang="0">
                <a:pos x="T6" y="T7"/>
              </a:cxn>
              <a:cxn ang="0">
                <a:pos x="T8" y="T9"/>
              </a:cxn>
              <a:cxn ang="0">
                <a:pos x="T10" y="T11"/>
              </a:cxn>
            </a:cxnLst>
            <a:rect l="0" t="0" r="r" b="b"/>
            <a:pathLst>
              <a:path w="2360" h="1290">
                <a:moveTo>
                  <a:pt x="0" y="320"/>
                </a:moveTo>
                <a:lnTo>
                  <a:pt x="1400" y="0"/>
                </a:lnTo>
                <a:lnTo>
                  <a:pt x="2360" y="0"/>
                </a:lnTo>
                <a:lnTo>
                  <a:pt x="1990" y="1280"/>
                </a:lnTo>
                <a:cubicBezTo>
                  <a:pt x="1333" y="1283"/>
                  <a:pt x="677" y="1287"/>
                  <a:pt x="20" y="1290"/>
                </a:cubicBezTo>
                <a:lnTo>
                  <a:pt x="0" y="320"/>
                </a:lnTo>
                <a:close/>
              </a:path>
            </a:pathLst>
          </a:custGeom>
          <a:solidFill>
            <a:schemeClr val="accent1"/>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831" name="Rectangle 7"/>
          <p:cNvSpPr>
            <a:spLocks noChangeArrowheads="1"/>
          </p:cNvSpPr>
          <p:nvPr/>
        </p:nvSpPr>
        <p:spPr bwMode="gray">
          <a:xfrm>
            <a:off x="3643609" y="5322034"/>
            <a:ext cx="3141663" cy="154781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832" name="Rectangle 8"/>
          <p:cNvSpPr>
            <a:spLocks noChangeArrowheads="1"/>
          </p:cNvSpPr>
          <p:nvPr/>
        </p:nvSpPr>
        <p:spPr bwMode="gray">
          <a:xfrm>
            <a:off x="3634083" y="5331559"/>
            <a:ext cx="2927350" cy="156709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marL="109538" indent="-109538" algn="l">
              <a:defRPr sz="2400">
                <a:solidFill>
                  <a:schemeClr val="tx1"/>
                </a:solidFill>
                <a:latin typeface="Times New Roman" panose="02020603050405020304" pitchFamily="18" charset="0"/>
                <a:ea typeface="宋体" panose="02010600030101010101" pitchFamily="2" charset="-122"/>
              </a:defRPr>
            </a:lvl1pPr>
            <a:lvl2pPr algn="l">
              <a:defRPr sz="2400">
                <a:solidFill>
                  <a:schemeClr val="tx1"/>
                </a:solidFill>
                <a:latin typeface="Times New Roman" panose="02020603050405020304" pitchFamily="18" charset="0"/>
                <a:ea typeface="宋体" panose="02010600030101010101" pitchFamily="2" charset="-122"/>
              </a:defRPr>
            </a:lvl2pPr>
            <a:lvl3pPr algn="l">
              <a:defRPr sz="2400">
                <a:solidFill>
                  <a:schemeClr val="tx1"/>
                </a:solidFill>
                <a:latin typeface="Times New Roman" panose="02020603050405020304" pitchFamily="18" charset="0"/>
                <a:ea typeface="宋体" panose="02010600030101010101" pitchFamily="2" charset="-122"/>
              </a:defRPr>
            </a:lvl3pPr>
            <a:lvl4pPr algn="l">
              <a:defRPr sz="2400">
                <a:solidFill>
                  <a:schemeClr val="tx1"/>
                </a:solidFill>
                <a:latin typeface="Times New Roman" panose="02020603050405020304" pitchFamily="18" charset="0"/>
                <a:ea typeface="宋体" panose="02010600030101010101" pitchFamily="2" charset="-122"/>
              </a:defRPr>
            </a:lvl4pPr>
            <a:lvl5pPr algn="l">
              <a:defRPr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sz="2000" b="1">
                <a:solidFill>
                  <a:schemeClr val="tx2"/>
                </a:solidFill>
                <a:effectLst>
                  <a:outerShdw blurRad="38100" dist="38100" dir="2700000" algn="tl">
                    <a:srgbClr val="C0C0C0"/>
                  </a:outerShdw>
                </a:effectLst>
                <a:latin typeface="Arial" panose="020B0604020202020204" pitchFamily="34" charset="0"/>
              </a:rPr>
              <a:t>Instruction Delivery</a:t>
            </a:r>
            <a:endParaRPr lang="en-US" altLang="zh-CN" b="1">
              <a:solidFill>
                <a:srgbClr val="037C03"/>
              </a:solidFill>
              <a:effectLst>
                <a:outerShdw blurRad="38100" dist="38100" dir="2700000" algn="tl">
                  <a:srgbClr val="C0C0C0"/>
                </a:outerShdw>
              </a:effectLst>
              <a:latin typeface="Arial" panose="020B0604020202020204" pitchFamily="34" charset="0"/>
            </a:endParaRPr>
          </a:p>
          <a:p>
            <a:pPr>
              <a:buFontTx/>
              <a:buChar char="•"/>
            </a:pPr>
            <a:r>
              <a:rPr lang="en-US" altLang="zh-CN" sz="1900" b="1">
                <a:solidFill>
                  <a:schemeClr val="hlink"/>
                </a:solidFill>
                <a:effectLst>
                  <a:outerShdw blurRad="38100" dist="38100" dir="2700000" algn="tl">
                    <a:srgbClr val="C0C0C0"/>
                  </a:outerShdw>
                </a:effectLst>
                <a:latin typeface="Arial" panose="020B0604020202020204" pitchFamily="34" charset="0"/>
              </a:rPr>
              <a:t>Dispersal of up to 6 instructions on 9 ports</a:t>
            </a:r>
          </a:p>
          <a:p>
            <a:pPr>
              <a:buFontTx/>
              <a:buChar char="•"/>
            </a:pPr>
            <a:r>
              <a:rPr lang="en-US" altLang="zh-CN" sz="1900" b="1">
                <a:solidFill>
                  <a:schemeClr val="hlink"/>
                </a:solidFill>
                <a:effectLst>
                  <a:outerShdw blurRad="38100" dist="38100" dir="2700000" algn="tl">
                    <a:srgbClr val="C0C0C0"/>
                  </a:outerShdw>
                </a:effectLst>
                <a:latin typeface="Arial" panose="020B0604020202020204" pitchFamily="34" charset="0"/>
              </a:rPr>
              <a:t>Reg. remapping</a:t>
            </a:r>
          </a:p>
          <a:p>
            <a:pPr>
              <a:buFontTx/>
              <a:buChar char="•"/>
            </a:pPr>
            <a:r>
              <a:rPr lang="en-US" altLang="zh-CN" sz="1900" b="1">
                <a:solidFill>
                  <a:schemeClr val="hlink"/>
                </a:solidFill>
                <a:effectLst>
                  <a:outerShdw blurRad="38100" dist="38100" dir="2700000" algn="tl">
                    <a:srgbClr val="C0C0C0"/>
                  </a:outerShdw>
                </a:effectLst>
                <a:latin typeface="Arial" panose="020B0604020202020204" pitchFamily="34" charset="0"/>
              </a:rPr>
              <a:t>Reg. stack engine</a:t>
            </a:r>
          </a:p>
        </p:txBody>
      </p:sp>
      <p:sp>
        <p:nvSpPr>
          <p:cNvPr id="1101833" name="Freeform 9"/>
          <p:cNvSpPr>
            <a:spLocks/>
          </p:cNvSpPr>
          <p:nvPr/>
        </p:nvSpPr>
        <p:spPr bwMode="gray">
          <a:xfrm>
            <a:off x="7815559" y="4818796"/>
            <a:ext cx="3444875" cy="2127250"/>
          </a:xfrm>
          <a:custGeom>
            <a:avLst/>
            <a:gdLst>
              <a:gd name="T0" fmla="*/ 0 w 2170"/>
              <a:gd name="T1" fmla="*/ 0 h 1340"/>
              <a:gd name="T2" fmla="*/ 340 w 2170"/>
              <a:gd name="T3" fmla="*/ 1340 h 1340"/>
              <a:gd name="T4" fmla="*/ 2170 w 2170"/>
              <a:gd name="T5" fmla="*/ 1340 h 1340"/>
              <a:gd name="T6" fmla="*/ 2170 w 2170"/>
              <a:gd name="T7" fmla="*/ 300 h 1340"/>
              <a:gd name="T8" fmla="*/ 910 w 2170"/>
              <a:gd name="T9" fmla="*/ 0 h 1340"/>
              <a:gd name="T10" fmla="*/ 0 w 2170"/>
              <a:gd name="T11" fmla="*/ 0 h 1340"/>
            </a:gdLst>
            <a:ahLst/>
            <a:cxnLst>
              <a:cxn ang="0">
                <a:pos x="T0" y="T1"/>
              </a:cxn>
              <a:cxn ang="0">
                <a:pos x="T2" y="T3"/>
              </a:cxn>
              <a:cxn ang="0">
                <a:pos x="T4" y="T5"/>
              </a:cxn>
              <a:cxn ang="0">
                <a:pos x="T6" y="T7"/>
              </a:cxn>
              <a:cxn ang="0">
                <a:pos x="T8" y="T9"/>
              </a:cxn>
              <a:cxn ang="0">
                <a:pos x="T10" y="T11"/>
              </a:cxn>
            </a:cxnLst>
            <a:rect l="0" t="0" r="r" b="b"/>
            <a:pathLst>
              <a:path w="2170" h="1340">
                <a:moveTo>
                  <a:pt x="0" y="0"/>
                </a:moveTo>
                <a:lnTo>
                  <a:pt x="340" y="1340"/>
                </a:lnTo>
                <a:lnTo>
                  <a:pt x="2170" y="1340"/>
                </a:lnTo>
                <a:lnTo>
                  <a:pt x="2170" y="300"/>
                </a:lnTo>
                <a:lnTo>
                  <a:pt x="910" y="0"/>
                </a:lnTo>
                <a:lnTo>
                  <a:pt x="0" y="0"/>
                </a:lnTo>
                <a:close/>
              </a:path>
            </a:pathLst>
          </a:custGeom>
          <a:solidFill>
            <a:schemeClr val="accent1"/>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834" name="Rectangle 10"/>
          <p:cNvSpPr>
            <a:spLocks noChangeArrowheads="1"/>
          </p:cNvSpPr>
          <p:nvPr/>
        </p:nvSpPr>
        <p:spPr bwMode="gray">
          <a:xfrm>
            <a:off x="8344197" y="5326796"/>
            <a:ext cx="2917825" cy="161925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835" name="Rectangle 11"/>
          <p:cNvSpPr>
            <a:spLocks noChangeArrowheads="1"/>
          </p:cNvSpPr>
          <p:nvPr/>
        </p:nvSpPr>
        <p:spPr bwMode="gray">
          <a:xfrm>
            <a:off x="8353721" y="5390296"/>
            <a:ext cx="2908300" cy="156709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marL="176213" indent="-176213" algn="l">
              <a:defRPr sz="2400">
                <a:solidFill>
                  <a:schemeClr val="tx1"/>
                </a:solidFill>
                <a:latin typeface="Times New Roman" panose="02020603050405020304" pitchFamily="18" charset="0"/>
                <a:ea typeface="宋体" panose="02010600030101010101" pitchFamily="2" charset="-122"/>
              </a:defRPr>
            </a:lvl1pPr>
            <a:lvl2pPr algn="l">
              <a:defRPr sz="2400">
                <a:solidFill>
                  <a:schemeClr val="tx1"/>
                </a:solidFill>
                <a:latin typeface="Times New Roman" panose="02020603050405020304" pitchFamily="18" charset="0"/>
                <a:ea typeface="宋体" panose="02010600030101010101" pitchFamily="2" charset="-122"/>
              </a:defRPr>
            </a:lvl2pPr>
            <a:lvl3pPr algn="l">
              <a:defRPr sz="2400">
                <a:solidFill>
                  <a:schemeClr val="tx1"/>
                </a:solidFill>
                <a:latin typeface="Times New Roman" panose="02020603050405020304" pitchFamily="18" charset="0"/>
                <a:ea typeface="宋体" panose="02010600030101010101" pitchFamily="2" charset="-122"/>
              </a:defRPr>
            </a:lvl3pPr>
            <a:lvl4pPr algn="l">
              <a:defRPr sz="2400">
                <a:solidFill>
                  <a:schemeClr val="tx1"/>
                </a:solidFill>
                <a:latin typeface="Times New Roman" panose="02020603050405020304" pitchFamily="18" charset="0"/>
                <a:ea typeface="宋体" panose="02010600030101010101" pitchFamily="2" charset="-122"/>
              </a:defRPr>
            </a:lvl4pPr>
            <a:lvl5pPr algn="l">
              <a:defRPr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sz="2000" b="1">
                <a:solidFill>
                  <a:schemeClr val="tx2"/>
                </a:solidFill>
                <a:effectLst>
                  <a:outerShdw blurRad="38100" dist="38100" dir="2700000" algn="tl">
                    <a:srgbClr val="C0C0C0"/>
                  </a:outerShdw>
                </a:effectLst>
                <a:latin typeface="Arial" panose="020B0604020202020204" pitchFamily="34" charset="0"/>
              </a:rPr>
              <a:t>Operand Delivery</a:t>
            </a:r>
            <a:endParaRPr lang="en-US" altLang="zh-CN" sz="1900" b="1">
              <a:solidFill>
                <a:schemeClr val="accent2"/>
              </a:solidFill>
              <a:effectLst>
                <a:outerShdw blurRad="38100" dist="38100" dir="2700000" algn="tl">
                  <a:srgbClr val="C0C0C0"/>
                </a:outerShdw>
              </a:effectLst>
              <a:latin typeface="Arial" panose="020B0604020202020204" pitchFamily="34" charset="0"/>
            </a:endParaRPr>
          </a:p>
          <a:p>
            <a:pPr>
              <a:buFontTx/>
              <a:buChar char="•"/>
            </a:pPr>
            <a:r>
              <a:rPr lang="en-US" altLang="zh-CN" sz="1900" b="1">
                <a:solidFill>
                  <a:schemeClr val="hlink"/>
                </a:solidFill>
                <a:effectLst>
                  <a:outerShdw blurRad="38100" dist="38100" dir="2700000" algn="tl">
                    <a:srgbClr val="C0C0C0"/>
                  </a:outerShdw>
                </a:effectLst>
                <a:latin typeface="Arial" panose="020B0604020202020204" pitchFamily="34" charset="0"/>
              </a:rPr>
              <a:t>Reg read + Bypasses </a:t>
            </a:r>
          </a:p>
          <a:p>
            <a:pPr>
              <a:buFontTx/>
              <a:buChar char="•"/>
            </a:pPr>
            <a:r>
              <a:rPr lang="en-US" altLang="zh-CN" sz="1900" b="1">
                <a:solidFill>
                  <a:schemeClr val="hlink"/>
                </a:solidFill>
                <a:effectLst>
                  <a:outerShdw blurRad="38100" dist="38100" dir="2700000" algn="tl">
                    <a:srgbClr val="C0C0C0"/>
                  </a:outerShdw>
                </a:effectLst>
                <a:latin typeface="Arial" panose="020B0604020202020204" pitchFamily="34" charset="0"/>
              </a:rPr>
              <a:t>Register scoreboard</a:t>
            </a:r>
          </a:p>
          <a:p>
            <a:pPr>
              <a:buFontTx/>
              <a:buChar char="•"/>
            </a:pPr>
            <a:r>
              <a:rPr lang="en-US" altLang="zh-CN" sz="1900" b="1">
                <a:solidFill>
                  <a:schemeClr val="hlink"/>
                </a:solidFill>
                <a:effectLst>
                  <a:outerShdw blurRad="38100" dist="38100" dir="2700000" algn="tl">
                    <a:srgbClr val="C0C0C0"/>
                  </a:outerShdw>
                </a:effectLst>
                <a:latin typeface="Arial" panose="020B0604020202020204" pitchFamily="34" charset="0"/>
              </a:rPr>
              <a:t> Predicated dependencies  </a:t>
            </a:r>
          </a:p>
        </p:txBody>
      </p:sp>
      <p:sp>
        <p:nvSpPr>
          <p:cNvPr id="1101836" name="Freeform 12"/>
          <p:cNvSpPr>
            <a:spLocks/>
          </p:cNvSpPr>
          <p:nvPr/>
        </p:nvSpPr>
        <p:spPr bwMode="gray">
          <a:xfrm>
            <a:off x="8333084" y="1513622"/>
            <a:ext cx="3719513" cy="2466975"/>
          </a:xfrm>
          <a:custGeom>
            <a:avLst/>
            <a:gdLst>
              <a:gd name="T0" fmla="*/ 9 w 2246"/>
              <a:gd name="T1" fmla="*/ 0 h 1594"/>
              <a:gd name="T2" fmla="*/ 2151 w 2246"/>
              <a:gd name="T3" fmla="*/ 8 h 1594"/>
              <a:gd name="T4" fmla="*/ 2246 w 2246"/>
              <a:gd name="T5" fmla="*/ 1594 h 1594"/>
              <a:gd name="T6" fmla="*/ 737 w 2246"/>
              <a:gd name="T7" fmla="*/ 1594 h 1594"/>
              <a:gd name="T8" fmla="*/ 0 w 2246"/>
              <a:gd name="T9" fmla="*/ 1268 h 1594"/>
              <a:gd name="T10" fmla="*/ 9 w 2246"/>
              <a:gd name="T11" fmla="*/ 0 h 1594"/>
            </a:gdLst>
            <a:ahLst/>
            <a:cxnLst>
              <a:cxn ang="0">
                <a:pos x="T0" y="T1"/>
              </a:cxn>
              <a:cxn ang="0">
                <a:pos x="T2" y="T3"/>
              </a:cxn>
              <a:cxn ang="0">
                <a:pos x="T4" y="T5"/>
              </a:cxn>
              <a:cxn ang="0">
                <a:pos x="T6" y="T7"/>
              </a:cxn>
              <a:cxn ang="0">
                <a:pos x="T8" y="T9"/>
              </a:cxn>
              <a:cxn ang="0">
                <a:pos x="T10" y="T11"/>
              </a:cxn>
            </a:cxnLst>
            <a:rect l="0" t="0" r="r" b="b"/>
            <a:pathLst>
              <a:path w="2246" h="1594">
                <a:moveTo>
                  <a:pt x="9" y="0"/>
                </a:moveTo>
                <a:lnTo>
                  <a:pt x="2151" y="8"/>
                </a:lnTo>
                <a:lnTo>
                  <a:pt x="2246" y="1594"/>
                </a:lnTo>
                <a:lnTo>
                  <a:pt x="737" y="1594"/>
                </a:lnTo>
                <a:lnTo>
                  <a:pt x="0" y="1268"/>
                </a:lnTo>
                <a:lnTo>
                  <a:pt x="9" y="0"/>
                </a:lnTo>
                <a:close/>
              </a:path>
            </a:pathLst>
          </a:custGeom>
          <a:solidFill>
            <a:schemeClr val="accent1"/>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837" name="Rectangle 13"/>
          <p:cNvSpPr>
            <a:spLocks noChangeArrowheads="1"/>
          </p:cNvSpPr>
          <p:nvPr/>
        </p:nvSpPr>
        <p:spPr bwMode="gray">
          <a:xfrm>
            <a:off x="8331497" y="1519971"/>
            <a:ext cx="3571875" cy="196373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838" name="Rectangle 14"/>
          <p:cNvSpPr>
            <a:spLocks noChangeArrowheads="1"/>
          </p:cNvSpPr>
          <p:nvPr/>
        </p:nvSpPr>
        <p:spPr bwMode="gray">
          <a:xfrm>
            <a:off x="8369597" y="1591409"/>
            <a:ext cx="3775075" cy="156709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marL="176213" indent="-176213" algn="l">
              <a:defRPr sz="2400">
                <a:solidFill>
                  <a:schemeClr val="tx1"/>
                </a:solidFill>
                <a:latin typeface="Times New Roman" panose="02020603050405020304" pitchFamily="18" charset="0"/>
                <a:ea typeface="宋体" panose="02010600030101010101" pitchFamily="2" charset="-122"/>
              </a:defRPr>
            </a:lvl1pPr>
            <a:lvl2pPr algn="l">
              <a:defRPr sz="2400">
                <a:solidFill>
                  <a:schemeClr val="tx1"/>
                </a:solidFill>
                <a:latin typeface="Times New Roman" panose="02020603050405020304" pitchFamily="18" charset="0"/>
                <a:ea typeface="宋体" panose="02010600030101010101" pitchFamily="2" charset="-122"/>
              </a:defRPr>
            </a:lvl2pPr>
            <a:lvl3pPr algn="l">
              <a:defRPr sz="2400">
                <a:solidFill>
                  <a:schemeClr val="tx1"/>
                </a:solidFill>
                <a:latin typeface="Times New Roman" panose="02020603050405020304" pitchFamily="18" charset="0"/>
                <a:ea typeface="宋体" panose="02010600030101010101" pitchFamily="2" charset="-122"/>
              </a:defRPr>
            </a:lvl3pPr>
            <a:lvl4pPr algn="l">
              <a:defRPr sz="2400">
                <a:solidFill>
                  <a:schemeClr val="tx1"/>
                </a:solidFill>
                <a:latin typeface="Times New Roman" panose="02020603050405020304" pitchFamily="18" charset="0"/>
                <a:ea typeface="宋体" panose="02010600030101010101" pitchFamily="2" charset="-122"/>
              </a:defRPr>
            </a:lvl4pPr>
            <a:lvl5pPr algn="l">
              <a:defRPr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sz="2000" b="1">
                <a:solidFill>
                  <a:schemeClr val="tx2"/>
                </a:solidFill>
                <a:effectLst>
                  <a:outerShdw blurRad="38100" dist="38100" dir="2700000" algn="tl">
                    <a:srgbClr val="C0C0C0"/>
                  </a:outerShdw>
                </a:effectLst>
                <a:latin typeface="Arial" panose="020B0604020202020204" pitchFamily="34" charset="0"/>
              </a:rPr>
              <a:t>Execution</a:t>
            </a:r>
            <a:endParaRPr lang="en-US" altLang="zh-CN" b="1">
              <a:solidFill>
                <a:srgbClr val="037C03"/>
              </a:solidFill>
              <a:effectLst>
                <a:outerShdw blurRad="38100" dist="38100" dir="2700000" algn="tl">
                  <a:srgbClr val="C0C0C0"/>
                </a:outerShdw>
              </a:effectLst>
              <a:latin typeface="Arial" panose="020B0604020202020204" pitchFamily="34" charset="0"/>
            </a:endParaRPr>
          </a:p>
          <a:p>
            <a:pPr>
              <a:buFontTx/>
              <a:buChar char="•"/>
            </a:pPr>
            <a:r>
              <a:rPr lang="en-US" altLang="zh-CN" sz="1900" b="1">
                <a:solidFill>
                  <a:schemeClr val="hlink"/>
                </a:solidFill>
                <a:effectLst>
                  <a:outerShdw blurRad="38100" dist="38100" dir="2700000" algn="tl">
                    <a:srgbClr val="C0C0C0"/>
                  </a:outerShdw>
                </a:effectLst>
                <a:latin typeface="Arial" panose="020B0604020202020204" pitchFamily="34" charset="0"/>
              </a:rPr>
              <a:t>4 single cycle ALUs, 2 ld/str</a:t>
            </a:r>
          </a:p>
          <a:p>
            <a:pPr>
              <a:buFontTx/>
              <a:buChar char="•"/>
            </a:pPr>
            <a:r>
              <a:rPr lang="en-US" altLang="zh-CN" sz="1900" b="1">
                <a:solidFill>
                  <a:schemeClr val="hlink"/>
                </a:solidFill>
                <a:effectLst>
                  <a:outerShdw blurRad="38100" dist="38100" dir="2700000" algn="tl">
                    <a:srgbClr val="C0C0C0"/>
                  </a:outerShdw>
                </a:effectLst>
                <a:latin typeface="Arial" panose="020B0604020202020204" pitchFamily="34" charset="0"/>
              </a:rPr>
              <a:t>Advanced load control </a:t>
            </a:r>
          </a:p>
          <a:p>
            <a:pPr>
              <a:buFontTx/>
              <a:buChar char="•"/>
            </a:pPr>
            <a:r>
              <a:rPr lang="en-US" altLang="zh-CN" sz="1900" b="1">
                <a:solidFill>
                  <a:schemeClr val="hlink"/>
                </a:solidFill>
                <a:effectLst>
                  <a:outerShdw blurRad="38100" dist="38100" dir="2700000" algn="tl">
                    <a:srgbClr val="C0C0C0"/>
                  </a:outerShdw>
                </a:effectLst>
                <a:latin typeface="Arial" panose="020B0604020202020204" pitchFamily="34" charset="0"/>
              </a:rPr>
              <a:t>Predicate delivery &amp; branch</a:t>
            </a:r>
          </a:p>
          <a:p>
            <a:pPr>
              <a:buFontTx/>
              <a:buChar char="•"/>
            </a:pPr>
            <a:r>
              <a:rPr lang="en-US" altLang="zh-CN" sz="1900" b="1">
                <a:solidFill>
                  <a:schemeClr val="hlink"/>
                </a:solidFill>
                <a:effectLst>
                  <a:outerShdw blurRad="38100" dist="38100" dir="2700000" algn="tl">
                    <a:srgbClr val="C0C0C0"/>
                  </a:outerShdw>
                </a:effectLst>
                <a:latin typeface="Arial" panose="020B0604020202020204" pitchFamily="34" charset="0"/>
              </a:rPr>
              <a:t>Nat/Exception/</a:t>
            </a:r>
            <a:r>
              <a:rPr lang="en-US" altLang="zh-CN" sz="1900" b="1" i="1">
                <a:solidFill>
                  <a:schemeClr val="hlink"/>
                </a:solidFill>
                <a:effectLst>
                  <a:outerShdw blurRad="38100" dist="38100" dir="2700000" algn="tl">
                    <a:srgbClr val="C0C0C0"/>
                  </a:outerShdw>
                </a:effectLst>
                <a:latin typeface="Arial" panose="020B0604020202020204" pitchFamily="34" charset="0"/>
              </a:rPr>
              <a:t>/</a:t>
            </a:r>
            <a:r>
              <a:rPr lang="en-US" altLang="zh-CN" sz="1900" b="1">
                <a:solidFill>
                  <a:schemeClr val="hlink"/>
                </a:solidFill>
                <a:effectLst>
                  <a:outerShdw blurRad="38100" dist="38100" dir="2700000" algn="tl">
                    <a:srgbClr val="C0C0C0"/>
                  </a:outerShdw>
                </a:effectLst>
                <a:latin typeface="Arial" panose="020B0604020202020204" pitchFamily="34" charset="0"/>
              </a:rPr>
              <a:t>Retirement</a:t>
            </a:r>
          </a:p>
        </p:txBody>
      </p:sp>
      <p:grpSp>
        <p:nvGrpSpPr>
          <p:cNvPr id="1101839" name="Group 15"/>
          <p:cNvGrpSpPr>
            <a:grpSpLocks/>
          </p:cNvGrpSpPr>
          <p:nvPr/>
        </p:nvGrpSpPr>
        <p:grpSpPr bwMode="auto">
          <a:xfrm>
            <a:off x="3627733" y="4015521"/>
            <a:ext cx="8415338" cy="800100"/>
            <a:chOff x="192" y="2164"/>
            <a:chExt cx="5301" cy="504"/>
          </a:xfrm>
        </p:grpSpPr>
        <p:sp>
          <p:nvSpPr>
            <p:cNvPr id="1101840" name="AutoShape 16"/>
            <p:cNvSpPr>
              <a:spLocks noChangeArrowheads="1"/>
            </p:cNvSpPr>
            <p:nvPr/>
          </p:nvSpPr>
          <p:spPr bwMode="gray">
            <a:xfrm>
              <a:off x="1135" y="2168"/>
              <a:ext cx="572" cy="489"/>
            </a:xfrm>
            <a:prstGeom prst="parallelogram">
              <a:avLst>
                <a:gd name="adj" fmla="val 37421"/>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841" name="AutoShape 17"/>
            <p:cNvSpPr>
              <a:spLocks noChangeArrowheads="1"/>
            </p:cNvSpPr>
            <p:nvPr/>
          </p:nvSpPr>
          <p:spPr bwMode="gray">
            <a:xfrm>
              <a:off x="1583" y="2168"/>
              <a:ext cx="572" cy="500"/>
            </a:xfrm>
            <a:prstGeom prst="parallelogram">
              <a:avLst>
                <a:gd name="adj" fmla="val 3659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842" name="AutoShape 18"/>
            <p:cNvSpPr>
              <a:spLocks noChangeArrowheads="1"/>
            </p:cNvSpPr>
            <p:nvPr/>
          </p:nvSpPr>
          <p:spPr bwMode="gray">
            <a:xfrm>
              <a:off x="192" y="2164"/>
              <a:ext cx="637" cy="489"/>
            </a:xfrm>
            <a:prstGeom prst="parallelogram">
              <a:avLst>
                <a:gd name="adj" fmla="val 3256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843" name="AutoShape 19"/>
            <p:cNvSpPr>
              <a:spLocks noChangeArrowheads="1"/>
            </p:cNvSpPr>
            <p:nvPr/>
          </p:nvSpPr>
          <p:spPr bwMode="gray">
            <a:xfrm>
              <a:off x="3715" y="2168"/>
              <a:ext cx="772" cy="500"/>
            </a:xfrm>
            <a:prstGeom prst="parallelogram">
              <a:avLst>
                <a:gd name="adj" fmla="val 38600"/>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844" name="AutoShape 20"/>
            <p:cNvSpPr>
              <a:spLocks noChangeArrowheads="1"/>
            </p:cNvSpPr>
            <p:nvPr/>
          </p:nvSpPr>
          <p:spPr bwMode="gray">
            <a:xfrm>
              <a:off x="3129" y="2168"/>
              <a:ext cx="782" cy="500"/>
            </a:xfrm>
            <a:prstGeom prst="parallelogram">
              <a:avLst>
                <a:gd name="adj" fmla="val 39100"/>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845" name="AutoShape 21"/>
            <p:cNvSpPr>
              <a:spLocks noChangeArrowheads="1"/>
            </p:cNvSpPr>
            <p:nvPr/>
          </p:nvSpPr>
          <p:spPr bwMode="gray">
            <a:xfrm>
              <a:off x="2525" y="2168"/>
              <a:ext cx="800" cy="500"/>
            </a:xfrm>
            <a:prstGeom prst="parallelogram">
              <a:avLst>
                <a:gd name="adj" fmla="val 40000"/>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846" name="AutoShape 22"/>
            <p:cNvSpPr>
              <a:spLocks noChangeArrowheads="1"/>
            </p:cNvSpPr>
            <p:nvPr/>
          </p:nvSpPr>
          <p:spPr bwMode="gray">
            <a:xfrm>
              <a:off x="1966" y="2168"/>
              <a:ext cx="755" cy="500"/>
            </a:xfrm>
            <a:prstGeom prst="parallelogram">
              <a:avLst>
                <a:gd name="adj" fmla="val 37750"/>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847" name="AutoShape 23"/>
            <p:cNvSpPr>
              <a:spLocks noChangeArrowheads="1"/>
            </p:cNvSpPr>
            <p:nvPr/>
          </p:nvSpPr>
          <p:spPr bwMode="gray">
            <a:xfrm>
              <a:off x="662" y="2164"/>
              <a:ext cx="672" cy="498"/>
            </a:xfrm>
            <a:prstGeom prst="parallelogram">
              <a:avLst>
                <a:gd name="adj" fmla="val 3373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848" name="AutoShape 24"/>
            <p:cNvSpPr>
              <a:spLocks noChangeArrowheads="1"/>
            </p:cNvSpPr>
            <p:nvPr/>
          </p:nvSpPr>
          <p:spPr bwMode="gray">
            <a:xfrm>
              <a:off x="4292" y="2168"/>
              <a:ext cx="691" cy="500"/>
            </a:xfrm>
            <a:prstGeom prst="parallelogram">
              <a:avLst>
                <a:gd name="adj" fmla="val 34550"/>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849" name="AutoShape 25"/>
            <p:cNvSpPr>
              <a:spLocks noChangeArrowheads="1"/>
            </p:cNvSpPr>
            <p:nvPr/>
          </p:nvSpPr>
          <p:spPr bwMode="gray">
            <a:xfrm>
              <a:off x="4812" y="2168"/>
              <a:ext cx="681" cy="500"/>
            </a:xfrm>
            <a:prstGeom prst="parallelogram">
              <a:avLst>
                <a:gd name="adj" fmla="val 34050"/>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850" name="Rectangle 26"/>
            <p:cNvSpPr>
              <a:spLocks noChangeArrowheads="1"/>
            </p:cNvSpPr>
            <p:nvPr/>
          </p:nvSpPr>
          <p:spPr bwMode="gray">
            <a:xfrm>
              <a:off x="314" y="2275"/>
              <a:ext cx="393"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000" b="1">
                  <a:latin typeface="Helvetica" panose="020B0604020202020204" pitchFamily="34" charset="0"/>
                </a:rPr>
                <a:t>IPG</a:t>
              </a:r>
            </a:p>
          </p:txBody>
        </p:sp>
        <p:sp>
          <p:nvSpPr>
            <p:cNvPr id="1101851" name="Rectangle 27"/>
            <p:cNvSpPr>
              <a:spLocks noChangeArrowheads="1"/>
            </p:cNvSpPr>
            <p:nvPr/>
          </p:nvSpPr>
          <p:spPr bwMode="gray">
            <a:xfrm>
              <a:off x="800" y="2275"/>
              <a:ext cx="421"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000" b="1">
                  <a:latin typeface="Helvetica" panose="020B0604020202020204" pitchFamily="34" charset="0"/>
                </a:rPr>
                <a:t>FET</a:t>
              </a:r>
            </a:p>
          </p:txBody>
        </p:sp>
        <p:sp>
          <p:nvSpPr>
            <p:cNvPr id="1101852" name="Rectangle 28"/>
            <p:cNvSpPr>
              <a:spLocks noChangeArrowheads="1"/>
            </p:cNvSpPr>
            <p:nvPr/>
          </p:nvSpPr>
          <p:spPr bwMode="gray">
            <a:xfrm>
              <a:off x="1232" y="2284"/>
              <a:ext cx="422"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b="1">
                  <a:latin typeface="Helvetica" panose="020B0604020202020204" pitchFamily="34" charset="0"/>
                </a:rPr>
                <a:t>ROT</a:t>
              </a:r>
              <a:endParaRPr lang="en-US" altLang="zh-CN" sz="2000" b="1">
                <a:latin typeface="Helvetica" panose="020B0604020202020204" pitchFamily="34" charset="0"/>
              </a:endParaRPr>
            </a:p>
          </p:txBody>
        </p:sp>
        <p:sp>
          <p:nvSpPr>
            <p:cNvPr id="1101853" name="Rectangle 29"/>
            <p:cNvSpPr>
              <a:spLocks noChangeArrowheads="1"/>
            </p:cNvSpPr>
            <p:nvPr/>
          </p:nvSpPr>
          <p:spPr bwMode="gray">
            <a:xfrm>
              <a:off x="1674" y="2284"/>
              <a:ext cx="406"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b="1">
                  <a:latin typeface="Helvetica" panose="020B0604020202020204" pitchFamily="34" charset="0"/>
                </a:rPr>
                <a:t>EXP</a:t>
              </a:r>
              <a:endParaRPr lang="en-US" altLang="zh-CN" sz="2000" b="1">
                <a:latin typeface="Helvetica" panose="020B0604020202020204" pitchFamily="34" charset="0"/>
              </a:endParaRPr>
            </a:p>
          </p:txBody>
        </p:sp>
        <p:sp>
          <p:nvSpPr>
            <p:cNvPr id="1101854" name="Rectangle 30"/>
            <p:cNvSpPr>
              <a:spLocks noChangeArrowheads="1"/>
            </p:cNvSpPr>
            <p:nvPr/>
          </p:nvSpPr>
          <p:spPr bwMode="gray">
            <a:xfrm>
              <a:off x="2130" y="2275"/>
              <a:ext cx="457"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000" b="1">
                  <a:latin typeface="Helvetica" panose="020B0604020202020204" pitchFamily="34" charset="0"/>
                </a:rPr>
                <a:t>REN</a:t>
              </a:r>
            </a:p>
          </p:txBody>
        </p:sp>
        <p:sp>
          <p:nvSpPr>
            <p:cNvPr id="1101855" name="Rectangle 31"/>
            <p:cNvSpPr>
              <a:spLocks noChangeArrowheads="1"/>
            </p:cNvSpPr>
            <p:nvPr/>
          </p:nvSpPr>
          <p:spPr bwMode="gray">
            <a:xfrm>
              <a:off x="3288" y="2275"/>
              <a:ext cx="466"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000" b="1">
                  <a:latin typeface="Helvetica" panose="020B0604020202020204" pitchFamily="34" charset="0"/>
                </a:rPr>
                <a:t>REG</a:t>
              </a:r>
            </a:p>
          </p:txBody>
        </p:sp>
        <p:sp>
          <p:nvSpPr>
            <p:cNvPr id="1101856" name="Rectangle 32"/>
            <p:cNvSpPr>
              <a:spLocks noChangeArrowheads="1"/>
            </p:cNvSpPr>
            <p:nvPr/>
          </p:nvSpPr>
          <p:spPr bwMode="gray">
            <a:xfrm>
              <a:off x="3897" y="2275"/>
              <a:ext cx="439"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000" b="1">
                  <a:latin typeface="Helvetica" panose="020B0604020202020204" pitchFamily="34" charset="0"/>
                </a:rPr>
                <a:t>EXE</a:t>
              </a:r>
            </a:p>
          </p:txBody>
        </p:sp>
        <p:sp>
          <p:nvSpPr>
            <p:cNvPr id="1101857" name="Rectangle 33"/>
            <p:cNvSpPr>
              <a:spLocks noChangeArrowheads="1"/>
            </p:cNvSpPr>
            <p:nvPr/>
          </p:nvSpPr>
          <p:spPr bwMode="gray">
            <a:xfrm>
              <a:off x="4423" y="2275"/>
              <a:ext cx="439"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000" b="1">
                  <a:latin typeface="Helvetica" panose="020B0604020202020204" pitchFamily="34" charset="0"/>
                </a:rPr>
                <a:t>DET</a:t>
              </a:r>
            </a:p>
          </p:txBody>
        </p:sp>
        <p:sp>
          <p:nvSpPr>
            <p:cNvPr id="1101858" name="Rectangle 34"/>
            <p:cNvSpPr>
              <a:spLocks noChangeArrowheads="1"/>
            </p:cNvSpPr>
            <p:nvPr/>
          </p:nvSpPr>
          <p:spPr bwMode="gray">
            <a:xfrm>
              <a:off x="4930" y="2275"/>
              <a:ext cx="502"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000" b="1">
                  <a:latin typeface="Helvetica" panose="020B0604020202020204" pitchFamily="34" charset="0"/>
                </a:rPr>
                <a:t>WRB</a:t>
              </a:r>
            </a:p>
          </p:txBody>
        </p:sp>
        <p:sp>
          <p:nvSpPr>
            <p:cNvPr id="1101859" name="Rectangle 35"/>
            <p:cNvSpPr>
              <a:spLocks noChangeArrowheads="1"/>
            </p:cNvSpPr>
            <p:nvPr/>
          </p:nvSpPr>
          <p:spPr bwMode="gray">
            <a:xfrm>
              <a:off x="2713" y="2275"/>
              <a:ext cx="528"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000" b="1">
                  <a:latin typeface="Helvetica" panose="020B0604020202020204" pitchFamily="34" charset="0"/>
                </a:rPr>
                <a:t>WL.D</a:t>
              </a:r>
            </a:p>
          </p:txBody>
        </p:sp>
      </p:grpSp>
      <p:grpSp>
        <p:nvGrpSpPr>
          <p:cNvPr id="1101860" name="Group 36"/>
          <p:cNvGrpSpPr>
            <a:grpSpLocks/>
          </p:cNvGrpSpPr>
          <p:nvPr/>
        </p:nvGrpSpPr>
        <p:grpSpPr bwMode="auto">
          <a:xfrm>
            <a:off x="7718722" y="3678972"/>
            <a:ext cx="2079625" cy="398463"/>
            <a:chOff x="2589" y="2636"/>
            <a:chExt cx="1310" cy="251"/>
          </a:xfrm>
        </p:grpSpPr>
        <p:sp>
          <p:nvSpPr>
            <p:cNvPr id="1101861" name="Rectangle 37"/>
            <p:cNvSpPr>
              <a:spLocks noChangeArrowheads="1"/>
            </p:cNvSpPr>
            <p:nvPr/>
          </p:nvSpPr>
          <p:spPr bwMode="gray">
            <a:xfrm>
              <a:off x="3126" y="2636"/>
              <a:ext cx="773"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endParaRPr lang="zh-CN" altLang="en-US" sz="1000" b="1">
                <a:solidFill>
                  <a:schemeClr val="hlink"/>
                </a:solidFill>
              </a:endParaRPr>
            </a:p>
            <a:p>
              <a:pPr algn="l"/>
              <a:r>
                <a:rPr lang="en-US" altLang="zh-CN" sz="1000" b="1">
                  <a:solidFill>
                    <a:schemeClr val="hlink"/>
                  </a:solidFill>
                </a:rPr>
                <a:t>REGISTER READ</a:t>
              </a:r>
            </a:p>
          </p:txBody>
        </p:sp>
        <p:sp>
          <p:nvSpPr>
            <p:cNvPr id="1101862" name="Rectangle 38"/>
            <p:cNvSpPr>
              <a:spLocks noChangeArrowheads="1"/>
            </p:cNvSpPr>
            <p:nvPr/>
          </p:nvSpPr>
          <p:spPr bwMode="gray">
            <a:xfrm>
              <a:off x="2589" y="2637"/>
              <a:ext cx="579"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000" b="1">
                  <a:solidFill>
                    <a:schemeClr val="hlink"/>
                  </a:solidFill>
                </a:rPr>
                <a:t>WORD-LINE</a:t>
              </a:r>
            </a:p>
            <a:p>
              <a:pPr algn="l"/>
              <a:r>
                <a:rPr lang="en-US" altLang="zh-CN" sz="1000" b="1">
                  <a:solidFill>
                    <a:schemeClr val="hlink"/>
                  </a:solidFill>
                </a:rPr>
                <a:t> DECODE</a:t>
              </a:r>
            </a:p>
          </p:txBody>
        </p:sp>
      </p:grpSp>
      <p:grpSp>
        <p:nvGrpSpPr>
          <p:cNvPr id="1101863" name="Group 39"/>
          <p:cNvGrpSpPr>
            <a:grpSpLocks/>
          </p:cNvGrpSpPr>
          <p:nvPr/>
        </p:nvGrpSpPr>
        <p:grpSpPr bwMode="auto">
          <a:xfrm>
            <a:off x="6185196" y="3809147"/>
            <a:ext cx="1485900" cy="244475"/>
            <a:chOff x="1587" y="2637"/>
            <a:chExt cx="936" cy="154"/>
          </a:xfrm>
        </p:grpSpPr>
        <p:sp>
          <p:nvSpPr>
            <p:cNvPr id="1101864" name="Rectangle 40"/>
            <p:cNvSpPr>
              <a:spLocks noChangeArrowheads="1"/>
            </p:cNvSpPr>
            <p:nvPr/>
          </p:nvSpPr>
          <p:spPr bwMode="gray">
            <a:xfrm>
              <a:off x="2060" y="2637"/>
              <a:ext cx="463" cy="1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000" b="1">
                  <a:solidFill>
                    <a:schemeClr val="hlink"/>
                  </a:solidFill>
                </a:rPr>
                <a:t>RENAME</a:t>
              </a:r>
            </a:p>
          </p:txBody>
        </p:sp>
        <p:sp>
          <p:nvSpPr>
            <p:cNvPr id="1101865" name="Rectangle 41"/>
            <p:cNvSpPr>
              <a:spLocks noChangeArrowheads="1"/>
            </p:cNvSpPr>
            <p:nvPr/>
          </p:nvSpPr>
          <p:spPr bwMode="gray">
            <a:xfrm>
              <a:off x="1587" y="2637"/>
              <a:ext cx="449" cy="1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000" b="1">
                  <a:solidFill>
                    <a:schemeClr val="hlink"/>
                  </a:solidFill>
                </a:rPr>
                <a:t>EXPAND</a:t>
              </a:r>
            </a:p>
          </p:txBody>
        </p:sp>
      </p:grpSp>
      <p:grpSp>
        <p:nvGrpSpPr>
          <p:cNvPr id="1101866" name="Group 42"/>
          <p:cNvGrpSpPr>
            <a:grpSpLocks/>
          </p:cNvGrpSpPr>
          <p:nvPr/>
        </p:nvGrpSpPr>
        <p:grpSpPr bwMode="auto">
          <a:xfrm>
            <a:off x="3445171" y="4752122"/>
            <a:ext cx="2411412" cy="415925"/>
            <a:chOff x="77" y="2628"/>
            <a:chExt cx="1519" cy="262"/>
          </a:xfrm>
        </p:grpSpPr>
        <p:sp>
          <p:nvSpPr>
            <p:cNvPr id="1101867" name="Text Box 43"/>
            <p:cNvSpPr txBox="1">
              <a:spLocks noChangeArrowheads="1"/>
            </p:cNvSpPr>
            <p:nvPr/>
          </p:nvSpPr>
          <p:spPr bwMode="gray">
            <a:xfrm>
              <a:off x="77" y="2640"/>
              <a:ext cx="697"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000" b="1" dirty="0">
                  <a:solidFill>
                    <a:schemeClr val="hlink"/>
                  </a:solidFill>
                </a:rPr>
                <a:t>INST POINTER </a:t>
              </a:r>
            </a:p>
            <a:p>
              <a:pPr algn="l"/>
              <a:r>
                <a:rPr lang="en-US" altLang="zh-CN" sz="1000" b="1" dirty="0">
                  <a:solidFill>
                    <a:schemeClr val="hlink"/>
                  </a:solidFill>
                </a:rPr>
                <a:t>GENERATION</a:t>
              </a:r>
              <a:endParaRPr lang="en-US" altLang="zh-CN" sz="1400" b="1" dirty="0">
                <a:solidFill>
                  <a:schemeClr val="hlink"/>
                </a:solidFill>
              </a:endParaRPr>
            </a:p>
          </p:txBody>
        </p:sp>
        <p:sp>
          <p:nvSpPr>
            <p:cNvPr id="1101868" name="Rectangle 44"/>
            <p:cNvSpPr>
              <a:spLocks noChangeArrowheads="1"/>
            </p:cNvSpPr>
            <p:nvPr/>
          </p:nvSpPr>
          <p:spPr bwMode="gray">
            <a:xfrm>
              <a:off x="731" y="2637"/>
              <a:ext cx="383" cy="1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000" b="1">
                  <a:solidFill>
                    <a:schemeClr val="hlink"/>
                  </a:solidFill>
                </a:rPr>
                <a:t>FETCH</a:t>
              </a:r>
            </a:p>
          </p:txBody>
        </p:sp>
        <p:sp>
          <p:nvSpPr>
            <p:cNvPr id="1101869" name="Rectangle 45"/>
            <p:cNvSpPr>
              <a:spLocks noChangeArrowheads="1"/>
            </p:cNvSpPr>
            <p:nvPr/>
          </p:nvSpPr>
          <p:spPr bwMode="gray">
            <a:xfrm>
              <a:off x="1151" y="2628"/>
              <a:ext cx="445" cy="1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000" b="1">
                  <a:solidFill>
                    <a:schemeClr val="hlink"/>
                  </a:solidFill>
                </a:rPr>
                <a:t>ROTATE</a:t>
              </a:r>
            </a:p>
          </p:txBody>
        </p:sp>
      </p:grpSp>
      <p:grpSp>
        <p:nvGrpSpPr>
          <p:cNvPr id="1101870" name="Group 46"/>
          <p:cNvGrpSpPr>
            <a:grpSpLocks/>
          </p:cNvGrpSpPr>
          <p:nvPr/>
        </p:nvGrpSpPr>
        <p:grpSpPr bwMode="auto">
          <a:xfrm>
            <a:off x="9120484" y="4764822"/>
            <a:ext cx="2824163" cy="396875"/>
            <a:chOff x="3652" y="2636"/>
            <a:chExt cx="1779" cy="250"/>
          </a:xfrm>
        </p:grpSpPr>
        <p:sp>
          <p:nvSpPr>
            <p:cNvPr id="1101871" name="Rectangle 47"/>
            <p:cNvSpPr>
              <a:spLocks noChangeArrowheads="1"/>
            </p:cNvSpPr>
            <p:nvPr/>
          </p:nvSpPr>
          <p:spPr bwMode="gray">
            <a:xfrm>
              <a:off x="4270" y="2636"/>
              <a:ext cx="577"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000" b="1">
                  <a:solidFill>
                    <a:schemeClr val="hlink"/>
                  </a:solidFill>
                </a:rPr>
                <a:t>EXCEPTION</a:t>
              </a:r>
            </a:p>
            <a:p>
              <a:pPr algn="l"/>
              <a:r>
                <a:rPr lang="en-US" altLang="zh-CN" sz="1000" b="1">
                  <a:solidFill>
                    <a:schemeClr val="hlink"/>
                  </a:solidFill>
                </a:rPr>
                <a:t>DETECT</a:t>
              </a:r>
            </a:p>
          </p:txBody>
        </p:sp>
        <p:sp>
          <p:nvSpPr>
            <p:cNvPr id="1101872" name="Rectangle 48"/>
            <p:cNvSpPr>
              <a:spLocks noChangeArrowheads="1"/>
            </p:cNvSpPr>
            <p:nvPr/>
          </p:nvSpPr>
          <p:spPr bwMode="gray">
            <a:xfrm>
              <a:off x="3652" y="2637"/>
              <a:ext cx="603" cy="1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00" b="1">
                  <a:solidFill>
                    <a:schemeClr val="hlink"/>
                  </a:solidFill>
                </a:rPr>
                <a:t>     </a:t>
              </a:r>
              <a:r>
                <a:rPr lang="en-US" altLang="zh-CN" sz="1000" b="1">
                  <a:solidFill>
                    <a:schemeClr val="hlink"/>
                  </a:solidFill>
                </a:rPr>
                <a:t>EXECUTE</a:t>
              </a:r>
            </a:p>
          </p:txBody>
        </p:sp>
        <p:sp>
          <p:nvSpPr>
            <p:cNvPr id="1101873" name="Rectangle 49"/>
            <p:cNvSpPr>
              <a:spLocks noChangeArrowheads="1"/>
            </p:cNvSpPr>
            <p:nvPr/>
          </p:nvSpPr>
          <p:spPr bwMode="gray">
            <a:xfrm>
              <a:off x="4798" y="2637"/>
              <a:ext cx="633" cy="1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000" b="1">
                  <a:solidFill>
                    <a:schemeClr val="hlink"/>
                  </a:solidFill>
                </a:rPr>
                <a:t>WRITE-BACK</a:t>
              </a:r>
            </a:p>
          </p:txBody>
        </p:sp>
      </p:grpSp>
      <p:sp>
        <p:nvSpPr>
          <p:cNvPr id="5" name="文本框 4"/>
          <p:cNvSpPr txBox="1"/>
          <p:nvPr/>
        </p:nvSpPr>
        <p:spPr>
          <a:xfrm>
            <a:off x="70453" y="1532413"/>
            <a:ext cx="4275529" cy="3785652"/>
          </a:xfrm>
          <a:prstGeom prst="rect">
            <a:avLst/>
          </a:prstGeom>
          <a:noFill/>
        </p:spPr>
        <p:txBody>
          <a:bodyPr wrap="none" rtlCol="0">
            <a:spAutoFit/>
          </a:bodyPr>
          <a:lstStyle/>
          <a:p>
            <a:r>
              <a:rPr lang="en-US" altLang="zh-CN" sz="2400" dirty="0" smtClean="0">
                <a:solidFill>
                  <a:srgbClr val="0000FF"/>
                </a:solidFill>
              </a:rPr>
              <a:t>Instruction Pointer Generation</a:t>
            </a:r>
          </a:p>
          <a:p>
            <a:r>
              <a:rPr lang="en-US" altLang="zh-CN" sz="2400" dirty="0" smtClean="0">
                <a:solidFill>
                  <a:srgbClr val="0000FF"/>
                </a:solidFill>
              </a:rPr>
              <a:t>Fetch</a:t>
            </a:r>
          </a:p>
          <a:p>
            <a:r>
              <a:rPr lang="en-US" altLang="zh-CN" sz="2400" dirty="0" smtClean="0">
                <a:solidFill>
                  <a:srgbClr val="0000FF"/>
                </a:solidFill>
              </a:rPr>
              <a:t>Rotate</a:t>
            </a:r>
          </a:p>
          <a:p>
            <a:r>
              <a:rPr lang="en-US" altLang="zh-CN" sz="2400" dirty="0" smtClean="0">
                <a:solidFill>
                  <a:srgbClr val="0000FF"/>
                </a:solidFill>
              </a:rPr>
              <a:t>Expand</a:t>
            </a:r>
          </a:p>
          <a:p>
            <a:r>
              <a:rPr lang="en-US" altLang="zh-CN" sz="2400" dirty="0" smtClean="0">
                <a:solidFill>
                  <a:srgbClr val="0000FF"/>
                </a:solidFill>
              </a:rPr>
              <a:t>Rename</a:t>
            </a:r>
          </a:p>
          <a:p>
            <a:r>
              <a:rPr lang="en-US" altLang="zh-CN" sz="2400" dirty="0" smtClean="0">
                <a:solidFill>
                  <a:srgbClr val="0000FF"/>
                </a:solidFill>
              </a:rPr>
              <a:t>Word Line Decode</a:t>
            </a:r>
          </a:p>
          <a:p>
            <a:r>
              <a:rPr lang="en-US" altLang="zh-CN" sz="2400" dirty="0" smtClean="0">
                <a:solidFill>
                  <a:srgbClr val="0000FF"/>
                </a:solidFill>
              </a:rPr>
              <a:t>Register Read</a:t>
            </a:r>
          </a:p>
          <a:p>
            <a:r>
              <a:rPr lang="en-US" altLang="zh-CN" sz="2400" dirty="0" smtClean="0">
                <a:solidFill>
                  <a:srgbClr val="0000FF"/>
                </a:solidFill>
              </a:rPr>
              <a:t>Execute</a:t>
            </a:r>
          </a:p>
          <a:p>
            <a:r>
              <a:rPr lang="en-US" altLang="zh-CN" sz="2400" dirty="0" smtClean="0">
                <a:solidFill>
                  <a:srgbClr val="0000FF"/>
                </a:solidFill>
              </a:rPr>
              <a:t>Exception Detect</a:t>
            </a:r>
          </a:p>
          <a:p>
            <a:r>
              <a:rPr lang="en-US" altLang="zh-CN" sz="2400" dirty="0" smtClean="0">
                <a:solidFill>
                  <a:srgbClr val="0000FF"/>
                </a:solidFill>
              </a:rPr>
              <a:t>Write Back</a:t>
            </a:r>
            <a:endParaRPr lang="zh-CN" altLang="en-US" sz="2400" dirty="0">
              <a:solidFill>
                <a:srgbClr val="0000FF"/>
              </a:solidFill>
            </a:endParaRPr>
          </a:p>
        </p:txBody>
      </p:sp>
    </p:spTree>
    <p:extLst>
      <p:ext uri="{BB962C8B-B14F-4D97-AF65-F5344CB8AC3E}">
        <p14:creationId xmlns:p14="http://schemas.microsoft.com/office/powerpoint/2010/main" val="367472569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499"/>
                                          </p:stCondLst>
                                        </p:cTn>
                                        <p:tgtEl>
                                          <p:spTgt spid="1101866"/>
                                        </p:tgtEl>
                                        <p:attrNameLst>
                                          <p:attrName>style.visibility</p:attrName>
                                        </p:attrNameLst>
                                      </p:cBhvr>
                                      <p:to>
                                        <p:strVal val="visible"/>
                                      </p:to>
                                    </p:set>
                                  </p:childTnLst>
                                  <p:subTnLst>
                                    <p:set>
                                      <p:cBhvr override="childStyle">
                                        <p:cTn dur="1" fill="hold" display="0" masterRel="nextClick" afterEffect="1"/>
                                        <p:tgtEl>
                                          <p:spTgt spid="1101866"/>
                                        </p:tgtEl>
                                        <p:attrNameLst>
                                          <p:attrName>style.visibility</p:attrName>
                                        </p:attrNameLst>
                                      </p:cBhvr>
                                      <p:to>
                                        <p:strVal val="hidden"/>
                                      </p:to>
                                    </p:set>
                                  </p:subTnLst>
                                </p:cTn>
                              </p:par>
                            </p:childTnLst>
                          </p:cTn>
                        </p:par>
                        <p:par>
                          <p:cTn id="7" fill="hold" nodeType="afterGroup">
                            <p:stCondLst>
                              <p:cond delay="500"/>
                            </p:stCondLst>
                            <p:childTnLst>
                              <p:par>
                                <p:cTn id="8" presetID="1" presetClass="entr" presetSubtype="0" fill="hold" nodeType="afterEffect">
                                  <p:stCondLst>
                                    <p:cond delay="0"/>
                                  </p:stCondLst>
                                  <p:childTnLst>
                                    <p:set>
                                      <p:cBhvr>
                                        <p:cTn id="9" dur="1" fill="hold">
                                          <p:stCondLst>
                                            <p:cond delay="499"/>
                                          </p:stCondLst>
                                        </p:cTn>
                                        <p:tgtEl>
                                          <p:spTgt spid="1101863"/>
                                        </p:tgtEl>
                                        <p:attrNameLst>
                                          <p:attrName>style.visibility</p:attrName>
                                        </p:attrNameLst>
                                      </p:cBhvr>
                                      <p:to>
                                        <p:strVal val="visible"/>
                                      </p:to>
                                    </p:set>
                                  </p:childTnLst>
                                  <p:subTnLst>
                                    <p:set>
                                      <p:cBhvr override="childStyle">
                                        <p:cTn dur="1" fill="hold" display="0" masterRel="nextClick" afterEffect="1"/>
                                        <p:tgtEl>
                                          <p:spTgt spid="1101863"/>
                                        </p:tgtEl>
                                        <p:attrNameLst>
                                          <p:attrName>style.visibility</p:attrName>
                                        </p:attrNameLst>
                                      </p:cBhvr>
                                      <p:to>
                                        <p:strVal val="hidden"/>
                                      </p:to>
                                    </p:set>
                                  </p:subTnLst>
                                </p:cTn>
                              </p:par>
                            </p:childTnLst>
                          </p:cTn>
                        </p:par>
                        <p:par>
                          <p:cTn id="10" fill="hold" nodeType="afterGroup">
                            <p:stCondLst>
                              <p:cond delay="1000"/>
                            </p:stCondLst>
                            <p:childTnLst>
                              <p:par>
                                <p:cTn id="11" presetID="1" presetClass="entr" presetSubtype="0" fill="hold" nodeType="afterEffect">
                                  <p:stCondLst>
                                    <p:cond delay="0"/>
                                  </p:stCondLst>
                                  <p:childTnLst>
                                    <p:set>
                                      <p:cBhvr>
                                        <p:cTn id="12" dur="1" fill="hold">
                                          <p:stCondLst>
                                            <p:cond delay="499"/>
                                          </p:stCondLst>
                                        </p:cTn>
                                        <p:tgtEl>
                                          <p:spTgt spid="1101860"/>
                                        </p:tgtEl>
                                        <p:attrNameLst>
                                          <p:attrName>style.visibility</p:attrName>
                                        </p:attrNameLst>
                                      </p:cBhvr>
                                      <p:to>
                                        <p:strVal val="visible"/>
                                      </p:to>
                                    </p:set>
                                  </p:childTnLst>
                                  <p:subTnLst>
                                    <p:set>
                                      <p:cBhvr override="childStyle">
                                        <p:cTn dur="1" fill="hold" display="0" masterRel="nextClick" afterEffect="1"/>
                                        <p:tgtEl>
                                          <p:spTgt spid="1101860"/>
                                        </p:tgtEl>
                                        <p:attrNameLst>
                                          <p:attrName>style.visibility</p:attrName>
                                        </p:attrNameLst>
                                      </p:cBhvr>
                                      <p:to>
                                        <p:strVal val="hidden"/>
                                      </p:to>
                                    </p:set>
                                  </p:subTnLst>
                                </p:cTn>
                              </p:par>
                            </p:childTnLst>
                          </p:cTn>
                        </p:par>
                        <p:par>
                          <p:cTn id="13" fill="hold" nodeType="afterGroup">
                            <p:stCondLst>
                              <p:cond delay="1500"/>
                            </p:stCondLst>
                            <p:childTnLst>
                              <p:par>
                                <p:cTn id="14" presetID="1" presetClass="entr" presetSubtype="0" fill="hold" nodeType="afterEffect">
                                  <p:stCondLst>
                                    <p:cond delay="0"/>
                                  </p:stCondLst>
                                  <p:childTnLst>
                                    <p:set>
                                      <p:cBhvr>
                                        <p:cTn id="15" dur="1" fill="hold">
                                          <p:stCondLst>
                                            <p:cond delay="499"/>
                                          </p:stCondLst>
                                        </p:cTn>
                                        <p:tgtEl>
                                          <p:spTgt spid="11018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2306" name="Rectangle 2"/>
          <p:cNvSpPr>
            <a:spLocks noGrp="1" noChangeArrowheads="1"/>
          </p:cNvSpPr>
          <p:nvPr>
            <p:ph type="title"/>
          </p:nvPr>
        </p:nvSpPr>
        <p:spPr/>
        <p:txBody>
          <a:bodyPr/>
          <a:lstStyle/>
          <a:p>
            <a:r>
              <a:rPr lang="en-US" altLang="en-US" smtClean="0"/>
              <a:t>Itanium processor 10-stage pipeline</a:t>
            </a:r>
            <a:endParaRPr lang="en-US" altLang="en-US"/>
          </a:p>
        </p:txBody>
      </p:sp>
      <p:sp>
        <p:nvSpPr>
          <p:cNvPr id="1122307" name="Rectangle 3"/>
          <p:cNvSpPr>
            <a:spLocks noGrp="1" noChangeArrowheads="1"/>
          </p:cNvSpPr>
          <p:nvPr>
            <p:ph type="body" idx="1"/>
          </p:nvPr>
        </p:nvSpPr>
        <p:spPr/>
        <p:txBody>
          <a:bodyPr/>
          <a:lstStyle/>
          <a:p>
            <a:r>
              <a:rPr lang="en-US" altLang="en-US" smtClean="0"/>
              <a:t>Front-end (stages IPG, Fetch, and Rotate): prefetches up to 32 bytes per clock (2 bundles) into a prefetch buffer, which can hold up to 8 bundles (24 instructions) </a:t>
            </a:r>
          </a:p>
          <a:p>
            <a:pPr lvl="1"/>
            <a:r>
              <a:rPr lang="en-US" altLang="en-US" smtClean="0"/>
              <a:t>Branch prediction is done using a multilevel adaptive predictor like P6 microarchitecture</a:t>
            </a:r>
          </a:p>
          <a:p>
            <a:r>
              <a:rPr lang="en-US" altLang="en-US" smtClean="0"/>
              <a:t>Instruction delivery (stages EXP and REN): distributes up to 6 instructions to the 9 functional units </a:t>
            </a:r>
          </a:p>
          <a:p>
            <a:pPr lvl="1"/>
            <a:r>
              <a:rPr lang="en-US" altLang="en-US" smtClean="0"/>
              <a:t>Implements registers renaming for both rotation and register stacking.</a:t>
            </a:r>
            <a:endParaRPr lang="en-US" altLang="en-US"/>
          </a:p>
        </p:txBody>
      </p:sp>
    </p:spTree>
    <p:extLst>
      <p:ext uri="{BB962C8B-B14F-4D97-AF65-F5344CB8AC3E}">
        <p14:creationId xmlns:p14="http://schemas.microsoft.com/office/powerpoint/2010/main" val="1114244963"/>
      </p:ext>
    </p:extLst>
  </p:cSld>
  <p:clrMapOvr>
    <a:masterClrMapping/>
  </p:clrMapOvr>
  <p:transition/>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3330" name="Rectangle 2"/>
          <p:cNvSpPr>
            <a:spLocks noGrp="1" noChangeArrowheads="1"/>
          </p:cNvSpPr>
          <p:nvPr>
            <p:ph type="title"/>
          </p:nvPr>
        </p:nvSpPr>
        <p:spPr/>
        <p:txBody>
          <a:bodyPr/>
          <a:lstStyle/>
          <a:p>
            <a:r>
              <a:rPr lang="en-US" altLang="en-US" smtClean="0"/>
              <a:t>Itanium processor 10-stage pipeline</a:t>
            </a:r>
            <a:endParaRPr lang="en-US" altLang="en-US"/>
          </a:p>
        </p:txBody>
      </p:sp>
      <p:sp>
        <p:nvSpPr>
          <p:cNvPr id="1123331" name="Rectangle 3"/>
          <p:cNvSpPr>
            <a:spLocks noGrp="1" noChangeArrowheads="1"/>
          </p:cNvSpPr>
          <p:nvPr>
            <p:ph type="body" idx="1"/>
          </p:nvPr>
        </p:nvSpPr>
        <p:spPr/>
        <p:txBody>
          <a:bodyPr/>
          <a:lstStyle/>
          <a:p>
            <a:r>
              <a:rPr lang="en-US" altLang="en-US" smtClean="0"/>
              <a:t>Operand delivery (WLD and REG): accesses register file, performs register bypassing, accesses and updates a register scoreboard, and checks predicate dependences. </a:t>
            </a:r>
          </a:p>
          <a:p>
            <a:pPr lvl="1"/>
            <a:r>
              <a:rPr lang="en-US" altLang="en-US" smtClean="0"/>
              <a:t>Scoreboard used to detect when individual instructions can proceed, so that a stall of 1 instruction in a bundle need not cause the entire bundle to stall</a:t>
            </a:r>
          </a:p>
          <a:p>
            <a:r>
              <a:rPr lang="en-US" altLang="en-US" smtClean="0"/>
              <a:t>Execution (EXE, DET, and WRB): executes instructions through ALUs and load/store units, detects exceptions and posts NaTs, retires instructions and performs write-back</a:t>
            </a:r>
          </a:p>
          <a:p>
            <a:pPr lvl="1"/>
            <a:r>
              <a:rPr lang="en-US" altLang="en-US" smtClean="0"/>
              <a:t>Deferred exception handling for speculative instructions is supported by providing the equivalent of poison bits, called NaTs for Not a Thing, for the GPRs (which makes the GPRs effectively 65 bits wide), and NaT Val (Not a Thing Value) for FPRs (already 82 bits wides) </a:t>
            </a:r>
            <a:endParaRPr lang="en-US" altLang="en-US"/>
          </a:p>
        </p:txBody>
      </p:sp>
    </p:spTree>
    <p:extLst>
      <p:ext uri="{BB962C8B-B14F-4D97-AF65-F5344CB8AC3E}">
        <p14:creationId xmlns:p14="http://schemas.microsoft.com/office/powerpoint/2010/main" val="3502755384"/>
      </p:ext>
    </p:extLst>
  </p:cSld>
  <p:clrMapOvr>
    <a:masterClrMapping/>
  </p:clrMapOvr>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4354" name="Rectangle 2"/>
          <p:cNvSpPr>
            <a:spLocks noGrp="1" noChangeArrowheads="1"/>
          </p:cNvSpPr>
          <p:nvPr>
            <p:ph type="title"/>
          </p:nvPr>
        </p:nvSpPr>
        <p:spPr/>
        <p:txBody>
          <a:bodyPr/>
          <a:lstStyle/>
          <a:p>
            <a:r>
              <a:rPr lang="en-US" altLang="en-US" smtClean="0"/>
              <a:t>Comments on Itanium</a:t>
            </a:r>
            <a:endParaRPr lang="en-US" altLang="en-US"/>
          </a:p>
        </p:txBody>
      </p:sp>
      <p:sp>
        <p:nvSpPr>
          <p:cNvPr id="1124355" name="Rectangle 3"/>
          <p:cNvSpPr>
            <a:spLocks noGrp="1" noChangeArrowheads="1"/>
          </p:cNvSpPr>
          <p:nvPr>
            <p:ph type="body" idx="1"/>
          </p:nvPr>
        </p:nvSpPr>
        <p:spPr/>
        <p:txBody>
          <a:bodyPr/>
          <a:lstStyle/>
          <a:p>
            <a:r>
              <a:rPr lang="en-US" altLang="en-US" smtClean="0"/>
              <a:t>Remarkably, the Itanium has many of the features more commonly associated with the dynamically-scheduled pipelines</a:t>
            </a:r>
          </a:p>
          <a:p>
            <a:pPr lvl="1"/>
            <a:r>
              <a:rPr lang="en-US" altLang="en-US" smtClean="0"/>
              <a:t>strong emphasis on branch prediction, register renaming, scoreboarding, a deep pipeline with many stages before execution (to handle instruction alignment, renaming, etc.), and several stages following execution to handle exception detection</a:t>
            </a:r>
          </a:p>
          <a:p>
            <a:r>
              <a:rPr lang="en-US" altLang="en-US" smtClean="0"/>
              <a:t>Surprising that an approach whose goal is to rely on compiler technology and simpler HW seems to be at least as complex as dynamically scheduled processors!</a:t>
            </a:r>
          </a:p>
          <a:p>
            <a:endParaRPr lang="en-US" altLang="en-US"/>
          </a:p>
        </p:txBody>
      </p:sp>
    </p:spTree>
    <p:extLst>
      <p:ext uri="{BB962C8B-B14F-4D97-AF65-F5344CB8AC3E}">
        <p14:creationId xmlns:p14="http://schemas.microsoft.com/office/powerpoint/2010/main" val="2006799639"/>
      </p:ext>
    </p:extLst>
  </p:cSld>
  <p:clrMapOvr>
    <a:masterClrMapping/>
  </p:clrMapOvr>
  <p:transition/>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5378" name="Rectangle 2"/>
          <p:cNvSpPr>
            <a:spLocks noGrp="1" noChangeArrowheads="1"/>
          </p:cNvSpPr>
          <p:nvPr>
            <p:ph type="title"/>
          </p:nvPr>
        </p:nvSpPr>
        <p:spPr/>
        <p:txBody>
          <a:bodyPr/>
          <a:lstStyle/>
          <a:p>
            <a:r>
              <a:rPr lang="en-US" altLang="en-US" smtClean="0"/>
              <a:t>Peformance of IA-64 Itanium?</a:t>
            </a:r>
            <a:endParaRPr lang="en-US" altLang="en-US"/>
          </a:p>
        </p:txBody>
      </p:sp>
      <p:sp>
        <p:nvSpPr>
          <p:cNvPr id="1125379" name="Rectangle 3"/>
          <p:cNvSpPr>
            <a:spLocks noGrp="1" noChangeArrowheads="1"/>
          </p:cNvSpPr>
          <p:nvPr>
            <p:ph type="body" idx="1"/>
          </p:nvPr>
        </p:nvSpPr>
        <p:spPr/>
        <p:txBody>
          <a:bodyPr/>
          <a:lstStyle/>
          <a:p>
            <a:r>
              <a:rPr lang="en-US" altLang="en-US" smtClean="0"/>
              <a:t>Despite the existence of silicon, no significant standard benchmark results are available for the Itanium </a:t>
            </a:r>
          </a:p>
          <a:p>
            <a:r>
              <a:rPr lang="en-US" altLang="en-US" smtClean="0"/>
              <a:t>Whether this approach will result in significantly higher performance than other recent processors is unclear </a:t>
            </a:r>
          </a:p>
          <a:p>
            <a:r>
              <a:rPr lang="en-US" altLang="en-US" smtClean="0"/>
              <a:t>The clock rate of Itanium (733 MHz) is competitive but slower than the clock rates of several dynamically-scheduled machines, which are already available, including the Pentium III, Pentium 4 and AMD Athlon</a:t>
            </a:r>
            <a:endParaRPr lang="en-US" altLang="en-US"/>
          </a:p>
        </p:txBody>
      </p:sp>
    </p:spTree>
    <p:extLst>
      <p:ext uri="{BB962C8B-B14F-4D97-AF65-F5344CB8AC3E}">
        <p14:creationId xmlns:p14="http://schemas.microsoft.com/office/powerpoint/2010/main" val="1543041988"/>
      </p:ext>
    </p:extLst>
  </p:cSld>
  <p:clrMapOvr>
    <a:masterClrMapping/>
  </p:clrMapOvr>
  <p:transition/>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Case Study: ARM A53</a:t>
            </a:r>
            <a:endParaRPr lang="zh-CN" altLang="en-US" dirty="0"/>
          </a:p>
        </p:txBody>
      </p:sp>
      <p:pic>
        <p:nvPicPr>
          <p:cNvPr id="3" name="图片 2"/>
          <p:cNvPicPr>
            <a:picLocks noChangeAspect="1"/>
          </p:cNvPicPr>
          <p:nvPr/>
        </p:nvPicPr>
        <p:blipFill>
          <a:blip r:embed="rId3"/>
          <a:stretch>
            <a:fillRect/>
          </a:stretch>
        </p:blipFill>
        <p:spPr>
          <a:xfrm>
            <a:off x="335360" y="1592359"/>
            <a:ext cx="8437786" cy="5004993"/>
          </a:xfrm>
          <a:prstGeom prst="rect">
            <a:avLst/>
          </a:prstGeom>
        </p:spPr>
      </p:pic>
      <p:sp>
        <p:nvSpPr>
          <p:cNvPr id="4" name="矩形 3"/>
          <p:cNvSpPr/>
          <p:nvPr/>
        </p:nvSpPr>
        <p:spPr>
          <a:xfrm>
            <a:off x="8400256" y="1628800"/>
            <a:ext cx="3600400" cy="3170099"/>
          </a:xfrm>
          <a:prstGeom prst="rect">
            <a:avLst/>
          </a:prstGeom>
        </p:spPr>
        <p:txBody>
          <a:bodyPr wrap="square">
            <a:spAutoFit/>
          </a:bodyPr>
          <a:lstStyle/>
          <a:p>
            <a:r>
              <a:rPr lang="en-US" altLang="zh-CN" sz="2000" dirty="0" smtClean="0">
                <a:solidFill>
                  <a:srgbClr val="0000FF"/>
                </a:solidFill>
              </a:rPr>
              <a:t>8 </a:t>
            </a:r>
            <a:r>
              <a:rPr lang="en-US" altLang="zh-CN" sz="2000" dirty="0">
                <a:solidFill>
                  <a:srgbClr val="0000FF"/>
                </a:solidFill>
              </a:rPr>
              <a:t>stages: </a:t>
            </a:r>
            <a:endParaRPr lang="en-US" altLang="zh-CN" sz="2000" dirty="0" smtClean="0">
              <a:solidFill>
                <a:srgbClr val="0000FF"/>
              </a:solidFill>
            </a:endParaRPr>
          </a:p>
          <a:p>
            <a:pPr marL="342900" indent="-342900">
              <a:buFont typeface="Arial" panose="020B0604020202020204" pitchFamily="34" charset="0"/>
              <a:buChar char="•"/>
            </a:pPr>
            <a:r>
              <a:rPr lang="en-US" altLang="zh-CN" sz="2000" dirty="0" smtClean="0">
                <a:solidFill>
                  <a:srgbClr val="0000FF"/>
                </a:solidFill>
              </a:rPr>
              <a:t>F1 </a:t>
            </a:r>
            <a:r>
              <a:rPr lang="en-US" altLang="zh-CN" sz="2000" dirty="0">
                <a:solidFill>
                  <a:srgbClr val="0000FF"/>
                </a:solidFill>
              </a:rPr>
              <a:t>and F2 fetch the </a:t>
            </a:r>
            <a:r>
              <a:rPr lang="en-US" altLang="zh-CN" sz="2000" dirty="0" smtClean="0">
                <a:solidFill>
                  <a:srgbClr val="0000FF"/>
                </a:solidFill>
              </a:rPr>
              <a:t>instruction</a:t>
            </a:r>
          </a:p>
          <a:p>
            <a:pPr marL="342900" indent="-342900">
              <a:buFont typeface="Arial" panose="020B0604020202020204" pitchFamily="34" charset="0"/>
              <a:buChar char="•"/>
            </a:pPr>
            <a:r>
              <a:rPr lang="en-US" altLang="zh-CN" sz="2000" dirty="0" smtClean="0">
                <a:solidFill>
                  <a:srgbClr val="0000FF"/>
                </a:solidFill>
              </a:rPr>
              <a:t>D1 </a:t>
            </a:r>
            <a:r>
              <a:rPr lang="en-US" altLang="zh-CN" sz="2000" dirty="0">
                <a:solidFill>
                  <a:srgbClr val="0000FF"/>
                </a:solidFill>
              </a:rPr>
              <a:t>and D2 do the basic </a:t>
            </a:r>
            <a:r>
              <a:rPr lang="en-US" altLang="zh-CN" sz="2000" dirty="0" smtClean="0">
                <a:solidFill>
                  <a:srgbClr val="0000FF"/>
                </a:solidFill>
              </a:rPr>
              <a:t>decoding</a:t>
            </a:r>
          </a:p>
          <a:p>
            <a:pPr marL="342900" indent="-342900">
              <a:buFont typeface="Arial" panose="020B0604020202020204" pitchFamily="34" charset="0"/>
              <a:buChar char="•"/>
            </a:pPr>
            <a:r>
              <a:rPr lang="en-US" altLang="zh-CN" sz="2000" dirty="0" smtClean="0">
                <a:solidFill>
                  <a:srgbClr val="0000FF"/>
                </a:solidFill>
              </a:rPr>
              <a:t>D3 </a:t>
            </a:r>
            <a:r>
              <a:rPr lang="en-US" altLang="zh-CN" sz="2000" dirty="0">
                <a:solidFill>
                  <a:srgbClr val="0000FF"/>
                </a:solidFill>
              </a:rPr>
              <a:t>decodes some more complex instructions and is overlapped with the first stage of the execution pipeline (ISS)</a:t>
            </a:r>
            <a:endParaRPr lang="zh-CN" altLang="en-US" sz="2000" dirty="0">
              <a:solidFill>
                <a:srgbClr val="0000FF"/>
              </a:solidFill>
            </a:endParaRPr>
          </a:p>
        </p:txBody>
      </p:sp>
      <p:sp>
        <p:nvSpPr>
          <p:cNvPr id="5" name="矩形 4"/>
          <p:cNvSpPr/>
          <p:nvPr/>
        </p:nvSpPr>
        <p:spPr>
          <a:xfrm>
            <a:off x="8773146" y="4913075"/>
            <a:ext cx="3418854" cy="1631216"/>
          </a:xfrm>
          <a:prstGeom prst="rect">
            <a:avLst/>
          </a:prstGeom>
        </p:spPr>
        <p:txBody>
          <a:bodyPr wrap="square">
            <a:spAutoFit/>
          </a:bodyPr>
          <a:lstStyle/>
          <a:p>
            <a:pPr marL="342900" indent="-342900">
              <a:buFont typeface="Arial" panose="020B0604020202020204" pitchFamily="34" charset="0"/>
              <a:buChar char="•"/>
            </a:pPr>
            <a:r>
              <a:rPr lang="en-US" altLang="zh-CN" sz="2000" dirty="0">
                <a:solidFill>
                  <a:srgbClr val="0000FF"/>
                </a:solidFill>
              </a:rPr>
              <a:t>Ex1, EX2, and WB stages complete the integer </a:t>
            </a:r>
            <a:r>
              <a:rPr lang="en-US" altLang="zh-CN" sz="2000" dirty="0" smtClean="0">
                <a:solidFill>
                  <a:srgbClr val="0000FF"/>
                </a:solidFill>
              </a:rPr>
              <a:t>pipeline</a:t>
            </a:r>
          </a:p>
          <a:p>
            <a:pPr marL="342900" indent="-342900">
              <a:buFont typeface="Arial" panose="020B0604020202020204" pitchFamily="34" charset="0"/>
              <a:buChar char="•"/>
            </a:pPr>
            <a:r>
              <a:rPr lang="en-US" altLang="zh-CN" sz="2000" dirty="0" smtClean="0">
                <a:solidFill>
                  <a:srgbClr val="0000FF"/>
                </a:solidFill>
              </a:rPr>
              <a:t>Branches </a:t>
            </a:r>
            <a:r>
              <a:rPr lang="en-US" altLang="zh-CN" sz="2000" dirty="0">
                <a:solidFill>
                  <a:srgbClr val="0000FF"/>
                </a:solidFill>
              </a:rPr>
              <a:t>use four different predictors</a:t>
            </a:r>
            <a:endParaRPr lang="zh-CN" altLang="en-US" sz="2000" dirty="0">
              <a:solidFill>
                <a:srgbClr val="0000FF"/>
              </a:solidFill>
            </a:endParaRPr>
          </a:p>
        </p:txBody>
      </p:sp>
    </p:spTree>
    <p:extLst>
      <p:ext uri="{BB962C8B-B14F-4D97-AF65-F5344CB8AC3E}">
        <p14:creationId xmlns:p14="http://schemas.microsoft.com/office/powerpoint/2010/main" val="763624701"/>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Misprediction</a:t>
            </a:r>
            <a:r>
              <a:rPr lang="en-US" altLang="zh-CN" dirty="0"/>
              <a:t> rate of the A53 branch predictor for SPECint2006</a:t>
            </a:r>
            <a:endParaRPr lang="zh-CN" altLang="en-US" dirty="0"/>
          </a:p>
        </p:txBody>
      </p:sp>
      <p:pic>
        <p:nvPicPr>
          <p:cNvPr id="3" name="图片 2"/>
          <p:cNvPicPr>
            <a:picLocks noChangeAspect="1"/>
          </p:cNvPicPr>
          <p:nvPr/>
        </p:nvPicPr>
        <p:blipFill>
          <a:blip r:embed="rId3"/>
          <a:stretch>
            <a:fillRect/>
          </a:stretch>
        </p:blipFill>
        <p:spPr>
          <a:xfrm>
            <a:off x="1487488" y="1502496"/>
            <a:ext cx="7248309" cy="5289759"/>
          </a:xfrm>
          <a:prstGeom prst="rect">
            <a:avLst/>
          </a:prstGeom>
        </p:spPr>
      </p:pic>
    </p:spTree>
    <p:extLst>
      <p:ext uri="{BB962C8B-B14F-4D97-AF65-F5344CB8AC3E}">
        <p14:creationId xmlns:p14="http://schemas.microsoft.com/office/powerpoint/2010/main" val="4143941776"/>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Wasted work due to branch </a:t>
            </a:r>
            <a:r>
              <a:rPr lang="en-US" altLang="zh-CN" dirty="0" err="1"/>
              <a:t>misprediction</a:t>
            </a:r>
            <a:r>
              <a:rPr lang="en-US" altLang="zh-CN" dirty="0"/>
              <a:t> on the A53</a:t>
            </a:r>
            <a:endParaRPr lang="zh-CN" altLang="en-US" dirty="0"/>
          </a:p>
        </p:txBody>
      </p:sp>
      <p:pic>
        <p:nvPicPr>
          <p:cNvPr id="3" name="图片 2"/>
          <p:cNvPicPr>
            <a:picLocks noChangeAspect="1"/>
          </p:cNvPicPr>
          <p:nvPr/>
        </p:nvPicPr>
        <p:blipFill>
          <a:blip r:embed="rId3"/>
          <a:stretch>
            <a:fillRect/>
          </a:stretch>
        </p:blipFill>
        <p:spPr>
          <a:xfrm>
            <a:off x="1848326" y="1502496"/>
            <a:ext cx="6890519" cy="5022847"/>
          </a:xfrm>
          <a:prstGeom prst="rect">
            <a:avLst/>
          </a:prstGeom>
        </p:spPr>
      </p:pic>
    </p:spTree>
    <p:extLst>
      <p:ext uri="{BB962C8B-B14F-4D97-AF65-F5344CB8AC3E}">
        <p14:creationId xmlns:p14="http://schemas.microsoft.com/office/powerpoint/2010/main" val="2824628615"/>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The </a:t>
            </a:r>
            <a:r>
              <a:rPr lang="en-US" altLang="zh-CN" dirty="0"/>
              <a:t>estimated composition of the CPI on the ARM A53</a:t>
            </a:r>
            <a:endParaRPr lang="zh-CN" altLang="en-US" dirty="0"/>
          </a:p>
        </p:txBody>
      </p:sp>
      <p:pic>
        <p:nvPicPr>
          <p:cNvPr id="3" name="图片 2"/>
          <p:cNvPicPr>
            <a:picLocks noChangeAspect="1"/>
          </p:cNvPicPr>
          <p:nvPr/>
        </p:nvPicPr>
        <p:blipFill>
          <a:blip r:embed="rId3"/>
          <a:stretch>
            <a:fillRect/>
          </a:stretch>
        </p:blipFill>
        <p:spPr>
          <a:xfrm>
            <a:off x="3486685" y="1697586"/>
            <a:ext cx="7275635" cy="4827758"/>
          </a:xfrm>
          <a:prstGeom prst="rect">
            <a:avLst/>
          </a:prstGeom>
        </p:spPr>
      </p:pic>
    </p:spTree>
    <p:extLst>
      <p:ext uri="{BB962C8B-B14F-4D97-AF65-F5344CB8AC3E}">
        <p14:creationId xmlns:p14="http://schemas.microsoft.com/office/powerpoint/2010/main" val="4041319953"/>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6065728" y="188640"/>
            <a:ext cx="5976664" cy="6569837"/>
          </a:xfrm>
          <a:prstGeom prst="rect">
            <a:avLst/>
          </a:prstGeom>
        </p:spPr>
      </p:pic>
      <p:sp>
        <p:nvSpPr>
          <p:cNvPr id="2" name="标题 1"/>
          <p:cNvSpPr>
            <a:spLocks noGrp="1"/>
          </p:cNvSpPr>
          <p:nvPr>
            <p:ph type="title"/>
          </p:nvPr>
        </p:nvSpPr>
        <p:spPr/>
        <p:txBody>
          <a:bodyPr/>
          <a:lstStyle/>
          <a:p>
            <a:r>
              <a:rPr lang="en-US" altLang="zh-CN" dirty="0" smtClean="0"/>
              <a:t>Intel Core i7</a:t>
            </a:r>
            <a:endParaRPr lang="zh-CN" altLang="en-US" dirty="0"/>
          </a:p>
        </p:txBody>
      </p:sp>
      <p:sp>
        <p:nvSpPr>
          <p:cNvPr id="4" name="内容占位符 3"/>
          <p:cNvSpPr>
            <a:spLocks noGrp="1"/>
          </p:cNvSpPr>
          <p:nvPr>
            <p:ph idx="1"/>
          </p:nvPr>
        </p:nvSpPr>
        <p:spPr>
          <a:xfrm>
            <a:off x="335360" y="1556792"/>
            <a:ext cx="6264696" cy="5112568"/>
          </a:xfrm>
        </p:spPr>
        <p:txBody>
          <a:bodyPr/>
          <a:lstStyle/>
          <a:p>
            <a:r>
              <a:rPr lang="en-US" altLang="zh-CN" dirty="0"/>
              <a:t>The total pipeline depth is 14 stages, with branch </a:t>
            </a:r>
            <a:r>
              <a:rPr lang="en-US" altLang="zh-CN" dirty="0" err="1"/>
              <a:t>mispredictions</a:t>
            </a:r>
            <a:r>
              <a:rPr lang="en-US" altLang="zh-CN" dirty="0"/>
              <a:t> typically costing 17 cycles, with the extra few cycles likely due to the time to reset the branch </a:t>
            </a:r>
            <a:r>
              <a:rPr lang="en-US" altLang="zh-CN" dirty="0" smtClean="0"/>
              <a:t>predictor</a:t>
            </a:r>
          </a:p>
          <a:p>
            <a:r>
              <a:rPr lang="en-US" altLang="zh-CN" dirty="0" smtClean="0"/>
              <a:t>The </a:t>
            </a:r>
            <a:r>
              <a:rPr lang="en-US" altLang="zh-CN" dirty="0"/>
              <a:t>six independent functional units can each begin execution of a ready micro-op in the same cycle. Up to four micro-ops can be processed in the register renaming table</a:t>
            </a:r>
            <a:endParaRPr lang="zh-CN" altLang="en-US" dirty="0"/>
          </a:p>
        </p:txBody>
      </p:sp>
    </p:spTree>
    <p:extLst>
      <p:ext uri="{BB962C8B-B14F-4D97-AF65-F5344CB8AC3E}">
        <p14:creationId xmlns:p14="http://schemas.microsoft.com/office/powerpoint/2010/main" val="2672763500"/>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Buffer size in different i7 implementation</a:t>
            </a:r>
            <a:endParaRPr lang="zh-CN" altLang="en-US" dirty="0"/>
          </a:p>
        </p:txBody>
      </p:sp>
      <p:pic>
        <p:nvPicPr>
          <p:cNvPr id="3" name="图片 2"/>
          <p:cNvPicPr>
            <a:picLocks noChangeAspect="1"/>
          </p:cNvPicPr>
          <p:nvPr/>
        </p:nvPicPr>
        <p:blipFill>
          <a:blip r:embed="rId3"/>
          <a:stretch>
            <a:fillRect/>
          </a:stretch>
        </p:blipFill>
        <p:spPr>
          <a:xfrm>
            <a:off x="479376" y="1844824"/>
            <a:ext cx="11571327" cy="4268773"/>
          </a:xfrm>
          <a:prstGeom prst="rect">
            <a:avLst/>
          </a:prstGeom>
        </p:spPr>
      </p:pic>
    </p:spTree>
    <p:extLst>
      <p:ext uri="{BB962C8B-B14F-4D97-AF65-F5344CB8AC3E}">
        <p14:creationId xmlns:p14="http://schemas.microsoft.com/office/powerpoint/2010/main" val="1342642417"/>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CPI of different i7 processors</a:t>
            </a:r>
            <a:endParaRPr lang="zh-CN" altLang="en-US" dirty="0"/>
          </a:p>
        </p:txBody>
      </p:sp>
      <p:pic>
        <p:nvPicPr>
          <p:cNvPr id="3" name="图片 2"/>
          <p:cNvPicPr>
            <a:picLocks noChangeAspect="1"/>
          </p:cNvPicPr>
          <p:nvPr/>
        </p:nvPicPr>
        <p:blipFill>
          <a:blip r:embed="rId3"/>
          <a:stretch>
            <a:fillRect/>
          </a:stretch>
        </p:blipFill>
        <p:spPr>
          <a:xfrm>
            <a:off x="2207568" y="1500524"/>
            <a:ext cx="8424936" cy="5270350"/>
          </a:xfrm>
          <a:prstGeom prst="rect">
            <a:avLst/>
          </a:prstGeom>
        </p:spPr>
      </p:pic>
      <p:sp>
        <p:nvSpPr>
          <p:cNvPr id="4" name="矩形 3"/>
          <p:cNvSpPr/>
          <p:nvPr/>
        </p:nvSpPr>
        <p:spPr>
          <a:xfrm>
            <a:off x="4039027" y="2708920"/>
            <a:ext cx="2056973" cy="369332"/>
          </a:xfrm>
          <a:prstGeom prst="rect">
            <a:avLst/>
          </a:prstGeom>
        </p:spPr>
        <p:txBody>
          <a:bodyPr wrap="none">
            <a:spAutoFit/>
          </a:bodyPr>
          <a:lstStyle/>
          <a:p>
            <a:r>
              <a:rPr lang="en-US" altLang="zh-CN" dirty="0">
                <a:solidFill>
                  <a:srgbClr val="0000FF"/>
                </a:solidFill>
              </a:rPr>
              <a:t>SPECCPUint2006</a:t>
            </a:r>
            <a:endParaRPr lang="zh-CN" altLang="en-US" dirty="0">
              <a:solidFill>
                <a:srgbClr val="0000FF"/>
              </a:solidFill>
            </a:endParaRPr>
          </a:p>
        </p:txBody>
      </p:sp>
    </p:spTree>
    <p:extLst>
      <p:ext uri="{BB962C8B-B14F-4D97-AF65-F5344CB8AC3E}">
        <p14:creationId xmlns:p14="http://schemas.microsoft.com/office/powerpoint/2010/main" val="303193447"/>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Comparison between i7/920 and i7/6700</a:t>
            </a:r>
            <a:endParaRPr lang="zh-CN" altLang="en-US" dirty="0"/>
          </a:p>
        </p:txBody>
      </p:sp>
      <p:pic>
        <p:nvPicPr>
          <p:cNvPr id="3" name="图片 2"/>
          <p:cNvPicPr>
            <a:picLocks noChangeAspect="1"/>
          </p:cNvPicPr>
          <p:nvPr/>
        </p:nvPicPr>
        <p:blipFill>
          <a:blip r:embed="rId3"/>
          <a:stretch>
            <a:fillRect/>
          </a:stretch>
        </p:blipFill>
        <p:spPr>
          <a:xfrm>
            <a:off x="479376" y="2564904"/>
            <a:ext cx="11406722" cy="2672751"/>
          </a:xfrm>
          <a:prstGeom prst="rect">
            <a:avLst/>
          </a:prstGeom>
        </p:spPr>
      </p:pic>
    </p:spTree>
    <p:extLst>
      <p:ext uri="{BB962C8B-B14F-4D97-AF65-F5344CB8AC3E}">
        <p14:creationId xmlns:p14="http://schemas.microsoft.com/office/powerpoint/2010/main" val="3394721195"/>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1919536" y="51560"/>
            <a:ext cx="10153128" cy="6806440"/>
          </a:xfrm>
          <a:prstGeom prst="rect">
            <a:avLst/>
          </a:prstGeom>
        </p:spPr>
      </p:pic>
      <p:sp>
        <p:nvSpPr>
          <p:cNvPr id="2" name="标题 1"/>
          <p:cNvSpPr>
            <a:spLocks noGrp="1"/>
          </p:cNvSpPr>
          <p:nvPr>
            <p:ph type="title"/>
          </p:nvPr>
        </p:nvSpPr>
        <p:spPr>
          <a:xfrm rot="5400000">
            <a:off x="-2813831" y="3913894"/>
            <a:ext cx="7634064" cy="903635"/>
          </a:xfrm>
        </p:spPr>
        <p:txBody>
          <a:bodyPr/>
          <a:lstStyle/>
          <a:p>
            <a:r>
              <a:rPr lang="en-US" altLang="zh-CN" sz="3600" dirty="0" smtClean="0"/>
              <a:t>Desktop vs. Mobile Processor</a:t>
            </a:r>
            <a:endParaRPr lang="zh-CN" altLang="en-US" sz="3600" dirty="0"/>
          </a:p>
        </p:txBody>
      </p:sp>
      <p:sp>
        <p:nvSpPr>
          <p:cNvPr id="4" name="文本框 3"/>
          <p:cNvSpPr txBox="1"/>
          <p:nvPr/>
        </p:nvSpPr>
        <p:spPr>
          <a:xfrm>
            <a:off x="1415480" y="3085448"/>
            <a:ext cx="2186817" cy="461665"/>
          </a:xfrm>
          <a:prstGeom prst="rect">
            <a:avLst/>
          </a:prstGeom>
          <a:noFill/>
        </p:spPr>
        <p:txBody>
          <a:bodyPr wrap="none" rtlCol="0">
            <a:spAutoFit/>
          </a:bodyPr>
          <a:lstStyle/>
          <a:p>
            <a:r>
              <a:rPr lang="zh-CN" altLang="en-US" sz="2400" dirty="0" smtClean="0"/>
              <a:t>都用</a:t>
            </a:r>
            <a:r>
              <a:rPr lang="en-US" altLang="zh-CN" sz="2400" dirty="0" smtClean="0"/>
              <a:t>45nm</a:t>
            </a:r>
            <a:r>
              <a:rPr lang="zh-CN" altLang="en-US" sz="2400" dirty="0" smtClean="0"/>
              <a:t>工艺</a:t>
            </a:r>
            <a:endParaRPr lang="zh-CN" altLang="en-US" sz="2400" dirty="0"/>
          </a:p>
        </p:txBody>
      </p:sp>
    </p:spTree>
    <p:extLst>
      <p:ext uri="{BB962C8B-B14F-4D97-AF65-F5344CB8AC3E}">
        <p14:creationId xmlns:p14="http://schemas.microsoft.com/office/powerpoint/2010/main" val="4000676565"/>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Fallacies and Pitfalls</a:t>
            </a:r>
            <a:endParaRPr lang="en-US"/>
          </a:p>
        </p:txBody>
      </p:sp>
      <p:sp>
        <p:nvSpPr>
          <p:cNvPr id="3" name="Content Placeholder 2"/>
          <p:cNvSpPr>
            <a:spLocks noGrp="1"/>
          </p:cNvSpPr>
          <p:nvPr>
            <p:ph idx="1"/>
          </p:nvPr>
        </p:nvSpPr>
        <p:spPr>
          <a:xfrm>
            <a:off x="119337" y="1556792"/>
            <a:ext cx="3672408" cy="1439366"/>
          </a:xfrm>
        </p:spPr>
        <p:txBody>
          <a:bodyPr/>
          <a:lstStyle/>
          <a:p>
            <a:r>
              <a:rPr lang="en-US" dirty="0" smtClean="0"/>
              <a:t>It is easy to predict the performance/ energy efficiency of two different versions of the same ISA if we hold the technology constant</a:t>
            </a:r>
          </a:p>
          <a:p>
            <a:pPr lvl="1"/>
            <a:r>
              <a:rPr lang="zh-CN" altLang="en-US" dirty="0" smtClean="0"/>
              <a:t>性能：</a:t>
            </a:r>
            <a:r>
              <a:rPr lang="en-US" altLang="zh-CN" dirty="0" smtClean="0"/>
              <a:t>4-10</a:t>
            </a:r>
            <a:r>
              <a:rPr lang="zh-CN" altLang="en-US" dirty="0" smtClean="0"/>
              <a:t>倍</a:t>
            </a:r>
            <a:endParaRPr lang="en-US" altLang="zh-CN" dirty="0" smtClean="0"/>
          </a:p>
          <a:p>
            <a:pPr lvl="1"/>
            <a:r>
              <a:rPr lang="zh-CN" altLang="en-US" dirty="0" smtClean="0"/>
              <a:t>能效：</a:t>
            </a:r>
            <a:r>
              <a:rPr lang="en-US" altLang="zh-CN" dirty="0" smtClean="0"/>
              <a:t>2</a:t>
            </a:r>
            <a:r>
              <a:rPr lang="zh-CN" altLang="en-US" dirty="0" smtClean="0"/>
              <a:t>倍左右</a:t>
            </a:r>
            <a:endParaRPr lang="en-US" dirty="0" smtClean="0"/>
          </a:p>
          <a:p>
            <a:pPr marL="0" indent="0">
              <a:buNone/>
            </a:pPr>
            <a:endParaRPr lang="en-US" dirty="0"/>
          </a:p>
        </p:txBody>
      </p:sp>
      <p:pic>
        <p:nvPicPr>
          <p:cNvPr id="7" name="图片 6"/>
          <p:cNvPicPr>
            <a:picLocks noChangeAspect="1"/>
          </p:cNvPicPr>
          <p:nvPr/>
        </p:nvPicPr>
        <p:blipFill>
          <a:blip r:embed="rId3"/>
          <a:stretch>
            <a:fillRect/>
          </a:stretch>
        </p:blipFill>
        <p:spPr>
          <a:xfrm>
            <a:off x="3791744" y="1446429"/>
            <a:ext cx="8280920" cy="5411572"/>
          </a:xfrm>
          <a:prstGeom prst="rect">
            <a:avLst/>
          </a:prstGeom>
        </p:spPr>
      </p:pic>
    </p:spTree>
    <p:extLst>
      <p:ext uri="{BB962C8B-B14F-4D97-AF65-F5344CB8AC3E}">
        <p14:creationId xmlns:p14="http://schemas.microsoft.com/office/powerpoint/2010/main" val="1406948706"/>
      </p:ext>
    </p:extLst>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Fallacies and Pitfalls</a:t>
            </a:r>
            <a:endParaRPr lang="en-US"/>
          </a:p>
        </p:txBody>
      </p:sp>
      <p:sp>
        <p:nvSpPr>
          <p:cNvPr id="3" name="Content Placeholder 2"/>
          <p:cNvSpPr>
            <a:spLocks noGrp="1"/>
          </p:cNvSpPr>
          <p:nvPr>
            <p:ph idx="1"/>
          </p:nvPr>
        </p:nvSpPr>
        <p:spPr/>
        <p:txBody>
          <a:bodyPr/>
          <a:lstStyle/>
          <a:p>
            <a:r>
              <a:rPr lang="en-US" dirty="0" smtClean="0"/>
              <a:t>Processors with lower CPIs / faster clock rates will also be faster</a:t>
            </a:r>
          </a:p>
          <a:p>
            <a:endParaRPr lang="en-US" dirty="0" smtClean="0"/>
          </a:p>
          <a:p>
            <a:endParaRPr lang="en-US" dirty="0"/>
          </a:p>
          <a:p>
            <a:endParaRPr lang="en-US" dirty="0" smtClean="0"/>
          </a:p>
          <a:p>
            <a:endParaRPr lang="en-US" dirty="0"/>
          </a:p>
          <a:p>
            <a:endParaRPr lang="en-US" dirty="0" smtClean="0"/>
          </a:p>
          <a:p>
            <a:r>
              <a:rPr lang="en-US" dirty="0"/>
              <a:t> Three different Intel processors vary widely</a:t>
            </a:r>
          </a:p>
          <a:p>
            <a:pPr lvl="1"/>
            <a:r>
              <a:rPr lang="en-US" dirty="0" smtClean="0"/>
              <a:t>Pentium 4 had higher clock, lower CPI</a:t>
            </a:r>
          </a:p>
          <a:p>
            <a:pPr lvl="1"/>
            <a:r>
              <a:rPr lang="en-US" dirty="0" smtClean="0"/>
              <a:t>Itanium had same CPI, lower clock</a:t>
            </a:r>
          </a:p>
          <a:p>
            <a:endParaRPr lang="en-US" dirty="0"/>
          </a:p>
        </p:txBody>
      </p:sp>
      <p:pic>
        <p:nvPicPr>
          <p:cNvPr id="5" name="图片 4"/>
          <p:cNvPicPr>
            <a:picLocks noChangeAspect="1"/>
          </p:cNvPicPr>
          <p:nvPr/>
        </p:nvPicPr>
        <p:blipFill>
          <a:blip r:embed="rId2"/>
          <a:stretch>
            <a:fillRect/>
          </a:stretch>
        </p:blipFill>
        <p:spPr>
          <a:xfrm>
            <a:off x="1415480" y="2420888"/>
            <a:ext cx="9845069" cy="2577508"/>
          </a:xfrm>
          <a:prstGeom prst="rect">
            <a:avLst/>
          </a:prstGeom>
        </p:spPr>
      </p:pic>
    </p:spTree>
    <p:extLst>
      <p:ext uri="{BB962C8B-B14F-4D97-AF65-F5344CB8AC3E}">
        <p14:creationId xmlns:p14="http://schemas.microsoft.com/office/powerpoint/2010/main" val="1085451306"/>
      </p:ext>
    </p:extLst>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Fallacies and Pitfalls</a:t>
            </a:r>
            <a:endParaRPr lang="en-US"/>
          </a:p>
        </p:txBody>
      </p:sp>
      <p:sp>
        <p:nvSpPr>
          <p:cNvPr id="3" name="Content Placeholder 2"/>
          <p:cNvSpPr>
            <a:spLocks noGrp="1"/>
          </p:cNvSpPr>
          <p:nvPr>
            <p:ph idx="1"/>
          </p:nvPr>
        </p:nvSpPr>
        <p:spPr/>
        <p:txBody>
          <a:bodyPr/>
          <a:lstStyle/>
          <a:p>
            <a:r>
              <a:rPr lang="en-US" smtClean="0"/>
              <a:t>Sometimes bigger and dumber is better</a:t>
            </a:r>
          </a:p>
          <a:p>
            <a:pPr lvl="1"/>
            <a:r>
              <a:rPr lang="en-US" smtClean="0"/>
              <a:t>Pentium 4 and Itanium were advanced designs, but could not achieve their peak instruction throughput because of relatively small caches as compared to i7</a:t>
            </a:r>
          </a:p>
          <a:p>
            <a:pPr lvl="1"/>
            <a:endParaRPr lang="en-US" smtClean="0"/>
          </a:p>
          <a:p>
            <a:r>
              <a:rPr lang="en-US" smtClean="0"/>
              <a:t>And sometimes smarter is better than bigger and dumber</a:t>
            </a:r>
          </a:p>
          <a:p>
            <a:pPr lvl="1"/>
            <a:r>
              <a:rPr lang="en-US" smtClean="0"/>
              <a:t>TAGE branch predictor outperforms gshare with less stored predictions</a:t>
            </a:r>
          </a:p>
        </p:txBody>
      </p:sp>
    </p:spTree>
    <p:extLst>
      <p:ext uri="{BB962C8B-B14F-4D97-AF65-F5344CB8AC3E}">
        <p14:creationId xmlns:p14="http://schemas.microsoft.com/office/powerpoint/2010/main" val="1190858848"/>
      </p:ext>
    </p:extLst>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Fallacies and Pitfalls</a:t>
            </a:r>
            <a:endParaRPr lang="en-US"/>
          </a:p>
        </p:txBody>
      </p:sp>
      <p:sp>
        <p:nvSpPr>
          <p:cNvPr id="3" name="Content Placeholder 2"/>
          <p:cNvSpPr>
            <a:spLocks noGrp="1"/>
          </p:cNvSpPr>
          <p:nvPr>
            <p:ph idx="1"/>
          </p:nvPr>
        </p:nvSpPr>
        <p:spPr>
          <a:xfrm>
            <a:off x="838200" y="1556792"/>
            <a:ext cx="4825752" cy="5112568"/>
          </a:xfrm>
        </p:spPr>
        <p:txBody>
          <a:bodyPr/>
          <a:lstStyle/>
          <a:p>
            <a:r>
              <a:rPr lang="en-US" dirty="0" smtClean="0"/>
              <a:t>Believing that there are large amounts of ILP available, if only we had the right techniques</a:t>
            </a:r>
          </a:p>
          <a:p>
            <a:pPr lvl="1"/>
            <a:endParaRPr lang="en-US" dirty="0"/>
          </a:p>
        </p:txBody>
      </p:sp>
      <p:pic>
        <p:nvPicPr>
          <p:cNvPr id="7" name="图片 6"/>
          <p:cNvPicPr>
            <a:picLocks noChangeAspect="1"/>
          </p:cNvPicPr>
          <p:nvPr/>
        </p:nvPicPr>
        <p:blipFill>
          <a:blip r:embed="rId3"/>
          <a:stretch>
            <a:fillRect/>
          </a:stretch>
        </p:blipFill>
        <p:spPr>
          <a:xfrm>
            <a:off x="6600056" y="150492"/>
            <a:ext cx="5040560" cy="6697596"/>
          </a:xfrm>
          <a:prstGeom prst="rect">
            <a:avLst/>
          </a:prstGeom>
        </p:spPr>
      </p:pic>
    </p:spTree>
    <p:extLst>
      <p:ext uri="{BB962C8B-B14F-4D97-AF65-F5344CB8AC3E}">
        <p14:creationId xmlns:p14="http://schemas.microsoft.com/office/powerpoint/2010/main" val="3462220865"/>
      </p:ext>
    </p:extLst>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Characteristics of five generations of IBM Power processors</a:t>
            </a:r>
            <a:endParaRPr lang="zh-CN" altLang="en-US" dirty="0"/>
          </a:p>
        </p:txBody>
      </p:sp>
      <p:pic>
        <p:nvPicPr>
          <p:cNvPr id="3" name="图片 2"/>
          <p:cNvPicPr>
            <a:picLocks noChangeAspect="1"/>
          </p:cNvPicPr>
          <p:nvPr/>
        </p:nvPicPr>
        <p:blipFill>
          <a:blip r:embed="rId3"/>
          <a:stretch>
            <a:fillRect/>
          </a:stretch>
        </p:blipFill>
        <p:spPr>
          <a:xfrm>
            <a:off x="497053" y="2060848"/>
            <a:ext cx="11197894" cy="3816424"/>
          </a:xfrm>
          <a:prstGeom prst="rect">
            <a:avLst/>
          </a:prstGeom>
        </p:spPr>
      </p:pic>
    </p:spTree>
    <p:extLst>
      <p:ext uri="{BB962C8B-B14F-4D97-AF65-F5344CB8AC3E}">
        <p14:creationId xmlns:p14="http://schemas.microsoft.com/office/powerpoint/2010/main" val="2359605686"/>
      </p:ext>
    </p:extLst>
  </p:cSld>
  <p:clrMapOvr>
    <a:masterClrMapping/>
  </p:clrMapOvr>
</p:sld>
</file>

<file path=ppt/theme/theme1.xml><?xml version="1.0" encoding="utf-8"?>
<a:theme xmlns:a="http://schemas.openxmlformats.org/drawingml/2006/main" name="ca">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课程介绍" id="{C61E3E2B-F0E3-4728-A387-D87078CA91BB}" vid="{BAABA936-5DB4-4803-ADC9-9A0F60F94339}"/>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模板</Template>
  <TotalTime>5949</TotalTime>
  <Words>14764</Words>
  <Application>Microsoft Office PowerPoint</Application>
  <PresentationFormat>宽屏</PresentationFormat>
  <Paragraphs>1940</Paragraphs>
  <Slides>211</Slides>
  <Notes>87</Notes>
  <HiddenSlides>1</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3</vt:i4>
      </vt:variant>
      <vt:variant>
        <vt:lpstr>幻灯片标题</vt:lpstr>
      </vt:variant>
      <vt:variant>
        <vt:i4>211</vt:i4>
      </vt:variant>
    </vt:vector>
  </HeadingPairs>
  <TitlesOfParts>
    <vt:vector size="229" baseType="lpstr">
      <vt:lpstr>等线</vt:lpstr>
      <vt:lpstr>等线 Light</vt:lpstr>
      <vt:lpstr>宋体</vt:lpstr>
      <vt:lpstr>Microsoft YaHei</vt:lpstr>
      <vt:lpstr>Microsoft YaHei</vt:lpstr>
      <vt:lpstr>Arial</vt:lpstr>
      <vt:lpstr>Arial Black</vt:lpstr>
      <vt:lpstr>Calibri Light</vt:lpstr>
      <vt:lpstr>Cambria Math</vt:lpstr>
      <vt:lpstr>Courier New</vt:lpstr>
      <vt:lpstr>Helvetica</vt:lpstr>
      <vt:lpstr>Symbol</vt:lpstr>
      <vt:lpstr>Times New Roman</vt:lpstr>
      <vt:lpstr>Wingdings</vt:lpstr>
      <vt:lpstr>ca</vt:lpstr>
      <vt:lpstr>工作表</vt:lpstr>
      <vt:lpstr>Chart</vt:lpstr>
      <vt:lpstr>图表</vt:lpstr>
      <vt:lpstr>指令级并行性 (ILP) Instruction Level Parallelism</vt:lpstr>
      <vt:lpstr>Introduction</vt:lpstr>
      <vt:lpstr>Instruction-Level Parallelism</vt:lpstr>
      <vt:lpstr>Instruction-Level Parallelism (ILP)</vt:lpstr>
      <vt:lpstr>Data Dependence and Pipeline Hazards 数据依赖和流水线险象</vt:lpstr>
      <vt:lpstr>Data Dependence</vt:lpstr>
      <vt:lpstr>Program order</vt:lpstr>
      <vt:lpstr>Name Dependence</vt:lpstr>
      <vt:lpstr>Control Dependencies</vt:lpstr>
      <vt:lpstr>Exception Behavior</vt:lpstr>
      <vt:lpstr>Data Flow</vt:lpstr>
      <vt:lpstr>Situations of violating control dependence</vt:lpstr>
      <vt:lpstr>Dynamic Scheduling</vt:lpstr>
      <vt:lpstr>Dynamic Scheduling</vt:lpstr>
      <vt:lpstr>Dynamic Scheduling Step 1</vt:lpstr>
      <vt:lpstr>A Dynamic Scheduling Algorithm:  Tomasulo’s Algorithm</vt:lpstr>
      <vt:lpstr>Tomasulo Algorithm</vt:lpstr>
      <vt:lpstr>Tomasulo Organization in IBM 360/91</vt:lpstr>
      <vt:lpstr>Register Renaming</vt:lpstr>
      <vt:lpstr>Tomasulo’s Register Renaming</vt:lpstr>
      <vt:lpstr>Reservation Station Components</vt:lpstr>
      <vt:lpstr>Three Stages of Tomasulo Algorithm</vt:lpstr>
      <vt:lpstr>Common Data Bus (CDB)</vt:lpstr>
      <vt:lpstr>RISC-V floating-point unit using Tomasulo's algorithm</vt:lpstr>
      <vt:lpstr>Steps in the algorithm and what is required for each step</vt:lpstr>
      <vt:lpstr>Tomasulo Example</vt:lpstr>
      <vt:lpstr>Tomasulo Example</vt:lpstr>
      <vt:lpstr>Tomasulo Example Cycle 1</vt:lpstr>
      <vt:lpstr>Tomasulo Example Cycle 2</vt:lpstr>
      <vt:lpstr>Tomasulo Example Cycle 3</vt:lpstr>
      <vt:lpstr>Tomasulo Example Cycle 4</vt:lpstr>
      <vt:lpstr>Reservation stations and register tags</vt:lpstr>
      <vt:lpstr>Tomasulo Example Cycle 5</vt:lpstr>
      <vt:lpstr>Tomasulo Example Cycle 6</vt:lpstr>
      <vt:lpstr>Tomasulo Example Cycle 7</vt:lpstr>
      <vt:lpstr>Tomasulo Example Cycle 8</vt:lpstr>
      <vt:lpstr>Tomasulo Example Cycle 9</vt:lpstr>
      <vt:lpstr>Tomasulo Example Cycle 10</vt:lpstr>
      <vt:lpstr>Tomasulo Example Cycle 11</vt:lpstr>
      <vt:lpstr>Tomasulo Example Cycle 12</vt:lpstr>
      <vt:lpstr>Tomasulo Example Cycle 13</vt:lpstr>
      <vt:lpstr>Tomasulo Example Cycle 14</vt:lpstr>
      <vt:lpstr>Tomasulo Example Cycle 15</vt:lpstr>
      <vt:lpstr>Reservation stations and register tags</vt:lpstr>
      <vt:lpstr>Tomasulo Example Cycle 16</vt:lpstr>
      <vt:lpstr>Faster than light computation (skip a couple of cycles)</vt:lpstr>
      <vt:lpstr>Tomasulo Example Cycle 55</vt:lpstr>
      <vt:lpstr>Tomasulo Example Cycle 56</vt:lpstr>
      <vt:lpstr>Tomasulo Example Cycle 57</vt:lpstr>
      <vt:lpstr>Tomasulo Drawbacks</vt:lpstr>
      <vt:lpstr>Difficulties of interrupt handling</vt:lpstr>
      <vt:lpstr>Tomasulo Loop Example</vt:lpstr>
      <vt:lpstr>Tomasulo Loop Example</vt:lpstr>
      <vt:lpstr>Loop Example Cycle 1</vt:lpstr>
      <vt:lpstr>Loop Example Cycle 2</vt:lpstr>
      <vt:lpstr>Loop Example Cycle 3</vt:lpstr>
      <vt:lpstr>Loop Example Cycle 4</vt:lpstr>
      <vt:lpstr>Loop Example Cycle 5</vt:lpstr>
      <vt:lpstr>Loop Example Cycle 6</vt:lpstr>
      <vt:lpstr>Loop Example Cycle 7</vt:lpstr>
      <vt:lpstr>Loop Example Cycle 8</vt:lpstr>
      <vt:lpstr>Loop Example Cycle 9</vt:lpstr>
      <vt:lpstr>PowerPoint 演示文稿</vt:lpstr>
      <vt:lpstr>Loop Example Cycle 10</vt:lpstr>
      <vt:lpstr>Loop Example Cycle 11</vt:lpstr>
      <vt:lpstr>Loop Example Cycle 12</vt:lpstr>
      <vt:lpstr>Loop Example Cycle 13</vt:lpstr>
      <vt:lpstr>Loop Example Cycle 14</vt:lpstr>
      <vt:lpstr>Loop Example Cycle 15</vt:lpstr>
      <vt:lpstr>Loop Example Cycle 16</vt:lpstr>
      <vt:lpstr>Loop Example Cycle 17</vt:lpstr>
      <vt:lpstr>Loop Example Cycle 18</vt:lpstr>
      <vt:lpstr>Loop Example Cycle 19</vt:lpstr>
      <vt:lpstr>Loop Example Cycle 20</vt:lpstr>
      <vt:lpstr>Why can Tomasulo overlap iterations of loops?</vt:lpstr>
      <vt:lpstr>Tomasulo’s scheme offers 2 major advantages</vt:lpstr>
      <vt:lpstr>Summary</vt:lpstr>
      <vt:lpstr>Compiler Techniques for Exposing ILP</vt:lpstr>
      <vt:lpstr>Pipeline Stalls</vt:lpstr>
      <vt:lpstr>Loop Unrolling（循环展开）</vt:lpstr>
      <vt:lpstr>Loop Unrolling</vt:lpstr>
      <vt:lpstr>Loop Unrolling/Pipeline Scheduling</vt:lpstr>
      <vt:lpstr>Strip Mining</vt:lpstr>
      <vt:lpstr>Loop Unrolling Details</vt:lpstr>
      <vt:lpstr>Compiler Perspectives on Code Movement</vt:lpstr>
      <vt:lpstr>Steps Compiler Performed to Unroll</vt:lpstr>
      <vt:lpstr>Another possibility: Software Pipelining</vt:lpstr>
      <vt:lpstr>Software Pipelining Example</vt:lpstr>
      <vt:lpstr>When Safe to Unroll Loop?</vt:lpstr>
      <vt:lpstr>Does a loop-carried dependence mean there is no parallelism???</vt:lpstr>
      <vt:lpstr>Simple test for loop carried dependence</vt:lpstr>
      <vt:lpstr>Example of eliminating loop carried dependence by loop transformation</vt:lpstr>
      <vt:lpstr>Hardware Support for Exposing  More Parallelism at Compile-Time</vt:lpstr>
      <vt:lpstr>Predicated Execution</vt:lpstr>
      <vt:lpstr>Hardware Support for Exposing  More Parallelism at Compile-Time</vt:lpstr>
      <vt:lpstr>Exception Behavior Support</vt:lpstr>
      <vt:lpstr>Hardware Support for Memory Reference Speculation</vt:lpstr>
      <vt:lpstr>Branch Prediction Schemes</vt:lpstr>
      <vt:lpstr>Misprediction rate on SPEC92 for a profile-based predictor</vt:lpstr>
      <vt:lpstr>Dynamic Branch Prediction</vt:lpstr>
      <vt:lpstr>2-bit Dynamic Branch Prediction </vt:lpstr>
      <vt:lpstr>The states in a 2-bit prediction scheme</vt:lpstr>
      <vt:lpstr>Prediction accuracy of a 4096-entry 2-bit BHT for the SPEC89 benchmarks</vt:lpstr>
      <vt:lpstr>Impact of BHT Size</vt:lpstr>
      <vt:lpstr>Branch Prediction</vt:lpstr>
      <vt:lpstr>Correlated branch behavior</vt:lpstr>
      <vt:lpstr>Correlating Branches</vt:lpstr>
      <vt:lpstr>Accuracy of Different BHT Schemes</vt:lpstr>
      <vt:lpstr>Re-evaluating Correlation</vt:lpstr>
      <vt:lpstr>Gshare, a correlated branch predictor</vt:lpstr>
      <vt:lpstr>Tournament Predictors</vt:lpstr>
      <vt:lpstr>Tournament Predictor in Alpha 21264</vt:lpstr>
      <vt:lpstr>Tournament Predictor in Alpha 21264</vt:lpstr>
      <vt:lpstr>% of predictions from local predictor in Tournament Prediction Scheme</vt:lpstr>
      <vt:lpstr>Accuracy v. Size (SPEC89)</vt:lpstr>
      <vt:lpstr>Accuracy of Branch Prediction</vt:lpstr>
      <vt:lpstr>Tagged Hybrid Predictors</vt:lpstr>
      <vt:lpstr>A five-component Tagged Hybrid Predictors</vt:lpstr>
      <vt:lpstr>Comparison of tagged hybrid predictor versus gshare</vt:lpstr>
      <vt:lpstr>The misprediction rate on the Intel Core i7 920 and 6700</vt:lpstr>
      <vt:lpstr>Need Address at Same Time as Prediction: Branch Target Buffer (BTB)</vt:lpstr>
      <vt:lpstr>BTB Workflow</vt:lpstr>
      <vt:lpstr>Penalties for BTB combinations</vt:lpstr>
      <vt:lpstr>Special Case: Return Addresses</vt:lpstr>
      <vt:lpstr>Return Address Predictor</vt:lpstr>
      <vt:lpstr>Integrated Instruction Fetch Unit</vt:lpstr>
      <vt:lpstr>Dynamic Branch Prediction Summary</vt:lpstr>
      <vt:lpstr>Pitfall: Sometimes bigger and dumber is better</vt:lpstr>
      <vt:lpstr>What about Precise Interrupts?</vt:lpstr>
      <vt:lpstr>Hardware-Based Speculation</vt:lpstr>
      <vt:lpstr>Relationship between precise interrupts and specultation:</vt:lpstr>
      <vt:lpstr>Reorder Buffer</vt:lpstr>
      <vt:lpstr>HW support for precise interrupts</vt:lpstr>
      <vt:lpstr>Speculative Tomasulo Algorithm</vt:lpstr>
      <vt:lpstr>ROB Microarchitecture</vt:lpstr>
      <vt:lpstr>ROB Details</vt:lpstr>
      <vt:lpstr>ROB Example</vt:lpstr>
      <vt:lpstr>Revisit the Tomasulo Loop Example</vt:lpstr>
      <vt:lpstr>PowerPoint 演示文稿</vt:lpstr>
      <vt:lpstr>What are the hardware complexities with Reorder Buffer (ROB)?</vt:lpstr>
      <vt:lpstr>Getting CPI &lt; 1: Issuing Multiple Instructions/operations per Cycle</vt:lpstr>
      <vt:lpstr>Multiple Issue: Achieve Real ILP</vt:lpstr>
      <vt:lpstr>Multiple Issue Options</vt:lpstr>
      <vt:lpstr>Modern Microprocessor Architecture</vt:lpstr>
      <vt:lpstr>Dynamic Scheduling in Superscalar The easy way</vt:lpstr>
      <vt:lpstr>Multiple Issue Issues</vt:lpstr>
      <vt:lpstr>Multiple Issue Challenges</vt:lpstr>
      <vt:lpstr>Other Issues</vt:lpstr>
      <vt:lpstr>Simple 2-issue SuperScalar</vt:lpstr>
      <vt:lpstr>Multiple issue processor with speculation</vt:lpstr>
      <vt:lpstr>Issue Logic</vt:lpstr>
      <vt:lpstr>Multiple Issue Steps</vt:lpstr>
      <vt:lpstr>Example of a 2-issue processor</vt:lpstr>
      <vt:lpstr>Example (No Speculation)</vt:lpstr>
      <vt:lpstr>Example (with Speculation)</vt:lpstr>
      <vt:lpstr>Replace ROB with Renaming Registers</vt:lpstr>
      <vt:lpstr>Renaming Registers</vt:lpstr>
      <vt:lpstr>Example of 6-issue in a cycle</vt:lpstr>
      <vt:lpstr>Renaming by mapping to physical registers</vt:lpstr>
      <vt:lpstr>Speculation Pros and Cons</vt:lpstr>
      <vt:lpstr>How Much to Speculate?</vt:lpstr>
      <vt:lpstr>Effects of Speculation</vt:lpstr>
      <vt:lpstr>Other Speculation Ideas</vt:lpstr>
      <vt:lpstr>Limits to ILP</vt:lpstr>
      <vt:lpstr>The approach of study</vt:lpstr>
      <vt:lpstr>Upper Limit to ILP: Ideal Machine</vt:lpstr>
      <vt:lpstr>More Realistic HW: Branch Impact</vt:lpstr>
      <vt:lpstr>More Realistic HW:  Renaming Register Impact</vt:lpstr>
      <vt:lpstr>More Realistic HW:  Memory Address Alias Impact</vt:lpstr>
      <vt:lpstr>Realistic HW for 2000: Window Impact</vt:lpstr>
      <vt:lpstr>How to Exceed ILP Limits of this study?</vt:lpstr>
      <vt:lpstr>Another Approach: Mulithreaded Execution for Servers</vt:lpstr>
      <vt:lpstr>What if Can Change Instruction Set?</vt:lpstr>
      <vt:lpstr>LIW or VLIW Processors</vt:lpstr>
      <vt:lpstr>VLIW: Very Long Instruction Word</vt:lpstr>
      <vt:lpstr>Recall: Unrolled Loop that Minimizes Stalls for Scalar</vt:lpstr>
      <vt:lpstr>Loop Unrolling in VLIW</vt:lpstr>
      <vt:lpstr>Recall: Software Pipelining</vt:lpstr>
      <vt:lpstr>Recall: Software Pipelining Example</vt:lpstr>
      <vt:lpstr>Software Pipelining with Loop Unrolling in VLIW</vt:lpstr>
      <vt:lpstr>Trace Scheduling</vt:lpstr>
      <vt:lpstr>Advantages of HW (Tomasulo) vs. SW (VLIW) Speculation</vt:lpstr>
      <vt:lpstr>Superscalar v. VLIW</vt:lpstr>
      <vt:lpstr>Problems with First Generation VLIW</vt:lpstr>
      <vt:lpstr>Intel/HP IA-64 “Explicitly Parallel Instruction Computer (EPIC)”</vt:lpstr>
      <vt:lpstr>IA-64 Registers</vt:lpstr>
      <vt:lpstr>IA-64 Registers</vt:lpstr>
      <vt:lpstr>EPIC: Explicitly Parallel Instruction Computer</vt:lpstr>
      <vt:lpstr>5 Types of Execution in Bundle</vt:lpstr>
      <vt:lpstr>Itanium™ Processor Silicon (Copyright: Intel at Hotchips ’00) </vt:lpstr>
      <vt:lpstr>Itanium™ Machine Characteristics (Copyright: Intel at Hotchips ’00) </vt:lpstr>
      <vt:lpstr>PowerPoint 演示文稿</vt:lpstr>
      <vt:lpstr>10 Stage In-Order Core Pipeline (Copyright: Intel at Hotchips ’00)</vt:lpstr>
      <vt:lpstr>Itanium processor 10-stage pipeline</vt:lpstr>
      <vt:lpstr>Itanium processor 10-stage pipeline</vt:lpstr>
      <vt:lpstr>Comments on Itanium</vt:lpstr>
      <vt:lpstr>Peformance of IA-64 Itanium?</vt:lpstr>
      <vt:lpstr>Case Study: ARM A53</vt:lpstr>
      <vt:lpstr>Misprediction rate of the A53 branch predictor for SPECint2006</vt:lpstr>
      <vt:lpstr>Wasted work due to branch misprediction on the A53</vt:lpstr>
      <vt:lpstr>The estimated composition of the CPI on the ARM A53</vt:lpstr>
      <vt:lpstr>Intel Core i7</vt:lpstr>
      <vt:lpstr>Buffer size in different i7 implementation</vt:lpstr>
      <vt:lpstr>CPI of different i7 processors</vt:lpstr>
      <vt:lpstr>Comparison between i7/920 and i7/6700</vt:lpstr>
      <vt:lpstr>Desktop vs. Mobile Processor</vt:lpstr>
      <vt:lpstr>Fallacies and Pitfalls</vt:lpstr>
      <vt:lpstr>Fallacies and Pitfalls</vt:lpstr>
      <vt:lpstr>Fallacies and Pitfalls</vt:lpstr>
      <vt:lpstr>Fallacies and Pitfalls</vt:lpstr>
      <vt:lpstr>Characteristics of five generations of IBM Power processors</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流水线中的动态调度</dc:title>
  <dc:creator>Siat</dc:creator>
  <cp:lastModifiedBy>Zhimin Tang</cp:lastModifiedBy>
  <cp:revision>176</cp:revision>
  <dcterms:created xsi:type="dcterms:W3CDTF">2025-10-10T06:03:27Z</dcterms:created>
  <dcterms:modified xsi:type="dcterms:W3CDTF">2025-11-23T13:12:00Z</dcterms:modified>
</cp:coreProperties>
</file>