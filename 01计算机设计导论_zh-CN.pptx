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04"/>
  </p:notesMasterIdLst>
  <p:handoutMasterIdLst>
    <p:handoutMasterId r:id="rId105"/>
  </p:handoutMasterIdLst>
  <p:sldIdLst>
    <p:sldId id="265" r:id="rId2"/>
    <p:sldId id="309" r:id="rId3"/>
    <p:sldId id="375" r:id="rId4"/>
    <p:sldId id="311" r:id="rId5"/>
    <p:sldId id="393" r:id="rId6"/>
    <p:sldId id="394" r:id="rId7"/>
    <p:sldId id="336" r:id="rId8"/>
    <p:sldId id="337" r:id="rId9"/>
    <p:sldId id="338" r:id="rId10"/>
    <p:sldId id="339" r:id="rId11"/>
    <p:sldId id="340" r:id="rId12"/>
    <p:sldId id="349" r:id="rId13"/>
    <p:sldId id="350" r:id="rId14"/>
    <p:sldId id="351" r:id="rId15"/>
    <p:sldId id="352" r:id="rId16"/>
    <p:sldId id="353" r:id="rId17"/>
    <p:sldId id="354" r:id="rId18"/>
    <p:sldId id="355" r:id="rId19"/>
    <p:sldId id="397" r:id="rId20"/>
    <p:sldId id="356" r:id="rId21"/>
    <p:sldId id="357" r:id="rId22"/>
    <p:sldId id="358" r:id="rId23"/>
    <p:sldId id="360" r:id="rId24"/>
    <p:sldId id="361" r:id="rId25"/>
    <p:sldId id="362" r:id="rId26"/>
    <p:sldId id="270" r:id="rId27"/>
    <p:sldId id="271" r:id="rId28"/>
    <p:sldId id="272" r:id="rId29"/>
    <p:sldId id="273" r:id="rId30"/>
    <p:sldId id="274" r:id="rId31"/>
    <p:sldId id="275" r:id="rId32"/>
    <p:sldId id="276" r:id="rId33"/>
    <p:sldId id="307" r:id="rId34"/>
    <p:sldId id="379" r:id="rId35"/>
    <p:sldId id="316" r:id="rId36"/>
    <p:sldId id="378" r:id="rId37"/>
    <p:sldId id="319" r:id="rId38"/>
    <p:sldId id="387" r:id="rId39"/>
    <p:sldId id="348" r:id="rId40"/>
    <p:sldId id="278" r:id="rId41"/>
    <p:sldId id="279" r:id="rId42"/>
    <p:sldId id="280" r:id="rId43"/>
    <p:sldId id="281" r:id="rId44"/>
    <p:sldId id="308" r:id="rId45"/>
    <p:sldId id="312" r:id="rId46"/>
    <p:sldId id="399" r:id="rId47"/>
    <p:sldId id="400" r:id="rId48"/>
    <p:sldId id="401" r:id="rId49"/>
    <p:sldId id="402" r:id="rId50"/>
    <p:sldId id="377" r:id="rId51"/>
    <p:sldId id="277" r:id="rId52"/>
    <p:sldId id="282" r:id="rId53"/>
    <p:sldId id="289" r:id="rId54"/>
    <p:sldId id="395" r:id="rId55"/>
    <p:sldId id="396" r:id="rId56"/>
    <p:sldId id="283" r:id="rId57"/>
    <p:sldId id="284" r:id="rId58"/>
    <p:sldId id="329" r:id="rId59"/>
    <p:sldId id="285" r:id="rId60"/>
    <p:sldId id="287" r:id="rId61"/>
    <p:sldId id="288" r:id="rId62"/>
    <p:sldId id="330" r:id="rId63"/>
    <p:sldId id="331" r:id="rId64"/>
    <p:sldId id="290" r:id="rId65"/>
    <p:sldId id="291" r:id="rId66"/>
    <p:sldId id="292" r:id="rId67"/>
    <p:sldId id="366" r:id="rId68"/>
    <p:sldId id="293" r:id="rId69"/>
    <p:sldId id="294" r:id="rId70"/>
    <p:sldId id="382" r:id="rId71"/>
    <p:sldId id="383" r:id="rId72"/>
    <p:sldId id="295" r:id="rId73"/>
    <p:sldId id="296" r:id="rId74"/>
    <p:sldId id="297" r:id="rId75"/>
    <p:sldId id="384" r:id="rId76"/>
    <p:sldId id="298" r:id="rId77"/>
    <p:sldId id="388" r:id="rId78"/>
    <p:sldId id="390" r:id="rId79"/>
    <p:sldId id="391" r:id="rId80"/>
    <p:sldId id="392" r:id="rId81"/>
    <p:sldId id="367" r:id="rId82"/>
    <p:sldId id="381" r:id="rId83"/>
    <p:sldId id="299" r:id="rId84"/>
    <p:sldId id="368" r:id="rId85"/>
    <p:sldId id="380" r:id="rId86"/>
    <p:sldId id="404" r:id="rId87"/>
    <p:sldId id="300" r:id="rId88"/>
    <p:sldId id="301" r:id="rId89"/>
    <p:sldId id="302" r:id="rId90"/>
    <p:sldId id="303" r:id="rId91"/>
    <p:sldId id="385" r:id="rId92"/>
    <p:sldId id="386" r:id="rId93"/>
    <p:sldId id="369" r:id="rId94"/>
    <p:sldId id="370" r:id="rId95"/>
    <p:sldId id="371" r:id="rId96"/>
    <p:sldId id="372" r:id="rId97"/>
    <p:sldId id="389" r:id="rId98"/>
    <p:sldId id="398" r:id="rId99"/>
    <p:sldId id="373" r:id="rId100"/>
    <p:sldId id="374" r:id="rId101"/>
    <p:sldId id="376" r:id="rId102"/>
    <p:sldId id="305" r:id="rId103"/>
  </p:sldIdLst>
  <p:sldSz cx="12192000" cy="6858000"/>
  <p:notesSz cx="6858000" cy="9144000"/>
  <p:defaultTextStyle>
    <a:defPPr>
      <a:defRPr lang="zh-CN"/>
    </a:defPPr>
    <a:lvl1pPr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94660"/>
  </p:normalViewPr>
  <p:slideViewPr>
    <p:cSldViewPr>
      <p:cViewPr varScale="1">
        <p:scale>
          <a:sx n="93" d="100"/>
          <a:sy n="93" d="100"/>
        </p:scale>
        <p:origin x="226" y="67"/>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21758"/>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notesMaster" Target="notesMasters/notesMaster1.xml"/><Relationship Id="rId105" Type="http://schemas.openxmlformats.org/officeDocument/2006/relationships/handoutMaster" Target="handoutMasters/handoutMaster1.xml"/><Relationship Id="rId106" Type="http://schemas.openxmlformats.org/officeDocument/2006/relationships/presProps" Target="presProps.xml"/><Relationship Id="rId107" Type="http://schemas.openxmlformats.org/officeDocument/2006/relationships/viewProps" Target="viewProps.xml"/><Relationship Id="rId108" Type="http://schemas.openxmlformats.org/officeDocument/2006/relationships/theme" Target="theme/theme1.xml"/><Relationship Id="rId10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5.4248219907516881E-2"/>
          <c:y val="0.17992297723307327"/>
          <c:w val="0.87175811090237698"/>
          <c:h val="0.55531609364738954"/>
        </c:manualLayout>
      </c:layout>
      <c:barChart>
        <c:barDir val="col"/>
        <c:grouping val="stacked"/>
        <c:varyColors val="0"/>
        <c:ser>
          <c:idx val="2"/>
          <c:order val="0"/>
          <c:tx>
            <c:strRef>
              <c:f>Sheet1!$D$1</c:f>
              <c:strCache>
                <c:ptCount val="1"/>
                <c:pt idx="0">
                  <c:v>RISC/EPIC Server</c:v>
                </c:pt>
              </c:strCache>
            </c:strRef>
          </c:tx>
          <c:spPr>
            <a:solidFill>
              <a:schemeClr val="accent3"/>
            </a:solidFill>
            <a:ln w="25400" cap="flat" cmpd="sng" algn="ctr">
              <a:solidFill>
                <a:schemeClr val="accent3">
                  <a:shade val="50000"/>
                </a:schemeClr>
              </a:solidFill>
              <a:prstDash val="solid"/>
            </a:ln>
            <a:effectLst/>
          </c:spPr>
          <c:invertIfNegative val="0"/>
          <c:dLbls>
            <c:spPr>
              <a:noFill/>
              <a:ln>
                <a:noFill/>
              </a:ln>
              <a:effectLst/>
            </c:spPr>
            <c:txPr>
              <a:bodyPr/>
              <a:lstStyle/>
              <a:p>
                <a:pPr>
                  <a:defRPr sz="1000" i="1"/>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Government</c:v>
                </c:pt>
                <c:pt idx="1">
                  <c:v>Finance</c:v>
                </c:pt>
                <c:pt idx="2">
                  <c:v>Teleco/TEM</c:v>
                </c:pt>
                <c:pt idx="3">
                  <c:v>Utilities</c:v>
                </c:pt>
                <c:pt idx="4">
                  <c:v>Transportation</c:v>
                </c:pt>
                <c:pt idx="5">
                  <c:v>Education</c:v>
                </c:pt>
                <c:pt idx="6">
                  <c:v>Manufacturing</c:v>
                </c:pt>
                <c:pt idx="7">
                  <c:v>Internet</c:v>
                </c:pt>
                <c:pt idx="8">
                  <c:v>Resource</c:v>
                </c:pt>
                <c:pt idx="9">
                  <c:v>Health</c:v>
                </c:pt>
                <c:pt idx="10">
                  <c:v>Services</c:v>
                </c:pt>
                <c:pt idx="11">
                  <c:v>Media</c:v>
                </c:pt>
                <c:pt idx="12">
                  <c:v>Distribution</c:v>
                </c:pt>
                <c:pt idx="13">
                  <c:v>Construction</c:v>
                </c:pt>
              </c:strCache>
            </c:strRef>
          </c:cat>
          <c:val>
            <c:numRef>
              <c:f>Sheet1!$D$2:$D$15</c:f>
              <c:numCache>
                <c:formatCode>_ * #,##0.0_ ;_ * \-#,##0.0_ ;_ * "-"??_ ;_ @_ </c:formatCode>
                <c:ptCount val="14"/>
                <c:pt idx="0">
                  <c:v>64.34872482576435</c:v>
                </c:pt>
                <c:pt idx="1">
                  <c:v>188.06760344460287</c:v>
                </c:pt>
                <c:pt idx="2">
                  <c:v>84.50612100788706</c:v>
                </c:pt>
                <c:pt idx="3">
                  <c:v>4.3925377588693832</c:v>
                </c:pt>
                <c:pt idx="4">
                  <c:v>42.516730550843832</c:v>
                </c:pt>
                <c:pt idx="5">
                  <c:v>2.0307227180610172</c:v>
                </c:pt>
                <c:pt idx="6">
                  <c:v>19.917896028675568</c:v>
                </c:pt>
                <c:pt idx="7">
                  <c:v>13.433633303775377</c:v>
                </c:pt>
                <c:pt idx="8">
                  <c:v>6.4138041271720825</c:v>
                </c:pt>
                <c:pt idx="9">
                  <c:v>0.85567660806782642</c:v>
                </c:pt>
                <c:pt idx="10">
                  <c:v>6.2640338174539307</c:v>
                </c:pt>
                <c:pt idx="11">
                  <c:v>1.9199135555213431</c:v>
                </c:pt>
                <c:pt idx="12">
                  <c:v>0.39478661912845858</c:v>
                </c:pt>
                <c:pt idx="13">
                  <c:v>0.74654622104727208</c:v>
                </c:pt>
              </c:numCache>
            </c:numRef>
          </c:val>
          <c:extLst>
            <c:ext xmlns:c16="http://schemas.microsoft.com/office/drawing/2014/chart" uri="{C3380CC4-5D6E-409C-BE32-E72D297353CC}">
              <c16:uniqueId val="{00000000-6FC0-4583-91E9-62D2B4C60A04}"/>
            </c:ext>
          </c:extLst>
        </c:ser>
        <c:ser>
          <c:idx val="3"/>
          <c:order val="1"/>
          <c:tx>
            <c:strRef>
              <c:f>Sheet1!$E$1</c:f>
              <c:strCache>
                <c:ptCount val="1"/>
                <c:pt idx="0">
                  <c:v>4 way+ X86 Server</c:v>
                </c:pt>
              </c:strCache>
            </c:strRef>
          </c:tx>
          <c:spPr>
            <a:solidFill>
              <a:schemeClr val="accent4"/>
            </a:solidFill>
            <a:ln w="25400" cap="flat" cmpd="sng" algn="ctr">
              <a:solidFill>
                <a:schemeClr val="accent4">
                  <a:shade val="50000"/>
                </a:schemeClr>
              </a:solidFill>
              <a:prstDash val="solid"/>
            </a:ln>
            <a:effectLst/>
          </c:spPr>
          <c:invertIfNegative val="0"/>
          <c:cat>
            <c:strRef>
              <c:f>Sheet1!$A$2:$A$15</c:f>
              <c:strCache>
                <c:ptCount val="14"/>
                <c:pt idx="0">
                  <c:v>Government</c:v>
                </c:pt>
                <c:pt idx="1">
                  <c:v>Finance</c:v>
                </c:pt>
                <c:pt idx="2">
                  <c:v>Teleco/TEM</c:v>
                </c:pt>
                <c:pt idx="3">
                  <c:v>Utilities</c:v>
                </c:pt>
                <c:pt idx="4">
                  <c:v>Transportation</c:v>
                </c:pt>
                <c:pt idx="5">
                  <c:v>Education</c:v>
                </c:pt>
                <c:pt idx="6">
                  <c:v>Manufacturing</c:v>
                </c:pt>
                <c:pt idx="7">
                  <c:v>Internet</c:v>
                </c:pt>
                <c:pt idx="8">
                  <c:v>Resource</c:v>
                </c:pt>
                <c:pt idx="9">
                  <c:v>Health</c:v>
                </c:pt>
                <c:pt idx="10">
                  <c:v>Services</c:v>
                </c:pt>
                <c:pt idx="11">
                  <c:v>Media</c:v>
                </c:pt>
                <c:pt idx="12">
                  <c:v>Distribution</c:v>
                </c:pt>
                <c:pt idx="13">
                  <c:v>Construction</c:v>
                </c:pt>
              </c:strCache>
            </c:strRef>
          </c:cat>
          <c:val>
            <c:numRef>
              <c:f>Sheet1!$E$2:$E$15</c:f>
              <c:numCache>
                <c:formatCode>0.0_);[Red]\(0.0\)</c:formatCode>
                <c:ptCount val="14"/>
                <c:pt idx="0">
                  <c:v>730.85337426503781</c:v>
                </c:pt>
                <c:pt idx="1">
                  <c:v>308.07516110869318</c:v>
                </c:pt>
                <c:pt idx="2">
                  <c:v>358.93192215391855</c:v>
                </c:pt>
                <c:pt idx="3">
                  <c:v>163.96915599999997</c:v>
                </c:pt>
                <c:pt idx="4">
                  <c:v>80.178128331745299</c:v>
                </c:pt>
                <c:pt idx="5">
                  <c:v>118.72036598679118</c:v>
                </c:pt>
                <c:pt idx="6">
                  <c:v>91.009260558085558</c:v>
                </c:pt>
                <c:pt idx="7">
                  <c:v>73.458801302852734</c:v>
                </c:pt>
                <c:pt idx="8">
                  <c:v>74.963081108691995</c:v>
                </c:pt>
                <c:pt idx="9">
                  <c:v>54.152702593508103</c:v>
                </c:pt>
                <c:pt idx="10">
                  <c:v>35.979455165872899</c:v>
                </c:pt>
                <c:pt idx="11">
                  <c:v>26.87795422021906</c:v>
                </c:pt>
                <c:pt idx="12">
                  <c:v>23.612751642185383</c:v>
                </c:pt>
                <c:pt idx="13">
                  <c:v>11.124250999999989</c:v>
                </c:pt>
              </c:numCache>
            </c:numRef>
          </c:val>
          <c:extLst>
            <c:ext xmlns:c16="http://schemas.microsoft.com/office/drawing/2014/chart" uri="{C3380CC4-5D6E-409C-BE32-E72D297353CC}">
              <c16:uniqueId val="{00000001-6FC0-4583-91E9-62D2B4C60A04}"/>
            </c:ext>
          </c:extLst>
        </c:ser>
        <c:dLbls>
          <c:showLegendKey val="0"/>
          <c:showVal val="0"/>
          <c:showCatName val="0"/>
          <c:showSerName val="0"/>
          <c:showPercent val="0"/>
          <c:showBubbleSize val="0"/>
        </c:dLbls>
        <c:gapWidth val="50"/>
        <c:overlap val="100"/>
        <c:axId val="1982356608"/>
        <c:axId val="1982358784"/>
      </c:barChart>
      <c:catAx>
        <c:axId val="1982356608"/>
        <c:scaling>
          <c:orientation val="minMax"/>
        </c:scaling>
        <c:delete val="0"/>
        <c:axPos val="b"/>
        <c:numFmt formatCode="General" sourceLinked="1"/>
        <c:majorTickMark val="out"/>
        <c:minorTickMark val="none"/>
        <c:tickLblPos val="nextTo"/>
        <c:crossAx val="1982358784"/>
        <c:crosses val="autoZero"/>
        <c:auto val="1"/>
        <c:lblAlgn val="ctr"/>
        <c:lblOffset val="100"/>
        <c:noMultiLvlLbl val="0"/>
      </c:catAx>
      <c:valAx>
        <c:axId val="1982358784"/>
        <c:scaling>
          <c:orientation val="minMax"/>
          <c:max val="1000"/>
        </c:scaling>
        <c:delete val="0"/>
        <c:axPos val="l"/>
        <c:numFmt formatCode="#,##0.0_);\(#,##0.0\)" sourceLinked="0"/>
        <c:majorTickMark val="out"/>
        <c:minorTickMark val="none"/>
        <c:tickLblPos val="nextTo"/>
        <c:crossAx val="1982356608"/>
        <c:crosses val="autoZero"/>
        <c:crossBetween val="between"/>
        <c:majorUnit val="200"/>
      </c:valAx>
    </c:plotArea>
    <c:legend>
      <c:legendPos val="b"/>
      <c:layout>
        <c:manualLayout>
          <c:xMode val="edge"/>
          <c:yMode val="edge"/>
          <c:x val="0.11899918846793353"/>
          <c:y val="0.91523276310336943"/>
          <c:w val="0.74148476454822887"/>
          <c:h val="5.4133031867474452E-2"/>
        </c:manualLayout>
      </c:layout>
      <c:overlay val="0"/>
      <c:txPr>
        <a:bodyPr/>
        <a:lstStyle/>
        <a:p>
          <a:pPr>
            <a:defRPr sz="1400"/>
          </a:pPr>
          <a:endParaRPr lang="zh-CN"/>
        </a:p>
      </c:txPr>
    </c:legend>
    <c:plotVisOnly val="1"/>
    <c:dispBlanksAs val="gap"/>
    <c:showDLblsOverMax val="0"/>
  </c:chart>
  <c:txPr>
    <a:bodyPr/>
    <a:lstStyle/>
    <a:p>
      <a:pPr>
        <a:defRPr sz="1000">
          <a:latin typeface="+mn-lt"/>
        </a:defRPr>
      </a:pPr>
      <a:endParaRPr lang="zh-CN"/>
    </a:p>
  </c:txPr>
  <c:externalData r:id="rId2">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3.wmf"/><Relationship Id="rId2" Type="http://schemas.openxmlformats.org/officeDocument/2006/relationships/image" Target="../media/image54.wmf"/><Relationship Id="rId3" Type="http://schemas.openxmlformats.org/officeDocument/2006/relationships/image" Target="../media/image55.wmf"/><Relationship Id="rId4" Type="http://schemas.openxmlformats.org/officeDocument/2006/relationships/image" Target="../media/image5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6.wmf"/><Relationship Id="rId2" Type="http://schemas.openxmlformats.org/officeDocument/2006/relationships/image" Target="../media/image6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68A6223A-CA48-4471-B8F7-D37FCC5B31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单击以编辑母版文本样式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DD578B6-544B-410C-ADFF-D2920E8D1C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C01E9C4-4BE7-4D55-9A2A-A948AB7F9C7D}"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402620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5275DF2-BB82-40AC-92F1-ED5B41E556E4}"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80516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0099BBB-8DDB-4FDC-B732-49E73D96D313}"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472705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1B23102-416C-476B-9BD9-F5CF6AF030F2}"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52368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6D5B4CF4-083C-BD4D-A718-8F504A387C22}" type="slidenum">
              <a:rPr lang="en-US" altLang="zh-CN" smtClean="0"/>
              <a:pPr/>
              <a:t>22</a:t>
            </a:fld>
            <a:endParaRPr lang="en-US" altLang="zh-CN"/>
          </a:p>
        </p:txBody>
      </p:sp>
    </p:spTree>
    <p:extLst>
      <p:ext uri="{BB962C8B-B14F-4D97-AF65-F5344CB8AC3E}">
        <p14:creationId xmlns:p14="http://schemas.microsoft.com/office/powerpoint/2010/main" val="136732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1C354AD5-CB6C-491A-86DA-B01BB1DA6843}"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398857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1E381A1-3897-42F4-8CDB-DD9550178870}"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469948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ln/>
        </p:spPr>
        <p:txBody>
          <a:bodyPr/>
          <a:lstStyle/>
          <a:p>
            <a:endParaRPr lang="zh-CN" altLang="zh-CN"/>
          </a:p>
        </p:txBody>
      </p:sp>
      <p:sp>
        <p:nvSpPr>
          <p:cNvPr id="3379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516734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noFill/>
          <a:ln/>
        </p:spPr>
        <p:txBody>
          <a:bodyPr/>
          <a:lstStyle/>
          <a:p>
            <a:r>
              <a:rPr lang="en-US" altLang="zh-CN"/>
              <a:t>Where to start: existing systems bottlenecks</a:t>
            </a:r>
          </a:p>
        </p:txBody>
      </p:sp>
      <p:sp>
        <p:nvSpPr>
          <p:cNvPr id="358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82296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ln/>
        </p:spPr>
        <p:txBody>
          <a:bodyPr/>
          <a:lstStyle/>
          <a:p>
            <a:endParaRPr lang="zh-CN" altLang="zh-CN"/>
          </a:p>
        </p:txBody>
      </p:sp>
      <p:sp>
        <p:nvSpPr>
          <p:cNvPr id="3789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338345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p:spPr>
        <p:txBody>
          <a:bodyPr/>
          <a:lstStyle/>
          <a:p>
            <a:r>
              <a:rPr lang="en-US" altLang="zh-CN"/>
              <a:t>How hard to build</a:t>
            </a:r>
          </a:p>
          <a:p>
            <a:r>
              <a:rPr lang="en-US" altLang="zh-CN"/>
              <a:t>Importance of simplicity (wearing a seat belt); avoiding a personal disaster</a:t>
            </a:r>
          </a:p>
          <a:p>
            <a:endParaRPr lang="en-US" altLang="zh-CN"/>
          </a:p>
          <a:p>
            <a:r>
              <a:rPr lang="en-US" altLang="zh-CN"/>
              <a:t>Theory vs. practice</a:t>
            </a:r>
          </a:p>
        </p:txBody>
      </p:sp>
      <p:sp>
        <p:nvSpPr>
          <p:cNvPr id="3993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33727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20AA92A-7272-47A4-907F-7E106B0FC202}"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30722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3AFFC68F-655D-47D6-A5E5-B73CCD22406A}"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332436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3AFFC68F-655D-47D6-A5E5-B73CCD22406A}"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18875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ln/>
        </p:spPr>
        <p:txBody>
          <a:bodyPr/>
          <a:lstStyle/>
          <a:p>
            <a:endParaRPr lang="zh-CN" altLang="zh-CN"/>
          </a:p>
        </p:txBody>
      </p:sp>
      <p:sp>
        <p:nvSpPr>
          <p:cNvPr id="4198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418302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05DBCDA-8486-4A61-AF34-B248D509BB23}"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54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511033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r>
              <a:rPr lang="en-US" altLang="zh-CN"/>
              <a:t>Fastest for 1 person?</a:t>
            </a:r>
          </a:p>
          <a:p>
            <a:r>
              <a:rPr lang="en-US" altLang="zh-CN"/>
              <a:t>Which takes less time to transport 470 passengers?</a:t>
            </a:r>
          </a:p>
        </p:txBody>
      </p:sp>
      <p:sp>
        <p:nvSpPr>
          <p:cNvPr id="440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109766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p:spPr>
        <p:txBody>
          <a:bodyPr/>
          <a:lstStyle/>
          <a:p>
            <a:r>
              <a:rPr lang="en-US" altLang="zh-CN"/>
              <a:t>1350 / 610 = 2.2X</a:t>
            </a:r>
          </a:p>
          <a:p>
            <a:r>
              <a:rPr lang="en-US" altLang="zh-CN" sz="1800">
                <a:solidFill>
                  <a:srgbClr val="000000"/>
                </a:solidFill>
              </a:rPr>
              <a:t>286,700/ 178,200 1.6X</a:t>
            </a:r>
            <a:endParaRPr lang="en-US" altLang="zh-CN"/>
          </a:p>
          <a:p>
            <a:endParaRPr lang="en-US" altLang="zh-CN"/>
          </a:p>
        </p:txBody>
      </p:sp>
      <p:sp>
        <p:nvSpPr>
          <p:cNvPr id="4608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554123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5A4FE0A-41B8-47C4-9B38-CA5370AB885F}"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58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144930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ln/>
        </p:spPr>
        <p:txBody>
          <a:bodyPr/>
          <a:lstStyle/>
          <a:p>
            <a:endParaRPr lang="zh-CN" altLang="zh-CN"/>
          </a:p>
        </p:txBody>
      </p:sp>
      <p:sp>
        <p:nvSpPr>
          <p:cNvPr id="4813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56962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C1AE55C-9EED-47B5-873E-8CC2F73085AF}"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67144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D40523B-4C82-49F6-AECE-7BCDAFBE526A}"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10085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805993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831621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3AABA4-3639-4697-ACC5-3220CCE21E9A}"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9957887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11B9752-CC17-46F8-B60D-509F2267AB5C}"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75123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12A10AC-6982-4C46-8F14-976F043F4720}"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331844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2054041-EEE1-4227-965F-DC2D19F0AD30}"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284657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47686A5-5EF2-46AB-9064-1FA9A34D0C66}"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94</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60113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545A85-C36E-4A12-8CE8-BAC7F1B0BF8A}"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252751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DB11346-78A8-49A3-97AC-47C7F0A01256}"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709768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42B9125-DC35-41DE-9172-1744FEF9173D}"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99</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5239229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F2F37B-66F7-445B-A1C2-B0313DA7F493}"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100</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272814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17938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99331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2497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72703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39211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86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871200" cy="9144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609600" y="1447800"/>
            <a:ext cx="10905067" cy="4610100"/>
          </a:xfrm>
        </p:spPr>
        <p:txBody>
          <a:bodyPr/>
          <a:lstStyle/>
          <a:p>
            <a:endParaRPr lang="zh-CN" altLang="en-US"/>
          </a:p>
        </p:txBody>
      </p:sp>
    </p:spTree>
    <p:extLst>
      <p:ext uri="{BB962C8B-B14F-4D97-AF65-F5344CB8AC3E}">
        <p14:creationId xmlns:p14="http://schemas.microsoft.com/office/powerpoint/2010/main" val="308015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814918" y="115889"/>
            <a:ext cx="11042649" cy="701675"/>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912285" y="1125538"/>
            <a:ext cx="11027833" cy="5111750"/>
          </a:xfrm>
        </p:spPr>
        <p:txBody>
          <a:bodyPr/>
          <a:lstStyle/>
          <a:p>
            <a:endParaRPr lang="en-US"/>
          </a:p>
        </p:txBody>
      </p:sp>
      <p:sp>
        <p:nvSpPr>
          <p:cNvPr id="4" name="Footer Placeholder 3"/>
          <p:cNvSpPr>
            <a:spLocks noGrp="1"/>
          </p:cNvSpPr>
          <p:nvPr>
            <p:ph type="ftr" sz="quarter" idx="10"/>
          </p:nvPr>
        </p:nvSpPr>
        <p:spPr>
          <a:xfrm>
            <a:off x="1390651" y="6381751"/>
            <a:ext cx="9696449" cy="358775"/>
          </a:xfrm>
        </p:spPr>
        <p:txBody>
          <a:bodyPr/>
          <a:lstStyle>
            <a:lvl1pPr>
              <a:defRPr/>
            </a:lvl1pPr>
          </a:lstStyle>
          <a:p>
            <a:r>
              <a:rPr lang="en-US" smtClean="0"/>
              <a:t>Copyright © 2019, Elsevier Inc. All rights reserved.</a:t>
            </a:r>
            <a:endParaRPr lang="en-AU" dirty="0"/>
          </a:p>
        </p:txBody>
      </p:sp>
    </p:spTree>
    <p:extLst>
      <p:ext uri="{BB962C8B-B14F-4D97-AF65-F5344CB8AC3E}">
        <p14:creationId xmlns:p14="http://schemas.microsoft.com/office/powerpoint/2010/main" val="10392261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Copyright © 2019, Elsevier Inc. All rights reserved.</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995DCE2-E1D3-41AF-AA0F-2ACC42A603E2}" type="slidenum">
              <a:rPr lang="en-US"/>
              <a:pPr>
                <a:defRPr/>
              </a:pPr>
              <a:t>‹#›</a:t>
            </a:fld>
            <a:endParaRPr lang="en-US" dirty="0"/>
          </a:p>
        </p:txBody>
      </p:sp>
      <p:pic>
        <p:nvPicPr>
          <p:cNvPr id="2" name="图片 1"/>
          <p:cNvPicPr>
            <a:picLocks noChangeAspect="1"/>
          </p:cNvPicPr>
          <p:nvPr userDrawn="1"/>
        </p:nvPicPr>
        <p:blipFill>
          <a:blip r:embed="rId10"/>
          <a:stretch>
            <a:fillRect/>
          </a:stretch>
        </p:blipFill>
        <p:spPr>
          <a:xfrm>
            <a:off x="4943" y="1392216"/>
            <a:ext cx="12187057" cy="9256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9" r:id="rId4"/>
    <p:sldLayoutId id="2147483720" r:id="rId5"/>
    <p:sldLayoutId id="2147483721" r:id="rId6"/>
    <p:sldLayoutId id="2147483727" r:id="rId7"/>
    <p:sldLayoutId id="2147483728" r:id="rId8"/>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5.xml"/><Relationship Id="rId3" Type="http://schemas.openxmlformats.org/officeDocument/2006/relationships/oleObject" Target="../embeddings/oleObject1.bin"/><Relationship Id="rId4" Type="http://schemas.openxmlformats.org/officeDocument/2006/relationships/image" Target="../media/image3.wmf"/><Relationship Id="rId5" Type="http://schemas.openxmlformats.org/officeDocument/2006/relationships/oleObject" Target="../embeddings/oleObject2.bin"/><Relationship Id="rId6" Type="http://schemas.openxmlformats.org/officeDocument/2006/relationships/oleObject" Target="../embeddings/oleObject3.bin"/><Relationship Id="rId7" Type="http://schemas.openxmlformats.org/officeDocument/2006/relationships/oleObject" Target="../embeddings/oleObject4.bin"/><Relationship Id="rId8" Type="http://schemas.openxmlformats.org/officeDocument/2006/relationships/oleObject" Target="../embeddings/oleObject5.bin"/><Relationship Id="rId9" Type="http://schemas.openxmlformats.org/officeDocument/2006/relationships/oleObject" Target="../embeddings/oleObject6.bin"/><Relationship Id="rId10" Type="http://schemas.openxmlformats.org/officeDocument/2006/relationships/oleObject" Target="../embeddings/oleObject7.bin"/><Relationship Id="rId11" Type="http://schemas.openxmlformats.org/officeDocument/2006/relationships/oleObject" Target="../embeddings/oleObject8.bin"/><Relationship Id="rId12" Type="http://schemas.openxmlformats.org/officeDocument/2006/relationships/oleObject" Target="../embeddings/oleObject9.bin"/><Relationship Id="rId13" Type="http://schemas.openxmlformats.org/officeDocument/2006/relationships/oleObject" Target="../embeddings/oleObject10.bin"/><Relationship Id="rId14" Type="http://schemas.openxmlformats.org/officeDocument/2006/relationships/oleObject" Target="../embeddings/oleObject11.bin"/><Relationship Id="rId15" Type="http://schemas.openxmlformats.org/officeDocument/2006/relationships/oleObject" Target="../embeddings/oleObject12.bin"/><Relationship Id="rId16" Type="http://schemas.openxmlformats.org/officeDocument/2006/relationships/oleObject" Target="../embeddings/oleObject13.bin"/><Relationship Id="rId17" Type="http://schemas.openxmlformats.org/officeDocument/2006/relationships/oleObject" Target="../embeddings/oleObject14.bin"/><Relationship Id="rId18" Type="http://schemas.openxmlformats.org/officeDocument/2006/relationships/oleObject" Target="../embeddings/oleObject15.bin"/><Relationship Id="rId19" Type="http://schemas.openxmlformats.org/officeDocument/2006/relationships/image" Target="../media/image4.png"/><Relationship Id="rId20" Type="http://schemas.openxmlformats.org/officeDocument/2006/relationships/image" Target="../media/image5.png"/><Relationship Id="rId2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wmf"/></Relationships>
</file>

<file path=ppt/slides/_rels/slide31.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7.xml"/><Relationship Id="rId3" Type="http://schemas.openxmlformats.org/officeDocument/2006/relationships/oleObject" Target="../embeddings/oleObject16.bin"/><Relationship Id="rId4" Type="http://schemas.openxmlformats.org/officeDocument/2006/relationships/image" Target="../media/image2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2.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4.png"/><Relationship Id="rId3" Type="http://schemas.openxmlformats.org/officeDocument/2006/relationships/image" Target="../media/image35.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4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oleObject" Target="../embeddings/oleObject17.bin"/><Relationship Id="rId4" Type="http://schemas.openxmlformats.org/officeDocument/2006/relationships/image" Target="../media/image47.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9.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2.jpeg"/></Relationships>
</file>

<file path=ppt/slides/_rels/slide83.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2.xml"/><Relationship Id="rId3" Type="http://schemas.openxmlformats.org/officeDocument/2006/relationships/oleObject" Target="../embeddings/oleObject18.bin"/><Relationship Id="rId4" Type="http://schemas.openxmlformats.org/officeDocument/2006/relationships/image" Target="../media/image53.wmf"/><Relationship Id="rId5" Type="http://schemas.openxmlformats.org/officeDocument/2006/relationships/oleObject" Target="../embeddings/oleObject19.bin"/><Relationship Id="rId6" Type="http://schemas.openxmlformats.org/officeDocument/2006/relationships/image" Target="../media/image54.wmf"/><Relationship Id="rId7" Type="http://schemas.openxmlformats.org/officeDocument/2006/relationships/oleObject" Target="../embeddings/oleObject20.bin"/><Relationship Id="rId8" Type="http://schemas.openxmlformats.org/officeDocument/2006/relationships/image" Target="../media/image55.wmf"/><Relationship Id="rId9" Type="http://schemas.openxmlformats.org/officeDocument/2006/relationships/oleObject" Target="../embeddings/oleObject21.bin"/><Relationship Id="rId10" Type="http://schemas.openxmlformats.org/officeDocument/2006/relationships/image" Target="../media/image56.w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1.png"/><Relationship Id="rId3" Type="http://schemas.openxmlformats.org/officeDocument/2006/relationships/image" Target="../media/image6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oleObject22.bin"/><Relationship Id="rId4" Type="http://schemas.openxmlformats.org/officeDocument/2006/relationships/image" Target="../media/image66.wmf"/><Relationship Id="rId5" Type="http://schemas.openxmlformats.org/officeDocument/2006/relationships/oleObject" Target="../embeddings/oleObject23.bin"/><Relationship Id="rId6" Type="http://schemas.openxmlformats.org/officeDocument/2006/relationships/image" Target="../media/image67.wmf"/><Relationship Id="rId7" Type="http://schemas.openxmlformats.org/officeDocument/2006/relationships/image" Target="../media/image68.jpg"/><Relationship Id="rId8" Type="http://schemas.openxmlformats.org/officeDocument/2006/relationships/image" Target="../media/image69.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1.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3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6.jpe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zh-CN" altLang="en-US" dirty="0" smtClean="0"/>
              <a:t>计算机系统设计导论</a:t>
            </a:r>
            <a:endParaRPr lang="zh-CN" altLang="en-US" dirty="0"/>
          </a:p>
        </p:txBody>
      </p:sp>
      <p:sp>
        <p:nvSpPr>
          <p:cNvPr id="4099" name="Rectangle 3"/>
          <p:cNvSpPr>
            <a:spLocks noGrp="1" noChangeArrowheads="1"/>
          </p:cNvSpPr>
          <p:nvPr>
            <p:ph type="subTitle" idx="1"/>
          </p:nvPr>
        </p:nvSpPr>
        <p:spPr>
          <a:xfrm>
            <a:off x="1524000" y="2348880"/>
            <a:ext cx="9144000" cy="3600400"/>
          </a:xfrm>
        </p:spPr>
        <p:txBody>
          <a:bodyPr/>
          <a:lstStyle/>
          <a:p>
            <a:r>
              <a:rPr lang="zh-CN" altLang="en-US" sz="3200" dirty="0" smtClean="0"/>
              <a:t>计算机类型和计算模式的变迁</a:t>
            </a:r>
            <a:endParaRPr lang="en-US" altLang="zh-CN" sz="3200" dirty="0" smtClean="0"/>
          </a:p>
          <a:p>
            <a:r>
              <a:rPr lang="zh-CN" altLang="en-US" sz="3200" dirty="0" smtClean="0"/>
              <a:t>计算机架构和计算机</a:t>
            </a:r>
            <a:r>
              <a:rPr lang="zh-CN" altLang="en-US" sz="3200" dirty="0"/>
              <a:t>产业的</a:t>
            </a:r>
            <a:r>
              <a:rPr lang="zh-CN" altLang="en-US" sz="3200" dirty="0" smtClean="0"/>
              <a:t>发展变化</a:t>
            </a:r>
            <a:endParaRPr lang="en-US" altLang="zh-CN" sz="3200" dirty="0" smtClean="0"/>
          </a:p>
          <a:p>
            <a:r>
              <a:rPr lang="zh-CN" altLang="en-US" sz="3200" dirty="0" smtClean="0"/>
              <a:t>技术趋势和经济规律</a:t>
            </a:r>
          </a:p>
          <a:p>
            <a:r>
              <a:rPr lang="zh-CN" altLang="en-US" sz="3200" dirty="0" smtClean="0"/>
              <a:t>计算机系统的性能及其度量</a:t>
            </a:r>
          </a:p>
          <a:p>
            <a:r>
              <a:rPr lang="zh-CN" altLang="en-US" sz="3200" dirty="0" smtClean="0"/>
              <a:t>成本、功耗、可靠性</a:t>
            </a:r>
          </a:p>
        </p:txBody>
      </p:sp>
    </p:spTree>
    <p:extLst>
      <p:ext uri="{BB962C8B-B14F-4D97-AF65-F5344CB8AC3E}">
        <p14:creationId xmlns:p14="http://schemas.microsoft.com/office/powerpoint/2010/main" val="3402001151"/>
      </p:ext>
    </p:extLst>
  </p:cSld>
  <p:clrMapOvr>
    <a:masterClrMapping/>
  </p:clrMapOvr>
  <p:transition>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Classes of Computers </a:t>
            </a:r>
            <a:r>
              <a:rPr lang="zh-CN" altLang="en-US" dirty="0" smtClean="0"/>
              <a:t>（外形、尺寸）</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400" dirty="0"/>
              <a:t>Personal Mobile Device (PMD)</a:t>
            </a:r>
          </a:p>
          <a:p>
            <a:pPr lvl="1">
              <a:lnSpc>
                <a:spcPct val="90000"/>
              </a:lnSpc>
            </a:pPr>
            <a:r>
              <a:rPr lang="en-US" sz="2000" dirty="0"/>
              <a:t>e.g. start phones, tablet computers</a:t>
            </a:r>
          </a:p>
          <a:p>
            <a:pPr lvl="1">
              <a:lnSpc>
                <a:spcPct val="90000"/>
              </a:lnSpc>
            </a:pPr>
            <a:r>
              <a:rPr lang="en-US" sz="2000" dirty="0"/>
              <a:t>Emphasis on energy efficiency and real-time</a:t>
            </a:r>
          </a:p>
          <a:p>
            <a:pPr>
              <a:lnSpc>
                <a:spcPct val="90000"/>
              </a:lnSpc>
            </a:pPr>
            <a:r>
              <a:rPr lang="en-US" sz="2400" dirty="0"/>
              <a:t>Desktop Computing</a:t>
            </a:r>
          </a:p>
          <a:p>
            <a:pPr lvl="1">
              <a:lnSpc>
                <a:spcPct val="90000"/>
              </a:lnSpc>
            </a:pPr>
            <a:r>
              <a:rPr lang="en-US" sz="2000" dirty="0"/>
              <a:t>Emphasis on price-performance</a:t>
            </a:r>
          </a:p>
          <a:p>
            <a:pPr>
              <a:lnSpc>
                <a:spcPct val="90000"/>
              </a:lnSpc>
            </a:pPr>
            <a:r>
              <a:rPr lang="en-US" sz="2400" dirty="0"/>
              <a:t>Servers</a:t>
            </a:r>
          </a:p>
          <a:p>
            <a:pPr lvl="1">
              <a:lnSpc>
                <a:spcPct val="90000"/>
              </a:lnSpc>
            </a:pPr>
            <a:r>
              <a:rPr lang="en-US" sz="2000" dirty="0"/>
              <a:t>Emphasis on availability, scalability, throughput</a:t>
            </a:r>
          </a:p>
          <a:p>
            <a:pPr>
              <a:lnSpc>
                <a:spcPct val="90000"/>
              </a:lnSpc>
            </a:pPr>
            <a:r>
              <a:rPr lang="en-US" sz="2400" dirty="0"/>
              <a:t>Clusters / Warehouse Scale Computers</a:t>
            </a:r>
          </a:p>
          <a:p>
            <a:pPr lvl="1">
              <a:lnSpc>
                <a:spcPct val="90000"/>
              </a:lnSpc>
            </a:pPr>
            <a:r>
              <a:rPr lang="en-US" sz="2000" dirty="0"/>
              <a:t>Used for “Software as a Service (</a:t>
            </a:r>
            <a:r>
              <a:rPr lang="en-US" sz="2000" dirty="0" err="1"/>
              <a:t>SaaS</a:t>
            </a:r>
            <a:r>
              <a:rPr lang="en-US" sz="2000" dirty="0"/>
              <a:t>)”</a:t>
            </a:r>
          </a:p>
          <a:p>
            <a:pPr lvl="1">
              <a:lnSpc>
                <a:spcPct val="90000"/>
              </a:lnSpc>
            </a:pPr>
            <a:r>
              <a:rPr lang="en-US" sz="2000" dirty="0"/>
              <a:t>Emphasis on availability and price-performance</a:t>
            </a:r>
          </a:p>
          <a:p>
            <a:pPr lvl="1">
              <a:lnSpc>
                <a:spcPct val="90000"/>
              </a:lnSpc>
            </a:pPr>
            <a:r>
              <a:rPr lang="en-US" sz="2000" dirty="0"/>
              <a:t>Sub-class:  </a:t>
            </a:r>
            <a:r>
              <a:rPr lang="en-US" sz="2000" dirty="0">
                <a:solidFill>
                  <a:srgbClr val="FF0000"/>
                </a:solidFill>
              </a:rPr>
              <a:t>Supercomputers</a:t>
            </a:r>
            <a:r>
              <a:rPr lang="en-US" sz="2000" dirty="0"/>
              <a:t>, emphasis:  floating-point performance and fast internal networks</a:t>
            </a:r>
          </a:p>
          <a:p>
            <a:pPr>
              <a:lnSpc>
                <a:spcPct val="90000"/>
              </a:lnSpc>
            </a:pPr>
            <a:r>
              <a:rPr lang="en-US" sz="2400" dirty="0"/>
              <a:t>Internet of Things/Embedded Computers</a:t>
            </a:r>
          </a:p>
          <a:p>
            <a:pPr lvl="1">
              <a:lnSpc>
                <a:spcPct val="90000"/>
              </a:lnSpc>
            </a:pPr>
            <a:r>
              <a:rPr lang="en-US" sz="2000" dirty="0"/>
              <a:t>Emphasis:  price</a:t>
            </a:r>
          </a:p>
        </p:txBody>
      </p:sp>
      <p:sp>
        <p:nvSpPr>
          <p:cNvPr id="6" name="AutoShape 5"/>
          <p:cNvSpPr>
            <a:spLocks noChangeArrowheads="1"/>
          </p:cNvSpPr>
          <p:nvPr/>
        </p:nvSpPr>
        <p:spPr bwMode="auto">
          <a:xfrm>
            <a:off x="8615486" y="1824518"/>
            <a:ext cx="3322637" cy="3314700"/>
          </a:xfrm>
          <a:prstGeom prst="triangle">
            <a:avLst>
              <a:gd name="adj" fmla="val 50000"/>
            </a:avLst>
          </a:prstGeom>
          <a:solidFill>
            <a:srgbClr val="92D05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ctr" eaLnBrk="1" hangingPunct="1">
              <a:lnSpc>
                <a:spcPct val="100000"/>
              </a:lnSpc>
              <a:spcBef>
                <a:spcPct val="0"/>
              </a:spcBef>
              <a:buFontTx/>
              <a:buNone/>
            </a:pPr>
            <a:endParaRPr lang="zh-CN" altLang="zh-CN" sz="1800" dirty="0">
              <a:solidFill>
                <a:srgbClr val="002060"/>
              </a:solidFill>
              <a:latin typeface="微软雅黑" panose="020B0503020204020204" pitchFamily="34" charset="-122"/>
              <a:ea typeface="微软雅黑" panose="020B0503020204020204" pitchFamily="34" charset="-122"/>
            </a:endParaRPr>
          </a:p>
        </p:txBody>
      </p:sp>
      <p:sp>
        <p:nvSpPr>
          <p:cNvPr id="7" name="Line 7"/>
          <p:cNvSpPr>
            <a:spLocks noChangeShapeType="1"/>
          </p:cNvSpPr>
          <p:nvPr/>
        </p:nvSpPr>
        <p:spPr bwMode="auto">
          <a:xfrm>
            <a:off x="8986167" y="4344566"/>
            <a:ext cx="2584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8" name="Line 8"/>
          <p:cNvSpPr>
            <a:spLocks noChangeShapeType="1"/>
          </p:cNvSpPr>
          <p:nvPr/>
        </p:nvSpPr>
        <p:spPr bwMode="auto">
          <a:xfrm>
            <a:off x="9302080" y="3715916"/>
            <a:ext cx="19510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9" name="Line 9"/>
          <p:cNvSpPr>
            <a:spLocks noChangeShapeType="1"/>
          </p:cNvSpPr>
          <p:nvPr/>
        </p:nvSpPr>
        <p:spPr bwMode="auto">
          <a:xfrm>
            <a:off x="9619580" y="3087266"/>
            <a:ext cx="1317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10" name="Line 10"/>
          <p:cNvSpPr>
            <a:spLocks noChangeShapeType="1"/>
          </p:cNvSpPr>
          <p:nvPr/>
        </p:nvSpPr>
        <p:spPr bwMode="auto">
          <a:xfrm>
            <a:off x="9933905" y="2458616"/>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11" name="Text Box 12"/>
          <p:cNvSpPr txBox="1">
            <a:spLocks noChangeArrowheads="1"/>
          </p:cNvSpPr>
          <p:nvPr/>
        </p:nvSpPr>
        <p:spPr bwMode="auto">
          <a:xfrm>
            <a:off x="8668667" y="2056978"/>
            <a:ext cx="2008563"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dirty="0">
                <a:solidFill>
                  <a:srgbClr val="002060"/>
                </a:solidFill>
                <a:latin typeface="微软雅黑" panose="020B0503020204020204" pitchFamily="34" charset="-122"/>
                <a:ea typeface="微软雅黑" panose="020B0503020204020204" pitchFamily="34" charset="-122"/>
              </a:rPr>
              <a:t>Super Computer</a:t>
            </a:r>
          </a:p>
        </p:txBody>
      </p:sp>
      <p:sp>
        <p:nvSpPr>
          <p:cNvPr id="12" name="Text Box 13"/>
          <p:cNvSpPr txBox="1">
            <a:spLocks noChangeArrowheads="1"/>
          </p:cNvSpPr>
          <p:nvPr/>
        </p:nvSpPr>
        <p:spPr bwMode="auto">
          <a:xfrm>
            <a:off x="8840117" y="2458616"/>
            <a:ext cx="1599027"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dirty="0">
                <a:solidFill>
                  <a:srgbClr val="002060"/>
                </a:solidFill>
                <a:latin typeface="微软雅黑" panose="020B0503020204020204" pitchFamily="34" charset="-122"/>
                <a:ea typeface="微软雅黑" panose="020B0503020204020204" pitchFamily="34" charset="-122"/>
              </a:rPr>
              <a:t>Super Server</a:t>
            </a:r>
          </a:p>
          <a:p>
            <a:pPr eaLnBrk="1" hangingPunct="1">
              <a:lnSpc>
                <a:spcPct val="100000"/>
              </a:lnSpc>
              <a:spcBef>
                <a:spcPct val="0"/>
              </a:spcBef>
              <a:buFontTx/>
              <a:buNone/>
            </a:pPr>
            <a:r>
              <a:rPr lang="en-US" altLang="zh-CN" sz="1800" dirty="0">
                <a:solidFill>
                  <a:srgbClr val="002060"/>
                </a:solidFill>
                <a:latin typeface="微软雅黑" panose="020B0503020204020204" pitchFamily="34" charset="-122"/>
                <a:ea typeface="微软雅黑" panose="020B0503020204020204" pitchFamily="34" charset="-122"/>
              </a:rPr>
              <a:t>Mainframe</a:t>
            </a:r>
          </a:p>
        </p:txBody>
      </p:sp>
      <p:sp>
        <p:nvSpPr>
          <p:cNvPr id="13" name="Text Box 14"/>
          <p:cNvSpPr txBox="1">
            <a:spLocks noChangeArrowheads="1"/>
          </p:cNvSpPr>
          <p:nvPr/>
        </p:nvSpPr>
        <p:spPr bwMode="auto">
          <a:xfrm>
            <a:off x="8748042" y="3158703"/>
            <a:ext cx="22955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Department Server</a:t>
            </a:r>
          </a:p>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Minicomputer</a:t>
            </a:r>
          </a:p>
        </p:txBody>
      </p:sp>
      <p:sp>
        <p:nvSpPr>
          <p:cNvPr id="14" name="Text Box 15"/>
          <p:cNvSpPr txBox="1">
            <a:spLocks noChangeArrowheads="1"/>
          </p:cNvSpPr>
          <p:nvPr/>
        </p:nvSpPr>
        <p:spPr bwMode="auto">
          <a:xfrm>
            <a:off x="8782967" y="3828628"/>
            <a:ext cx="2474716"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Workstation / Server</a:t>
            </a:r>
          </a:p>
        </p:txBody>
      </p:sp>
      <p:sp>
        <p:nvSpPr>
          <p:cNvPr id="15" name="Text Box 16"/>
          <p:cNvSpPr txBox="1">
            <a:spLocks noChangeArrowheads="1"/>
          </p:cNvSpPr>
          <p:nvPr/>
        </p:nvSpPr>
        <p:spPr bwMode="auto">
          <a:xfrm>
            <a:off x="9776742" y="4514428"/>
            <a:ext cx="1353256"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PC / Client</a:t>
            </a:r>
          </a:p>
        </p:txBody>
      </p:sp>
      <p:sp>
        <p:nvSpPr>
          <p:cNvPr id="16" name="Text Box 17"/>
          <p:cNvSpPr txBox="1">
            <a:spLocks noChangeArrowheads="1"/>
          </p:cNvSpPr>
          <p:nvPr/>
        </p:nvSpPr>
        <p:spPr bwMode="auto">
          <a:xfrm>
            <a:off x="10610180" y="1902991"/>
            <a:ext cx="414337"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巨</a:t>
            </a:r>
          </a:p>
        </p:txBody>
      </p:sp>
      <p:sp>
        <p:nvSpPr>
          <p:cNvPr id="17" name="Text Box 18"/>
          <p:cNvSpPr txBox="1">
            <a:spLocks noChangeArrowheads="1"/>
          </p:cNvSpPr>
          <p:nvPr/>
        </p:nvSpPr>
        <p:spPr bwMode="auto">
          <a:xfrm>
            <a:off x="10873705" y="2588791"/>
            <a:ext cx="415925"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大</a:t>
            </a:r>
          </a:p>
        </p:txBody>
      </p:sp>
      <p:sp>
        <p:nvSpPr>
          <p:cNvPr id="18" name="Text Box 19"/>
          <p:cNvSpPr txBox="1">
            <a:spLocks noChangeArrowheads="1"/>
          </p:cNvSpPr>
          <p:nvPr/>
        </p:nvSpPr>
        <p:spPr bwMode="auto">
          <a:xfrm>
            <a:off x="11191205" y="3160291"/>
            <a:ext cx="414337"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中</a:t>
            </a:r>
          </a:p>
        </p:txBody>
      </p:sp>
      <p:sp>
        <p:nvSpPr>
          <p:cNvPr id="19" name="Text Box 20"/>
          <p:cNvSpPr txBox="1">
            <a:spLocks noChangeArrowheads="1"/>
          </p:cNvSpPr>
          <p:nvPr/>
        </p:nvSpPr>
        <p:spPr bwMode="auto">
          <a:xfrm>
            <a:off x="11453142" y="3846091"/>
            <a:ext cx="415925"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小</a:t>
            </a:r>
          </a:p>
        </p:txBody>
      </p:sp>
      <p:sp>
        <p:nvSpPr>
          <p:cNvPr id="20" name="Text Box 21"/>
          <p:cNvSpPr txBox="1">
            <a:spLocks noChangeArrowheads="1"/>
          </p:cNvSpPr>
          <p:nvPr/>
        </p:nvSpPr>
        <p:spPr bwMode="auto">
          <a:xfrm>
            <a:off x="11664280" y="4360441"/>
            <a:ext cx="415925"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微</a:t>
            </a:r>
          </a:p>
        </p:txBody>
      </p:sp>
      <p:sp>
        <p:nvSpPr>
          <p:cNvPr id="21" name="文本框 2"/>
          <p:cNvSpPr txBox="1">
            <a:spLocks noChangeArrowheads="1"/>
          </p:cNvSpPr>
          <p:nvPr/>
        </p:nvSpPr>
        <p:spPr bwMode="auto">
          <a:xfrm>
            <a:off x="7008142" y="1961728"/>
            <a:ext cx="18002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宋体" panose="02010600030101010101" pitchFamily="2" charset="-122"/>
              </a:defRPr>
            </a:lvl1pPr>
            <a:lvl2pPr marL="742950" indent="-285750">
              <a:defRPr kumimoji="1">
                <a:solidFill>
                  <a:schemeClr val="tx1"/>
                </a:solidFill>
                <a:latin typeface="Arial" panose="020B0604020202020204" pitchFamily="34" charset="0"/>
                <a:ea typeface="宋体" panose="02010600030101010101" pitchFamily="2" charset="-122"/>
              </a:defRPr>
            </a:lvl2pPr>
            <a:lvl3pPr marL="1143000" indent="-228600">
              <a:defRPr kumimoji="1">
                <a:solidFill>
                  <a:schemeClr val="tx1"/>
                </a:solidFill>
                <a:latin typeface="Arial" panose="020B0604020202020204" pitchFamily="34" charset="0"/>
                <a:ea typeface="宋体" panose="02010600030101010101" pitchFamily="2" charset="-122"/>
              </a:defRPr>
            </a:lvl3pPr>
            <a:lvl4pPr marL="1600200" indent="-228600">
              <a:defRPr kumimoji="1">
                <a:solidFill>
                  <a:schemeClr val="tx1"/>
                </a:solidFill>
                <a:latin typeface="Arial" panose="020B0604020202020204" pitchFamily="34" charset="0"/>
                <a:ea typeface="宋体" panose="02010600030101010101" pitchFamily="2" charset="-122"/>
              </a:defRPr>
            </a:lvl4pPr>
            <a:lvl5pPr marL="2057400" indent="-228600">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9pPr>
          </a:lstStyle>
          <a:p>
            <a:r>
              <a:rPr lang="zh-CN" altLang="en-US" dirty="0">
                <a:solidFill>
                  <a:srgbClr val="002060"/>
                </a:solidFill>
                <a:latin typeface="微软雅黑" panose="020B0503020204020204" pitchFamily="34" charset="-122"/>
                <a:ea typeface="微软雅黑" panose="020B0503020204020204" pitchFamily="34" charset="-122"/>
              </a:rPr>
              <a:t>数据中心</a:t>
            </a:r>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服务器集群</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企业服务器</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工作站、台式机</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个人移动设备</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物联网终端</a:t>
            </a:r>
          </a:p>
        </p:txBody>
      </p:sp>
    </p:spTree>
    <p:extLst>
      <p:ext uri="{BB962C8B-B14F-4D97-AF65-F5344CB8AC3E}">
        <p14:creationId xmlns:p14="http://schemas.microsoft.com/office/powerpoint/2010/main" val="15073830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五类计算系统的主要特征</a:t>
            </a:r>
            <a:endParaRPr lang="zh-CN" altLang="en-US" dirty="0"/>
          </a:p>
        </p:txBody>
      </p:sp>
      <p:sp>
        <p:nvSpPr>
          <p:cNvPr id="3" name="Rectangle 1"/>
          <p:cNvSpPr>
            <a:spLocks noChangeArrowheads="1"/>
          </p:cNvSpPr>
          <p:nvPr/>
        </p:nvSpPr>
        <p:spPr bwMode="auto">
          <a:xfrm>
            <a:off x="983432" y="4509120"/>
            <a:ext cx="1008112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anose="020B0604020202020204" pitchFamily="34" charset="0"/>
              <a:buChar char="•"/>
            </a:pPr>
            <a:r>
              <a:rPr lang="zh-CN" altLang="en-US" sz="1600" dirty="0" smtClean="0">
                <a:solidFill>
                  <a:srgbClr val="0000FF"/>
                </a:solidFill>
              </a:rPr>
              <a:t>一些销量数据（</a:t>
            </a:r>
            <a:r>
              <a:rPr lang="en-US" altLang="zh-CN" sz="1600" dirty="0" smtClean="0">
                <a:solidFill>
                  <a:srgbClr val="0000FF"/>
                </a:solidFill>
              </a:rPr>
              <a:t>2015</a:t>
            </a:r>
            <a:r>
              <a:rPr lang="zh-CN" altLang="en-US" sz="1600" dirty="0" smtClean="0">
                <a:solidFill>
                  <a:srgbClr val="0000FF"/>
                </a:solidFill>
              </a:rPr>
              <a:t>）</a:t>
            </a:r>
            <a:endParaRPr lang="en-US" altLang="zh-CN"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1.6 </a:t>
            </a:r>
            <a:r>
              <a:rPr lang="en-US" altLang="en-US" sz="1600" dirty="0">
                <a:solidFill>
                  <a:srgbClr val="0000FF"/>
                </a:solidFill>
              </a:rPr>
              <a:t>billion PMDs (90% cell phones</a:t>
            </a:r>
            <a:r>
              <a:rPr lang="en-US" altLang="en-US" sz="1600" dirty="0" smtClean="0">
                <a:solidFill>
                  <a:srgbClr val="0000FF"/>
                </a:solidFill>
              </a:rPr>
              <a:t>), 275 </a:t>
            </a:r>
            <a:r>
              <a:rPr lang="en-US" altLang="en-US" sz="1600" dirty="0">
                <a:solidFill>
                  <a:srgbClr val="0000FF"/>
                </a:solidFill>
              </a:rPr>
              <a:t>million desktop </a:t>
            </a:r>
            <a:r>
              <a:rPr lang="en-US" altLang="en-US" sz="1600" dirty="0" smtClean="0">
                <a:solidFill>
                  <a:srgbClr val="0000FF"/>
                </a:solidFill>
              </a:rPr>
              <a:t>PCs, 15 </a:t>
            </a:r>
            <a:r>
              <a:rPr lang="en-US" altLang="en-US" sz="1600" dirty="0">
                <a:solidFill>
                  <a:srgbClr val="0000FF"/>
                </a:solidFill>
              </a:rPr>
              <a:t>million </a:t>
            </a:r>
            <a:r>
              <a:rPr lang="en-US" altLang="en-US" sz="1600" dirty="0" smtClean="0">
                <a:solidFill>
                  <a:srgbClr val="0000FF"/>
                </a:solidFill>
              </a:rPr>
              <a:t>servers.</a:t>
            </a:r>
          </a:p>
          <a:p>
            <a:pPr marL="742950" lvl="1" indent="-285750">
              <a:buFont typeface="Arial" panose="020B0604020202020204" pitchFamily="34" charset="0"/>
              <a:buChar char="•"/>
            </a:pPr>
            <a:r>
              <a:rPr lang="en-US" altLang="en-US" sz="1600" dirty="0" smtClean="0">
                <a:solidFill>
                  <a:srgbClr val="0000FF"/>
                </a:solidFill>
              </a:rPr>
              <a:t>The </a:t>
            </a:r>
            <a:r>
              <a:rPr lang="en-US" altLang="en-US" sz="1600" dirty="0">
                <a:solidFill>
                  <a:srgbClr val="0000FF"/>
                </a:solidFill>
              </a:rPr>
              <a:t>total number of embedded processors sold was nearly 19 billion.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In </a:t>
            </a:r>
            <a:r>
              <a:rPr lang="en-US" altLang="en-US" sz="1600" dirty="0">
                <a:solidFill>
                  <a:srgbClr val="0000FF"/>
                </a:solidFill>
              </a:rPr>
              <a:t>total, 14.8 billion ARM-technology-based chips were shipped in </a:t>
            </a:r>
            <a:r>
              <a:rPr lang="en-US" altLang="en-US" sz="1600" dirty="0" smtClean="0">
                <a:solidFill>
                  <a:srgbClr val="0000FF"/>
                </a:solidFill>
              </a:rPr>
              <a:t>2015.</a:t>
            </a:r>
          </a:p>
          <a:p>
            <a:pPr marL="285750" indent="-285750">
              <a:buFont typeface="Arial" panose="020B0604020202020204" pitchFamily="34" charset="0"/>
              <a:buChar char="•"/>
            </a:pPr>
            <a:r>
              <a:rPr lang="zh-CN" altLang="en-US" sz="1600" dirty="0" smtClean="0">
                <a:solidFill>
                  <a:srgbClr val="0000FF"/>
                </a:solidFill>
              </a:rPr>
              <a:t>服务器和嵌入式这两类系统的价格跨度非常大</a:t>
            </a:r>
            <a:endParaRPr lang="en-US" altLang="zh-CN" sz="1600" dirty="0" smtClean="0">
              <a:solidFill>
                <a:srgbClr val="0000FF"/>
              </a:solidFill>
            </a:endParaRPr>
          </a:p>
          <a:p>
            <a:pPr marL="742950" lvl="1" indent="-285750">
              <a:buFont typeface="Arial" panose="020B0604020202020204" pitchFamily="34" charset="0"/>
              <a:buChar char="•"/>
            </a:pPr>
            <a:r>
              <a:rPr lang="en-US" altLang="zh-CN" sz="1600" dirty="0" smtClean="0">
                <a:solidFill>
                  <a:srgbClr val="0000FF"/>
                </a:solidFill>
              </a:rPr>
              <a:t>Embedded system: </a:t>
            </a:r>
            <a:r>
              <a:rPr lang="en-US" altLang="en-US" sz="1600" dirty="0" smtClean="0">
                <a:solidFill>
                  <a:srgbClr val="0000FF"/>
                </a:solidFill>
              </a:rPr>
              <a:t>from </a:t>
            </a:r>
            <a:r>
              <a:rPr lang="en-US" altLang="en-US" sz="1600" dirty="0">
                <a:solidFill>
                  <a:srgbClr val="0000FF"/>
                </a:solidFill>
              </a:rPr>
              <a:t>USB keys to network </a:t>
            </a:r>
            <a:r>
              <a:rPr lang="en-US" altLang="en-US" sz="1600" dirty="0" smtClean="0">
                <a:solidFill>
                  <a:srgbClr val="0000FF"/>
                </a:solidFill>
              </a:rPr>
              <a:t>routers</a:t>
            </a:r>
          </a:p>
          <a:p>
            <a:pPr marL="742950" lvl="1" indent="-285750">
              <a:buFont typeface="Arial" panose="020B0604020202020204" pitchFamily="34" charset="0"/>
              <a:buChar char="•"/>
            </a:pPr>
            <a:r>
              <a:rPr lang="en-US" altLang="en-US" sz="1600" dirty="0" smtClean="0">
                <a:solidFill>
                  <a:srgbClr val="0000FF"/>
                </a:solidFill>
              </a:rPr>
              <a:t>For </a:t>
            </a:r>
            <a:r>
              <a:rPr lang="en-US" altLang="en-US" sz="1600" dirty="0">
                <a:solidFill>
                  <a:srgbClr val="0000FF"/>
                </a:solidFill>
              </a:rPr>
              <a:t>servers, this range arises from the need for very large-scale multiprocessor systems for high-end transaction processing.</a:t>
            </a:r>
          </a:p>
        </p:txBody>
      </p:sp>
      <p:pic>
        <p:nvPicPr>
          <p:cNvPr id="4" name="Picture 2" descr="Z:\WOMAT\Production\Artfinal\0000000038\MKCAD\978-0-12-811905-1\0003165540\XMLLowres\f01-02-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5374" y="1600176"/>
            <a:ext cx="9609137" cy="274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5684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Flynn’s Taxonomy </a:t>
            </a:r>
            <a:r>
              <a:rPr lang="zh-CN" altLang="en-US" dirty="0" smtClean="0"/>
              <a:t>（学术、体系结构）</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400" dirty="0"/>
              <a:t>Single instruction stream, single data stream (SISD)</a:t>
            </a:r>
          </a:p>
          <a:p>
            <a:pPr lvl="1"/>
            <a:r>
              <a:rPr lang="zh-CN" altLang="en-US" sz="2000" dirty="0" smtClean="0"/>
              <a:t>单指令流单数据流，传统单处理机</a:t>
            </a:r>
            <a:endParaRPr lang="en-US" sz="2000" dirty="0"/>
          </a:p>
          <a:p>
            <a:pPr>
              <a:lnSpc>
                <a:spcPct val="90000"/>
              </a:lnSpc>
            </a:pPr>
            <a:r>
              <a:rPr lang="en-US" sz="2400" dirty="0"/>
              <a:t>Single instruction stream, multiple data streams (SIMD)</a:t>
            </a:r>
          </a:p>
          <a:p>
            <a:pPr lvl="1">
              <a:lnSpc>
                <a:spcPct val="90000"/>
              </a:lnSpc>
            </a:pPr>
            <a:r>
              <a:rPr lang="en-US" sz="2000" dirty="0"/>
              <a:t>Vector </a:t>
            </a:r>
            <a:r>
              <a:rPr lang="en-US" sz="2000" dirty="0" smtClean="0"/>
              <a:t>architectures, Array processors </a:t>
            </a:r>
            <a:r>
              <a:rPr lang="zh-CN" altLang="en-US" sz="2000" dirty="0" smtClean="0"/>
              <a:t>（向量机、数组处理机、阵列机）</a:t>
            </a:r>
            <a:endParaRPr lang="en-US" sz="2000" dirty="0"/>
          </a:p>
          <a:p>
            <a:pPr lvl="1">
              <a:lnSpc>
                <a:spcPct val="90000"/>
              </a:lnSpc>
            </a:pPr>
            <a:r>
              <a:rPr lang="en-US" sz="2000" dirty="0"/>
              <a:t>Multimedia </a:t>
            </a:r>
            <a:r>
              <a:rPr lang="en-US" sz="2000" dirty="0" smtClean="0"/>
              <a:t>extensions </a:t>
            </a:r>
            <a:r>
              <a:rPr lang="zh-CN" altLang="en-US" sz="2000" dirty="0" smtClean="0"/>
              <a:t>（多媒体扩展，如</a:t>
            </a:r>
            <a:r>
              <a:rPr lang="en-US" altLang="zh-CN" sz="2000" dirty="0" smtClean="0"/>
              <a:t>MMX, 3DNow, SSE, AVX</a:t>
            </a:r>
            <a:r>
              <a:rPr lang="zh-CN" altLang="en-US" sz="2000" dirty="0" smtClean="0"/>
              <a:t>等）</a:t>
            </a:r>
            <a:endParaRPr lang="en-US" sz="2000" dirty="0"/>
          </a:p>
          <a:p>
            <a:pPr lvl="1">
              <a:lnSpc>
                <a:spcPct val="90000"/>
              </a:lnSpc>
            </a:pPr>
            <a:r>
              <a:rPr lang="en-US" sz="2000" dirty="0"/>
              <a:t>Graphics processor </a:t>
            </a:r>
            <a:r>
              <a:rPr lang="en-US" sz="2000" dirty="0" smtClean="0"/>
              <a:t>units </a:t>
            </a:r>
            <a:r>
              <a:rPr lang="zh-CN" altLang="en-US" sz="2000" dirty="0" smtClean="0"/>
              <a:t>（</a:t>
            </a:r>
            <a:r>
              <a:rPr lang="en-US" altLang="zh-CN" sz="2000" dirty="0" smtClean="0"/>
              <a:t>GPGPU, TPU, NPU, SIMT, etc.</a:t>
            </a:r>
            <a:r>
              <a:rPr lang="zh-CN" altLang="en-US" sz="2000" dirty="0" smtClean="0"/>
              <a:t>）</a:t>
            </a:r>
            <a:endParaRPr lang="en-US" sz="2000" dirty="0"/>
          </a:p>
          <a:p>
            <a:pPr lvl="1">
              <a:lnSpc>
                <a:spcPct val="90000"/>
              </a:lnSpc>
            </a:pPr>
            <a:endParaRPr lang="en-US" sz="2000" dirty="0"/>
          </a:p>
          <a:p>
            <a:pPr>
              <a:lnSpc>
                <a:spcPct val="90000"/>
              </a:lnSpc>
            </a:pPr>
            <a:r>
              <a:rPr lang="en-US" sz="2400" dirty="0"/>
              <a:t>Multiple instruction streams, single data stream (MISD)</a:t>
            </a:r>
          </a:p>
          <a:p>
            <a:pPr lvl="1">
              <a:lnSpc>
                <a:spcPct val="90000"/>
              </a:lnSpc>
            </a:pPr>
            <a:r>
              <a:rPr lang="en-US" sz="2000" dirty="0"/>
              <a:t>No commercial </a:t>
            </a:r>
            <a:r>
              <a:rPr lang="en-US" sz="2000" dirty="0" smtClean="0"/>
              <a:t>implementation (Systolic array?)</a:t>
            </a:r>
            <a:endParaRPr lang="en-US" sz="2000" dirty="0"/>
          </a:p>
          <a:p>
            <a:pPr>
              <a:lnSpc>
                <a:spcPct val="90000"/>
              </a:lnSpc>
            </a:pPr>
            <a:r>
              <a:rPr lang="en-US" sz="2400" dirty="0"/>
              <a:t>Multiple instruction streams, multiple data streams (MIMD)</a:t>
            </a:r>
          </a:p>
          <a:p>
            <a:pPr lvl="1">
              <a:lnSpc>
                <a:spcPct val="90000"/>
              </a:lnSpc>
            </a:pPr>
            <a:r>
              <a:rPr lang="en-US" sz="2000" dirty="0"/>
              <a:t>Tightly-coupled </a:t>
            </a:r>
            <a:r>
              <a:rPr lang="en-US" sz="2000" dirty="0" smtClean="0"/>
              <a:t>MIMD</a:t>
            </a:r>
            <a:r>
              <a:rPr lang="zh-CN" altLang="en-US" sz="2000" dirty="0" smtClean="0"/>
              <a:t>，共享存储多处理机（多核</a:t>
            </a:r>
            <a:r>
              <a:rPr lang="en-US" altLang="zh-CN" sz="2000" dirty="0" smtClean="0"/>
              <a:t>CPU</a:t>
            </a:r>
            <a:r>
              <a:rPr lang="zh-CN" altLang="en-US" sz="2000" dirty="0" smtClean="0"/>
              <a:t>，多路服务器）</a:t>
            </a:r>
            <a:endParaRPr lang="en-US" sz="2000" dirty="0"/>
          </a:p>
          <a:p>
            <a:pPr lvl="1">
              <a:lnSpc>
                <a:spcPct val="90000"/>
              </a:lnSpc>
            </a:pPr>
            <a:r>
              <a:rPr lang="en-US" sz="2000" dirty="0"/>
              <a:t>Loosely-coupled </a:t>
            </a:r>
            <a:r>
              <a:rPr lang="en-US" sz="2000" dirty="0" smtClean="0"/>
              <a:t>MIMD</a:t>
            </a:r>
            <a:r>
              <a:rPr lang="zh-CN" altLang="en-US" sz="2000" dirty="0" smtClean="0"/>
              <a:t>，分布存储多计算机（</a:t>
            </a:r>
            <a:r>
              <a:rPr lang="en-US" altLang="zh-CN" sz="2000" dirty="0" smtClean="0"/>
              <a:t>MPP</a:t>
            </a:r>
            <a:r>
              <a:rPr lang="zh-CN" altLang="en-US" sz="2000" dirty="0" smtClean="0"/>
              <a:t>，服务器集群，网络计算）</a:t>
            </a:r>
            <a:endParaRPr lang="en-US" sz="2000" dirty="0"/>
          </a:p>
        </p:txBody>
      </p:sp>
    </p:spTree>
    <p:extLst>
      <p:ext uri="{BB962C8B-B14F-4D97-AF65-F5344CB8AC3E}">
        <p14:creationId xmlns:p14="http://schemas.microsoft.com/office/powerpoint/2010/main" val="2497645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Computer Technology </a:t>
            </a:r>
            <a:r>
              <a:rPr lang="en-US" sz="3600" dirty="0" smtClean="0"/>
              <a:t>(celebrating 80 years)</a:t>
            </a:r>
            <a:endParaRPr lang="en-AU" sz="3600" dirty="0"/>
          </a:p>
        </p:txBody>
      </p:sp>
      <p:sp>
        <p:nvSpPr>
          <p:cNvPr id="242691" name="Rectangle 3"/>
          <p:cNvSpPr>
            <a:spLocks noGrp="1" noChangeArrowheads="1"/>
          </p:cNvSpPr>
          <p:nvPr>
            <p:ph idx="1"/>
          </p:nvPr>
        </p:nvSpPr>
        <p:spPr/>
        <p:txBody>
          <a:bodyPr/>
          <a:lstStyle/>
          <a:p>
            <a:pPr>
              <a:lnSpc>
                <a:spcPct val="90000"/>
              </a:lnSpc>
            </a:pPr>
            <a:r>
              <a:rPr lang="en-US" dirty="0" smtClean="0"/>
              <a:t>Performance improvements:</a:t>
            </a:r>
          </a:p>
          <a:p>
            <a:pPr lvl="1">
              <a:lnSpc>
                <a:spcPct val="90000"/>
              </a:lnSpc>
            </a:pPr>
            <a:r>
              <a:rPr lang="en-US" dirty="0" smtClean="0"/>
              <a:t>Improvements in semiconductor technology</a:t>
            </a:r>
          </a:p>
          <a:p>
            <a:pPr lvl="2">
              <a:lnSpc>
                <a:spcPct val="90000"/>
              </a:lnSpc>
            </a:pPr>
            <a:r>
              <a:rPr lang="en-US" dirty="0" smtClean="0"/>
              <a:t>Feature size, clock speed</a:t>
            </a:r>
          </a:p>
          <a:p>
            <a:pPr lvl="1">
              <a:lnSpc>
                <a:spcPct val="90000"/>
              </a:lnSpc>
            </a:pPr>
            <a:r>
              <a:rPr lang="en-US" dirty="0" smtClean="0"/>
              <a:t>Improvements in computer architectures</a:t>
            </a:r>
          </a:p>
          <a:p>
            <a:pPr lvl="2">
              <a:lnSpc>
                <a:spcPct val="90000"/>
              </a:lnSpc>
            </a:pPr>
            <a:r>
              <a:rPr lang="en-US" dirty="0" smtClean="0"/>
              <a:t>Enabled by HLL compilers, complex O/S such as UNIX/Linux</a:t>
            </a:r>
          </a:p>
          <a:p>
            <a:pPr lvl="2">
              <a:lnSpc>
                <a:spcPct val="90000"/>
              </a:lnSpc>
            </a:pPr>
            <a:r>
              <a:rPr lang="en-US" dirty="0" smtClean="0"/>
              <a:t>Lead to RISC architectures</a:t>
            </a:r>
          </a:p>
          <a:p>
            <a:pPr lvl="1">
              <a:lnSpc>
                <a:spcPct val="90000"/>
              </a:lnSpc>
            </a:pPr>
            <a:endParaRPr lang="en-US" dirty="0" smtClean="0"/>
          </a:p>
          <a:p>
            <a:pPr lvl="1">
              <a:lnSpc>
                <a:spcPct val="90000"/>
              </a:lnSpc>
            </a:pPr>
            <a:r>
              <a:rPr lang="en-US" dirty="0" smtClean="0"/>
              <a:t>Together have enabled:</a:t>
            </a:r>
          </a:p>
          <a:p>
            <a:pPr lvl="2">
              <a:lnSpc>
                <a:spcPct val="90000"/>
              </a:lnSpc>
            </a:pPr>
            <a:r>
              <a:rPr lang="en-US" dirty="0" smtClean="0"/>
              <a:t>Lightweight computers</a:t>
            </a:r>
          </a:p>
          <a:p>
            <a:pPr lvl="2">
              <a:lnSpc>
                <a:spcPct val="90000"/>
              </a:lnSpc>
            </a:pPr>
            <a:r>
              <a:rPr lang="en-US" dirty="0" smtClean="0"/>
              <a:t>Productivity-based managed/interpreted programming languages</a:t>
            </a:r>
          </a:p>
        </p:txBody>
      </p:sp>
    </p:spTree>
    <p:extLst>
      <p:ext uri="{BB962C8B-B14F-4D97-AF65-F5344CB8AC3E}">
        <p14:creationId xmlns:p14="http://schemas.microsoft.com/office/powerpoint/2010/main" val="24429478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Parallelism</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smtClean="0"/>
              <a:t>并行，体系结构层面提升性能的最重要途径</a:t>
            </a:r>
            <a:endParaRPr lang="en-US" altLang="zh-CN" dirty="0" smtClean="0"/>
          </a:p>
          <a:p>
            <a:pPr lvl="1"/>
            <a:endParaRPr lang="en-US" dirty="0" smtClean="0"/>
          </a:p>
          <a:p>
            <a:pPr>
              <a:lnSpc>
                <a:spcPct val="90000"/>
              </a:lnSpc>
            </a:pPr>
            <a:r>
              <a:rPr lang="en-US" dirty="0" smtClean="0"/>
              <a:t>Classes </a:t>
            </a:r>
            <a:r>
              <a:rPr lang="en-US" dirty="0"/>
              <a:t>of parallelism in applications:</a:t>
            </a:r>
          </a:p>
          <a:p>
            <a:pPr lvl="1">
              <a:lnSpc>
                <a:spcPct val="90000"/>
              </a:lnSpc>
            </a:pPr>
            <a:r>
              <a:rPr lang="en-US" dirty="0"/>
              <a:t>Data-Level Parallelism (DLP)</a:t>
            </a:r>
          </a:p>
          <a:p>
            <a:pPr lvl="1">
              <a:lnSpc>
                <a:spcPct val="90000"/>
              </a:lnSpc>
            </a:pPr>
            <a:r>
              <a:rPr lang="en-US" dirty="0"/>
              <a:t>Task-Level Parallelism (TLP)</a:t>
            </a:r>
          </a:p>
          <a:p>
            <a:pPr lvl="1">
              <a:lnSpc>
                <a:spcPct val="90000"/>
              </a:lnSpc>
            </a:pPr>
            <a:endParaRPr lang="en-US" dirty="0"/>
          </a:p>
          <a:p>
            <a:pPr>
              <a:lnSpc>
                <a:spcPct val="90000"/>
              </a:lnSpc>
            </a:pPr>
            <a:r>
              <a:rPr lang="en-US" dirty="0"/>
              <a:t>Classes of architectural parallelism:</a:t>
            </a:r>
          </a:p>
          <a:p>
            <a:pPr lvl="1">
              <a:lnSpc>
                <a:spcPct val="90000"/>
              </a:lnSpc>
            </a:pPr>
            <a:r>
              <a:rPr lang="en-US" dirty="0" smtClean="0"/>
              <a:t>ILP: Instruction-Level Parallelism</a:t>
            </a:r>
          </a:p>
          <a:p>
            <a:pPr lvl="1">
              <a:lnSpc>
                <a:spcPct val="90000"/>
              </a:lnSpc>
            </a:pPr>
            <a:r>
              <a:rPr lang="en-US" dirty="0" smtClean="0"/>
              <a:t>DLP: Vector </a:t>
            </a:r>
            <a:r>
              <a:rPr lang="en-US" dirty="0"/>
              <a:t>architectures/Graphic Processor Units (GPUs)</a:t>
            </a:r>
          </a:p>
          <a:p>
            <a:pPr lvl="1">
              <a:lnSpc>
                <a:spcPct val="90000"/>
              </a:lnSpc>
            </a:pPr>
            <a:r>
              <a:rPr lang="en-US" dirty="0"/>
              <a:t>Thread-Level Parallelism</a:t>
            </a:r>
          </a:p>
          <a:p>
            <a:pPr lvl="1">
              <a:lnSpc>
                <a:spcPct val="90000"/>
              </a:lnSpc>
            </a:pPr>
            <a:r>
              <a:rPr lang="en-US" dirty="0"/>
              <a:t>Request-Level Parallelism</a:t>
            </a:r>
          </a:p>
        </p:txBody>
      </p:sp>
    </p:spTree>
    <p:extLst>
      <p:ext uri="{BB962C8B-B14F-4D97-AF65-F5344CB8AC3E}">
        <p14:creationId xmlns:p14="http://schemas.microsoft.com/office/powerpoint/2010/main" val="5443293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11" name="Rectangle 23"/>
          <p:cNvSpPr>
            <a:spLocks noGrp="1" noChangeArrowheads="1"/>
          </p:cNvSpPr>
          <p:nvPr>
            <p:ph type="title"/>
          </p:nvPr>
        </p:nvSpPr>
        <p:spPr/>
        <p:txBody>
          <a:bodyPr/>
          <a:lstStyle/>
          <a:p>
            <a:r>
              <a:rPr lang="zh-CN" altLang="en-US" dirty="0" smtClean="0"/>
              <a:t>计算模式</a:t>
            </a:r>
            <a:r>
              <a:rPr lang="zh-CN" altLang="en-US" dirty="0"/>
              <a:t>的变化</a:t>
            </a:r>
          </a:p>
        </p:txBody>
      </p:sp>
      <p:sp>
        <p:nvSpPr>
          <p:cNvPr id="114697" name="Rectangle 9"/>
          <p:cNvSpPr>
            <a:spLocks noChangeArrowheads="1"/>
          </p:cNvSpPr>
          <p:nvPr/>
        </p:nvSpPr>
        <p:spPr bwMode="auto">
          <a:xfrm>
            <a:off x="628725" y="5721596"/>
            <a:ext cx="2079792" cy="1136404"/>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tIns="0" anchor="ctr"/>
          <a:lstStyle/>
          <a:p>
            <a:pPr algn="ctr"/>
            <a:r>
              <a:rPr lang="zh-CN" altLang="en-US" b="1" dirty="0" smtClean="0">
                <a:solidFill>
                  <a:srgbClr val="FF3300"/>
                </a:solidFill>
              </a:rPr>
              <a:t>主机</a:t>
            </a:r>
            <a:r>
              <a:rPr lang="en-US" altLang="zh-CN" b="1" dirty="0" smtClean="0">
                <a:solidFill>
                  <a:srgbClr val="FF3300"/>
                </a:solidFill>
              </a:rPr>
              <a:t>/</a:t>
            </a:r>
            <a:r>
              <a:rPr lang="zh-CN" altLang="en-US" b="1" dirty="0" smtClean="0">
                <a:solidFill>
                  <a:srgbClr val="FF3300"/>
                </a:solidFill>
              </a:rPr>
              <a:t>终端</a:t>
            </a:r>
            <a:endParaRPr lang="en-US" altLang="zh-CN" b="1" dirty="0" smtClean="0">
              <a:solidFill>
                <a:srgbClr val="FF3300"/>
              </a:solidFill>
            </a:endParaRPr>
          </a:p>
          <a:p>
            <a:pPr algn="ctr"/>
            <a:r>
              <a:rPr lang="zh-CN" altLang="en-US" b="1" dirty="0" smtClean="0">
                <a:solidFill>
                  <a:srgbClr val="FF3300"/>
                </a:solidFill>
              </a:rPr>
              <a:t>集中式计算</a:t>
            </a:r>
            <a:endParaRPr lang="en-US" altLang="zh-CN" b="1" dirty="0" smtClean="0">
              <a:solidFill>
                <a:srgbClr val="FF3300"/>
              </a:solidFill>
            </a:endParaRPr>
          </a:p>
          <a:p>
            <a:pPr algn="ctr"/>
            <a:r>
              <a:rPr lang="en-US" altLang="zh-CN" b="1" dirty="0" smtClean="0">
                <a:solidFill>
                  <a:srgbClr val="FF3300"/>
                </a:solidFill>
              </a:rPr>
              <a:t>1950-70</a:t>
            </a:r>
            <a:r>
              <a:rPr lang="zh-CN" altLang="en-US" b="1" dirty="0" smtClean="0">
                <a:solidFill>
                  <a:srgbClr val="FF3300"/>
                </a:solidFill>
              </a:rPr>
              <a:t>年代</a:t>
            </a:r>
            <a:endParaRPr lang="zh-CN" altLang="en-US" dirty="0">
              <a:solidFill>
                <a:srgbClr val="FFFF00"/>
              </a:solidFill>
            </a:endParaRPr>
          </a:p>
        </p:txBody>
      </p:sp>
      <p:grpSp>
        <p:nvGrpSpPr>
          <p:cNvPr id="4" name="组合 3"/>
          <p:cNvGrpSpPr/>
          <p:nvPr/>
        </p:nvGrpSpPr>
        <p:grpSpPr>
          <a:xfrm>
            <a:off x="1055845" y="1580008"/>
            <a:ext cx="1225551" cy="862013"/>
            <a:chOff x="3048000" y="5691188"/>
            <a:chExt cx="1225551" cy="862013"/>
          </a:xfrm>
        </p:grpSpPr>
        <p:graphicFrame>
          <p:nvGraphicFramePr>
            <p:cNvPr id="114715" name="Object 27"/>
            <p:cNvGraphicFramePr>
              <a:graphicFrameLocks/>
            </p:cNvGraphicFramePr>
            <p:nvPr>
              <p:extLst/>
            </p:nvPr>
          </p:nvGraphicFramePr>
          <p:xfrm>
            <a:off x="3049588" y="5691188"/>
            <a:ext cx="306388" cy="252413"/>
          </p:xfrm>
          <a:graphic>
            <a:graphicData uri="http://schemas.openxmlformats.org/presentationml/2006/ole">
              <mc:AlternateContent xmlns:mc="http://schemas.openxmlformats.org/markup-compatibility/2006">
                <mc:Choice xmlns:v="urn:schemas-microsoft-com:vml" Requires="v">
                  <p:oleObj spid="_x0000_s5932" name="Drawing" r:id="rId3" imgW="568080" imgH="531720" progId="FLW3Drawing">
                    <p:embed/>
                  </p:oleObj>
                </mc:Choice>
                <mc:Fallback>
                  <p:oleObj name="Drawing" r:id="rId3" imgW="568080" imgH="531720" progId="FLW3Drawing">
                    <p:embed/>
                    <p:pic>
                      <p:nvPicPr>
                        <p:cNvPr id="114715" name="Object 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049588"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6" name="Object 28"/>
            <p:cNvGraphicFramePr>
              <a:graphicFrameLocks/>
            </p:cNvGraphicFramePr>
            <p:nvPr>
              <p:extLst/>
            </p:nvPr>
          </p:nvGraphicFramePr>
          <p:xfrm>
            <a:off x="3278188" y="5691188"/>
            <a:ext cx="306388" cy="252413"/>
          </p:xfrm>
          <a:graphic>
            <a:graphicData uri="http://schemas.openxmlformats.org/presentationml/2006/ole">
              <mc:AlternateContent xmlns:mc="http://schemas.openxmlformats.org/markup-compatibility/2006">
                <mc:Choice xmlns:v="urn:schemas-microsoft-com:vml" Requires="v">
                  <p:oleObj spid="_x0000_s5933" name="Drawing" r:id="rId5" imgW="568080" imgH="531720" progId="FLW3Drawing">
                    <p:embed/>
                  </p:oleObj>
                </mc:Choice>
                <mc:Fallback>
                  <p:oleObj name="Drawing" r:id="rId5" imgW="568080" imgH="531720" progId="FLW3Drawing">
                    <p:embed/>
                    <p:pic>
                      <p:nvPicPr>
                        <p:cNvPr id="114716" name="Object 2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278188"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7" name="Object 29"/>
            <p:cNvGraphicFramePr>
              <a:graphicFrameLocks/>
            </p:cNvGraphicFramePr>
            <p:nvPr>
              <p:extLst/>
            </p:nvPr>
          </p:nvGraphicFramePr>
          <p:xfrm>
            <a:off x="3508375" y="5691188"/>
            <a:ext cx="306388" cy="252413"/>
          </p:xfrm>
          <a:graphic>
            <a:graphicData uri="http://schemas.openxmlformats.org/presentationml/2006/ole">
              <mc:AlternateContent xmlns:mc="http://schemas.openxmlformats.org/markup-compatibility/2006">
                <mc:Choice xmlns:v="urn:schemas-microsoft-com:vml" Requires="v">
                  <p:oleObj spid="_x0000_s5934" name="Drawing" r:id="rId6" imgW="568080" imgH="531720" progId="FLW3Drawing">
                    <p:embed/>
                  </p:oleObj>
                </mc:Choice>
                <mc:Fallback>
                  <p:oleObj name="Drawing" r:id="rId6" imgW="568080" imgH="531720" progId="FLW3Drawing">
                    <p:embed/>
                    <p:pic>
                      <p:nvPicPr>
                        <p:cNvPr id="114717" name="Object 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508375"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8" name="Object 30"/>
            <p:cNvGraphicFramePr>
              <a:graphicFrameLocks/>
            </p:cNvGraphicFramePr>
            <p:nvPr>
              <p:extLst/>
            </p:nvPr>
          </p:nvGraphicFramePr>
          <p:xfrm>
            <a:off x="3736975" y="5691188"/>
            <a:ext cx="306388" cy="252413"/>
          </p:xfrm>
          <a:graphic>
            <a:graphicData uri="http://schemas.openxmlformats.org/presentationml/2006/ole">
              <mc:AlternateContent xmlns:mc="http://schemas.openxmlformats.org/markup-compatibility/2006">
                <mc:Choice xmlns:v="urn:schemas-microsoft-com:vml" Requires="v">
                  <p:oleObj spid="_x0000_s5935" name="Drawing" r:id="rId7" imgW="568080" imgH="531720" progId="FLW3Drawing">
                    <p:embed/>
                  </p:oleObj>
                </mc:Choice>
                <mc:Fallback>
                  <p:oleObj name="Drawing" r:id="rId7" imgW="568080" imgH="531720" progId="FLW3Drawing">
                    <p:embed/>
                    <p:pic>
                      <p:nvPicPr>
                        <p:cNvPr id="114718" name="Object 3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736975"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9" name="Object 31"/>
            <p:cNvGraphicFramePr>
              <a:graphicFrameLocks/>
            </p:cNvGraphicFramePr>
            <p:nvPr>
              <p:extLst/>
            </p:nvPr>
          </p:nvGraphicFramePr>
          <p:xfrm>
            <a:off x="3965575" y="5691188"/>
            <a:ext cx="306388" cy="252413"/>
          </p:xfrm>
          <a:graphic>
            <a:graphicData uri="http://schemas.openxmlformats.org/presentationml/2006/ole">
              <mc:AlternateContent xmlns:mc="http://schemas.openxmlformats.org/markup-compatibility/2006">
                <mc:Choice xmlns:v="urn:schemas-microsoft-com:vml" Requires="v">
                  <p:oleObj spid="_x0000_s5936" name="Drawing" r:id="rId8" imgW="568080" imgH="531720" progId="FLW3Drawing">
                    <p:embed/>
                  </p:oleObj>
                </mc:Choice>
                <mc:Fallback>
                  <p:oleObj name="Drawing" r:id="rId8" imgW="568080" imgH="531720" progId="FLW3Drawing">
                    <p:embed/>
                    <p:pic>
                      <p:nvPicPr>
                        <p:cNvPr id="114719" name="Object 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965575"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0" name="Object 32"/>
            <p:cNvGraphicFramePr>
              <a:graphicFrameLocks/>
            </p:cNvGraphicFramePr>
            <p:nvPr>
              <p:extLst/>
            </p:nvPr>
          </p:nvGraphicFramePr>
          <p:xfrm>
            <a:off x="3048000" y="5995988"/>
            <a:ext cx="306388" cy="252413"/>
          </p:xfrm>
          <a:graphic>
            <a:graphicData uri="http://schemas.openxmlformats.org/presentationml/2006/ole">
              <mc:AlternateContent xmlns:mc="http://schemas.openxmlformats.org/markup-compatibility/2006">
                <mc:Choice xmlns:v="urn:schemas-microsoft-com:vml" Requires="v">
                  <p:oleObj spid="_x0000_s5937" name="Drawing" r:id="rId9" imgW="568080" imgH="531720" progId="FLW3Drawing">
                    <p:embed/>
                  </p:oleObj>
                </mc:Choice>
                <mc:Fallback>
                  <p:oleObj name="Drawing" r:id="rId9" imgW="568080" imgH="531720" progId="FLW3Drawing">
                    <p:embed/>
                    <p:pic>
                      <p:nvPicPr>
                        <p:cNvPr id="114720" name="Object 3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048000"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1" name="Object 33"/>
            <p:cNvGraphicFramePr>
              <a:graphicFrameLocks/>
            </p:cNvGraphicFramePr>
            <p:nvPr>
              <p:extLst/>
            </p:nvPr>
          </p:nvGraphicFramePr>
          <p:xfrm>
            <a:off x="3276600" y="5995988"/>
            <a:ext cx="306388" cy="252413"/>
          </p:xfrm>
          <a:graphic>
            <a:graphicData uri="http://schemas.openxmlformats.org/presentationml/2006/ole">
              <mc:AlternateContent xmlns:mc="http://schemas.openxmlformats.org/markup-compatibility/2006">
                <mc:Choice xmlns:v="urn:schemas-microsoft-com:vml" Requires="v">
                  <p:oleObj spid="_x0000_s5938" name="Drawing" r:id="rId10" imgW="568080" imgH="531720" progId="FLW3Drawing">
                    <p:embed/>
                  </p:oleObj>
                </mc:Choice>
                <mc:Fallback>
                  <p:oleObj name="Drawing" r:id="rId10" imgW="568080" imgH="531720" progId="FLW3Drawing">
                    <p:embed/>
                    <p:pic>
                      <p:nvPicPr>
                        <p:cNvPr id="114721" name="Object 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276600"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2" name="Object 34"/>
            <p:cNvGraphicFramePr>
              <a:graphicFrameLocks/>
            </p:cNvGraphicFramePr>
            <p:nvPr>
              <p:extLst/>
            </p:nvPr>
          </p:nvGraphicFramePr>
          <p:xfrm>
            <a:off x="3506788" y="5995988"/>
            <a:ext cx="306388" cy="252413"/>
          </p:xfrm>
          <a:graphic>
            <a:graphicData uri="http://schemas.openxmlformats.org/presentationml/2006/ole">
              <mc:AlternateContent xmlns:mc="http://schemas.openxmlformats.org/markup-compatibility/2006">
                <mc:Choice xmlns:v="urn:schemas-microsoft-com:vml" Requires="v">
                  <p:oleObj spid="_x0000_s5939" name="Drawing" r:id="rId11" imgW="568080" imgH="531720" progId="FLW3Drawing">
                    <p:embed/>
                  </p:oleObj>
                </mc:Choice>
                <mc:Fallback>
                  <p:oleObj name="Drawing" r:id="rId11" imgW="568080" imgH="531720" progId="FLW3Drawing">
                    <p:embed/>
                    <p:pic>
                      <p:nvPicPr>
                        <p:cNvPr id="114722" name="Object 3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506788"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3" name="Object 35"/>
            <p:cNvGraphicFramePr>
              <a:graphicFrameLocks/>
            </p:cNvGraphicFramePr>
            <p:nvPr>
              <p:extLst/>
            </p:nvPr>
          </p:nvGraphicFramePr>
          <p:xfrm>
            <a:off x="3735388" y="5995988"/>
            <a:ext cx="306388" cy="252413"/>
          </p:xfrm>
          <a:graphic>
            <a:graphicData uri="http://schemas.openxmlformats.org/presentationml/2006/ole">
              <mc:AlternateContent xmlns:mc="http://schemas.openxmlformats.org/markup-compatibility/2006">
                <mc:Choice xmlns:v="urn:schemas-microsoft-com:vml" Requires="v">
                  <p:oleObj spid="_x0000_s5940" name="Drawing" r:id="rId12" imgW="568080" imgH="531720" progId="FLW3Drawing">
                    <p:embed/>
                  </p:oleObj>
                </mc:Choice>
                <mc:Fallback>
                  <p:oleObj name="Drawing" r:id="rId12" imgW="568080" imgH="531720" progId="FLW3Drawing">
                    <p:embed/>
                    <p:pic>
                      <p:nvPicPr>
                        <p:cNvPr id="114723" name="Object 3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735388"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4" name="Object 36"/>
            <p:cNvGraphicFramePr>
              <a:graphicFrameLocks/>
            </p:cNvGraphicFramePr>
            <p:nvPr>
              <p:extLst/>
            </p:nvPr>
          </p:nvGraphicFramePr>
          <p:xfrm>
            <a:off x="3963988" y="5995988"/>
            <a:ext cx="306388" cy="252413"/>
          </p:xfrm>
          <a:graphic>
            <a:graphicData uri="http://schemas.openxmlformats.org/presentationml/2006/ole">
              <mc:AlternateContent xmlns:mc="http://schemas.openxmlformats.org/markup-compatibility/2006">
                <mc:Choice xmlns:v="urn:schemas-microsoft-com:vml" Requires="v">
                  <p:oleObj spid="_x0000_s5941" name="Drawing" r:id="rId13" imgW="568080" imgH="531720" progId="FLW3Drawing">
                    <p:embed/>
                  </p:oleObj>
                </mc:Choice>
                <mc:Fallback>
                  <p:oleObj name="Drawing" r:id="rId13" imgW="568080" imgH="531720" progId="FLW3Drawing">
                    <p:embed/>
                    <p:pic>
                      <p:nvPicPr>
                        <p:cNvPr id="114724" name="Object 3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963988"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5" name="Object 37"/>
            <p:cNvGraphicFramePr>
              <a:graphicFrameLocks/>
            </p:cNvGraphicFramePr>
            <p:nvPr>
              <p:extLst/>
            </p:nvPr>
          </p:nvGraphicFramePr>
          <p:xfrm>
            <a:off x="3051175" y="6300788"/>
            <a:ext cx="306388" cy="252413"/>
          </p:xfrm>
          <a:graphic>
            <a:graphicData uri="http://schemas.openxmlformats.org/presentationml/2006/ole">
              <mc:AlternateContent xmlns:mc="http://schemas.openxmlformats.org/markup-compatibility/2006">
                <mc:Choice xmlns:v="urn:schemas-microsoft-com:vml" Requires="v">
                  <p:oleObj spid="_x0000_s5942" name="Drawing" r:id="rId14" imgW="568080" imgH="531720" progId="FLW3Drawing">
                    <p:embed/>
                  </p:oleObj>
                </mc:Choice>
                <mc:Fallback>
                  <p:oleObj name="Drawing" r:id="rId14" imgW="568080" imgH="531720" progId="FLW3Drawing">
                    <p:embed/>
                    <p:pic>
                      <p:nvPicPr>
                        <p:cNvPr id="114725" name="Object 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051175"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6" name="Object 38"/>
            <p:cNvGraphicFramePr>
              <a:graphicFrameLocks/>
            </p:cNvGraphicFramePr>
            <p:nvPr>
              <p:extLst/>
            </p:nvPr>
          </p:nvGraphicFramePr>
          <p:xfrm>
            <a:off x="3279775" y="6300788"/>
            <a:ext cx="306388" cy="252413"/>
          </p:xfrm>
          <a:graphic>
            <a:graphicData uri="http://schemas.openxmlformats.org/presentationml/2006/ole">
              <mc:AlternateContent xmlns:mc="http://schemas.openxmlformats.org/markup-compatibility/2006">
                <mc:Choice xmlns:v="urn:schemas-microsoft-com:vml" Requires="v">
                  <p:oleObj spid="_x0000_s5943" name="Drawing" r:id="rId15" imgW="568080" imgH="531720" progId="FLW3Drawing">
                    <p:embed/>
                  </p:oleObj>
                </mc:Choice>
                <mc:Fallback>
                  <p:oleObj name="Drawing" r:id="rId15" imgW="568080" imgH="531720" progId="FLW3Drawing">
                    <p:embed/>
                    <p:pic>
                      <p:nvPicPr>
                        <p:cNvPr id="114726" name="Object 3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279775"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7" name="Object 39"/>
            <p:cNvGraphicFramePr>
              <a:graphicFrameLocks/>
            </p:cNvGraphicFramePr>
            <p:nvPr>
              <p:extLst/>
            </p:nvPr>
          </p:nvGraphicFramePr>
          <p:xfrm>
            <a:off x="3509963" y="6300788"/>
            <a:ext cx="306388" cy="252413"/>
          </p:xfrm>
          <a:graphic>
            <a:graphicData uri="http://schemas.openxmlformats.org/presentationml/2006/ole">
              <mc:AlternateContent xmlns:mc="http://schemas.openxmlformats.org/markup-compatibility/2006">
                <mc:Choice xmlns:v="urn:schemas-microsoft-com:vml" Requires="v">
                  <p:oleObj spid="_x0000_s5944" name="Drawing" r:id="rId16" imgW="568080" imgH="531720" progId="FLW3Drawing">
                    <p:embed/>
                  </p:oleObj>
                </mc:Choice>
                <mc:Fallback>
                  <p:oleObj name="Drawing" r:id="rId16" imgW="568080" imgH="531720" progId="FLW3Drawing">
                    <p:embed/>
                    <p:pic>
                      <p:nvPicPr>
                        <p:cNvPr id="114727" name="Object 3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509963"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8" name="Object 40"/>
            <p:cNvGraphicFramePr>
              <a:graphicFrameLocks/>
            </p:cNvGraphicFramePr>
            <p:nvPr>
              <p:extLst/>
            </p:nvPr>
          </p:nvGraphicFramePr>
          <p:xfrm>
            <a:off x="3738563" y="6300788"/>
            <a:ext cx="306388" cy="252413"/>
          </p:xfrm>
          <a:graphic>
            <a:graphicData uri="http://schemas.openxmlformats.org/presentationml/2006/ole">
              <mc:AlternateContent xmlns:mc="http://schemas.openxmlformats.org/markup-compatibility/2006">
                <mc:Choice xmlns:v="urn:schemas-microsoft-com:vml" Requires="v">
                  <p:oleObj spid="_x0000_s5945" name="Drawing" r:id="rId17" imgW="568080" imgH="531720" progId="FLW3Drawing">
                    <p:embed/>
                  </p:oleObj>
                </mc:Choice>
                <mc:Fallback>
                  <p:oleObj name="Drawing" r:id="rId17" imgW="568080" imgH="531720" progId="FLW3Drawing">
                    <p:embed/>
                    <p:pic>
                      <p:nvPicPr>
                        <p:cNvPr id="114728" name="Object 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738563"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9" name="Object 41"/>
            <p:cNvGraphicFramePr>
              <a:graphicFrameLocks/>
            </p:cNvGraphicFramePr>
            <p:nvPr>
              <p:extLst/>
            </p:nvPr>
          </p:nvGraphicFramePr>
          <p:xfrm>
            <a:off x="3967163" y="6300788"/>
            <a:ext cx="306388" cy="252413"/>
          </p:xfrm>
          <a:graphic>
            <a:graphicData uri="http://schemas.openxmlformats.org/presentationml/2006/ole">
              <mc:AlternateContent xmlns:mc="http://schemas.openxmlformats.org/markup-compatibility/2006">
                <mc:Choice xmlns:v="urn:schemas-microsoft-com:vml" Requires="v">
                  <p:oleObj spid="_x0000_s5946" name="Drawing" r:id="rId18" imgW="568080" imgH="531720" progId="FLW3Drawing">
                    <p:embed/>
                  </p:oleObj>
                </mc:Choice>
                <mc:Fallback>
                  <p:oleObj name="Drawing" r:id="rId18" imgW="568080" imgH="531720" progId="FLW3Drawing">
                    <p:embed/>
                    <p:pic>
                      <p:nvPicPr>
                        <p:cNvPr id="114729" name="Object 4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967163"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14691" name="Rectangle 3"/>
          <p:cNvSpPr>
            <a:spLocks noChangeArrowheads="1"/>
          </p:cNvSpPr>
          <p:nvPr/>
        </p:nvSpPr>
        <p:spPr bwMode="auto">
          <a:xfrm>
            <a:off x="4223792" y="5229200"/>
            <a:ext cx="2362200" cy="1512167"/>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tIns="0" anchor="ctr"/>
          <a:lstStyle/>
          <a:p>
            <a:pPr algn="ctr"/>
            <a:r>
              <a:rPr lang="zh-CN" altLang="en-US" b="1" dirty="0" smtClean="0">
                <a:solidFill>
                  <a:srgbClr val="FFFF00"/>
                </a:solidFill>
              </a:rPr>
              <a:t>以</a:t>
            </a:r>
            <a:r>
              <a:rPr lang="en-US" altLang="zh-CN" b="1" dirty="0" smtClean="0">
                <a:solidFill>
                  <a:srgbClr val="FFFF00"/>
                </a:solidFill>
              </a:rPr>
              <a:t>PC</a:t>
            </a:r>
            <a:r>
              <a:rPr lang="zh-CN" altLang="en-US" b="1" dirty="0" smtClean="0">
                <a:solidFill>
                  <a:srgbClr val="FFFF00"/>
                </a:solidFill>
              </a:rPr>
              <a:t>为主的</a:t>
            </a:r>
            <a:endParaRPr lang="en-US" altLang="zh-CN" b="1" dirty="0" smtClean="0">
              <a:solidFill>
                <a:srgbClr val="FFFF00"/>
              </a:solidFill>
            </a:endParaRPr>
          </a:p>
          <a:p>
            <a:pPr algn="ctr"/>
            <a:r>
              <a:rPr lang="zh-CN" altLang="en-US" b="1" dirty="0" smtClean="0">
                <a:solidFill>
                  <a:srgbClr val="FFFF00"/>
                </a:solidFill>
              </a:rPr>
              <a:t>客户机</a:t>
            </a:r>
            <a:r>
              <a:rPr lang="en-US" altLang="zh-CN" b="1" dirty="0">
                <a:solidFill>
                  <a:srgbClr val="FFFF00"/>
                </a:solidFill>
              </a:rPr>
              <a:t>/</a:t>
            </a:r>
            <a:r>
              <a:rPr lang="zh-CN" altLang="en-US" b="1" dirty="0" smtClean="0">
                <a:solidFill>
                  <a:srgbClr val="FFFF00"/>
                </a:solidFill>
              </a:rPr>
              <a:t>服务器</a:t>
            </a:r>
            <a:endParaRPr lang="en-US" altLang="zh-CN" b="1" dirty="0" smtClean="0">
              <a:solidFill>
                <a:srgbClr val="FFFF00"/>
              </a:solidFill>
            </a:endParaRPr>
          </a:p>
          <a:p>
            <a:pPr algn="ctr"/>
            <a:r>
              <a:rPr lang="zh-CN" altLang="en-US" b="1" dirty="0" smtClean="0">
                <a:solidFill>
                  <a:srgbClr val="FFFF00"/>
                </a:solidFill>
              </a:rPr>
              <a:t>分布式计算</a:t>
            </a:r>
            <a:endParaRPr lang="en-US" altLang="zh-CN" b="1" dirty="0" smtClean="0">
              <a:solidFill>
                <a:srgbClr val="FFFF00"/>
              </a:solidFill>
            </a:endParaRPr>
          </a:p>
          <a:p>
            <a:pPr algn="ctr"/>
            <a:r>
              <a:rPr lang="en-US" altLang="zh-CN" b="1" dirty="0" smtClean="0">
                <a:solidFill>
                  <a:srgbClr val="FFFF00"/>
                </a:solidFill>
              </a:rPr>
              <a:t>1980-90</a:t>
            </a:r>
            <a:r>
              <a:rPr lang="zh-CN" altLang="en-US" b="1" dirty="0" smtClean="0">
                <a:solidFill>
                  <a:srgbClr val="FFFF00"/>
                </a:solidFill>
              </a:rPr>
              <a:t>年代</a:t>
            </a:r>
            <a:endParaRPr lang="zh-CN" altLang="en-US" dirty="0">
              <a:solidFill>
                <a:srgbClr val="FFFF00"/>
              </a:solidFill>
            </a:endParaRPr>
          </a:p>
        </p:txBody>
      </p:sp>
      <p:pic>
        <p:nvPicPr>
          <p:cNvPr id="3" name="图片 2"/>
          <p:cNvPicPr>
            <a:picLocks noChangeAspect="1"/>
          </p:cNvPicPr>
          <p:nvPr/>
        </p:nvPicPr>
        <p:blipFill>
          <a:blip r:embed="rId19"/>
          <a:stretch>
            <a:fillRect/>
          </a:stretch>
        </p:blipFill>
        <p:spPr>
          <a:xfrm>
            <a:off x="479133" y="2831232"/>
            <a:ext cx="2220578" cy="2723677"/>
          </a:xfrm>
          <a:prstGeom prst="rect">
            <a:avLst/>
          </a:prstGeom>
        </p:spPr>
      </p:pic>
      <p:pic>
        <p:nvPicPr>
          <p:cNvPr id="5" name="图片 4"/>
          <p:cNvPicPr>
            <a:picLocks noChangeAspect="1"/>
          </p:cNvPicPr>
          <p:nvPr/>
        </p:nvPicPr>
        <p:blipFill>
          <a:blip r:embed="rId20"/>
          <a:stretch>
            <a:fillRect/>
          </a:stretch>
        </p:blipFill>
        <p:spPr>
          <a:xfrm>
            <a:off x="2916869" y="2250789"/>
            <a:ext cx="4003912" cy="2402347"/>
          </a:xfrm>
          <a:prstGeom prst="rect">
            <a:avLst/>
          </a:prstGeom>
        </p:spPr>
      </p:pic>
      <p:pic>
        <p:nvPicPr>
          <p:cNvPr id="6" name="图片 5"/>
          <p:cNvPicPr>
            <a:picLocks noChangeAspect="1"/>
          </p:cNvPicPr>
          <p:nvPr/>
        </p:nvPicPr>
        <p:blipFill>
          <a:blip r:embed="rId21"/>
          <a:stretch>
            <a:fillRect/>
          </a:stretch>
        </p:blipFill>
        <p:spPr>
          <a:xfrm>
            <a:off x="7137939" y="1154577"/>
            <a:ext cx="4995786" cy="4523527"/>
          </a:xfrm>
          <a:prstGeom prst="rect">
            <a:avLst/>
          </a:prstGeom>
        </p:spPr>
      </p:pic>
      <p:sp>
        <p:nvSpPr>
          <p:cNvPr id="7" name="文本框 6"/>
          <p:cNvSpPr txBox="1"/>
          <p:nvPr/>
        </p:nvSpPr>
        <p:spPr>
          <a:xfrm>
            <a:off x="8526145" y="5229200"/>
            <a:ext cx="2954655" cy="1569660"/>
          </a:xfrm>
          <a:prstGeom prst="rect">
            <a:avLst/>
          </a:prstGeom>
          <a:solidFill>
            <a:srgbClr val="92D050"/>
          </a:solidFill>
        </p:spPr>
        <p:txBody>
          <a:bodyPr wrap="none" rtlCol="0">
            <a:spAutoFit/>
          </a:bodyPr>
          <a:lstStyle/>
          <a:p>
            <a:pPr algn="ctr"/>
            <a:r>
              <a:rPr lang="zh-CN" altLang="en-US" dirty="0" smtClean="0"/>
              <a:t>云计算模式</a:t>
            </a:r>
            <a:endParaRPr lang="en-US" altLang="zh-CN" dirty="0" smtClean="0"/>
          </a:p>
          <a:p>
            <a:pPr algn="ctr"/>
            <a:r>
              <a:rPr lang="zh-CN" altLang="en-US" dirty="0" smtClean="0"/>
              <a:t>云数据中心的集中</a:t>
            </a:r>
            <a:endParaRPr lang="en-US" altLang="zh-CN" dirty="0" smtClean="0"/>
          </a:p>
          <a:p>
            <a:pPr algn="ctr"/>
            <a:r>
              <a:rPr lang="zh-CN" altLang="en-US" dirty="0" smtClean="0"/>
              <a:t>加广域网范围的分布</a:t>
            </a:r>
            <a:endParaRPr lang="en-US" altLang="zh-CN" dirty="0" smtClean="0"/>
          </a:p>
          <a:p>
            <a:pPr algn="ctr"/>
            <a:r>
              <a:rPr lang="en-US" altLang="zh-CN" dirty="0" smtClean="0"/>
              <a:t>2000</a:t>
            </a:r>
            <a:r>
              <a:rPr lang="zh-CN" altLang="en-US" dirty="0" smtClean="0"/>
              <a:t>年后</a:t>
            </a:r>
            <a:endParaRPr lang="zh-CN" altLang="en-US" dirty="0"/>
          </a:p>
        </p:txBody>
      </p:sp>
    </p:spTree>
    <p:extLst>
      <p:ext uri="{BB962C8B-B14F-4D97-AF65-F5344CB8AC3E}">
        <p14:creationId xmlns:p14="http://schemas.microsoft.com/office/powerpoint/2010/main" val="18966251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en-US"/>
              <a:t>食物链的例子：生物界</a:t>
            </a:r>
          </a:p>
        </p:txBody>
      </p:sp>
      <p:sp>
        <p:nvSpPr>
          <p:cNvPr id="5123" name="Freeform 3" descr="50%"/>
          <p:cNvSpPr>
            <a:spLocks/>
          </p:cNvSpPr>
          <p:nvPr/>
        </p:nvSpPr>
        <p:spPr bwMode="auto">
          <a:xfrm>
            <a:off x="2835276" y="3267076"/>
            <a:ext cx="60325" cy="49213"/>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4" name="Freeform 4" descr="50%"/>
          <p:cNvSpPr>
            <a:spLocks/>
          </p:cNvSpPr>
          <p:nvPr/>
        </p:nvSpPr>
        <p:spPr bwMode="auto">
          <a:xfrm>
            <a:off x="2706689" y="3151189"/>
            <a:ext cx="509587" cy="155575"/>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27" name="Group 7"/>
          <p:cNvGrpSpPr>
            <a:grpSpLocks/>
          </p:cNvGrpSpPr>
          <p:nvPr/>
        </p:nvGrpSpPr>
        <p:grpSpPr bwMode="auto">
          <a:xfrm>
            <a:off x="2749551" y="3249613"/>
            <a:ext cx="3175" cy="4762"/>
            <a:chOff x="772" y="2047"/>
            <a:chExt cx="2" cy="3"/>
          </a:xfrm>
        </p:grpSpPr>
        <p:sp>
          <p:nvSpPr>
            <p:cNvPr id="5125" name="Oval 5" descr="50%"/>
            <p:cNvSpPr>
              <a:spLocks noChangeArrowheads="1"/>
            </p:cNvSpPr>
            <p:nvPr/>
          </p:nvSpPr>
          <p:spPr bwMode="auto">
            <a:xfrm>
              <a:off x="772" y="2047"/>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 name="Arc 6" descr="50%"/>
            <p:cNvSpPr>
              <a:spLocks/>
            </p:cNvSpPr>
            <p:nvPr/>
          </p:nvSpPr>
          <p:spPr bwMode="auto">
            <a:xfrm>
              <a:off x="773" y="2048"/>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3" name="Group 13"/>
          <p:cNvGrpSpPr>
            <a:grpSpLocks/>
          </p:cNvGrpSpPr>
          <p:nvPr/>
        </p:nvGrpSpPr>
        <p:grpSpPr bwMode="auto">
          <a:xfrm>
            <a:off x="2776538" y="3268663"/>
            <a:ext cx="36512" cy="6350"/>
            <a:chOff x="789" y="2059"/>
            <a:chExt cx="23" cy="4"/>
          </a:xfrm>
        </p:grpSpPr>
        <p:sp>
          <p:nvSpPr>
            <p:cNvPr id="5128" name="Arc 8" descr="50%"/>
            <p:cNvSpPr>
              <a:spLocks/>
            </p:cNvSpPr>
            <p:nvPr/>
          </p:nvSpPr>
          <p:spPr bwMode="auto">
            <a:xfrm>
              <a:off x="793" y="2059"/>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9" name="Arc 9" descr="50%"/>
            <p:cNvSpPr>
              <a:spLocks/>
            </p:cNvSpPr>
            <p:nvPr/>
          </p:nvSpPr>
          <p:spPr bwMode="auto">
            <a:xfrm>
              <a:off x="789" y="2059"/>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0" name="Arc 10" descr="50%"/>
            <p:cNvSpPr>
              <a:spLocks/>
            </p:cNvSpPr>
            <p:nvPr/>
          </p:nvSpPr>
          <p:spPr bwMode="auto">
            <a:xfrm>
              <a:off x="796" y="2059"/>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Arc 11" descr="50%"/>
            <p:cNvSpPr>
              <a:spLocks/>
            </p:cNvSpPr>
            <p:nvPr/>
          </p:nvSpPr>
          <p:spPr bwMode="auto">
            <a:xfrm>
              <a:off x="800" y="2059"/>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2" name="Arc 12" descr="50%"/>
            <p:cNvSpPr>
              <a:spLocks/>
            </p:cNvSpPr>
            <p:nvPr/>
          </p:nvSpPr>
          <p:spPr bwMode="auto">
            <a:xfrm>
              <a:off x="806" y="2059"/>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34" name="Freeform 14" descr="50%"/>
          <p:cNvSpPr>
            <a:spLocks/>
          </p:cNvSpPr>
          <p:nvPr/>
        </p:nvSpPr>
        <p:spPr bwMode="auto">
          <a:xfrm>
            <a:off x="2706688" y="3154364"/>
            <a:ext cx="495300" cy="92075"/>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37" name="Group 17"/>
          <p:cNvGrpSpPr>
            <a:grpSpLocks/>
          </p:cNvGrpSpPr>
          <p:nvPr/>
        </p:nvGrpSpPr>
        <p:grpSpPr bwMode="auto">
          <a:xfrm>
            <a:off x="2808288" y="3271839"/>
            <a:ext cx="74612" cy="58737"/>
            <a:chOff x="809" y="2061"/>
            <a:chExt cx="47" cy="37"/>
          </a:xfrm>
        </p:grpSpPr>
        <p:sp>
          <p:nvSpPr>
            <p:cNvPr id="5135" name="Freeform 15" descr="50%"/>
            <p:cNvSpPr>
              <a:spLocks/>
            </p:cNvSpPr>
            <p:nvPr/>
          </p:nvSpPr>
          <p:spPr bwMode="auto">
            <a:xfrm>
              <a:off x="809" y="2067"/>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6" name="Freeform 16" descr="50%"/>
            <p:cNvSpPr>
              <a:spLocks/>
            </p:cNvSpPr>
            <p:nvPr/>
          </p:nvSpPr>
          <p:spPr bwMode="auto">
            <a:xfrm>
              <a:off x="810" y="2061"/>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38" name="Freeform 18" descr="50%"/>
          <p:cNvSpPr>
            <a:spLocks/>
          </p:cNvSpPr>
          <p:nvPr/>
        </p:nvSpPr>
        <p:spPr bwMode="auto">
          <a:xfrm>
            <a:off x="7807325" y="3360738"/>
            <a:ext cx="292100" cy="215900"/>
          </a:xfrm>
          <a:custGeom>
            <a:avLst/>
            <a:gdLst>
              <a:gd name="T0" fmla="*/ 0 w 184"/>
              <a:gd name="T1" fmla="*/ 0 h 136"/>
              <a:gd name="T2" fmla="*/ 7 w 184"/>
              <a:gd name="T3" fmla="*/ 14 h 136"/>
              <a:gd name="T4" fmla="*/ 16 w 184"/>
              <a:gd name="T5" fmla="*/ 28 h 136"/>
              <a:gd name="T6" fmla="*/ 27 w 184"/>
              <a:gd name="T7" fmla="*/ 43 h 136"/>
              <a:gd name="T8" fmla="*/ 38 w 184"/>
              <a:gd name="T9" fmla="*/ 55 h 136"/>
              <a:gd name="T10" fmla="*/ 52 w 184"/>
              <a:gd name="T11" fmla="*/ 70 h 136"/>
              <a:gd name="T12" fmla="*/ 66 w 184"/>
              <a:gd name="T13" fmla="*/ 85 h 136"/>
              <a:gd name="T14" fmla="*/ 77 w 184"/>
              <a:gd name="T15" fmla="*/ 96 h 136"/>
              <a:gd name="T16" fmla="*/ 90 w 184"/>
              <a:gd name="T17" fmla="*/ 106 h 136"/>
              <a:gd name="T18" fmla="*/ 103 w 184"/>
              <a:gd name="T19" fmla="*/ 114 h 136"/>
              <a:gd name="T20" fmla="*/ 117 w 184"/>
              <a:gd name="T21" fmla="*/ 121 h 136"/>
              <a:gd name="T22" fmla="*/ 131 w 184"/>
              <a:gd name="T23" fmla="*/ 127 h 136"/>
              <a:gd name="T24" fmla="*/ 146 w 184"/>
              <a:gd name="T25" fmla="*/ 132 h 136"/>
              <a:gd name="T26" fmla="*/ 162 w 184"/>
              <a:gd name="T27" fmla="*/ 135 h 136"/>
              <a:gd name="T28" fmla="*/ 176 w 184"/>
              <a:gd name="T29" fmla="*/ 135 h 136"/>
              <a:gd name="T30" fmla="*/ 183 w 184"/>
              <a:gd name="T31" fmla="*/ 134 h 136"/>
              <a:gd name="T32" fmla="*/ 174 w 184"/>
              <a:gd name="T33" fmla="*/ 125 h 136"/>
              <a:gd name="T34" fmla="*/ 164 w 184"/>
              <a:gd name="T35" fmla="*/ 113 h 136"/>
              <a:gd name="T36" fmla="*/ 154 w 184"/>
              <a:gd name="T37" fmla="*/ 101 h 136"/>
              <a:gd name="T38" fmla="*/ 144 w 184"/>
              <a:gd name="T39" fmla="*/ 87 h 136"/>
              <a:gd name="T40" fmla="*/ 135 w 184"/>
              <a:gd name="T41" fmla="*/ 73 h 136"/>
              <a:gd name="T42" fmla="*/ 128 w 184"/>
              <a:gd name="T43" fmla="*/ 60 h 136"/>
              <a:gd name="T44" fmla="*/ 124 w 184"/>
              <a:gd name="T45" fmla="*/ 48 h 136"/>
              <a:gd name="T46" fmla="*/ 119 w 184"/>
              <a:gd name="T47" fmla="*/ 28 h 136"/>
              <a:gd name="T48" fmla="*/ 119 w 184"/>
              <a:gd name="T49" fmla="*/ 13 h 136"/>
              <a:gd name="T50" fmla="*/ 119 w 184"/>
              <a:gd name="T51" fmla="*/ 2 h 136"/>
              <a:gd name="T52" fmla="*/ 0 w 184"/>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136">
                <a:moveTo>
                  <a:pt x="0" y="0"/>
                </a:moveTo>
                <a:lnTo>
                  <a:pt x="7" y="14"/>
                </a:lnTo>
                <a:lnTo>
                  <a:pt x="16" y="28"/>
                </a:lnTo>
                <a:lnTo>
                  <a:pt x="27" y="43"/>
                </a:lnTo>
                <a:lnTo>
                  <a:pt x="38" y="55"/>
                </a:lnTo>
                <a:lnTo>
                  <a:pt x="52" y="70"/>
                </a:lnTo>
                <a:lnTo>
                  <a:pt x="66" y="85"/>
                </a:lnTo>
                <a:lnTo>
                  <a:pt x="77" y="96"/>
                </a:lnTo>
                <a:lnTo>
                  <a:pt x="90" y="106"/>
                </a:lnTo>
                <a:lnTo>
                  <a:pt x="103" y="114"/>
                </a:lnTo>
                <a:lnTo>
                  <a:pt x="117" y="121"/>
                </a:lnTo>
                <a:lnTo>
                  <a:pt x="131" y="127"/>
                </a:lnTo>
                <a:lnTo>
                  <a:pt x="146" y="132"/>
                </a:lnTo>
                <a:lnTo>
                  <a:pt x="162" y="135"/>
                </a:lnTo>
                <a:lnTo>
                  <a:pt x="176" y="135"/>
                </a:lnTo>
                <a:lnTo>
                  <a:pt x="183" y="134"/>
                </a:lnTo>
                <a:lnTo>
                  <a:pt x="174" y="125"/>
                </a:lnTo>
                <a:lnTo>
                  <a:pt x="164" y="113"/>
                </a:lnTo>
                <a:lnTo>
                  <a:pt x="154" y="101"/>
                </a:lnTo>
                <a:lnTo>
                  <a:pt x="144" y="87"/>
                </a:lnTo>
                <a:lnTo>
                  <a:pt x="135" y="73"/>
                </a:lnTo>
                <a:lnTo>
                  <a:pt x="128" y="60"/>
                </a:lnTo>
                <a:lnTo>
                  <a:pt x="124" y="48"/>
                </a:lnTo>
                <a:lnTo>
                  <a:pt x="119" y="28"/>
                </a:lnTo>
                <a:lnTo>
                  <a:pt x="119" y="13"/>
                </a:lnTo>
                <a:lnTo>
                  <a:pt x="119"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9" name="Freeform 19" descr="50%"/>
          <p:cNvSpPr>
            <a:spLocks/>
          </p:cNvSpPr>
          <p:nvPr/>
        </p:nvSpPr>
        <p:spPr bwMode="auto">
          <a:xfrm>
            <a:off x="7178676" y="2835275"/>
            <a:ext cx="2487613" cy="698500"/>
          </a:xfrm>
          <a:custGeom>
            <a:avLst/>
            <a:gdLst>
              <a:gd name="T0" fmla="*/ 17 w 1567"/>
              <a:gd name="T1" fmla="*/ 261 h 440"/>
              <a:gd name="T2" fmla="*/ 64 w 1567"/>
              <a:gd name="T3" fmla="*/ 244 h 440"/>
              <a:gd name="T4" fmla="*/ 137 w 1567"/>
              <a:gd name="T5" fmla="*/ 222 h 440"/>
              <a:gd name="T6" fmla="*/ 214 w 1567"/>
              <a:gd name="T7" fmla="*/ 207 h 440"/>
              <a:gd name="T8" fmla="*/ 289 w 1567"/>
              <a:gd name="T9" fmla="*/ 193 h 440"/>
              <a:gd name="T10" fmla="*/ 367 w 1567"/>
              <a:gd name="T11" fmla="*/ 179 h 440"/>
              <a:gd name="T12" fmla="*/ 431 w 1567"/>
              <a:gd name="T13" fmla="*/ 167 h 440"/>
              <a:gd name="T14" fmla="*/ 468 w 1567"/>
              <a:gd name="T15" fmla="*/ 147 h 440"/>
              <a:gd name="T16" fmla="*/ 504 w 1567"/>
              <a:gd name="T17" fmla="*/ 112 h 440"/>
              <a:gd name="T18" fmla="*/ 558 w 1567"/>
              <a:gd name="T19" fmla="*/ 62 h 440"/>
              <a:gd name="T20" fmla="*/ 613 w 1567"/>
              <a:gd name="T21" fmla="*/ 16 h 440"/>
              <a:gd name="T22" fmla="*/ 652 w 1567"/>
              <a:gd name="T23" fmla="*/ 53 h 440"/>
              <a:gd name="T24" fmla="*/ 674 w 1567"/>
              <a:gd name="T25" fmla="*/ 131 h 440"/>
              <a:gd name="T26" fmla="*/ 688 w 1567"/>
              <a:gd name="T27" fmla="*/ 161 h 440"/>
              <a:gd name="T28" fmla="*/ 778 w 1567"/>
              <a:gd name="T29" fmla="*/ 176 h 440"/>
              <a:gd name="T30" fmla="*/ 870 w 1567"/>
              <a:gd name="T31" fmla="*/ 192 h 440"/>
              <a:gd name="T32" fmla="*/ 938 w 1567"/>
              <a:gd name="T33" fmla="*/ 192 h 440"/>
              <a:gd name="T34" fmla="*/ 1011 w 1567"/>
              <a:gd name="T35" fmla="*/ 178 h 440"/>
              <a:gd name="T36" fmla="*/ 1067 w 1567"/>
              <a:gd name="T37" fmla="*/ 215 h 440"/>
              <a:gd name="T38" fmla="*/ 1122 w 1567"/>
              <a:gd name="T39" fmla="*/ 230 h 440"/>
              <a:gd name="T40" fmla="*/ 1191 w 1567"/>
              <a:gd name="T41" fmla="*/ 229 h 440"/>
              <a:gd name="T42" fmla="*/ 1265 w 1567"/>
              <a:gd name="T43" fmla="*/ 203 h 440"/>
              <a:gd name="T44" fmla="*/ 1346 w 1567"/>
              <a:gd name="T45" fmla="*/ 138 h 440"/>
              <a:gd name="T46" fmla="*/ 1441 w 1567"/>
              <a:gd name="T47" fmla="*/ 63 h 440"/>
              <a:gd name="T48" fmla="*/ 1536 w 1567"/>
              <a:gd name="T49" fmla="*/ 33 h 440"/>
              <a:gd name="T50" fmla="*/ 1540 w 1567"/>
              <a:gd name="T51" fmla="*/ 59 h 440"/>
              <a:gd name="T52" fmla="*/ 1494 w 1567"/>
              <a:gd name="T53" fmla="*/ 112 h 440"/>
              <a:gd name="T54" fmla="*/ 1441 w 1567"/>
              <a:gd name="T55" fmla="*/ 165 h 440"/>
              <a:gd name="T56" fmla="*/ 1407 w 1567"/>
              <a:gd name="T57" fmla="*/ 218 h 440"/>
              <a:gd name="T58" fmla="*/ 1407 w 1567"/>
              <a:gd name="T59" fmla="*/ 273 h 440"/>
              <a:gd name="T60" fmla="*/ 1444 w 1567"/>
              <a:gd name="T61" fmla="*/ 329 h 440"/>
              <a:gd name="T62" fmla="*/ 1492 w 1567"/>
              <a:gd name="T63" fmla="*/ 371 h 440"/>
              <a:gd name="T64" fmla="*/ 1534 w 1567"/>
              <a:gd name="T65" fmla="*/ 405 h 440"/>
              <a:gd name="T66" fmla="*/ 1536 w 1567"/>
              <a:gd name="T67" fmla="*/ 423 h 440"/>
              <a:gd name="T68" fmla="*/ 1477 w 1567"/>
              <a:gd name="T69" fmla="*/ 421 h 440"/>
              <a:gd name="T70" fmla="*/ 1424 w 1567"/>
              <a:gd name="T71" fmla="*/ 408 h 440"/>
              <a:gd name="T72" fmla="*/ 1375 w 1567"/>
              <a:gd name="T73" fmla="*/ 384 h 440"/>
              <a:gd name="T74" fmla="*/ 1292 w 1567"/>
              <a:gd name="T75" fmla="*/ 335 h 440"/>
              <a:gd name="T76" fmla="*/ 1191 w 1567"/>
              <a:gd name="T77" fmla="*/ 327 h 440"/>
              <a:gd name="T78" fmla="*/ 1069 w 1567"/>
              <a:gd name="T79" fmla="*/ 340 h 440"/>
              <a:gd name="T80" fmla="*/ 992 w 1567"/>
              <a:gd name="T81" fmla="*/ 369 h 440"/>
              <a:gd name="T82" fmla="*/ 966 w 1567"/>
              <a:gd name="T83" fmla="*/ 404 h 440"/>
              <a:gd name="T84" fmla="*/ 857 w 1567"/>
              <a:gd name="T85" fmla="*/ 400 h 440"/>
              <a:gd name="T86" fmla="*/ 765 w 1567"/>
              <a:gd name="T87" fmla="*/ 428 h 440"/>
              <a:gd name="T88" fmla="*/ 424 w 1567"/>
              <a:gd name="T89" fmla="*/ 439 h 440"/>
              <a:gd name="T90" fmla="*/ 228 w 1567"/>
              <a:gd name="T91" fmla="*/ 420 h 440"/>
              <a:gd name="T92" fmla="*/ 56 w 1567"/>
              <a:gd name="T93" fmla="*/ 365 h 440"/>
              <a:gd name="T94" fmla="*/ 56 w 1567"/>
              <a:gd name="T95" fmla="*/ 337 h 440"/>
              <a:gd name="T96" fmla="*/ 18 w 1567"/>
              <a:gd name="T97" fmla="*/ 303 h 440"/>
              <a:gd name="T98" fmla="*/ 3 w 1567"/>
              <a:gd name="T99" fmla="*/ 28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7" h="440">
                <a:moveTo>
                  <a:pt x="0" y="272"/>
                </a:moveTo>
                <a:lnTo>
                  <a:pt x="5" y="268"/>
                </a:lnTo>
                <a:lnTo>
                  <a:pt x="17" y="261"/>
                </a:lnTo>
                <a:lnTo>
                  <a:pt x="35" y="254"/>
                </a:lnTo>
                <a:lnTo>
                  <a:pt x="49" y="250"/>
                </a:lnTo>
                <a:lnTo>
                  <a:pt x="64" y="244"/>
                </a:lnTo>
                <a:lnTo>
                  <a:pt x="89" y="236"/>
                </a:lnTo>
                <a:lnTo>
                  <a:pt x="114" y="229"/>
                </a:lnTo>
                <a:lnTo>
                  <a:pt x="137" y="222"/>
                </a:lnTo>
                <a:lnTo>
                  <a:pt x="161" y="217"/>
                </a:lnTo>
                <a:lnTo>
                  <a:pt x="186" y="212"/>
                </a:lnTo>
                <a:lnTo>
                  <a:pt x="214" y="207"/>
                </a:lnTo>
                <a:lnTo>
                  <a:pt x="241" y="202"/>
                </a:lnTo>
                <a:lnTo>
                  <a:pt x="265" y="197"/>
                </a:lnTo>
                <a:lnTo>
                  <a:pt x="289" y="193"/>
                </a:lnTo>
                <a:lnTo>
                  <a:pt x="311" y="189"/>
                </a:lnTo>
                <a:lnTo>
                  <a:pt x="342" y="183"/>
                </a:lnTo>
                <a:lnTo>
                  <a:pt x="367" y="179"/>
                </a:lnTo>
                <a:lnTo>
                  <a:pt x="391" y="175"/>
                </a:lnTo>
                <a:lnTo>
                  <a:pt x="412" y="172"/>
                </a:lnTo>
                <a:lnTo>
                  <a:pt x="431" y="167"/>
                </a:lnTo>
                <a:lnTo>
                  <a:pt x="446" y="161"/>
                </a:lnTo>
                <a:lnTo>
                  <a:pt x="457" y="155"/>
                </a:lnTo>
                <a:lnTo>
                  <a:pt x="468" y="147"/>
                </a:lnTo>
                <a:lnTo>
                  <a:pt x="478" y="138"/>
                </a:lnTo>
                <a:lnTo>
                  <a:pt x="490" y="126"/>
                </a:lnTo>
                <a:lnTo>
                  <a:pt x="504" y="112"/>
                </a:lnTo>
                <a:lnTo>
                  <a:pt x="522" y="95"/>
                </a:lnTo>
                <a:lnTo>
                  <a:pt x="539" y="78"/>
                </a:lnTo>
                <a:lnTo>
                  <a:pt x="558" y="62"/>
                </a:lnTo>
                <a:lnTo>
                  <a:pt x="574" y="45"/>
                </a:lnTo>
                <a:lnTo>
                  <a:pt x="593" y="31"/>
                </a:lnTo>
                <a:lnTo>
                  <a:pt x="613" y="16"/>
                </a:lnTo>
                <a:lnTo>
                  <a:pt x="636" y="0"/>
                </a:lnTo>
                <a:lnTo>
                  <a:pt x="643" y="28"/>
                </a:lnTo>
                <a:lnTo>
                  <a:pt x="652" y="53"/>
                </a:lnTo>
                <a:lnTo>
                  <a:pt x="661" y="80"/>
                </a:lnTo>
                <a:lnTo>
                  <a:pt x="669" y="108"/>
                </a:lnTo>
                <a:lnTo>
                  <a:pt x="674" y="131"/>
                </a:lnTo>
                <a:lnTo>
                  <a:pt x="673" y="145"/>
                </a:lnTo>
                <a:lnTo>
                  <a:pt x="663" y="157"/>
                </a:lnTo>
                <a:lnTo>
                  <a:pt x="688" y="161"/>
                </a:lnTo>
                <a:lnTo>
                  <a:pt x="713" y="165"/>
                </a:lnTo>
                <a:lnTo>
                  <a:pt x="744" y="171"/>
                </a:lnTo>
                <a:lnTo>
                  <a:pt x="778" y="176"/>
                </a:lnTo>
                <a:lnTo>
                  <a:pt x="813" y="183"/>
                </a:lnTo>
                <a:lnTo>
                  <a:pt x="841" y="188"/>
                </a:lnTo>
                <a:lnTo>
                  <a:pt x="870" y="192"/>
                </a:lnTo>
                <a:lnTo>
                  <a:pt x="896" y="195"/>
                </a:lnTo>
                <a:lnTo>
                  <a:pt x="920" y="197"/>
                </a:lnTo>
                <a:lnTo>
                  <a:pt x="938" y="192"/>
                </a:lnTo>
                <a:lnTo>
                  <a:pt x="955" y="183"/>
                </a:lnTo>
                <a:lnTo>
                  <a:pt x="972" y="172"/>
                </a:lnTo>
                <a:lnTo>
                  <a:pt x="1011" y="178"/>
                </a:lnTo>
                <a:lnTo>
                  <a:pt x="1053" y="188"/>
                </a:lnTo>
                <a:lnTo>
                  <a:pt x="1089" y="194"/>
                </a:lnTo>
                <a:lnTo>
                  <a:pt x="1067" y="215"/>
                </a:lnTo>
                <a:lnTo>
                  <a:pt x="1080" y="219"/>
                </a:lnTo>
                <a:lnTo>
                  <a:pt x="1100" y="225"/>
                </a:lnTo>
                <a:lnTo>
                  <a:pt x="1122" y="230"/>
                </a:lnTo>
                <a:lnTo>
                  <a:pt x="1146" y="234"/>
                </a:lnTo>
                <a:lnTo>
                  <a:pt x="1168" y="231"/>
                </a:lnTo>
                <a:lnTo>
                  <a:pt x="1191" y="229"/>
                </a:lnTo>
                <a:lnTo>
                  <a:pt x="1216" y="225"/>
                </a:lnTo>
                <a:lnTo>
                  <a:pt x="1242" y="217"/>
                </a:lnTo>
                <a:lnTo>
                  <a:pt x="1265" y="203"/>
                </a:lnTo>
                <a:lnTo>
                  <a:pt x="1295" y="183"/>
                </a:lnTo>
                <a:lnTo>
                  <a:pt x="1317" y="165"/>
                </a:lnTo>
                <a:lnTo>
                  <a:pt x="1346" y="138"/>
                </a:lnTo>
                <a:lnTo>
                  <a:pt x="1376" y="108"/>
                </a:lnTo>
                <a:lnTo>
                  <a:pt x="1411" y="82"/>
                </a:lnTo>
                <a:lnTo>
                  <a:pt x="1441" y="63"/>
                </a:lnTo>
                <a:lnTo>
                  <a:pt x="1471" y="48"/>
                </a:lnTo>
                <a:lnTo>
                  <a:pt x="1500" y="38"/>
                </a:lnTo>
                <a:lnTo>
                  <a:pt x="1536" y="33"/>
                </a:lnTo>
                <a:lnTo>
                  <a:pt x="1566" y="35"/>
                </a:lnTo>
                <a:lnTo>
                  <a:pt x="1550" y="48"/>
                </a:lnTo>
                <a:lnTo>
                  <a:pt x="1540" y="59"/>
                </a:lnTo>
                <a:lnTo>
                  <a:pt x="1534" y="68"/>
                </a:lnTo>
                <a:lnTo>
                  <a:pt x="1511" y="98"/>
                </a:lnTo>
                <a:lnTo>
                  <a:pt x="1494" y="112"/>
                </a:lnTo>
                <a:lnTo>
                  <a:pt x="1474" y="128"/>
                </a:lnTo>
                <a:lnTo>
                  <a:pt x="1456" y="147"/>
                </a:lnTo>
                <a:lnTo>
                  <a:pt x="1441" y="165"/>
                </a:lnTo>
                <a:lnTo>
                  <a:pt x="1428" y="183"/>
                </a:lnTo>
                <a:lnTo>
                  <a:pt x="1416" y="202"/>
                </a:lnTo>
                <a:lnTo>
                  <a:pt x="1407" y="218"/>
                </a:lnTo>
                <a:lnTo>
                  <a:pt x="1401" y="235"/>
                </a:lnTo>
                <a:lnTo>
                  <a:pt x="1399" y="254"/>
                </a:lnTo>
                <a:lnTo>
                  <a:pt x="1407" y="273"/>
                </a:lnTo>
                <a:lnTo>
                  <a:pt x="1416" y="294"/>
                </a:lnTo>
                <a:lnTo>
                  <a:pt x="1429" y="311"/>
                </a:lnTo>
                <a:lnTo>
                  <a:pt x="1444" y="329"/>
                </a:lnTo>
                <a:lnTo>
                  <a:pt x="1459" y="343"/>
                </a:lnTo>
                <a:lnTo>
                  <a:pt x="1475" y="356"/>
                </a:lnTo>
                <a:lnTo>
                  <a:pt x="1492" y="371"/>
                </a:lnTo>
                <a:lnTo>
                  <a:pt x="1511" y="387"/>
                </a:lnTo>
                <a:lnTo>
                  <a:pt x="1522" y="397"/>
                </a:lnTo>
                <a:lnTo>
                  <a:pt x="1534" y="405"/>
                </a:lnTo>
                <a:lnTo>
                  <a:pt x="1546" y="413"/>
                </a:lnTo>
                <a:lnTo>
                  <a:pt x="1554" y="422"/>
                </a:lnTo>
                <a:lnTo>
                  <a:pt x="1536" y="423"/>
                </a:lnTo>
                <a:lnTo>
                  <a:pt x="1514" y="423"/>
                </a:lnTo>
                <a:lnTo>
                  <a:pt x="1494" y="423"/>
                </a:lnTo>
                <a:lnTo>
                  <a:pt x="1477" y="421"/>
                </a:lnTo>
                <a:lnTo>
                  <a:pt x="1455" y="419"/>
                </a:lnTo>
                <a:lnTo>
                  <a:pt x="1439" y="414"/>
                </a:lnTo>
                <a:lnTo>
                  <a:pt x="1424" y="408"/>
                </a:lnTo>
                <a:lnTo>
                  <a:pt x="1408" y="401"/>
                </a:lnTo>
                <a:lnTo>
                  <a:pt x="1391" y="393"/>
                </a:lnTo>
                <a:lnTo>
                  <a:pt x="1375" y="384"/>
                </a:lnTo>
                <a:lnTo>
                  <a:pt x="1344" y="363"/>
                </a:lnTo>
                <a:lnTo>
                  <a:pt x="1322" y="350"/>
                </a:lnTo>
                <a:lnTo>
                  <a:pt x="1292" y="335"/>
                </a:lnTo>
                <a:lnTo>
                  <a:pt x="1263" y="330"/>
                </a:lnTo>
                <a:lnTo>
                  <a:pt x="1232" y="331"/>
                </a:lnTo>
                <a:lnTo>
                  <a:pt x="1191" y="327"/>
                </a:lnTo>
                <a:lnTo>
                  <a:pt x="1154" y="331"/>
                </a:lnTo>
                <a:lnTo>
                  <a:pt x="1112" y="333"/>
                </a:lnTo>
                <a:lnTo>
                  <a:pt x="1069" y="340"/>
                </a:lnTo>
                <a:lnTo>
                  <a:pt x="1024" y="350"/>
                </a:lnTo>
                <a:lnTo>
                  <a:pt x="997" y="360"/>
                </a:lnTo>
                <a:lnTo>
                  <a:pt x="992" y="369"/>
                </a:lnTo>
                <a:lnTo>
                  <a:pt x="997" y="378"/>
                </a:lnTo>
                <a:lnTo>
                  <a:pt x="1019" y="391"/>
                </a:lnTo>
                <a:lnTo>
                  <a:pt x="966" y="404"/>
                </a:lnTo>
                <a:lnTo>
                  <a:pt x="893" y="422"/>
                </a:lnTo>
                <a:lnTo>
                  <a:pt x="877" y="409"/>
                </a:lnTo>
                <a:lnTo>
                  <a:pt x="857" y="400"/>
                </a:lnTo>
                <a:lnTo>
                  <a:pt x="837" y="395"/>
                </a:lnTo>
                <a:lnTo>
                  <a:pt x="806" y="394"/>
                </a:lnTo>
                <a:lnTo>
                  <a:pt x="765" y="428"/>
                </a:lnTo>
                <a:lnTo>
                  <a:pt x="731" y="403"/>
                </a:lnTo>
                <a:lnTo>
                  <a:pt x="475" y="437"/>
                </a:lnTo>
                <a:lnTo>
                  <a:pt x="424" y="439"/>
                </a:lnTo>
                <a:lnTo>
                  <a:pt x="376" y="436"/>
                </a:lnTo>
                <a:lnTo>
                  <a:pt x="327" y="432"/>
                </a:lnTo>
                <a:lnTo>
                  <a:pt x="228" y="420"/>
                </a:lnTo>
                <a:lnTo>
                  <a:pt x="139" y="399"/>
                </a:lnTo>
                <a:lnTo>
                  <a:pt x="90" y="382"/>
                </a:lnTo>
                <a:lnTo>
                  <a:pt x="56" y="365"/>
                </a:lnTo>
                <a:lnTo>
                  <a:pt x="92" y="359"/>
                </a:lnTo>
                <a:lnTo>
                  <a:pt x="70" y="346"/>
                </a:lnTo>
                <a:lnTo>
                  <a:pt x="56" y="337"/>
                </a:lnTo>
                <a:lnTo>
                  <a:pt x="31" y="317"/>
                </a:lnTo>
                <a:lnTo>
                  <a:pt x="25" y="311"/>
                </a:lnTo>
                <a:lnTo>
                  <a:pt x="18" y="303"/>
                </a:lnTo>
                <a:lnTo>
                  <a:pt x="13" y="297"/>
                </a:lnTo>
                <a:lnTo>
                  <a:pt x="8" y="287"/>
                </a:lnTo>
                <a:lnTo>
                  <a:pt x="3" y="280"/>
                </a:lnTo>
                <a:lnTo>
                  <a:pt x="0" y="27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42" name="Group 22"/>
          <p:cNvGrpSpPr>
            <a:grpSpLocks/>
          </p:cNvGrpSpPr>
          <p:nvPr/>
        </p:nvGrpSpPr>
        <p:grpSpPr bwMode="auto">
          <a:xfrm>
            <a:off x="7394575" y="3287714"/>
            <a:ext cx="52388" cy="47625"/>
            <a:chOff x="3698" y="2071"/>
            <a:chExt cx="33" cy="30"/>
          </a:xfrm>
        </p:grpSpPr>
        <p:sp>
          <p:nvSpPr>
            <p:cNvPr id="5140" name="Oval 20" descr="50%"/>
            <p:cNvSpPr>
              <a:spLocks noChangeArrowheads="1"/>
            </p:cNvSpPr>
            <p:nvPr/>
          </p:nvSpPr>
          <p:spPr bwMode="auto">
            <a:xfrm>
              <a:off x="3698" y="2071"/>
              <a:ext cx="33" cy="30"/>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1" name="Arc 21" descr="50%"/>
            <p:cNvSpPr>
              <a:spLocks/>
            </p:cNvSpPr>
            <p:nvPr/>
          </p:nvSpPr>
          <p:spPr bwMode="auto">
            <a:xfrm>
              <a:off x="3704" y="2075"/>
              <a:ext cx="25" cy="23"/>
            </a:xfrm>
            <a:custGeom>
              <a:avLst/>
              <a:gdLst>
                <a:gd name="G0" fmla="+- 21600 0 0"/>
                <a:gd name="G1" fmla="+- 21050 0 0"/>
                <a:gd name="G2" fmla="+- 21600 0 0"/>
                <a:gd name="T0" fmla="*/ 35274 w 43200"/>
                <a:gd name="T1" fmla="*/ 4329 h 42650"/>
                <a:gd name="T2" fmla="*/ 16758 w 43200"/>
                <a:gd name="T3" fmla="*/ 0 h 42650"/>
                <a:gd name="T4" fmla="*/ 21600 w 43200"/>
                <a:gd name="T5" fmla="*/ 21050 h 42650"/>
              </a:gdLst>
              <a:ahLst/>
              <a:cxnLst>
                <a:cxn ang="0">
                  <a:pos x="T0" y="T1"/>
                </a:cxn>
                <a:cxn ang="0">
                  <a:pos x="T2" y="T3"/>
                </a:cxn>
                <a:cxn ang="0">
                  <a:pos x="T4" y="T5"/>
                </a:cxn>
              </a:cxnLst>
              <a:rect l="0" t="0" r="r" b="b"/>
              <a:pathLst>
                <a:path w="43200" h="42650" fill="none"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path>
                <a:path w="43200" h="42650" stroke="0"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lnTo>
                    <a:pt x="21600" y="2105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8" name="Group 28"/>
          <p:cNvGrpSpPr>
            <a:grpSpLocks/>
          </p:cNvGrpSpPr>
          <p:nvPr/>
        </p:nvGrpSpPr>
        <p:grpSpPr bwMode="auto">
          <a:xfrm>
            <a:off x="7543801" y="3343275"/>
            <a:ext cx="157163" cy="114300"/>
            <a:chOff x="3792" y="2106"/>
            <a:chExt cx="99" cy="72"/>
          </a:xfrm>
        </p:grpSpPr>
        <p:sp>
          <p:nvSpPr>
            <p:cNvPr id="5143" name="Arc 23" descr="50%"/>
            <p:cNvSpPr>
              <a:spLocks/>
            </p:cNvSpPr>
            <p:nvPr/>
          </p:nvSpPr>
          <p:spPr bwMode="auto">
            <a:xfrm>
              <a:off x="3813"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4" name="Arc 24" descr="50%"/>
            <p:cNvSpPr>
              <a:spLocks/>
            </p:cNvSpPr>
            <p:nvPr/>
          </p:nvSpPr>
          <p:spPr bwMode="auto">
            <a:xfrm>
              <a:off x="3792" y="2106"/>
              <a:ext cx="14" cy="72"/>
            </a:xfrm>
            <a:custGeom>
              <a:avLst/>
              <a:gdLst>
                <a:gd name="G0" fmla="+- 5834 0 0"/>
                <a:gd name="G1" fmla="+- 21600 0 0"/>
                <a:gd name="G2" fmla="+- 21600 0 0"/>
                <a:gd name="T0" fmla="*/ 3878 w 27434"/>
                <a:gd name="T1" fmla="*/ 89 h 43200"/>
                <a:gd name="T2" fmla="*/ 0 w 27434"/>
                <a:gd name="T3" fmla="*/ 42397 h 43200"/>
                <a:gd name="T4" fmla="*/ 5834 w 27434"/>
                <a:gd name="T5" fmla="*/ 21600 h 43200"/>
              </a:gdLst>
              <a:ahLst/>
              <a:cxnLst>
                <a:cxn ang="0">
                  <a:pos x="T0" y="T1"/>
                </a:cxn>
                <a:cxn ang="0">
                  <a:pos x="T2" y="T3"/>
                </a:cxn>
                <a:cxn ang="0">
                  <a:pos x="T4" y="T5"/>
                </a:cxn>
              </a:cxnLst>
              <a:rect l="0" t="0" r="r" b="b"/>
              <a:pathLst>
                <a:path w="27434" h="43200" fill="none"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path>
                <a:path w="27434" h="43200" stroke="0"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lnTo>
                    <a:pt x="5834"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5" name="Arc 25" descr="50%"/>
            <p:cNvSpPr>
              <a:spLocks/>
            </p:cNvSpPr>
            <p:nvPr/>
          </p:nvSpPr>
          <p:spPr bwMode="auto">
            <a:xfrm>
              <a:off x="3834"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6" name="Arc 26" descr="50%"/>
            <p:cNvSpPr>
              <a:spLocks/>
            </p:cNvSpPr>
            <p:nvPr/>
          </p:nvSpPr>
          <p:spPr bwMode="auto">
            <a:xfrm>
              <a:off x="3855"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7" name="Arc 27" descr="50%"/>
            <p:cNvSpPr>
              <a:spLocks/>
            </p:cNvSpPr>
            <p:nvPr/>
          </p:nvSpPr>
          <p:spPr bwMode="auto">
            <a:xfrm>
              <a:off x="3878"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49" name="Freeform 29" descr="50%"/>
          <p:cNvSpPr>
            <a:spLocks/>
          </p:cNvSpPr>
          <p:nvPr/>
        </p:nvSpPr>
        <p:spPr bwMode="auto">
          <a:xfrm>
            <a:off x="7185025" y="2843213"/>
            <a:ext cx="2465388" cy="463550"/>
          </a:xfrm>
          <a:custGeom>
            <a:avLst/>
            <a:gdLst>
              <a:gd name="T0" fmla="*/ 33 w 1553"/>
              <a:gd name="T1" fmla="*/ 246 h 292"/>
              <a:gd name="T2" fmla="*/ 105 w 1553"/>
              <a:gd name="T3" fmla="*/ 223 h 292"/>
              <a:gd name="T4" fmla="*/ 209 w 1553"/>
              <a:gd name="T5" fmla="*/ 200 h 292"/>
              <a:gd name="T6" fmla="*/ 312 w 1553"/>
              <a:gd name="T7" fmla="*/ 182 h 292"/>
              <a:gd name="T8" fmla="*/ 410 w 1553"/>
              <a:gd name="T9" fmla="*/ 165 h 292"/>
              <a:gd name="T10" fmla="*/ 468 w 1553"/>
              <a:gd name="T11" fmla="*/ 140 h 292"/>
              <a:gd name="T12" fmla="*/ 518 w 1553"/>
              <a:gd name="T13" fmla="*/ 91 h 292"/>
              <a:gd name="T14" fmla="*/ 592 w 1553"/>
              <a:gd name="T15" fmla="*/ 27 h 292"/>
              <a:gd name="T16" fmla="*/ 646 w 1553"/>
              <a:gd name="T17" fmla="*/ 52 h 292"/>
              <a:gd name="T18" fmla="*/ 667 w 1553"/>
              <a:gd name="T19" fmla="*/ 126 h 292"/>
              <a:gd name="T20" fmla="*/ 707 w 1553"/>
              <a:gd name="T21" fmla="*/ 160 h 292"/>
              <a:gd name="T22" fmla="*/ 834 w 1553"/>
              <a:gd name="T23" fmla="*/ 181 h 292"/>
              <a:gd name="T24" fmla="*/ 931 w 1553"/>
              <a:gd name="T25" fmla="*/ 185 h 292"/>
              <a:gd name="T26" fmla="*/ 1046 w 1553"/>
              <a:gd name="T27" fmla="*/ 181 h 292"/>
              <a:gd name="T28" fmla="*/ 1092 w 1553"/>
              <a:gd name="T29" fmla="*/ 218 h 292"/>
              <a:gd name="T30" fmla="*/ 1183 w 1553"/>
              <a:gd name="T31" fmla="*/ 222 h 292"/>
              <a:gd name="T32" fmla="*/ 1287 w 1553"/>
              <a:gd name="T33" fmla="*/ 176 h 292"/>
              <a:gd name="T34" fmla="*/ 1368 w 1553"/>
              <a:gd name="T35" fmla="*/ 103 h 292"/>
              <a:gd name="T36" fmla="*/ 1434 w 1553"/>
              <a:gd name="T37" fmla="*/ 59 h 292"/>
              <a:gd name="T38" fmla="*/ 1491 w 1553"/>
              <a:gd name="T39" fmla="*/ 35 h 292"/>
              <a:gd name="T40" fmla="*/ 1540 w 1553"/>
              <a:gd name="T41" fmla="*/ 41 h 292"/>
              <a:gd name="T42" fmla="*/ 1500 w 1553"/>
              <a:gd name="T43" fmla="*/ 91 h 292"/>
              <a:gd name="T44" fmla="*/ 1448 w 1553"/>
              <a:gd name="T45" fmla="*/ 136 h 292"/>
              <a:gd name="T46" fmla="*/ 1418 w 1553"/>
              <a:gd name="T47" fmla="*/ 174 h 292"/>
              <a:gd name="T48" fmla="*/ 1396 w 1553"/>
              <a:gd name="T49" fmla="*/ 208 h 292"/>
              <a:gd name="T50" fmla="*/ 1388 w 1553"/>
              <a:gd name="T51" fmla="*/ 244 h 292"/>
              <a:gd name="T52" fmla="*/ 1344 w 1553"/>
              <a:gd name="T53" fmla="*/ 237 h 292"/>
              <a:gd name="T54" fmla="*/ 1305 w 1553"/>
              <a:gd name="T55" fmla="*/ 249 h 292"/>
              <a:gd name="T56" fmla="*/ 1259 w 1553"/>
              <a:gd name="T57" fmla="*/ 244 h 292"/>
              <a:gd name="T58" fmla="*/ 1208 w 1553"/>
              <a:gd name="T59" fmla="*/ 247 h 292"/>
              <a:gd name="T60" fmla="*/ 1155 w 1553"/>
              <a:gd name="T61" fmla="*/ 242 h 292"/>
              <a:gd name="T62" fmla="*/ 1096 w 1553"/>
              <a:gd name="T63" fmla="*/ 245 h 292"/>
              <a:gd name="T64" fmla="*/ 1035 w 1553"/>
              <a:gd name="T65" fmla="*/ 255 h 292"/>
              <a:gd name="T66" fmla="*/ 976 w 1553"/>
              <a:gd name="T67" fmla="*/ 256 h 292"/>
              <a:gd name="T68" fmla="*/ 918 w 1553"/>
              <a:gd name="T69" fmla="*/ 257 h 292"/>
              <a:gd name="T70" fmla="*/ 864 w 1553"/>
              <a:gd name="T71" fmla="*/ 263 h 292"/>
              <a:gd name="T72" fmla="*/ 807 w 1553"/>
              <a:gd name="T73" fmla="*/ 275 h 292"/>
              <a:gd name="T74" fmla="*/ 738 w 1553"/>
              <a:gd name="T75" fmla="*/ 275 h 292"/>
              <a:gd name="T76" fmla="*/ 679 w 1553"/>
              <a:gd name="T77" fmla="*/ 278 h 292"/>
              <a:gd name="T78" fmla="*/ 620 w 1553"/>
              <a:gd name="T79" fmla="*/ 269 h 292"/>
              <a:gd name="T80" fmla="*/ 563 w 1553"/>
              <a:gd name="T81" fmla="*/ 275 h 292"/>
              <a:gd name="T82" fmla="*/ 516 w 1553"/>
              <a:gd name="T83" fmla="*/ 268 h 292"/>
              <a:gd name="T84" fmla="*/ 458 w 1553"/>
              <a:gd name="T85" fmla="*/ 275 h 292"/>
              <a:gd name="T86" fmla="*/ 397 w 1553"/>
              <a:gd name="T87" fmla="*/ 278 h 292"/>
              <a:gd name="T88" fmla="*/ 319 w 1553"/>
              <a:gd name="T89" fmla="*/ 291 h 292"/>
              <a:gd name="T90" fmla="*/ 227 w 1553"/>
              <a:gd name="T91" fmla="*/ 291 h 292"/>
              <a:gd name="T92" fmla="*/ 152 w 1553"/>
              <a:gd name="T93" fmla="*/ 280 h 292"/>
              <a:gd name="T94" fmla="*/ 82 w 1553"/>
              <a:gd name="T95" fmla="*/ 283 h 292"/>
              <a:gd name="T96" fmla="*/ 16 w 1553"/>
              <a:gd name="T97" fmla="*/ 27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3" h="292">
                <a:moveTo>
                  <a:pt x="0" y="262"/>
                </a:moveTo>
                <a:lnTo>
                  <a:pt x="9" y="257"/>
                </a:lnTo>
                <a:lnTo>
                  <a:pt x="20" y="251"/>
                </a:lnTo>
                <a:lnTo>
                  <a:pt x="33" y="246"/>
                </a:lnTo>
                <a:lnTo>
                  <a:pt x="47" y="241"/>
                </a:lnTo>
                <a:lnTo>
                  <a:pt x="63" y="236"/>
                </a:lnTo>
                <a:lnTo>
                  <a:pt x="86" y="230"/>
                </a:lnTo>
                <a:lnTo>
                  <a:pt x="105" y="223"/>
                </a:lnTo>
                <a:lnTo>
                  <a:pt x="129" y="216"/>
                </a:lnTo>
                <a:lnTo>
                  <a:pt x="156" y="210"/>
                </a:lnTo>
                <a:lnTo>
                  <a:pt x="182" y="204"/>
                </a:lnTo>
                <a:lnTo>
                  <a:pt x="209" y="200"/>
                </a:lnTo>
                <a:lnTo>
                  <a:pt x="234" y="196"/>
                </a:lnTo>
                <a:lnTo>
                  <a:pt x="261" y="192"/>
                </a:lnTo>
                <a:lnTo>
                  <a:pt x="286" y="187"/>
                </a:lnTo>
                <a:lnTo>
                  <a:pt x="312" y="182"/>
                </a:lnTo>
                <a:lnTo>
                  <a:pt x="332" y="178"/>
                </a:lnTo>
                <a:lnTo>
                  <a:pt x="362" y="173"/>
                </a:lnTo>
                <a:lnTo>
                  <a:pt x="387" y="169"/>
                </a:lnTo>
                <a:lnTo>
                  <a:pt x="410" y="165"/>
                </a:lnTo>
                <a:lnTo>
                  <a:pt x="428" y="161"/>
                </a:lnTo>
                <a:lnTo>
                  <a:pt x="444" y="155"/>
                </a:lnTo>
                <a:lnTo>
                  <a:pt x="458" y="147"/>
                </a:lnTo>
                <a:lnTo>
                  <a:pt x="468" y="140"/>
                </a:lnTo>
                <a:lnTo>
                  <a:pt x="477" y="130"/>
                </a:lnTo>
                <a:lnTo>
                  <a:pt x="487" y="120"/>
                </a:lnTo>
                <a:lnTo>
                  <a:pt x="503" y="104"/>
                </a:lnTo>
                <a:lnTo>
                  <a:pt x="518" y="91"/>
                </a:lnTo>
                <a:lnTo>
                  <a:pt x="535" y="75"/>
                </a:lnTo>
                <a:lnTo>
                  <a:pt x="553" y="59"/>
                </a:lnTo>
                <a:lnTo>
                  <a:pt x="571" y="42"/>
                </a:lnTo>
                <a:lnTo>
                  <a:pt x="592" y="27"/>
                </a:lnTo>
                <a:lnTo>
                  <a:pt x="612" y="12"/>
                </a:lnTo>
                <a:lnTo>
                  <a:pt x="629" y="0"/>
                </a:lnTo>
                <a:lnTo>
                  <a:pt x="636" y="24"/>
                </a:lnTo>
                <a:lnTo>
                  <a:pt x="646" y="52"/>
                </a:lnTo>
                <a:lnTo>
                  <a:pt x="654" y="78"/>
                </a:lnTo>
                <a:lnTo>
                  <a:pt x="662" y="102"/>
                </a:lnTo>
                <a:lnTo>
                  <a:pt x="665" y="114"/>
                </a:lnTo>
                <a:lnTo>
                  <a:pt x="667" y="126"/>
                </a:lnTo>
                <a:lnTo>
                  <a:pt x="665" y="138"/>
                </a:lnTo>
                <a:lnTo>
                  <a:pt x="655" y="151"/>
                </a:lnTo>
                <a:lnTo>
                  <a:pt x="681" y="156"/>
                </a:lnTo>
                <a:lnTo>
                  <a:pt x="707" y="160"/>
                </a:lnTo>
                <a:lnTo>
                  <a:pt x="738" y="165"/>
                </a:lnTo>
                <a:lnTo>
                  <a:pt x="773" y="170"/>
                </a:lnTo>
                <a:lnTo>
                  <a:pt x="808" y="177"/>
                </a:lnTo>
                <a:lnTo>
                  <a:pt x="834" y="181"/>
                </a:lnTo>
                <a:lnTo>
                  <a:pt x="864" y="185"/>
                </a:lnTo>
                <a:lnTo>
                  <a:pt x="889" y="188"/>
                </a:lnTo>
                <a:lnTo>
                  <a:pt x="912" y="190"/>
                </a:lnTo>
                <a:lnTo>
                  <a:pt x="931" y="185"/>
                </a:lnTo>
                <a:lnTo>
                  <a:pt x="949" y="177"/>
                </a:lnTo>
                <a:lnTo>
                  <a:pt x="965" y="165"/>
                </a:lnTo>
                <a:lnTo>
                  <a:pt x="1004" y="171"/>
                </a:lnTo>
                <a:lnTo>
                  <a:pt x="1046" y="181"/>
                </a:lnTo>
                <a:lnTo>
                  <a:pt x="1077" y="187"/>
                </a:lnTo>
                <a:lnTo>
                  <a:pt x="1058" y="206"/>
                </a:lnTo>
                <a:lnTo>
                  <a:pt x="1072" y="211"/>
                </a:lnTo>
                <a:lnTo>
                  <a:pt x="1092" y="218"/>
                </a:lnTo>
                <a:lnTo>
                  <a:pt x="1114" y="223"/>
                </a:lnTo>
                <a:lnTo>
                  <a:pt x="1138" y="226"/>
                </a:lnTo>
                <a:lnTo>
                  <a:pt x="1160" y="224"/>
                </a:lnTo>
                <a:lnTo>
                  <a:pt x="1183" y="222"/>
                </a:lnTo>
                <a:lnTo>
                  <a:pt x="1207" y="218"/>
                </a:lnTo>
                <a:lnTo>
                  <a:pt x="1234" y="210"/>
                </a:lnTo>
                <a:lnTo>
                  <a:pt x="1258" y="196"/>
                </a:lnTo>
                <a:lnTo>
                  <a:pt x="1287" y="176"/>
                </a:lnTo>
                <a:lnTo>
                  <a:pt x="1310" y="158"/>
                </a:lnTo>
                <a:lnTo>
                  <a:pt x="1337" y="133"/>
                </a:lnTo>
                <a:lnTo>
                  <a:pt x="1349" y="122"/>
                </a:lnTo>
                <a:lnTo>
                  <a:pt x="1368" y="103"/>
                </a:lnTo>
                <a:lnTo>
                  <a:pt x="1386" y="91"/>
                </a:lnTo>
                <a:lnTo>
                  <a:pt x="1402" y="79"/>
                </a:lnTo>
                <a:lnTo>
                  <a:pt x="1419" y="68"/>
                </a:lnTo>
                <a:lnTo>
                  <a:pt x="1434" y="59"/>
                </a:lnTo>
                <a:lnTo>
                  <a:pt x="1449" y="52"/>
                </a:lnTo>
                <a:lnTo>
                  <a:pt x="1463" y="45"/>
                </a:lnTo>
                <a:lnTo>
                  <a:pt x="1476" y="40"/>
                </a:lnTo>
                <a:lnTo>
                  <a:pt x="1491" y="35"/>
                </a:lnTo>
                <a:lnTo>
                  <a:pt x="1506" y="33"/>
                </a:lnTo>
                <a:lnTo>
                  <a:pt x="1524" y="32"/>
                </a:lnTo>
                <a:lnTo>
                  <a:pt x="1552" y="32"/>
                </a:lnTo>
                <a:lnTo>
                  <a:pt x="1540" y="41"/>
                </a:lnTo>
                <a:lnTo>
                  <a:pt x="1528" y="54"/>
                </a:lnTo>
                <a:lnTo>
                  <a:pt x="1522" y="62"/>
                </a:lnTo>
                <a:lnTo>
                  <a:pt x="1511" y="78"/>
                </a:lnTo>
                <a:lnTo>
                  <a:pt x="1500" y="91"/>
                </a:lnTo>
                <a:lnTo>
                  <a:pt x="1485" y="104"/>
                </a:lnTo>
                <a:lnTo>
                  <a:pt x="1466" y="118"/>
                </a:lnTo>
                <a:lnTo>
                  <a:pt x="1456" y="126"/>
                </a:lnTo>
                <a:lnTo>
                  <a:pt x="1448" y="136"/>
                </a:lnTo>
                <a:lnTo>
                  <a:pt x="1438" y="147"/>
                </a:lnTo>
                <a:lnTo>
                  <a:pt x="1432" y="155"/>
                </a:lnTo>
                <a:lnTo>
                  <a:pt x="1425" y="164"/>
                </a:lnTo>
                <a:lnTo>
                  <a:pt x="1418" y="174"/>
                </a:lnTo>
                <a:lnTo>
                  <a:pt x="1412" y="183"/>
                </a:lnTo>
                <a:lnTo>
                  <a:pt x="1406" y="192"/>
                </a:lnTo>
                <a:lnTo>
                  <a:pt x="1401" y="200"/>
                </a:lnTo>
                <a:lnTo>
                  <a:pt x="1396" y="208"/>
                </a:lnTo>
                <a:lnTo>
                  <a:pt x="1392" y="218"/>
                </a:lnTo>
                <a:lnTo>
                  <a:pt x="1390" y="226"/>
                </a:lnTo>
                <a:lnTo>
                  <a:pt x="1389" y="235"/>
                </a:lnTo>
                <a:lnTo>
                  <a:pt x="1388" y="244"/>
                </a:lnTo>
                <a:lnTo>
                  <a:pt x="1380" y="239"/>
                </a:lnTo>
                <a:lnTo>
                  <a:pt x="1366" y="237"/>
                </a:lnTo>
                <a:lnTo>
                  <a:pt x="1355" y="236"/>
                </a:lnTo>
                <a:lnTo>
                  <a:pt x="1344" y="237"/>
                </a:lnTo>
                <a:lnTo>
                  <a:pt x="1334" y="240"/>
                </a:lnTo>
                <a:lnTo>
                  <a:pt x="1325" y="244"/>
                </a:lnTo>
                <a:lnTo>
                  <a:pt x="1315" y="246"/>
                </a:lnTo>
                <a:lnTo>
                  <a:pt x="1305" y="249"/>
                </a:lnTo>
                <a:lnTo>
                  <a:pt x="1294" y="251"/>
                </a:lnTo>
                <a:lnTo>
                  <a:pt x="1279" y="248"/>
                </a:lnTo>
                <a:lnTo>
                  <a:pt x="1268" y="247"/>
                </a:lnTo>
                <a:lnTo>
                  <a:pt x="1259" y="244"/>
                </a:lnTo>
                <a:lnTo>
                  <a:pt x="1248" y="241"/>
                </a:lnTo>
                <a:lnTo>
                  <a:pt x="1237" y="242"/>
                </a:lnTo>
                <a:lnTo>
                  <a:pt x="1222" y="244"/>
                </a:lnTo>
                <a:lnTo>
                  <a:pt x="1208" y="247"/>
                </a:lnTo>
                <a:lnTo>
                  <a:pt x="1198" y="246"/>
                </a:lnTo>
                <a:lnTo>
                  <a:pt x="1183" y="245"/>
                </a:lnTo>
                <a:lnTo>
                  <a:pt x="1169" y="242"/>
                </a:lnTo>
                <a:lnTo>
                  <a:pt x="1155" y="242"/>
                </a:lnTo>
                <a:lnTo>
                  <a:pt x="1143" y="245"/>
                </a:lnTo>
                <a:lnTo>
                  <a:pt x="1124" y="247"/>
                </a:lnTo>
                <a:lnTo>
                  <a:pt x="1112" y="247"/>
                </a:lnTo>
                <a:lnTo>
                  <a:pt x="1096" y="245"/>
                </a:lnTo>
                <a:lnTo>
                  <a:pt x="1082" y="244"/>
                </a:lnTo>
                <a:lnTo>
                  <a:pt x="1066" y="247"/>
                </a:lnTo>
                <a:lnTo>
                  <a:pt x="1053" y="251"/>
                </a:lnTo>
                <a:lnTo>
                  <a:pt x="1035" y="255"/>
                </a:lnTo>
                <a:lnTo>
                  <a:pt x="1021" y="256"/>
                </a:lnTo>
                <a:lnTo>
                  <a:pt x="1005" y="258"/>
                </a:lnTo>
                <a:lnTo>
                  <a:pt x="992" y="258"/>
                </a:lnTo>
                <a:lnTo>
                  <a:pt x="976" y="256"/>
                </a:lnTo>
                <a:lnTo>
                  <a:pt x="960" y="252"/>
                </a:lnTo>
                <a:lnTo>
                  <a:pt x="943" y="256"/>
                </a:lnTo>
                <a:lnTo>
                  <a:pt x="932" y="257"/>
                </a:lnTo>
                <a:lnTo>
                  <a:pt x="918" y="257"/>
                </a:lnTo>
                <a:lnTo>
                  <a:pt x="905" y="256"/>
                </a:lnTo>
                <a:lnTo>
                  <a:pt x="891" y="256"/>
                </a:lnTo>
                <a:lnTo>
                  <a:pt x="877" y="258"/>
                </a:lnTo>
                <a:lnTo>
                  <a:pt x="864" y="263"/>
                </a:lnTo>
                <a:lnTo>
                  <a:pt x="852" y="266"/>
                </a:lnTo>
                <a:lnTo>
                  <a:pt x="837" y="271"/>
                </a:lnTo>
                <a:lnTo>
                  <a:pt x="823" y="273"/>
                </a:lnTo>
                <a:lnTo>
                  <a:pt x="807" y="275"/>
                </a:lnTo>
                <a:lnTo>
                  <a:pt x="791" y="277"/>
                </a:lnTo>
                <a:lnTo>
                  <a:pt x="770" y="275"/>
                </a:lnTo>
                <a:lnTo>
                  <a:pt x="751" y="273"/>
                </a:lnTo>
                <a:lnTo>
                  <a:pt x="738" y="275"/>
                </a:lnTo>
                <a:lnTo>
                  <a:pt x="720" y="277"/>
                </a:lnTo>
                <a:lnTo>
                  <a:pt x="707" y="277"/>
                </a:lnTo>
                <a:lnTo>
                  <a:pt x="692" y="278"/>
                </a:lnTo>
                <a:lnTo>
                  <a:pt x="679" y="278"/>
                </a:lnTo>
                <a:lnTo>
                  <a:pt x="660" y="277"/>
                </a:lnTo>
                <a:lnTo>
                  <a:pt x="644" y="273"/>
                </a:lnTo>
                <a:lnTo>
                  <a:pt x="633" y="269"/>
                </a:lnTo>
                <a:lnTo>
                  <a:pt x="620" y="269"/>
                </a:lnTo>
                <a:lnTo>
                  <a:pt x="606" y="268"/>
                </a:lnTo>
                <a:lnTo>
                  <a:pt x="592" y="271"/>
                </a:lnTo>
                <a:lnTo>
                  <a:pt x="576" y="273"/>
                </a:lnTo>
                <a:lnTo>
                  <a:pt x="563" y="275"/>
                </a:lnTo>
                <a:lnTo>
                  <a:pt x="551" y="275"/>
                </a:lnTo>
                <a:lnTo>
                  <a:pt x="542" y="273"/>
                </a:lnTo>
                <a:lnTo>
                  <a:pt x="529" y="269"/>
                </a:lnTo>
                <a:lnTo>
                  <a:pt x="516" y="268"/>
                </a:lnTo>
                <a:lnTo>
                  <a:pt x="503" y="269"/>
                </a:lnTo>
                <a:lnTo>
                  <a:pt x="491" y="271"/>
                </a:lnTo>
                <a:lnTo>
                  <a:pt x="476" y="273"/>
                </a:lnTo>
                <a:lnTo>
                  <a:pt x="458" y="275"/>
                </a:lnTo>
                <a:lnTo>
                  <a:pt x="443" y="275"/>
                </a:lnTo>
                <a:lnTo>
                  <a:pt x="428" y="273"/>
                </a:lnTo>
                <a:lnTo>
                  <a:pt x="412" y="276"/>
                </a:lnTo>
                <a:lnTo>
                  <a:pt x="397" y="278"/>
                </a:lnTo>
                <a:lnTo>
                  <a:pt x="381" y="282"/>
                </a:lnTo>
                <a:lnTo>
                  <a:pt x="365" y="286"/>
                </a:lnTo>
                <a:lnTo>
                  <a:pt x="343" y="290"/>
                </a:lnTo>
                <a:lnTo>
                  <a:pt x="319" y="291"/>
                </a:lnTo>
                <a:lnTo>
                  <a:pt x="293" y="291"/>
                </a:lnTo>
                <a:lnTo>
                  <a:pt x="270" y="290"/>
                </a:lnTo>
                <a:lnTo>
                  <a:pt x="242" y="291"/>
                </a:lnTo>
                <a:lnTo>
                  <a:pt x="227" y="291"/>
                </a:lnTo>
                <a:lnTo>
                  <a:pt x="213" y="289"/>
                </a:lnTo>
                <a:lnTo>
                  <a:pt x="197" y="291"/>
                </a:lnTo>
                <a:lnTo>
                  <a:pt x="179" y="290"/>
                </a:lnTo>
                <a:lnTo>
                  <a:pt x="152" y="280"/>
                </a:lnTo>
                <a:lnTo>
                  <a:pt x="133" y="281"/>
                </a:lnTo>
                <a:lnTo>
                  <a:pt x="116" y="283"/>
                </a:lnTo>
                <a:lnTo>
                  <a:pt x="98" y="283"/>
                </a:lnTo>
                <a:lnTo>
                  <a:pt x="82" y="283"/>
                </a:lnTo>
                <a:lnTo>
                  <a:pt x="64" y="281"/>
                </a:lnTo>
                <a:lnTo>
                  <a:pt x="47" y="278"/>
                </a:lnTo>
                <a:lnTo>
                  <a:pt x="31" y="273"/>
                </a:lnTo>
                <a:lnTo>
                  <a:pt x="16" y="270"/>
                </a:lnTo>
                <a:lnTo>
                  <a:pt x="1" y="266"/>
                </a:lnTo>
                <a:lnTo>
                  <a:pt x="0" y="26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52" name="Group 32"/>
          <p:cNvGrpSpPr>
            <a:grpSpLocks/>
          </p:cNvGrpSpPr>
          <p:nvPr/>
        </p:nvGrpSpPr>
        <p:grpSpPr bwMode="auto">
          <a:xfrm>
            <a:off x="7680326" y="3422650"/>
            <a:ext cx="354013" cy="217488"/>
            <a:chOff x="3878" y="2156"/>
            <a:chExt cx="223" cy="137"/>
          </a:xfrm>
        </p:grpSpPr>
        <p:sp>
          <p:nvSpPr>
            <p:cNvPr id="5150" name="Freeform 30" descr="50%"/>
            <p:cNvSpPr>
              <a:spLocks/>
            </p:cNvSpPr>
            <p:nvPr/>
          </p:nvSpPr>
          <p:spPr bwMode="auto">
            <a:xfrm>
              <a:off x="3878" y="2159"/>
              <a:ext cx="223" cy="134"/>
            </a:xfrm>
            <a:custGeom>
              <a:avLst/>
              <a:gdLst>
                <a:gd name="T0" fmla="*/ 208 w 223"/>
                <a:gd name="T1" fmla="*/ 120 h 134"/>
                <a:gd name="T2" fmla="*/ 196 w 223"/>
                <a:gd name="T3" fmla="*/ 108 h 134"/>
                <a:gd name="T4" fmla="*/ 188 w 223"/>
                <a:gd name="T5" fmla="*/ 100 h 134"/>
                <a:gd name="T6" fmla="*/ 182 w 223"/>
                <a:gd name="T7" fmla="*/ 93 h 134"/>
                <a:gd name="T8" fmla="*/ 176 w 223"/>
                <a:gd name="T9" fmla="*/ 86 h 134"/>
                <a:gd name="T10" fmla="*/ 170 w 223"/>
                <a:gd name="T11" fmla="*/ 78 h 134"/>
                <a:gd name="T12" fmla="*/ 164 w 223"/>
                <a:gd name="T13" fmla="*/ 71 h 134"/>
                <a:gd name="T14" fmla="*/ 159 w 223"/>
                <a:gd name="T15" fmla="*/ 63 h 134"/>
                <a:gd name="T16" fmla="*/ 154 w 223"/>
                <a:gd name="T17" fmla="*/ 53 h 134"/>
                <a:gd name="T18" fmla="*/ 150 w 223"/>
                <a:gd name="T19" fmla="*/ 43 h 134"/>
                <a:gd name="T20" fmla="*/ 146 w 223"/>
                <a:gd name="T21" fmla="*/ 33 h 134"/>
                <a:gd name="T22" fmla="*/ 144 w 223"/>
                <a:gd name="T23" fmla="*/ 23 h 134"/>
                <a:gd name="T24" fmla="*/ 144 w 223"/>
                <a:gd name="T25" fmla="*/ 13 h 134"/>
                <a:gd name="T26" fmla="*/ 143 w 223"/>
                <a:gd name="T27" fmla="*/ 0 h 134"/>
                <a:gd name="T28" fmla="*/ 0 w 223"/>
                <a:gd name="T29" fmla="*/ 0 h 134"/>
                <a:gd name="T30" fmla="*/ 4 w 223"/>
                <a:gd name="T31" fmla="*/ 8 h 134"/>
                <a:gd name="T32" fmla="*/ 11 w 223"/>
                <a:gd name="T33" fmla="*/ 19 h 134"/>
                <a:gd name="T34" fmla="*/ 18 w 223"/>
                <a:gd name="T35" fmla="*/ 28 h 134"/>
                <a:gd name="T36" fmla="*/ 26 w 223"/>
                <a:gd name="T37" fmla="*/ 38 h 134"/>
                <a:gd name="T38" fmla="*/ 36 w 223"/>
                <a:gd name="T39" fmla="*/ 48 h 134"/>
                <a:gd name="T40" fmla="*/ 47 w 223"/>
                <a:gd name="T41" fmla="*/ 58 h 134"/>
                <a:gd name="T42" fmla="*/ 58 w 223"/>
                <a:gd name="T43" fmla="*/ 67 h 134"/>
                <a:gd name="T44" fmla="*/ 70 w 223"/>
                <a:gd name="T45" fmla="*/ 76 h 134"/>
                <a:gd name="T46" fmla="*/ 82 w 223"/>
                <a:gd name="T47" fmla="*/ 86 h 134"/>
                <a:gd name="T48" fmla="*/ 98 w 223"/>
                <a:gd name="T49" fmla="*/ 97 h 134"/>
                <a:gd name="T50" fmla="*/ 111 w 223"/>
                <a:gd name="T51" fmla="*/ 104 h 134"/>
                <a:gd name="T52" fmla="*/ 123 w 223"/>
                <a:gd name="T53" fmla="*/ 110 h 134"/>
                <a:gd name="T54" fmla="*/ 135 w 223"/>
                <a:gd name="T55" fmla="*/ 115 h 134"/>
                <a:gd name="T56" fmla="*/ 147 w 223"/>
                <a:gd name="T57" fmla="*/ 120 h 134"/>
                <a:gd name="T58" fmla="*/ 159 w 223"/>
                <a:gd name="T59" fmla="*/ 124 h 134"/>
                <a:gd name="T60" fmla="*/ 173 w 223"/>
                <a:gd name="T61" fmla="*/ 127 h 134"/>
                <a:gd name="T62" fmla="*/ 189 w 223"/>
                <a:gd name="T63" fmla="*/ 130 h 134"/>
                <a:gd name="T64" fmla="*/ 201 w 223"/>
                <a:gd name="T65" fmla="*/ 131 h 134"/>
                <a:gd name="T66" fmla="*/ 213 w 223"/>
                <a:gd name="T67" fmla="*/ 132 h 134"/>
                <a:gd name="T68" fmla="*/ 222 w 223"/>
                <a:gd name="T69" fmla="*/ 133 h 134"/>
                <a:gd name="T70" fmla="*/ 208 w 223"/>
                <a:gd name="T71" fmla="*/ 12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34">
                  <a:moveTo>
                    <a:pt x="208" y="120"/>
                  </a:moveTo>
                  <a:lnTo>
                    <a:pt x="196" y="108"/>
                  </a:lnTo>
                  <a:lnTo>
                    <a:pt x="188" y="100"/>
                  </a:lnTo>
                  <a:lnTo>
                    <a:pt x="182" y="93"/>
                  </a:lnTo>
                  <a:lnTo>
                    <a:pt x="176" y="86"/>
                  </a:lnTo>
                  <a:lnTo>
                    <a:pt x="170" y="78"/>
                  </a:lnTo>
                  <a:lnTo>
                    <a:pt x="164" y="71"/>
                  </a:lnTo>
                  <a:lnTo>
                    <a:pt x="159" y="63"/>
                  </a:lnTo>
                  <a:lnTo>
                    <a:pt x="154" y="53"/>
                  </a:lnTo>
                  <a:lnTo>
                    <a:pt x="150" y="43"/>
                  </a:lnTo>
                  <a:lnTo>
                    <a:pt x="146" y="33"/>
                  </a:lnTo>
                  <a:lnTo>
                    <a:pt x="144" y="23"/>
                  </a:lnTo>
                  <a:lnTo>
                    <a:pt x="144" y="13"/>
                  </a:lnTo>
                  <a:lnTo>
                    <a:pt x="143" y="0"/>
                  </a:lnTo>
                  <a:lnTo>
                    <a:pt x="0" y="0"/>
                  </a:lnTo>
                  <a:lnTo>
                    <a:pt x="4" y="8"/>
                  </a:lnTo>
                  <a:lnTo>
                    <a:pt x="11" y="19"/>
                  </a:lnTo>
                  <a:lnTo>
                    <a:pt x="18" y="28"/>
                  </a:lnTo>
                  <a:lnTo>
                    <a:pt x="26" y="38"/>
                  </a:lnTo>
                  <a:lnTo>
                    <a:pt x="36" y="48"/>
                  </a:lnTo>
                  <a:lnTo>
                    <a:pt x="47" y="58"/>
                  </a:lnTo>
                  <a:lnTo>
                    <a:pt x="58" y="67"/>
                  </a:lnTo>
                  <a:lnTo>
                    <a:pt x="70" y="76"/>
                  </a:lnTo>
                  <a:lnTo>
                    <a:pt x="82" y="86"/>
                  </a:lnTo>
                  <a:lnTo>
                    <a:pt x="98" y="97"/>
                  </a:lnTo>
                  <a:lnTo>
                    <a:pt x="111" y="104"/>
                  </a:lnTo>
                  <a:lnTo>
                    <a:pt x="123" y="110"/>
                  </a:lnTo>
                  <a:lnTo>
                    <a:pt x="135" y="115"/>
                  </a:lnTo>
                  <a:lnTo>
                    <a:pt x="147" y="120"/>
                  </a:lnTo>
                  <a:lnTo>
                    <a:pt x="159" y="124"/>
                  </a:lnTo>
                  <a:lnTo>
                    <a:pt x="173" y="127"/>
                  </a:lnTo>
                  <a:lnTo>
                    <a:pt x="189" y="130"/>
                  </a:lnTo>
                  <a:lnTo>
                    <a:pt x="201" y="131"/>
                  </a:lnTo>
                  <a:lnTo>
                    <a:pt x="213" y="132"/>
                  </a:lnTo>
                  <a:lnTo>
                    <a:pt x="222" y="133"/>
                  </a:lnTo>
                  <a:lnTo>
                    <a:pt x="208" y="12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1" name="Freeform 31" descr="50%"/>
            <p:cNvSpPr>
              <a:spLocks/>
            </p:cNvSpPr>
            <p:nvPr/>
          </p:nvSpPr>
          <p:spPr bwMode="auto">
            <a:xfrm>
              <a:off x="3882" y="2156"/>
              <a:ext cx="132" cy="2"/>
            </a:xfrm>
            <a:custGeom>
              <a:avLst/>
              <a:gdLst>
                <a:gd name="T0" fmla="*/ 1 w 132"/>
                <a:gd name="T1" fmla="*/ 0 h 2"/>
                <a:gd name="T2" fmla="*/ 0 w 132"/>
                <a:gd name="T3" fmla="*/ 0 h 2"/>
                <a:gd name="T4" fmla="*/ 3 w 132"/>
                <a:gd name="T5" fmla="*/ 1 h 2"/>
                <a:gd name="T6" fmla="*/ 131 w 132"/>
                <a:gd name="T7" fmla="*/ 1 h 2"/>
                <a:gd name="T8" fmla="*/ 131 w 132"/>
                <a:gd name="T9" fmla="*/ 0 h 2"/>
                <a:gd name="T10" fmla="*/ 1 w 132"/>
                <a:gd name="T11" fmla="*/ 0 h 2"/>
              </a:gdLst>
              <a:ahLst/>
              <a:cxnLst>
                <a:cxn ang="0">
                  <a:pos x="T0" y="T1"/>
                </a:cxn>
                <a:cxn ang="0">
                  <a:pos x="T2" y="T3"/>
                </a:cxn>
                <a:cxn ang="0">
                  <a:pos x="T4" y="T5"/>
                </a:cxn>
                <a:cxn ang="0">
                  <a:pos x="T6" y="T7"/>
                </a:cxn>
                <a:cxn ang="0">
                  <a:pos x="T8" y="T9"/>
                </a:cxn>
                <a:cxn ang="0">
                  <a:pos x="T10" y="T11"/>
                </a:cxn>
              </a:cxnLst>
              <a:rect l="0" t="0" r="r" b="b"/>
              <a:pathLst>
                <a:path w="132" h="2">
                  <a:moveTo>
                    <a:pt x="1" y="0"/>
                  </a:moveTo>
                  <a:lnTo>
                    <a:pt x="0" y="0"/>
                  </a:lnTo>
                  <a:lnTo>
                    <a:pt x="3" y="1"/>
                  </a:lnTo>
                  <a:lnTo>
                    <a:pt x="131" y="1"/>
                  </a:lnTo>
                  <a:lnTo>
                    <a:pt x="131"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53" name="Freeform 33" descr="50%"/>
          <p:cNvSpPr>
            <a:spLocks/>
          </p:cNvSpPr>
          <p:nvPr/>
        </p:nvSpPr>
        <p:spPr bwMode="auto">
          <a:xfrm>
            <a:off x="5881688" y="3322639"/>
            <a:ext cx="196850" cy="147637"/>
          </a:xfrm>
          <a:custGeom>
            <a:avLst/>
            <a:gdLst>
              <a:gd name="T0" fmla="*/ 0 w 124"/>
              <a:gd name="T1" fmla="*/ 0 h 93"/>
              <a:gd name="T2" fmla="*/ 5 w 124"/>
              <a:gd name="T3" fmla="*/ 9 h 93"/>
              <a:gd name="T4" fmla="*/ 11 w 124"/>
              <a:gd name="T5" fmla="*/ 19 h 93"/>
              <a:gd name="T6" fmla="*/ 18 w 124"/>
              <a:gd name="T7" fmla="*/ 29 h 93"/>
              <a:gd name="T8" fmla="*/ 25 w 124"/>
              <a:gd name="T9" fmla="*/ 38 h 93"/>
              <a:gd name="T10" fmla="*/ 35 w 124"/>
              <a:gd name="T11" fmla="*/ 48 h 93"/>
              <a:gd name="T12" fmla="*/ 44 w 124"/>
              <a:gd name="T13" fmla="*/ 58 h 93"/>
              <a:gd name="T14" fmla="*/ 52 w 124"/>
              <a:gd name="T15" fmla="*/ 65 h 93"/>
              <a:gd name="T16" fmla="*/ 60 w 124"/>
              <a:gd name="T17" fmla="*/ 72 h 93"/>
              <a:gd name="T18" fmla="*/ 69 w 124"/>
              <a:gd name="T19" fmla="*/ 78 h 93"/>
              <a:gd name="T20" fmla="*/ 79 w 124"/>
              <a:gd name="T21" fmla="*/ 83 h 93"/>
              <a:gd name="T22" fmla="*/ 88 w 124"/>
              <a:gd name="T23" fmla="*/ 87 h 93"/>
              <a:gd name="T24" fmla="*/ 98 w 124"/>
              <a:gd name="T25" fmla="*/ 90 h 93"/>
              <a:gd name="T26" fmla="*/ 109 w 124"/>
              <a:gd name="T27" fmla="*/ 92 h 93"/>
              <a:gd name="T28" fmla="*/ 118 w 124"/>
              <a:gd name="T29" fmla="*/ 92 h 93"/>
              <a:gd name="T30" fmla="*/ 123 w 124"/>
              <a:gd name="T31" fmla="*/ 91 h 93"/>
              <a:gd name="T32" fmla="*/ 117 w 124"/>
              <a:gd name="T33" fmla="*/ 85 h 93"/>
              <a:gd name="T34" fmla="*/ 110 w 124"/>
              <a:gd name="T35" fmla="*/ 77 h 93"/>
              <a:gd name="T36" fmla="*/ 104 w 124"/>
              <a:gd name="T37" fmla="*/ 69 h 93"/>
              <a:gd name="T38" fmla="*/ 97 w 124"/>
              <a:gd name="T39" fmla="*/ 59 h 93"/>
              <a:gd name="T40" fmla="*/ 91 w 124"/>
              <a:gd name="T41" fmla="*/ 50 h 93"/>
              <a:gd name="T42" fmla="*/ 86 w 124"/>
              <a:gd name="T43" fmla="*/ 41 h 93"/>
              <a:gd name="T44" fmla="*/ 83 w 124"/>
              <a:gd name="T45" fmla="*/ 32 h 93"/>
              <a:gd name="T46" fmla="*/ 80 w 124"/>
              <a:gd name="T47" fmla="*/ 19 h 93"/>
              <a:gd name="T48" fmla="*/ 80 w 124"/>
              <a:gd name="T49" fmla="*/ 9 h 93"/>
              <a:gd name="T50" fmla="*/ 80 w 124"/>
              <a:gd name="T51" fmla="*/ 1 h 93"/>
              <a:gd name="T52" fmla="*/ 0 w 124"/>
              <a:gd name="T5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 h="93">
                <a:moveTo>
                  <a:pt x="0" y="0"/>
                </a:moveTo>
                <a:lnTo>
                  <a:pt x="5" y="9"/>
                </a:lnTo>
                <a:lnTo>
                  <a:pt x="11" y="19"/>
                </a:lnTo>
                <a:lnTo>
                  <a:pt x="18" y="29"/>
                </a:lnTo>
                <a:lnTo>
                  <a:pt x="25" y="38"/>
                </a:lnTo>
                <a:lnTo>
                  <a:pt x="35" y="48"/>
                </a:lnTo>
                <a:lnTo>
                  <a:pt x="44" y="58"/>
                </a:lnTo>
                <a:lnTo>
                  <a:pt x="52" y="65"/>
                </a:lnTo>
                <a:lnTo>
                  <a:pt x="60" y="72"/>
                </a:lnTo>
                <a:lnTo>
                  <a:pt x="69" y="78"/>
                </a:lnTo>
                <a:lnTo>
                  <a:pt x="79" y="83"/>
                </a:lnTo>
                <a:lnTo>
                  <a:pt x="88" y="87"/>
                </a:lnTo>
                <a:lnTo>
                  <a:pt x="98" y="90"/>
                </a:lnTo>
                <a:lnTo>
                  <a:pt x="109" y="92"/>
                </a:lnTo>
                <a:lnTo>
                  <a:pt x="118" y="92"/>
                </a:lnTo>
                <a:lnTo>
                  <a:pt x="123" y="91"/>
                </a:lnTo>
                <a:lnTo>
                  <a:pt x="117" y="85"/>
                </a:lnTo>
                <a:lnTo>
                  <a:pt x="110" y="77"/>
                </a:lnTo>
                <a:lnTo>
                  <a:pt x="104" y="69"/>
                </a:lnTo>
                <a:lnTo>
                  <a:pt x="97" y="59"/>
                </a:lnTo>
                <a:lnTo>
                  <a:pt x="91" y="50"/>
                </a:lnTo>
                <a:lnTo>
                  <a:pt x="86" y="41"/>
                </a:lnTo>
                <a:lnTo>
                  <a:pt x="83" y="32"/>
                </a:lnTo>
                <a:lnTo>
                  <a:pt x="80" y="19"/>
                </a:lnTo>
                <a:lnTo>
                  <a:pt x="80" y="9"/>
                </a:lnTo>
                <a:lnTo>
                  <a:pt x="80"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4" name="Freeform 34" descr="50%"/>
          <p:cNvSpPr>
            <a:spLocks/>
          </p:cNvSpPr>
          <p:nvPr/>
        </p:nvSpPr>
        <p:spPr bwMode="auto">
          <a:xfrm>
            <a:off x="5459414" y="2965450"/>
            <a:ext cx="1671637" cy="476250"/>
          </a:xfrm>
          <a:custGeom>
            <a:avLst/>
            <a:gdLst>
              <a:gd name="T0" fmla="*/ 11 w 1053"/>
              <a:gd name="T1" fmla="*/ 178 h 300"/>
              <a:gd name="T2" fmla="*/ 43 w 1053"/>
              <a:gd name="T3" fmla="*/ 165 h 300"/>
              <a:gd name="T4" fmla="*/ 92 w 1053"/>
              <a:gd name="T5" fmla="*/ 151 h 300"/>
              <a:gd name="T6" fmla="*/ 143 w 1053"/>
              <a:gd name="T7" fmla="*/ 140 h 300"/>
              <a:gd name="T8" fmla="*/ 194 w 1053"/>
              <a:gd name="T9" fmla="*/ 131 h 300"/>
              <a:gd name="T10" fmla="*/ 246 w 1053"/>
              <a:gd name="T11" fmla="*/ 122 h 300"/>
              <a:gd name="T12" fmla="*/ 289 w 1053"/>
              <a:gd name="T13" fmla="*/ 113 h 300"/>
              <a:gd name="T14" fmla="*/ 314 w 1053"/>
              <a:gd name="T15" fmla="*/ 100 h 300"/>
              <a:gd name="T16" fmla="*/ 339 w 1053"/>
              <a:gd name="T17" fmla="*/ 76 h 300"/>
              <a:gd name="T18" fmla="*/ 375 w 1053"/>
              <a:gd name="T19" fmla="*/ 41 h 300"/>
              <a:gd name="T20" fmla="*/ 412 w 1053"/>
              <a:gd name="T21" fmla="*/ 10 h 300"/>
              <a:gd name="T22" fmla="*/ 438 w 1053"/>
              <a:gd name="T23" fmla="*/ 36 h 300"/>
              <a:gd name="T24" fmla="*/ 453 w 1053"/>
              <a:gd name="T25" fmla="*/ 88 h 300"/>
              <a:gd name="T26" fmla="*/ 462 w 1053"/>
              <a:gd name="T27" fmla="*/ 109 h 300"/>
              <a:gd name="T28" fmla="*/ 523 w 1053"/>
              <a:gd name="T29" fmla="*/ 119 h 300"/>
              <a:gd name="T30" fmla="*/ 584 w 1053"/>
              <a:gd name="T31" fmla="*/ 130 h 300"/>
              <a:gd name="T32" fmla="*/ 630 w 1053"/>
              <a:gd name="T33" fmla="*/ 130 h 300"/>
              <a:gd name="T34" fmla="*/ 679 w 1053"/>
              <a:gd name="T35" fmla="*/ 121 h 300"/>
              <a:gd name="T36" fmla="*/ 717 w 1053"/>
              <a:gd name="T37" fmla="*/ 146 h 300"/>
              <a:gd name="T38" fmla="*/ 754 w 1053"/>
              <a:gd name="T39" fmla="*/ 156 h 300"/>
              <a:gd name="T40" fmla="*/ 800 w 1053"/>
              <a:gd name="T41" fmla="*/ 156 h 300"/>
              <a:gd name="T42" fmla="*/ 849 w 1053"/>
              <a:gd name="T43" fmla="*/ 138 h 300"/>
              <a:gd name="T44" fmla="*/ 904 w 1053"/>
              <a:gd name="T45" fmla="*/ 94 h 300"/>
              <a:gd name="T46" fmla="*/ 968 w 1053"/>
              <a:gd name="T47" fmla="*/ 43 h 300"/>
              <a:gd name="T48" fmla="*/ 1032 w 1053"/>
              <a:gd name="T49" fmla="*/ 22 h 300"/>
              <a:gd name="T50" fmla="*/ 1034 w 1053"/>
              <a:gd name="T51" fmla="*/ 39 h 300"/>
              <a:gd name="T52" fmla="*/ 1004 w 1053"/>
              <a:gd name="T53" fmla="*/ 76 h 300"/>
              <a:gd name="T54" fmla="*/ 968 w 1053"/>
              <a:gd name="T55" fmla="*/ 112 h 300"/>
              <a:gd name="T56" fmla="*/ 945 w 1053"/>
              <a:gd name="T57" fmla="*/ 148 h 300"/>
              <a:gd name="T58" fmla="*/ 945 w 1053"/>
              <a:gd name="T59" fmla="*/ 185 h 300"/>
              <a:gd name="T60" fmla="*/ 970 w 1053"/>
              <a:gd name="T61" fmla="*/ 224 h 300"/>
              <a:gd name="T62" fmla="*/ 1002 w 1053"/>
              <a:gd name="T63" fmla="*/ 252 h 300"/>
              <a:gd name="T64" fmla="*/ 1031 w 1053"/>
              <a:gd name="T65" fmla="*/ 276 h 300"/>
              <a:gd name="T66" fmla="*/ 1032 w 1053"/>
              <a:gd name="T67" fmla="*/ 287 h 300"/>
              <a:gd name="T68" fmla="*/ 992 w 1053"/>
              <a:gd name="T69" fmla="*/ 286 h 300"/>
              <a:gd name="T70" fmla="*/ 957 w 1053"/>
              <a:gd name="T71" fmla="*/ 278 h 300"/>
              <a:gd name="T72" fmla="*/ 923 w 1053"/>
              <a:gd name="T73" fmla="*/ 261 h 300"/>
              <a:gd name="T74" fmla="*/ 868 w 1053"/>
              <a:gd name="T75" fmla="*/ 227 h 300"/>
              <a:gd name="T76" fmla="*/ 800 w 1053"/>
              <a:gd name="T77" fmla="*/ 222 h 300"/>
              <a:gd name="T78" fmla="*/ 718 w 1053"/>
              <a:gd name="T79" fmla="*/ 231 h 300"/>
              <a:gd name="T80" fmla="*/ 666 w 1053"/>
              <a:gd name="T81" fmla="*/ 251 h 300"/>
              <a:gd name="T82" fmla="*/ 649 w 1053"/>
              <a:gd name="T83" fmla="*/ 274 h 300"/>
              <a:gd name="T84" fmla="*/ 576 w 1053"/>
              <a:gd name="T85" fmla="*/ 272 h 300"/>
              <a:gd name="T86" fmla="*/ 514 w 1053"/>
              <a:gd name="T87" fmla="*/ 291 h 300"/>
              <a:gd name="T88" fmla="*/ 285 w 1053"/>
              <a:gd name="T89" fmla="*/ 299 h 300"/>
              <a:gd name="T90" fmla="*/ 153 w 1053"/>
              <a:gd name="T91" fmla="*/ 286 h 300"/>
              <a:gd name="T92" fmla="*/ 38 w 1053"/>
              <a:gd name="T93" fmla="*/ 248 h 300"/>
              <a:gd name="T94" fmla="*/ 38 w 1053"/>
              <a:gd name="T95" fmla="*/ 229 h 300"/>
              <a:gd name="T96" fmla="*/ 12 w 1053"/>
              <a:gd name="T97" fmla="*/ 206 h 300"/>
              <a:gd name="T98" fmla="*/ 2 w 1053"/>
              <a:gd name="T99" fmla="*/ 19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3" h="300">
                <a:moveTo>
                  <a:pt x="0" y="185"/>
                </a:moveTo>
                <a:lnTo>
                  <a:pt x="4" y="182"/>
                </a:lnTo>
                <a:lnTo>
                  <a:pt x="11" y="178"/>
                </a:lnTo>
                <a:lnTo>
                  <a:pt x="24" y="173"/>
                </a:lnTo>
                <a:lnTo>
                  <a:pt x="33" y="169"/>
                </a:lnTo>
                <a:lnTo>
                  <a:pt x="43" y="165"/>
                </a:lnTo>
                <a:lnTo>
                  <a:pt x="60" y="160"/>
                </a:lnTo>
                <a:lnTo>
                  <a:pt x="76" y="155"/>
                </a:lnTo>
                <a:lnTo>
                  <a:pt x="92" y="151"/>
                </a:lnTo>
                <a:lnTo>
                  <a:pt x="108" y="147"/>
                </a:lnTo>
                <a:lnTo>
                  <a:pt x="125" y="144"/>
                </a:lnTo>
                <a:lnTo>
                  <a:pt x="143" y="140"/>
                </a:lnTo>
                <a:lnTo>
                  <a:pt x="162" y="137"/>
                </a:lnTo>
                <a:lnTo>
                  <a:pt x="178" y="134"/>
                </a:lnTo>
                <a:lnTo>
                  <a:pt x="194" y="131"/>
                </a:lnTo>
                <a:lnTo>
                  <a:pt x="209" y="128"/>
                </a:lnTo>
                <a:lnTo>
                  <a:pt x="229" y="124"/>
                </a:lnTo>
                <a:lnTo>
                  <a:pt x="246" y="122"/>
                </a:lnTo>
                <a:lnTo>
                  <a:pt x="263" y="119"/>
                </a:lnTo>
                <a:lnTo>
                  <a:pt x="277" y="117"/>
                </a:lnTo>
                <a:lnTo>
                  <a:pt x="289" y="113"/>
                </a:lnTo>
                <a:lnTo>
                  <a:pt x="300" y="109"/>
                </a:lnTo>
                <a:lnTo>
                  <a:pt x="307" y="105"/>
                </a:lnTo>
                <a:lnTo>
                  <a:pt x="314" y="100"/>
                </a:lnTo>
                <a:lnTo>
                  <a:pt x="321" y="93"/>
                </a:lnTo>
                <a:lnTo>
                  <a:pt x="329" y="85"/>
                </a:lnTo>
                <a:lnTo>
                  <a:pt x="339" y="76"/>
                </a:lnTo>
                <a:lnTo>
                  <a:pt x="350" y="64"/>
                </a:lnTo>
                <a:lnTo>
                  <a:pt x="362" y="53"/>
                </a:lnTo>
                <a:lnTo>
                  <a:pt x="375" y="41"/>
                </a:lnTo>
                <a:lnTo>
                  <a:pt x="386" y="30"/>
                </a:lnTo>
                <a:lnTo>
                  <a:pt x="399" y="21"/>
                </a:lnTo>
                <a:lnTo>
                  <a:pt x="412" y="10"/>
                </a:lnTo>
                <a:lnTo>
                  <a:pt x="427" y="0"/>
                </a:lnTo>
                <a:lnTo>
                  <a:pt x="432" y="19"/>
                </a:lnTo>
                <a:lnTo>
                  <a:pt x="438" y="36"/>
                </a:lnTo>
                <a:lnTo>
                  <a:pt x="444" y="54"/>
                </a:lnTo>
                <a:lnTo>
                  <a:pt x="450" y="73"/>
                </a:lnTo>
                <a:lnTo>
                  <a:pt x="453" y="88"/>
                </a:lnTo>
                <a:lnTo>
                  <a:pt x="452" y="98"/>
                </a:lnTo>
                <a:lnTo>
                  <a:pt x="446" y="107"/>
                </a:lnTo>
                <a:lnTo>
                  <a:pt x="462" y="109"/>
                </a:lnTo>
                <a:lnTo>
                  <a:pt x="479" y="112"/>
                </a:lnTo>
                <a:lnTo>
                  <a:pt x="500" y="116"/>
                </a:lnTo>
                <a:lnTo>
                  <a:pt x="523" y="119"/>
                </a:lnTo>
                <a:lnTo>
                  <a:pt x="546" y="124"/>
                </a:lnTo>
                <a:lnTo>
                  <a:pt x="565" y="127"/>
                </a:lnTo>
                <a:lnTo>
                  <a:pt x="584" y="130"/>
                </a:lnTo>
                <a:lnTo>
                  <a:pt x="602" y="132"/>
                </a:lnTo>
                <a:lnTo>
                  <a:pt x="618" y="134"/>
                </a:lnTo>
                <a:lnTo>
                  <a:pt x="630" y="130"/>
                </a:lnTo>
                <a:lnTo>
                  <a:pt x="642" y="124"/>
                </a:lnTo>
                <a:lnTo>
                  <a:pt x="653" y="117"/>
                </a:lnTo>
                <a:lnTo>
                  <a:pt x="679" y="121"/>
                </a:lnTo>
                <a:lnTo>
                  <a:pt x="707" y="127"/>
                </a:lnTo>
                <a:lnTo>
                  <a:pt x="731" y="132"/>
                </a:lnTo>
                <a:lnTo>
                  <a:pt x="717" y="146"/>
                </a:lnTo>
                <a:lnTo>
                  <a:pt x="726" y="149"/>
                </a:lnTo>
                <a:lnTo>
                  <a:pt x="739" y="153"/>
                </a:lnTo>
                <a:lnTo>
                  <a:pt x="754" y="156"/>
                </a:lnTo>
                <a:lnTo>
                  <a:pt x="770" y="159"/>
                </a:lnTo>
                <a:lnTo>
                  <a:pt x="784" y="157"/>
                </a:lnTo>
                <a:lnTo>
                  <a:pt x="800" y="156"/>
                </a:lnTo>
                <a:lnTo>
                  <a:pt x="817" y="152"/>
                </a:lnTo>
                <a:lnTo>
                  <a:pt x="834" y="147"/>
                </a:lnTo>
                <a:lnTo>
                  <a:pt x="849" y="138"/>
                </a:lnTo>
                <a:lnTo>
                  <a:pt x="870" y="124"/>
                </a:lnTo>
                <a:lnTo>
                  <a:pt x="885" y="112"/>
                </a:lnTo>
                <a:lnTo>
                  <a:pt x="904" y="94"/>
                </a:lnTo>
                <a:lnTo>
                  <a:pt x="924" y="73"/>
                </a:lnTo>
                <a:lnTo>
                  <a:pt x="948" y="56"/>
                </a:lnTo>
                <a:lnTo>
                  <a:pt x="968" y="43"/>
                </a:lnTo>
                <a:lnTo>
                  <a:pt x="988" y="32"/>
                </a:lnTo>
                <a:lnTo>
                  <a:pt x="1008" y="25"/>
                </a:lnTo>
                <a:lnTo>
                  <a:pt x="1032" y="22"/>
                </a:lnTo>
                <a:lnTo>
                  <a:pt x="1052" y="23"/>
                </a:lnTo>
                <a:lnTo>
                  <a:pt x="1042" y="32"/>
                </a:lnTo>
                <a:lnTo>
                  <a:pt x="1034" y="39"/>
                </a:lnTo>
                <a:lnTo>
                  <a:pt x="1031" y="46"/>
                </a:lnTo>
                <a:lnTo>
                  <a:pt x="1015" y="66"/>
                </a:lnTo>
                <a:lnTo>
                  <a:pt x="1004" y="76"/>
                </a:lnTo>
                <a:lnTo>
                  <a:pt x="990" y="87"/>
                </a:lnTo>
                <a:lnTo>
                  <a:pt x="978" y="100"/>
                </a:lnTo>
                <a:lnTo>
                  <a:pt x="968" y="112"/>
                </a:lnTo>
                <a:lnTo>
                  <a:pt x="959" y="124"/>
                </a:lnTo>
                <a:lnTo>
                  <a:pt x="951" y="137"/>
                </a:lnTo>
                <a:lnTo>
                  <a:pt x="945" y="148"/>
                </a:lnTo>
                <a:lnTo>
                  <a:pt x="941" y="159"/>
                </a:lnTo>
                <a:lnTo>
                  <a:pt x="940" y="172"/>
                </a:lnTo>
                <a:lnTo>
                  <a:pt x="945" y="185"/>
                </a:lnTo>
                <a:lnTo>
                  <a:pt x="951" y="200"/>
                </a:lnTo>
                <a:lnTo>
                  <a:pt x="960" y="212"/>
                </a:lnTo>
                <a:lnTo>
                  <a:pt x="970" y="224"/>
                </a:lnTo>
                <a:lnTo>
                  <a:pt x="980" y="233"/>
                </a:lnTo>
                <a:lnTo>
                  <a:pt x="991" y="242"/>
                </a:lnTo>
                <a:lnTo>
                  <a:pt x="1002" y="252"/>
                </a:lnTo>
                <a:lnTo>
                  <a:pt x="1015" y="263"/>
                </a:lnTo>
                <a:lnTo>
                  <a:pt x="1023" y="270"/>
                </a:lnTo>
                <a:lnTo>
                  <a:pt x="1031" y="276"/>
                </a:lnTo>
                <a:lnTo>
                  <a:pt x="1039" y="281"/>
                </a:lnTo>
                <a:lnTo>
                  <a:pt x="1044" y="287"/>
                </a:lnTo>
                <a:lnTo>
                  <a:pt x="1032" y="287"/>
                </a:lnTo>
                <a:lnTo>
                  <a:pt x="1017" y="287"/>
                </a:lnTo>
                <a:lnTo>
                  <a:pt x="1004" y="288"/>
                </a:lnTo>
                <a:lnTo>
                  <a:pt x="992" y="286"/>
                </a:lnTo>
                <a:lnTo>
                  <a:pt x="978" y="285"/>
                </a:lnTo>
                <a:lnTo>
                  <a:pt x="967" y="281"/>
                </a:lnTo>
                <a:lnTo>
                  <a:pt x="957" y="278"/>
                </a:lnTo>
                <a:lnTo>
                  <a:pt x="946" y="273"/>
                </a:lnTo>
                <a:lnTo>
                  <a:pt x="934" y="267"/>
                </a:lnTo>
                <a:lnTo>
                  <a:pt x="923" y="261"/>
                </a:lnTo>
                <a:lnTo>
                  <a:pt x="903" y="247"/>
                </a:lnTo>
                <a:lnTo>
                  <a:pt x="888" y="238"/>
                </a:lnTo>
                <a:lnTo>
                  <a:pt x="868" y="227"/>
                </a:lnTo>
                <a:lnTo>
                  <a:pt x="848" y="225"/>
                </a:lnTo>
                <a:lnTo>
                  <a:pt x="828" y="225"/>
                </a:lnTo>
                <a:lnTo>
                  <a:pt x="800" y="222"/>
                </a:lnTo>
                <a:lnTo>
                  <a:pt x="775" y="225"/>
                </a:lnTo>
                <a:lnTo>
                  <a:pt x="747" y="226"/>
                </a:lnTo>
                <a:lnTo>
                  <a:pt x="718" y="231"/>
                </a:lnTo>
                <a:lnTo>
                  <a:pt x="688" y="238"/>
                </a:lnTo>
                <a:lnTo>
                  <a:pt x="670" y="245"/>
                </a:lnTo>
                <a:lnTo>
                  <a:pt x="666" y="251"/>
                </a:lnTo>
                <a:lnTo>
                  <a:pt x="670" y="257"/>
                </a:lnTo>
                <a:lnTo>
                  <a:pt x="684" y="266"/>
                </a:lnTo>
                <a:lnTo>
                  <a:pt x="649" y="274"/>
                </a:lnTo>
                <a:lnTo>
                  <a:pt x="600" y="287"/>
                </a:lnTo>
                <a:lnTo>
                  <a:pt x="589" y="278"/>
                </a:lnTo>
                <a:lnTo>
                  <a:pt x="576" y="272"/>
                </a:lnTo>
                <a:lnTo>
                  <a:pt x="562" y="269"/>
                </a:lnTo>
                <a:lnTo>
                  <a:pt x="542" y="268"/>
                </a:lnTo>
                <a:lnTo>
                  <a:pt x="514" y="291"/>
                </a:lnTo>
                <a:lnTo>
                  <a:pt x="491" y="274"/>
                </a:lnTo>
                <a:lnTo>
                  <a:pt x="319" y="297"/>
                </a:lnTo>
                <a:lnTo>
                  <a:pt x="285" y="299"/>
                </a:lnTo>
                <a:lnTo>
                  <a:pt x="253" y="296"/>
                </a:lnTo>
                <a:lnTo>
                  <a:pt x="220" y="294"/>
                </a:lnTo>
                <a:lnTo>
                  <a:pt x="153" y="286"/>
                </a:lnTo>
                <a:lnTo>
                  <a:pt x="93" y="271"/>
                </a:lnTo>
                <a:lnTo>
                  <a:pt x="60" y="260"/>
                </a:lnTo>
                <a:lnTo>
                  <a:pt x="38" y="248"/>
                </a:lnTo>
                <a:lnTo>
                  <a:pt x="62" y="244"/>
                </a:lnTo>
                <a:lnTo>
                  <a:pt x="47" y="235"/>
                </a:lnTo>
                <a:lnTo>
                  <a:pt x="38" y="229"/>
                </a:lnTo>
                <a:lnTo>
                  <a:pt x="21" y="215"/>
                </a:lnTo>
                <a:lnTo>
                  <a:pt x="17" y="212"/>
                </a:lnTo>
                <a:lnTo>
                  <a:pt x="12" y="206"/>
                </a:lnTo>
                <a:lnTo>
                  <a:pt x="9" y="202"/>
                </a:lnTo>
                <a:lnTo>
                  <a:pt x="6" y="195"/>
                </a:lnTo>
                <a:lnTo>
                  <a:pt x="2" y="190"/>
                </a:lnTo>
                <a:lnTo>
                  <a:pt x="0" y="185"/>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57" name="Group 37"/>
          <p:cNvGrpSpPr>
            <a:grpSpLocks/>
          </p:cNvGrpSpPr>
          <p:nvPr/>
        </p:nvGrpSpPr>
        <p:grpSpPr bwMode="auto">
          <a:xfrm>
            <a:off x="5607050" y="3275013"/>
            <a:ext cx="26988" cy="23812"/>
            <a:chOff x="2572" y="2063"/>
            <a:chExt cx="17" cy="15"/>
          </a:xfrm>
        </p:grpSpPr>
        <p:sp>
          <p:nvSpPr>
            <p:cNvPr id="5155" name="Oval 35" descr="50%"/>
            <p:cNvSpPr>
              <a:spLocks noChangeArrowheads="1"/>
            </p:cNvSpPr>
            <p:nvPr/>
          </p:nvSpPr>
          <p:spPr bwMode="auto">
            <a:xfrm>
              <a:off x="2572" y="2063"/>
              <a:ext cx="16" cy="15"/>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6" name="Arc 36" descr="50%"/>
            <p:cNvSpPr>
              <a:spLocks/>
            </p:cNvSpPr>
            <p:nvPr/>
          </p:nvSpPr>
          <p:spPr bwMode="auto">
            <a:xfrm>
              <a:off x="2575" y="2064"/>
              <a:ext cx="14" cy="14"/>
            </a:xfrm>
            <a:custGeom>
              <a:avLst/>
              <a:gdLst>
                <a:gd name="G0" fmla="+- 21600 0 0"/>
                <a:gd name="G1" fmla="+- 20769 0 0"/>
                <a:gd name="G2" fmla="+- 21600 0 0"/>
                <a:gd name="T0" fmla="*/ 33582 w 43200"/>
                <a:gd name="T1" fmla="*/ 2797 h 42369"/>
                <a:gd name="T2" fmla="*/ 15666 w 43200"/>
                <a:gd name="T3" fmla="*/ 0 h 42369"/>
                <a:gd name="T4" fmla="*/ 21600 w 43200"/>
                <a:gd name="T5" fmla="*/ 20769 h 42369"/>
              </a:gdLst>
              <a:ahLst/>
              <a:cxnLst>
                <a:cxn ang="0">
                  <a:pos x="T0" y="T1"/>
                </a:cxn>
                <a:cxn ang="0">
                  <a:pos x="T2" y="T3"/>
                </a:cxn>
                <a:cxn ang="0">
                  <a:pos x="T4" y="T5"/>
                </a:cxn>
              </a:cxnLst>
              <a:rect l="0" t="0" r="r" b="b"/>
              <a:pathLst>
                <a:path w="43200" h="42369" fill="none"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path>
                <a:path w="43200" h="42369" stroke="0"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lnTo>
                    <a:pt x="21600" y="2076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63" name="Group 43"/>
          <p:cNvGrpSpPr>
            <a:grpSpLocks/>
          </p:cNvGrpSpPr>
          <p:nvPr/>
        </p:nvGrpSpPr>
        <p:grpSpPr bwMode="auto">
          <a:xfrm>
            <a:off x="5703888" y="3313113"/>
            <a:ext cx="101600" cy="69850"/>
            <a:chOff x="2633" y="2087"/>
            <a:chExt cx="64" cy="44"/>
          </a:xfrm>
        </p:grpSpPr>
        <p:sp>
          <p:nvSpPr>
            <p:cNvPr id="5158" name="Arc 38" descr="50%"/>
            <p:cNvSpPr>
              <a:spLocks/>
            </p:cNvSpPr>
            <p:nvPr/>
          </p:nvSpPr>
          <p:spPr bwMode="auto">
            <a:xfrm>
              <a:off x="2647"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Arc 39" descr="50%"/>
            <p:cNvSpPr>
              <a:spLocks/>
            </p:cNvSpPr>
            <p:nvPr/>
          </p:nvSpPr>
          <p:spPr bwMode="auto">
            <a:xfrm>
              <a:off x="2633"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0" name="Arc 40" descr="50%"/>
            <p:cNvSpPr>
              <a:spLocks/>
            </p:cNvSpPr>
            <p:nvPr/>
          </p:nvSpPr>
          <p:spPr bwMode="auto">
            <a:xfrm>
              <a:off x="2661"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Arc 41" descr="50%"/>
            <p:cNvSpPr>
              <a:spLocks/>
            </p:cNvSpPr>
            <p:nvPr/>
          </p:nvSpPr>
          <p:spPr bwMode="auto">
            <a:xfrm>
              <a:off x="2675"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Arc 42" descr="50%"/>
            <p:cNvSpPr>
              <a:spLocks/>
            </p:cNvSpPr>
            <p:nvPr/>
          </p:nvSpPr>
          <p:spPr bwMode="auto">
            <a:xfrm>
              <a:off x="2691" y="2087"/>
              <a:ext cx="6" cy="44"/>
            </a:xfrm>
            <a:custGeom>
              <a:avLst/>
              <a:gdLst>
                <a:gd name="G0" fmla="+- 4898 0 0"/>
                <a:gd name="G1" fmla="+- 21600 0 0"/>
                <a:gd name="G2" fmla="+- 21600 0 0"/>
                <a:gd name="T0" fmla="*/ 212 w 26498"/>
                <a:gd name="T1" fmla="*/ 514 h 43200"/>
                <a:gd name="T2" fmla="*/ 0 w 26498"/>
                <a:gd name="T3" fmla="*/ 42637 h 43200"/>
                <a:gd name="T4" fmla="*/ 4898 w 26498"/>
                <a:gd name="T5" fmla="*/ 21600 h 43200"/>
              </a:gdLst>
              <a:ahLst/>
              <a:cxnLst>
                <a:cxn ang="0">
                  <a:pos x="T0" y="T1"/>
                </a:cxn>
                <a:cxn ang="0">
                  <a:pos x="T2" y="T3"/>
                </a:cxn>
                <a:cxn ang="0">
                  <a:pos x="T4" y="T5"/>
                </a:cxn>
              </a:cxnLst>
              <a:rect l="0" t="0" r="r" b="b"/>
              <a:pathLst>
                <a:path w="26498" h="43200" fill="none"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path>
                <a:path w="26498" h="43200" stroke="0"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lnTo>
                    <a:pt x="4898"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64" name="Freeform 44" descr="50%"/>
          <p:cNvSpPr>
            <a:spLocks/>
          </p:cNvSpPr>
          <p:nvPr/>
        </p:nvSpPr>
        <p:spPr bwMode="auto">
          <a:xfrm>
            <a:off x="5464175" y="2970214"/>
            <a:ext cx="1651000" cy="312737"/>
          </a:xfrm>
          <a:custGeom>
            <a:avLst/>
            <a:gdLst>
              <a:gd name="T0" fmla="*/ 22 w 1040"/>
              <a:gd name="T1" fmla="*/ 165 h 197"/>
              <a:gd name="T2" fmla="*/ 70 w 1040"/>
              <a:gd name="T3" fmla="*/ 150 h 197"/>
              <a:gd name="T4" fmla="*/ 139 w 1040"/>
              <a:gd name="T5" fmla="*/ 135 h 197"/>
              <a:gd name="T6" fmla="*/ 208 w 1040"/>
              <a:gd name="T7" fmla="*/ 122 h 197"/>
              <a:gd name="T8" fmla="*/ 275 w 1040"/>
              <a:gd name="T9" fmla="*/ 110 h 197"/>
              <a:gd name="T10" fmla="*/ 313 w 1040"/>
              <a:gd name="T11" fmla="*/ 94 h 197"/>
              <a:gd name="T12" fmla="*/ 347 w 1040"/>
              <a:gd name="T13" fmla="*/ 61 h 197"/>
              <a:gd name="T14" fmla="*/ 397 w 1040"/>
              <a:gd name="T15" fmla="*/ 18 h 197"/>
              <a:gd name="T16" fmla="*/ 432 w 1040"/>
              <a:gd name="T17" fmla="*/ 35 h 197"/>
              <a:gd name="T18" fmla="*/ 447 w 1040"/>
              <a:gd name="T19" fmla="*/ 85 h 197"/>
              <a:gd name="T20" fmla="*/ 473 w 1040"/>
              <a:gd name="T21" fmla="*/ 107 h 197"/>
              <a:gd name="T22" fmla="*/ 559 w 1040"/>
              <a:gd name="T23" fmla="*/ 122 h 197"/>
              <a:gd name="T24" fmla="*/ 623 w 1040"/>
              <a:gd name="T25" fmla="*/ 124 h 197"/>
              <a:gd name="T26" fmla="*/ 701 w 1040"/>
              <a:gd name="T27" fmla="*/ 122 h 197"/>
              <a:gd name="T28" fmla="*/ 731 w 1040"/>
              <a:gd name="T29" fmla="*/ 146 h 197"/>
              <a:gd name="T30" fmla="*/ 793 w 1040"/>
              <a:gd name="T31" fmla="*/ 149 h 197"/>
              <a:gd name="T32" fmla="*/ 862 w 1040"/>
              <a:gd name="T33" fmla="*/ 118 h 197"/>
              <a:gd name="T34" fmla="*/ 917 w 1040"/>
              <a:gd name="T35" fmla="*/ 69 h 197"/>
              <a:gd name="T36" fmla="*/ 961 w 1040"/>
              <a:gd name="T37" fmla="*/ 39 h 197"/>
              <a:gd name="T38" fmla="*/ 998 w 1040"/>
              <a:gd name="T39" fmla="*/ 23 h 197"/>
              <a:gd name="T40" fmla="*/ 1032 w 1040"/>
              <a:gd name="T41" fmla="*/ 27 h 197"/>
              <a:gd name="T42" fmla="*/ 1005 w 1040"/>
              <a:gd name="T43" fmla="*/ 61 h 197"/>
              <a:gd name="T44" fmla="*/ 970 w 1040"/>
              <a:gd name="T45" fmla="*/ 91 h 197"/>
              <a:gd name="T46" fmla="*/ 950 w 1040"/>
              <a:gd name="T47" fmla="*/ 117 h 197"/>
              <a:gd name="T48" fmla="*/ 935 w 1040"/>
              <a:gd name="T49" fmla="*/ 139 h 197"/>
              <a:gd name="T50" fmla="*/ 930 w 1040"/>
              <a:gd name="T51" fmla="*/ 164 h 197"/>
              <a:gd name="T52" fmla="*/ 901 w 1040"/>
              <a:gd name="T53" fmla="*/ 159 h 197"/>
              <a:gd name="T54" fmla="*/ 874 w 1040"/>
              <a:gd name="T55" fmla="*/ 167 h 197"/>
              <a:gd name="T56" fmla="*/ 843 w 1040"/>
              <a:gd name="T57" fmla="*/ 164 h 197"/>
              <a:gd name="T58" fmla="*/ 809 w 1040"/>
              <a:gd name="T59" fmla="*/ 166 h 197"/>
              <a:gd name="T60" fmla="*/ 774 w 1040"/>
              <a:gd name="T61" fmla="*/ 163 h 197"/>
              <a:gd name="T62" fmla="*/ 734 w 1040"/>
              <a:gd name="T63" fmla="*/ 164 h 197"/>
              <a:gd name="T64" fmla="*/ 693 w 1040"/>
              <a:gd name="T65" fmla="*/ 171 h 197"/>
              <a:gd name="T66" fmla="*/ 654 w 1040"/>
              <a:gd name="T67" fmla="*/ 172 h 197"/>
              <a:gd name="T68" fmla="*/ 615 w 1040"/>
              <a:gd name="T69" fmla="*/ 173 h 197"/>
              <a:gd name="T70" fmla="*/ 579 w 1040"/>
              <a:gd name="T71" fmla="*/ 177 h 197"/>
              <a:gd name="T72" fmla="*/ 540 w 1040"/>
              <a:gd name="T73" fmla="*/ 185 h 197"/>
              <a:gd name="T74" fmla="*/ 494 w 1040"/>
              <a:gd name="T75" fmla="*/ 184 h 197"/>
              <a:gd name="T76" fmla="*/ 455 w 1040"/>
              <a:gd name="T77" fmla="*/ 187 h 197"/>
              <a:gd name="T78" fmla="*/ 415 w 1040"/>
              <a:gd name="T79" fmla="*/ 181 h 197"/>
              <a:gd name="T80" fmla="*/ 377 w 1040"/>
              <a:gd name="T81" fmla="*/ 184 h 197"/>
              <a:gd name="T82" fmla="*/ 345 w 1040"/>
              <a:gd name="T83" fmla="*/ 181 h 197"/>
              <a:gd name="T84" fmla="*/ 307 w 1040"/>
              <a:gd name="T85" fmla="*/ 184 h 197"/>
              <a:gd name="T86" fmla="*/ 266 w 1040"/>
              <a:gd name="T87" fmla="*/ 187 h 197"/>
              <a:gd name="T88" fmla="*/ 213 w 1040"/>
              <a:gd name="T89" fmla="*/ 196 h 197"/>
              <a:gd name="T90" fmla="*/ 152 w 1040"/>
              <a:gd name="T91" fmla="*/ 196 h 197"/>
              <a:gd name="T92" fmla="*/ 101 w 1040"/>
              <a:gd name="T93" fmla="*/ 188 h 197"/>
              <a:gd name="T94" fmla="*/ 55 w 1040"/>
              <a:gd name="T95" fmla="*/ 190 h 197"/>
              <a:gd name="T96" fmla="*/ 10 w 1040"/>
              <a:gd name="T97" fmla="*/ 18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0" h="197">
                <a:moveTo>
                  <a:pt x="0" y="176"/>
                </a:moveTo>
                <a:lnTo>
                  <a:pt x="6" y="172"/>
                </a:lnTo>
                <a:lnTo>
                  <a:pt x="13" y="169"/>
                </a:lnTo>
                <a:lnTo>
                  <a:pt x="22" y="165"/>
                </a:lnTo>
                <a:lnTo>
                  <a:pt x="31" y="162"/>
                </a:lnTo>
                <a:lnTo>
                  <a:pt x="42" y="159"/>
                </a:lnTo>
                <a:lnTo>
                  <a:pt x="58" y="154"/>
                </a:lnTo>
                <a:lnTo>
                  <a:pt x="70" y="150"/>
                </a:lnTo>
                <a:lnTo>
                  <a:pt x="86" y="145"/>
                </a:lnTo>
                <a:lnTo>
                  <a:pt x="104" y="141"/>
                </a:lnTo>
                <a:lnTo>
                  <a:pt x="121" y="137"/>
                </a:lnTo>
                <a:lnTo>
                  <a:pt x="139" y="135"/>
                </a:lnTo>
                <a:lnTo>
                  <a:pt x="157" y="132"/>
                </a:lnTo>
                <a:lnTo>
                  <a:pt x="175" y="129"/>
                </a:lnTo>
                <a:lnTo>
                  <a:pt x="191" y="126"/>
                </a:lnTo>
                <a:lnTo>
                  <a:pt x="208" y="122"/>
                </a:lnTo>
                <a:lnTo>
                  <a:pt x="222" y="120"/>
                </a:lnTo>
                <a:lnTo>
                  <a:pt x="242" y="116"/>
                </a:lnTo>
                <a:lnTo>
                  <a:pt x="259" y="113"/>
                </a:lnTo>
                <a:lnTo>
                  <a:pt x="275" y="110"/>
                </a:lnTo>
                <a:lnTo>
                  <a:pt x="286" y="108"/>
                </a:lnTo>
                <a:lnTo>
                  <a:pt x="297" y="104"/>
                </a:lnTo>
                <a:lnTo>
                  <a:pt x="307" y="99"/>
                </a:lnTo>
                <a:lnTo>
                  <a:pt x="313" y="94"/>
                </a:lnTo>
                <a:lnTo>
                  <a:pt x="320" y="87"/>
                </a:lnTo>
                <a:lnTo>
                  <a:pt x="326" y="81"/>
                </a:lnTo>
                <a:lnTo>
                  <a:pt x="336" y="70"/>
                </a:lnTo>
                <a:lnTo>
                  <a:pt x="347" y="61"/>
                </a:lnTo>
                <a:lnTo>
                  <a:pt x="358" y="50"/>
                </a:lnTo>
                <a:lnTo>
                  <a:pt x="370" y="39"/>
                </a:lnTo>
                <a:lnTo>
                  <a:pt x="382" y="28"/>
                </a:lnTo>
                <a:lnTo>
                  <a:pt x="397" y="18"/>
                </a:lnTo>
                <a:lnTo>
                  <a:pt x="410" y="8"/>
                </a:lnTo>
                <a:lnTo>
                  <a:pt x="422" y="0"/>
                </a:lnTo>
                <a:lnTo>
                  <a:pt x="426" y="16"/>
                </a:lnTo>
                <a:lnTo>
                  <a:pt x="432" y="35"/>
                </a:lnTo>
                <a:lnTo>
                  <a:pt x="438" y="52"/>
                </a:lnTo>
                <a:lnTo>
                  <a:pt x="444" y="68"/>
                </a:lnTo>
                <a:lnTo>
                  <a:pt x="445" y="77"/>
                </a:lnTo>
                <a:lnTo>
                  <a:pt x="447" y="85"/>
                </a:lnTo>
                <a:lnTo>
                  <a:pt x="445" y="92"/>
                </a:lnTo>
                <a:lnTo>
                  <a:pt x="439" y="101"/>
                </a:lnTo>
                <a:lnTo>
                  <a:pt x="456" y="105"/>
                </a:lnTo>
                <a:lnTo>
                  <a:pt x="473" y="107"/>
                </a:lnTo>
                <a:lnTo>
                  <a:pt x="494" y="110"/>
                </a:lnTo>
                <a:lnTo>
                  <a:pt x="517" y="114"/>
                </a:lnTo>
                <a:lnTo>
                  <a:pt x="541" y="119"/>
                </a:lnTo>
                <a:lnTo>
                  <a:pt x="559" y="122"/>
                </a:lnTo>
                <a:lnTo>
                  <a:pt x="578" y="124"/>
                </a:lnTo>
                <a:lnTo>
                  <a:pt x="596" y="127"/>
                </a:lnTo>
                <a:lnTo>
                  <a:pt x="611" y="128"/>
                </a:lnTo>
                <a:lnTo>
                  <a:pt x="623" y="124"/>
                </a:lnTo>
                <a:lnTo>
                  <a:pt x="635" y="119"/>
                </a:lnTo>
                <a:lnTo>
                  <a:pt x="646" y="111"/>
                </a:lnTo>
                <a:lnTo>
                  <a:pt x="672" y="115"/>
                </a:lnTo>
                <a:lnTo>
                  <a:pt x="701" y="122"/>
                </a:lnTo>
                <a:lnTo>
                  <a:pt x="721" y="126"/>
                </a:lnTo>
                <a:lnTo>
                  <a:pt x="708" y="138"/>
                </a:lnTo>
                <a:lnTo>
                  <a:pt x="718" y="142"/>
                </a:lnTo>
                <a:lnTo>
                  <a:pt x="731" y="146"/>
                </a:lnTo>
                <a:lnTo>
                  <a:pt x="746" y="150"/>
                </a:lnTo>
                <a:lnTo>
                  <a:pt x="762" y="152"/>
                </a:lnTo>
                <a:lnTo>
                  <a:pt x="777" y="150"/>
                </a:lnTo>
                <a:lnTo>
                  <a:pt x="793" y="149"/>
                </a:lnTo>
                <a:lnTo>
                  <a:pt x="809" y="146"/>
                </a:lnTo>
                <a:lnTo>
                  <a:pt x="826" y="141"/>
                </a:lnTo>
                <a:lnTo>
                  <a:pt x="843" y="132"/>
                </a:lnTo>
                <a:lnTo>
                  <a:pt x="862" y="118"/>
                </a:lnTo>
                <a:lnTo>
                  <a:pt x="877" y="106"/>
                </a:lnTo>
                <a:lnTo>
                  <a:pt x="896" y="89"/>
                </a:lnTo>
                <a:lnTo>
                  <a:pt x="903" y="82"/>
                </a:lnTo>
                <a:lnTo>
                  <a:pt x="917" y="69"/>
                </a:lnTo>
                <a:lnTo>
                  <a:pt x="928" y="61"/>
                </a:lnTo>
                <a:lnTo>
                  <a:pt x="939" y="53"/>
                </a:lnTo>
                <a:lnTo>
                  <a:pt x="950" y="46"/>
                </a:lnTo>
                <a:lnTo>
                  <a:pt x="961" y="39"/>
                </a:lnTo>
                <a:lnTo>
                  <a:pt x="971" y="35"/>
                </a:lnTo>
                <a:lnTo>
                  <a:pt x="980" y="30"/>
                </a:lnTo>
                <a:lnTo>
                  <a:pt x="989" y="27"/>
                </a:lnTo>
                <a:lnTo>
                  <a:pt x="998" y="23"/>
                </a:lnTo>
                <a:lnTo>
                  <a:pt x="1009" y="22"/>
                </a:lnTo>
                <a:lnTo>
                  <a:pt x="1021" y="21"/>
                </a:lnTo>
                <a:lnTo>
                  <a:pt x="1039" y="21"/>
                </a:lnTo>
                <a:lnTo>
                  <a:pt x="1032" y="27"/>
                </a:lnTo>
                <a:lnTo>
                  <a:pt x="1024" y="36"/>
                </a:lnTo>
                <a:lnTo>
                  <a:pt x="1019" y="42"/>
                </a:lnTo>
                <a:lnTo>
                  <a:pt x="1012" y="52"/>
                </a:lnTo>
                <a:lnTo>
                  <a:pt x="1005" y="61"/>
                </a:lnTo>
                <a:lnTo>
                  <a:pt x="995" y="70"/>
                </a:lnTo>
                <a:lnTo>
                  <a:pt x="982" y="79"/>
                </a:lnTo>
                <a:lnTo>
                  <a:pt x="975" y="85"/>
                </a:lnTo>
                <a:lnTo>
                  <a:pt x="970" y="91"/>
                </a:lnTo>
                <a:lnTo>
                  <a:pt x="964" y="99"/>
                </a:lnTo>
                <a:lnTo>
                  <a:pt x="959" y="104"/>
                </a:lnTo>
                <a:lnTo>
                  <a:pt x="954" y="110"/>
                </a:lnTo>
                <a:lnTo>
                  <a:pt x="950" y="117"/>
                </a:lnTo>
                <a:lnTo>
                  <a:pt x="946" y="123"/>
                </a:lnTo>
                <a:lnTo>
                  <a:pt x="942" y="129"/>
                </a:lnTo>
                <a:lnTo>
                  <a:pt x="938" y="135"/>
                </a:lnTo>
                <a:lnTo>
                  <a:pt x="935" y="139"/>
                </a:lnTo>
                <a:lnTo>
                  <a:pt x="933" y="146"/>
                </a:lnTo>
                <a:lnTo>
                  <a:pt x="931" y="152"/>
                </a:lnTo>
                <a:lnTo>
                  <a:pt x="931" y="158"/>
                </a:lnTo>
                <a:lnTo>
                  <a:pt x="930" y="164"/>
                </a:lnTo>
                <a:lnTo>
                  <a:pt x="924" y="160"/>
                </a:lnTo>
                <a:lnTo>
                  <a:pt x="915" y="159"/>
                </a:lnTo>
                <a:lnTo>
                  <a:pt x="908" y="159"/>
                </a:lnTo>
                <a:lnTo>
                  <a:pt x="901" y="159"/>
                </a:lnTo>
                <a:lnTo>
                  <a:pt x="893" y="161"/>
                </a:lnTo>
                <a:lnTo>
                  <a:pt x="887" y="164"/>
                </a:lnTo>
                <a:lnTo>
                  <a:pt x="881" y="165"/>
                </a:lnTo>
                <a:lnTo>
                  <a:pt x="874" y="167"/>
                </a:lnTo>
                <a:lnTo>
                  <a:pt x="867" y="168"/>
                </a:lnTo>
                <a:lnTo>
                  <a:pt x="857" y="167"/>
                </a:lnTo>
                <a:lnTo>
                  <a:pt x="849" y="166"/>
                </a:lnTo>
                <a:lnTo>
                  <a:pt x="843" y="164"/>
                </a:lnTo>
                <a:lnTo>
                  <a:pt x="836" y="162"/>
                </a:lnTo>
                <a:lnTo>
                  <a:pt x="829" y="163"/>
                </a:lnTo>
                <a:lnTo>
                  <a:pt x="818" y="164"/>
                </a:lnTo>
                <a:lnTo>
                  <a:pt x="809" y="166"/>
                </a:lnTo>
                <a:lnTo>
                  <a:pt x="802" y="165"/>
                </a:lnTo>
                <a:lnTo>
                  <a:pt x="793" y="164"/>
                </a:lnTo>
                <a:lnTo>
                  <a:pt x="783" y="163"/>
                </a:lnTo>
                <a:lnTo>
                  <a:pt x="774" y="163"/>
                </a:lnTo>
                <a:lnTo>
                  <a:pt x="766" y="164"/>
                </a:lnTo>
                <a:lnTo>
                  <a:pt x="753" y="166"/>
                </a:lnTo>
                <a:lnTo>
                  <a:pt x="745" y="166"/>
                </a:lnTo>
                <a:lnTo>
                  <a:pt x="734" y="164"/>
                </a:lnTo>
                <a:lnTo>
                  <a:pt x="725" y="164"/>
                </a:lnTo>
                <a:lnTo>
                  <a:pt x="714" y="166"/>
                </a:lnTo>
                <a:lnTo>
                  <a:pt x="706" y="169"/>
                </a:lnTo>
                <a:lnTo>
                  <a:pt x="693" y="171"/>
                </a:lnTo>
                <a:lnTo>
                  <a:pt x="684" y="172"/>
                </a:lnTo>
                <a:lnTo>
                  <a:pt x="673" y="173"/>
                </a:lnTo>
                <a:lnTo>
                  <a:pt x="664" y="174"/>
                </a:lnTo>
                <a:lnTo>
                  <a:pt x="654" y="172"/>
                </a:lnTo>
                <a:lnTo>
                  <a:pt x="643" y="169"/>
                </a:lnTo>
                <a:lnTo>
                  <a:pt x="632" y="172"/>
                </a:lnTo>
                <a:lnTo>
                  <a:pt x="624" y="172"/>
                </a:lnTo>
                <a:lnTo>
                  <a:pt x="615" y="173"/>
                </a:lnTo>
                <a:lnTo>
                  <a:pt x="606" y="172"/>
                </a:lnTo>
                <a:lnTo>
                  <a:pt x="597" y="172"/>
                </a:lnTo>
                <a:lnTo>
                  <a:pt x="587" y="173"/>
                </a:lnTo>
                <a:lnTo>
                  <a:pt x="579" y="177"/>
                </a:lnTo>
                <a:lnTo>
                  <a:pt x="571" y="179"/>
                </a:lnTo>
                <a:lnTo>
                  <a:pt x="561" y="182"/>
                </a:lnTo>
                <a:lnTo>
                  <a:pt x="551" y="184"/>
                </a:lnTo>
                <a:lnTo>
                  <a:pt x="540" y="185"/>
                </a:lnTo>
                <a:lnTo>
                  <a:pt x="530" y="186"/>
                </a:lnTo>
                <a:lnTo>
                  <a:pt x="516" y="184"/>
                </a:lnTo>
                <a:lnTo>
                  <a:pt x="503" y="184"/>
                </a:lnTo>
                <a:lnTo>
                  <a:pt x="494" y="184"/>
                </a:lnTo>
                <a:lnTo>
                  <a:pt x="482" y="186"/>
                </a:lnTo>
                <a:lnTo>
                  <a:pt x="473" y="186"/>
                </a:lnTo>
                <a:lnTo>
                  <a:pt x="463" y="187"/>
                </a:lnTo>
                <a:lnTo>
                  <a:pt x="455" y="187"/>
                </a:lnTo>
                <a:lnTo>
                  <a:pt x="442" y="186"/>
                </a:lnTo>
                <a:lnTo>
                  <a:pt x="431" y="184"/>
                </a:lnTo>
                <a:lnTo>
                  <a:pt x="424" y="181"/>
                </a:lnTo>
                <a:lnTo>
                  <a:pt x="415" y="181"/>
                </a:lnTo>
                <a:lnTo>
                  <a:pt x="406" y="181"/>
                </a:lnTo>
                <a:lnTo>
                  <a:pt x="397" y="182"/>
                </a:lnTo>
                <a:lnTo>
                  <a:pt x="386" y="184"/>
                </a:lnTo>
                <a:lnTo>
                  <a:pt x="377" y="184"/>
                </a:lnTo>
                <a:lnTo>
                  <a:pt x="369" y="184"/>
                </a:lnTo>
                <a:lnTo>
                  <a:pt x="363" y="183"/>
                </a:lnTo>
                <a:lnTo>
                  <a:pt x="354" y="181"/>
                </a:lnTo>
                <a:lnTo>
                  <a:pt x="345" y="181"/>
                </a:lnTo>
                <a:lnTo>
                  <a:pt x="336" y="181"/>
                </a:lnTo>
                <a:lnTo>
                  <a:pt x="328" y="182"/>
                </a:lnTo>
                <a:lnTo>
                  <a:pt x="319" y="183"/>
                </a:lnTo>
                <a:lnTo>
                  <a:pt x="307" y="184"/>
                </a:lnTo>
                <a:lnTo>
                  <a:pt x="296" y="184"/>
                </a:lnTo>
                <a:lnTo>
                  <a:pt x="286" y="184"/>
                </a:lnTo>
                <a:lnTo>
                  <a:pt x="276" y="185"/>
                </a:lnTo>
                <a:lnTo>
                  <a:pt x="266" y="187"/>
                </a:lnTo>
                <a:lnTo>
                  <a:pt x="255" y="190"/>
                </a:lnTo>
                <a:lnTo>
                  <a:pt x="245" y="192"/>
                </a:lnTo>
                <a:lnTo>
                  <a:pt x="230" y="195"/>
                </a:lnTo>
                <a:lnTo>
                  <a:pt x="213" y="196"/>
                </a:lnTo>
                <a:lnTo>
                  <a:pt x="196" y="196"/>
                </a:lnTo>
                <a:lnTo>
                  <a:pt x="181" y="195"/>
                </a:lnTo>
                <a:lnTo>
                  <a:pt x="162" y="196"/>
                </a:lnTo>
                <a:lnTo>
                  <a:pt x="152" y="196"/>
                </a:lnTo>
                <a:lnTo>
                  <a:pt x="142" y="194"/>
                </a:lnTo>
                <a:lnTo>
                  <a:pt x="132" y="196"/>
                </a:lnTo>
                <a:lnTo>
                  <a:pt x="120" y="195"/>
                </a:lnTo>
                <a:lnTo>
                  <a:pt x="101" y="188"/>
                </a:lnTo>
                <a:lnTo>
                  <a:pt x="89" y="189"/>
                </a:lnTo>
                <a:lnTo>
                  <a:pt x="77" y="190"/>
                </a:lnTo>
                <a:lnTo>
                  <a:pt x="65" y="190"/>
                </a:lnTo>
                <a:lnTo>
                  <a:pt x="55" y="190"/>
                </a:lnTo>
                <a:lnTo>
                  <a:pt x="43" y="189"/>
                </a:lnTo>
                <a:lnTo>
                  <a:pt x="31" y="187"/>
                </a:lnTo>
                <a:lnTo>
                  <a:pt x="20" y="184"/>
                </a:lnTo>
                <a:lnTo>
                  <a:pt x="10" y="181"/>
                </a:lnTo>
                <a:lnTo>
                  <a:pt x="0" y="179"/>
                </a:lnTo>
                <a:lnTo>
                  <a:pt x="0" y="17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67" name="Group 47"/>
          <p:cNvGrpSpPr>
            <a:grpSpLocks/>
          </p:cNvGrpSpPr>
          <p:nvPr/>
        </p:nvGrpSpPr>
        <p:grpSpPr bwMode="auto">
          <a:xfrm>
            <a:off x="5795963" y="3362326"/>
            <a:ext cx="239712" cy="150813"/>
            <a:chOff x="2691" y="2118"/>
            <a:chExt cx="151" cy="95"/>
          </a:xfrm>
        </p:grpSpPr>
        <p:sp>
          <p:nvSpPr>
            <p:cNvPr id="5165" name="Freeform 45" descr="50%"/>
            <p:cNvSpPr>
              <a:spLocks/>
            </p:cNvSpPr>
            <p:nvPr/>
          </p:nvSpPr>
          <p:spPr bwMode="auto">
            <a:xfrm>
              <a:off x="2691" y="2121"/>
              <a:ext cx="151" cy="92"/>
            </a:xfrm>
            <a:custGeom>
              <a:avLst/>
              <a:gdLst>
                <a:gd name="T0" fmla="*/ 140 w 151"/>
                <a:gd name="T1" fmla="*/ 82 h 92"/>
                <a:gd name="T2" fmla="*/ 132 w 151"/>
                <a:gd name="T3" fmla="*/ 74 h 92"/>
                <a:gd name="T4" fmla="*/ 127 w 151"/>
                <a:gd name="T5" fmla="*/ 69 h 92"/>
                <a:gd name="T6" fmla="*/ 123 w 151"/>
                <a:gd name="T7" fmla="*/ 64 h 92"/>
                <a:gd name="T8" fmla="*/ 118 w 151"/>
                <a:gd name="T9" fmla="*/ 59 h 92"/>
                <a:gd name="T10" fmla="*/ 114 w 151"/>
                <a:gd name="T11" fmla="*/ 54 h 92"/>
                <a:gd name="T12" fmla="*/ 111 w 151"/>
                <a:gd name="T13" fmla="*/ 49 h 92"/>
                <a:gd name="T14" fmla="*/ 107 w 151"/>
                <a:gd name="T15" fmla="*/ 43 h 92"/>
                <a:gd name="T16" fmla="*/ 104 w 151"/>
                <a:gd name="T17" fmla="*/ 37 h 92"/>
                <a:gd name="T18" fmla="*/ 101 w 151"/>
                <a:gd name="T19" fmla="*/ 30 h 92"/>
                <a:gd name="T20" fmla="*/ 99 w 151"/>
                <a:gd name="T21" fmla="*/ 23 h 92"/>
                <a:gd name="T22" fmla="*/ 97 w 151"/>
                <a:gd name="T23" fmla="*/ 16 h 92"/>
                <a:gd name="T24" fmla="*/ 97 w 151"/>
                <a:gd name="T25" fmla="*/ 9 h 92"/>
                <a:gd name="T26" fmla="*/ 97 w 151"/>
                <a:gd name="T27" fmla="*/ 0 h 92"/>
                <a:gd name="T28" fmla="*/ 0 w 151"/>
                <a:gd name="T29" fmla="*/ 1 h 92"/>
                <a:gd name="T30" fmla="*/ 3 w 151"/>
                <a:gd name="T31" fmla="*/ 6 h 92"/>
                <a:gd name="T32" fmla="*/ 8 w 151"/>
                <a:gd name="T33" fmla="*/ 13 h 92"/>
                <a:gd name="T34" fmla="*/ 13 w 151"/>
                <a:gd name="T35" fmla="*/ 20 h 92"/>
                <a:gd name="T36" fmla="*/ 18 w 151"/>
                <a:gd name="T37" fmla="*/ 26 h 92"/>
                <a:gd name="T38" fmla="*/ 25 w 151"/>
                <a:gd name="T39" fmla="*/ 33 h 92"/>
                <a:gd name="T40" fmla="*/ 32 w 151"/>
                <a:gd name="T41" fmla="*/ 40 h 92"/>
                <a:gd name="T42" fmla="*/ 39 w 151"/>
                <a:gd name="T43" fmla="*/ 46 h 92"/>
                <a:gd name="T44" fmla="*/ 47 w 151"/>
                <a:gd name="T45" fmla="*/ 52 h 92"/>
                <a:gd name="T46" fmla="*/ 56 w 151"/>
                <a:gd name="T47" fmla="*/ 59 h 92"/>
                <a:gd name="T48" fmla="*/ 66 w 151"/>
                <a:gd name="T49" fmla="*/ 67 h 92"/>
                <a:gd name="T50" fmla="*/ 75 w 151"/>
                <a:gd name="T51" fmla="*/ 72 h 92"/>
                <a:gd name="T52" fmla="*/ 83 w 151"/>
                <a:gd name="T53" fmla="*/ 76 h 92"/>
                <a:gd name="T54" fmla="*/ 91 w 151"/>
                <a:gd name="T55" fmla="*/ 79 h 92"/>
                <a:gd name="T56" fmla="*/ 99 w 151"/>
                <a:gd name="T57" fmla="*/ 82 h 92"/>
                <a:gd name="T58" fmla="*/ 107 w 151"/>
                <a:gd name="T59" fmla="*/ 85 h 92"/>
                <a:gd name="T60" fmla="*/ 117 w 151"/>
                <a:gd name="T61" fmla="*/ 87 h 92"/>
                <a:gd name="T62" fmla="*/ 127 w 151"/>
                <a:gd name="T63" fmla="*/ 89 h 92"/>
                <a:gd name="T64" fmla="*/ 135 w 151"/>
                <a:gd name="T65" fmla="*/ 90 h 92"/>
                <a:gd name="T66" fmla="*/ 143 w 151"/>
                <a:gd name="T67" fmla="*/ 91 h 92"/>
                <a:gd name="T68" fmla="*/ 150 w 151"/>
                <a:gd name="T69" fmla="*/ 91 h 92"/>
                <a:gd name="T70" fmla="*/ 140 w 151"/>
                <a:gd name="T71" fmla="*/ 8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 h="92">
                  <a:moveTo>
                    <a:pt x="140" y="82"/>
                  </a:moveTo>
                  <a:lnTo>
                    <a:pt x="132" y="74"/>
                  </a:lnTo>
                  <a:lnTo>
                    <a:pt x="127" y="69"/>
                  </a:lnTo>
                  <a:lnTo>
                    <a:pt x="123" y="64"/>
                  </a:lnTo>
                  <a:lnTo>
                    <a:pt x="118" y="59"/>
                  </a:lnTo>
                  <a:lnTo>
                    <a:pt x="114" y="54"/>
                  </a:lnTo>
                  <a:lnTo>
                    <a:pt x="111" y="49"/>
                  </a:lnTo>
                  <a:lnTo>
                    <a:pt x="107" y="43"/>
                  </a:lnTo>
                  <a:lnTo>
                    <a:pt x="104" y="37"/>
                  </a:lnTo>
                  <a:lnTo>
                    <a:pt x="101" y="30"/>
                  </a:lnTo>
                  <a:lnTo>
                    <a:pt x="99" y="23"/>
                  </a:lnTo>
                  <a:lnTo>
                    <a:pt x="97" y="16"/>
                  </a:lnTo>
                  <a:lnTo>
                    <a:pt x="97" y="9"/>
                  </a:lnTo>
                  <a:lnTo>
                    <a:pt x="97" y="0"/>
                  </a:lnTo>
                  <a:lnTo>
                    <a:pt x="0" y="1"/>
                  </a:lnTo>
                  <a:lnTo>
                    <a:pt x="3" y="6"/>
                  </a:lnTo>
                  <a:lnTo>
                    <a:pt x="8" y="13"/>
                  </a:lnTo>
                  <a:lnTo>
                    <a:pt x="13" y="20"/>
                  </a:lnTo>
                  <a:lnTo>
                    <a:pt x="18" y="26"/>
                  </a:lnTo>
                  <a:lnTo>
                    <a:pt x="25" y="33"/>
                  </a:lnTo>
                  <a:lnTo>
                    <a:pt x="32" y="40"/>
                  </a:lnTo>
                  <a:lnTo>
                    <a:pt x="39" y="46"/>
                  </a:lnTo>
                  <a:lnTo>
                    <a:pt x="47" y="52"/>
                  </a:lnTo>
                  <a:lnTo>
                    <a:pt x="56" y="59"/>
                  </a:lnTo>
                  <a:lnTo>
                    <a:pt x="66" y="67"/>
                  </a:lnTo>
                  <a:lnTo>
                    <a:pt x="75" y="72"/>
                  </a:lnTo>
                  <a:lnTo>
                    <a:pt x="83" y="76"/>
                  </a:lnTo>
                  <a:lnTo>
                    <a:pt x="91" y="79"/>
                  </a:lnTo>
                  <a:lnTo>
                    <a:pt x="99" y="82"/>
                  </a:lnTo>
                  <a:lnTo>
                    <a:pt x="107" y="85"/>
                  </a:lnTo>
                  <a:lnTo>
                    <a:pt x="117" y="87"/>
                  </a:lnTo>
                  <a:lnTo>
                    <a:pt x="127" y="89"/>
                  </a:lnTo>
                  <a:lnTo>
                    <a:pt x="135" y="90"/>
                  </a:lnTo>
                  <a:lnTo>
                    <a:pt x="143" y="91"/>
                  </a:lnTo>
                  <a:lnTo>
                    <a:pt x="150" y="91"/>
                  </a:lnTo>
                  <a:lnTo>
                    <a:pt x="140" y="8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6" name="Freeform 46" descr="50%"/>
            <p:cNvSpPr>
              <a:spLocks/>
            </p:cNvSpPr>
            <p:nvPr/>
          </p:nvSpPr>
          <p:spPr bwMode="auto">
            <a:xfrm>
              <a:off x="2694" y="2118"/>
              <a:ext cx="86" cy="3"/>
            </a:xfrm>
            <a:custGeom>
              <a:avLst/>
              <a:gdLst>
                <a:gd name="T0" fmla="*/ 0 w 86"/>
                <a:gd name="T1" fmla="*/ 2 h 3"/>
                <a:gd name="T2" fmla="*/ 0 w 86"/>
                <a:gd name="T3" fmla="*/ 1 h 3"/>
                <a:gd name="T4" fmla="*/ 2 w 86"/>
                <a:gd name="T5" fmla="*/ 0 h 3"/>
                <a:gd name="T6" fmla="*/ 85 w 86"/>
                <a:gd name="T7" fmla="*/ 0 h 3"/>
                <a:gd name="T8" fmla="*/ 85 w 86"/>
                <a:gd name="T9" fmla="*/ 2 h 3"/>
                <a:gd name="T10" fmla="*/ 0 w 86"/>
                <a:gd name="T11" fmla="*/ 2 h 3"/>
              </a:gdLst>
              <a:ahLst/>
              <a:cxnLst>
                <a:cxn ang="0">
                  <a:pos x="T0" y="T1"/>
                </a:cxn>
                <a:cxn ang="0">
                  <a:pos x="T2" y="T3"/>
                </a:cxn>
                <a:cxn ang="0">
                  <a:pos x="T4" y="T5"/>
                </a:cxn>
                <a:cxn ang="0">
                  <a:pos x="T6" y="T7"/>
                </a:cxn>
                <a:cxn ang="0">
                  <a:pos x="T8" y="T9"/>
                </a:cxn>
                <a:cxn ang="0">
                  <a:pos x="T10" y="T11"/>
                </a:cxn>
              </a:cxnLst>
              <a:rect l="0" t="0" r="r" b="b"/>
              <a:pathLst>
                <a:path w="86" h="3">
                  <a:moveTo>
                    <a:pt x="0" y="2"/>
                  </a:moveTo>
                  <a:lnTo>
                    <a:pt x="0" y="1"/>
                  </a:lnTo>
                  <a:lnTo>
                    <a:pt x="2" y="0"/>
                  </a:lnTo>
                  <a:lnTo>
                    <a:pt x="85" y="0"/>
                  </a:lnTo>
                  <a:lnTo>
                    <a:pt x="85" y="2"/>
                  </a:lnTo>
                  <a:lnTo>
                    <a:pt x="0" y="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68" name="Freeform 48" descr="50%"/>
          <p:cNvSpPr>
            <a:spLocks/>
          </p:cNvSpPr>
          <p:nvPr/>
        </p:nvSpPr>
        <p:spPr bwMode="auto">
          <a:xfrm>
            <a:off x="4575175" y="3297238"/>
            <a:ext cx="133350" cy="101600"/>
          </a:xfrm>
          <a:custGeom>
            <a:avLst/>
            <a:gdLst>
              <a:gd name="T0" fmla="*/ 0 w 84"/>
              <a:gd name="T1" fmla="*/ 0 h 64"/>
              <a:gd name="T2" fmla="*/ 3 w 84"/>
              <a:gd name="T3" fmla="*/ 6 h 64"/>
              <a:gd name="T4" fmla="*/ 7 w 84"/>
              <a:gd name="T5" fmla="*/ 13 h 64"/>
              <a:gd name="T6" fmla="*/ 12 w 84"/>
              <a:gd name="T7" fmla="*/ 19 h 64"/>
              <a:gd name="T8" fmla="*/ 17 w 84"/>
              <a:gd name="T9" fmla="*/ 25 h 64"/>
              <a:gd name="T10" fmla="*/ 23 w 84"/>
              <a:gd name="T11" fmla="*/ 32 h 64"/>
              <a:gd name="T12" fmla="*/ 29 w 84"/>
              <a:gd name="T13" fmla="*/ 39 h 64"/>
              <a:gd name="T14" fmla="*/ 35 w 84"/>
              <a:gd name="T15" fmla="*/ 44 h 64"/>
              <a:gd name="T16" fmla="*/ 40 w 84"/>
              <a:gd name="T17" fmla="*/ 49 h 64"/>
              <a:gd name="T18" fmla="*/ 46 w 84"/>
              <a:gd name="T19" fmla="*/ 53 h 64"/>
              <a:gd name="T20" fmla="*/ 53 w 84"/>
              <a:gd name="T21" fmla="*/ 56 h 64"/>
              <a:gd name="T22" fmla="*/ 59 w 84"/>
              <a:gd name="T23" fmla="*/ 59 h 64"/>
              <a:gd name="T24" fmla="*/ 66 w 84"/>
              <a:gd name="T25" fmla="*/ 62 h 64"/>
              <a:gd name="T26" fmla="*/ 73 w 84"/>
              <a:gd name="T27" fmla="*/ 63 h 64"/>
              <a:gd name="T28" fmla="*/ 79 w 84"/>
              <a:gd name="T29" fmla="*/ 63 h 64"/>
              <a:gd name="T30" fmla="*/ 83 w 84"/>
              <a:gd name="T31" fmla="*/ 62 h 64"/>
              <a:gd name="T32" fmla="*/ 79 w 84"/>
              <a:gd name="T33" fmla="*/ 58 h 64"/>
              <a:gd name="T34" fmla="*/ 74 w 84"/>
              <a:gd name="T35" fmla="*/ 52 h 64"/>
              <a:gd name="T36" fmla="*/ 70 w 84"/>
              <a:gd name="T37" fmla="*/ 47 h 64"/>
              <a:gd name="T38" fmla="*/ 65 w 84"/>
              <a:gd name="T39" fmla="*/ 40 h 64"/>
              <a:gd name="T40" fmla="*/ 61 w 84"/>
              <a:gd name="T41" fmla="*/ 34 h 64"/>
              <a:gd name="T42" fmla="*/ 58 w 84"/>
              <a:gd name="T43" fmla="*/ 28 h 64"/>
              <a:gd name="T44" fmla="*/ 56 w 84"/>
              <a:gd name="T45" fmla="*/ 22 h 64"/>
              <a:gd name="T46" fmla="*/ 53 w 84"/>
              <a:gd name="T47" fmla="*/ 13 h 64"/>
              <a:gd name="T48" fmla="*/ 53 w 84"/>
              <a:gd name="T49" fmla="*/ 6 h 64"/>
              <a:gd name="T50" fmla="*/ 53 w 84"/>
              <a:gd name="T51" fmla="*/ 0 h 64"/>
              <a:gd name="T52" fmla="*/ 0 w 8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64">
                <a:moveTo>
                  <a:pt x="0" y="0"/>
                </a:moveTo>
                <a:lnTo>
                  <a:pt x="3" y="6"/>
                </a:lnTo>
                <a:lnTo>
                  <a:pt x="7" y="13"/>
                </a:lnTo>
                <a:lnTo>
                  <a:pt x="12" y="19"/>
                </a:lnTo>
                <a:lnTo>
                  <a:pt x="17" y="25"/>
                </a:lnTo>
                <a:lnTo>
                  <a:pt x="23" y="32"/>
                </a:lnTo>
                <a:lnTo>
                  <a:pt x="29" y="39"/>
                </a:lnTo>
                <a:lnTo>
                  <a:pt x="35" y="44"/>
                </a:lnTo>
                <a:lnTo>
                  <a:pt x="40" y="49"/>
                </a:lnTo>
                <a:lnTo>
                  <a:pt x="46" y="53"/>
                </a:lnTo>
                <a:lnTo>
                  <a:pt x="53" y="56"/>
                </a:lnTo>
                <a:lnTo>
                  <a:pt x="59" y="59"/>
                </a:lnTo>
                <a:lnTo>
                  <a:pt x="66" y="62"/>
                </a:lnTo>
                <a:lnTo>
                  <a:pt x="73" y="63"/>
                </a:lnTo>
                <a:lnTo>
                  <a:pt x="79" y="63"/>
                </a:lnTo>
                <a:lnTo>
                  <a:pt x="83" y="62"/>
                </a:lnTo>
                <a:lnTo>
                  <a:pt x="79" y="58"/>
                </a:lnTo>
                <a:lnTo>
                  <a:pt x="74" y="52"/>
                </a:lnTo>
                <a:lnTo>
                  <a:pt x="70" y="47"/>
                </a:lnTo>
                <a:lnTo>
                  <a:pt x="65" y="40"/>
                </a:lnTo>
                <a:lnTo>
                  <a:pt x="61" y="34"/>
                </a:lnTo>
                <a:lnTo>
                  <a:pt x="58" y="28"/>
                </a:lnTo>
                <a:lnTo>
                  <a:pt x="56" y="22"/>
                </a:lnTo>
                <a:lnTo>
                  <a:pt x="53" y="13"/>
                </a:lnTo>
                <a:lnTo>
                  <a:pt x="53" y="6"/>
                </a:lnTo>
                <a:lnTo>
                  <a:pt x="53" y="0"/>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9" name="Freeform 49" descr="50%"/>
          <p:cNvSpPr>
            <a:spLocks/>
          </p:cNvSpPr>
          <p:nvPr/>
        </p:nvSpPr>
        <p:spPr bwMode="auto">
          <a:xfrm>
            <a:off x="4289426" y="3049588"/>
            <a:ext cx="1127125" cy="328612"/>
          </a:xfrm>
          <a:custGeom>
            <a:avLst/>
            <a:gdLst>
              <a:gd name="T0" fmla="*/ 8 w 710"/>
              <a:gd name="T1" fmla="*/ 123 h 207"/>
              <a:gd name="T2" fmla="*/ 30 w 710"/>
              <a:gd name="T3" fmla="*/ 114 h 207"/>
              <a:gd name="T4" fmla="*/ 62 w 710"/>
              <a:gd name="T5" fmla="*/ 104 h 207"/>
              <a:gd name="T6" fmla="*/ 97 w 710"/>
              <a:gd name="T7" fmla="*/ 97 h 207"/>
              <a:gd name="T8" fmla="*/ 131 w 710"/>
              <a:gd name="T9" fmla="*/ 91 h 207"/>
              <a:gd name="T10" fmla="*/ 166 w 710"/>
              <a:gd name="T11" fmla="*/ 84 h 207"/>
              <a:gd name="T12" fmla="*/ 195 w 710"/>
              <a:gd name="T13" fmla="*/ 78 h 207"/>
              <a:gd name="T14" fmla="*/ 212 w 710"/>
              <a:gd name="T15" fmla="*/ 69 h 207"/>
              <a:gd name="T16" fmla="*/ 229 w 710"/>
              <a:gd name="T17" fmla="*/ 53 h 207"/>
              <a:gd name="T18" fmla="*/ 253 w 710"/>
              <a:gd name="T19" fmla="*/ 29 h 207"/>
              <a:gd name="T20" fmla="*/ 278 w 710"/>
              <a:gd name="T21" fmla="*/ 8 h 207"/>
              <a:gd name="T22" fmla="*/ 295 w 710"/>
              <a:gd name="T23" fmla="*/ 25 h 207"/>
              <a:gd name="T24" fmla="*/ 305 w 710"/>
              <a:gd name="T25" fmla="*/ 61 h 207"/>
              <a:gd name="T26" fmla="*/ 312 w 710"/>
              <a:gd name="T27" fmla="*/ 76 h 207"/>
              <a:gd name="T28" fmla="*/ 353 w 710"/>
              <a:gd name="T29" fmla="*/ 83 h 207"/>
              <a:gd name="T30" fmla="*/ 394 w 710"/>
              <a:gd name="T31" fmla="*/ 90 h 207"/>
              <a:gd name="T32" fmla="*/ 425 w 710"/>
              <a:gd name="T33" fmla="*/ 90 h 207"/>
              <a:gd name="T34" fmla="*/ 458 w 710"/>
              <a:gd name="T35" fmla="*/ 84 h 207"/>
              <a:gd name="T36" fmla="*/ 483 w 710"/>
              <a:gd name="T37" fmla="*/ 101 h 207"/>
              <a:gd name="T38" fmla="*/ 508 w 710"/>
              <a:gd name="T39" fmla="*/ 108 h 207"/>
              <a:gd name="T40" fmla="*/ 540 w 710"/>
              <a:gd name="T41" fmla="*/ 108 h 207"/>
              <a:gd name="T42" fmla="*/ 573 w 710"/>
              <a:gd name="T43" fmla="*/ 95 h 207"/>
              <a:gd name="T44" fmla="*/ 610 w 710"/>
              <a:gd name="T45" fmla="*/ 65 h 207"/>
              <a:gd name="T46" fmla="*/ 653 w 710"/>
              <a:gd name="T47" fmla="*/ 30 h 207"/>
              <a:gd name="T48" fmla="*/ 696 w 710"/>
              <a:gd name="T49" fmla="*/ 16 h 207"/>
              <a:gd name="T50" fmla="*/ 697 w 710"/>
              <a:gd name="T51" fmla="*/ 28 h 207"/>
              <a:gd name="T52" fmla="*/ 677 w 710"/>
              <a:gd name="T53" fmla="*/ 53 h 207"/>
              <a:gd name="T54" fmla="*/ 653 w 710"/>
              <a:gd name="T55" fmla="*/ 78 h 207"/>
              <a:gd name="T56" fmla="*/ 637 w 710"/>
              <a:gd name="T57" fmla="*/ 102 h 207"/>
              <a:gd name="T58" fmla="*/ 637 w 710"/>
              <a:gd name="T59" fmla="*/ 128 h 207"/>
              <a:gd name="T60" fmla="*/ 654 w 710"/>
              <a:gd name="T61" fmla="*/ 155 h 207"/>
              <a:gd name="T62" fmla="*/ 676 w 710"/>
              <a:gd name="T63" fmla="*/ 174 h 207"/>
              <a:gd name="T64" fmla="*/ 695 w 710"/>
              <a:gd name="T65" fmla="*/ 190 h 207"/>
              <a:gd name="T66" fmla="*/ 696 w 710"/>
              <a:gd name="T67" fmla="*/ 199 h 207"/>
              <a:gd name="T68" fmla="*/ 669 w 710"/>
              <a:gd name="T69" fmla="*/ 198 h 207"/>
              <a:gd name="T70" fmla="*/ 645 w 710"/>
              <a:gd name="T71" fmla="*/ 192 h 207"/>
              <a:gd name="T72" fmla="*/ 623 w 710"/>
              <a:gd name="T73" fmla="*/ 180 h 207"/>
              <a:gd name="T74" fmla="*/ 585 w 710"/>
              <a:gd name="T75" fmla="*/ 157 h 207"/>
              <a:gd name="T76" fmla="*/ 540 w 710"/>
              <a:gd name="T77" fmla="*/ 154 h 207"/>
              <a:gd name="T78" fmla="*/ 484 w 710"/>
              <a:gd name="T79" fmla="*/ 160 h 207"/>
              <a:gd name="T80" fmla="*/ 449 w 710"/>
              <a:gd name="T81" fmla="*/ 174 h 207"/>
              <a:gd name="T82" fmla="*/ 438 w 710"/>
              <a:gd name="T83" fmla="*/ 190 h 207"/>
              <a:gd name="T84" fmla="*/ 388 w 710"/>
              <a:gd name="T85" fmla="*/ 188 h 207"/>
              <a:gd name="T86" fmla="*/ 347 w 710"/>
              <a:gd name="T87" fmla="*/ 201 h 207"/>
              <a:gd name="T88" fmla="*/ 192 w 710"/>
              <a:gd name="T89" fmla="*/ 206 h 207"/>
              <a:gd name="T90" fmla="*/ 104 w 710"/>
              <a:gd name="T91" fmla="*/ 197 h 207"/>
              <a:gd name="T92" fmla="*/ 26 w 710"/>
              <a:gd name="T93" fmla="*/ 172 h 207"/>
              <a:gd name="T94" fmla="*/ 26 w 710"/>
              <a:gd name="T95" fmla="*/ 158 h 207"/>
              <a:gd name="T96" fmla="*/ 8 w 710"/>
              <a:gd name="T97" fmla="*/ 142 h 207"/>
              <a:gd name="T98" fmla="*/ 2 w 710"/>
              <a:gd name="T99" fmla="*/ 132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10" h="207">
                <a:moveTo>
                  <a:pt x="0" y="128"/>
                </a:moveTo>
                <a:lnTo>
                  <a:pt x="3" y="126"/>
                </a:lnTo>
                <a:lnTo>
                  <a:pt x="8" y="123"/>
                </a:lnTo>
                <a:lnTo>
                  <a:pt x="16" y="119"/>
                </a:lnTo>
                <a:lnTo>
                  <a:pt x="22" y="117"/>
                </a:lnTo>
                <a:lnTo>
                  <a:pt x="30" y="114"/>
                </a:lnTo>
                <a:lnTo>
                  <a:pt x="41" y="111"/>
                </a:lnTo>
                <a:lnTo>
                  <a:pt x="52" y="107"/>
                </a:lnTo>
                <a:lnTo>
                  <a:pt x="62" y="104"/>
                </a:lnTo>
                <a:lnTo>
                  <a:pt x="73" y="102"/>
                </a:lnTo>
                <a:lnTo>
                  <a:pt x="84" y="100"/>
                </a:lnTo>
                <a:lnTo>
                  <a:pt x="97" y="97"/>
                </a:lnTo>
                <a:lnTo>
                  <a:pt x="109" y="95"/>
                </a:lnTo>
                <a:lnTo>
                  <a:pt x="120" y="93"/>
                </a:lnTo>
                <a:lnTo>
                  <a:pt x="131" y="91"/>
                </a:lnTo>
                <a:lnTo>
                  <a:pt x="141" y="89"/>
                </a:lnTo>
                <a:lnTo>
                  <a:pt x="155" y="86"/>
                </a:lnTo>
                <a:lnTo>
                  <a:pt x="166" y="84"/>
                </a:lnTo>
                <a:lnTo>
                  <a:pt x="177" y="82"/>
                </a:lnTo>
                <a:lnTo>
                  <a:pt x="187" y="81"/>
                </a:lnTo>
                <a:lnTo>
                  <a:pt x="195" y="78"/>
                </a:lnTo>
                <a:lnTo>
                  <a:pt x="202" y="75"/>
                </a:lnTo>
                <a:lnTo>
                  <a:pt x="207" y="73"/>
                </a:lnTo>
                <a:lnTo>
                  <a:pt x="212" y="69"/>
                </a:lnTo>
                <a:lnTo>
                  <a:pt x="217" y="65"/>
                </a:lnTo>
                <a:lnTo>
                  <a:pt x="222" y="59"/>
                </a:lnTo>
                <a:lnTo>
                  <a:pt x="229" y="53"/>
                </a:lnTo>
                <a:lnTo>
                  <a:pt x="236" y="44"/>
                </a:lnTo>
                <a:lnTo>
                  <a:pt x="244" y="37"/>
                </a:lnTo>
                <a:lnTo>
                  <a:pt x="253" y="29"/>
                </a:lnTo>
                <a:lnTo>
                  <a:pt x="260" y="21"/>
                </a:lnTo>
                <a:lnTo>
                  <a:pt x="269" y="15"/>
                </a:lnTo>
                <a:lnTo>
                  <a:pt x="278" y="8"/>
                </a:lnTo>
                <a:lnTo>
                  <a:pt x="288" y="0"/>
                </a:lnTo>
                <a:lnTo>
                  <a:pt x="292" y="13"/>
                </a:lnTo>
                <a:lnTo>
                  <a:pt x="295" y="25"/>
                </a:lnTo>
                <a:lnTo>
                  <a:pt x="300" y="37"/>
                </a:lnTo>
                <a:lnTo>
                  <a:pt x="303" y="51"/>
                </a:lnTo>
                <a:lnTo>
                  <a:pt x="305" y="61"/>
                </a:lnTo>
                <a:lnTo>
                  <a:pt x="305" y="68"/>
                </a:lnTo>
                <a:lnTo>
                  <a:pt x="301" y="74"/>
                </a:lnTo>
                <a:lnTo>
                  <a:pt x="312" y="76"/>
                </a:lnTo>
                <a:lnTo>
                  <a:pt x="323" y="78"/>
                </a:lnTo>
                <a:lnTo>
                  <a:pt x="337" y="80"/>
                </a:lnTo>
                <a:lnTo>
                  <a:pt x="353" y="83"/>
                </a:lnTo>
                <a:lnTo>
                  <a:pt x="369" y="86"/>
                </a:lnTo>
                <a:lnTo>
                  <a:pt x="381" y="88"/>
                </a:lnTo>
                <a:lnTo>
                  <a:pt x="394" y="90"/>
                </a:lnTo>
                <a:lnTo>
                  <a:pt x="406" y="91"/>
                </a:lnTo>
                <a:lnTo>
                  <a:pt x="417" y="92"/>
                </a:lnTo>
                <a:lnTo>
                  <a:pt x="425" y="90"/>
                </a:lnTo>
                <a:lnTo>
                  <a:pt x="433" y="86"/>
                </a:lnTo>
                <a:lnTo>
                  <a:pt x="440" y="81"/>
                </a:lnTo>
                <a:lnTo>
                  <a:pt x="458" y="84"/>
                </a:lnTo>
                <a:lnTo>
                  <a:pt x="477" y="88"/>
                </a:lnTo>
                <a:lnTo>
                  <a:pt x="493" y="91"/>
                </a:lnTo>
                <a:lnTo>
                  <a:pt x="483" y="101"/>
                </a:lnTo>
                <a:lnTo>
                  <a:pt x="489" y="103"/>
                </a:lnTo>
                <a:lnTo>
                  <a:pt x="498" y="106"/>
                </a:lnTo>
                <a:lnTo>
                  <a:pt x="508" y="108"/>
                </a:lnTo>
                <a:lnTo>
                  <a:pt x="519" y="110"/>
                </a:lnTo>
                <a:lnTo>
                  <a:pt x="529" y="109"/>
                </a:lnTo>
                <a:lnTo>
                  <a:pt x="540" y="108"/>
                </a:lnTo>
                <a:lnTo>
                  <a:pt x="551" y="105"/>
                </a:lnTo>
                <a:lnTo>
                  <a:pt x="562" y="102"/>
                </a:lnTo>
                <a:lnTo>
                  <a:pt x="573" y="95"/>
                </a:lnTo>
                <a:lnTo>
                  <a:pt x="587" y="86"/>
                </a:lnTo>
                <a:lnTo>
                  <a:pt x="596" y="77"/>
                </a:lnTo>
                <a:lnTo>
                  <a:pt x="610" y="65"/>
                </a:lnTo>
                <a:lnTo>
                  <a:pt x="623" y="51"/>
                </a:lnTo>
                <a:lnTo>
                  <a:pt x="639" y="39"/>
                </a:lnTo>
                <a:lnTo>
                  <a:pt x="653" y="30"/>
                </a:lnTo>
                <a:lnTo>
                  <a:pt x="666" y="22"/>
                </a:lnTo>
                <a:lnTo>
                  <a:pt x="679" y="18"/>
                </a:lnTo>
                <a:lnTo>
                  <a:pt x="696" y="16"/>
                </a:lnTo>
                <a:lnTo>
                  <a:pt x="709" y="16"/>
                </a:lnTo>
                <a:lnTo>
                  <a:pt x="702" y="22"/>
                </a:lnTo>
                <a:lnTo>
                  <a:pt x="697" y="28"/>
                </a:lnTo>
                <a:lnTo>
                  <a:pt x="695" y="32"/>
                </a:lnTo>
                <a:lnTo>
                  <a:pt x="685" y="46"/>
                </a:lnTo>
                <a:lnTo>
                  <a:pt x="677" y="53"/>
                </a:lnTo>
                <a:lnTo>
                  <a:pt x="668" y="60"/>
                </a:lnTo>
                <a:lnTo>
                  <a:pt x="659" y="69"/>
                </a:lnTo>
                <a:lnTo>
                  <a:pt x="653" y="78"/>
                </a:lnTo>
                <a:lnTo>
                  <a:pt x="647" y="86"/>
                </a:lnTo>
                <a:lnTo>
                  <a:pt x="641" y="95"/>
                </a:lnTo>
                <a:lnTo>
                  <a:pt x="637" y="102"/>
                </a:lnTo>
                <a:lnTo>
                  <a:pt x="635" y="110"/>
                </a:lnTo>
                <a:lnTo>
                  <a:pt x="634" y="119"/>
                </a:lnTo>
                <a:lnTo>
                  <a:pt x="637" y="128"/>
                </a:lnTo>
                <a:lnTo>
                  <a:pt x="641" y="138"/>
                </a:lnTo>
                <a:lnTo>
                  <a:pt x="647" y="146"/>
                </a:lnTo>
                <a:lnTo>
                  <a:pt x="654" y="155"/>
                </a:lnTo>
                <a:lnTo>
                  <a:pt x="661" y="161"/>
                </a:lnTo>
                <a:lnTo>
                  <a:pt x="668" y="167"/>
                </a:lnTo>
                <a:lnTo>
                  <a:pt x="676" y="174"/>
                </a:lnTo>
                <a:lnTo>
                  <a:pt x="684" y="182"/>
                </a:lnTo>
                <a:lnTo>
                  <a:pt x="689" y="186"/>
                </a:lnTo>
                <a:lnTo>
                  <a:pt x="695" y="190"/>
                </a:lnTo>
                <a:lnTo>
                  <a:pt x="700" y="194"/>
                </a:lnTo>
                <a:lnTo>
                  <a:pt x="704" y="198"/>
                </a:lnTo>
                <a:lnTo>
                  <a:pt x="696" y="199"/>
                </a:lnTo>
                <a:lnTo>
                  <a:pt x="686" y="199"/>
                </a:lnTo>
                <a:lnTo>
                  <a:pt x="677" y="199"/>
                </a:lnTo>
                <a:lnTo>
                  <a:pt x="669" y="198"/>
                </a:lnTo>
                <a:lnTo>
                  <a:pt x="659" y="197"/>
                </a:lnTo>
                <a:lnTo>
                  <a:pt x="652" y="194"/>
                </a:lnTo>
                <a:lnTo>
                  <a:pt x="645" y="192"/>
                </a:lnTo>
                <a:lnTo>
                  <a:pt x="638" y="189"/>
                </a:lnTo>
                <a:lnTo>
                  <a:pt x="630" y="185"/>
                </a:lnTo>
                <a:lnTo>
                  <a:pt x="623" y="180"/>
                </a:lnTo>
                <a:lnTo>
                  <a:pt x="609" y="171"/>
                </a:lnTo>
                <a:lnTo>
                  <a:pt x="599" y="165"/>
                </a:lnTo>
                <a:lnTo>
                  <a:pt x="585" y="157"/>
                </a:lnTo>
                <a:lnTo>
                  <a:pt x="572" y="155"/>
                </a:lnTo>
                <a:lnTo>
                  <a:pt x="558" y="156"/>
                </a:lnTo>
                <a:lnTo>
                  <a:pt x="540" y="154"/>
                </a:lnTo>
                <a:lnTo>
                  <a:pt x="523" y="156"/>
                </a:lnTo>
                <a:lnTo>
                  <a:pt x="504" y="156"/>
                </a:lnTo>
                <a:lnTo>
                  <a:pt x="484" y="160"/>
                </a:lnTo>
                <a:lnTo>
                  <a:pt x="464" y="165"/>
                </a:lnTo>
                <a:lnTo>
                  <a:pt x="452" y="169"/>
                </a:lnTo>
                <a:lnTo>
                  <a:pt x="449" y="174"/>
                </a:lnTo>
                <a:lnTo>
                  <a:pt x="452" y="178"/>
                </a:lnTo>
                <a:lnTo>
                  <a:pt x="461" y="184"/>
                </a:lnTo>
                <a:lnTo>
                  <a:pt x="438" y="190"/>
                </a:lnTo>
                <a:lnTo>
                  <a:pt x="405" y="198"/>
                </a:lnTo>
                <a:lnTo>
                  <a:pt x="397" y="192"/>
                </a:lnTo>
                <a:lnTo>
                  <a:pt x="388" y="188"/>
                </a:lnTo>
                <a:lnTo>
                  <a:pt x="379" y="186"/>
                </a:lnTo>
                <a:lnTo>
                  <a:pt x="365" y="185"/>
                </a:lnTo>
                <a:lnTo>
                  <a:pt x="347" y="201"/>
                </a:lnTo>
                <a:lnTo>
                  <a:pt x="331" y="189"/>
                </a:lnTo>
                <a:lnTo>
                  <a:pt x="215" y="205"/>
                </a:lnTo>
                <a:lnTo>
                  <a:pt x="192" y="206"/>
                </a:lnTo>
                <a:lnTo>
                  <a:pt x="171" y="205"/>
                </a:lnTo>
                <a:lnTo>
                  <a:pt x="148" y="203"/>
                </a:lnTo>
                <a:lnTo>
                  <a:pt x="104" y="197"/>
                </a:lnTo>
                <a:lnTo>
                  <a:pt x="63" y="187"/>
                </a:lnTo>
                <a:lnTo>
                  <a:pt x="41" y="179"/>
                </a:lnTo>
                <a:lnTo>
                  <a:pt x="26" y="172"/>
                </a:lnTo>
                <a:lnTo>
                  <a:pt x="42" y="168"/>
                </a:lnTo>
                <a:lnTo>
                  <a:pt x="32" y="163"/>
                </a:lnTo>
                <a:lnTo>
                  <a:pt x="26" y="158"/>
                </a:lnTo>
                <a:lnTo>
                  <a:pt x="14" y="149"/>
                </a:lnTo>
                <a:lnTo>
                  <a:pt x="12" y="146"/>
                </a:lnTo>
                <a:lnTo>
                  <a:pt x="8" y="142"/>
                </a:lnTo>
                <a:lnTo>
                  <a:pt x="6" y="140"/>
                </a:lnTo>
                <a:lnTo>
                  <a:pt x="4" y="135"/>
                </a:lnTo>
                <a:lnTo>
                  <a:pt x="2" y="132"/>
                </a:lnTo>
                <a:lnTo>
                  <a:pt x="0" y="128"/>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72" name="Group 52"/>
          <p:cNvGrpSpPr>
            <a:grpSpLocks/>
          </p:cNvGrpSpPr>
          <p:nvPr/>
        </p:nvGrpSpPr>
        <p:grpSpPr bwMode="auto">
          <a:xfrm>
            <a:off x="4391025" y="3265488"/>
            <a:ext cx="12700" cy="11112"/>
            <a:chOff x="1806" y="2057"/>
            <a:chExt cx="8" cy="7"/>
          </a:xfrm>
        </p:grpSpPr>
        <p:sp>
          <p:nvSpPr>
            <p:cNvPr id="5170" name="Oval 50" descr="50%"/>
            <p:cNvSpPr>
              <a:spLocks noChangeArrowheads="1"/>
            </p:cNvSpPr>
            <p:nvPr/>
          </p:nvSpPr>
          <p:spPr bwMode="auto">
            <a:xfrm>
              <a:off x="1806" y="2057"/>
              <a:ext cx="6" cy="6"/>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Arc 51" descr="50%"/>
            <p:cNvSpPr>
              <a:spLocks/>
            </p:cNvSpPr>
            <p:nvPr/>
          </p:nvSpPr>
          <p:spPr bwMode="auto">
            <a:xfrm>
              <a:off x="1807" y="2057"/>
              <a:ext cx="7" cy="7"/>
            </a:xfrm>
            <a:custGeom>
              <a:avLst/>
              <a:gdLst>
                <a:gd name="G0" fmla="+- 21600 0 0"/>
                <a:gd name="G1" fmla="+- 20955 0 0"/>
                <a:gd name="G2" fmla="+- 21600 0 0"/>
                <a:gd name="T0" fmla="*/ 26839 w 43200"/>
                <a:gd name="T1" fmla="*/ 0 h 42555"/>
                <a:gd name="T2" fmla="*/ 11940 w 43200"/>
                <a:gd name="T3" fmla="*/ 1635 h 42555"/>
                <a:gd name="T4" fmla="*/ 21600 w 43200"/>
                <a:gd name="T5" fmla="*/ 20955 h 42555"/>
              </a:gdLst>
              <a:ahLst/>
              <a:cxnLst>
                <a:cxn ang="0">
                  <a:pos x="T0" y="T1"/>
                </a:cxn>
                <a:cxn ang="0">
                  <a:pos x="T2" y="T3"/>
                </a:cxn>
                <a:cxn ang="0">
                  <a:pos x="T4" y="T5"/>
                </a:cxn>
              </a:cxnLst>
              <a:rect l="0" t="0" r="r" b="b"/>
              <a:pathLst>
                <a:path w="43200" h="42555" fill="none"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path>
                <a:path w="43200" h="42555" stroke="0"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lnTo>
                    <a:pt x="21600" y="20955"/>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78" name="Group 58"/>
          <p:cNvGrpSpPr>
            <a:grpSpLocks/>
          </p:cNvGrpSpPr>
          <p:nvPr/>
        </p:nvGrpSpPr>
        <p:grpSpPr bwMode="auto">
          <a:xfrm>
            <a:off x="4454526" y="3292475"/>
            <a:ext cx="60325" cy="39688"/>
            <a:chOff x="1846" y="2074"/>
            <a:chExt cx="38" cy="25"/>
          </a:xfrm>
        </p:grpSpPr>
        <p:sp>
          <p:nvSpPr>
            <p:cNvPr id="5173" name="Arc 53" descr="50%"/>
            <p:cNvSpPr>
              <a:spLocks/>
            </p:cNvSpPr>
            <p:nvPr/>
          </p:nvSpPr>
          <p:spPr bwMode="auto">
            <a:xfrm>
              <a:off x="1855" y="2074"/>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Arc 54" descr="50%"/>
            <p:cNvSpPr>
              <a:spLocks/>
            </p:cNvSpPr>
            <p:nvPr/>
          </p:nvSpPr>
          <p:spPr bwMode="auto">
            <a:xfrm>
              <a:off x="1846" y="2074"/>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Arc 55" descr="50%"/>
            <p:cNvSpPr>
              <a:spLocks/>
            </p:cNvSpPr>
            <p:nvPr/>
          </p:nvSpPr>
          <p:spPr bwMode="auto">
            <a:xfrm>
              <a:off x="1864" y="2074"/>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6" name="Arc 56" descr="50%"/>
            <p:cNvSpPr>
              <a:spLocks/>
            </p:cNvSpPr>
            <p:nvPr/>
          </p:nvSpPr>
          <p:spPr bwMode="auto">
            <a:xfrm>
              <a:off x="1874" y="2074"/>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Arc 57" descr="50%"/>
            <p:cNvSpPr>
              <a:spLocks/>
            </p:cNvSpPr>
            <p:nvPr/>
          </p:nvSpPr>
          <p:spPr bwMode="auto">
            <a:xfrm>
              <a:off x="1884" y="2074"/>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79" name="Freeform 59" descr="50%"/>
          <p:cNvSpPr>
            <a:spLocks/>
          </p:cNvSpPr>
          <p:nvPr/>
        </p:nvSpPr>
        <p:spPr bwMode="auto">
          <a:xfrm>
            <a:off x="4292601" y="3052764"/>
            <a:ext cx="1109663" cy="212725"/>
          </a:xfrm>
          <a:custGeom>
            <a:avLst/>
            <a:gdLst>
              <a:gd name="T0" fmla="*/ 15 w 699"/>
              <a:gd name="T1" fmla="*/ 112 h 134"/>
              <a:gd name="T2" fmla="*/ 47 w 699"/>
              <a:gd name="T3" fmla="*/ 102 h 134"/>
              <a:gd name="T4" fmla="*/ 94 w 699"/>
              <a:gd name="T5" fmla="*/ 91 h 134"/>
              <a:gd name="T6" fmla="*/ 140 w 699"/>
              <a:gd name="T7" fmla="*/ 83 h 134"/>
              <a:gd name="T8" fmla="*/ 185 w 699"/>
              <a:gd name="T9" fmla="*/ 75 h 134"/>
              <a:gd name="T10" fmla="*/ 211 w 699"/>
              <a:gd name="T11" fmla="*/ 64 h 134"/>
              <a:gd name="T12" fmla="*/ 233 w 699"/>
              <a:gd name="T13" fmla="*/ 42 h 134"/>
              <a:gd name="T14" fmla="*/ 267 w 699"/>
              <a:gd name="T15" fmla="*/ 12 h 134"/>
              <a:gd name="T16" fmla="*/ 291 w 699"/>
              <a:gd name="T17" fmla="*/ 24 h 134"/>
              <a:gd name="T18" fmla="*/ 300 w 699"/>
              <a:gd name="T19" fmla="*/ 58 h 134"/>
              <a:gd name="T20" fmla="*/ 318 w 699"/>
              <a:gd name="T21" fmla="*/ 73 h 134"/>
              <a:gd name="T22" fmla="*/ 376 w 699"/>
              <a:gd name="T23" fmla="*/ 83 h 134"/>
              <a:gd name="T24" fmla="*/ 419 w 699"/>
              <a:gd name="T25" fmla="*/ 85 h 134"/>
              <a:gd name="T26" fmla="*/ 471 w 699"/>
              <a:gd name="T27" fmla="*/ 83 h 134"/>
              <a:gd name="T28" fmla="*/ 491 w 699"/>
              <a:gd name="T29" fmla="*/ 99 h 134"/>
              <a:gd name="T30" fmla="*/ 532 w 699"/>
              <a:gd name="T31" fmla="*/ 102 h 134"/>
              <a:gd name="T32" fmla="*/ 579 w 699"/>
              <a:gd name="T33" fmla="*/ 80 h 134"/>
              <a:gd name="T34" fmla="*/ 616 w 699"/>
              <a:gd name="T35" fmla="*/ 47 h 134"/>
              <a:gd name="T36" fmla="*/ 645 w 699"/>
              <a:gd name="T37" fmla="*/ 27 h 134"/>
              <a:gd name="T38" fmla="*/ 671 w 699"/>
              <a:gd name="T39" fmla="*/ 16 h 134"/>
              <a:gd name="T40" fmla="*/ 693 w 699"/>
              <a:gd name="T41" fmla="*/ 19 h 134"/>
              <a:gd name="T42" fmla="*/ 675 w 699"/>
              <a:gd name="T43" fmla="*/ 42 h 134"/>
              <a:gd name="T44" fmla="*/ 652 w 699"/>
              <a:gd name="T45" fmla="*/ 62 h 134"/>
              <a:gd name="T46" fmla="*/ 638 w 699"/>
              <a:gd name="T47" fmla="*/ 79 h 134"/>
              <a:gd name="T48" fmla="*/ 628 w 699"/>
              <a:gd name="T49" fmla="*/ 95 h 134"/>
              <a:gd name="T50" fmla="*/ 625 w 699"/>
              <a:gd name="T51" fmla="*/ 111 h 134"/>
              <a:gd name="T52" fmla="*/ 605 w 699"/>
              <a:gd name="T53" fmla="*/ 108 h 134"/>
              <a:gd name="T54" fmla="*/ 587 w 699"/>
              <a:gd name="T55" fmla="*/ 114 h 134"/>
              <a:gd name="T56" fmla="*/ 567 w 699"/>
              <a:gd name="T57" fmla="*/ 111 h 134"/>
              <a:gd name="T58" fmla="*/ 544 w 699"/>
              <a:gd name="T59" fmla="*/ 112 h 134"/>
              <a:gd name="T60" fmla="*/ 520 w 699"/>
              <a:gd name="T61" fmla="*/ 110 h 134"/>
              <a:gd name="T62" fmla="*/ 493 w 699"/>
              <a:gd name="T63" fmla="*/ 112 h 134"/>
              <a:gd name="T64" fmla="*/ 466 w 699"/>
              <a:gd name="T65" fmla="*/ 116 h 134"/>
              <a:gd name="T66" fmla="*/ 439 w 699"/>
              <a:gd name="T67" fmla="*/ 117 h 134"/>
              <a:gd name="T68" fmla="*/ 413 w 699"/>
              <a:gd name="T69" fmla="*/ 117 h 134"/>
              <a:gd name="T70" fmla="*/ 389 w 699"/>
              <a:gd name="T71" fmla="*/ 120 h 134"/>
              <a:gd name="T72" fmla="*/ 363 w 699"/>
              <a:gd name="T73" fmla="*/ 125 h 134"/>
              <a:gd name="T74" fmla="*/ 332 w 699"/>
              <a:gd name="T75" fmla="*/ 125 h 134"/>
              <a:gd name="T76" fmla="*/ 305 w 699"/>
              <a:gd name="T77" fmla="*/ 127 h 134"/>
              <a:gd name="T78" fmla="*/ 279 w 699"/>
              <a:gd name="T79" fmla="*/ 123 h 134"/>
              <a:gd name="T80" fmla="*/ 253 w 699"/>
              <a:gd name="T81" fmla="*/ 125 h 134"/>
              <a:gd name="T82" fmla="*/ 232 w 699"/>
              <a:gd name="T83" fmla="*/ 123 h 134"/>
              <a:gd name="T84" fmla="*/ 207 w 699"/>
              <a:gd name="T85" fmla="*/ 125 h 134"/>
              <a:gd name="T86" fmla="*/ 179 w 699"/>
              <a:gd name="T87" fmla="*/ 127 h 134"/>
              <a:gd name="T88" fmla="*/ 143 w 699"/>
              <a:gd name="T89" fmla="*/ 133 h 134"/>
              <a:gd name="T90" fmla="*/ 102 w 699"/>
              <a:gd name="T91" fmla="*/ 133 h 134"/>
              <a:gd name="T92" fmla="*/ 68 w 699"/>
              <a:gd name="T93" fmla="*/ 127 h 134"/>
              <a:gd name="T94" fmla="*/ 37 w 699"/>
              <a:gd name="T95" fmla="*/ 129 h 134"/>
              <a:gd name="T96" fmla="*/ 7 w 699"/>
              <a:gd name="T97" fmla="*/ 1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9" h="134">
                <a:moveTo>
                  <a:pt x="0" y="120"/>
                </a:moveTo>
                <a:lnTo>
                  <a:pt x="4" y="117"/>
                </a:lnTo>
                <a:lnTo>
                  <a:pt x="9" y="115"/>
                </a:lnTo>
                <a:lnTo>
                  <a:pt x="15" y="112"/>
                </a:lnTo>
                <a:lnTo>
                  <a:pt x="21" y="110"/>
                </a:lnTo>
                <a:lnTo>
                  <a:pt x="29" y="108"/>
                </a:lnTo>
                <a:lnTo>
                  <a:pt x="39" y="105"/>
                </a:lnTo>
                <a:lnTo>
                  <a:pt x="47" y="102"/>
                </a:lnTo>
                <a:lnTo>
                  <a:pt x="58" y="99"/>
                </a:lnTo>
                <a:lnTo>
                  <a:pt x="70" y="96"/>
                </a:lnTo>
                <a:lnTo>
                  <a:pt x="82" y="93"/>
                </a:lnTo>
                <a:lnTo>
                  <a:pt x="94" y="91"/>
                </a:lnTo>
                <a:lnTo>
                  <a:pt x="106" y="90"/>
                </a:lnTo>
                <a:lnTo>
                  <a:pt x="118" y="88"/>
                </a:lnTo>
                <a:lnTo>
                  <a:pt x="129" y="85"/>
                </a:lnTo>
                <a:lnTo>
                  <a:pt x="140" y="83"/>
                </a:lnTo>
                <a:lnTo>
                  <a:pt x="149" y="81"/>
                </a:lnTo>
                <a:lnTo>
                  <a:pt x="163" y="79"/>
                </a:lnTo>
                <a:lnTo>
                  <a:pt x="174" y="77"/>
                </a:lnTo>
                <a:lnTo>
                  <a:pt x="185" y="75"/>
                </a:lnTo>
                <a:lnTo>
                  <a:pt x="193" y="74"/>
                </a:lnTo>
                <a:lnTo>
                  <a:pt x="200" y="71"/>
                </a:lnTo>
                <a:lnTo>
                  <a:pt x="206" y="67"/>
                </a:lnTo>
                <a:lnTo>
                  <a:pt x="211" y="64"/>
                </a:lnTo>
                <a:lnTo>
                  <a:pt x="215" y="59"/>
                </a:lnTo>
                <a:lnTo>
                  <a:pt x="219" y="55"/>
                </a:lnTo>
                <a:lnTo>
                  <a:pt x="226" y="48"/>
                </a:lnTo>
                <a:lnTo>
                  <a:pt x="233" y="42"/>
                </a:lnTo>
                <a:lnTo>
                  <a:pt x="241" y="34"/>
                </a:lnTo>
                <a:lnTo>
                  <a:pt x="249" y="27"/>
                </a:lnTo>
                <a:lnTo>
                  <a:pt x="257" y="19"/>
                </a:lnTo>
                <a:lnTo>
                  <a:pt x="267" y="12"/>
                </a:lnTo>
                <a:lnTo>
                  <a:pt x="276" y="6"/>
                </a:lnTo>
                <a:lnTo>
                  <a:pt x="283" y="0"/>
                </a:lnTo>
                <a:lnTo>
                  <a:pt x="286" y="11"/>
                </a:lnTo>
                <a:lnTo>
                  <a:pt x="291" y="24"/>
                </a:lnTo>
                <a:lnTo>
                  <a:pt x="295" y="36"/>
                </a:lnTo>
                <a:lnTo>
                  <a:pt x="298" y="47"/>
                </a:lnTo>
                <a:lnTo>
                  <a:pt x="300" y="52"/>
                </a:lnTo>
                <a:lnTo>
                  <a:pt x="300" y="58"/>
                </a:lnTo>
                <a:lnTo>
                  <a:pt x="300" y="63"/>
                </a:lnTo>
                <a:lnTo>
                  <a:pt x="295" y="69"/>
                </a:lnTo>
                <a:lnTo>
                  <a:pt x="306" y="72"/>
                </a:lnTo>
                <a:lnTo>
                  <a:pt x="318" y="73"/>
                </a:lnTo>
                <a:lnTo>
                  <a:pt x="332" y="75"/>
                </a:lnTo>
                <a:lnTo>
                  <a:pt x="348" y="78"/>
                </a:lnTo>
                <a:lnTo>
                  <a:pt x="364" y="81"/>
                </a:lnTo>
                <a:lnTo>
                  <a:pt x="376" y="83"/>
                </a:lnTo>
                <a:lnTo>
                  <a:pt x="389" y="85"/>
                </a:lnTo>
                <a:lnTo>
                  <a:pt x="400" y="86"/>
                </a:lnTo>
                <a:lnTo>
                  <a:pt x="410" y="87"/>
                </a:lnTo>
                <a:lnTo>
                  <a:pt x="419" y="85"/>
                </a:lnTo>
                <a:lnTo>
                  <a:pt x="427" y="81"/>
                </a:lnTo>
                <a:lnTo>
                  <a:pt x="434" y="75"/>
                </a:lnTo>
                <a:lnTo>
                  <a:pt x="452" y="78"/>
                </a:lnTo>
                <a:lnTo>
                  <a:pt x="471" y="83"/>
                </a:lnTo>
                <a:lnTo>
                  <a:pt x="484" y="86"/>
                </a:lnTo>
                <a:lnTo>
                  <a:pt x="476" y="94"/>
                </a:lnTo>
                <a:lnTo>
                  <a:pt x="482" y="96"/>
                </a:lnTo>
                <a:lnTo>
                  <a:pt x="491" y="99"/>
                </a:lnTo>
                <a:lnTo>
                  <a:pt x="501" y="102"/>
                </a:lnTo>
                <a:lnTo>
                  <a:pt x="512" y="103"/>
                </a:lnTo>
                <a:lnTo>
                  <a:pt x="522" y="102"/>
                </a:lnTo>
                <a:lnTo>
                  <a:pt x="532" y="102"/>
                </a:lnTo>
                <a:lnTo>
                  <a:pt x="543" y="99"/>
                </a:lnTo>
                <a:lnTo>
                  <a:pt x="555" y="96"/>
                </a:lnTo>
                <a:lnTo>
                  <a:pt x="566" y="90"/>
                </a:lnTo>
                <a:lnTo>
                  <a:pt x="579" y="80"/>
                </a:lnTo>
                <a:lnTo>
                  <a:pt x="589" y="72"/>
                </a:lnTo>
                <a:lnTo>
                  <a:pt x="602" y="61"/>
                </a:lnTo>
                <a:lnTo>
                  <a:pt x="607" y="56"/>
                </a:lnTo>
                <a:lnTo>
                  <a:pt x="616" y="47"/>
                </a:lnTo>
                <a:lnTo>
                  <a:pt x="624" y="42"/>
                </a:lnTo>
                <a:lnTo>
                  <a:pt x="631" y="36"/>
                </a:lnTo>
                <a:lnTo>
                  <a:pt x="639" y="31"/>
                </a:lnTo>
                <a:lnTo>
                  <a:pt x="645" y="27"/>
                </a:lnTo>
                <a:lnTo>
                  <a:pt x="652" y="24"/>
                </a:lnTo>
                <a:lnTo>
                  <a:pt x="658" y="21"/>
                </a:lnTo>
                <a:lnTo>
                  <a:pt x="664" y="18"/>
                </a:lnTo>
                <a:lnTo>
                  <a:pt x="671" y="16"/>
                </a:lnTo>
                <a:lnTo>
                  <a:pt x="677" y="15"/>
                </a:lnTo>
                <a:lnTo>
                  <a:pt x="686" y="15"/>
                </a:lnTo>
                <a:lnTo>
                  <a:pt x="698" y="15"/>
                </a:lnTo>
                <a:lnTo>
                  <a:pt x="693" y="19"/>
                </a:lnTo>
                <a:lnTo>
                  <a:pt x="688" y="25"/>
                </a:lnTo>
                <a:lnTo>
                  <a:pt x="685" y="29"/>
                </a:lnTo>
                <a:lnTo>
                  <a:pt x="680" y="36"/>
                </a:lnTo>
                <a:lnTo>
                  <a:pt x="675" y="42"/>
                </a:lnTo>
                <a:lnTo>
                  <a:pt x="668" y="48"/>
                </a:lnTo>
                <a:lnTo>
                  <a:pt x="659" y="54"/>
                </a:lnTo>
                <a:lnTo>
                  <a:pt x="655" y="58"/>
                </a:lnTo>
                <a:lnTo>
                  <a:pt x="652" y="62"/>
                </a:lnTo>
                <a:lnTo>
                  <a:pt x="647" y="67"/>
                </a:lnTo>
                <a:lnTo>
                  <a:pt x="645" y="71"/>
                </a:lnTo>
                <a:lnTo>
                  <a:pt x="641" y="75"/>
                </a:lnTo>
                <a:lnTo>
                  <a:pt x="638" y="79"/>
                </a:lnTo>
                <a:lnTo>
                  <a:pt x="636" y="84"/>
                </a:lnTo>
                <a:lnTo>
                  <a:pt x="633" y="88"/>
                </a:lnTo>
                <a:lnTo>
                  <a:pt x="630" y="91"/>
                </a:lnTo>
                <a:lnTo>
                  <a:pt x="628" y="95"/>
                </a:lnTo>
                <a:lnTo>
                  <a:pt x="627" y="99"/>
                </a:lnTo>
                <a:lnTo>
                  <a:pt x="626" y="103"/>
                </a:lnTo>
                <a:lnTo>
                  <a:pt x="625" y="108"/>
                </a:lnTo>
                <a:lnTo>
                  <a:pt x="625" y="111"/>
                </a:lnTo>
                <a:lnTo>
                  <a:pt x="621" y="109"/>
                </a:lnTo>
                <a:lnTo>
                  <a:pt x="615" y="108"/>
                </a:lnTo>
                <a:lnTo>
                  <a:pt x="610" y="108"/>
                </a:lnTo>
                <a:lnTo>
                  <a:pt x="605" y="108"/>
                </a:lnTo>
                <a:lnTo>
                  <a:pt x="600" y="110"/>
                </a:lnTo>
                <a:lnTo>
                  <a:pt x="596" y="111"/>
                </a:lnTo>
                <a:lnTo>
                  <a:pt x="592" y="112"/>
                </a:lnTo>
                <a:lnTo>
                  <a:pt x="587" y="114"/>
                </a:lnTo>
                <a:lnTo>
                  <a:pt x="582" y="114"/>
                </a:lnTo>
                <a:lnTo>
                  <a:pt x="576" y="113"/>
                </a:lnTo>
                <a:lnTo>
                  <a:pt x="570" y="112"/>
                </a:lnTo>
                <a:lnTo>
                  <a:pt x="567" y="111"/>
                </a:lnTo>
                <a:lnTo>
                  <a:pt x="562" y="110"/>
                </a:lnTo>
                <a:lnTo>
                  <a:pt x="557" y="110"/>
                </a:lnTo>
                <a:lnTo>
                  <a:pt x="550" y="111"/>
                </a:lnTo>
                <a:lnTo>
                  <a:pt x="544" y="112"/>
                </a:lnTo>
                <a:lnTo>
                  <a:pt x="539" y="112"/>
                </a:lnTo>
                <a:lnTo>
                  <a:pt x="532" y="112"/>
                </a:lnTo>
                <a:lnTo>
                  <a:pt x="526" y="110"/>
                </a:lnTo>
                <a:lnTo>
                  <a:pt x="520" y="110"/>
                </a:lnTo>
                <a:lnTo>
                  <a:pt x="514" y="112"/>
                </a:lnTo>
                <a:lnTo>
                  <a:pt x="506" y="113"/>
                </a:lnTo>
                <a:lnTo>
                  <a:pt x="500" y="113"/>
                </a:lnTo>
                <a:lnTo>
                  <a:pt x="493" y="112"/>
                </a:lnTo>
                <a:lnTo>
                  <a:pt x="487" y="111"/>
                </a:lnTo>
                <a:lnTo>
                  <a:pt x="480" y="112"/>
                </a:lnTo>
                <a:lnTo>
                  <a:pt x="474" y="115"/>
                </a:lnTo>
                <a:lnTo>
                  <a:pt x="466" y="116"/>
                </a:lnTo>
                <a:lnTo>
                  <a:pt x="460" y="117"/>
                </a:lnTo>
                <a:lnTo>
                  <a:pt x="453" y="118"/>
                </a:lnTo>
                <a:lnTo>
                  <a:pt x="447" y="118"/>
                </a:lnTo>
                <a:lnTo>
                  <a:pt x="439" y="117"/>
                </a:lnTo>
                <a:lnTo>
                  <a:pt x="432" y="115"/>
                </a:lnTo>
                <a:lnTo>
                  <a:pt x="424" y="117"/>
                </a:lnTo>
                <a:lnTo>
                  <a:pt x="419" y="117"/>
                </a:lnTo>
                <a:lnTo>
                  <a:pt x="413" y="117"/>
                </a:lnTo>
                <a:lnTo>
                  <a:pt x="407" y="117"/>
                </a:lnTo>
                <a:lnTo>
                  <a:pt x="401" y="117"/>
                </a:lnTo>
                <a:lnTo>
                  <a:pt x="394" y="118"/>
                </a:lnTo>
                <a:lnTo>
                  <a:pt x="389" y="120"/>
                </a:lnTo>
                <a:lnTo>
                  <a:pt x="384" y="122"/>
                </a:lnTo>
                <a:lnTo>
                  <a:pt x="377" y="124"/>
                </a:lnTo>
                <a:lnTo>
                  <a:pt x="371" y="125"/>
                </a:lnTo>
                <a:lnTo>
                  <a:pt x="363" y="125"/>
                </a:lnTo>
                <a:lnTo>
                  <a:pt x="356" y="126"/>
                </a:lnTo>
                <a:lnTo>
                  <a:pt x="347" y="125"/>
                </a:lnTo>
                <a:lnTo>
                  <a:pt x="338" y="125"/>
                </a:lnTo>
                <a:lnTo>
                  <a:pt x="332" y="125"/>
                </a:lnTo>
                <a:lnTo>
                  <a:pt x="324" y="126"/>
                </a:lnTo>
                <a:lnTo>
                  <a:pt x="318" y="126"/>
                </a:lnTo>
                <a:lnTo>
                  <a:pt x="311" y="127"/>
                </a:lnTo>
                <a:lnTo>
                  <a:pt x="305" y="127"/>
                </a:lnTo>
                <a:lnTo>
                  <a:pt x="297" y="126"/>
                </a:lnTo>
                <a:lnTo>
                  <a:pt x="290" y="125"/>
                </a:lnTo>
                <a:lnTo>
                  <a:pt x="285" y="123"/>
                </a:lnTo>
                <a:lnTo>
                  <a:pt x="279" y="123"/>
                </a:lnTo>
                <a:lnTo>
                  <a:pt x="273" y="123"/>
                </a:lnTo>
                <a:lnTo>
                  <a:pt x="267" y="124"/>
                </a:lnTo>
                <a:lnTo>
                  <a:pt x="259" y="125"/>
                </a:lnTo>
                <a:lnTo>
                  <a:pt x="253" y="125"/>
                </a:lnTo>
                <a:lnTo>
                  <a:pt x="248" y="125"/>
                </a:lnTo>
                <a:lnTo>
                  <a:pt x="244" y="125"/>
                </a:lnTo>
                <a:lnTo>
                  <a:pt x="238" y="123"/>
                </a:lnTo>
                <a:lnTo>
                  <a:pt x="232" y="123"/>
                </a:lnTo>
                <a:lnTo>
                  <a:pt x="226" y="123"/>
                </a:lnTo>
                <a:lnTo>
                  <a:pt x="221" y="124"/>
                </a:lnTo>
                <a:lnTo>
                  <a:pt x="215" y="125"/>
                </a:lnTo>
                <a:lnTo>
                  <a:pt x="207" y="125"/>
                </a:lnTo>
                <a:lnTo>
                  <a:pt x="199" y="125"/>
                </a:lnTo>
                <a:lnTo>
                  <a:pt x="193" y="125"/>
                </a:lnTo>
                <a:lnTo>
                  <a:pt x="186" y="126"/>
                </a:lnTo>
                <a:lnTo>
                  <a:pt x="179" y="127"/>
                </a:lnTo>
                <a:lnTo>
                  <a:pt x="172" y="129"/>
                </a:lnTo>
                <a:lnTo>
                  <a:pt x="165" y="130"/>
                </a:lnTo>
                <a:lnTo>
                  <a:pt x="155" y="132"/>
                </a:lnTo>
                <a:lnTo>
                  <a:pt x="143" y="133"/>
                </a:lnTo>
                <a:lnTo>
                  <a:pt x="132" y="133"/>
                </a:lnTo>
                <a:lnTo>
                  <a:pt x="122" y="132"/>
                </a:lnTo>
                <a:lnTo>
                  <a:pt x="109" y="133"/>
                </a:lnTo>
                <a:lnTo>
                  <a:pt x="102" y="133"/>
                </a:lnTo>
                <a:lnTo>
                  <a:pt x="96" y="132"/>
                </a:lnTo>
                <a:lnTo>
                  <a:pt x="89" y="133"/>
                </a:lnTo>
                <a:lnTo>
                  <a:pt x="81" y="132"/>
                </a:lnTo>
                <a:lnTo>
                  <a:pt x="68" y="127"/>
                </a:lnTo>
                <a:lnTo>
                  <a:pt x="60" y="128"/>
                </a:lnTo>
                <a:lnTo>
                  <a:pt x="52" y="129"/>
                </a:lnTo>
                <a:lnTo>
                  <a:pt x="44" y="129"/>
                </a:lnTo>
                <a:lnTo>
                  <a:pt x="37" y="129"/>
                </a:lnTo>
                <a:lnTo>
                  <a:pt x="29" y="128"/>
                </a:lnTo>
                <a:lnTo>
                  <a:pt x="22" y="127"/>
                </a:lnTo>
                <a:lnTo>
                  <a:pt x="14" y="125"/>
                </a:lnTo>
                <a:lnTo>
                  <a:pt x="7" y="123"/>
                </a:lnTo>
                <a:lnTo>
                  <a:pt x="1" y="122"/>
                </a:lnTo>
                <a:lnTo>
                  <a:pt x="0" y="12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82" name="Group 62"/>
          <p:cNvGrpSpPr>
            <a:grpSpLocks/>
          </p:cNvGrpSpPr>
          <p:nvPr/>
        </p:nvGrpSpPr>
        <p:grpSpPr bwMode="auto">
          <a:xfrm>
            <a:off x="4516439" y="3319464"/>
            <a:ext cx="161925" cy="109537"/>
            <a:chOff x="1885" y="2091"/>
            <a:chExt cx="102" cy="69"/>
          </a:xfrm>
        </p:grpSpPr>
        <p:sp>
          <p:nvSpPr>
            <p:cNvPr id="5180" name="Freeform 60" descr="50%"/>
            <p:cNvSpPr>
              <a:spLocks/>
            </p:cNvSpPr>
            <p:nvPr/>
          </p:nvSpPr>
          <p:spPr bwMode="auto">
            <a:xfrm>
              <a:off x="1885" y="2096"/>
              <a:ext cx="102" cy="64"/>
            </a:xfrm>
            <a:custGeom>
              <a:avLst/>
              <a:gdLst>
                <a:gd name="T0" fmla="*/ 95 w 102"/>
                <a:gd name="T1" fmla="*/ 57 h 64"/>
                <a:gd name="T2" fmla="*/ 89 w 102"/>
                <a:gd name="T3" fmla="*/ 51 h 64"/>
                <a:gd name="T4" fmla="*/ 86 w 102"/>
                <a:gd name="T5" fmla="*/ 47 h 64"/>
                <a:gd name="T6" fmla="*/ 83 w 102"/>
                <a:gd name="T7" fmla="*/ 44 h 64"/>
                <a:gd name="T8" fmla="*/ 80 w 102"/>
                <a:gd name="T9" fmla="*/ 41 h 64"/>
                <a:gd name="T10" fmla="*/ 77 w 102"/>
                <a:gd name="T11" fmla="*/ 37 h 64"/>
                <a:gd name="T12" fmla="*/ 75 w 102"/>
                <a:gd name="T13" fmla="*/ 34 h 64"/>
                <a:gd name="T14" fmla="*/ 72 w 102"/>
                <a:gd name="T15" fmla="*/ 30 h 64"/>
                <a:gd name="T16" fmla="*/ 70 w 102"/>
                <a:gd name="T17" fmla="*/ 25 h 64"/>
                <a:gd name="T18" fmla="*/ 68 w 102"/>
                <a:gd name="T19" fmla="*/ 21 h 64"/>
                <a:gd name="T20" fmla="*/ 67 w 102"/>
                <a:gd name="T21" fmla="*/ 16 h 64"/>
                <a:gd name="T22" fmla="*/ 66 w 102"/>
                <a:gd name="T23" fmla="*/ 11 h 64"/>
                <a:gd name="T24" fmla="*/ 66 w 102"/>
                <a:gd name="T25" fmla="*/ 6 h 64"/>
                <a:gd name="T26" fmla="*/ 65 w 102"/>
                <a:gd name="T27" fmla="*/ 0 h 64"/>
                <a:gd name="T28" fmla="*/ 0 w 102"/>
                <a:gd name="T29" fmla="*/ 0 h 64"/>
                <a:gd name="T30" fmla="*/ 2 w 102"/>
                <a:gd name="T31" fmla="*/ 4 h 64"/>
                <a:gd name="T32" fmla="*/ 5 w 102"/>
                <a:gd name="T33" fmla="*/ 9 h 64"/>
                <a:gd name="T34" fmla="*/ 9 w 102"/>
                <a:gd name="T35" fmla="*/ 14 h 64"/>
                <a:gd name="T36" fmla="*/ 12 w 102"/>
                <a:gd name="T37" fmla="*/ 18 h 64"/>
                <a:gd name="T38" fmla="*/ 17 w 102"/>
                <a:gd name="T39" fmla="*/ 23 h 64"/>
                <a:gd name="T40" fmla="*/ 22 w 102"/>
                <a:gd name="T41" fmla="*/ 28 h 64"/>
                <a:gd name="T42" fmla="*/ 27 w 102"/>
                <a:gd name="T43" fmla="*/ 32 h 64"/>
                <a:gd name="T44" fmla="*/ 32 w 102"/>
                <a:gd name="T45" fmla="*/ 36 h 64"/>
                <a:gd name="T46" fmla="*/ 38 w 102"/>
                <a:gd name="T47" fmla="*/ 41 h 64"/>
                <a:gd name="T48" fmla="*/ 45 w 102"/>
                <a:gd name="T49" fmla="*/ 46 h 64"/>
                <a:gd name="T50" fmla="*/ 51 w 102"/>
                <a:gd name="T51" fmla="*/ 49 h 64"/>
                <a:gd name="T52" fmla="*/ 56 w 102"/>
                <a:gd name="T53" fmla="*/ 52 h 64"/>
                <a:gd name="T54" fmla="*/ 61 w 102"/>
                <a:gd name="T55" fmla="*/ 54 h 64"/>
                <a:gd name="T56" fmla="*/ 67 w 102"/>
                <a:gd name="T57" fmla="*/ 57 h 64"/>
                <a:gd name="T58" fmla="*/ 72 w 102"/>
                <a:gd name="T59" fmla="*/ 59 h 64"/>
                <a:gd name="T60" fmla="*/ 79 w 102"/>
                <a:gd name="T61" fmla="*/ 60 h 64"/>
                <a:gd name="T62" fmla="*/ 86 w 102"/>
                <a:gd name="T63" fmla="*/ 61 h 64"/>
                <a:gd name="T64" fmla="*/ 91 w 102"/>
                <a:gd name="T65" fmla="*/ 62 h 64"/>
                <a:gd name="T66" fmla="*/ 97 w 102"/>
                <a:gd name="T67" fmla="*/ 62 h 64"/>
                <a:gd name="T68" fmla="*/ 101 w 102"/>
                <a:gd name="T69" fmla="*/ 63 h 64"/>
                <a:gd name="T70" fmla="*/ 95 w 102"/>
                <a:gd name="T71"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64">
                  <a:moveTo>
                    <a:pt x="95" y="57"/>
                  </a:moveTo>
                  <a:lnTo>
                    <a:pt x="89" y="51"/>
                  </a:lnTo>
                  <a:lnTo>
                    <a:pt x="86" y="47"/>
                  </a:lnTo>
                  <a:lnTo>
                    <a:pt x="83" y="44"/>
                  </a:lnTo>
                  <a:lnTo>
                    <a:pt x="80" y="41"/>
                  </a:lnTo>
                  <a:lnTo>
                    <a:pt x="77" y="37"/>
                  </a:lnTo>
                  <a:lnTo>
                    <a:pt x="75" y="34"/>
                  </a:lnTo>
                  <a:lnTo>
                    <a:pt x="72" y="30"/>
                  </a:lnTo>
                  <a:lnTo>
                    <a:pt x="70" y="25"/>
                  </a:lnTo>
                  <a:lnTo>
                    <a:pt x="68" y="21"/>
                  </a:lnTo>
                  <a:lnTo>
                    <a:pt x="67" y="16"/>
                  </a:lnTo>
                  <a:lnTo>
                    <a:pt x="66" y="11"/>
                  </a:lnTo>
                  <a:lnTo>
                    <a:pt x="66" y="6"/>
                  </a:lnTo>
                  <a:lnTo>
                    <a:pt x="65" y="0"/>
                  </a:lnTo>
                  <a:lnTo>
                    <a:pt x="0" y="0"/>
                  </a:lnTo>
                  <a:lnTo>
                    <a:pt x="2" y="4"/>
                  </a:lnTo>
                  <a:lnTo>
                    <a:pt x="5" y="9"/>
                  </a:lnTo>
                  <a:lnTo>
                    <a:pt x="9" y="14"/>
                  </a:lnTo>
                  <a:lnTo>
                    <a:pt x="12" y="18"/>
                  </a:lnTo>
                  <a:lnTo>
                    <a:pt x="17" y="23"/>
                  </a:lnTo>
                  <a:lnTo>
                    <a:pt x="22" y="28"/>
                  </a:lnTo>
                  <a:lnTo>
                    <a:pt x="27" y="32"/>
                  </a:lnTo>
                  <a:lnTo>
                    <a:pt x="32" y="36"/>
                  </a:lnTo>
                  <a:lnTo>
                    <a:pt x="38" y="41"/>
                  </a:lnTo>
                  <a:lnTo>
                    <a:pt x="45" y="46"/>
                  </a:lnTo>
                  <a:lnTo>
                    <a:pt x="51" y="49"/>
                  </a:lnTo>
                  <a:lnTo>
                    <a:pt x="56" y="52"/>
                  </a:lnTo>
                  <a:lnTo>
                    <a:pt x="61" y="54"/>
                  </a:lnTo>
                  <a:lnTo>
                    <a:pt x="67" y="57"/>
                  </a:lnTo>
                  <a:lnTo>
                    <a:pt x="72" y="59"/>
                  </a:lnTo>
                  <a:lnTo>
                    <a:pt x="79" y="60"/>
                  </a:lnTo>
                  <a:lnTo>
                    <a:pt x="86" y="61"/>
                  </a:lnTo>
                  <a:lnTo>
                    <a:pt x="91" y="62"/>
                  </a:lnTo>
                  <a:lnTo>
                    <a:pt x="97" y="62"/>
                  </a:lnTo>
                  <a:lnTo>
                    <a:pt x="101" y="63"/>
                  </a:lnTo>
                  <a:lnTo>
                    <a:pt x="95" y="5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1" name="Freeform 61" descr="50%"/>
            <p:cNvSpPr>
              <a:spLocks/>
            </p:cNvSpPr>
            <p:nvPr/>
          </p:nvSpPr>
          <p:spPr bwMode="auto">
            <a:xfrm>
              <a:off x="1887" y="2091"/>
              <a:ext cx="56" cy="5"/>
            </a:xfrm>
            <a:custGeom>
              <a:avLst/>
              <a:gdLst>
                <a:gd name="T0" fmla="*/ 0 w 56"/>
                <a:gd name="T1" fmla="*/ 4 h 5"/>
                <a:gd name="T2" fmla="*/ 0 w 56"/>
                <a:gd name="T3" fmla="*/ 3 h 5"/>
                <a:gd name="T4" fmla="*/ 1 w 56"/>
                <a:gd name="T5" fmla="*/ 0 h 5"/>
                <a:gd name="T6" fmla="*/ 55 w 56"/>
                <a:gd name="T7" fmla="*/ 0 h 5"/>
                <a:gd name="T8" fmla="*/ 55 w 56"/>
                <a:gd name="T9" fmla="*/ 4 h 5"/>
                <a:gd name="T10" fmla="*/ 0 w 56"/>
                <a:gd name="T11" fmla="*/ 4 h 5"/>
              </a:gdLst>
              <a:ahLst/>
              <a:cxnLst>
                <a:cxn ang="0">
                  <a:pos x="T0" y="T1"/>
                </a:cxn>
                <a:cxn ang="0">
                  <a:pos x="T2" y="T3"/>
                </a:cxn>
                <a:cxn ang="0">
                  <a:pos x="T4" y="T5"/>
                </a:cxn>
                <a:cxn ang="0">
                  <a:pos x="T6" y="T7"/>
                </a:cxn>
                <a:cxn ang="0">
                  <a:pos x="T8" y="T9"/>
                </a:cxn>
                <a:cxn ang="0">
                  <a:pos x="T10" y="T11"/>
                </a:cxn>
              </a:cxnLst>
              <a:rect l="0" t="0" r="r" b="b"/>
              <a:pathLst>
                <a:path w="56" h="5">
                  <a:moveTo>
                    <a:pt x="0" y="4"/>
                  </a:moveTo>
                  <a:lnTo>
                    <a:pt x="0" y="3"/>
                  </a:lnTo>
                  <a:lnTo>
                    <a:pt x="1" y="0"/>
                  </a:lnTo>
                  <a:lnTo>
                    <a:pt x="55" y="0"/>
                  </a:lnTo>
                  <a:lnTo>
                    <a:pt x="55" y="4"/>
                  </a:lnTo>
                  <a:lnTo>
                    <a:pt x="0" y="4"/>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83" name="Freeform 63" descr="50%"/>
          <p:cNvSpPr>
            <a:spLocks/>
          </p:cNvSpPr>
          <p:nvPr/>
        </p:nvSpPr>
        <p:spPr bwMode="auto">
          <a:xfrm>
            <a:off x="3603626" y="3279776"/>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4" name="Freeform 64" descr="50%"/>
          <p:cNvSpPr>
            <a:spLocks/>
          </p:cNvSpPr>
          <p:nvPr/>
        </p:nvSpPr>
        <p:spPr bwMode="auto">
          <a:xfrm>
            <a:off x="3411539" y="3108325"/>
            <a:ext cx="763587" cy="230188"/>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87" name="Group 67"/>
          <p:cNvGrpSpPr>
            <a:grpSpLocks/>
          </p:cNvGrpSpPr>
          <p:nvPr/>
        </p:nvGrpSpPr>
        <p:grpSpPr bwMode="auto">
          <a:xfrm>
            <a:off x="3475038" y="3254376"/>
            <a:ext cx="11112" cy="11113"/>
            <a:chOff x="1229" y="2050"/>
            <a:chExt cx="7" cy="7"/>
          </a:xfrm>
        </p:grpSpPr>
        <p:sp>
          <p:nvSpPr>
            <p:cNvPr id="5185" name="Oval 65" descr="50%"/>
            <p:cNvSpPr>
              <a:spLocks noChangeArrowheads="1"/>
            </p:cNvSpPr>
            <p:nvPr/>
          </p:nvSpPr>
          <p:spPr bwMode="auto">
            <a:xfrm>
              <a:off x="1229" y="2050"/>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Arc 66" descr="50%"/>
            <p:cNvSpPr>
              <a:spLocks/>
            </p:cNvSpPr>
            <p:nvPr/>
          </p:nvSpPr>
          <p:spPr bwMode="auto">
            <a:xfrm>
              <a:off x="1233" y="2053"/>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93" name="Group 73"/>
          <p:cNvGrpSpPr>
            <a:grpSpLocks/>
          </p:cNvGrpSpPr>
          <p:nvPr/>
        </p:nvGrpSpPr>
        <p:grpSpPr bwMode="auto">
          <a:xfrm>
            <a:off x="3517901" y="3279775"/>
            <a:ext cx="47625" cy="20638"/>
            <a:chOff x="1256" y="2066"/>
            <a:chExt cx="30" cy="13"/>
          </a:xfrm>
        </p:grpSpPr>
        <p:sp>
          <p:nvSpPr>
            <p:cNvPr id="5188" name="Arc 68" descr="50%"/>
            <p:cNvSpPr>
              <a:spLocks/>
            </p:cNvSpPr>
            <p:nvPr/>
          </p:nvSpPr>
          <p:spPr bwMode="auto">
            <a:xfrm>
              <a:off x="1264" y="2066"/>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Arc 69" descr="50%"/>
            <p:cNvSpPr>
              <a:spLocks/>
            </p:cNvSpPr>
            <p:nvPr/>
          </p:nvSpPr>
          <p:spPr bwMode="auto">
            <a:xfrm>
              <a:off x="1256" y="2066"/>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Arc 70" descr="50%"/>
            <p:cNvSpPr>
              <a:spLocks/>
            </p:cNvSpPr>
            <p:nvPr/>
          </p:nvSpPr>
          <p:spPr bwMode="auto">
            <a:xfrm>
              <a:off x="1269" y="2066"/>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Arc 71" descr="50%"/>
            <p:cNvSpPr>
              <a:spLocks/>
            </p:cNvSpPr>
            <p:nvPr/>
          </p:nvSpPr>
          <p:spPr bwMode="auto">
            <a:xfrm>
              <a:off x="1277" y="2066"/>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2" name="Arc 72" descr="50%"/>
            <p:cNvSpPr>
              <a:spLocks/>
            </p:cNvSpPr>
            <p:nvPr/>
          </p:nvSpPr>
          <p:spPr bwMode="auto">
            <a:xfrm>
              <a:off x="1284" y="2066"/>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94" name="Freeform 74" descr="50%"/>
          <p:cNvSpPr>
            <a:spLocks/>
          </p:cNvSpPr>
          <p:nvPr/>
        </p:nvSpPr>
        <p:spPr bwMode="auto">
          <a:xfrm>
            <a:off x="3413126" y="3109913"/>
            <a:ext cx="747713" cy="144462"/>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97" name="Group 77"/>
          <p:cNvGrpSpPr>
            <a:grpSpLocks/>
          </p:cNvGrpSpPr>
          <p:nvPr/>
        </p:nvGrpSpPr>
        <p:grpSpPr bwMode="auto">
          <a:xfrm>
            <a:off x="3565525" y="3292476"/>
            <a:ext cx="109538" cy="80963"/>
            <a:chOff x="1286" y="2074"/>
            <a:chExt cx="69" cy="51"/>
          </a:xfrm>
        </p:grpSpPr>
        <p:sp>
          <p:nvSpPr>
            <p:cNvPr id="5195" name="Freeform 75" descr="50%"/>
            <p:cNvSpPr>
              <a:spLocks/>
            </p:cNvSpPr>
            <p:nvPr/>
          </p:nvSpPr>
          <p:spPr bwMode="auto">
            <a:xfrm>
              <a:off x="1286" y="2080"/>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96" name="Freeform 76" descr="50%"/>
            <p:cNvSpPr>
              <a:spLocks/>
            </p:cNvSpPr>
            <p:nvPr/>
          </p:nvSpPr>
          <p:spPr bwMode="auto">
            <a:xfrm>
              <a:off x="1287" y="2074"/>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98" name="Rectangle 78"/>
          <p:cNvSpPr>
            <a:spLocks noChangeArrowheads="1"/>
          </p:cNvSpPr>
          <p:nvPr/>
        </p:nvSpPr>
        <p:spPr bwMode="auto">
          <a:xfrm>
            <a:off x="4100514" y="4633913"/>
            <a:ext cx="464069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Big Fishes Eating Little Fishes</a:t>
            </a:r>
          </a:p>
        </p:txBody>
      </p:sp>
    </p:spTree>
    <p:extLst>
      <p:ext uri="{BB962C8B-B14F-4D97-AF65-F5344CB8AC3E}">
        <p14:creationId xmlns:p14="http://schemas.microsoft.com/office/powerpoint/2010/main" val="1511797695"/>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1988 Computer Food Chain</a:t>
            </a:r>
          </a:p>
        </p:txBody>
      </p:sp>
      <p:sp>
        <p:nvSpPr>
          <p:cNvPr id="6147" name="Rectangle 3"/>
          <p:cNvSpPr>
            <a:spLocks noChangeArrowheads="1"/>
          </p:cNvSpPr>
          <p:nvPr/>
        </p:nvSpPr>
        <p:spPr bwMode="auto">
          <a:xfrm>
            <a:off x="9051080" y="3787775"/>
            <a:ext cx="50334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PC</a:t>
            </a:r>
          </a:p>
        </p:txBody>
      </p:sp>
      <p:sp>
        <p:nvSpPr>
          <p:cNvPr id="6148" name="Rectangle 4"/>
          <p:cNvSpPr>
            <a:spLocks noChangeArrowheads="1"/>
          </p:cNvSpPr>
          <p:nvPr/>
        </p:nvSpPr>
        <p:spPr bwMode="auto">
          <a:xfrm>
            <a:off x="8211143" y="3787776"/>
            <a:ext cx="862417"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Work-</a:t>
            </a:r>
          </a:p>
          <a:p>
            <a:pPr algn="ctr"/>
            <a:r>
              <a:rPr lang="en-US" altLang="zh-CN"/>
              <a:t>station</a:t>
            </a:r>
          </a:p>
        </p:txBody>
      </p:sp>
      <p:sp>
        <p:nvSpPr>
          <p:cNvPr id="6149" name="Rectangle 5"/>
          <p:cNvSpPr>
            <a:spLocks noChangeArrowheads="1"/>
          </p:cNvSpPr>
          <p:nvPr/>
        </p:nvSpPr>
        <p:spPr bwMode="auto">
          <a:xfrm>
            <a:off x="7079479" y="3940176"/>
            <a:ext cx="1144545"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computer</a:t>
            </a:r>
          </a:p>
        </p:txBody>
      </p:sp>
      <p:sp>
        <p:nvSpPr>
          <p:cNvPr id="6150" name="Rectangle 6"/>
          <p:cNvSpPr>
            <a:spLocks noChangeArrowheads="1"/>
          </p:cNvSpPr>
          <p:nvPr/>
        </p:nvSpPr>
        <p:spPr bwMode="auto">
          <a:xfrm>
            <a:off x="4024509" y="2949575"/>
            <a:ext cx="1272785"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Mainframe</a:t>
            </a:r>
          </a:p>
        </p:txBody>
      </p:sp>
      <p:sp>
        <p:nvSpPr>
          <p:cNvPr id="6151" name="Rectangle 7"/>
          <p:cNvSpPr>
            <a:spLocks noChangeArrowheads="1"/>
          </p:cNvSpPr>
          <p:nvPr/>
        </p:nvSpPr>
        <p:spPr bwMode="auto">
          <a:xfrm>
            <a:off x="5171689" y="4016376"/>
            <a:ext cx="1721626"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supercomputer</a:t>
            </a:r>
          </a:p>
        </p:txBody>
      </p:sp>
      <p:sp>
        <p:nvSpPr>
          <p:cNvPr id="6152" name="Rectangle 8"/>
          <p:cNvSpPr>
            <a:spLocks noChangeArrowheads="1"/>
          </p:cNvSpPr>
          <p:nvPr/>
        </p:nvSpPr>
        <p:spPr bwMode="auto">
          <a:xfrm>
            <a:off x="3095053" y="4092575"/>
            <a:ext cx="176009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Supercomputer</a:t>
            </a:r>
          </a:p>
        </p:txBody>
      </p:sp>
      <p:sp>
        <p:nvSpPr>
          <p:cNvPr id="6153" name="Freeform 9" descr="50%"/>
          <p:cNvSpPr>
            <a:spLocks/>
          </p:cNvSpPr>
          <p:nvPr/>
        </p:nvSpPr>
        <p:spPr bwMode="auto">
          <a:xfrm>
            <a:off x="3743326" y="2727325"/>
            <a:ext cx="436563" cy="317500"/>
          </a:xfrm>
          <a:custGeom>
            <a:avLst/>
            <a:gdLst>
              <a:gd name="T0" fmla="*/ 0 w 275"/>
              <a:gd name="T1" fmla="*/ 0 h 200"/>
              <a:gd name="T2" fmla="*/ 11 w 275"/>
              <a:gd name="T3" fmla="*/ 19 h 200"/>
              <a:gd name="T4" fmla="*/ 24 w 275"/>
              <a:gd name="T5" fmla="*/ 41 h 200"/>
              <a:gd name="T6" fmla="*/ 41 w 275"/>
              <a:gd name="T7" fmla="*/ 62 h 200"/>
              <a:gd name="T8" fmla="*/ 57 w 275"/>
              <a:gd name="T9" fmla="*/ 81 h 200"/>
              <a:gd name="T10" fmla="*/ 78 w 275"/>
              <a:gd name="T11" fmla="*/ 102 h 200"/>
              <a:gd name="T12" fmla="*/ 99 w 275"/>
              <a:gd name="T13" fmla="*/ 124 h 200"/>
              <a:gd name="T14" fmla="*/ 116 w 275"/>
              <a:gd name="T15" fmla="*/ 140 h 200"/>
              <a:gd name="T16" fmla="*/ 135 w 275"/>
              <a:gd name="T17" fmla="*/ 156 h 200"/>
              <a:gd name="T18" fmla="*/ 154 w 275"/>
              <a:gd name="T19" fmla="*/ 167 h 200"/>
              <a:gd name="T20" fmla="*/ 176 w 275"/>
              <a:gd name="T21" fmla="*/ 178 h 200"/>
              <a:gd name="T22" fmla="*/ 197 w 275"/>
              <a:gd name="T23" fmla="*/ 187 h 200"/>
              <a:gd name="T24" fmla="*/ 219 w 275"/>
              <a:gd name="T25" fmla="*/ 194 h 200"/>
              <a:gd name="T26" fmla="*/ 242 w 275"/>
              <a:gd name="T27" fmla="*/ 198 h 200"/>
              <a:gd name="T28" fmla="*/ 263 w 275"/>
              <a:gd name="T29" fmla="*/ 199 h 200"/>
              <a:gd name="T30" fmla="*/ 274 w 275"/>
              <a:gd name="T31" fmla="*/ 197 h 200"/>
              <a:gd name="T32" fmla="*/ 261 w 275"/>
              <a:gd name="T33" fmla="*/ 183 h 200"/>
              <a:gd name="T34" fmla="*/ 246 w 275"/>
              <a:gd name="T35" fmla="*/ 165 h 200"/>
              <a:gd name="T36" fmla="*/ 231 w 275"/>
              <a:gd name="T37" fmla="*/ 148 h 200"/>
              <a:gd name="T38" fmla="*/ 216 w 275"/>
              <a:gd name="T39" fmla="*/ 128 h 200"/>
              <a:gd name="T40" fmla="*/ 203 w 275"/>
              <a:gd name="T41" fmla="*/ 107 h 200"/>
              <a:gd name="T42" fmla="*/ 192 w 275"/>
              <a:gd name="T43" fmla="*/ 88 h 200"/>
              <a:gd name="T44" fmla="*/ 185 w 275"/>
              <a:gd name="T45" fmla="*/ 69 h 200"/>
              <a:gd name="T46" fmla="*/ 178 w 275"/>
              <a:gd name="T47" fmla="*/ 41 h 200"/>
              <a:gd name="T48" fmla="*/ 178 w 275"/>
              <a:gd name="T49" fmla="*/ 18 h 200"/>
              <a:gd name="T50" fmla="*/ 178 w 275"/>
              <a:gd name="T51" fmla="*/ 2 h 200"/>
              <a:gd name="T52" fmla="*/ 0 w 275"/>
              <a:gd name="T5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75" h="200">
                <a:moveTo>
                  <a:pt x="0" y="0"/>
                </a:moveTo>
                <a:lnTo>
                  <a:pt x="11" y="19"/>
                </a:lnTo>
                <a:lnTo>
                  <a:pt x="24" y="41"/>
                </a:lnTo>
                <a:lnTo>
                  <a:pt x="41" y="62"/>
                </a:lnTo>
                <a:lnTo>
                  <a:pt x="57" y="81"/>
                </a:lnTo>
                <a:lnTo>
                  <a:pt x="78" y="102"/>
                </a:lnTo>
                <a:lnTo>
                  <a:pt x="99" y="124"/>
                </a:lnTo>
                <a:lnTo>
                  <a:pt x="116" y="140"/>
                </a:lnTo>
                <a:lnTo>
                  <a:pt x="135" y="156"/>
                </a:lnTo>
                <a:lnTo>
                  <a:pt x="154" y="167"/>
                </a:lnTo>
                <a:lnTo>
                  <a:pt x="176" y="178"/>
                </a:lnTo>
                <a:lnTo>
                  <a:pt x="197" y="187"/>
                </a:lnTo>
                <a:lnTo>
                  <a:pt x="219" y="194"/>
                </a:lnTo>
                <a:lnTo>
                  <a:pt x="242" y="198"/>
                </a:lnTo>
                <a:lnTo>
                  <a:pt x="263" y="199"/>
                </a:lnTo>
                <a:lnTo>
                  <a:pt x="274" y="197"/>
                </a:lnTo>
                <a:lnTo>
                  <a:pt x="261" y="183"/>
                </a:lnTo>
                <a:lnTo>
                  <a:pt x="246" y="165"/>
                </a:lnTo>
                <a:lnTo>
                  <a:pt x="231" y="148"/>
                </a:lnTo>
                <a:lnTo>
                  <a:pt x="216" y="128"/>
                </a:lnTo>
                <a:lnTo>
                  <a:pt x="203" y="107"/>
                </a:lnTo>
                <a:lnTo>
                  <a:pt x="192" y="88"/>
                </a:lnTo>
                <a:lnTo>
                  <a:pt x="185" y="69"/>
                </a:lnTo>
                <a:lnTo>
                  <a:pt x="178" y="41"/>
                </a:lnTo>
                <a:lnTo>
                  <a:pt x="178" y="18"/>
                </a:lnTo>
                <a:lnTo>
                  <a:pt x="178"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Freeform 10" descr="50%"/>
          <p:cNvSpPr>
            <a:spLocks/>
          </p:cNvSpPr>
          <p:nvPr/>
        </p:nvSpPr>
        <p:spPr bwMode="auto">
          <a:xfrm>
            <a:off x="2805113" y="1949451"/>
            <a:ext cx="3713162" cy="1031875"/>
          </a:xfrm>
          <a:custGeom>
            <a:avLst/>
            <a:gdLst>
              <a:gd name="T0" fmla="*/ 26 w 2339"/>
              <a:gd name="T1" fmla="*/ 386 h 650"/>
              <a:gd name="T2" fmla="*/ 97 w 2339"/>
              <a:gd name="T3" fmla="*/ 360 h 650"/>
              <a:gd name="T4" fmla="*/ 205 w 2339"/>
              <a:gd name="T5" fmla="*/ 329 h 650"/>
              <a:gd name="T6" fmla="*/ 319 w 2339"/>
              <a:gd name="T7" fmla="*/ 306 h 650"/>
              <a:gd name="T8" fmla="*/ 432 w 2339"/>
              <a:gd name="T9" fmla="*/ 286 h 650"/>
              <a:gd name="T10" fmla="*/ 548 w 2339"/>
              <a:gd name="T11" fmla="*/ 265 h 650"/>
              <a:gd name="T12" fmla="*/ 643 w 2339"/>
              <a:gd name="T13" fmla="*/ 247 h 650"/>
              <a:gd name="T14" fmla="*/ 699 w 2339"/>
              <a:gd name="T15" fmla="*/ 218 h 650"/>
              <a:gd name="T16" fmla="*/ 753 w 2339"/>
              <a:gd name="T17" fmla="*/ 166 h 650"/>
              <a:gd name="T18" fmla="*/ 833 w 2339"/>
              <a:gd name="T19" fmla="*/ 91 h 650"/>
              <a:gd name="T20" fmla="*/ 915 w 2339"/>
              <a:gd name="T21" fmla="*/ 24 h 650"/>
              <a:gd name="T22" fmla="*/ 973 w 2339"/>
              <a:gd name="T23" fmla="*/ 79 h 650"/>
              <a:gd name="T24" fmla="*/ 1007 w 2339"/>
              <a:gd name="T25" fmla="*/ 193 h 650"/>
              <a:gd name="T26" fmla="*/ 1027 w 2339"/>
              <a:gd name="T27" fmla="*/ 238 h 650"/>
              <a:gd name="T28" fmla="*/ 1162 w 2339"/>
              <a:gd name="T29" fmla="*/ 260 h 650"/>
              <a:gd name="T30" fmla="*/ 1298 w 2339"/>
              <a:gd name="T31" fmla="*/ 284 h 650"/>
              <a:gd name="T32" fmla="*/ 1401 w 2339"/>
              <a:gd name="T33" fmla="*/ 284 h 650"/>
              <a:gd name="T34" fmla="*/ 1510 w 2339"/>
              <a:gd name="T35" fmla="*/ 263 h 650"/>
              <a:gd name="T36" fmla="*/ 1593 w 2339"/>
              <a:gd name="T37" fmla="*/ 317 h 650"/>
              <a:gd name="T38" fmla="*/ 1675 w 2339"/>
              <a:gd name="T39" fmla="*/ 340 h 650"/>
              <a:gd name="T40" fmla="*/ 1779 w 2339"/>
              <a:gd name="T41" fmla="*/ 339 h 650"/>
              <a:gd name="T42" fmla="*/ 1888 w 2339"/>
              <a:gd name="T43" fmla="*/ 300 h 650"/>
              <a:gd name="T44" fmla="*/ 2009 w 2339"/>
              <a:gd name="T45" fmla="*/ 204 h 650"/>
              <a:gd name="T46" fmla="*/ 2151 w 2339"/>
              <a:gd name="T47" fmla="*/ 94 h 650"/>
              <a:gd name="T48" fmla="*/ 2293 w 2339"/>
              <a:gd name="T49" fmla="*/ 49 h 650"/>
              <a:gd name="T50" fmla="*/ 2299 w 2339"/>
              <a:gd name="T51" fmla="*/ 87 h 650"/>
              <a:gd name="T52" fmla="*/ 2231 w 2339"/>
              <a:gd name="T53" fmla="*/ 166 h 650"/>
              <a:gd name="T54" fmla="*/ 2151 w 2339"/>
              <a:gd name="T55" fmla="*/ 244 h 650"/>
              <a:gd name="T56" fmla="*/ 2100 w 2339"/>
              <a:gd name="T57" fmla="*/ 322 h 650"/>
              <a:gd name="T58" fmla="*/ 2100 w 2339"/>
              <a:gd name="T59" fmla="*/ 403 h 650"/>
              <a:gd name="T60" fmla="*/ 2157 w 2339"/>
              <a:gd name="T61" fmla="*/ 486 h 650"/>
              <a:gd name="T62" fmla="*/ 2227 w 2339"/>
              <a:gd name="T63" fmla="*/ 549 h 650"/>
              <a:gd name="T64" fmla="*/ 2291 w 2339"/>
              <a:gd name="T65" fmla="*/ 599 h 650"/>
              <a:gd name="T66" fmla="*/ 2293 w 2339"/>
              <a:gd name="T67" fmla="*/ 624 h 650"/>
              <a:gd name="T68" fmla="*/ 2205 w 2339"/>
              <a:gd name="T69" fmla="*/ 622 h 650"/>
              <a:gd name="T70" fmla="*/ 2126 w 2339"/>
              <a:gd name="T71" fmla="*/ 603 h 650"/>
              <a:gd name="T72" fmla="*/ 2052 w 2339"/>
              <a:gd name="T73" fmla="*/ 567 h 650"/>
              <a:gd name="T74" fmla="*/ 1929 w 2339"/>
              <a:gd name="T75" fmla="*/ 494 h 650"/>
              <a:gd name="T76" fmla="*/ 1779 w 2339"/>
              <a:gd name="T77" fmla="*/ 483 h 650"/>
              <a:gd name="T78" fmla="*/ 1596 w 2339"/>
              <a:gd name="T79" fmla="*/ 503 h 650"/>
              <a:gd name="T80" fmla="*/ 1481 w 2339"/>
              <a:gd name="T81" fmla="*/ 546 h 650"/>
              <a:gd name="T82" fmla="*/ 1443 w 2339"/>
              <a:gd name="T83" fmla="*/ 596 h 650"/>
              <a:gd name="T84" fmla="*/ 1279 w 2339"/>
              <a:gd name="T85" fmla="*/ 592 h 650"/>
              <a:gd name="T86" fmla="*/ 1143 w 2339"/>
              <a:gd name="T87" fmla="*/ 633 h 650"/>
              <a:gd name="T88" fmla="*/ 633 w 2339"/>
              <a:gd name="T89" fmla="*/ 649 h 650"/>
              <a:gd name="T90" fmla="*/ 341 w 2339"/>
              <a:gd name="T91" fmla="*/ 621 h 650"/>
              <a:gd name="T92" fmla="*/ 84 w 2339"/>
              <a:gd name="T93" fmla="*/ 540 h 650"/>
              <a:gd name="T94" fmla="*/ 84 w 2339"/>
              <a:gd name="T95" fmla="*/ 498 h 650"/>
              <a:gd name="T96" fmla="*/ 27 w 2339"/>
              <a:gd name="T97" fmla="*/ 448 h 650"/>
              <a:gd name="T98" fmla="*/ 5 w 2339"/>
              <a:gd name="T99" fmla="*/ 414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39" h="650">
                <a:moveTo>
                  <a:pt x="0" y="402"/>
                </a:moveTo>
                <a:lnTo>
                  <a:pt x="8" y="396"/>
                </a:lnTo>
                <a:lnTo>
                  <a:pt x="26" y="386"/>
                </a:lnTo>
                <a:lnTo>
                  <a:pt x="53" y="375"/>
                </a:lnTo>
                <a:lnTo>
                  <a:pt x="73" y="369"/>
                </a:lnTo>
                <a:lnTo>
                  <a:pt x="97" y="360"/>
                </a:lnTo>
                <a:lnTo>
                  <a:pt x="134" y="348"/>
                </a:lnTo>
                <a:lnTo>
                  <a:pt x="170" y="338"/>
                </a:lnTo>
                <a:lnTo>
                  <a:pt x="205" y="329"/>
                </a:lnTo>
                <a:lnTo>
                  <a:pt x="240" y="320"/>
                </a:lnTo>
                <a:lnTo>
                  <a:pt x="278" y="313"/>
                </a:lnTo>
                <a:lnTo>
                  <a:pt x="319" y="306"/>
                </a:lnTo>
                <a:lnTo>
                  <a:pt x="360" y="298"/>
                </a:lnTo>
                <a:lnTo>
                  <a:pt x="396" y="292"/>
                </a:lnTo>
                <a:lnTo>
                  <a:pt x="432" y="286"/>
                </a:lnTo>
                <a:lnTo>
                  <a:pt x="464" y="280"/>
                </a:lnTo>
                <a:lnTo>
                  <a:pt x="510" y="271"/>
                </a:lnTo>
                <a:lnTo>
                  <a:pt x="548" y="265"/>
                </a:lnTo>
                <a:lnTo>
                  <a:pt x="584" y="259"/>
                </a:lnTo>
                <a:lnTo>
                  <a:pt x="615" y="254"/>
                </a:lnTo>
                <a:lnTo>
                  <a:pt x="643" y="247"/>
                </a:lnTo>
                <a:lnTo>
                  <a:pt x="667" y="237"/>
                </a:lnTo>
                <a:lnTo>
                  <a:pt x="683" y="229"/>
                </a:lnTo>
                <a:lnTo>
                  <a:pt x="699" y="218"/>
                </a:lnTo>
                <a:lnTo>
                  <a:pt x="715" y="204"/>
                </a:lnTo>
                <a:lnTo>
                  <a:pt x="732" y="186"/>
                </a:lnTo>
                <a:lnTo>
                  <a:pt x="753" y="166"/>
                </a:lnTo>
                <a:lnTo>
                  <a:pt x="779" y="140"/>
                </a:lnTo>
                <a:lnTo>
                  <a:pt x="804" y="116"/>
                </a:lnTo>
                <a:lnTo>
                  <a:pt x="833" y="91"/>
                </a:lnTo>
                <a:lnTo>
                  <a:pt x="858" y="67"/>
                </a:lnTo>
                <a:lnTo>
                  <a:pt x="886" y="46"/>
                </a:lnTo>
                <a:lnTo>
                  <a:pt x="915" y="24"/>
                </a:lnTo>
                <a:lnTo>
                  <a:pt x="950" y="0"/>
                </a:lnTo>
                <a:lnTo>
                  <a:pt x="961" y="42"/>
                </a:lnTo>
                <a:lnTo>
                  <a:pt x="973" y="79"/>
                </a:lnTo>
                <a:lnTo>
                  <a:pt x="987" y="118"/>
                </a:lnTo>
                <a:lnTo>
                  <a:pt x="999" y="159"/>
                </a:lnTo>
                <a:lnTo>
                  <a:pt x="1007" y="193"/>
                </a:lnTo>
                <a:lnTo>
                  <a:pt x="1004" y="214"/>
                </a:lnTo>
                <a:lnTo>
                  <a:pt x="991" y="233"/>
                </a:lnTo>
                <a:lnTo>
                  <a:pt x="1027" y="238"/>
                </a:lnTo>
                <a:lnTo>
                  <a:pt x="1064" y="244"/>
                </a:lnTo>
                <a:lnTo>
                  <a:pt x="1111" y="252"/>
                </a:lnTo>
                <a:lnTo>
                  <a:pt x="1162" y="260"/>
                </a:lnTo>
                <a:lnTo>
                  <a:pt x="1215" y="270"/>
                </a:lnTo>
                <a:lnTo>
                  <a:pt x="1255" y="278"/>
                </a:lnTo>
                <a:lnTo>
                  <a:pt x="1298" y="284"/>
                </a:lnTo>
                <a:lnTo>
                  <a:pt x="1339" y="288"/>
                </a:lnTo>
                <a:lnTo>
                  <a:pt x="1374" y="291"/>
                </a:lnTo>
                <a:lnTo>
                  <a:pt x="1401" y="284"/>
                </a:lnTo>
                <a:lnTo>
                  <a:pt x="1426" y="271"/>
                </a:lnTo>
                <a:lnTo>
                  <a:pt x="1452" y="254"/>
                </a:lnTo>
                <a:lnTo>
                  <a:pt x="1510" y="263"/>
                </a:lnTo>
                <a:lnTo>
                  <a:pt x="1572" y="278"/>
                </a:lnTo>
                <a:lnTo>
                  <a:pt x="1625" y="287"/>
                </a:lnTo>
                <a:lnTo>
                  <a:pt x="1593" y="317"/>
                </a:lnTo>
                <a:lnTo>
                  <a:pt x="1613" y="324"/>
                </a:lnTo>
                <a:lnTo>
                  <a:pt x="1643" y="333"/>
                </a:lnTo>
                <a:lnTo>
                  <a:pt x="1675" y="340"/>
                </a:lnTo>
                <a:lnTo>
                  <a:pt x="1711" y="345"/>
                </a:lnTo>
                <a:lnTo>
                  <a:pt x="1744" y="342"/>
                </a:lnTo>
                <a:lnTo>
                  <a:pt x="1779" y="339"/>
                </a:lnTo>
                <a:lnTo>
                  <a:pt x="1816" y="332"/>
                </a:lnTo>
                <a:lnTo>
                  <a:pt x="1854" y="320"/>
                </a:lnTo>
                <a:lnTo>
                  <a:pt x="1888" y="300"/>
                </a:lnTo>
                <a:lnTo>
                  <a:pt x="1934" y="270"/>
                </a:lnTo>
                <a:lnTo>
                  <a:pt x="1966" y="243"/>
                </a:lnTo>
                <a:lnTo>
                  <a:pt x="2009" y="204"/>
                </a:lnTo>
                <a:lnTo>
                  <a:pt x="2054" y="159"/>
                </a:lnTo>
                <a:lnTo>
                  <a:pt x="2107" y="122"/>
                </a:lnTo>
                <a:lnTo>
                  <a:pt x="2151" y="94"/>
                </a:lnTo>
                <a:lnTo>
                  <a:pt x="2197" y="71"/>
                </a:lnTo>
                <a:lnTo>
                  <a:pt x="2240" y="56"/>
                </a:lnTo>
                <a:lnTo>
                  <a:pt x="2293" y="49"/>
                </a:lnTo>
                <a:lnTo>
                  <a:pt x="2338" y="52"/>
                </a:lnTo>
                <a:lnTo>
                  <a:pt x="2315" y="71"/>
                </a:lnTo>
                <a:lnTo>
                  <a:pt x="2299" y="87"/>
                </a:lnTo>
                <a:lnTo>
                  <a:pt x="2291" y="100"/>
                </a:lnTo>
                <a:lnTo>
                  <a:pt x="2257" y="145"/>
                </a:lnTo>
                <a:lnTo>
                  <a:pt x="2231" y="166"/>
                </a:lnTo>
                <a:lnTo>
                  <a:pt x="2200" y="189"/>
                </a:lnTo>
                <a:lnTo>
                  <a:pt x="2173" y="217"/>
                </a:lnTo>
                <a:lnTo>
                  <a:pt x="2151" y="244"/>
                </a:lnTo>
                <a:lnTo>
                  <a:pt x="2132" y="271"/>
                </a:lnTo>
                <a:lnTo>
                  <a:pt x="2114" y="299"/>
                </a:lnTo>
                <a:lnTo>
                  <a:pt x="2100" y="322"/>
                </a:lnTo>
                <a:lnTo>
                  <a:pt x="2092" y="347"/>
                </a:lnTo>
                <a:lnTo>
                  <a:pt x="2089" y="375"/>
                </a:lnTo>
                <a:lnTo>
                  <a:pt x="2100" y="403"/>
                </a:lnTo>
                <a:lnTo>
                  <a:pt x="2114" y="434"/>
                </a:lnTo>
                <a:lnTo>
                  <a:pt x="2134" y="460"/>
                </a:lnTo>
                <a:lnTo>
                  <a:pt x="2157" y="486"/>
                </a:lnTo>
                <a:lnTo>
                  <a:pt x="2178" y="507"/>
                </a:lnTo>
                <a:lnTo>
                  <a:pt x="2202" y="526"/>
                </a:lnTo>
                <a:lnTo>
                  <a:pt x="2227" y="549"/>
                </a:lnTo>
                <a:lnTo>
                  <a:pt x="2256" y="571"/>
                </a:lnTo>
                <a:lnTo>
                  <a:pt x="2273" y="586"/>
                </a:lnTo>
                <a:lnTo>
                  <a:pt x="2291" y="599"/>
                </a:lnTo>
                <a:lnTo>
                  <a:pt x="2308" y="610"/>
                </a:lnTo>
                <a:lnTo>
                  <a:pt x="2320" y="623"/>
                </a:lnTo>
                <a:lnTo>
                  <a:pt x="2293" y="624"/>
                </a:lnTo>
                <a:lnTo>
                  <a:pt x="2261" y="624"/>
                </a:lnTo>
                <a:lnTo>
                  <a:pt x="2231" y="625"/>
                </a:lnTo>
                <a:lnTo>
                  <a:pt x="2205" y="622"/>
                </a:lnTo>
                <a:lnTo>
                  <a:pt x="2173" y="618"/>
                </a:lnTo>
                <a:lnTo>
                  <a:pt x="2149" y="611"/>
                </a:lnTo>
                <a:lnTo>
                  <a:pt x="2126" y="603"/>
                </a:lnTo>
                <a:lnTo>
                  <a:pt x="2103" y="593"/>
                </a:lnTo>
                <a:lnTo>
                  <a:pt x="2076" y="581"/>
                </a:lnTo>
                <a:lnTo>
                  <a:pt x="2052" y="567"/>
                </a:lnTo>
                <a:lnTo>
                  <a:pt x="2006" y="537"/>
                </a:lnTo>
                <a:lnTo>
                  <a:pt x="1974" y="518"/>
                </a:lnTo>
                <a:lnTo>
                  <a:pt x="1929" y="494"/>
                </a:lnTo>
                <a:lnTo>
                  <a:pt x="1886" y="488"/>
                </a:lnTo>
                <a:lnTo>
                  <a:pt x="1840" y="490"/>
                </a:lnTo>
                <a:lnTo>
                  <a:pt x="1779" y="483"/>
                </a:lnTo>
                <a:lnTo>
                  <a:pt x="1722" y="490"/>
                </a:lnTo>
                <a:lnTo>
                  <a:pt x="1660" y="492"/>
                </a:lnTo>
                <a:lnTo>
                  <a:pt x="1596" y="503"/>
                </a:lnTo>
                <a:lnTo>
                  <a:pt x="1529" y="518"/>
                </a:lnTo>
                <a:lnTo>
                  <a:pt x="1489" y="533"/>
                </a:lnTo>
                <a:lnTo>
                  <a:pt x="1481" y="546"/>
                </a:lnTo>
                <a:lnTo>
                  <a:pt x="1489" y="559"/>
                </a:lnTo>
                <a:lnTo>
                  <a:pt x="1521" y="578"/>
                </a:lnTo>
                <a:lnTo>
                  <a:pt x="1443" y="596"/>
                </a:lnTo>
                <a:lnTo>
                  <a:pt x="1333" y="623"/>
                </a:lnTo>
                <a:lnTo>
                  <a:pt x="1309" y="604"/>
                </a:lnTo>
                <a:lnTo>
                  <a:pt x="1279" y="592"/>
                </a:lnTo>
                <a:lnTo>
                  <a:pt x="1250" y="584"/>
                </a:lnTo>
                <a:lnTo>
                  <a:pt x="1204" y="583"/>
                </a:lnTo>
                <a:lnTo>
                  <a:pt x="1143" y="633"/>
                </a:lnTo>
                <a:lnTo>
                  <a:pt x="1092" y="596"/>
                </a:lnTo>
                <a:lnTo>
                  <a:pt x="709" y="646"/>
                </a:lnTo>
                <a:lnTo>
                  <a:pt x="633" y="649"/>
                </a:lnTo>
                <a:lnTo>
                  <a:pt x="562" y="644"/>
                </a:lnTo>
                <a:lnTo>
                  <a:pt x="489" y="638"/>
                </a:lnTo>
                <a:lnTo>
                  <a:pt x="341" y="621"/>
                </a:lnTo>
                <a:lnTo>
                  <a:pt x="208" y="589"/>
                </a:lnTo>
                <a:lnTo>
                  <a:pt x="135" y="564"/>
                </a:lnTo>
                <a:lnTo>
                  <a:pt x="84" y="540"/>
                </a:lnTo>
                <a:lnTo>
                  <a:pt x="138" y="530"/>
                </a:lnTo>
                <a:lnTo>
                  <a:pt x="105" y="512"/>
                </a:lnTo>
                <a:lnTo>
                  <a:pt x="84" y="498"/>
                </a:lnTo>
                <a:lnTo>
                  <a:pt x="47" y="468"/>
                </a:lnTo>
                <a:lnTo>
                  <a:pt x="38" y="460"/>
                </a:lnTo>
                <a:lnTo>
                  <a:pt x="27" y="448"/>
                </a:lnTo>
                <a:lnTo>
                  <a:pt x="19" y="439"/>
                </a:lnTo>
                <a:lnTo>
                  <a:pt x="13" y="424"/>
                </a:lnTo>
                <a:lnTo>
                  <a:pt x="5" y="414"/>
                </a:lnTo>
                <a:lnTo>
                  <a:pt x="0" y="40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57" name="Group 13"/>
          <p:cNvGrpSpPr>
            <a:grpSpLocks/>
          </p:cNvGrpSpPr>
          <p:nvPr/>
        </p:nvGrpSpPr>
        <p:grpSpPr bwMode="auto">
          <a:xfrm>
            <a:off x="3124200" y="2616201"/>
            <a:ext cx="90488" cy="80963"/>
            <a:chOff x="1008" y="1648"/>
            <a:chExt cx="57" cy="51"/>
          </a:xfrm>
        </p:grpSpPr>
        <p:sp>
          <p:nvSpPr>
            <p:cNvPr id="6155" name="Oval 11" descr="50%"/>
            <p:cNvSpPr>
              <a:spLocks noChangeArrowheads="1"/>
            </p:cNvSpPr>
            <p:nvPr/>
          </p:nvSpPr>
          <p:spPr bwMode="auto">
            <a:xfrm>
              <a:off x="1008" y="1648"/>
              <a:ext cx="57" cy="51"/>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 name="Arc 12" descr="50%"/>
            <p:cNvSpPr>
              <a:spLocks/>
            </p:cNvSpPr>
            <p:nvPr/>
          </p:nvSpPr>
          <p:spPr bwMode="auto">
            <a:xfrm>
              <a:off x="1019" y="1654"/>
              <a:ext cx="42" cy="38"/>
            </a:xfrm>
            <a:custGeom>
              <a:avLst/>
              <a:gdLst>
                <a:gd name="G0" fmla="+- 21600 0 0"/>
                <a:gd name="G1" fmla="+- 21219 0 0"/>
                <a:gd name="G2" fmla="+- 21600 0 0"/>
                <a:gd name="T0" fmla="*/ 36092 w 43200"/>
                <a:gd name="T1" fmla="*/ 5202 h 42819"/>
                <a:gd name="T2" fmla="*/ 17558 w 43200"/>
                <a:gd name="T3" fmla="*/ 0 h 42819"/>
                <a:gd name="T4" fmla="*/ 21600 w 43200"/>
                <a:gd name="T5" fmla="*/ 21219 h 42819"/>
              </a:gdLst>
              <a:ahLst/>
              <a:cxnLst>
                <a:cxn ang="0">
                  <a:pos x="T0" y="T1"/>
                </a:cxn>
                <a:cxn ang="0">
                  <a:pos x="T2" y="T3"/>
                </a:cxn>
                <a:cxn ang="0">
                  <a:pos x="T4" y="T5"/>
                </a:cxn>
              </a:cxnLst>
              <a:rect l="0" t="0" r="r" b="b"/>
              <a:pathLst>
                <a:path w="43200" h="42819" fill="none"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path>
                <a:path w="43200" h="42819" stroke="0"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lnTo>
                    <a:pt x="21600" y="2121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9"/>
          <p:cNvGrpSpPr>
            <a:grpSpLocks/>
          </p:cNvGrpSpPr>
          <p:nvPr/>
        </p:nvGrpSpPr>
        <p:grpSpPr bwMode="auto">
          <a:xfrm>
            <a:off x="3351214" y="2695576"/>
            <a:ext cx="242887" cy="180975"/>
            <a:chOff x="1151" y="1698"/>
            <a:chExt cx="153" cy="114"/>
          </a:xfrm>
        </p:grpSpPr>
        <p:sp>
          <p:nvSpPr>
            <p:cNvPr id="6158" name="Arc 14" descr="50%"/>
            <p:cNvSpPr>
              <a:spLocks/>
            </p:cNvSpPr>
            <p:nvPr/>
          </p:nvSpPr>
          <p:spPr bwMode="auto">
            <a:xfrm>
              <a:off x="1183" y="1698"/>
              <a:ext cx="22" cy="114"/>
            </a:xfrm>
            <a:custGeom>
              <a:avLst/>
              <a:gdLst>
                <a:gd name="G0" fmla="+- 3427 0 0"/>
                <a:gd name="G1" fmla="+- 21600 0 0"/>
                <a:gd name="G2" fmla="+- 21600 0 0"/>
                <a:gd name="T0" fmla="*/ 2292 w 25027"/>
                <a:gd name="T1" fmla="*/ 30 h 43200"/>
                <a:gd name="T2" fmla="*/ 0 w 25027"/>
                <a:gd name="T3" fmla="*/ 42926 h 43200"/>
                <a:gd name="T4" fmla="*/ 3427 w 25027"/>
                <a:gd name="T5" fmla="*/ 21600 h 43200"/>
              </a:gdLst>
              <a:ahLst/>
              <a:cxnLst>
                <a:cxn ang="0">
                  <a:pos x="T0" y="T1"/>
                </a:cxn>
                <a:cxn ang="0">
                  <a:pos x="T2" y="T3"/>
                </a:cxn>
                <a:cxn ang="0">
                  <a:pos x="T4" y="T5"/>
                </a:cxn>
              </a:cxnLst>
              <a:rect l="0" t="0" r="r" b="b"/>
              <a:pathLst>
                <a:path w="25027" h="43200" fill="none"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path>
                <a:path w="25027" h="43200" stroke="0"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lnTo>
                    <a:pt x="342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 name="Arc 15" descr="50%"/>
            <p:cNvSpPr>
              <a:spLocks/>
            </p:cNvSpPr>
            <p:nvPr/>
          </p:nvSpPr>
          <p:spPr bwMode="auto">
            <a:xfrm>
              <a:off x="1151" y="1698"/>
              <a:ext cx="26" cy="114"/>
            </a:xfrm>
            <a:custGeom>
              <a:avLst/>
              <a:gdLst>
                <a:gd name="G0" fmla="+- 6270 0 0"/>
                <a:gd name="G1" fmla="+- 21600 0 0"/>
                <a:gd name="G2" fmla="+- 21600 0 0"/>
                <a:gd name="T0" fmla="*/ 5218 w 27870"/>
                <a:gd name="T1" fmla="*/ 26 h 43200"/>
                <a:gd name="T2" fmla="*/ 0 w 27870"/>
                <a:gd name="T3" fmla="*/ 42270 h 43200"/>
                <a:gd name="T4" fmla="*/ 6270 w 27870"/>
                <a:gd name="T5" fmla="*/ 21600 h 43200"/>
              </a:gdLst>
              <a:ahLst/>
              <a:cxnLst>
                <a:cxn ang="0">
                  <a:pos x="T0" y="T1"/>
                </a:cxn>
                <a:cxn ang="0">
                  <a:pos x="T2" y="T3"/>
                </a:cxn>
                <a:cxn ang="0">
                  <a:pos x="T4" y="T5"/>
                </a:cxn>
              </a:cxnLst>
              <a:rect l="0" t="0" r="r" b="b"/>
              <a:pathLst>
                <a:path w="27870" h="43200" fill="none"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path>
                <a:path w="27870" h="43200" stroke="0"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lnTo>
                    <a:pt x="627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 name="Arc 16" descr="50%"/>
            <p:cNvSpPr>
              <a:spLocks/>
            </p:cNvSpPr>
            <p:nvPr/>
          </p:nvSpPr>
          <p:spPr bwMode="auto">
            <a:xfrm>
              <a:off x="1215" y="1698"/>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 name="Arc 17" descr="50%"/>
            <p:cNvSpPr>
              <a:spLocks/>
            </p:cNvSpPr>
            <p:nvPr/>
          </p:nvSpPr>
          <p:spPr bwMode="auto">
            <a:xfrm>
              <a:off x="1246" y="1698"/>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2" name="Arc 18" descr="50%"/>
            <p:cNvSpPr>
              <a:spLocks/>
            </p:cNvSpPr>
            <p:nvPr/>
          </p:nvSpPr>
          <p:spPr bwMode="auto">
            <a:xfrm>
              <a:off x="1281" y="1698"/>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64" name="Freeform 20" descr="50%"/>
          <p:cNvSpPr>
            <a:spLocks/>
          </p:cNvSpPr>
          <p:nvPr/>
        </p:nvSpPr>
        <p:spPr bwMode="auto">
          <a:xfrm>
            <a:off x="2814639" y="1962151"/>
            <a:ext cx="3686175" cy="688975"/>
          </a:xfrm>
          <a:custGeom>
            <a:avLst/>
            <a:gdLst>
              <a:gd name="T0" fmla="*/ 50 w 2322"/>
              <a:gd name="T1" fmla="*/ 367 h 434"/>
              <a:gd name="T2" fmla="*/ 158 w 2322"/>
              <a:gd name="T3" fmla="*/ 331 h 434"/>
              <a:gd name="T4" fmla="*/ 312 w 2322"/>
              <a:gd name="T5" fmla="*/ 297 h 434"/>
              <a:gd name="T6" fmla="*/ 467 w 2322"/>
              <a:gd name="T7" fmla="*/ 271 h 434"/>
              <a:gd name="T8" fmla="*/ 614 w 2322"/>
              <a:gd name="T9" fmla="*/ 245 h 434"/>
              <a:gd name="T10" fmla="*/ 699 w 2322"/>
              <a:gd name="T11" fmla="*/ 208 h 434"/>
              <a:gd name="T12" fmla="*/ 775 w 2322"/>
              <a:gd name="T13" fmla="*/ 135 h 434"/>
              <a:gd name="T14" fmla="*/ 886 w 2322"/>
              <a:gd name="T15" fmla="*/ 40 h 434"/>
              <a:gd name="T16" fmla="*/ 965 w 2322"/>
              <a:gd name="T17" fmla="*/ 77 h 434"/>
              <a:gd name="T18" fmla="*/ 998 w 2322"/>
              <a:gd name="T19" fmla="*/ 187 h 434"/>
              <a:gd name="T20" fmla="*/ 1057 w 2322"/>
              <a:gd name="T21" fmla="*/ 237 h 434"/>
              <a:gd name="T22" fmla="*/ 1248 w 2322"/>
              <a:gd name="T23" fmla="*/ 270 h 434"/>
              <a:gd name="T24" fmla="*/ 1393 w 2322"/>
              <a:gd name="T25" fmla="*/ 275 h 434"/>
              <a:gd name="T26" fmla="*/ 1564 w 2322"/>
              <a:gd name="T27" fmla="*/ 270 h 434"/>
              <a:gd name="T28" fmla="*/ 1634 w 2322"/>
              <a:gd name="T29" fmla="*/ 324 h 434"/>
              <a:gd name="T30" fmla="*/ 1770 w 2322"/>
              <a:gd name="T31" fmla="*/ 331 h 434"/>
              <a:gd name="T32" fmla="*/ 1925 w 2322"/>
              <a:gd name="T33" fmla="*/ 262 h 434"/>
              <a:gd name="T34" fmla="*/ 2047 w 2322"/>
              <a:gd name="T35" fmla="*/ 152 h 434"/>
              <a:gd name="T36" fmla="*/ 2144 w 2322"/>
              <a:gd name="T37" fmla="*/ 87 h 434"/>
              <a:gd name="T38" fmla="*/ 2229 w 2322"/>
              <a:gd name="T39" fmla="*/ 52 h 434"/>
              <a:gd name="T40" fmla="*/ 2304 w 2322"/>
              <a:gd name="T41" fmla="*/ 60 h 434"/>
              <a:gd name="T42" fmla="*/ 2244 w 2322"/>
              <a:gd name="T43" fmla="*/ 136 h 434"/>
              <a:gd name="T44" fmla="*/ 2165 w 2322"/>
              <a:gd name="T45" fmla="*/ 202 h 434"/>
              <a:gd name="T46" fmla="*/ 2120 w 2322"/>
              <a:gd name="T47" fmla="*/ 258 h 434"/>
              <a:gd name="T48" fmla="*/ 2087 w 2322"/>
              <a:gd name="T49" fmla="*/ 309 h 434"/>
              <a:gd name="T50" fmla="*/ 2076 w 2322"/>
              <a:gd name="T51" fmla="*/ 363 h 434"/>
              <a:gd name="T52" fmla="*/ 2011 w 2322"/>
              <a:gd name="T53" fmla="*/ 353 h 434"/>
              <a:gd name="T54" fmla="*/ 1952 w 2322"/>
              <a:gd name="T55" fmla="*/ 371 h 434"/>
              <a:gd name="T56" fmla="*/ 1883 w 2322"/>
              <a:gd name="T57" fmla="*/ 363 h 434"/>
              <a:gd name="T58" fmla="*/ 1807 w 2322"/>
              <a:gd name="T59" fmla="*/ 367 h 434"/>
              <a:gd name="T60" fmla="*/ 1728 w 2322"/>
              <a:gd name="T61" fmla="*/ 360 h 434"/>
              <a:gd name="T62" fmla="*/ 1640 w 2322"/>
              <a:gd name="T63" fmla="*/ 365 h 434"/>
              <a:gd name="T64" fmla="*/ 1548 w 2322"/>
              <a:gd name="T65" fmla="*/ 379 h 434"/>
              <a:gd name="T66" fmla="*/ 1460 w 2322"/>
              <a:gd name="T67" fmla="*/ 381 h 434"/>
              <a:gd name="T68" fmla="*/ 1373 w 2322"/>
              <a:gd name="T69" fmla="*/ 383 h 434"/>
              <a:gd name="T70" fmla="*/ 1292 w 2322"/>
              <a:gd name="T71" fmla="*/ 391 h 434"/>
              <a:gd name="T72" fmla="*/ 1207 w 2322"/>
              <a:gd name="T73" fmla="*/ 410 h 434"/>
              <a:gd name="T74" fmla="*/ 1105 w 2322"/>
              <a:gd name="T75" fmla="*/ 409 h 434"/>
              <a:gd name="T76" fmla="*/ 1016 w 2322"/>
              <a:gd name="T77" fmla="*/ 415 h 434"/>
              <a:gd name="T78" fmla="*/ 927 w 2322"/>
              <a:gd name="T79" fmla="*/ 400 h 434"/>
              <a:gd name="T80" fmla="*/ 842 w 2322"/>
              <a:gd name="T81" fmla="*/ 409 h 434"/>
              <a:gd name="T82" fmla="*/ 772 w 2322"/>
              <a:gd name="T83" fmla="*/ 399 h 434"/>
              <a:gd name="T84" fmla="*/ 686 w 2322"/>
              <a:gd name="T85" fmla="*/ 409 h 434"/>
              <a:gd name="T86" fmla="*/ 594 w 2322"/>
              <a:gd name="T87" fmla="*/ 414 h 434"/>
              <a:gd name="T88" fmla="*/ 477 w 2322"/>
              <a:gd name="T89" fmla="*/ 433 h 434"/>
              <a:gd name="T90" fmla="*/ 340 w 2322"/>
              <a:gd name="T91" fmla="*/ 433 h 434"/>
              <a:gd name="T92" fmla="*/ 228 w 2322"/>
              <a:gd name="T93" fmla="*/ 417 h 434"/>
              <a:gd name="T94" fmla="*/ 124 w 2322"/>
              <a:gd name="T95" fmla="*/ 421 h 434"/>
              <a:gd name="T96" fmla="*/ 24 w 2322"/>
              <a:gd name="T97" fmla="*/ 40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22" h="434">
                <a:moveTo>
                  <a:pt x="0" y="390"/>
                </a:moveTo>
                <a:lnTo>
                  <a:pt x="13" y="382"/>
                </a:lnTo>
                <a:lnTo>
                  <a:pt x="31" y="374"/>
                </a:lnTo>
                <a:lnTo>
                  <a:pt x="50" y="367"/>
                </a:lnTo>
                <a:lnTo>
                  <a:pt x="70" y="359"/>
                </a:lnTo>
                <a:lnTo>
                  <a:pt x="94" y="351"/>
                </a:lnTo>
                <a:lnTo>
                  <a:pt x="129" y="341"/>
                </a:lnTo>
                <a:lnTo>
                  <a:pt x="158" y="331"/>
                </a:lnTo>
                <a:lnTo>
                  <a:pt x="194" y="321"/>
                </a:lnTo>
                <a:lnTo>
                  <a:pt x="233" y="312"/>
                </a:lnTo>
                <a:lnTo>
                  <a:pt x="272" y="304"/>
                </a:lnTo>
                <a:lnTo>
                  <a:pt x="312" y="297"/>
                </a:lnTo>
                <a:lnTo>
                  <a:pt x="351" y="291"/>
                </a:lnTo>
                <a:lnTo>
                  <a:pt x="390" y="285"/>
                </a:lnTo>
                <a:lnTo>
                  <a:pt x="428" y="278"/>
                </a:lnTo>
                <a:lnTo>
                  <a:pt x="467" y="271"/>
                </a:lnTo>
                <a:lnTo>
                  <a:pt x="497" y="265"/>
                </a:lnTo>
                <a:lnTo>
                  <a:pt x="541" y="257"/>
                </a:lnTo>
                <a:lnTo>
                  <a:pt x="579" y="251"/>
                </a:lnTo>
                <a:lnTo>
                  <a:pt x="614" y="245"/>
                </a:lnTo>
                <a:lnTo>
                  <a:pt x="640" y="239"/>
                </a:lnTo>
                <a:lnTo>
                  <a:pt x="664" y="231"/>
                </a:lnTo>
                <a:lnTo>
                  <a:pt x="685" y="219"/>
                </a:lnTo>
                <a:lnTo>
                  <a:pt x="699" y="208"/>
                </a:lnTo>
                <a:lnTo>
                  <a:pt x="714" y="194"/>
                </a:lnTo>
                <a:lnTo>
                  <a:pt x="729" y="178"/>
                </a:lnTo>
                <a:lnTo>
                  <a:pt x="752" y="155"/>
                </a:lnTo>
                <a:lnTo>
                  <a:pt x="775" y="135"/>
                </a:lnTo>
                <a:lnTo>
                  <a:pt x="801" y="110"/>
                </a:lnTo>
                <a:lnTo>
                  <a:pt x="828" y="87"/>
                </a:lnTo>
                <a:lnTo>
                  <a:pt x="854" y="62"/>
                </a:lnTo>
                <a:lnTo>
                  <a:pt x="886" y="40"/>
                </a:lnTo>
                <a:lnTo>
                  <a:pt x="916" y="17"/>
                </a:lnTo>
                <a:lnTo>
                  <a:pt x="941" y="0"/>
                </a:lnTo>
                <a:lnTo>
                  <a:pt x="951" y="36"/>
                </a:lnTo>
                <a:lnTo>
                  <a:pt x="965" y="77"/>
                </a:lnTo>
                <a:lnTo>
                  <a:pt x="979" y="115"/>
                </a:lnTo>
                <a:lnTo>
                  <a:pt x="990" y="152"/>
                </a:lnTo>
                <a:lnTo>
                  <a:pt x="995" y="170"/>
                </a:lnTo>
                <a:lnTo>
                  <a:pt x="998" y="187"/>
                </a:lnTo>
                <a:lnTo>
                  <a:pt x="995" y="204"/>
                </a:lnTo>
                <a:lnTo>
                  <a:pt x="979" y="224"/>
                </a:lnTo>
                <a:lnTo>
                  <a:pt x="1019" y="232"/>
                </a:lnTo>
                <a:lnTo>
                  <a:pt x="1057" y="237"/>
                </a:lnTo>
                <a:lnTo>
                  <a:pt x="1104" y="245"/>
                </a:lnTo>
                <a:lnTo>
                  <a:pt x="1156" y="253"/>
                </a:lnTo>
                <a:lnTo>
                  <a:pt x="1208" y="263"/>
                </a:lnTo>
                <a:lnTo>
                  <a:pt x="1248" y="270"/>
                </a:lnTo>
                <a:lnTo>
                  <a:pt x="1291" y="275"/>
                </a:lnTo>
                <a:lnTo>
                  <a:pt x="1331" y="280"/>
                </a:lnTo>
                <a:lnTo>
                  <a:pt x="1364" y="283"/>
                </a:lnTo>
                <a:lnTo>
                  <a:pt x="1393" y="275"/>
                </a:lnTo>
                <a:lnTo>
                  <a:pt x="1419" y="263"/>
                </a:lnTo>
                <a:lnTo>
                  <a:pt x="1444" y="246"/>
                </a:lnTo>
                <a:lnTo>
                  <a:pt x="1501" y="255"/>
                </a:lnTo>
                <a:lnTo>
                  <a:pt x="1564" y="270"/>
                </a:lnTo>
                <a:lnTo>
                  <a:pt x="1610" y="279"/>
                </a:lnTo>
                <a:lnTo>
                  <a:pt x="1582" y="306"/>
                </a:lnTo>
                <a:lnTo>
                  <a:pt x="1603" y="315"/>
                </a:lnTo>
                <a:lnTo>
                  <a:pt x="1634" y="324"/>
                </a:lnTo>
                <a:lnTo>
                  <a:pt x="1666" y="331"/>
                </a:lnTo>
                <a:lnTo>
                  <a:pt x="1702" y="336"/>
                </a:lnTo>
                <a:lnTo>
                  <a:pt x="1734" y="333"/>
                </a:lnTo>
                <a:lnTo>
                  <a:pt x="1770" y="331"/>
                </a:lnTo>
                <a:lnTo>
                  <a:pt x="1805" y="324"/>
                </a:lnTo>
                <a:lnTo>
                  <a:pt x="1845" y="312"/>
                </a:lnTo>
                <a:lnTo>
                  <a:pt x="1881" y="291"/>
                </a:lnTo>
                <a:lnTo>
                  <a:pt x="1925" y="262"/>
                </a:lnTo>
                <a:lnTo>
                  <a:pt x="1959" y="235"/>
                </a:lnTo>
                <a:lnTo>
                  <a:pt x="2000" y="198"/>
                </a:lnTo>
                <a:lnTo>
                  <a:pt x="2017" y="181"/>
                </a:lnTo>
                <a:lnTo>
                  <a:pt x="2047" y="152"/>
                </a:lnTo>
                <a:lnTo>
                  <a:pt x="2072" y="135"/>
                </a:lnTo>
                <a:lnTo>
                  <a:pt x="2097" y="117"/>
                </a:lnTo>
                <a:lnTo>
                  <a:pt x="2122" y="101"/>
                </a:lnTo>
                <a:lnTo>
                  <a:pt x="2144" y="87"/>
                </a:lnTo>
                <a:lnTo>
                  <a:pt x="2167" y="77"/>
                </a:lnTo>
                <a:lnTo>
                  <a:pt x="2189" y="66"/>
                </a:lnTo>
                <a:lnTo>
                  <a:pt x="2208" y="58"/>
                </a:lnTo>
                <a:lnTo>
                  <a:pt x="2229" y="52"/>
                </a:lnTo>
                <a:lnTo>
                  <a:pt x="2252" y="49"/>
                </a:lnTo>
                <a:lnTo>
                  <a:pt x="2280" y="46"/>
                </a:lnTo>
                <a:lnTo>
                  <a:pt x="2321" y="47"/>
                </a:lnTo>
                <a:lnTo>
                  <a:pt x="2304" y="60"/>
                </a:lnTo>
                <a:lnTo>
                  <a:pt x="2286" y="79"/>
                </a:lnTo>
                <a:lnTo>
                  <a:pt x="2276" y="92"/>
                </a:lnTo>
                <a:lnTo>
                  <a:pt x="2260" y="115"/>
                </a:lnTo>
                <a:lnTo>
                  <a:pt x="2244" y="136"/>
                </a:lnTo>
                <a:lnTo>
                  <a:pt x="2221" y="154"/>
                </a:lnTo>
                <a:lnTo>
                  <a:pt x="2192" y="175"/>
                </a:lnTo>
                <a:lnTo>
                  <a:pt x="2178" y="187"/>
                </a:lnTo>
                <a:lnTo>
                  <a:pt x="2165" y="202"/>
                </a:lnTo>
                <a:lnTo>
                  <a:pt x="2151" y="219"/>
                </a:lnTo>
                <a:lnTo>
                  <a:pt x="2141" y="231"/>
                </a:lnTo>
                <a:lnTo>
                  <a:pt x="2130" y="244"/>
                </a:lnTo>
                <a:lnTo>
                  <a:pt x="2120" y="258"/>
                </a:lnTo>
                <a:lnTo>
                  <a:pt x="2111" y="273"/>
                </a:lnTo>
                <a:lnTo>
                  <a:pt x="2103" y="285"/>
                </a:lnTo>
                <a:lnTo>
                  <a:pt x="2095" y="297"/>
                </a:lnTo>
                <a:lnTo>
                  <a:pt x="2087" y="309"/>
                </a:lnTo>
                <a:lnTo>
                  <a:pt x="2082" y="324"/>
                </a:lnTo>
                <a:lnTo>
                  <a:pt x="2079" y="336"/>
                </a:lnTo>
                <a:lnTo>
                  <a:pt x="2078" y="350"/>
                </a:lnTo>
                <a:lnTo>
                  <a:pt x="2076" y="363"/>
                </a:lnTo>
                <a:lnTo>
                  <a:pt x="2063" y="355"/>
                </a:lnTo>
                <a:lnTo>
                  <a:pt x="2044" y="352"/>
                </a:lnTo>
                <a:lnTo>
                  <a:pt x="2027" y="351"/>
                </a:lnTo>
                <a:lnTo>
                  <a:pt x="2011" y="353"/>
                </a:lnTo>
                <a:lnTo>
                  <a:pt x="1995" y="358"/>
                </a:lnTo>
                <a:lnTo>
                  <a:pt x="1982" y="363"/>
                </a:lnTo>
                <a:lnTo>
                  <a:pt x="1967" y="367"/>
                </a:lnTo>
                <a:lnTo>
                  <a:pt x="1952" y="371"/>
                </a:lnTo>
                <a:lnTo>
                  <a:pt x="1936" y="373"/>
                </a:lnTo>
                <a:lnTo>
                  <a:pt x="1914" y="370"/>
                </a:lnTo>
                <a:lnTo>
                  <a:pt x="1896" y="367"/>
                </a:lnTo>
                <a:lnTo>
                  <a:pt x="1883" y="363"/>
                </a:lnTo>
                <a:lnTo>
                  <a:pt x="1867" y="359"/>
                </a:lnTo>
                <a:lnTo>
                  <a:pt x="1850" y="360"/>
                </a:lnTo>
                <a:lnTo>
                  <a:pt x="1827" y="364"/>
                </a:lnTo>
                <a:lnTo>
                  <a:pt x="1807" y="367"/>
                </a:lnTo>
                <a:lnTo>
                  <a:pt x="1791" y="367"/>
                </a:lnTo>
                <a:lnTo>
                  <a:pt x="1770" y="365"/>
                </a:lnTo>
                <a:lnTo>
                  <a:pt x="1749" y="360"/>
                </a:lnTo>
                <a:lnTo>
                  <a:pt x="1728" y="360"/>
                </a:lnTo>
                <a:lnTo>
                  <a:pt x="1710" y="365"/>
                </a:lnTo>
                <a:lnTo>
                  <a:pt x="1681" y="368"/>
                </a:lnTo>
                <a:lnTo>
                  <a:pt x="1663" y="368"/>
                </a:lnTo>
                <a:lnTo>
                  <a:pt x="1640" y="365"/>
                </a:lnTo>
                <a:lnTo>
                  <a:pt x="1618" y="363"/>
                </a:lnTo>
                <a:lnTo>
                  <a:pt x="1594" y="367"/>
                </a:lnTo>
                <a:lnTo>
                  <a:pt x="1575" y="374"/>
                </a:lnTo>
                <a:lnTo>
                  <a:pt x="1548" y="379"/>
                </a:lnTo>
                <a:lnTo>
                  <a:pt x="1528" y="381"/>
                </a:lnTo>
                <a:lnTo>
                  <a:pt x="1503" y="383"/>
                </a:lnTo>
                <a:lnTo>
                  <a:pt x="1484" y="385"/>
                </a:lnTo>
                <a:lnTo>
                  <a:pt x="1460" y="381"/>
                </a:lnTo>
                <a:lnTo>
                  <a:pt x="1436" y="375"/>
                </a:lnTo>
                <a:lnTo>
                  <a:pt x="1411" y="381"/>
                </a:lnTo>
                <a:lnTo>
                  <a:pt x="1394" y="382"/>
                </a:lnTo>
                <a:lnTo>
                  <a:pt x="1373" y="383"/>
                </a:lnTo>
                <a:lnTo>
                  <a:pt x="1353" y="381"/>
                </a:lnTo>
                <a:lnTo>
                  <a:pt x="1333" y="381"/>
                </a:lnTo>
                <a:lnTo>
                  <a:pt x="1312" y="383"/>
                </a:lnTo>
                <a:lnTo>
                  <a:pt x="1292" y="391"/>
                </a:lnTo>
                <a:lnTo>
                  <a:pt x="1275" y="396"/>
                </a:lnTo>
                <a:lnTo>
                  <a:pt x="1252" y="403"/>
                </a:lnTo>
                <a:lnTo>
                  <a:pt x="1231" y="406"/>
                </a:lnTo>
                <a:lnTo>
                  <a:pt x="1207" y="410"/>
                </a:lnTo>
                <a:lnTo>
                  <a:pt x="1183" y="413"/>
                </a:lnTo>
                <a:lnTo>
                  <a:pt x="1152" y="409"/>
                </a:lnTo>
                <a:lnTo>
                  <a:pt x="1124" y="407"/>
                </a:lnTo>
                <a:lnTo>
                  <a:pt x="1105" y="409"/>
                </a:lnTo>
                <a:lnTo>
                  <a:pt x="1078" y="412"/>
                </a:lnTo>
                <a:lnTo>
                  <a:pt x="1058" y="412"/>
                </a:lnTo>
                <a:lnTo>
                  <a:pt x="1035" y="414"/>
                </a:lnTo>
                <a:lnTo>
                  <a:pt x="1016" y="415"/>
                </a:lnTo>
                <a:lnTo>
                  <a:pt x="987" y="413"/>
                </a:lnTo>
                <a:lnTo>
                  <a:pt x="963" y="406"/>
                </a:lnTo>
                <a:lnTo>
                  <a:pt x="947" y="401"/>
                </a:lnTo>
                <a:lnTo>
                  <a:pt x="927" y="400"/>
                </a:lnTo>
                <a:lnTo>
                  <a:pt x="906" y="399"/>
                </a:lnTo>
                <a:lnTo>
                  <a:pt x="886" y="403"/>
                </a:lnTo>
                <a:lnTo>
                  <a:pt x="862" y="406"/>
                </a:lnTo>
                <a:lnTo>
                  <a:pt x="842" y="409"/>
                </a:lnTo>
                <a:lnTo>
                  <a:pt x="824" y="409"/>
                </a:lnTo>
                <a:lnTo>
                  <a:pt x="812" y="405"/>
                </a:lnTo>
                <a:lnTo>
                  <a:pt x="791" y="401"/>
                </a:lnTo>
                <a:lnTo>
                  <a:pt x="772" y="399"/>
                </a:lnTo>
                <a:lnTo>
                  <a:pt x="752" y="400"/>
                </a:lnTo>
                <a:lnTo>
                  <a:pt x="734" y="403"/>
                </a:lnTo>
                <a:lnTo>
                  <a:pt x="712" y="405"/>
                </a:lnTo>
                <a:lnTo>
                  <a:pt x="686" y="409"/>
                </a:lnTo>
                <a:lnTo>
                  <a:pt x="662" y="409"/>
                </a:lnTo>
                <a:lnTo>
                  <a:pt x="640" y="406"/>
                </a:lnTo>
                <a:lnTo>
                  <a:pt x="616" y="410"/>
                </a:lnTo>
                <a:lnTo>
                  <a:pt x="594" y="414"/>
                </a:lnTo>
                <a:lnTo>
                  <a:pt x="570" y="421"/>
                </a:lnTo>
                <a:lnTo>
                  <a:pt x="547" y="426"/>
                </a:lnTo>
                <a:lnTo>
                  <a:pt x="514" y="432"/>
                </a:lnTo>
                <a:lnTo>
                  <a:pt x="477" y="433"/>
                </a:lnTo>
                <a:lnTo>
                  <a:pt x="439" y="433"/>
                </a:lnTo>
                <a:lnTo>
                  <a:pt x="404" y="432"/>
                </a:lnTo>
                <a:lnTo>
                  <a:pt x="363" y="433"/>
                </a:lnTo>
                <a:lnTo>
                  <a:pt x="340" y="433"/>
                </a:lnTo>
                <a:lnTo>
                  <a:pt x="319" y="430"/>
                </a:lnTo>
                <a:lnTo>
                  <a:pt x="295" y="433"/>
                </a:lnTo>
                <a:lnTo>
                  <a:pt x="268" y="432"/>
                </a:lnTo>
                <a:lnTo>
                  <a:pt x="228" y="417"/>
                </a:lnTo>
                <a:lnTo>
                  <a:pt x="199" y="419"/>
                </a:lnTo>
                <a:lnTo>
                  <a:pt x="174" y="421"/>
                </a:lnTo>
                <a:lnTo>
                  <a:pt x="147" y="421"/>
                </a:lnTo>
                <a:lnTo>
                  <a:pt x="124" y="421"/>
                </a:lnTo>
                <a:lnTo>
                  <a:pt x="96" y="419"/>
                </a:lnTo>
                <a:lnTo>
                  <a:pt x="71" y="414"/>
                </a:lnTo>
                <a:lnTo>
                  <a:pt x="46" y="407"/>
                </a:lnTo>
                <a:lnTo>
                  <a:pt x="24" y="401"/>
                </a:lnTo>
                <a:lnTo>
                  <a:pt x="2" y="396"/>
                </a:lnTo>
                <a:lnTo>
                  <a:pt x="0" y="39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67" name="Group 23"/>
          <p:cNvGrpSpPr>
            <a:grpSpLocks/>
          </p:cNvGrpSpPr>
          <p:nvPr/>
        </p:nvGrpSpPr>
        <p:grpSpPr bwMode="auto">
          <a:xfrm>
            <a:off x="3554414" y="2817814"/>
            <a:ext cx="528637" cy="320675"/>
            <a:chOff x="1279" y="1775"/>
            <a:chExt cx="333" cy="202"/>
          </a:xfrm>
        </p:grpSpPr>
        <p:sp>
          <p:nvSpPr>
            <p:cNvPr id="6165" name="Freeform 21" descr="50%"/>
            <p:cNvSpPr>
              <a:spLocks/>
            </p:cNvSpPr>
            <p:nvPr/>
          </p:nvSpPr>
          <p:spPr bwMode="auto">
            <a:xfrm>
              <a:off x="1279" y="1779"/>
              <a:ext cx="333" cy="198"/>
            </a:xfrm>
            <a:custGeom>
              <a:avLst/>
              <a:gdLst>
                <a:gd name="T0" fmla="*/ 311 w 333"/>
                <a:gd name="T1" fmla="*/ 177 h 198"/>
                <a:gd name="T2" fmla="*/ 293 w 333"/>
                <a:gd name="T3" fmla="*/ 159 h 198"/>
                <a:gd name="T4" fmla="*/ 281 w 333"/>
                <a:gd name="T5" fmla="*/ 148 h 198"/>
                <a:gd name="T6" fmla="*/ 272 w 333"/>
                <a:gd name="T7" fmla="*/ 138 h 198"/>
                <a:gd name="T8" fmla="*/ 262 w 333"/>
                <a:gd name="T9" fmla="*/ 127 h 198"/>
                <a:gd name="T10" fmla="*/ 254 w 333"/>
                <a:gd name="T11" fmla="*/ 116 h 198"/>
                <a:gd name="T12" fmla="*/ 246 w 333"/>
                <a:gd name="T13" fmla="*/ 105 h 198"/>
                <a:gd name="T14" fmla="*/ 237 w 333"/>
                <a:gd name="T15" fmla="*/ 93 h 198"/>
                <a:gd name="T16" fmla="*/ 230 w 333"/>
                <a:gd name="T17" fmla="*/ 78 h 198"/>
                <a:gd name="T18" fmla="*/ 224 w 333"/>
                <a:gd name="T19" fmla="*/ 64 h 198"/>
                <a:gd name="T20" fmla="*/ 219 w 333"/>
                <a:gd name="T21" fmla="*/ 49 h 198"/>
                <a:gd name="T22" fmla="*/ 215 w 333"/>
                <a:gd name="T23" fmla="*/ 34 h 198"/>
                <a:gd name="T24" fmla="*/ 215 w 333"/>
                <a:gd name="T25" fmla="*/ 19 h 198"/>
                <a:gd name="T26" fmla="*/ 214 w 333"/>
                <a:gd name="T27" fmla="*/ 0 h 198"/>
                <a:gd name="T28" fmla="*/ 0 w 333"/>
                <a:gd name="T29" fmla="*/ 0 h 198"/>
                <a:gd name="T30" fmla="*/ 6 w 333"/>
                <a:gd name="T31" fmla="*/ 12 h 198"/>
                <a:gd name="T32" fmla="*/ 17 w 333"/>
                <a:gd name="T33" fmla="*/ 28 h 198"/>
                <a:gd name="T34" fmla="*/ 27 w 333"/>
                <a:gd name="T35" fmla="*/ 42 h 198"/>
                <a:gd name="T36" fmla="*/ 39 w 333"/>
                <a:gd name="T37" fmla="*/ 56 h 198"/>
                <a:gd name="T38" fmla="*/ 54 w 333"/>
                <a:gd name="T39" fmla="*/ 71 h 198"/>
                <a:gd name="T40" fmla="*/ 70 w 333"/>
                <a:gd name="T41" fmla="*/ 86 h 198"/>
                <a:gd name="T42" fmla="*/ 87 w 333"/>
                <a:gd name="T43" fmla="*/ 100 h 198"/>
                <a:gd name="T44" fmla="*/ 104 w 333"/>
                <a:gd name="T45" fmla="*/ 112 h 198"/>
                <a:gd name="T46" fmla="*/ 123 w 333"/>
                <a:gd name="T47" fmla="*/ 127 h 198"/>
                <a:gd name="T48" fmla="*/ 146 w 333"/>
                <a:gd name="T49" fmla="*/ 143 h 198"/>
                <a:gd name="T50" fmla="*/ 166 w 333"/>
                <a:gd name="T51" fmla="*/ 154 h 198"/>
                <a:gd name="T52" fmla="*/ 184 w 333"/>
                <a:gd name="T53" fmla="*/ 163 h 198"/>
                <a:gd name="T54" fmla="*/ 201 w 333"/>
                <a:gd name="T55" fmla="*/ 170 h 198"/>
                <a:gd name="T56" fmla="*/ 219 w 333"/>
                <a:gd name="T57" fmla="*/ 177 h 198"/>
                <a:gd name="T58" fmla="*/ 238 w 333"/>
                <a:gd name="T59" fmla="*/ 184 h 198"/>
                <a:gd name="T60" fmla="*/ 259 w 333"/>
                <a:gd name="T61" fmla="*/ 188 h 198"/>
                <a:gd name="T62" fmla="*/ 282 w 333"/>
                <a:gd name="T63" fmla="*/ 192 h 198"/>
                <a:gd name="T64" fmla="*/ 300 w 333"/>
                <a:gd name="T65" fmla="*/ 194 h 198"/>
                <a:gd name="T66" fmla="*/ 318 w 333"/>
                <a:gd name="T67" fmla="*/ 196 h 198"/>
                <a:gd name="T68" fmla="*/ 332 w 333"/>
                <a:gd name="T69" fmla="*/ 197 h 198"/>
                <a:gd name="T70" fmla="*/ 311 w 333"/>
                <a:gd name="T71" fmla="*/ 177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3" h="198">
                  <a:moveTo>
                    <a:pt x="311" y="177"/>
                  </a:moveTo>
                  <a:lnTo>
                    <a:pt x="293" y="159"/>
                  </a:lnTo>
                  <a:lnTo>
                    <a:pt x="281" y="148"/>
                  </a:lnTo>
                  <a:lnTo>
                    <a:pt x="272" y="138"/>
                  </a:lnTo>
                  <a:lnTo>
                    <a:pt x="262" y="127"/>
                  </a:lnTo>
                  <a:lnTo>
                    <a:pt x="254" y="116"/>
                  </a:lnTo>
                  <a:lnTo>
                    <a:pt x="246" y="105"/>
                  </a:lnTo>
                  <a:lnTo>
                    <a:pt x="237" y="93"/>
                  </a:lnTo>
                  <a:lnTo>
                    <a:pt x="230" y="78"/>
                  </a:lnTo>
                  <a:lnTo>
                    <a:pt x="224" y="64"/>
                  </a:lnTo>
                  <a:lnTo>
                    <a:pt x="219" y="49"/>
                  </a:lnTo>
                  <a:lnTo>
                    <a:pt x="215" y="34"/>
                  </a:lnTo>
                  <a:lnTo>
                    <a:pt x="215" y="19"/>
                  </a:lnTo>
                  <a:lnTo>
                    <a:pt x="214" y="0"/>
                  </a:lnTo>
                  <a:lnTo>
                    <a:pt x="0" y="0"/>
                  </a:lnTo>
                  <a:lnTo>
                    <a:pt x="6" y="12"/>
                  </a:lnTo>
                  <a:lnTo>
                    <a:pt x="17" y="28"/>
                  </a:lnTo>
                  <a:lnTo>
                    <a:pt x="27" y="42"/>
                  </a:lnTo>
                  <a:lnTo>
                    <a:pt x="39" y="56"/>
                  </a:lnTo>
                  <a:lnTo>
                    <a:pt x="54" y="71"/>
                  </a:lnTo>
                  <a:lnTo>
                    <a:pt x="70" y="86"/>
                  </a:lnTo>
                  <a:lnTo>
                    <a:pt x="87" y="100"/>
                  </a:lnTo>
                  <a:lnTo>
                    <a:pt x="104" y="112"/>
                  </a:lnTo>
                  <a:lnTo>
                    <a:pt x="123" y="127"/>
                  </a:lnTo>
                  <a:lnTo>
                    <a:pt x="146" y="143"/>
                  </a:lnTo>
                  <a:lnTo>
                    <a:pt x="166" y="154"/>
                  </a:lnTo>
                  <a:lnTo>
                    <a:pt x="184" y="163"/>
                  </a:lnTo>
                  <a:lnTo>
                    <a:pt x="201" y="170"/>
                  </a:lnTo>
                  <a:lnTo>
                    <a:pt x="219" y="177"/>
                  </a:lnTo>
                  <a:lnTo>
                    <a:pt x="238" y="184"/>
                  </a:lnTo>
                  <a:lnTo>
                    <a:pt x="259" y="188"/>
                  </a:lnTo>
                  <a:lnTo>
                    <a:pt x="282" y="192"/>
                  </a:lnTo>
                  <a:lnTo>
                    <a:pt x="300" y="194"/>
                  </a:lnTo>
                  <a:lnTo>
                    <a:pt x="318" y="196"/>
                  </a:lnTo>
                  <a:lnTo>
                    <a:pt x="332" y="197"/>
                  </a:lnTo>
                  <a:lnTo>
                    <a:pt x="311" y="17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Freeform 22" descr="50%"/>
            <p:cNvSpPr>
              <a:spLocks/>
            </p:cNvSpPr>
            <p:nvPr/>
          </p:nvSpPr>
          <p:spPr bwMode="auto">
            <a:xfrm>
              <a:off x="1285" y="1775"/>
              <a:ext cx="201" cy="7"/>
            </a:xfrm>
            <a:custGeom>
              <a:avLst/>
              <a:gdLst>
                <a:gd name="T0" fmla="*/ 1 w 201"/>
                <a:gd name="T1" fmla="*/ 0 h 7"/>
                <a:gd name="T2" fmla="*/ 0 w 201"/>
                <a:gd name="T3" fmla="*/ 2 h 7"/>
                <a:gd name="T4" fmla="*/ 4 w 201"/>
                <a:gd name="T5" fmla="*/ 6 h 7"/>
                <a:gd name="T6" fmla="*/ 200 w 201"/>
                <a:gd name="T7" fmla="*/ 6 h 7"/>
                <a:gd name="T8" fmla="*/ 200 w 201"/>
                <a:gd name="T9" fmla="*/ 0 h 7"/>
                <a:gd name="T10" fmla="*/ 1 w 201"/>
                <a:gd name="T11" fmla="*/ 0 h 7"/>
              </a:gdLst>
              <a:ahLst/>
              <a:cxnLst>
                <a:cxn ang="0">
                  <a:pos x="T0" y="T1"/>
                </a:cxn>
                <a:cxn ang="0">
                  <a:pos x="T2" y="T3"/>
                </a:cxn>
                <a:cxn ang="0">
                  <a:pos x="T4" y="T5"/>
                </a:cxn>
                <a:cxn ang="0">
                  <a:pos x="T6" y="T7"/>
                </a:cxn>
                <a:cxn ang="0">
                  <a:pos x="T8" y="T9"/>
                </a:cxn>
                <a:cxn ang="0">
                  <a:pos x="T10" y="T11"/>
                </a:cxn>
              </a:cxnLst>
              <a:rect l="0" t="0" r="r" b="b"/>
              <a:pathLst>
                <a:path w="201" h="7">
                  <a:moveTo>
                    <a:pt x="1" y="0"/>
                  </a:moveTo>
                  <a:lnTo>
                    <a:pt x="0" y="2"/>
                  </a:lnTo>
                  <a:lnTo>
                    <a:pt x="4" y="6"/>
                  </a:lnTo>
                  <a:lnTo>
                    <a:pt x="200" y="6"/>
                  </a:lnTo>
                  <a:lnTo>
                    <a:pt x="200"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68" name="Freeform 24" descr="50%"/>
          <p:cNvSpPr>
            <a:spLocks/>
          </p:cNvSpPr>
          <p:nvPr/>
        </p:nvSpPr>
        <p:spPr bwMode="auto">
          <a:xfrm>
            <a:off x="3292475" y="3894138"/>
            <a:ext cx="292100" cy="215900"/>
          </a:xfrm>
          <a:custGeom>
            <a:avLst/>
            <a:gdLst>
              <a:gd name="T0" fmla="*/ 0 w 184"/>
              <a:gd name="T1" fmla="*/ 0 h 136"/>
              <a:gd name="T2" fmla="*/ 7 w 184"/>
              <a:gd name="T3" fmla="*/ 14 h 136"/>
              <a:gd name="T4" fmla="*/ 16 w 184"/>
              <a:gd name="T5" fmla="*/ 28 h 136"/>
              <a:gd name="T6" fmla="*/ 27 w 184"/>
              <a:gd name="T7" fmla="*/ 43 h 136"/>
              <a:gd name="T8" fmla="*/ 38 w 184"/>
              <a:gd name="T9" fmla="*/ 55 h 136"/>
              <a:gd name="T10" fmla="*/ 52 w 184"/>
              <a:gd name="T11" fmla="*/ 70 h 136"/>
              <a:gd name="T12" fmla="*/ 66 w 184"/>
              <a:gd name="T13" fmla="*/ 85 h 136"/>
              <a:gd name="T14" fmla="*/ 77 w 184"/>
              <a:gd name="T15" fmla="*/ 96 h 136"/>
              <a:gd name="T16" fmla="*/ 90 w 184"/>
              <a:gd name="T17" fmla="*/ 106 h 136"/>
              <a:gd name="T18" fmla="*/ 103 w 184"/>
              <a:gd name="T19" fmla="*/ 114 h 136"/>
              <a:gd name="T20" fmla="*/ 117 w 184"/>
              <a:gd name="T21" fmla="*/ 121 h 136"/>
              <a:gd name="T22" fmla="*/ 131 w 184"/>
              <a:gd name="T23" fmla="*/ 127 h 136"/>
              <a:gd name="T24" fmla="*/ 146 w 184"/>
              <a:gd name="T25" fmla="*/ 132 h 136"/>
              <a:gd name="T26" fmla="*/ 162 w 184"/>
              <a:gd name="T27" fmla="*/ 135 h 136"/>
              <a:gd name="T28" fmla="*/ 176 w 184"/>
              <a:gd name="T29" fmla="*/ 135 h 136"/>
              <a:gd name="T30" fmla="*/ 183 w 184"/>
              <a:gd name="T31" fmla="*/ 134 h 136"/>
              <a:gd name="T32" fmla="*/ 174 w 184"/>
              <a:gd name="T33" fmla="*/ 125 h 136"/>
              <a:gd name="T34" fmla="*/ 164 w 184"/>
              <a:gd name="T35" fmla="*/ 113 h 136"/>
              <a:gd name="T36" fmla="*/ 154 w 184"/>
              <a:gd name="T37" fmla="*/ 101 h 136"/>
              <a:gd name="T38" fmla="*/ 144 w 184"/>
              <a:gd name="T39" fmla="*/ 87 h 136"/>
              <a:gd name="T40" fmla="*/ 135 w 184"/>
              <a:gd name="T41" fmla="*/ 73 h 136"/>
              <a:gd name="T42" fmla="*/ 128 w 184"/>
              <a:gd name="T43" fmla="*/ 60 h 136"/>
              <a:gd name="T44" fmla="*/ 124 w 184"/>
              <a:gd name="T45" fmla="*/ 48 h 136"/>
              <a:gd name="T46" fmla="*/ 119 w 184"/>
              <a:gd name="T47" fmla="*/ 28 h 136"/>
              <a:gd name="T48" fmla="*/ 119 w 184"/>
              <a:gd name="T49" fmla="*/ 13 h 136"/>
              <a:gd name="T50" fmla="*/ 119 w 184"/>
              <a:gd name="T51" fmla="*/ 2 h 136"/>
              <a:gd name="T52" fmla="*/ 0 w 184"/>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136">
                <a:moveTo>
                  <a:pt x="0" y="0"/>
                </a:moveTo>
                <a:lnTo>
                  <a:pt x="7" y="14"/>
                </a:lnTo>
                <a:lnTo>
                  <a:pt x="16" y="28"/>
                </a:lnTo>
                <a:lnTo>
                  <a:pt x="27" y="43"/>
                </a:lnTo>
                <a:lnTo>
                  <a:pt x="38" y="55"/>
                </a:lnTo>
                <a:lnTo>
                  <a:pt x="52" y="70"/>
                </a:lnTo>
                <a:lnTo>
                  <a:pt x="66" y="85"/>
                </a:lnTo>
                <a:lnTo>
                  <a:pt x="77" y="96"/>
                </a:lnTo>
                <a:lnTo>
                  <a:pt x="90" y="106"/>
                </a:lnTo>
                <a:lnTo>
                  <a:pt x="103" y="114"/>
                </a:lnTo>
                <a:lnTo>
                  <a:pt x="117" y="121"/>
                </a:lnTo>
                <a:lnTo>
                  <a:pt x="131" y="127"/>
                </a:lnTo>
                <a:lnTo>
                  <a:pt x="146" y="132"/>
                </a:lnTo>
                <a:lnTo>
                  <a:pt x="162" y="135"/>
                </a:lnTo>
                <a:lnTo>
                  <a:pt x="176" y="135"/>
                </a:lnTo>
                <a:lnTo>
                  <a:pt x="183" y="134"/>
                </a:lnTo>
                <a:lnTo>
                  <a:pt x="174" y="125"/>
                </a:lnTo>
                <a:lnTo>
                  <a:pt x="164" y="113"/>
                </a:lnTo>
                <a:lnTo>
                  <a:pt x="154" y="101"/>
                </a:lnTo>
                <a:lnTo>
                  <a:pt x="144" y="87"/>
                </a:lnTo>
                <a:lnTo>
                  <a:pt x="135" y="73"/>
                </a:lnTo>
                <a:lnTo>
                  <a:pt x="128" y="60"/>
                </a:lnTo>
                <a:lnTo>
                  <a:pt x="124" y="48"/>
                </a:lnTo>
                <a:lnTo>
                  <a:pt x="119" y="28"/>
                </a:lnTo>
                <a:lnTo>
                  <a:pt x="119" y="13"/>
                </a:lnTo>
                <a:lnTo>
                  <a:pt x="119"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9" name="Freeform 25" descr="50%"/>
          <p:cNvSpPr>
            <a:spLocks/>
          </p:cNvSpPr>
          <p:nvPr/>
        </p:nvSpPr>
        <p:spPr bwMode="auto">
          <a:xfrm>
            <a:off x="2663826" y="3368675"/>
            <a:ext cx="2487613" cy="698500"/>
          </a:xfrm>
          <a:custGeom>
            <a:avLst/>
            <a:gdLst>
              <a:gd name="T0" fmla="*/ 17 w 1567"/>
              <a:gd name="T1" fmla="*/ 261 h 440"/>
              <a:gd name="T2" fmla="*/ 64 w 1567"/>
              <a:gd name="T3" fmla="*/ 244 h 440"/>
              <a:gd name="T4" fmla="*/ 137 w 1567"/>
              <a:gd name="T5" fmla="*/ 222 h 440"/>
              <a:gd name="T6" fmla="*/ 214 w 1567"/>
              <a:gd name="T7" fmla="*/ 207 h 440"/>
              <a:gd name="T8" fmla="*/ 289 w 1567"/>
              <a:gd name="T9" fmla="*/ 193 h 440"/>
              <a:gd name="T10" fmla="*/ 367 w 1567"/>
              <a:gd name="T11" fmla="*/ 179 h 440"/>
              <a:gd name="T12" fmla="*/ 431 w 1567"/>
              <a:gd name="T13" fmla="*/ 167 h 440"/>
              <a:gd name="T14" fmla="*/ 468 w 1567"/>
              <a:gd name="T15" fmla="*/ 147 h 440"/>
              <a:gd name="T16" fmla="*/ 504 w 1567"/>
              <a:gd name="T17" fmla="*/ 112 h 440"/>
              <a:gd name="T18" fmla="*/ 558 w 1567"/>
              <a:gd name="T19" fmla="*/ 62 h 440"/>
              <a:gd name="T20" fmla="*/ 613 w 1567"/>
              <a:gd name="T21" fmla="*/ 16 h 440"/>
              <a:gd name="T22" fmla="*/ 652 w 1567"/>
              <a:gd name="T23" fmla="*/ 53 h 440"/>
              <a:gd name="T24" fmla="*/ 674 w 1567"/>
              <a:gd name="T25" fmla="*/ 131 h 440"/>
              <a:gd name="T26" fmla="*/ 688 w 1567"/>
              <a:gd name="T27" fmla="*/ 161 h 440"/>
              <a:gd name="T28" fmla="*/ 778 w 1567"/>
              <a:gd name="T29" fmla="*/ 176 h 440"/>
              <a:gd name="T30" fmla="*/ 870 w 1567"/>
              <a:gd name="T31" fmla="*/ 192 h 440"/>
              <a:gd name="T32" fmla="*/ 938 w 1567"/>
              <a:gd name="T33" fmla="*/ 192 h 440"/>
              <a:gd name="T34" fmla="*/ 1011 w 1567"/>
              <a:gd name="T35" fmla="*/ 178 h 440"/>
              <a:gd name="T36" fmla="*/ 1067 w 1567"/>
              <a:gd name="T37" fmla="*/ 215 h 440"/>
              <a:gd name="T38" fmla="*/ 1122 w 1567"/>
              <a:gd name="T39" fmla="*/ 230 h 440"/>
              <a:gd name="T40" fmla="*/ 1191 w 1567"/>
              <a:gd name="T41" fmla="*/ 229 h 440"/>
              <a:gd name="T42" fmla="*/ 1265 w 1567"/>
              <a:gd name="T43" fmla="*/ 203 h 440"/>
              <a:gd name="T44" fmla="*/ 1346 w 1567"/>
              <a:gd name="T45" fmla="*/ 138 h 440"/>
              <a:gd name="T46" fmla="*/ 1441 w 1567"/>
              <a:gd name="T47" fmla="*/ 63 h 440"/>
              <a:gd name="T48" fmla="*/ 1536 w 1567"/>
              <a:gd name="T49" fmla="*/ 33 h 440"/>
              <a:gd name="T50" fmla="*/ 1540 w 1567"/>
              <a:gd name="T51" fmla="*/ 59 h 440"/>
              <a:gd name="T52" fmla="*/ 1494 w 1567"/>
              <a:gd name="T53" fmla="*/ 112 h 440"/>
              <a:gd name="T54" fmla="*/ 1441 w 1567"/>
              <a:gd name="T55" fmla="*/ 165 h 440"/>
              <a:gd name="T56" fmla="*/ 1407 w 1567"/>
              <a:gd name="T57" fmla="*/ 218 h 440"/>
              <a:gd name="T58" fmla="*/ 1407 w 1567"/>
              <a:gd name="T59" fmla="*/ 273 h 440"/>
              <a:gd name="T60" fmla="*/ 1444 w 1567"/>
              <a:gd name="T61" fmla="*/ 329 h 440"/>
              <a:gd name="T62" fmla="*/ 1492 w 1567"/>
              <a:gd name="T63" fmla="*/ 371 h 440"/>
              <a:gd name="T64" fmla="*/ 1534 w 1567"/>
              <a:gd name="T65" fmla="*/ 405 h 440"/>
              <a:gd name="T66" fmla="*/ 1536 w 1567"/>
              <a:gd name="T67" fmla="*/ 423 h 440"/>
              <a:gd name="T68" fmla="*/ 1477 w 1567"/>
              <a:gd name="T69" fmla="*/ 421 h 440"/>
              <a:gd name="T70" fmla="*/ 1424 w 1567"/>
              <a:gd name="T71" fmla="*/ 408 h 440"/>
              <a:gd name="T72" fmla="*/ 1375 w 1567"/>
              <a:gd name="T73" fmla="*/ 384 h 440"/>
              <a:gd name="T74" fmla="*/ 1292 w 1567"/>
              <a:gd name="T75" fmla="*/ 335 h 440"/>
              <a:gd name="T76" fmla="*/ 1191 w 1567"/>
              <a:gd name="T77" fmla="*/ 327 h 440"/>
              <a:gd name="T78" fmla="*/ 1069 w 1567"/>
              <a:gd name="T79" fmla="*/ 340 h 440"/>
              <a:gd name="T80" fmla="*/ 992 w 1567"/>
              <a:gd name="T81" fmla="*/ 369 h 440"/>
              <a:gd name="T82" fmla="*/ 966 w 1567"/>
              <a:gd name="T83" fmla="*/ 404 h 440"/>
              <a:gd name="T84" fmla="*/ 857 w 1567"/>
              <a:gd name="T85" fmla="*/ 400 h 440"/>
              <a:gd name="T86" fmla="*/ 765 w 1567"/>
              <a:gd name="T87" fmla="*/ 428 h 440"/>
              <a:gd name="T88" fmla="*/ 424 w 1567"/>
              <a:gd name="T89" fmla="*/ 439 h 440"/>
              <a:gd name="T90" fmla="*/ 228 w 1567"/>
              <a:gd name="T91" fmla="*/ 420 h 440"/>
              <a:gd name="T92" fmla="*/ 56 w 1567"/>
              <a:gd name="T93" fmla="*/ 365 h 440"/>
              <a:gd name="T94" fmla="*/ 56 w 1567"/>
              <a:gd name="T95" fmla="*/ 337 h 440"/>
              <a:gd name="T96" fmla="*/ 18 w 1567"/>
              <a:gd name="T97" fmla="*/ 303 h 440"/>
              <a:gd name="T98" fmla="*/ 3 w 1567"/>
              <a:gd name="T99" fmla="*/ 28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7" h="440">
                <a:moveTo>
                  <a:pt x="0" y="272"/>
                </a:moveTo>
                <a:lnTo>
                  <a:pt x="5" y="268"/>
                </a:lnTo>
                <a:lnTo>
                  <a:pt x="17" y="261"/>
                </a:lnTo>
                <a:lnTo>
                  <a:pt x="35" y="254"/>
                </a:lnTo>
                <a:lnTo>
                  <a:pt x="49" y="250"/>
                </a:lnTo>
                <a:lnTo>
                  <a:pt x="64" y="244"/>
                </a:lnTo>
                <a:lnTo>
                  <a:pt x="89" y="236"/>
                </a:lnTo>
                <a:lnTo>
                  <a:pt x="114" y="229"/>
                </a:lnTo>
                <a:lnTo>
                  <a:pt x="137" y="222"/>
                </a:lnTo>
                <a:lnTo>
                  <a:pt x="161" y="217"/>
                </a:lnTo>
                <a:lnTo>
                  <a:pt x="186" y="212"/>
                </a:lnTo>
                <a:lnTo>
                  <a:pt x="214" y="207"/>
                </a:lnTo>
                <a:lnTo>
                  <a:pt x="241" y="202"/>
                </a:lnTo>
                <a:lnTo>
                  <a:pt x="265" y="197"/>
                </a:lnTo>
                <a:lnTo>
                  <a:pt x="289" y="193"/>
                </a:lnTo>
                <a:lnTo>
                  <a:pt x="311" y="189"/>
                </a:lnTo>
                <a:lnTo>
                  <a:pt x="342" y="183"/>
                </a:lnTo>
                <a:lnTo>
                  <a:pt x="367" y="179"/>
                </a:lnTo>
                <a:lnTo>
                  <a:pt x="391" y="175"/>
                </a:lnTo>
                <a:lnTo>
                  <a:pt x="412" y="172"/>
                </a:lnTo>
                <a:lnTo>
                  <a:pt x="431" y="167"/>
                </a:lnTo>
                <a:lnTo>
                  <a:pt x="446" y="161"/>
                </a:lnTo>
                <a:lnTo>
                  <a:pt x="457" y="155"/>
                </a:lnTo>
                <a:lnTo>
                  <a:pt x="468" y="147"/>
                </a:lnTo>
                <a:lnTo>
                  <a:pt x="478" y="138"/>
                </a:lnTo>
                <a:lnTo>
                  <a:pt x="490" y="126"/>
                </a:lnTo>
                <a:lnTo>
                  <a:pt x="504" y="112"/>
                </a:lnTo>
                <a:lnTo>
                  <a:pt x="522" y="95"/>
                </a:lnTo>
                <a:lnTo>
                  <a:pt x="539" y="78"/>
                </a:lnTo>
                <a:lnTo>
                  <a:pt x="558" y="62"/>
                </a:lnTo>
                <a:lnTo>
                  <a:pt x="574" y="45"/>
                </a:lnTo>
                <a:lnTo>
                  <a:pt x="593" y="31"/>
                </a:lnTo>
                <a:lnTo>
                  <a:pt x="613" y="16"/>
                </a:lnTo>
                <a:lnTo>
                  <a:pt x="636" y="0"/>
                </a:lnTo>
                <a:lnTo>
                  <a:pt x="643" y="28"/>
                </a:lnTo>
                <a:lnTo>
                  <a:pt x="652" y="53"/>
                </a:lnTo>
                <a:lnTo>
                  <a:pt x="661" y="80"/>
                </a:lnTo>
                <a:lnTo>
                  <a:pt x="669" y="108"/>
                </a:lnTo>
                <a:lnTo>
                  <a:pt x="674" y="131"/>
                </a:lnTo>
                <a:lnTo>
                  <a:pt x="673" y="145"/>
                </a:lnTo>
                <a:lnTo>
                  <a:pt x="663" y="157"/>
                </a:lnTo>
                <a:lnTo>
                  <a:pt x="688" y="161"/>
                </a:lnTo>
                <a:lnTo>
                  <a:pt x="713" y="165"/>
                </a:lnTo>
                <a:lnTo>
                  <a:pt x="744" y="171"/>
                </a:lnTo>
                <a:lnTo>
                  <a:pt x="778" y="176"/>
                </a:lnTo>
                <a:lnTo>
                  <a:pt x="813" y="183"/>
                </a:lnTo>
                <a:lnTo>
                  <a:pt x="841" y="188"/>
                </a:lnTo>
                <a:lnTo>
                  <a:pt x="870" y="192"/>
                </a:lnTo>
                <a:lnTo>
                  <a:pt x="896" y="195"/>
                </a:lnTo>
                <a:lnTo>
                  <a:pt x="920" y="197"/>
                </a:lnTo>
                <a:lnTo>
                  <a:pt x="938" y="192"/>
                </a:lnTo>
                <a:lnTo>
                  <a:pt x="955" y="183"/>
                </a:lnTo>
                <a:lnTo>
                  <a:pt x="972" y="172"/>
                </a:lnTo>
                <a:lnTo>
                  <a:pt x="1011" y="178"/>
                </a:lnTo>
                <a:lnTo>
                  <a:pt x="1053" y="188"/>
                </a:lnTo>
                <a:lnTo>
                  <a:pt x="1089" y="194"/>
                </a:lnTo>
                <a:lnTo>
                  <a:pt x="1067" y="215"/>
                </a:lnTo>
                <a:lnTo>
                  <a:pt x="1080" y="219"/>
                </a:lnTo>
                <a:lnTo>
                  <a:pt x="1100" y="225"/>
                </a:lnTo>
                <a:lnTo>
                  <a:pt x="1122" y="230"/>
                </a:lnTo>
                <a:lnTo>
                  <a:pt x="1146" y="234"/>
                </a:lnTo>
                <a:lnTo>
                  <a:pt x="1168" y="231"/>
                </a:lnTo>
                <a:lnTo>
                  <a:pt x="1191" y="229"/>
                </a:lnTo>
                <a:lnTo>
                  <a:pt x="1216" y="225"/>
                </a:lnTo>
                <a:lnTo>
                  <a:pt x="1242" y="217"/>
                </a:lnTo>
                <a:lnTo>
                  <a:pt x="1265" y="203"/>
                </a:lnTo>
                <a:lnTo>
                  <a:pt x="1295" y="183"/>
                </a:lnTo>
                <a:lnTo>
                  <a:pt x="1317" y="165"/>
                </a:lnTo>
                <a:lnTo>
                  <a:pt x="1346" y="138"/>
                </a:lnTo>
                <a:lnTo>
                  <a:pt x="1376" y="108"/>
                </a:lnTo>
                <a:lnTo>
                  <a:pt x="1411" y="82"/>
                </a:lnTo>
                <a:lnTo>
                  <a:pt x="1441" y="63"/>
                </a:lnTo>
                <a:lnTo>
                  <a:pt x="1471" y="48"/>
                </a:lnTo>
                <a:lnTo>
                  <a:pt x="1500" y="38"/>
                </a:lnTo>
                <a:lnTo>
                  <a:pt x="1536" y="33"/>
                </a:lnTo>
                <a:lnTo>
                  <a:pt x="1566" y="35"/>
                </a:lnTo>
                <a:lnTo>
                  <a:pt x="1550" y="48"/>
                </a:lnTo>
                <a:lnTo>
                  <a:pt x="1540" y="59"/>
                </a:lnTo>
                <a:lnTo>
                  <a:pt x="1534" y="68"/>
                </a:lnTo>
                <a:lnTo>
                  <a:pt x="1511" y="98"/>
                </a:lnTo>
                <a:lnTo>
                  <a:pt x="1494" y="112"/>
                </a:lnTo>
                <a:lnTo>
                  <a:pt x="1474" y="128"/>
                </a:lnTo>
                <a:lnTo>
                  <a:pt x="1456" y="147"/>
                </a:lnTo>
                <a:lnTo>
                  <a:pt x="1441" y="165"/>
                </a:lnTo>
                <a:lnTo>
                  <a:pt x="1428" y="183"/>
                </a:lnTo>
                <a:lnTo>
                  <a:pt x="1416" y="202"/>
                </a:lnTo>
                <a:lnTo>
                  <a:pt x="1407" y="218"/>
                </a:lnTo>
                <a:lnTo>
                  <a:pt x="1401" y="235"/>
                </a:lnTo>
                <a:lnTo>
                  <a:pt x="1399" y="254"/>
                </a:lnTo>
                <a:lnTo>
                  <a:pt x="1407" y="273"/>
                </a:lnTo>
                <a:lnTo>
                  <a:pt x="1416" y="294"/>
                </a:lnTo>
                <a:lnTo>
                  <a:pt x="1429" y="311"/>
                </a:lnTo>
                <a:lnTo>
                  <a:pt x="1444" y="329"/>
                </a:lnTo>
                <a:lnTo>
                  <a:pt x="1459" y="343"/>
                </a:lnTo>
                <a:lnTo>
                  <a:pt x="1475" y="356"/>
                </a:lnTo>
                <a:lnTo>
                  <a:pt x="1492" y="371"/>
                </a:lnTo>
                <a:lnTo>
                  <a:pt x="1511" y="387"/>
                </a:lnTo>
                <a:lnTo>
                  <a:pt x="1522" y="397"/>
                </a:lnTo>
                <a:lnTo>
                  <a:pt x="1534" y="405"/>
                </a:lnTo>
                <a:lnTo>
                  <a:pt x="1546" y="413"/>
                </a:lnTo>
                <a:lnTo>
                  <a:pt x="1554" y="422"/>
                </a:lnTo>
                <a:lnTo>
                  <a:pt x="1536" y="423"/>
                </a:lnTo>
                <a:lnTo>
                  <a:pt x="1514" y="423"/>
                </a:lnTo>
                <a:lnTo>
                  <a:pt x="1494" y="423"/>
                </a:lnTo>
                <a:lnTo>
                  <a:pt x="1477" y="421"/>
                </a:lnTo>
                <a:lnTo>
                  <a:pt x="1455" y="419"/>
                </a:lnTo>
                <a:lnTo>
                  <a:pt x="1439" y="414"/>
                </a:lnTo>
                <a:lnTo>
                  <a:pt x="1424" y="408"/>
                </a:lnTo>
                <a:lnTo>
                  <a:pt x="1408" y="401"/>
                </a:lnTo>
                <a:lnTo>
                  <a:pt x="1391" y="393"/>
                </a:lnTo>
                <a:lnTo>
                  <a:pt x="1375" y="384"/>
                </a:lnTo>
                <a:lnTo>
                  <a:pt x="1344" y="363"/>
                </a:lnTo>
                <a:lnTo>
                  <a:pt x="1322" y="350"/>
                </a:lnTo>
                <a:lnTo>
                  <a:pt x="1292" y="335"/>
                </a:lnTo>
                <a:lnTo>
                  <a:pt x="1263" y="330"/>
                </a:lnTo>
                <a:lnTo>
                  <a:pt x="1232" y="331"/>
                </a:lnTo>
                <a:lnTo>
                  <a:pt x="1191" y="327"/>
                </a:lnTo>
                <a:lnTo>
                  <a:pt x="1154" y="331"/>
                </a:lnTo>
                <a:lnTo>
                  <a:pt x="1112" y="333"/>
                </a:lnTo>
                <a:lnTo>
                  <a:pt x="1069" y="340"/>
                </a:lnTo>
                <a:lnTo>
                  <a:pt x="1024" y="350"/>
                </a:lnTo>
                <a:lnTo>
                  <a:pt x="997" y="360"/>
                </a:lnTo>
                <a:lnTo>
                  <a:pt x="992" y="369"/>
                </a:lnTo>
                <a:lnTo>
                  <a:pt x="997" y="378"/>
                </a:lnTo>
                <a:lnTo>
                  <a:pt x="1019" y="391"/>
                </a:lnTo>
                <a:lnTo>
                  <a:pt x="966" y="404"/>
                </a:lnTo>
                <a:lnTo>
                  <a:pt x="893" y="422"/>
                </a:lnTo>
                <a:lnTo>
                  <a:pt x="877" y="409"/>
                </a:lnTo>
                <a:lnTo>
                  <a:pt x="857" y="400"/>
                </a:lnTo>
                <a:lnTo>
                  <a:pt x="837" y="395"/>
                </a:lnTo>
                <a:lnTo>
                  <a:pt x="806" y="394"/>
                </a:lnTo>
                <a:lnTo>
                  <a:pt x="765" y="428"/>
                </a:lnTo>
                <a:lnTo>
                  <a:pt x="731" y="403"/>
                </a:lnTo>
                <a:lnTo>
                  <a:pt x="475" y="437"/>
                </a:lnTo>
                <a:lnTo>
                  <a:pt x="424" y="439"/>
                </a:lnTo>
                <a:lnTo>
                  <a:pt x="376" y="436"/>
                </a:lnTo>
                <a:lnTo>
                  <a:pt x="327" y="432"/>
                </a:lnTo>
                <a:lnTo>
                  <a:pt x="228" y="420"/>
                </a:lnTo>
                <a:lnTo>
                  <a:pt x="139" y="399"/>
                </a:lnTo>
                <a:lnTo>
                  <a:pt x="90" y="382"/>
                </a:lnTo>
                <a:lnTo>
                  <a:pt x="56" y="365"/>
                </a:lnTo>
                <a:lnTo>
                  <a:pt x="92" y="359"/>
                </a:lnTo>
                <a:lnTo>
                  <a:pt x="70" y="346"/>
                </a:lnTo>
                <a:lnTo>
                  <a:pt x="56" y="337"/>
                </a:lnTo>
                <a:lnTo>
                  <a:pt x="31" y="317"/>
                </a:lnTo>
                <a:lnTo>
                  <a:pt x="25" y="311"/>
                </a:lnTo>
                <a:lnTo>
                  <a:pt x="18" y="303"/>
                </a:lnTo>
                <a:lnTo>
                  <a:pt x="13" y="297"/>
                </a:lnTo>
                <a:lnTo>
                  <a:pt x="8" y="287"/>
                </a:lnTo>
                <a:lnTo>
                  <a:pt x="3" y="280"/>
                </a:lnTo>
                <a:lnTo>
                  <a:pt x="0" y="27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72" name="Group 28"/>
          <p:cNvGrpSpPr>
            <a:grpSpLocks/>
          </p:cNvGrpSpPr>
          <p:nvPr/>
        </p:nvGrpSpPr>
        <p:grpSpPr bwMode="auto">
          <a:xfrm>
            <a:off x="2879725" y="3821114"/>
            <a:ext cx="52388" cy="47625"/>
            <a:chOff x="854" y="2407"/>
            <a:chExt cx="33" cy="30"/>
          </a:xfrm>
        </p:grpSpPr>
        <p:sp>
          <p:nvSpPr>
            <p:cNvPr id="6170" name="Oval 26" descr="50%"/>
            <p:cNvSpPr>
              <a:spLocks noChangeArrowheads="1"/>
            </p:cNvSpPr>
            <p:nvPr/>
          </p:nvSpPr>
          <p:spPr bwMode="auto">
            <a:xfrm>
              <a:off x="854" y="2407"/>
              <a:ext cx="33" cy="30"/>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1" name="Arc 27" descr="50%"/>
            <p:cNvSpPr>
              <a:spLocks/>
            </p:cNvSpPr>
            <p:nvPr/>
          </p:nvSpPr>
          <p:spPr bwMode="auto">
            <a:xfrm>
              <a:off x="860" y="2411"/>
              <a:ext cx="25" cy="23"/>
            </a:xfrm>
            <a:custGeom>
              <a:avLst/>
              <a:gdLst>
                <a:gd name="G0" fmla="+- 21600 0 0"/>
                <a:gd name="G1" fmla="+- 21050 0 0"/>
                <a:gd name="G2" fmla="+- 21600 0 0"/>
                <a:gd name="T0" fmla="*/ 35274 w 43200"/>
                <a:gd name="T1" fmla="*/ 4329 h 42650"/>
                <a:gd name="T2" fmla="*/ 16758 w 43200"/>
                <a:gd name="T3" fmla="*/ 0 h 42650"/>
                <a:gd name="T4" fmla="*/ 21600 w 43200"/>
                <a:gd name="T5" fmla="*/ 21050 h 42650"/>
              </a:gdLst>
              <a:ahLst/>
              <a:cxnLst>
                <a:cxn ang="0">
                  <a:pos x="T0" y="T1"/>
                </a:cxn>
                <a:cxn ang="0">
                  <a:pos x="T2" y="T3"/>
                </a:cxn>
                <a:cxn ang="0">
                  <a:pos x="T4" y="T5"/>
                </a:cxn>
              </a:cxnLst>
              <a:rect l="0" t="0" r="r" b="b"/>
              <a:pathLst>
                <a:path w="43200" h="42650" fill="none"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path>
                <a:path w="43200" h="42650" stroke="0"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lnTo>
                    <a:pt x="21600" y="2105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8" name="Group 34"/>
          <p:cNvGrpSpPr>
            <a:grpSpLocks/>
          </p:cNvGrpSpPr>
          <p:nvPr/>
        </p:nvGrpSpPr>
        <p:grpSpPr bwMode="auto">
          <a:xfrm>
            <a:off x="3028951" y="3876675"/>
            <a:ext cx="157163" cy="114300"/>
            <a:chOff x="948" y="2442"/>
            <a:chExt cx="99" cy="72"/>
          </a:xfrm>
        </p:grpSpPr>
        <p:sp>
          <p:nvSpPr>
            <p:cNvPr id="6173" name="Arc 29" descr="50%"/>
            <p:cNvSpPr>
              <a:spLocks/>
            </p:cNvSpPr>
            <p:nvPr/>
          </p:nvSpPr>
          <p:spPr bwMode="auto">
            <a:xfrm>
              <a:off x="969"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Arc 30" descr="50%"/>
            <p:cNvSpPr>
              <a:spLocks/>
            </p:cNvSpPr>
            <p:nvPr/>
          </p:nvSpPr>
          <p:spPr bwMode="auto">
            <a:xfrm>
              <a:off x="948" y="2442"/>
              <a:ext cx="14" cy="72"/>
            </a:xfrm>
            <a:custGeom>
              <a:avLst/>
              <a:gdLst>
                <a:gd name="G0" fmla="+- 5834 0 0"/>
                <a:gd name="G1" fmla="+- 21600 0 0"/>
                <a:gd name="G2" fmla="+- 21600 0 0"/>
                <a:gd name="T0" fmla="*/ 3878 w 27434"/>
                <a:gd name="T1" fmla="*/ 89 h 43200"/>
                <a:gd name="T2" fmla="*/ 0 w 27434"/>
                <a:gd name="T3" fmla="*/ 42397 h 43200"/>
                <a:gd name="T4" fmla="*/ 5834 w 27434"/>
                <a:gd name="T5" fmla="*/ 21600 h 43200"/>
              </a:gdLst>
              <a:ahLst/>
              <a:cxnLst>
                <a:cxn ang="0">
                  <a:pos x="T0" y="T1"/>
                </a:cxn>
                <a:cxn ang="0">
                  <a:pos x="T2" y="T3"/>
                </a:cxn>
                <a:cxn ang="0">
                  <a:pos x="T4" y="T5"/>
                </a:cxn>
              </a:cxnLst>
              <a:rect l="0" t="0" r="r" b="b"/>
              <a:pathLst>
                <a:path w="27434" h="43200" fill="none"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path>
                <a:path w="27434" h="43200" stroke="0"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lnTo>
                    <a:pt x="5834"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Arc 31" descr="50%"/>
            <p:cNvSpPr>
              <a:spLocks/>
            </p:cNvSpPr>
            <p:nvPr/>
          </p:nvSpPr>
          <p:spPr bwMode="auto">
            <a:xfrm>
              <a:off x="990"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6" name="Arc 32" descr="50%"/>
            <p:cNvSpPr>
              <a:spLocks/>
            </p:cNvSpPr>
            <p:nvPr/>
          </p:nvSpPr>
          <p:spPr bwMode="auto">
            <a:xfrm>
              <a:off x="1011"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Arc 33" descr="50%"/>
            <p:cNvSpPr>
              <a:spLocks/>
            </p:cNvSpPr>
            <p:nvPr/>
          </p:nvSpPr>
          <p:spPr bwMode="auto">
            <a:xfrm>
              <a:off x="1034"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79" name="Freeform 35" descr="50%"/>
          <p:cNvSpPr>
            <a:spLocks/>
          </p:cNvSpPr>
          <p:nvPr/>
        </p:nvSpPr>
        <p:spPr bwMode="auto">
          <a:xfrm>
            <a:off x="2670175" y="3376613"/>
            <a:ext cx="2465388" cy="463550"/>
          </a:xfrm>
          <a:custGeom>
            <a:avLst/>
            <a:gdLst>
              <a:gd name="T0" fmla="*/ 33 w 1553"/>
              <a:gd name="T1" fmla="*/ 246 h 292"/>
              <a:gd name="T2" fmla="*/ 105 w 1553"/>
              <a:gd name="T3" fmla="*/ 223 h 292"/>
              <a:gd name="T4" fmla="*/ 209 w 1553"/>
              <a:gd name="T5" fmla="*/ 200 h 292"/>
              <a:gd name="T6" fmla="*/ 312 w 1553"/>
              <a:gd name="T7" fmla="*/ 182 h 292"/>
              <a:gd name="T8" fmla="*/ 410 w 1553"/>
              <a:gd name="T9" fmla="*/ 165 h 292"/>
              <a:gd name="T10" fmla="*/ 468 w 1553"/>
              <a:gd name="T11" fmla="*/ 140 h 292"/>
              <a:gd name="T12" fmla="*/ 518 w 1553"/>
              <a:gd name="T13" fmla="*/ 91 h 292"/>
              <a:gd name="T14" fmla="*/ 592 w 1553"/>
              <a:gd name="T15" fmla="*/ 27 h 292"/>
              <a:gd name="T16" fmla="*/ 646 w 1553"/>
              <a:gd name="T17" fmla="*/ 52 h 292"/>
              <a:gd name="T18" fmla="*/ 667 w 1553"/>
              <a:gd name="T19" fmla="*/ 126 h 292"/>
              <a:gd name="T20" fmla="*/ 707 w 1553"/>
              <a:gd name="T21" fmla="*/ 160 h 292"/>
              <a:gd name="T22" fmla="*/ 834 w 1553"/>
              <a:gd name="T23" fmla="*/ 181 h 292"/>
              <a:gd name="T24" fmla="*/ 931 w 1553"/>
              <a:gd name="T25" fmla="*/ 185 h 292"/>
              <a:gd name="T26" fmla="*/ 1046 w 1553"/>
              <a:gd name="T27" fmla="*/ 181 h 292"/>
              <a:gd name="T28" fmla="*/ 1092 w 1553"/>
              <a:gd name="T29" fmla="*/ 218 h 292"/>
              <a:gd name="T30" fmla="*/ 1183 w 1553"/>
              <a:gd name="T31" fmla="*/ 222 h 292"/>
              <a:gd name="T32" fmla="*/ 1287 w 1553"/>
              <a:gd name="T33" fmla="*/ 176 h 292"/>
              <a:gd name="T34" fmla="*/ 1368 w 1553"/>
              <a:gd name="T35" fmla="*/ 103 h 292"/>
              <a:gd name="T36" fmla="*/ 1434 w 1553"/>
              <a:gd name="T37" fmla="*/ 59 h 292"/>
              <a:gd name="T38" fmla="*/ 1491 w 1553"/>
              <a:gd name="T39" fmla="*/ 35 h 292"/>
              <a:gd name="T40" fmla="*/ 1540 w 1553"/>
              <a:gd name="T41" fmla="*/ 41 h 292"/>
              <a:gd name="T42" fmla="*/ 1500 w 1553"/>
              <a:gd name="T43" fmla="*/ 91 h 292"/>
              <a:gd name="T44" fmla="*/ 1448 w 1553"/>
              <a:gd name="T45" fmla="*/ 136 h 292"/>
              <a:gd name="T46" fmla="*/ 1418 w 1553"/>
              <a:gd name="T47" fmla="*/ 174 h 292"/>
              <a:gd name="T48" fmla="*/ 1396 w 1553"/>
              <a:gd name="T49" fmla="*/ 208 h 292"/>
              <a:gd name="T50" fmla="*/ 1388 w 1553"/>
              <a:gd name="T51" fmla="*/ 244 h 292"/>
              <a:gd name="T52" fmla="*/ 1344 w 1553"/>
              <a:gd name="T53" fmla="*/ 237 h 292"/>
              <a:gd name="T54" fmla="*/ 1305 w 1553"/>
              <a:gd name="T55" fmla="*/ 249 h 292"/>
              <a:gd name="T56" fmla="*/ 1259 w 1553"/>
              <a:gd name="T57" fmla="*/ 244 h 292"/>
              <a:gd name="T58" fmla="*/ 1208 w 1553"/>
              <a:gd name="T59" fmla="*/ 247 h 292"/>
              <a:gd name="T60" fmla="*/ 1155 w 1553"/>
              <a:gd name="T61" fmla="*/ 242 h 292"/>
              <a:gd name="T62" fmla="*/ 1096 w 1553"/>
              <a:gd name="T63" fmla="*/ 245 h 292"/>
              <a:gd name="T64" fmla="*/ 1035 w 1553"/>
              <a:gd name="T65" fmla="*/ 255 h 292"/>
              <a:gd name="T66" fmla="*/ 976 w 1553"/>
              <a:gd name="T67" fmla="*/ 256 h 292"/>
              <a:gd name="T68" fmla="*/ 918 w 1553"/>
              <a:gd name="T69" fmla="*/ 257 h 292"/>
              <a:gd name="T70" fmla="*/ 864 w 1553"/>
              <a:gd name="T71" fmla="*/ 263 h 292"/>
              <a:gd name="T72" fmla="*/ 807 w 1553"/>
              <a:gd name="T73" fmla="*/ 275 h 292"/>
              <a:gd name="T74" fmla="*/ 738 w 1553"/>
              <a:gd name="T75" fmla="*/ 275 h 292"/>
              <a:gd name="T76" fmla="*/ 679 w 1553"/>
              <a:gd name="T77" fmla="*/ 278 h 292"/>
              <a:gd name="T78" fmla="*/ 620 w 1553"/>
              <a:gd name="T79" fmla="*/ 269 h 292"/>
              <a:gd name="T80" fmla="*/ 563 w 1553"/>
              <a:gd name="T81" fmla="*/ 275 h 292"/>
              <a:gd name="T82" fmla="*/ 516 w 1553"/>
              <a:gd name="T83" fmla="*/ 268 h 292"/>
              <a:gd name="T84" fmla="*/ 458 w 1553"/>
              <a:gd name="T85" fmla="*/ 275 h 292"/>
              <a:gd name="T86" fmla="*/ 397 w 1553"/>
              <a:gd name="T87" fmla="*/ 278 h 292"/>
              <a:gd name="T88" fmla="*/ 319 w 1553"/>
              <a:gd name="T89" fmla="*/ 291 h 292"/>
              <a:gd name="T90" fmla="*/ 227 w 1553"/>
              <a:gd name="T91" fmla="*/ 291 h 292"/>
              <a:gd name="T92" fmla="*/ 152 w 1553"/>
              <a:gd name="T93" fmla="*/ 280 h 292"/>
              <a:gd name="T94" fmla="*/ 82 w 1553"/>
              <a:gd name="T95" fmla="*/ 283 h 292"/>
              <a:gd name="T96" fmla="*/ 16 w 1553"/>
              <a:gd name="T97" fmla="*/ 27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3" h="292">
                <a:moveTo>
                  <a:pt x="0" y="262"/>
                </a:moveTo>
                <a:lnTo>
                  <a:pt x="9" y="257"/>
                </a:lnTo>
                <a:lnTo>
                  <a:pt x="20" y="251"/>
                </a:lnTo>
                <a:lnTo>
                  <a:pt x="33" y="246"/>
                </a:lnTo>
                <a:lnTo>
                  <a:pt x="47" y="241"/>
                </a:lnTo>
                <a:lnTo>
                  <a:pt x="63" y="236"/>
                </a:lnTo>
                <a:lnTo>
                  <a:pt x="86" y="230"/>
                </a:lnTo>
                <a:lnTo>
                  <a:pt x="105" y="223"/>
                </a:lnTo>
                <a:lnTo>
                  <a:pt x="129" y="216"/>
                </a:lnTo>
                <a:lnTo>
                  <a:pt x="156" y="210"/>
                </a:lnTo>
                <a:lnTo>
                  <a:pt x="182" y="204"/>
                </a:lnTo>
                <a:lnTo>
                  <a:pt x="209" y="200"/>
                </a:lnTo>
                <a:lnTo>
                  <a:pt x="234" y="196"/>
                </a:lnTo>
                <a:lnTo>
                  <a:pt x="261" y="192"/>
                </a:lnTo>
                <a:lnTo>
                  <a:pt x="286" y="187"/>
                </a:lnTo>
                <a:lnTo>
                  <a:pt x="312" y="182"/>
                </a:lnTo>
                <a:lnTo>
                  <a:pt x="332" y="178"/>
                </a:lnTo>
                <a:lnTo>
                  <a:pt x="362" y="173"/>
                </a:lnTo>
                <a:lnTo>
                  <a:pt x="387" y="169"/>
                </a:lnTo>
                <a:lnTo>
                  <a:pt x="410" y="165"/>
                </a:lnTo>
                <a:lnTo>
                  <a:pt x="428" y="161"/>
                </a:lnTo>
                <a:lnTo>
                  <a:pt x="444" y="155"/>
                </a:lnTo>
                <a:lnTo>
                  <a:pt x="458" y="147"/>
                </a:lnTo>
                <a:lnTo>
                  <a:pt x="468" y="140"/>
                </a:lnTo>
                <a:lnTo>
                  <a:pt x="477" y="130"/>
                </a:lnTo>
                <a:lnTo>
                  <a:pt x="487" y="120"/>
                </a:lnTo>
                <a:lnTo>
                  <a:pt x="503" y="104"/>
                </a:lnTo>
                <a:lnTo>
                  <a:pt x="518" y="91"/>
                </a:lnTo>
                <a:lnTo>
                  <a:pt x="535" y="75"/>
                </a:lnTo>
                <a:lnTo>
                  <a:pt x="553" y="59"/>
                </a:lnTo>
                <a:lnTo>
                  <a:pt x="571" y="42"/>
                </a:lnTo>
                <a:lnTo>
                  <a:pt x="592" y="27"/>
                </a:lnTo>
                <a:lnTo>
                  <a:pt x="612" y="12"/>
                </a:lnTo>
                <a:lnTo>
                  <a:pt x="629" y="0"/>
                </a:lnTo>
                <a:lnTo>
                  <a:pt x="636" y="24"/>
                </a:lnTo>
                <a:lnTo>
                  <a:pt x="646" y="52"/>
                </a:lnTo>
                <a:lnTo>
                  <a:pt x="654" y="78"/>
                </a:lnTo>
                <a:lnTo>
                  <a:pt x="662" y="102"/>
                </a:lnTo>
                <a:lnTo>
                  <a:pt x="665" y="114"/>
                </a:lnTo>
                <a:lnTo>
                  <a:pt x="667" y="126"/>
                </a:lnTo>
                <a:lnTo>
                  <a:pt x="665" y="138"/>
                </a:lnTo>
                <a:lnTo>
                  <a:pt x="655" y="151"/>
                </a:lnTo>
                <a:lnTo>
                  <a:pt x="681" y="156"/>
                </a:lnTo>
                <a:lnTo>
                  <a:pt x="707" y="160"/>
                </a:lnTo>
                <a:lnTo>
                  <a:pt x="738" y="165"/>
                </a:lnTo>
                <a:lnTo>
                  <a:pt x="773" y="170"/>
                </a:lnTo>
                <a:lnTo>
                  <a:pt x="808" y="177"/>
                </a:lnTo>
                <a:lnTo>
                  <a:pt x="834" y="181"/>
                </a:lnTo>
                <a:lnTo>
                  <a:pt x="864" y="185"/>
                </a:lnTo>
                <a:lnTo>
                  <a:pt x="889" y="188"/>
                </a:lnTo>
                <a:lnTo>
                  <a:pt x="912" y="190"/>
                </a:lnTo>
                <a:lnTo>
                  <a:pt x="931" y="185"/>
                </a:lnTo>
                <a:lnTo>
                  <a:pt x="949" y="177"/>
                </a:lnTo>
                <a:lnTo>
                  <a:pt x="965" y="165"/>
                </a:lnTo>
                <a:lnTo>
                  <a:pt x="1004" y="171"/>
                </a:lnTo>
                <a:lnTo>
                  <a:pt x="1046" y="181"/>
                </a:lnTo>
                <a:lnTo>
                  <a:pt x="1077" y="187"/>
                </a:lnTo>
                <a:lnTo>
                  <a:pt x="1058" y="206"/>
                </a:lnTo>
                <a:lnTo>
                  <a:pt x="1072" y="211"/>
                </a:lnTo>
                <a:lnTo>
                  <a:pt x="1092" y="218"/>
                </a:lnTo>
                <a:lnTo>
                  <a:pt x="1114" y="223"/>
                </a:lnTo>
                <a:lnTo>
                  <a:pt x="1138" y="226"/>
                </a:lnTo>
                <a:lnTo>
                  <a:pt x="1160" y="224"/>
                </a:lnTo>
                <a:lnTo>
                  <a:pt x="1183" y="222"/>
                </a:lnTo>
                <a:lnTo>
                  <a:pt x="1207" y="218"/>
                </a:lnTo>
                <a:lnTo>
                  <a:pt x="1234" y="210"/>
                </a:lnTo>
                <a:lnTo>
                  <a:pt x="1258" y="196"/>
                </a:lnTo>
                <a:lnTo>
                  <a:pt x="1287" y="176"/>
                </a:lnTo>
                <a:lnTo>
                  <a:pt x="1310" y="158"/>
                </a:lnTo>
                <a:lnTo>
                  <a:pt x="1337" y="133"/>
                </a:lnTo>
                <a:lnTo>
                  <a:pt x="1349" y="122"/>
                </a:lnTo>
                <a:lnTo>
                  <a:pt x="1368" y="103"/>
                </a:lnTo>
                <a:lnTo>
                  <a:pt x="1386" y="91"/>
                </a:lnTo>
                <a:lnTo>
                  <a:pt x="1402" y="79"/>
                </a:lnTo>
                <a:lnTo>
                  <a:pt x="1419" y="68"/>
                </a:lnTo>
                <a:lnTo>
                  <a:pt x="1434" y="59"/>
                </a:lnTo>
                <a:lnTo>
                  <a:pt x="1449" y="52"/>
                </a:lnTo>
                <a:lnTo>
                  <a:pt x="1463" y="45"/>
                </a:lnTo>
                <a:lnTo>
                  <a:pt x="1476" y="40"/>
                </a:lnTo>
                <a:lnTo>
                  <a:pt x="1491" y="35"/>
                </a:lnTo>
                <a:lnTo>
                  <a:pt x="1506" y="33"/>
                </a:lnTo>
                <a:lnTo>
                  <a:pt x="1524" y="32"/>
                </a:lnTo>
                <a:lnTo>
                  <a:pt x="1552" y="32"/>
                </a:lnTo>
                <a:lnTo>
                  <a:pt x="1540" y="41"/>
                </a:lnTo>
                <a:lnTo>
                  <a:pt x="1528" y="54"/>
                </a:lnTo>
                <a:lnTo>
                  <a:pt x="1522" y="62"/>
                </a:lnTo>
                <a:lnTo>
                  <a:pt x="1511" y="78"/>
                </a:lnTo>
                <a:lnTo>
                  <a:pt x="1500" y="91"/>
                </a:lnTo>
                <a:lnTo>
                  <a:pt x="1485" y="104"/>
                </a:lnTo>
                <a:lnTo>
                  <a:pt x="1466" y="118"/>
                </a:lnTo>
                <a:lnTo>
                  <a:pt x="1456" y="126"/>
                </a:lnTo>
                <a:lnTo>
                  <a:pt x="1448" y="136"/>
                </a:lnTo>
                <a:lnTo>
                  <a:pt x="1438" y="147"/>
                </a:lnTo>
                <a:lnTo>
                  <a:pt x="1432" y="155"/>
                </a:lnTo>
                <a:lnTo>
                  <a:pt x="1425" y="164"/>
                </a:lnTo>
                <a:lnTo>
                  <a:pt x="1418" y="174"/>
                </a:lnTo>
                <a:lnTo>
                  <a:pt x="1412" y="183"/>
                </a:lnTo>
                <a:lnTo>
                  <a:pt x="1406" y="192"/>
                </a:lnTo>
                <a:lnTo>
                  <a:pt x="1401" y="200"/>
                </a:lnTo>
                <a:lnTo>
                  <a:pt x="1396" y="208"/>
                </a:lnTo>
                <a:lnTo>
                  <a:pt x="1392" y="218"/>
                </a:lnTo>
                <a:lnTo>
                  <a:pt x="1390" y="226"/>
                </a:lnTo>
                <a:lnTo>
                  <a:pt x="1389" y="235"/>
                </a:lnTo>
                <a:lnTo>
                  <a:pt x="1388" y="244"/>
                </a:lnTo>
                <a:lnTo>
                  <a:pt x="1380" y="239"/>
                </a:lnTo>
                <a:lnTo>
                  <a:pt x="1366" y="237"/>
                </a:lnTo>
                <a:lnTo>
                  <a:pt x="1355" y="236"/>
                </a:lnTo>
                <a:lnTo>
                  <a:pt x="1344" y="237"/>
                </a:lnTo>
                <a:lnTo>
                  <a:pt x="1334" y="240"/>
                </a:lnTo>
                <a:lnTo>
                  <a:pt x="1325" y="244"/>
                </a:lnTo>
                <a:lnTo>
                  <a:pt x="1315" y="246"/>
                </a:lnTo>
                <a:lnTo>
                  <a:pt x="1305" y="249"/>
                </a:lnTo>
                <a:lnTo>
                  <a:pt x="1294" y="251"/>
                </a:lnTo>
                <a:lnTo>
                  <a:pt x="1279" y="248"/>
                </a:lnTo>
                <a:lnTo>
                  <a:pt x="1268" y="247"/>
                </a:lnTo>
                <a:lnTo>
                  <a:pt x="1259" y="244"/>
                </a:lnTo>
                <a:lnTo>
                  <a:pt x="1248" y="241"/>
                </a:lnTo>
                <a:lnTo>
                  <a:pt x="1237" y="242"/>
                </a:lnTo>
                <a:lnTo>
                  <a:pt x="1222" y="244"/>
                </a:lnTo>
                <a:lnTo>
                  <a:pt x="1208" y="247"/>
                </a:lnTo>
                <a:lnTo>
                  <a:pt x="1198" y="246"/>
                </a:lnTo>
                <a:lnTo>
                  <a:pt x="1183" y="245"/>
                </a:lnTo>
                <a:lnTo>
                  <a:pt x="1169" y="242"/>
                </a:lnTo>
                <a:lnTo>
                  <a:pt x="1155" y="242"/>
                </a:lnTo>
                <a:lnTo>
                  <a:pt x="1143" y="245"/>
                </a:lnTo>
                <a:lnTo>
                  <a:pt x="1124" y="247"/>
                </a:lnTo>
                <a:lnTo>
                  <a:pt x="1112" y="247"/>
                </a:lnTo>
                <a:lnTo>
                  <a:pt x="1096" y="245"/>
                </a:lnTo>
                <a:lnTo>
                  <a:pt x="1082" y="244"/>
                </a:lnTo>
                <a:lnTo>
                  <a:pt x="1066" y="247"/>
                </a:lnTo>
                <a:lnTo>
                  <a:pt x="1053" y="251"/>
                </a:lnTo>
                <a:lnTo>
                  <a:pt x="1035" y="255"/>
                </a:lnTo>
                <a:lnTo>
                  <a:pt x="1021" y="256"/>
                </a:lnTo>
                <a:lnTo>
                  <a:pt x="1005" y="258"/>
                </a:lnTo>
                <a:lnTo>
                  <a:pt x="992" y="258"/>
                </a:lnTo>
                <a:lnTo>
                  <a:pt x="976" y="256"/>
                </a:lnTo>
                <a:lnTo>
                  <a:pt x="960" y="252"/>
                </a:lnTo>
                <a:lnTo>
                  <a:pt x="943" y="256"/>
                </a:lnTo>
                <a:lnTo>
                  <a:pt x="932" y="257"/>
                </a:lnTo>
                <a:lnTo>
                  <a:pt x="918" y="257"/>
                </a:lnTo>
                <a:lnTo>
                  <a:pt x="905" y="256"/>
                </a:lnTo>
                <a:lnTo>
                  <a:pt x="891" y="256"/>
                </a:lnTo>
                <a:lnTo>
                  <a:pt x="877" y="258"/>
                </a:lnTo>
                <a:lnTo>
                  <a:pt x="864" y="263"/>
                </a:lnTo>
                <a:lnTo>
                  <a:pt x="852" y="266"/>
                </a:lnTo>
                <a:lnTo>
                  <a:pt x="837" y="271"/>
                </a:lnTo>
                <a:lnTo>
                  <a:pt x="823" y="273"/>
                </a:lnTo>
                <a:lnTo>
                  <a:pt x="807" y="275"/>
                </a:lnTo>
                <a:lnTo>
                  <a:pt x="791" y="277"/>
                </a:lnTo>
                <a:lnTo>
                  <a:pt x="770" y="275"/>
                </a:lnTo>
                <a:lnTo>
                  <a:pt x="751" y="273"/>
                </a:lnTo>
                <a:lnTo>
                  <a:pt x="738" y="275"/>
                </a:lnTo>
                <a:lnTo>
                  <a:pt x="720" y="277"/>
                </a:lnTo>
                <a:lnTo>
                  <a:pt x="707" y="277"/>
                </a:lnTo>
                <a:lnTo>
                  <a:pt x="692" y="278"/>
                </a:lnTo>
                <a:lnTo>
                  <a:pt x="679" y="278"/>
                </a:lnTo>
                <a:lnTo>
                  <a:pt x="660" y="277"/>
                </a:lnTo>
                <a:lnTo>
                  <a:pt x="644" y="273"/>
                </a:lnTo>
                <a:lnTo>
                  <a:pt x="633" y="269"/>
                </a:lnTo>
                <a:lnTo>
                  <a:pt x="620" y="269"/>
                </a:lnTo>
                <a:lnTo>
                  <a:pt x="606" y="268"/>
                </a:lnTo>
                <a:lnTo>
                  <a:pt x="592" y="271"/>
                </a:lnTo>
                <a:lnTo>
                  <a:pt x="576" y="273"/>
                </a:lnTo>
                <a:lnTo>
                  <a:pt x="563" y="275"/>
                </a:lnTo>
                <a:lnTo>
                  <a:pt x="551" y="275"/>
                </a:lnTo>
                <a:lnTo>
                  <a:pt x="542" y="273"/>
                </a:lnTo>
                <a:lnTo>
                  <a:pt x="529" y="269"/>
                </a:lnTo>
                <a:lnTo>
                  <a:pt x="516" y="268"/>
                </a:lnTo>
                <a:lnTo>
                  <a:pt x="503" y="269"/>
                </a:lnTo>
                <a:lnTo>
                  <a:pt x="491" y="271"/>
                </a:lnTo>
                <a:lnTo>
                  <a:pt x="476" y="273"/>
                </a:lnTo>
                <a:lnTo>
                  <a:pt x="458" y="275"/>
                </a:lnTo>
                <a:lnTo>
                  <a:pt x="443" y="275"/>
                </a:lnTo>
                <a:lnTo>
                  <a:pt x="428" y="273"/>
                </a:lnTo>
                <a:lnTo>
                  <a:pt x="412" y="276"/>
                </a:lnTo>
                <a:lnTo>
                  <a:pt x="397" y="278"/>
                </a:lnTo>
                <a:lnTo>
                  <a:pt x="381" y="282"/>
                </a:lnTo>
                <a:lnTo>
                  <a:pt x="365" y="286"/>
                </a:lnTo>
                <a:lnTo>
                  <a:pt x="343" y="290"/>
                </a:lnTo>
                <a:lnTo>
                  <a:pt x="319" y="291"/>
                </a:lnTo>
                <a:lnTo>
                  <a:pt x="293" y="291"/>
                </a:lnTo>
                <a:lnTo>
                  <a:pt x="270" y="290"/>
                </a:lnTo>
                <a:lnTo>
                  <a:pt x="242" y="291"/>
                </a:lnTo>
                <a:lnTo>
                  <a:pt x="227" y="291"/>
                </a:lnTo>
                <a:lnTo>
                  <a:pt x="213" y="289"/>
                </a:lnTo>
                <a:lnTo>
                  <a:pt x="197" y="291"/>
                </a:lnTo>
                <a:lnTo>
                  <a:pt x="179" y="290"/>
                </a:lnTo>
                <a:lnTo>
                  <a:pt x="152" y="280"/>
                </a:lnTo>
                <a:lnTo>
                  <a:pt x="133" y="281"/>
                </a:lnTo>
                <a:lnTo>
                  <a:pt x="116" y="283"/>
                </a:lnTo>
                <a:lnTo>
                  <a:pt x="98" y="283"/>
                </a:lnTo>
                <a:lnTo>
                  <a:pt x="82" y="283"/>
                </a:lnTo>
                <a:lnTo>
                  <a:pt x="64" y="281"/>
                </a:lnTo>
                <a:lnTo>
                  <a:pt x="47" y="278"/>
                </a:lnTo>
                <a:lnTo>
                  <a:pt x="31" y="273"/>
                </a:lnTo>
                <a:lnTo>
                  <a:pt x="16" y="270"/>
                </a:lnTo>
                <a:lnTo>
                  <a:pt x="1" y="266"/>
                </a:lnTo>
                <a:lnTo>
                  <a:pt x="0" y="26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82" name="Group 38"/>
          <p:cNvGrpSpPr>
            <a:grpSpLocks/>
          </p:cNvGrpSpPr>
          <p:nvPr/>
        </p:nvGrpSpPr>
        <p:grpSpPr bwMode="auto">
          <a:xfrm>
            <a:off x="3165476" y="3956050"/>
            <a:ext cx="354013" cy="217488"/>
            <a:chOff x="1034" y="2492"/>
            <a:chExt cx="223" cy="137"/>
          </a:xfrm>
        </p:grpSpPr>
        <p:sp>
          <p:nvSpPr>
            <p:cNvPr id="6180" name="Freeform 36" descr="50%"/>
            <p:cNvSpPr>
              <a:spLocks/>
            </p:cNvSpPr>
            <p:nvPr/>
          </p:nvSpPr>
          <p:spPr bwMode="auto">
            <a:xfrm>
              <a:off x="1034" y="2495"/>
              <a:ext cx="223" cy="134"/>
            </a:xfrm>
            <a:custGeom>
              <a:avLst/>
              <a:gdLst>
                <a:gd name="T0" fmla="*/ 208 w 223"/>
                <a:gd name="T1" fmla="*/ 120 h 134"/>
                <a:gd name="T2" fmla="*/ 196 w 223"/>
                <a:gd name="T3" fmla="*/ 108 h 134"/>
                <a:gd name="T4" fmla="*/ 188 w 223"/>
                <a:gd name="T5" fmla="*/ 100 h 134"/>
                <a:gd name="T6" fmla="*/ 182 w 223"/>
                <a:gd name="T7" fmla="*/ 93 h 134"/>
                <a:gd name="T8" fmla="*/ 176 w 223"/>
                <a:gd name="T9" fmla="*/ 86 h 134"/>
                <a:gd name="T10" fmla="*/ 170 w 223"/>
                <a:gd name="T11" fmla="*/ 78 h 134"/>
                <a:gd name="T12" fmla="*/ 164 w 223"/>
                <a:gd name="T13" fmla="*/ 71 h 134"/>
                <a:gd name="T14" fmla="*/ 159 w 223"/>
                <a:gd name="T15" fmla="*/ 63 h 134"/>
                <a:gd name="T16" fmla="*/ 154 w 223"/>
                <a:gd name="T17" fmla="*/ 53 h 134"/>
                <a:gd name="T18" fmla="*/ 150 w 223"/>
                <a:gd name="T19" fmla="*/ 43 h 134"/>
                <a:gd name="T20" fmla="*/ 146 w 223"/>
                <a:gd name="T21" fmla="*/ 33 h 134"/>
                <a:gd name="T22" fmla="*/ 144 w 223"/>
                <a:gd name="T23" fmla="*/ 23 h 134"/>
                <a:gd name="T24" fmla="*/ 144 w 223"/>
                <a:gd name="T25" fmla="*/ 13 h 134"/>
                <a:gd name="T26" fmla="*/ 143 w 223"/>
                <a:gd name="T27" fmla="*/ 0 h 134"/>
                <a:gd name="T28" fmla="*/ 0 w 223"/>
                <a:gd name="T29" fmla="*/ 0 h 134"/>
                <a:gd name="T30" fmla="*/ 4 w 223"/>
                <a:gd name="T31" fmla="*/ 8 h 134"/>
                <a:gd name="T32" fmla="*/ 11 w 223"/>
                <a:gd name="T33" fmla="*/ 19 h 134"/>
                <a:gd name="T34" fmla="*/ 18 w 223"/>
                <a:gd name="T35" fmla="*/ 28 h 134"/>
                <a:gd name="T36" fmla="*/ 26 w 223"/>
                <a:gd name="T37" fmla="*/ 38 h 134"/>
                <a:gd name="T38" fmla="*/ 36 w 223"/>
                <a:gd name="T39" fmla="*/ 48 h 134"/>
                <a:gd name="T40" fmla="*/ 47 w 223"/>
                <a:gd name="T41" fmla="*/ 58 h 134"/>
                <a:gd name="T42" fmla="*/ 58 w 223"/>
                <a:gd name="T43" fmla="*/ 67 h 134"/>
                <a:gd name="T44" fmla="*/ 70 w 223"/>
                <a:gd name="T45" fmla="*/ 76 h 134"/>
                <a:gd name="T46" fmla="*/ 82 w 223"/>
                <a:gd name="T47" fmla="*/ 86 h 134"/>
                <a:gd name="T48" fmla="*/ 98 w 223"/>
                <a:gd name="T49" fmla="*/ 97 h 134"/>
                <a:gd name="T50" fmla="*/ 111 w 223"/>
                <a:gd name="T51" fmla="*/ 104 h 134"/>
                <a:gd name="T52" fmla="*/ 123 w 223"/>
                <a:gd name="T53" fmla="*/ 110 h 134"/>
                <a:gd name="T54" fmla="*/ 135 w 223"/>
                <a:gd name="T55" fmla="*/ 115 h 134"/>
                <a:gd name="T56" fmla="*/ 147 w 223"/>
                <a:gd name="T57" fmla="*/ 120 h 134"/>
                <a:gd name="T58" fmla="*/ 159 w 223"/>
                <a:gd name="T59" fmla="*/ 124 h 134"/>
                <a:gd name="T60" fmla="*/ 173 w 223"/>
                <a:gd name="T61" fmla="*/ 127 h 134"/>
                <a:gd name="T62" fmla="*/ 189 w 223"/>
                <a:gd name="T63" fmla="*/ 130 h 134"/>
                <a:gd name="T64" fmla="*/ 201 w 223"/>
                <a:gd name="T65" fmla="*/ 131 h 134"/>
                <a:gd name="T66" fmla="*/ 213 w 223"/>
                <a:gd name="T67" fmla="*/ 132 h 134"/>
                <a:gd name="T68" fmla="*/ 222 w 223"/>
                <a:gd name="T69" fmla="*/ 133 h 134"/>
                <a:gd name="T70" fmla="*/ 208 w 223"/>
                <a:gd name="T71" fmla="*/ 12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34">
                  <a:moveTo>
                    <a:pt x="208" y="120"/>
                  </a:moveTo>
                  <a:lnTo>
                    <a:pt x="196" y="108"/>
                  </a:lnTo>
                  <a:lnTo>
                    <a:pt x="188" y="100"/>
                  </a:lnTo>
                  <a:lnTo>
                    <a:pt x="182" y="93"/>
                  </a:lnTo>
                  <a:lnTo>
                    <a:pt x="176" y="86"/>
                  </a:lnTo>
                  <a:lnTo>
                    <a:pt x="170" y="78"/>
                  </a:lnTo>
                  <a:lnTo>
                    <a:pt x="164" y="71"/>
                  </a:lnTo>
                  <a:lnTo>
                    <a:pt x="159" y="63"/>
                  </a:lnTo>
                  <a:lnTo>
                    <a:pt x="154" y="53"/>
                  </a:lnTo>
                  <a:lnTo>
                    <a:pt x="150" y="43"/>
                  </a:lnTo>
                  <a:lnTo>
                    <a:pt x="146" y="33"/>
                  </a:lnTo>
                  <a:lnTo>
                    <a:pt x="144" y="23"/>
                  </a:lnTo>
                  <a:lnTo>
                    <a:pt x="144" y="13"/>
                  </a:lnTo>
                  <a:lnTo>
                    <a:pt x="143" y="0"/>
                  </a:lnTo>
                  <a:lnTo>
                    <a:pt x="0" y="0"/>
                  </a:lnTo>
                  <a:lnTo>
                    <a:pt x="4" y="8"/>
                  </a:lnTo>
                  <a:lnTo>
                    <a:pt x="11" y="19"/>
                  </a:lnTo>
                  <a:lnTo>
                    <a:pt x="18" y="28"/>
                  </a:lnTo>
                  <a:lnTo>
                    <a:pt x="26" y="38"/>
                  </a:lnTo>
                  <a:lnTo>
                    <a:pt x="36" y="48"/>
                  </a:lnTo>
                  <a:lnTo>
                    <a:pt x="47" y="58"/>
                  </a:lnTo>
                  <a:lnTo>
                    <a:pt x="58" y="67"/>
                  </a:lnTo>
                  <a:lnTo>
                    <a:pt x="70" y="76"/>
                  </a:lnTo>
                  <a:lnTo>
                    <a:pt x="82" y="86"/>
                  </a:lnTo>
                  <a:lnTo>
                    <a:pt x="98" y="97"/>
                  </a:lnTo>
                  <a:lnTo>
                    <a:pt x="111" y="104"/>
                  </a:lnTo>
                  <a:lnTo>
                    <a:pt x="123" y="110"/>
                  </a:lnTo>
                  <a:lnTo>
                    <a:pt x="135" y="115"/>
                  </a:lnTo>
                  <a:lnTo>
                    <a:pt x="147" y="120"/>
                  </a:lnTo>
                  <a:lnTo>
                    <a:pt x="159" y="124"/>
                  </a:lnTo>
                  <a:lnTo>
                    <a:pt x="173" y="127"/>
                  </a:lnTo>
                  <a:lnTo>
                    <a:pt x="189" y="130"/>
                  </a:lnTo>
                  <a:lnTo>
                    <a:pt x="201" y="131"/>
                  </a:lnTo>
                  <a:lnTo>
                    <a:pt x="213" y="132"/>
                  </a:lnTo>
                  <a:lnTo>
                    <a:pt x="222" y="133"/>
                  </a:lnTo>
                  <a:lnTo>
                    <a:pt x="208" y="12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Freeform 37" descr="50%"/>
            <p:cNvSpPr>
              <a:spLocks/>
            </p:cNvSpPr>
            <p:nvPr/>
          </p:nvSpPr>
          <p:spPr bwMode="auto">
            <a:xfrm>
              <a:off x="1038" y="2492"/>
              <a:ext cx="132" cy="2"/>
            </a:xfrm>
            <a:custGeom>
              <a:avLst/>
              <a:gdLst>
                <a:gd name="T0" fmla="*/ 1 w 132"/>
                <a:gd name="T1" fmla="*/ 0 h 2"/>
                <a:gd name="T2" fmla="*/ 0 w 132"/>
                <a:gd name="T3" fmla="*/ 0 h 2"/>
                <a:gd name="T4" fmla="*/ 3 w 132"/>
                <a:gd name="T5" fmla="*/ 1 h 2"/>
                <a:gd name="T6" fmla="*/ 131 w 132"/>
                <a:gd name="T7" fmla="*/ 1 h 2"/>
                <a:gd name="T8" fmla="*/ 131 w 132"/>
                <a:gd name="T9" fmla="*/ 0 h 2"/>
                <a:gd name="T10" fmla="*/ 1 w 132"/>
                <a:gd name="T11" fmla="*/ 0 h 2"/>
              </a:gdLst>
              <a:ahLst/>
              <a:cxnLst>
                <a:cxn ang="0">
                  <a:pos x="T0" y="T1"/>
                </a:cxn>
                <a:cxn ang="0">
                  <a:pos x="T2" y="T3"/>
                </a:cxn>
                <a:cxn ang="0">
                  <a:pos x="T4" y="T5"/>
                </a:cxn>
                <a:cxn ang="0">
                  <a:pos x="T6" y="T7"/>
                </a:cxn>
                <a:cxn ang="0">
                  <a:pos x="T8" y="T9"/>
                </a:cxn>
                <a:cxn ang="0">
                  <a:pos x="T10" y="T11"/>
                </a:cxn>
              </a:cxnLst>
              <a:rect l="0" t="0" r="r" b="b"/>
              <a:pathLst>
                <a:path w="132" h="2">
                  <a:moveTo>
                    <a:pt x="1" y="0"/>
                  </a:moveTo>
                  <a:lnTo>
                    <a:pt x="0" y="0"/>
                  </a:lnTo>
                  <a:lnTo>
                    <a:pt x="3" y="1"/>
                  </a:lnTo>
                  <a:lnTo>
                    <a:pt x="131" y="1"/>
                  </a:lnTo>
                  <a:lnTo>
                    <a:pt x="131"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83" name="Freeform 39" descr="50%"/>
          <p:cNvSpPr>
            <a:spLocks/>
          </p:cNvSpPr>
          <p:nvPr/>
        </p:nvSpPr>
        <p:spPr bwMode="auto">
          <a:xfrm>
            <a:off x="5634038" y="3786189"/>
            <a:ext cx="196850" cy="147637"/>
          </a:xfrm>
          <a:custGeom>
            <a:avLst/>
            <a:gdLst>
              <a:gd name="T0" fmla="*/ 0 w 124"/>
              <a:gd name="T1" fmla="*/ 0 h 93"/>
              <a:gd name="T2" fmla="*/ 5 w 124"/>
              <a:gd name="T3" fmla="*/ 9 h 93"/>
              <a:gd name="T4" fmla="*/ 11 w 124"/>
              <a:gd name="T5" fmla="*/ 19 h 93"/>
              <a:gd name="T6" fmla="*/ 18 w 124"/>
              <a:gd name="T7" fmla="*/ 29 h 93"/>
              <a:gd name="T8" fmla="*/ 25 w 124"/>
              <a:gd name="T9" fmla="*/ 38 h 93"/>
              <a:gd name="T10" fmla="*/ 35 w 124"/>
              <a:gd name="T11" fmla="*/ 48 h 93"/>
              <a:gd name="T12" fmla="*/ 44 w 124"/>
              <a:gd name="T13" fmla="*/ 58 h 93"/>
              <a:gd name="T14" fmla="*/ 52 w 124"/>
              <a:gd name="T15" fmla="*/ 65 h 93"/>
              <a:gd name="T16" fmla="*/ 60 w 124"/>
              <a:gd name="T17" fmla="*/ 72 h 93"/>
              <a:gd name="T18" fmla="*/ 69 w 124"/>
              <a:gd name="T19" fmla="*/ 78 h 93"/>
              <a:gd name="T20" fmla="*/ 79 w 124"/>
              <a:gd name="T21" fmla="*/ 83 h 93"/>
              <a:gd name="T22" fmla="*/ 88 w 124"/>
              <a:gd name="T23" fmla="*/ 87 h 93"/>
              <a:gd name="T24" fmla="*/ 98 w 124"/>
              <a:gd name="T25" fmla="*/ 90 h 93"/>
              <a:gd name="T26" fmla="*/ 109 w 124"/>
              <a:gd name="T27" fmla="*/ 92 h 93"/>
              <a:gd name="T28" fmla="*/ 118 w 124"/>
              <a:gd name="T29" fmla="*/ 92 h 93"/>
              <a:gd name="T30" fmla="*/ 123 w 124"/>
              <a:gd name="T31" fmla="*/ 91 h 93"/>
              <a:gd name="T32" fmla="*/ 117 w 124"/>
              <a:gd name="T33" fmla="*/ 85 h 93"/>
              <a:gd name="T34" fmla="*/ 110 w 124"/>
              <a:gd name="T35" fmla="*/ 77 h 93"/>
              <a:gd name="T36" fmla="*/ 104 w 124"/>
              <a:gd name="T37" fmla="*/ 69 h 93"/>
              <a:gd name="T38" fmla="*/ 97 w 124"/>
              <a:gd name="T39" fmla="*/ 59 h 93"/>
              <a:gd name="T40" fmla="*/ 91 w 124"/>
              <a:gd name="T41" fmla="*/ 50 h 93"/>
              <a:gd name="T42" fmla="*/ 86 w 124"/>
              <a:gd name="T43" fmla="*/ 41 h 93"/>
              <a:gd name="T44" fmla="*/ 83 w 124"/>
              <a:gd name="T45" fmla="*/ 32 h 93"/>
              <a:gd name="T46" fmla="*/ 80 w 124"/>
              <a:gd name="T47" fmla="*/ 19 h 93"/>
              <a:gd name="T48" fmla="*/ 80 w 124"/>
              <a:gd name="T49" fmla="*/ 9 h 93"/>
              <a:gd name="T50" fmla="*/ 80 w 124"/>
              <a:gd name="T51" fmla="*/ 1 h 93"/>
              <a:gd name="T52" fmla="*/ 0 w 124"/>
              <a:gd name="T5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 h="93">
                <a:moveTo>
                  <a:pt x="0" y="0"/>
                </a:moveTo>
                <a:lnTo>
                  <a:pt x="5" y="9"/>
                </a:lnTo>
                <a:lnTo>
                  <a:pt x="11" y="19"/>
                </a:lnTo>
                <a:lnTo>
                  <a:pt x="18" y="29"/>
                </a:lnTo>
                <a:lnTo>
                  <a:pt x="25" y="38"/>
                </a:lnTo>
                <a:lnTo>
                  <a:pt x="35" y="48"/>
                </a:lnTo>
                <a:lnTo>
                  <a:pt x="44" y="58"/>
                </a:lnTo>
                <a:lnTo>
                  <a:pt x="52" y="65"/>
                </a:lnTo>
                <a:lnTo>
                  <a:pt x="60" y="72"/>
                </a:lnTo>
                <a:lnTo>
                  <a:pt x="69" y="78"/>
                </a:lnTo>
                <a:lnTo>
                  <a:pt x="79" y="83"/>
                </a:lnTo>
                <a:lnTo>
                  <a:pt x="88" y="87"/>
                </a:lnTo>
                <a:lnTo>
                  <a:pt x="98" y="90"/>
                </a:lnTo>
                <a:lnTo>
                  <a:pt x="109" y="92"/>
                </a:lnTo>
                <a:lnTo>
                  <a:pt x="118" y="92"/>
                </a:lnTo>
                <a:lnTo>
                  <a:pt x="123" y="91"/>
                </a:lnTo>
                <a:lnTo>
                  <a:pt x="117" y="85"/>
                </a:lnTo>
                <a:lnTo>
                  <a:pt x="110" y="77"/>
                </a:lnTo>
                <a:lnTo>
                  <a:pt x="104" y="69"/>
                </a:lnTo>
                <a:lnTo>
                  <a:pt x="97" y="59"/>
                </a:lnTo>
                <a:lnTo>
                  <a:pt x="91" y="50"/>
                </a:lnTo>
                <a:lnTo>
                  <a:pt x="86" y="41"/>
                </a:lnTo>
                <a:lnTo>
                  <a:pt x="83" y="32"/>
                </a:lnTo>
                <a:lnTo>
                  <a:pt x="80" y="19"/>
                </a:lnTo>
                <a:lnTo>
                  <a:pt x="80" y="9"/>
                </a:lnTo>
                <a:lnTo>
                  <a:pt x="80"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Freeform 40" descr="50%"/>
          <p:cNvSpPr>
            <a:spLocks/>
          </p:cNvSpPr>
          <p:nvPr/>
        </p:nvSpPr>
        <p:spPr bwMode="auto">
          <a:xfrm>
            <a:off x="5211764" y="3429000"/>
            <a:ext cx="1671637" cy="476250"/>
          </a:xfrm>
          <a:custGeom>
            <a:avLst/>
            <a:gdLst>
              <a:gd name="T0" fmla="*/ 11 w 1053"/>
              <a:gd name="T1" fmla="*/ 178 h 300"/>
              <a:gd name="T2" fmla="*/ 43 w 1053"/>
              <a:gd name="T3" fmla="*/ 165 h 300"/>
              <a:gd name="T4" fmla="*/ 92 w 1053"/>
              <a:gd name="T5" fmla="*/ 151 h 300"/>
              <a:gd name="T6" fmla="*/ 143 w 1053"/>
              <a:gd name="T7" fmla="*/ 140 h 300"/>
              <a:gd name="T8" fmla="*/ 194 w 1053"/>
              <a:gd name="T9" fmla="*/ 131 h 300"/>
              <a:gd name="T10" fmla="*/ 246 w 1053"/>
              <a:gd name="T11" fmla="*/ 122 h 300"/>
              <a:gd name="T12" fmla="*/ 289 w 1053"/>
              <a:gd name="T13" fmla="*/ 113 h 300"/>
              <a:gd name="T14" fmla="*/ 314 w 1053"/>
              <a:gd name="T15" fmla="*/ 100 h 300"/>
              <a:gd name="T16" fmla="*/ 339 w 1053"/>
              <a:gd name="T17" fmla="*/ 76 h 300"/>
              <a:gd name="T18" fmla="*/ 375 w 1053"/>
              <a:gd name="T19" fmla="*/ 41 h 300"/>
              <a:gd name="T20" fmla="*/ 412 w 1053"/>
              <a:gd name="T21" fmla="*/ 10 h 300"/>
              <a:gd name="T22" fmla="*/ 438 w 1053"/>
              <a:gd name="T23" fmla="*/ 36 h 300"/>
              <a:gd name="T24" fmla="*/ 453 w 1053"/>
              <a:gd name="T25" fmla="*/ 88 h 300"/>
              <a:gd name="T26" fmla="*/ 462 w 1053"/>
              <a:gd name="T27" fmla="*/ 109 h 300"/>
              <a:gd name="T28" fmla="*/ 523 w 1053"/>
              <a:gd name="T29" fmla="*/ 119 h 300"/>
              <a:gd name="T30" fmla="*/ 584 w 1053"/>
              <a:gd name="T31" fmla="*/ 130 h 300"/>
              <a:gd name="T32" fmla="*/ 630 w 1053"/>
              <a:gd name="T33" fmla="*/ 130 h 300"/>
              <a:gd name="T34" fmla="*/ 679 w 1053"/>
              <a:gd name="T35" fmla="*/ 121 h 300"/>
              <a:gd name="T36" fmla="*/ 717 w 1053"/>
              <a:gd name="T37" fmla="*/ 146 h 300"/>
              <a:gd name="T38" fmla="*/ 754 w 1053"/>
              <a:gd name="T39" fmla="*/ 156 h 300"/>
              <a:gd name="T40" fmla="*/ 800 w 1053"/>
              <a:gd name="T41" fmla="*/ 156 h 300"/>
              <a:gd name="T42" fmla="*/ 849 w 1053"/>
              <a:gd name="T43" fmla="*/ 138 h 300"/>
              <a:gd name="T44" fmla="*/ 904 w 1053"/>
              <a:gd name="T45" fmla="*/ 94 h 300"/>
              <a:gd name="T46" fmla="*/ 968 w 1053"/>
              <a:gd name="T47" fmla="*/ 43 h 300"/>
              <a:gd name="T48" fmla="*/ 1032 w 1053"/>
              <a:gd name="T49" fmla="*/ 22 h 300"/>
              <a:gd name="T50" fmla="*/ 1034 w 1053"/>
              <a:gd name="T51" fmla="*/ 39 h 300"/>
              <a:gd name="T52" fmla="*/ 1004 w 1053"/>
              <a:gd name="T53" fmla="*/ 76 h 300"/>
              <a:gd name="T54" fmla="*/ 968 w 1053"/>
              <a:gd name="T55" fmla="*/ 112 h 300"/>
              <a:gd name="T56" fmla="*/ 945 w 1053"/>
              <a:gd name="T57" fmla="*/ 148 h 300"/>
              <a:gd name="T58" fmla="*/ 945 w 1053"/>
              <a:gd name="T59" fmla="*/ 185 h 300"/>
              <a:gd name="T60" fmla="*/ 970 w 1053"/>
              <a:gd name="T61" fmla="*/ 224 h 300"/>
              <a:gd name="T62" fmla="*/ 1002 w 1053"/>
              <a:gd name="T63" fmla="*/ 252 h 300"/>
              <a:gd name="T64" fmla="*/ 1031 w 1053"/>
              <a:gd name="T65" fmla="*/ 276 h 300"/>
              <a:gd name="T66" fmla="*/ 1032 w 1053"/>
              <a:gd name="T67" fmla="*/ 287 h 300"/>
              <a:gd name="T68" fmla="*/ 992 w 1053"/>
              <a:gd name="T69" fmla="*/ 286 h 300"/>
              <a:gd name="T70" fmla="*/ 957 w 1053"/>
              <a:gd name="T71" fmla="*/ 278 h 300"/>
              <a:gd name="T72" fmla="*/ 923 w 1053"/>
              <a:gd name="T73" fmla="*/ 261 h 300"/>
              <a:gd name="T74" fmla="*/ 868 w 1053"/>
              <a:gd name="T75" fmla="*/ 227 h 300"/>
              <a:gd name="T76" fmla="*/ 800 w 1053"/>
              <a:gd name="T77" fmla="*/ 222 h 300"/>
              <a:gd name="T78" fmla="*/ 718 w 1053"/>
              <a:gd name="T79" fmla="*/ 231 h 300"/>
              <a:gd name="T80" fmla="*/ 666 w 1053"/>
              <a:gd name="T81" fmla="*/ 251 h 300"/>
              <a:gd name="T82" fmla="*/ 649 w 1053"/>
              <a:gd name="T83" fmla="*/ 274 h 300"/>
              <a:gd name="T84" fmla="*/ 576 w 1053"/>
              <a:gd name="T85" fmla="*/ 272 h 300"/>
              <a:gd name="T86" fmla="*/ 514 w 1053"/>
              <a:gd name="T87" fmla="*/ 291 h 300"/>
              <a:gd name="T88" fmla="*/ 285 w 1053"/>
              <a:gd name="T89" fmla="*/ 299 h 300"/>
              <a:gd name="T90" fmla="*/ 153 w 1053"/>
              <a:gd name="T91" fmla="*/ 286 h 300"/>
              <a:gd name="T92" fmla="*/ 38 w 1053"/>
              <a:gd name="T93" fmla="*/ 248 h 300"/>
              <a:gd name="T94" fmla="*/ 38 w 1053"/>
              <a:gd name="T95" fmla="*/ 229 h 300"/>
              <a:gd name="T96" fmla="*/ 12 w 1053"/>
              <a:gd name="T97" fmla="*/ 206 h 300"/>
              <a:gd name="T98" fmla="*/ 2 w 1053"/>
              <a:gd name="T99" fmla="*/ 19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3" h="300">
                <a:moveTo>
                  <a:pt x="0" y="185"/>
                </a:moveTo>
                <a:lnTo>
                  <a:pt x="4" y="182"/>
                </a:lnTo>
                <a:lnTo>
                  <a:pt x="11" y="178"/>
                </a:lnTo>
                <a:lnTo>
                  <a:pt x="24" y="173"/>
                </a:lnTo>
                <a:lnTo>
                  <a:pt x="33" y="169"/>
                </a:lnTo>
                <a:lnTo>
                  <a:pt x="43" y="165"/>
                </a:lnTo>
                <a:lnTo>
                  <a:pt x="60" y="160"/>
                </a:lnTo>
                <a:lnTo>
                  <a:pt x="76" y="155"/>
                </a:lnTo>
                <a:lnTo>
                  <a:pt x="92" y="151"/>
                </a:lnTo>
                <a:lnTo>
                  <a:pt x="108" y="147"/>
                </a:lnTo>
                <a:lnTo>
                  <a:pt x="125" y="144"/>
                </a:lnTo>
                <a:lnTo>
                  <a:pt x="143" y="140"/>
                </a:lnTo>
                <a:lnTo>
                  <a:pt x="162" y="137"/>
                </a:lnTo>
                <a:lnTo>
                  <a:pt x="178" y="134"/>
                </a:lnTo>
                <a:lnTo>
                  <a:pt x="194" y="131"/>
                </a:lnTo>
                <a:lnTo>
                  <a:pt x="209" y="128"/>
                </a:lnTo>
                <a:lnTo>
                  <a:pt x="229" y="124"/>
                </a:lnTo>
                <a:lnTo>
                  <a:pt x="246" y="122"/>
                </a:lnTo>
                <a:lnTo>
                  <a:pt x="263" y="119"/>
                </a:lnTo>
                <a:lnTo>
                  <a:pt x="277" y="117"/>
                </a:lnTo>
                <a:lnTo>
                  <a:pt x="289" y="113"/>
                </a:lnTo>
                <a:lnTo>
                  <a:pt x="300" y="109"/>
                </a:lnTo>
                <a:lnTo>
                  <a:pt x="307" y="105"/>
                </a:lnTo>
                <a:lnTo>
                  <a:pt x="314" y="100"/>
                </a:lnTo>
                <a:lnTo>
                  <a:pt x="321" y="93"/>
                </a:lnTo>
                <a:lnTo>
                  <a:pt x="329" y="85"/>
                </a:lnTo>
                <a:lnTo>
                  <a:pt x="339" y="76"/>
                </a:lnTo>
                <a:lnTo>
                  <a:pt x="350" y="64"/>
                </a:lnTo>
                <a:lnTo>
                  <a:pt x="362" y="53"/>
                </a:lnTo>
                <a:lnTo>
                  <a:pt x="375" y="41"/>
                </a:lnTo>
                <a:lnTo>
                  <a:pt x="386" y="30"/>
                </a:lnTo>
                <a:lnTo>
                  <a:pt x="399" y="21"/>
                </a:lnTo>
                <a:lnTo>
                  <a:pt x="412" y="10"/>
                </a:lnTo>
                <a:lnTo>
                  <a:pt x="427" y="0"/>
                </a:lnTo>
                <a:lnTo>
                  <a:pt x="432" y="19"/>
                </a:lnTo>
                <a:lnTo>
                  <a:pt x="438" y="36"/>
                </a:lnTo>
                <a:lnTo>
                  <a:pt x="444" y="54"/>
                </a:lnTo>
                <a:lnTo>
                  <a:pt x="450" y="73"/>
                </a:lnTo>
                <a:lnTo>
                  <a:pt x="453" y="88"/>
                </a:lnTo>
                <a:lnTo>
                  <a:pt x="452" y="98"/>
                </a:lnTo>
                <a:lnTo>
                  <a:pt x="446" y="107"/>
                </a:lnTo>
                <a:lnTo>
                  <a:pt x="462" y="109"/>
                </a:lnTo>
                <a:lnTo>
                  <a:pt x="479" y="112"/>
                </a:lnTo>
                <a:lnTo>
                  <a:pt x="500" y="116"/>
                </a:lnTo>
                <a:lnTo>
                  <a:pt x="523" y="119"/>
                </a:lnTo>
                <a:lnTo>
                  <a:pt x="546" y="124"/>
                </a:lnTo>
                <a:lnTo>
                  <a:pt x="565" y="127"/>
                </a:lnTo>
                <a:lnTo>
                  <a:pt x="584" y="130"/>
                </a:lnTo>
                <a:lnTo>
                  <a:pt x="602" y="132"/>
                </a:lnTo>
                <a:lnTo>
                  <a:pt x="618" y="134"/>
                </a:lnTo>
                <a:lnTo>
                  <a:pt x="630" y="130"/>
                </a:lnTo>
                <a:lnTo>
                  <a:pt x="642" y="124"/>
                </a:lnTo>
                <a:lnTo>
                  <a:pt x="653" y="117"/>
                </a:lnTo>
                <a:lnTo>
                  <a:pt x="679" y="121"/>
                </a:lnTo>
                <a:lnTo>
                  <a:pt x="707" y="127"/>
                </a:lnTo>
                <a:lnTo>
                  <a:pt x="731" y="132"/>
                </a:lnTo>
                <a:lnTo>
                  <a:pt x="717" y="146"/>
                </a:lnTo>
                <a:lnTo>
                  <a:pt x="726" y="149"/>
                </a:lnTo>
                <a:lnTo>
                  <a:pt x="739" y="153"/>
                </a:lnTo>
                <a:lnTo>
                  <a:pt x="754" y="156"/>
                </a:lnTo>
                <a:lnTo>
                  <a:pt x="770" y="159"/>
                </a:lnTo>
                <a:lnTo>
                  <a:pt x="784" y="157"/>
                </a:lnTo>
                <a:lnTo>
                  <a:pt x="800" y="156"/>
                </a:lnTo>
                <a:lnTo>
                  <a:pt x="817" y="152"/>
                </a:lnTo>
                <a:lnTo>
                  <a:pt x="834" y="147"/>
                </a:lnTo>
                <a:lnTo>
                  <a:pt x="849" y="138"/>
                </a:lnTo>
                <a:lnTo>
                  <a:pt x="870" y="124"/>
                </a:lnTo>
                <a:lnTo>
                  <a:pt x="885" y="112"/>
                </a:lnTo>
                <a:lnTo>
                  <a:pt x="904" y="94"/>
                </a:lnTo>
                <a:lnTo>
                  <a:pt x="924" y="73"/>
                </a:lnTo>
                <a:lnTo>
                  <a:pt x="948" y="56"/>
                </a:lnTo>
                <a:lnTo>
                  <a:pt x="968" y="43"/>
                </a:lnTo>
                <a:lnTo>
                  <a:pt x="988" y="32"/>
                </a:lnTo>
                <a:lnTo>
                  <a:pt x="1008" y="25"/>
                </a:lnTo>
                <a:lnTo>
                  <a:pt x="1032" y="22"/>
                </a:lnTo>
                <a:lnTo>
                  <a:pt x="1052" y="23"/>
                </a:lnTo>
                <a:lnTo>
                  <a:pt x="1042" y="32"/>
                </a:lnTo>
                <a:lnTo>
                  <a:pt x="1034" y="39"/>
                </a:lnTo>
                <a:lnTo>
                  <a:pt x="1031" y="46"/>
                </a:lnTo>
                <a:lnTo>
                  <a:pt x="1015" y="66"/>
                </a:lnTo>
                <a:lnTo>
                  <a:pt x="1004" y="76"/>
                </a:lnTo>
                <a:lnTo>
                  <a:pt x="990" y="87"/>
                </a:lnTo>
                <a:lnTo>
                  <a:pt x="978" y="100"/>
                </a:lnTo>
                <a:lnTo>
                  <a:pt x="968" y="112"/>
                </a:lnTo>
                <a:lnTo>
                  <a:pt x="959" y="124"/>
                </a:lnTo>
                <a:lnTo>
                  <a:pt x="951" y="137"/>
                </a:lnTo>
                <a:lnTo>
                  <a:pt x="945" y="148"/>
                </a:lnTo>
                <a:lnTo>
                  <a:pt x="941" y="159"/>
                </a:lnTo>
                <a:lnTo>
                  <a:pt x="940" y="172"/>
                </a:lnTo>
                <a:lnTo>
                  <a:pt x="945" y="185"/>
                </a:lnTo>
                <a:lnTo>
                  <a:pt x="951" y="200"/>
                </a:lnTo>
                <a:lnTo>
                  <a:pt x="960" y="212"/>
                </a:lnTo>
                <a:lnTo>
                  <a:pt x="970" y="224"/>
                </a:lnTo>
                <a:lnTo>
                  <a:pt x="980" y="233"/>
                </a:lnTo>
                <a:lnTo>
                  <a:pt x="991" y="242"/>
                </a:lnTo>
                <a:lnTo>
                  <a:pt x="1002" y="252"/>
                </a:lnTo>
                <a:lnTo>
                  <a:pt x="1015" y="263"/>
                </a:lnTo>
                <a:lnTo>
                  <a:pt x="1023" y="270"/>
                </a:lnTo>
                <a:lnTo>
                  <a:pt x="1031" y="276"/>
                </a:lnTo>
                <a:lnTo>
                  <a:pt x="1039" y="281"/>
                </a:lnTo>
                <a:lnTo>
                  <a:pt x="1044" y="287"/>
                </a:lnTo>
                <a:lnTo>
                  <a:pt x="1032" y="287"/>
                </a:lnTo>
                <a:lnTo>
                  <a:pt x="1017" y="287"/>
                </a:lnTo>
                <a:lnTo>
                  <a:pt x="1004" y="288"/>
                </a:lnTo>
                <a:lnTo>
                  <a:pt x="992" y="286"/>
                </a:lnTo>
                <a:lnTo>
                  <a:pt x="978" y="285"/>
                </a:lnTo>
                <a:lnTo>
                  <a:pt x="967" y="281"/>
                </a:lnTo>
                <a:lnTo>
                  <a:pt x="957" y="278"/>
                </a:lnTo>
                <a:lnTo>
                  <a:pt x="946" y="273"/>
                </a:lnTo>
                <a:lnTo>
                  <a:pt x="934" y="267"/>
                </a:lnTo>
                <a:lnTo>
                  <a:pt x="923" y="261"/>
                </a:lnTo>
                <a:lnTo>
                  <a:pt x="903" y="247"/>
                </a:lnTo>
                <a:lnTo>
                  <a:pt x="888" y="238"/>
                </a:lnTo>
                <a:lnTo>
                  <a:pt x="868" y="227"/>
                </a:lnTo>
                <a:lnTo>
                  <a:pt x="848" y="225"/>
                </a:lnTo>
                <a:lnTo>
                  <a:pt x="828" y="225"/>
                </a:lnTo>
                <a:lnTo>
                  <a:pt x="800" y="222"/>
                </a:lnTo>
                <a:lnTo>
                  <a:pt x="775" y="225"/>
                </a:lnTo>
                <a:lnTo>
                  <a:pt x="747" y="226"/>
                </a:lnTo>
                <a:lnTo>
                  <a:pt x="718" y="231"/>
                </a:lnTo>
                <a:lnTo>
                  <a:pt x="688" y="238"/>
                </a:lnTo>
                <a:lnTo>
                  <a:pt x="670" y="245"/>
                </a:lnTo>
                <a:lnTo>
                  <a:pt x="666" y="251"/>
                </a:lnTo>
                <a:lnTo>
                  <a:pt x="670" y="257"/>
                </a:lnTo>
                <a:lnTo>
                  <a:pt x="684" y="266"/>
                </a:lnTo>
                <a:lnTo>
                  <a:pt x="649" y="274"/>
                </a:lnTo>
                <a:lnTo>
                  <a:pt x="600" y="287"/>
                </a:lnTo>
                <a:lnTo>
                  <a:pt x="589" y="278"/>
                </a:lnTo>
                <a:lnTo>
                  <a:pt x="576" y="272"/>
                </a:lnTo>
                <a:lnTo>
                  <a:pt x="562" y="269"/>
                </a:lnTo>
                <a:lnTo>
                  <a:pt x="542" y="268"/>
                </a:lnTo>
                <a:lnTo>
                  <a:pt x="514" y="291"/>
                </a:lnTo>
                <a:lnTo>
                  <a:pt x="491" y="274"/>
                </a:lnTo>
                <a:lnTo>
                  <a:pt x="319" y="297"/>
                </a:lnTo>
                <a:lnTo>
                  <a:pt x="285" y="299"/>
                </a:lnTo>
                <a:lnTo>
                  <a:pt x="253" y="296"/>
                </a:lnTo>
                <a:lnTo>
                  <a:pt x="220" y="294"/>
                </a:lnTo>
                <a:lnTo>
                  <a:pt x="153" y="286"/>
                </a:lnTo>
                <a:lnTo>
                  <a:pt x="93" y="271"/>
                </a:lnTo>
                <a:lnTo>
                  <a:pt x="60" y="260"/>
                </a:lnTo>
                <a:lnTo>
                  <a:pt x="38" y="248"/>
                </a:lnTo>
                <a:lnTo>
                  <a:pt x="62" y="244"/>
                </a:lnTo>
                <a:lnTo>
                  <a:pt x="47" y="235"/>
                </a:lnTo>
                <a:lnTo>
                  <a:pt x="38" y="229"/>
                </a:lnTo>
                <a:lnTo>
                  <a:pt x="21" y="215"/>
                </a:lnTo>
                <a:lnTo>
                  <a:pt x="17" y="212"/>
                </a:lnTo>
                <a:lnTo>
                  <a:pt x="12" y="206"/>
                </a:lnTo>
                <a:lnTo>
                  <a:pt x="9" y="202"/>
                </a:lnTo>
                <a:lnTo>
                  <a:pt x="6" y="195"/>
                </a:lnTo>
                <a:lnTo>
                  <a:pt x="2" y="190"/>
                </a:lnTo>
                <a:lnTo>
                  <a:pt x="0" y="185"/>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87" name="Group 43"/>
          <p:cNvGrpSpPr>
            <a:grpSpLocks/>
          </p:cNvGrpSpPr>
          <p:nvPr/>
        </p:nvGrpSpPr>
        <p:grpSpPr bwMode="auto">
          <a:xfrm>
            <a:off x="5359400" y="3738563"/>
            <a:ext cx="26988" cy="23812"/>
            <a:chOff x="2416" y="2355"/>
            <a:chExt cx="17" cy="15"/>
          </a:xfrm>
        </p:grpSpPr>
        <p:sp>
          <p:nvSpPr>
            <p:cNvPr id="6185" name="Oval 41" descr="50%"/>
            <p:cNvSpPr>
              <a:spLocks noChangeArrowheads="1"/>
            </p:cNvSpPr>
            <p:nvPr/>
          </p:nvSpPr>
          <p:spPr bwMode="auto">
            <a:xfrm>
              <a:off x="2416" y="2355"/>
              <a:ext cx="16" cy="15"/>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Arc 42" descr="50%"/>
            <p:cNvSpPr>
              <a:spLocks/>
            </p:cNvSpPr>
            <p:nvPr/>
          </p:nvSpPr>
          <p:spPr bwMode="auto">
            <a:xfrm>
              <a:off x="2419" y="2356"/>
              <a:ext cx="14" cy="14"/>
            </a:xfrm>
            <a:custGeom>
              <a:avLst/>
              <a:gdLst>
                <a:gd name="G0" fmla="+- 21600 0 0"/>
                <a:gd name="G1" fmla="+- 20769 0 0"/>
                <a:gd name="G2" fmla="+- 21600 0 0"/>
                <a:gd name="T0" fmla="*/ 33582 w 43200"/>
                <a:gd name="T1" fmla="*/ 2797 h 42369"/>
                <a:gd name="T2" fmla="*/ 15666 w 43200"/>
                <a:gd name="T3" fmla="*/ 0 h 42369"/>
                <a:gd name="T4" fmla="*/ 21600 w 43200"/>
                <a:gd name="T5" fmla="*/ 20769 h 42369"/>
              </a:gdLst>
              <a:ahLst/>
              <a:cxnLst>
                <a:cxn ang="0">
                  <a:pos x="T0" y="T1"/>
                </a:cxn>
                <a:cxn ang="0">
                  <a:pos x="T2" y="T3"/>
                </a:cxn>
                <a:cxn ang="0">
                  <a:pos x="T4" y="T5"/>
                </a:cxn>
              </a:cxnLst>
              <a:rect l="0" t="0" r="r" b="b"/>
              <a:pathLst>
                <a:path w="43200" h="42369" fill="none"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path>
                <a:path w="43200" h="42369" stroke="0"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lnTo>
                    <a:pt x="21600" y="2076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93" name="Group 49"/>
          <p:cNvGrpSpPr>
            <a:grpSpLocks/>
          </p:cNvGrpSpPr>
          <p:nvPr/>
        </p:nvGrpSpPr>
        <p:grpSpPr bwMode="auto">
          <a:xfrm>
            <a:off x="5456238" y="3776663"/>
            <a:ext cx="101600" cy="69850"/>
            <a:chOff x="2477" y="2379"/>
            <a:chExt cx="64" cy="44"/>
          </a:xfrm>
        </p:grpSpPr>
        <p:sp>
          <p:nvSpPr>
            <p:cNvPr id="6188" name="Arc 44" descr="50%"/>
            <p:cNvSpPr>
              <a:spLocks/>
            </p:cNvSpPr>
            <p:nvPr/>
          </p:nvSpPr>
          <p:spPr bwMode="auto">
            <a:xfrm>
              <a:off x="2491"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Arc 45" descr="50%"/>
            <p:cNvSpPr>
              <a:spLocks/>
            </p:cNvSpPr>
            <p:nvPr/>
          </p:nvSpPr>
          <p:spPr bwMode="auto">
            <a:xfrm>
              <a:off x="2477"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Arc 46" descr="50%"/>
            <p:cNvSpPr>
              <a:spLocks/>
            </p:cNvSpPr>
            <p:nvPr/>
          </p:nvSpPr>
          <p:spPr bwMode="auto">
            <a:xfrm>
              <a:off x="2505"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Arc 47" descr="50%"/>
            <p:cNvSpPr>
              <a:spLocks/>
            </p:cNvSpPr>
            <p:nvPr/>
          </p:nvSpPr>
          <p:spPr bwMode="auto">
            <a:xfrm>
              <a:off x="2519"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2" name="Arc 48" descr="50%"/>
            <p:cNvSpPr>
              <a:spLocks/>
            </p:cNvSpPr>
            <p:nvPr/>
          </p:nvSpPr>
          <p:spPr bwMode="auto">
            <a:xfrm>
              <a:off x="2535" y="2379"/>
              <a:ext cx="6" cy="44"/>
            </a:xfrm>
            <a:custGeom>
              <a:avLst/>
              <a:gdLst>
                <a:gd name="G0" fmla="+- 4898 0 0"/>
                <a:gd name="G1" fmla="+- 21600 0 0"/>
                <a:gd name="G2" fmla="+- 21600 0 0"/>
                <a:gd name="T0" fmla="*/ 212 w 26498"/>
                <a:gd name="T1" fmla="*/ 514 h 43200"/>
                <a:gd name="T2" fmla="*/ 0 w 26498"/>
                <a:gd name="T3" fmla="*/ 42637 h 43200"/>
                <a:gd name="T4" fmla="*/ 4898 w 26498"/>
                <a:gd name="T5" fmla="*/ 21600 h 43200"/>
              </a:gdLst>
              <a:ahLst/>
              <a:cxnLst>
                <a:cxn ang="0">
                  <a:pos x="T0" y="T1"/>
                </a:cxn>
                <a:cxn ang="0">
                  <a:pos x="T2" y="T3"/>
                </a:cxn>
                <a:cxn ang="0">
                  <a:pos x="T4" y="T5"/>
                </a:cxn>
              </a:cxnLst>
              <a:rect l="0" t="0" r="r" b="b"/>
              <a:pathLst>
                <a:path w="26498" h="43200" fill="none"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path>
                <a:path w="26498" h="43200" stroke="0"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lnTo>
                    <a:pt x="4898"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94" name="Freeform 50" descr="50%"/>
          <p:cNvSpPr>
            <a:spLocks/>
          </p:cNvSpPr>
          <p:nvPr/>
        </p:nvSpPr>
        <p:spPr bwMode="auto">
          <a:xfrm>
            <a:off x="5216525" y="3433764"/>
            <a:ext cx="1651000" cy="312737"/>
          </a:xfrm>
          <a:custGeom>
            <a:avLst/>
            <a:gdLst>
              <a:gd name="T0" fmla="*/ 22 w 1040"/>
              <a:gd name="T1" fmla="*/ 165 h 197"/>
              <a:gd name="T2" fmla="*/ 70 w 1040"/>
              <a:gd name="T3" fmla="*/ 150 h 197"/>
              <a:gd name="T4" fmla="*/ 139 w 1040"/>
              <a:gd name="T5" fmla="*/ 135 h 197"/>
              <a:gd name="T6" fmla="*/ 208 w 1040"/>
              <a:gd name="T7" fmla="*/ 122 h 197"/>
              <a:gd name="T8" fmla="*/ 275 w 1040"/>
              <a:gd name="T9" fmla="*/ 110 h 197"/>
              <a:gd name="T10" fmla="*/ 313 w 1040"/>
              <a:gd name="T11" fmla="*/ 94 h 197"/>
              <a:gd name="T12" fmla="*/ 347 w 1040"/>
              <a:gd name="T13" fmla="*/ 61 h 197"/>
              <a:gd name="T14" fmla="*/ 397 w 1040"/>
              <a:gd name="T15" fmla="*/ 18 h 197"/>
              <a:gd name="T16" fmla="*/ 432 w 1040"/>
              <a:gd name="T17" fmla="*/ 35 h 197"/>
              <a:gd name="T18" fmla="*/ 447 w 1040"/>
              <a:gd name="T19" fmla="*/ 85 h 197"/>
              <a:gd name="T20" fmla="*/ 473 w 1040"/>
              <a:gd name="T21" fmla="*/ 107 h 197"/>
              <a:gd name="T22" fmla="*/ 559 w 1040"/>
              <a:gd name="T23" fmla="*/ 122 h 197"/>
              <a:gd name="T24" fmla="*/ 623 w 1040"/>
              <a:gd name="T25" fmla="*/ 124 h 197"/>
              <a:gd name="T26" fmla="*/ 701 w 1040"/>
              <a:gd name="T27" fmla="*/ 122 h 197"/>
              <a:gd name="T28" fmla="*/ 731 w 1040"/>
              <a:gd name="T29" fmla="*/ 146 h 197"/>
              <a:gd name="T30" fmla="*/ 793 w 1040"/>
              <a:gd name="T31" fmla="*/ 149 h 197"/>
              <a:gd name="T32" fmla="*/ 862 w 1040"/>
              <a:gd name="T33" fmla="*/ 118 h 197"/>
              <a:gd name="T34" fmla="*/ 917 w 1040"/>
              <a:gd name="T35" fmla="*/ 69 h 197"/>
              <a:gd name="T36" fmla="*/ 961 w 1040"/>
              <a:gd name="T37" fmla="*/ 39 h 197"/>
              <a:gd name="T38" fmla="*/ 998 w 1040"/>
              <a:gd name="T39" fmla="*/ 23 h 197"/>
              <a:gd name="T40" fmla="*/ 1032 w 1040"/>
              <a:gd name="T41" fmla="*/ 27 h 197"/>
              <a:gd name="T42" fmla="*/ 1005 w 1040"/>
              <a:gd name="T43" fmla="*/ 61 h 197"/>
              <a:gd name="T44" fmla="*/ 970 w 1040"/>
              <a:gd name="T45" fmla="*/ 91 h 197"/>
              <a:gd name="T46" fmla="*/ 950 w 1040"/>
              <a:gd name="T47" fmla="*/ 117 h 197"/>
              <a:gd name="T48" fmla="*/ 935 w 1040"/>
              <a:gd name="T49" fmla="*/ 139 h 197"/>
              <a:gd name="T50" fmla="*/ 930 w 1040"/>
              <a:gd name="T51" fmla="*/ 164 h 197"/>
              <a:gd name="T52" fmla="*/ 901 w 1040"/>
              <a:gd name="T53" fmla="*/ 159 h 197"/>
              <a:gd name="T54" fmla="*/ 874 w 1040"/>
              <a:gd name="T55" fmla="*/ 167 h 197"/>
              <a:gd name="T56" fmla="*/ 843 w 1040"/>
              <a:gd name="T57" fmla="*/ 164 h 197"/>
              <a:gd name="T58" fmla="*/ 809 w 1040"/>
              <a:gd name="T59" fmla="*/ 166 h 197"/>
              <a:gd name="T60" fmla="*/ 774 w 1040"/>
              <a:gd name="T61" fmla="*/ 163 h 197"/>
              <a:gd name="T62" fmla="*/ 734 w 1040"/>
              <a:gd name="T63" fmla="*/ 164 h 197"/>
              <a:gd name="T64" fmla="*/ 693 w 1040"/>
              <a:gd name="T65" fmla="*/ 171 h 197"/>
              <a:gd name="T66" fmla="*/ 654 w 1040"/>
              <a:gd name="T67" fmla="*/ 172 h 197"/>
              <a:gd name="T68" fmla="*/ 615 w 1040"/>
              <a:gd name="T69" fmla="*/ 173 h 197"/>
              <a:gd name="T70" fmla="*/ 579 w 1040"/>
              <a:gd name="T71" fmla="*/ 177 h 197"/>
              <a:gd name="T72" fmla="*/ 540 w 1040"/>
              <a:gd name="T73" fmla="*/ 185 h 197"/>
              <a:gd name="T74" fmla="*/ 494 w 1040"/>
              <a:gd name="T75" fmla="*/ 184 h 197"/>
              <a:gd name="T76" fmla="*/ 455 w 1040"/>
              <a:gd name="T77" fmla="*/ 187 h 197"/>
              <a:gd name="T78" fmla="*/ 415 w 1040"/>
              <a:gd name="T79" fmla="*/ 181 h 197"/>
              <a:gd name="T80" fmla="*/ 377 w 1040"/>
              <a:gd name="T81" fmla="*/ 184 h 197"/>
              <a:gd name="T82" fmla="*/ 345 w 1040"/>
              <a:gd name="T83" fmla="*/ 181 h 197"/>
              <a:gd name="T84" fmla="*/ 307 w 1040"/>
              <a:gd name="T85" fmla="*/ 184 h 197"/>
              <a:gd name="T86" fmla="*/ 266 w 1040"/>
              <a:gd name="T87" fmla="*/ 187 h 197"/>
              <a:gd name="T88" fmla="*/ 213 w 1040"/>
              <a:gd name="T89" fmla="*/ 196 h 197"/>
              <a:gd name="T90" fmla="*/ 152 w 1040"/>
              <a:gd name="T91" fmla="*/ 196 h 197"/>
              <a:gd name="T92" fmla="*/ 101 w 1040"/>
              <a:gd name="T93" fmla="*/ 188 h 197"/>
              <a:gd name="T94" fmla="*/ 55 w 1040"/>
              <a:gd name="T95" fmla="*/ 190 h 197"/>
              <a:gd name="T96" fmla="*/ 10 w 1040"/>
              <a:gd name="T97" fmla="*/ 18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0" h="197">
                <a:moveTo>
                  <a:pt x="0" y="176"/>
                </a:moveTo>
                <a:lnTo>
                  <a:pt x="6" y="172"/>
                </a:lnTo>
                <a:lnTo>
                  <a:pt x="13" y="169"/>
                </a:lnTo>
                <a:lnTo>
                  <a:pt x="22" y="165"/>
                </a:lnTo>
                <a:lnTo>
                  <a:pt x="31" y="162"/>
                </a:lnTo>
                <a:lnTo>
                  <a:pt x="42" y="159"/>
                </a:lnTo>
                <a:lnTo>
                  <a:pt x="58" y="154"/>
                </a:lnTo>
                <a:lnTo>
                  <a:pt x="70" y="150"/>
                </a:lnTo>
                <a:lnTo>
                  <a:pt x="86" y="145"/>
                </a:lnTo>
                <a:lnTo>
                  <a:pt x="104" y="141"/>
                </a:lnTo>
                <a:lnTo>
                  <a:pt x="121" y="137"/>
                </a:lnTo>
                <a:lnTo>
                  <a:pt x="139" y="135"/>
                </a:lnTo>
                <a:lnTo>
                  <a:pt x="157" y="132"/>
                </a:lnTo>
                <a:lnTo>
                  <a:pt x="175" y="129"/>
                </a:lnTo>
                <a:lnTo>
                  <a:pt x="191" y="126"/>
                </a:lnTo>
                <a:lnTo>
                  <a:pt x="208" y="122"/>
                </a:lnTo>
                <a:lnTo>
                  <a:pt x="222" y="120"/>
                </a:lnTo>
                <a:lnTo>
                  <a:pt x="242" y="116"/>
                </a:lnTo>
                <a:lnTo>
                  <a:pt x="259" y="113"/>
                </a:lnTo>
                <a:lnTo>
                  <a:pt x="275" y="110"/>
                </a:lnTo>
                <a:lnTo>
                  <a:pt x="286" y="108"/>
                </a:lnTo>
                <a:lnTo>
                  <a:pt x="297" y="104"/>
                </a:lnTo>
                <a:lnTo>
                  <a:pt x="307" y="99"/>
                </a:lnTo>
                <a:lnTo>
                  <a:pt x="313" y="94"/>
                </a:lnTo>
                <a:lnTo>
                  <a:pt x="320" y="87"/>
                </a:lnTo>
                <a:lnTo>
                  <a:pt x="326" y="81"/>
                </a:lnTo>
                <a:lnTo>
                  <a:pt x="336" y="70"/>
                </a:lnTo>
                <a:lnTo>
                  <a:pt x="347" y="61"/>
                </a:lnTo>
                <a:lnTo>
                  <a:pt x="358" y="50"/>
                </a:lnTo>
                <a:lnTo>
                  <a:pt x="370" y="39"/>
                </a:lnTo>
                <a:lnTo>
                  <a:pt x="382" y="28"/>
                </a:lnTo>
                <a:lnTo>
                  <a:pt x="397" y="18"/>
                </a:lnTo>
                <a:lnTo>
                  <a:pt x="410" y="8"/>
                </a:lnTo>
                <a:lnTo>
                  <a:pt x="422" y="0"/>
                </a:lnTo>
                <a:lnTo>
                  <a:pt x="426" y="16"/>
                </a:lnTo>
                <a:lnTo>
                  <a:pt x="432" y="35"/>
                </a:lnTo>
                <a:lnTo>
                  <a:pt x="438" y="52"/>
                </a:lnTo>
                <a:lnTo>
                  <a:pt x="444" y="68"/>
                </a:lnTo>
                <a:lnTo>
                  <a:pt x="445" y="77"/>
                </a:lnTo>
                <a:lnTo>
                  <a:pt x="447" y="85"/>
                </a:lnTo>
                <a:lnTo>
                  <a:pt x="445" y="92"/>
                </a:lnTo>
                <a:lnTo>
                  <a:pt x="439" y="101"/>
                </a:lnTo>
                <a:lnTo>
                  <a:pt x="456" y="105"/>
                </a:lnTo>
                <a:lnTo>
                  <a:pt x="473" y="107"/>
                </a:lnTo>
                <a:lnTo>
                  <a:pt x="494" y="110"/>
                </a:lnTo>
                <a:lnTo>
                  <a:pt x="517" y="114"/>
                </a:lnTo>
                <a:lnTo>
                  <a:pt x="541" y="119"/>
                </a:lnTo>
                <a:lnTo>
                  <a:pt x="559" y="122"/>
                </a:lnTo>
                <a:lnTo>
                  <a:pt x="578" y="124"/>
                </a:lnTo>
                <a:lnTo>
                  <a:pt x="596" y="127"/>
                </a:lnTo>
                <a:lnTo>
                  <a:pt x="611" y="128"/>
                </a:lnTo>
                <a:lnTo>
                  <a:pt x="623" y="124"/>
                </a:lnTo>
                <a:lnTo>
                  <a:pt x="635" y="119"/>
                </a:lnTo>
                <a:lnTo>
                  <a:pt x="646" y="111"/>
                </a:lnTo>
                <a:lnTo>
                  <a:pt x="672" y="115"/>
                </a:lnTo>
                <a:lnTo>
                  <a:pt x="701" y="122"/>
                </a:lnTo>
                <a:lnTo>
                  <a:pt x="721" y="126"/>
                </a:lnTo>
                <a:lnTo>
                  <a:pt x="708" y="138"/>
                </a:lnTo>
                <a:lnTo>
                  <a:pt x="718" y="142"/>
                </a:lnTo>
                <a:lnTo>
                  <a:pt x="731" y="146"/>
                </a:lnTo>
                <a:lnTo>
                  <a:pt x="746" y="150"/>
                </a:lnTo>
                <a:lnTo>
                  <a:pt x="762" y="152"/>
                </a:lnTo>
                <a:lnTo>
                  <a:pt x="777" y="150"/>
                </a:lnTo>
                <a:lnTo>
                  <a:pt x="793" y="149"/>
                </a:lnTo>
                <a:lnTo>
                  <a:pt x="809" y="146"/>
                </a:lnTo>
                <a:lnTo>
                  <a:pt x="826" y="141"/>
                </a:lnTo>
                <a:lnTo>
                  <a:pt x="843" y="132"/>
                </a:lnTo>
                <a:lnTo>
                  <a:pt x="862" y="118"/>
                </a:lnTo>
                <a:lnTo>
                  <a:pt x="877" y="106"/>
                </a:lnTo>
                <a:lnTo>
                  <a:pt x="896" y="89"/>
                </a:lnTo>
                <a:lnTo>
                  <a:pt x="903" y="82"/>
                </a:lnTo>
                <a:lnTo>
                  <a:pt x="917" y="69"/>
                </a:lnTo>
                <a:lnTo>
                  <a:pt x="928" y="61"/>
                </a:lnTo>
                <a:lnTo>
                  <a:pt x="939" y="53"/>
                </a:lnTo>
                <a:lnTo>
                  <a:pt x="950" y="46"/>
                </a:lnTo>
                <a:lnTo>
                  <a:pt x="961" y="39"/>
                </a:lnTo>
                <a:lnTo>
                  <a:pt x="971" y="35"/>
                </a:lnTo>
                <a:lnTo>
                  <a:pt x="980" y="30"/>
                </a:lnTo>
                <a:lnTo>
                  <a:pt x="989" y="27"/>
                </a:lnTo>
                <a:lnTo>
                  <a:pt x="998" y="23"/>
                </a:lnTo>
                <a:lnTo>
                  <a:pt x="1009" y="22"/>
                </a:lnTo>
                <a:lnTo>
                  <a:pt x="1021" y="21"/>
                </a:lnTo>
                <a:lnTo>
                  <a:pt x="1039" y="21"/>
                </a:lnTo>
                <a:lnTo>
                  <a:pt x="1032" y="27"/>
                </a:lnTo>
                <a:lnTo>
                  <a:pt x="1024" y="36"/>
                </a:lnTo>
                <a:lnTo>
                  <a:pt x="1019" y="42"/>
                </a:lnTo>
                <a:lnTo>
                  <a:pt x="1012" y="52"/>
                </a:lnTo>
                <a:lnTo>
                  <a:pt x="1005" y="61"/>
                </a:lnTo>
                <a:lnTo>
                  <a:pt x="995" y="70"/>
                </a:lnTo>
                <a:lnTo>
                  <a:pt x="982" y="79"/>
                </a:lnTo>
                <a:lnTo>
                  <a:pt x="975" y="85"/>
                </a:lnTo>
                <a:lnTo>
                  <a:pt x="970" y="91"/>
                </a:lnTo>
                <a:lnTo>
                  <a:pt x="964" y="99"/>
                </a:lnTo>
                <a:lnTo>
                  <a:pt x="959" y="104"/>
                </a:lnTo>
                <a:lnTo>
                  <a:pt x="954" y="110"/>
                </a:lnTo>
                <a:lnTo>
                  <a:pt x="950" y="117"/>
                </a:lnTo>
                <a:lnTo>
                  <a:pt x="946" y="123"/>
                </a:lnTo>
                <a:lnTo>
                  <a:pt x="942" y="129"/>
                </a:lnTo>
                <a:lnTo>
                  <a:pt x="938" y="135"/>
                </a:lnTo>
                <a:lnTo>
                  <a:pt x="935" y="139"/>
                </a:lnTo>
                <a:lnTo>
                  <a:pt x="933" y="146"/>
                </a:lnTo>
                <a:lnTo>
                  <a:pt x="931" y="152"/>
                </a:lnTo>
                <a:lnTo>
                  <a:pt x="931" y="158"/>
                </a:lnTo>
                <a:lnTo>
                  <a:pt x="930" y="164"/>
                </a:lnTo>
                <a:lnTo>
                  <a:pt x="924" y="160"/>
                </a:lnTo>
                <a:lnTo>
                  <a:pt x="915" y="159"/>
                </a:lnTo>
                <a:lnTo>
                  <a:pt x="908" y="159"/>
                </a:lnTo>
                <a:lnTo>
                  <a:pt x="901" y="159"/>
                </a:lnTo>
                <a:lnTo>
                  <a:pt x="893" y="161"/>
                </a:lnTo>
                <a:lnTo>
                  <a:pt x="887" y="164"/>
                </a:lnTo>
                <a:lnTo>
                  <a:pt x="881" y="165"/>
                </a:lnTo>
                <a:lnTo>
                  <a:pt x="874" y="167"/>
                </a:lnTo>
                <a:lnTo>
                  <a:pt x="867" y="168"/>
                </a:lnTo>
                <a:lnTo>
                  <a:pt x="857" y="167"/>
                </a:lnTo>
                <a:lnTo>
                  <a:pt x="849" y="166"/>
                </a:lnTo>
                <a:lnTo>
                  <a:pt x="843" y="164"/>
                </a:lnTo>
                <a:lnTo>
                  <a:pt x="836" y="162"/>
                </a:lnTo>
                <a:lnTo>
                  <a:pt x="829" y="163"/>
                </a:lnTo>
                <a:lnTo>
                  <a:pt x="818" y="164"/>
                </a:lnTo>
                <a:lnTo>
                  <a:pt x="809" y="166"/>
                </a:lnTo>
                <a:lnTo>
                  <a:pt x="802" y="165"/>
                </a:lnTo>
                <a:lnTo>
                  <a:pt x="793" y="164"/>
                </a:lnTo>
                <a:lnTo>
                  <a:pt x="783" y="163"/>
                </a:lnTo>
                <a:lnTo>
                  <a:pt x="774" y="163"/>
                </a:lnTo>
                <a:lnTo>
                  <a:pt x="766" y="164"/>
                </a:lnTo>
                <a:lnTo>
                  <a:pt x="753" y="166"/>
                </a:lnTo>
                <a:lnTo>
                  <a:pt x="745" y="166"/>
                </a:lnTo>
                <a:lnTo>
                  <a:pt x="734" y="164"/>
                </a:lnTo>
                <a:lnTo>
                  <a:pt x="725" y="164"/>
                </a:lnTo>
                <a:lnTo>
                  <a:pt x="714" y="166"/>
                </a:lnTo>
                <a:lnTo>
                  <a:pt x="706" y="169"/>
                </a:lnTo>
                <a:lnTo>
                  <a:pt x="693" y="171"/>
                </a:lnTo>
                <a:lnTo>
                  <a:pt x="684" y="172"/>
                </a:lnTo>
                <a:lnTo>
                  <a:pt x="673" y="173"/>
                </a:lnTo>
                <a:lnTo>
                  <a:pt x="664" y="174"/>
                </a:lnTo>
                <a:lnTo>
                  <a:pt x="654" y="172"/>
                </a:lnTo>
                <a:lnTo>
                  <a:pt x="643" y="169"/>
                </a:lnTo>
                <a:lnTo>
                  <a:pt x="632" y="172"/>
                </a:lnTo>
                <a:lnTo>
                  <a:pt x="624" y="172"/>
                </a:lnTo>
                <a:lnTo>
                  <a:pt x="615" y="173"/>
                </a:lnTo>
                <a:lnTo>
                  <a:pt x="606" y="172"/>
                </a:lnTo>
                <a:lnTo>
                  <a:pt x="597" y="172"/>
                </a:lnTo>
                <a:lnTo>
                  <a:pt x="587" y="173"/>
                </a:lnTo>
                <a:lnTo>
                  <a:pt x="579" y="177"/>
                </a:lnTo>
                <a:lnTo>
                  <a:pt x="571" y="179"/>
                </a:lnTo>
                <a:lnTo>
                  <a:pt x="561" y="182"/>
                </a:lnTo>
                <a:lnTo>
                  <a:pt x="551" y="184"/>
                </a:lnTo>
                <a:lnTo>
                  <a:pt x="540" y="185"/>
                </a:lnTo>
                <a:lnTo>
                  <a:pt x="530" y="186"/>
                </a:lnTo>
                <a:lnTo>
                  <a:pt x="516" y="184"/>
                </a:lnTo>
                <a:lnTo>
                  <a:pt x="503" y="184"/>
                </a:lnTo>
                <a:lnTo>
                  <a:pt x="494" y="184"/>
                </a:lnTo>
                <a:lnTo>
                  <a:pt x="482" y="186"/>
                </a:lnTo>
                <a:lnTo>
                  <a:pt x="473" y="186"/>
                </a:lnTo>
                <a:lnTo>
                  <a:pt x="463" y="187"/>
                </a:lnTo>
                <a:lnTo>
                  <a:pt x="455" y="187"/>
                </a:lnTo>
                <a:lnTo>
                  <a:pt x="442" y="186"/>
                </a:lnTo>
                <a:lnTo>
                  <a:pt x="431" y="184"/>
                </a:lnTo>
                <a:lnTo>
                  <a:pt x="424" y="181"/>
                </a:lnTo>
                <a:lnTo>
                  <a:pt x="415" y="181"/>
                </a:lnTo>
                <a:lnTo>
                  <a:pt x="406" y="181"/>
                </a:lnTo>
                <a:lnTo>
                  <a:pt x="397" y="182"/>
                </a:lnTo>
                <a:lnTo>
                  <a:pt x="386" y="184"/>
                </a:lnTo>
                <a:lnTo>
                  <a:pt x="377" y="184"/>
                </a:lnTo>
                <a:lnTo>
                  <a:pt x="369" y="184"/>
                </a:lnTo>
                <a:lnTo>
                  <a:pt x="363" y="183"/>
                </a:lnTo>
                <a:lnTo>
                  <a:pt x="354" y="181"/>
                </a:lnTo>
                <a:lnTo>
                  <a:pt x="345" y="181"/>
                </a:lnTo>
                <a:lnTo>
                  <a:pt x="336" y="181"/>
                </a:lnTo>
                <a:lnTo>
                  <a:pt x="328" y="182"/>
                </a:lnTo>
                <a:lnTo>
                  <a:pt x="319" y="183"/>
                </a:lnTo>
                <a:lnTo>
                  <a:pt x="307" y="184"/>
                </a:lnTo>
                <a:lnTo>
                  <a:pt x="296" y="184"/>
                </a:lnTo>
                <a:lnTo>
                  <a:pt x="286" y="184"/>
                </a:lnTo>
                <a:lnTo>
                  <a:pt x="276" y="185"/>
                </a:lnTo>
                <a:lnTo>
                  <a:pt x="266" y="187"/>
                </a:lnTo>
                <a:lnTo>
                  <a:pt x="255" y="190"/>
                </a:lnTo>
                <a:lnTo>
                  <a:pt x="245" y="192"/>
                </a:lnTo>
                <a:lnTo>
                  <a:pt x="230" y="195"/>
                </a:lnTo>
                <a:lnTo>
                  <a:pt x="213" y="196"/>
                </a:lnTo>
                <a:lnTo>
                  <a:pt x="196" y="196"/>
                </a:lnTo>
                <a:lnTo>
                  <a:pt x="181" y="195"/>
                </a:lnTo>
                <a:lnTo>
                  <a:pt x="162" y="196"/>
                </a:lnTo>
                <a:lnTo>
                  <a:pt x="152" y="196"/>
                </a:lnTo>
                <a:lnTo>
                  <a:pt x="142" y="194"/>
                </a:lnTo>
                <a:lnTo>
                  <a:pt x="132" y="196"/>
                </a:lnTo>
                <a:lnTo>
                  <a:pt x="120" y="195"/>
                </a:lnTo>
                <a:lnTo>
                  <a:pt x="101" y="188"/>
                </a:lnTo>
                <a:lnTo>
                  <a:pt x="89" y="189"/>
                </a:lnTo>
                <a:lnTo>
                  <a:pt x="77" y="190"/>
                </a:lnTo>
                <a:lnTo>
                  <a:pt x="65" y="190"/>
                </a:lnTo>
                <a:lnTo>
                  <a:pt x="55" y="190"/>
                </a:lnTo>
                <a:lnTo>
                  <a:pt x="43" y="189"/>
                </a:lnTo>
                <a:lnTo>
                  <a:pt x="31" y="187"/>
                </a:lnTo>
                <a:lnTo>
                  <a:pt x="20" y="184"/>
                </a:lnTo>
                <a:lnTo>
                  <a:pt x="10" y="181"/>
                </a:lnTo>
                <a:lnTo>
                  <a:pt x="0" y="179"/>
                </a:lnTo>
                <a:lnTo>
                  <a:pt x="0" y="17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97" name="Group 53"/>
          <p:cNvGrpSpPr>
            <a:grpSpLocks/>
          </p:cNvGrpSpPr>
          <p:nvPr/>
        </p:nvGrpSpPr>
        <p:grpSpPr bwMode="auto">
          <a:xfrm>
            <a:off x="5548313" y="3825876"/>
            <a:ext cx="239712" cy="150813"/>
            <a:chOff x="2535" y="2410"/>
            <a:chExt cx="151" cy="95"/>
          </a:xfrm>
        </p:grpSpPr>
        <p:sp>
          <p:nvSpPr>
            <p:cNvPr id="6195" name="Freeform 51" descr="50%"/>
            <p:cNvSpPr>
              <a:spLocks/>
            </p:cNvSpPr>
            <p:nvPr/>
          </p:nvSpPr>
          <p:spPr bwMode="auto">
            <a:xfrm>
              <a:off x="2535" y="2413"/>
              <a:ext cx="151" cy="92"/>
            </a:xfrm>
            <a:custGeom>
              <a:avLst/>
              <a:gdLst>
                <a:gd name="T0" fmla="*/ 140 w 151"/>
                <a:gd name="T1" fmla="*/ 82 h 92"/>
                <a:gd name="T2" fmla="*/ 132 w 151"/>
                <a:gd name="T3" fmla="*/ 74 h 92"/>
                <a:gd name="T4" fmla="*/ 127 w 151"/>
                <a:gd name="T5" fmla="*/ 69 h 92"/>
                <a:gd name="T6" fmla="*/ 123 w 151"/>
                <a:gd name="T7" fmla="*/ 64 h 92"/>
                <a:gd name="T8" fmla="*/ 118 w 151"/>
                <a:gd name="T9" fmla="*/ 59 h 92"/>
                <a:gd name="T10" fmla="*/ 114 w 151"/>
                <a:gd name="T11" fmla="*/ 54 h 92"/>
                <a:gd name="T12" fmla="*/ 111 w 151"/>
                <a:gd name="T13" fmla="*/ 49 h 92"/>
                <a:gd name="T14" fmla="*/ 107 w 151"/>
                <a:gd name="T15" fmla="*/ 43 h 92"/>
                <a:gd name="T16" fmla="*/ 104 w 151"/>
                <a:gd name="T17" fmla="*/ 37 h 92"/>
                <a:gd name="T18" fmla="*/ 101 w 151"/>
                <a:gd name="T19" fmla="*/ 30 h 92"/>
                <a:gd name="T20" fmla="*/ 99 w 151"/>
                <a:gd name="T21" fmla="*/ 23 h 92"/>
                <a:gd name="T22" fmla="*/ 97 w 151"/>
                <a:gd name="T23" fmla="*/ 16 h 92"/>
                <a:gd name="T24" fmla="*/ 97 w 151"/>
                <a:gd name="T25" fmla="*/ 9 h 92"/>
                <a:gd name="T26" fmla="*/ 97 w 151"/>
                <a:gd name="T27" fmla="*/ 0 h 92"/>
                <a:gd name="T28" fmla="*/ 0 w 151"/>
                <a:gd name="T29" fmla="*/ 1 h 92"/>
                <a:gd name="T30" fmla="*/ 3 w 151"/>
                <a:gd name="T31" fmla="*/ 6 h 92"/>
                <a:gd name="T32" fmla="*/ 8 w 151"/>
                <a:gd name="T33" fmla="*/ 13 h 92"/>
                <a:gd name="T34" fmla="*/ 13 w 151"/>
                <a:gd name="T35" fmla="*/ 20 h 92"/>
                <a:gd name="T36" fmla="*/ 18 w 151"/>
                <a:gd name="T37" fmla="*/ 26 h 92"/>
                <a:gd name="T38" fmla="*/ 25 w 151"/>
                <a:gd name="T39" fmla="*/ 33 h 92"/>
                <a:gd name="T40" fmla="*/ 32 w 151"/>
                <a:gd name="T41" fmla="*/ 40 h 92"/>
                <a:gd name="T42" fmla="*/ 39 w 151"/>
                <a:gd name="T43" fmla="*/ 46 h 92"/>
                <a:gd name="T44" fmla="*/ 47 w 151"/>
                <a:gd name="T45" fmla="*/ 52 h 92"/>
                <a:gd name="T46" fmla="*/ 56 w 151"/>
                <a:gd name="T47" fmla="*/ 59 h 92"/>
                <a:gd name="T48" fmla="*/ 66 w 151"/>
                <a:gd name="T49" fmla="*/ 67 h 92"/>
                <a:gd name="T50" fmla="*/ 75 w 151"/>
                <a:gd name="T51" fmla="*/ 72 h 92"/>
                <a:gd name="T52" fmla="*/ 83 w 151"/>
                <a:gd name="T53" fmla="*/ 76 h 92"/>
                <a:gd name="T54" fmla="*/ 91 w 151"/>
                <a:gd name="T55" fmla="*/ 79 h 92"/>
                <a:gd name="T56" fmla="*/ 99 w 151"/>
                <a:gd name="T57" fmla="*/ 82 h 92"/>
                <a:gd name="T58" fmla="*/ 107 w 151"/>
                <a:gd name="T59" fmla="*/ 85 h 92"/>
                <a:gd name="T60" fmla="*/ 117 w 151"/>
                <a:gd name="T61" fmla="*/ 87 h 92"/>
                <a:gd name="T62" fmla="*/ 127 w 151"/>
                <a:gd name="T63" fmla="*/ 89 h 92"/>
                <a:gd name="T64" fmla="*/ 135 w 151"/>
                <a:gd name="T65" fmla="*/ 90 h 92"/>
                <a:gd name="T66" fmla="*/ 143 w 151"/>
                <a:gd name="T67" fmla="*/ 91 h 92"/>
                <a:gd name="T68" fmla="*/ 150 w 151"/>
                <a:gd name="T69" fmla="*/ 91 h 92"/>
                <a:gd name="T70" fmla="*/ 140 w 151"/>
                <a:gd name="T71" fmla="*/ 8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 h="92">
                  <a:moveTo>
                    <a:pt x="140" y="82"/>
                  </a:moveTo>
                  <a:lnTo>
                    <a:pt x="132" y="74"/>
                  </a:lnTo>
                  <a:lnTo>
                    <a:pt x="127" y="69"/>
                  </a:lnTo>
                  <a:lnTo>
                    <a:pt x="123" y="64"/>
                  </a:lnTo>
                  <a:lnTo>
                    <a:pt x="118" y="59"/>
                  </a:lnTo>
                  <a:lnTo>
                    <a:pt x="114" y="54"/>
                  </a:lnTo>
                  <a:lnTo>
                    <a:pt x="111" y="49"/>
                  </a:lnTo>
                  <a:lnTo>
                    <a:pt x="107" y="43"/>
                  </a:lnTo>
                  <a:lnTo>
                    <a:pt x="104" y="37"/>
                  </a:lnTo>
                  <a:lnTo>
                    <a:pt x="101" y="30"/>
                  </a:lnTo>
                  <a:lnTo>
                    <a:pt x="99" y="23"/>
                  </a:lnTo>
                  <a:lnTo>
                    <a:pt x="97" y="16"/>
                  </a:lnTo>
                  <a:lnTo>
                    <a:pt x="97" y="9"/>
                  </a:lnTo>
                  <a:lnTo>
                    <a:pt x="97" y="0"/>
                  </a:lnTo>
                  <a:lnTo>
                    <a:pt x="0" y="1"/>
                  </a:lnTo>
                  <a:lnTo>
                    <a:pt x="3" y="6"/>
                  </a:lnTo>
                  <a:lnTo>
                    <a:pt x="8" y="13"/>
                  </a:lnTo>
                  <a:lnTo>
                    <a:pt x="13" y="20"/>
                  </a:lnTo>
                  <a:lnTo>
                    <a:pt x="18" y="26"/>
                  </a:lnTo>
                  <a:lnTo>
                    <a:pt x="25" y="33"/>
                  </a:lnTo>
                  <a:lnTo>
                    <a:pt x="32" y="40"/>
                  </a:lnTo>
                  <a:lnTo>
                    <a:pt x="39" y="46"/>
                  </a:lnTo>
                  <a:lnTo>
                    <a:pt x="47" y="52"/>
                  </a:lnTo>
                  <a:lnTo>
                    <a:pt x="56" y="59"/>
                  </a:lnTo>
                  <a:lnTo>
                    <a:pt x="66" y="67"/>
                  </a:lnTo>
                  <a:lnTo>
                    <a:pt x="75" y="72"/>
                  </a:lnTo>
                  <a:lnTo>
                    <a:pt x="83" y="76"/>
                  </a:lnTo>
                  <a:lnTo>
                    <a:pt x="91" y="79"/>
                  </a:lnTo>
                  <a:lnTo>
                    <a:pt x="99" y="82"/>
                  </a:lnTo>
                  <a:lnTo>
                    <a:pt x="107" y="85"/>
                  </a:lnTo>
                  <a:lnTo>
                    <a:pt x="117" y="87"/>
                  </a:lnTo>
                  <a:lnTo>
                    <a:pt x="127" y="89"/>
                  </a:lnTo>
                  <a:lnTo>
                    <a:pt x="135" y="90"/>
                  </a:lnTo>
                  <a:lnTo>
                    <a:pt x="143" y="91"/>
                  </a:lnTo>
                  <a:lnTo>
                    <a:pt x="150" y="91"/>
                  </a:lnTo>
                  <a:lnTo>
                    <a:pt x="140" y="8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6" name="Freeform 52" descr="50%"/>
            <p:cNvSpPr>
              <a:spLocks/>
            </p:cNvSpPr>
            <p:nvPr/>
          </p:nvSpPr>
          <p:spPr bwMode="auto">
            <a:xfrm>
              <a:off x="2538" y="2410"/>
              <a:ext cx="86" cy="3"/>
            </a:xfrm>
            <a:custGeom>
              <a:avLst/>
              <a:gdLst>
                <a:gd name="T0" fmla="*/ 0 w 86"/>
                <a:gd name="T1" fmla="*/ 2 h 3"/>
                <a:gd name="T2" fmla="*/ 0 w 86"/>
                <a:gd name="T3" fmla="*/ 1 h 3"/>
                <a:gd name="T4" fmla="*/ 2 w 86"/>
                <a:gd name="T5" fmla="*/ 0 h 3"/>
                <a:gd name="T6" fmla="*/ 85 w 86"/>
                <a:gd name="T7" fmla="*/ 0 h 3"/>
                <a:gd name="T8" fmla="*/ 85 w 86"/>
                <a:gd name="T9" fmla="*/ 2 h 3"/>
                <a:gd name="T10" fmla="*/ 0 w 86"/>
                <a:gd name="T11" fmla="*/ 2 h 3"/>
              </a:gdLst>
              <a:ahLst/>
              <a:cxnLst>
                <a:cxn ang="0">
                  <a:pos x="T0" y="T1"/>
                </a:cxn>
                <a:cxn ang="0">
                  <a:pos x="T2" y="T3"/>
                </a:cxn>
                <a:cxn ang="0">
                  <a:pos x="T4" y="T5"/>
                </a:cxn>
                <a:cxn ang="0">
                  <a:pos x="T6" y="T7"/>
                </a:cxn>
                <a:cxn ang="0">
                  <a:pos x="T8" y="T9"/>
                </a:cxn>
                <a:cxn ang="0">
                  <a:pos x="T10" y="T11"/>
                </a:cxn>
              </a:cxnLst>
              <a:rect l="0" t="0" r="r" b="b"/>
              <a:pathLst>
                <a:path w="86" h="3">
                  <a:moveTo>
                    <a:pt x="0" y="2"/>
                  </a:moveTo>
                  <a:lnTo>
                    <a:pt x="0" y="1"/>
                  </a:lnTo>
                  <a:lnTo>
                    <a:pt x="2" y="0"/>
                  </a:lnTo>
                  <a:lnTo>
                    <a:pt x="85" y="0"/>
                  </a:lnTo>
                  <a:lnTo>
                    <a:pt x="85" y="2"/>
                  </a:lnTo>
                  <a:lnTo>
                    <a:pt x="0" y="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98" name="Freeform 54" descr="50%"/>
          <p:cNvSpPr>
            <a:spLocks/>
          </p:cNvSpPr>
          <p:nvPr/>
        </p:nvSpPr>
        <p:spPr bwMode="auto">
          <a:xfrm>
            <a:off x="7318375" y="3767138"/>
            <a:ext cx="133350" cy="101600"/>
          </a:xfrm>
          <a:custGeom>
            <a:avLst/>
            <a:gdLst>
              <a:gd name="T0" fmla="*/ 0 w 84"/>
              <a:gd name="T1" fmla="*/ 0 h 64"/>
              <a:gd name="T2" fmla="*/ 3 w 84"/>
              <a:gd name="T3" fmla="*/ 6 h 64"/>
              <a:gd name="T4" fmla="*/ 7 w 84"/>
              <a:gd name="T5" fmla="*/ 13 h 64"/>
              <a:gd name="T6" fmla="*/ 12 w 84"/>
              <a:gd name="T7" fmla="*/ 19 h 64"/>
              <a:gd name="T8" fmla="*/ 17 w 84"/>
              <a:gd name="T9" fmla="*/ 25 h 64"/>
              <a:gd name="T10" fmla="*/ 23 w 84"/>
              <a:gd name="T11" fmla="*/ 32 h 64"/>
              <a:gd name="T12" fmla="*/ 29 w 84"/>
              <a:gd name="T13" fmla="*/ 39 h 64"/>
              <a:gd name="T14" fmla="*/ 35 w 84"/>
              <a:gd name="T15" fmla="*/ 44 h 64"/>
              <a:gd name="T16" fmla="*/ 40 w 84"/>
              <a:gd name="T17" fmla="*/ 49 h 64"/>
              <a:gd name="T18" fmla="*/ 46 w 84"/>
              <a:gd name="T19" fmla="*/ 53 h 64"/>
              <a:gd name="T20" fmla="*/ 53 w 84"/>
              <a:gd name="T21" fmla="*/ 56 h 64"/>
              <a:gd name="T22" fmla="*/ 59 w 84"/>
              <a:gd name="T23" fmla="*/ 59 h 64"/>
              <a:gd name="T24" fmla="*/ 66 w 84"/>
              <a:gd name="T25" fmla="*/ 62 h 64"/>
              <a:gd name="T26" fmla="*/ 73 w 84"/>
              <a:gd name="T27" fmla="*/ 63 h 64"/>
              <a:gd name="T28" fmla="*/ 79 w 84"/>
              <a:gd name="T29" fmla="*/ 63 h 64"/>
              <a:gd name="T30" fmla="*/ 83 w 84"/>
              <a:gd name="T31" fmla="*/ 62 h 64"/>
              <a:gd name="T32" fmla="*/ 79 w 84"/>
              <a:gd name="T33" fmla="*/ 58 h 64"/>
              <a:gd name="T34" fmla="*/ 74 w 84"/>
              <a:gd name="T35" fmla="*/ 52 h 64"/>
              <a:gd name="T36" fmla="*/ 70 w 84"/>
              <a:gd name="T37" fmla="*/ 47 h 64"/>
              <a:gd name="T38" fmla="*/ 65 w 84"/>
              <a:gd name="T39" fmla="*/ 40 h 64"/>
              <a:gd name="T40" fmla="*/ 61 w 84"/>
              <a:gd name="T41" fmla="*/ 34 h 64"/>
              <a:gd name="T42" fmla="*/ 58 w 84"/>
              <a:gd name="T43" fmla="*/ 28 h 64"/>
              <a:gd name="T44" fmla="*/ 56 w 84"/>
              <a:gd name="T45" fmla="*/ 22 h 64"/>
              <a:gd name="T46" fmla="*/ 53 w 84"/>
              <a:gd name="T47" fmla="*/ 13 h 64"/>
              <a:gd name="T48" fmla="*/ 53 w 84"/>
              <a:gd name="T49" fmla="*/ 6 h 64"/>
              <a:gd name="T50" fmla="*/ 53 w 84"/>
              <a:gd name="T51" fmla="*/ 0 h 64"/>
              <a:gd name="T52" fmla="*/ 0 w 8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64">
                <a:moveTo>
                  <a:pt x="0" y="0"/>
                </a:moveTo>
                <a:lnTo>
                  <a:pt x="3" y="6"/>
                </a:lnTo>
                <a:lnTo>
                  <a:pt x="7" y="13"/>
                </a:lnTo>
                <a:lnTo>
                  <a:pt x="12" y="19"/>
                </a:lnTo>
                <a:lnTo>
                  <a:pt x="17" y="25"/>
                </a:lnTo>
                <a:lnTo>
                  <a:pt x="23" y="32"/>
                </a:lnTo>
                <a:lnTo>
                  <a:pt x="29" y="39"/>
                </a:lnTo>
                <a:lnTo>
                  <a:pt x="35" y="44"/>
                </a:lnTo>
                <a:lnTo>
                  <a:pt x="40" y="49"/>
                </a:lnTo>
                <a:lnTo>
                  <a:pt x="46" y="53"/>
                </a:lnTo>
                <a:lnTo>
                  <a:pt x="53" y="56"/>
                </a:lnTo>
                <a:lnTo>
                  <a:pt x="59" y="59"/>
                </a:lnTo>
                <a:lnTo>
                  <a:pt x="66" y="62"/>
                </a:lnTo>
                <a:lnTo>
                  <a:pt x="73" y="63"/>
                </a:lnTo>
                <a:lnTo>
                  <a:pt x="79" y="63"/>
                </a:lnTo>
                <a:lnTo>
                  <a:pt x="83" y="62"/>
                </a:lnTo>
                <a:lnTo>
                  <a:pt x="79" y="58"/>
                </a:lnTo>
                <a:lnTo>
                  <a:pt x="74" y="52"/>
                </a:lnTo>
                <a:lnTo>
                  <a:pt x="70" y="47"/>
                </a:lnTo>
                <a:lnTo>
                  <a:pt x="65" y="40"/>
                </a:lnTo>
                <a:lnTo>
                  <a:pt x="61" y="34"/>
                </a:lnTo>
                <a:lnTo>
                  <a:pt x="58" y="28"/>
                </a:lnTo>
                <a:lnTo>
                  <a:pt x="56" y="22"/>
                </a:lnTo>
                <a:lnTo>
                  <a:pt x="53" y="13"/>
                </a:lnTo>
                <a:lnTo>
                  <a:pt x="53" y="6"/>
                </a:lnTo>
                <a:lnTo>
                  <a:pt x="53" y="0"/>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9" name="Freeform 55" descr="50%"/>
          <p:cNvSpPr>
            <a:spLocks/>
          </p:cNvSpPr>
          <p:nvPr/>
        </p:nvSpPr>
        <p:spPr bwMode="auto">
          <a:xfrm>
            <a:off x="7032626" y="3519488"/>
            <a:ext cx="1127125" cy="328612"/>
          </a:xfrm>
          <a:custGeom>
            <a:avLst/>
            <a:gdLst>
              <a:gd name="T0" fmla="*/ 8 w 710"/>
              <a:gd name="T1" fmla="*/ 123 h 207"/>
              <a:gd name="T2" fmla="*/ 30 w 710"/>
              <a:gd name="T3" fmla="*/ 114 h 207"/>
              <a:gd name="T4" fmla="*/ 62 w 710"/>
              <a:gd name="T5" fmla="*/ 104 h 207"/>
              <a:gd name="T6" fmla="*/ 97 w 710"/>
              <a:gd name="T7" fmla="*/ 97 h 207"/>
              <a:gd name="T8" fmla="*/ 131 w 710"/>
              <a:gd name="T9" fmla="*/ 91 h 207"/>
              <a:gd name="T10" fmla="*/ 166 w 710"/>
              <a:gd name="T11" fmla="*/ 84 h 207"/>
              <a:gd name="T12" fmla="*/ 195 w 710"/>
              <a:gd name="T13" fmla="*/ 78 h 207"/>
              <a:gd name="T14" fmla="*/ 212 w 710"/>
              <a:gd name="T15" fmla="*/ 69 h 207"/>
              <a:gd name="T16" fmla="*/ 229 w 710"/>
              <a:gd name="T17" fmla="*/ 53 h 207"/>
              <a:gd name="T18" fmla="*/ 253 w 710"/>
              <a:gd name="T19" fmla="*/ 29 h 207"/>
              <a:gd name="T20" fmla="*/ 278 w 710"/>
              <a:gd name="T21" fmla="*/ 8 h 207"/>
              <a:gd name="T22" fmla="*/ 295 w 710"/>
              <a:gd name="T23" fmla="*/ 25 h 207"/>
              <a:gd name="T24" fmla="*/ 305 w 710"/>
              <a:gd name="T25" fmla="*/ 61 h 207"/>
              <a:gd name="T26" fmla="*/ 312 w 710"/>
              <a:gd name="T27" fmla="*/ 76 h 207"/>
              <a:gd name="T28" fmla="*/ 353 w 710"/>
              <a:gd name="T29" fmla="*/ 83 h 207"/>
              <a:gd name="T30" fmla="*/ 394 w 710"/>
              <a:gd name="T31" fmla="*/ 90 h 207"/>
              <a:gd name="T32" fmla="*/ 425 w 710"/>
              <a:gd name="T33" fmla="*/ 90 h 207"/>
              <a:gd name="T34" fmla="*/ 458 w 710"/>
              <a:gd name="T35" fmla="*/ 84 h 207"/>
              <a:gd name="T36" fmla="*/ 483 w 710"/>
              <a:gd name="T37" fmla="*/ 101 h 207"/>
              <a:gd name="T38" fmla="*/ 508 w 710"/>
              <a:gd name="T39" fmla="*/ 108 h 207"/>
              <a:gd name="T40" fmla="*/ 540 w 710"/>
              <a:gd name="T41" fmla="*/ 108 h 207"/>
              <a:gd name="T42" fmla="*/ 573 w 710"/>
              <a:gd name="T43" fmla="*/ 95 h 207"/>
              <a:gd name="T44" fmla="*/ 610 w 710"/>
              <a:gd name="T45" fmla="*/ 65 h 207"/>
              <a:gd name="T46" fmla="*/ 653 w 710"/>
              <a:gd name="T47" fmla="*/ 30 h 207"/>
              <a:gd name="T48" fmla="*/ 696 w 710"/>
              <a:gd name="T49" fmla="*/ 16 h 207"/>
              <a:gd name="T50" fmla="*/ 697 w 710"/>
              <a:gd name="T51" fmla="*/ 28 h 207"/>
              <a:gd name="T52" fmla="*/ 677 w 710"/>
              <a:gd name="T53" fmla="*/ 53 h 207"/>
              <a:gd name="T54" fmla="*/ 653 w 710"/>
              <a:gd name="T55" fmla="*/ 78 h 207"/>
              <a:gd name="T56" fmla="*/ 637 w 710"/>
              <a:gd name="T57" fmla="*/ 102 h 207"/>
              <a:gd name="T58" fmla="*/ 637 w 710"/>
              <a:gd name="T59" fmla="*/ 128 h 207"/>
              <a:gd name="T60" fmla="*/ 654 w 710"/>
              <a:gd name="T61" fmla="*/ 155 h 207"/>
              <a:gd name="T62" fmla="*/ 676 w 710"/>
              <a:gd name="T63" fmla="*/ 174 h 207"/>
              <a:gd name="T64" fmla="*/ 695 w 710"/>
              <a:gd name="T65" fmla="*/ 190 h 207"/>
              <a:gd name="T66" fmla="*/ 696 w 710"/>
              <a:gd name="T67" fmla="*/ 199 h 207"/>
              <a:gd name="T68" fmla="*/ 669 w 710"/>
              <a:gd name="T69" fmla="*/ 198 h 207"/>
              <a:gd name="T70" fmla="*/ 645 w 710"/>
              <a:gd name="T71" fmla="*/ 192 h 207"/>
              <a:gd name="T72" fmla="*/ 623 w 710"/>
              <a:gd name="T73" fmla="*/ 180 h 207"/>
              <a:gd name="T74" fmla="*/ 585 w 710"/>
              <a:gd name="T75" fmla="*/ 157 h 207"/>
              <a:gd name="T76" fmla="*/ 540 w 710"/>
              <a:gd name="T77" fmla="*/ 154 h 207"/>
              <a:gd name="T78" fmla="*/ 484 w 710"/>
              <a:gd name="T79" fmla="*/ 160 h 207"/>
              <a:gd name="T80" fmla="*/ 449 w 710"/>
              <a:gd name="T81" fmla="*/ 174 h 207"/>
              <a:gd name="T82" fmla="*/ 438 w 710"/>
              <a:gd name="T83" fmla="*/ 190 h 207"/>
              <a:gd name="T84" fmla="*/ 388 w 710"/>
              <a:gd name="T85" fmla="*/ 188 h 207"/>
              <a:gd name="T86" fmla="*/ 347 w 710"/>
              <a:gd name="T87" fmla="*/ 201 h 207"/>
              <a:gd name="T88" fmla="*/ 192 w 710"/>
              <a:gd name="T89" fmla="*/ 206 h 207"/>
              <a:gd name="T90" fmla="*/ 104 w 710"/>
              <a:gd name="T91" fmla="*/ 197 h 207"/>
              <a:gd name="T92" fmla="*/ 26 w 710"/>
              <a:gd name="T93" fmla="*/ 172 h 207"/>
              <a:gd name="T94" fmla="*/ 26 w 710"/>
              <a:gd name="T95" fmla="*/ 158 h 207"/>
              <a:gd name="T96" fmla="*/ 8 w 710"/>
              <a:gd name="T97" fmla="*/ 142 h 207"/>
              <a:gd name="T98" fmla="*/ 2 w 710"/>
              <a:gd name="T99" fmla="*/ 132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10" h="207">
                <a:moveTo>
                  <a:pt x="0" y="128"/>
                </a:moveTo>
                <a:lnTo>
                  <a:pt x="3" y="126"/>
                </a:lnTo>
                <a:lnTo>
                  <a:pt x="8" y="123"/>
                </a:lnTo>
                <a:lnTo>
                  <a:pt x="16" y="119"/>
                </a:lnTo>
                <a:lnTo>
                  <a:pt x="22" y="117"/>
                </a:lnTo>
                <a:lnTo>
                  <a:pt x="30" y="114"/>
                </a:lnTo>
                <a:lnTo>
                  <a:pt x="41" y="111"/>
                </a:lnTo>
                <a:lnTo>
                  <a:pt x="52" y="107"/>
                </a:lnTo>
                <a:lnTo>
                  <a:pt x="62" y="104"/>
                </a:lnTo>
                <a:lnTo>
                  <a:pt x="73" y="102"/>
                </a:lnTo>
                <a:lnTo>
                  <a:pt x="84" y="100"/>
                </a:lnTo>
                <a:lnTo>
                  <a:pt x="97" y="97"/>
                </a:lnTo>
                <a:lnTo>
                  <a:pt x="109" y="95"/>
                </a:lnTo>
                <a:lnTo>
                  <a:pt x="120" y="93"/>
                </a:lnTo>
                <a:lnTo>
                  <a:pt x="131" y="91"/>
                </a:lnTo>
                <a:lnTo>
                  <a:pt x="141" y="89"/>
                </a:lnTo>
                <a:lnTo>
                  <a:pt x="155" y="86"/>
                </a:lnTo>
                <a:lnTo>
                  <a:pt x="166" y="84"/>
                </a:lnTo>
                <a:lnTo>
                  <a:pt x="177" y="82"/>
                </a:lnTo>
                <a:lnTo>
                  <a:pt x="187" y="81"/>
                </a:lnTo>
                <a:lnTo>
                  <a:pt x="195" y="78"/>
                </a:lnTo>
                <a:lnTo>
                  <a:pt x="202" y="75"/>
                </a:lnTo>
                <a:lnTo>
                  <a:pt x="207" y="73"/>
                </a:lnTo>
                <a:lnTo>
                  <a:pt x="212" y="69"/>
                </a:lnTo>
                <a:lnTo>
                  <a:pt x="217" y="65"/>
                </a:lnTo>
                <a:lnTo>
                  <a:pt x="222" y="59"/>
                </a:lnTo>
                <a:lnTo>
                  <a:pt x="229" y="53"/>
                </a:lnTo>
                <a:lnTo>
                  <a:pt x="236" y="44"/>
                </a:lnTo>
                <a:lnTo>
                  <a:pt x="244" y="37"/>
                </a:lnTo>
                <a:lnTo>
                  <a:pt x="253" y="29"/>
                </a:lnTo>
                <a:lnTo>
                  <a:pt x="260" y="21"/>
                </a:lnTo>
                <a:lnTo>
                  <a:pt x="269" y="15"/>
                </a:lnTo>
                <a:lnTo>
                  <a:pt x="278" y="8"/>
                </a:lnTo>
                <a:lnTo>
                  <a:pt x="288" y="0"/>
                </a:lnTo>
                <a:lnTo>
                  <a:pt x="292" y="13"/>
                </a:lnTo>
                <a:lnTo>
                  <a:pt x="295" y="25"/>
                </a:lnTo>
                <a:lnTo>
                  <a:pt x="300" y="37"/>
                </a:lnTo>
                <a:lnTo>
                  <a:pt x="303" y="51"/>
                </a:lnTo>
                <a:lnTo>
                  <a:pt x="305" y="61"/>
                </a:lnTo>
                <a:lnTo>
                  <a:pt x="305" y="68"/>
                </a:lnTo>
                <a:lnTo>
                  <a:pt x="301" y="74"/>
                </a:lnTo>
                <a:lnTo>
                  <a:pt x="312" y="76"/>
                </a:lnTo>
                <a:lnTo>
                  <a:pt x="323" y="78"/>
                </a:lnTo>
                <a:lnTo>
                  <a:pt x="337" y="80"/>
                </a:lnTo>
                <a:lnTo>
                  <a:pt x="353" y="83"/>
                </a:lnTo>
                <a:lnTo>
                  <a:pt x="369" y="86"/>
                </a:lnTo>
                <a:lnTo>
                  <a:pt x="381" y="88"/>
                </a:lnTo>
                <a:lnTo>
                  <a:pt x="394" y="90"/>
                </a:lnTo>
                <a:lnTo>
                  <a:pt x="406" y="91"/>
                </a:lnTo>
                <a:lnTo>
                  <a:pt x="417" y="92"/>
                </a:lnTo>
                <a:lnTo>
                  <a:pt x="425" y="90"/>
                </a:lnTo>
                <a:lnTo>
                  <a:pt x="433" y="86"/>
                </a:lnTo>
                <a:lnTo>
                  <a:pt x="440" y="81"/>
                </a:lnTo>
                <a:lnTo>
                  <a:pt x="458" y="84"/>
                </a:lnTo>
                <a:lnTo>
                  <a:pt x="477" y="88"/>
                </a:lnTo>
                <a:lnTo>
                  <a:pt x="493" y="91"/>
                </a:lnTo>
                <a:lnTo>
                  <a:pt x="483" y="101"/>
                </a:lnTo>
                <a:lnTo>
                  <a:pt x="489" y="103"/>
                </a:lnTo>
                <a:lnTo>
                  <a:pt x="498" y="106"/>
                </a:lnTo>
                <a:lnTo>
                  <a:pt x="508" y="108"/>
                </a:lnTo>
                <a:lnTo>
                  <a:pt x="519" y="110"/>
                </a:lnTo>
                <a:lnTo>
                  <a:pt x="529" y="109"/>
                </a:lnTo>
                <a:lnTo>
                  <a:pt x="540" y="108"/>
                </a:lnTo>
                <a:lnTo>
                  <a:pt x="551" y="105"/>
                </a:lnTo>
                <a:lnTo>
                  <a:pt x="562" y="102"/>
                </a:lnTo>
                <a:lnTo>
                  <a:pt x="573" y="95"/>
                </a:lnTo>
                <a:lnTo>
                  <a:pt x="587" y="86"/>
                </a:lnTo>
                <a:lnTo>
                  <a:pt x="596" y="77"/>
                </a:lnTo>
                <a:lnTo>
                  <a:pt x="610" y="65"/>
                </a:lnTo>
                <a:lnTo>
                  <a:pt x="623" y="51"/>
                </a:lnTo>
                <a:lnTo>
                  <a:pt x="639" y="39"/>
                </a:lnTo>
                <a:lnTo>
                  <a:pt x="653" y="30"/>
                </a:lnTo>
                <a:lnTo>
                  <a:pt x="666" y="22"/>
                </a:lnTo>
                <a:lnTo>
                  <a:pt x="679" y="18"/>
                </a:lnTo>
                <a:lnTo>
                  <a:pt x="696" y="16"/>
                </a:lnTo>
                <a:lnTo>
                  <a:pt x="709" y="16"/>
                </a:lnTo>
                <a:lnTo>
                  <a:pt x="702" y="22"/>
                </a:lnTo>
                <a:lnTo>
                  <a:pt x="697" y="28"/>
                </a:lnTo>
                <a:lnTo>
                  <a:pt x="695" y="32"/>
                </a:lnTo>
                <a:lnTo>
                  <a:pt x="685" y="46"/>
                </a:lnTo>
                <a:lnTo>
                  <a:pt x="677" y="53"/>
                </a:lnTo>
                <a:lnTo>
                  <a:pt x="668" y="60"/>
                </a:lnTo>
                <a:lnTo>
                  <a:pt x="659" y="69"/>
                </a:lnTo>
                <a:lnTo>
                  <a:pt x="653" y="78"/>
                </a:lnTo>
                <a:lnTo>
                  <a:pt x="647" y="86"/>
                </a:lnTo>
                <a:lnTo>
                  <a:pt x="641" y="95"/>
                </a:lnTo>
                <a:lnTo>
                  <a:pt x="637" y="102"/>
                </a:lnTo>
                <a:lnTo>
                  <a:pt x="635" y="110"/>
                </a:lnTo>
                <a:lnTo>
                  <a:pt x="634" y="119"/>
                </a:lnTo>
                <a:lnTo>
                  <a:pt x="637" y="128"/>
                </a:lnTo>
                <a:lnTo>
                  <a:pt x="641" y="138"/>
                </a:lnTo>
                <a:lnTo>
                  <a:pt x="647" y="146"/>
                </a:lnTo>
                <a:lnTo>
                  <a:pt x="654" y="155"/>
                </a:lnTo>
                <a:lnTo>
                  <a:pt x="661" y="161"/>
                </a:lnTo>
                <a:lnTo>
                  <a:pt x="668" y="167"/>
                </a:lnTo>
                <a:lnTo>
                  <a:pt x="676" y="174"/>
                </a:lnTo>
                <a:lnTo>
                  <a:pt x="684" y="182"/>
                </a:lnTo>
                <a:lnTo>
                  <a:pt x="689" y="186"/>
                </a:lnTo>
                <a:lnTo>
                  <a:pt x="695" y="190"/>
                </a:lnTo>
                <a:lnTo>
                  <a:pt x="700" y="194"/>
                </a:lnTo>
                <a:lnTo>
                  <a:pt x="704" y="198"/>
                </a:lnTo>
                <a:lnTo>
                  <a:pt x="696" y="199"/>
                </a:lnTo>
                <a:lnTo>
                  <a:pt x="686" y="199"/>
                </a:lnTo>
                <a:lnTo>
                  <a:pt x="677" y="199"/>
                </a:lnTo>
                <a:lnTo>
                  <a:pt x="669" y="198"/>
                </a:lnTo>
                <a:lnTo>
                  <a:pt x="659" y="197"/>
                </a:lnTo>
                <a:lnTo>
                  <a:pt x="652" y="194"/>
                </a:lnTo>
                <a:lnTo>
                  <a:pt x="645" y="192"/>
                </a:lnTo>
                <a:lnTo>
                  <a:pt x="638" y="189"/>
                </a:lnTo>
                <a:lnTo>
                  <a:pt x="630" y="185"/>
                </a:lnTo>
                <a:lnTo>
                  <a:pt x="623" y="180"/>
                </a:lnTo>
                <a:lnTo>
                  <a:pt x="609" y="171"/>
                </a:lnTo>
                <a:lnTo>
                  <a:pt x="599" y="165"/>
                </a:lnTo>
                <a:lnTo>
                  <a:pt x="585" y="157"/>
                </a:lnTo>
                <a:lnTo>
                  <a:pt x="572" y="155"/>
                </a:lnTo>
                <a:lnTo>
                  <a:pt x="558" y="156"/>
                </a:lnTo>
                <a:lnTo>
                  <a:pt x="540" y="154"/>
                </a:lnTo>
                <a:lnTo>
                  <a:pt x="523" y="156"/>
                </a:lnTo>
                <a:lnTo>
                  <a:pt x="504" y="156"/>
                </a:lnTo>
                <a:lnTo>
                  <a:pt x="484" y="160"/>
                </a:lnTo>
                <a:lnTo>
                  <a:pt x="464" y="165"/>
                </a:lnTo>
                <a:lnTo>
                  <a:pt x="452" y="169"/>
                </a:lnTo>
                <a:lnTo>
                  <a:pt x="449" y="174"/>
                </a:lnTo>
                <a:lnTo>
                  <a:pt x="452" y="178"/>
                </a:lnTo>
                <a:lnTo>
                  <a:pt x="461" y="184"/>
                </a:lnTo>
                <a:lnTo>
                  <a:pt x="438" y="190"/>
                </a:lnTo>
                <a:lnTo>
                  <a:pt x="405" y="198"/>
                </a:lnTo>
                <a:lnTo>
                  <a:pt x="397" y="192"/>
                </a:lnTo>
                <a:lnTo>
                  <a:pt x="388" y="188"/>
                </a:lnTo>
                <a:lnTo>
                  <a:pt x="379" y="186"/>
                </a:lnTo>
                <a:lnTo>
                  <a:pt x="365" y="185"/>
                </a:lnTo>
                <a:lnTo>
                  <a:pt x="347" y="201"/>
                </a:lnTo>
                <a:lnTo>
                  <a:pt x="331" y="189"/>
                </a:lnTo>
                <a:lnTo>
                  <a:pt x="215" y="205"/>
                </a:lnTo>
                <a:lnTo>
                  <a:pt x="192" y="206"/>
                </a:lnTo>
                <a:lnTo>
                  <a:pt x="171" y="205"/>
                </a:lnTo>
                <a:lnTo>
                  <a:pt x="148" y="203"/>
                </a:lnTo>
                <a:lnTo>
                  <a:pt x="104" y="197"/>
                </a:lnTo>
                <a:lnTo>
                  <a:pt x="63" y="187"/>
                </a:lnTo>
                <a:lnTo>
                  <a:pt x="41" y="179"/>
                </a:lnTo>
                <a:lnTo>
                  <a:pt x="26" y="172"/>
                </a:lnTo>
                <a:lnTo>
                  <a:pt x="42" y="168"/>
                </a:lnTo>
                <a:lnTo>
                  <a:pt x="32" y="163"/>
                </a:lnTo>
                <a:lnTo>
                  <a:pt x="26" y="158"/>
                </a:lnTo>
                <a:lnTo>
                  <a:pt x="14" y="149"/>
                </a:lnTo>
                <a:lnTo>
                  <a:pt x="12" y="146"/>
                </a:lnTo>
                <a:lnTo>
                  <a:pt x="8" y="142"/>
                </a:lnTo>
                <a:lnTo>
                  <a:pt x="6" y="140"/>
                </a:lnTo>
                <a:lnTo>
                  <a:pt x="4" y="135"/>
                </a:lnTo>
                <a:lnTo>
                  <a:pt x="2" y="132"/>
                </a:lnTo>
                <a:lnTo>
                  <a:pt x="0" y="128"/>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02" name="Group 58"/>
          <p:cNvGrpSpPr>
            <a:grpSpLocks/>
          </p:cNvGrpSpPr>
          <p:nvPr/>
        </p:nvGrpSpPr>
        <p:grpSpPr bwMode="auto">
          <a:xfrm>
            <a:off x="6962775" y="3125788"/>
            <a:ext cx="12700" cy="11112"/>
            <a:chOff x="3426" y="1969"/>
            <a:chExt cx="8" cy="7"/>
          </a:xfrm>
        </p:grpSpPr>
        <p:sp>
          <p:nvSpPr>
            <p:cNvPr id="6200" name="Oval 56" descr="50%"/>
            <p:cNvSpPr>
              <a:spLocks noChangeArrowheads="1"/>
            </p:cNvSpPr>
            <p:nvPr/>
          </p:nvSpPr>
          <p:spPr bwMode="auto">
            <a:xfrm>
              <a:off x="3426" y="1969"/>
              <a:ext cx="6" cy="6"/>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Arc 57" descr="50%"/>
            <p:cNvSpPr>
              <a:spLocks/>
            </p:cNvSpPr>
            <p:nvPr/>
          </p:nvSpPr>
          <p:spPr bwMode="auto">
            <a:xfrm>
              <a:off x="3427" y="1969"/>
              <a:ext cx="7" cy="7"/>
            </a:xfrm>
            <a:custGeom>
              <a:avLst/>
              <a:gdLst>
                <a:gd name="G0" fmla="+- 21600 0 0"/>
                <a:gd name="G1" fmla="+- 20955 0 0"/>
                <a:gd name="G2" fmla="+- 21600 0 0"/>
                <a:gd name="T0" fmla="*/ 26839 w 43200"/>
                <a:gd name="T1" fmla="*/ 0 h 42555"/>
                <a:gd name="T2" fmla="*/ 11940 w 43200"/>
                <a:gd name="T3" fmla="*/ 1635 h 42555"/>
                <a:gd name="T4" fmla="*/ 21600 w 43200"/>
                <a:gd name="T5" fmla="*/ 20955 h 42555"/>
              </a:gdLst>
              <a:ahLst/>
              <a:cxnLst>
                <a:cxn ang="0">
                  <a:pos x="T0" y="T1"/>
                </a:cxn>
                <a:cxn ang="0">
                  <a:pos x="T2" y="T3"/>
                </a:cxn>
                <a:cxn ang="0">
                  <a:pos x="T4" y="T5"/>
                </a:cxn>
              </a:cxnLst>
              <a:rect l="0" t="0" r="r" b="b"/>
              <a:pathLst>
                <a:path w="43200" h="42555" fill="none"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path>
                <a:path w="43200" h="42555" stroke="0"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lnTo>
                    <a:pt x="21600" y="20955"/>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08" name="Group 64"/>
          <p:cNvGrpSpPr>
            <a:grpSpLocks/>
          </p:cNvGrpSpPr>
          <p:nvPr/>
        </p:nvGrpSpPr>
        <p:grpSpPr bwMode="auto">
          <a:xfrm>
            <a:off x="7197726" y="3762375"/>
            <a:ext cx="60325" cy="39688"/>
            <a:chOff x="3574" y="2370"/>
            <a:chExt cx="38" cy="25"/>
          </a:xfrm>
        </p:grpSpPr>
        <p:sp>
          <p:nvSpPr>
            <p:cNvPr id="6203" name="Arc 59" descr="50%"/>
            <p:cNvSpPr>
              <a:spLocks/>
            </p:cNvSpPr>
            <p:nvPr/>
          </p:nvSpPr>
          <p:spPr bwMode="auto">
            <a:xfrm>
              <a:off x="3583" y="2370"/>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4" name="Arc 60" descr="50%"/>
            <p:cNvSpPr>
              <a:spLocks/>
            </p:cNvSpPr>
            <p:nvPr/>
          </p:nvSpPr>
          <p:spPr bwMode="auto">
            <a:xfrm>
              <a:off x="3574" y="2370"/>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Arc 61" descr="50%"/>
            <p:cNvSpPr>
              <a:spLocks/>
            </p:cNvSpPr>
            <p:nvPr/>
          </p:nvSpPr>
          <p:spPr bwMode="auto">
            <a:xfrm>
              <a:off x="3592" y="2370"/>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Arc 62" descr="50%"/>
            <p:cNvSpPr>
              <a:spLocks/>
            </p:cNvSpPr>
            <p:nvPr/>
          </p:nvSpPr>
          <p:spPr bwMode="auto">
            <a:xfrm>
              <a:off x="3602" y="2370"/>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Arc 63" descr="50%"/>
            <p:cNvSpPr>
              <a:spLocks/>
            </p:cNvSpPr>
            <p:nvPr/>
          </p:nvSpPr>
          <p:spPr bwMode="auto">
            <a:xfrm>
              <a:off x="3612" y="2370"/>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09" name="Freeform 65" descr="50%"/>
          <p:cNvSpPr>
            <a:spLocks/>
          </p:cNvSpPr>
          <p:nvPr/>
        </p:nvSpPr>
        <p:spPr bwMode="auto">
          <a:xfrm>
            <a:off x="7035801" y="3522664"/>
            <a:ext cx="1109663" cy="212725"/>
          </a:xfrm>
          <a:custGeom>
            <a:avLst/>
            <a:gdLst>
              <a:gd name="T0" fmla="*/ 15 w 699"/>
              <a:gd name="T1" fmla="*/ 112 h 134"/>
              <a:gd name="T2" fmla="*/ 47 w 699"/>
              <a:gd name="T3" fmla="*/ 102 h 134"/>
              <a:gd name="T4" fmla="*/ 94 w 699"/>
              <a:gd name="T5" fmla="*/ 91 h 134"/>
              <a:gd name="T6" fmla="*/ 140 w 699"/>
              <a:gd name="T7" fmla="*/ 83 h 134"/>
              <a:gd name="T8" fmla="*/ 185 w 699"/>
              <a:gd name="T9" fmla="*/ 75 h 134"/>
              <a:gd name="T10" fmla="*/ 211 w 699"/>
              <a:gd name="T11" fmla="*/ 64 h 134"/>
              <a:gd name="T12" fmla="*/ 233 w 699"/>
              <a:gd name="T13" fmla="*/ 42 h 134"/>
              <a:gd name="T14" fmla="*/ 267 w 699"/>
              <a:gd name="T15" fmla="*/ 12 h 134"/>
              <a:gd name="T16" fmla="*/ 291 w 699"/>
              <a:gd name="T17" fmla="*/ 24 h 134"/>
              <a:gd name="T18" fmla="*/ 300 w 699"/>
              <a:gd name="T19" fmla="*/ 58 h 134"/>
              <a:gd name="T20" fmla="*/ 318 w 699"/>
              <a:gd name="T21" fmla="*/ 73 h 134"/>
              <a:gd name="T22" fmla="*/ 376 w 699"/>
              <a:gd name="T23" fmla="*/ 83 h 134"/>
              <a:gd name="T24" fmla="*/ 419 w 699"/>
              <a:gd name="T25" fmla="*/ 85 h 134"/>
              <a:gd name="T26" fmla="*/ 471 w 699"/>
              <a:gd name="T27" fmla="*/ 83 h 134"/>
              <a:gd name="T28" fmla="*/ 491 w 699"/>
              <a:gd name="T29" fmla="*/ 99 h 134"/>
              <a:gd name="T30" fmla="*/ 532 w 699"/>
              <a:gd name="T31" fmla="*/ 102 h 134"/>
              <a:gd name="T32" fmla="*/ 579 w 699"/>
              <a:gd name="T33" fmla="*/ 80 h 134"/>
              <a:gd name="T34" fmla="*/ 616 w 699"/>
              <a:gd name="T35" fmla="*/ 47 h 134"/>
              <a:gd name="T36" fmla="*/ 645 w 699"/>
              <a:gd name="T37" fmla="*/ 27 h 134"/>
              <a:gd name="T38" fmla="*/ 671 w 699"/>
              <a:gd name="T39" fmla="*/ 16 h 134"/>
              <a:gd name="T40" fmla="*/ 693 w 699"/>
              <a:gd name="T41" fmla="*/ 19 h 134"/>
              <a:gd name="T42" fmla="*/ 675 w 699"/>
              <a:gd name="T43" fmla="*/ 42 h 134"/>
              <a:gd name="T44" fmla="*/ 652 w 699"/>
              <a:gd name="T45" fmla="*/ 62 h 134"/>
              <a:gd name="T46" fmla="*/ 638 w 699"/>
              <a:gd name="T47" fmla="*/ 79 h 134"/>
              <a:gd name="T48" fmla="*/ 628 w 699"/>
              <a:gd name="T49" fmla="*/ 95 h 134"/>
              <a:gd name="T50" fmla="*/ 625 w 699"/>
              <a:gd name="T51" fmla="*/ 111 h 134"/>
              <a:gd name="T52" fmla="*/ 605 w 699"/>
              <a:gd name="T53" fmla="*/ 108 h 134"/>
              <a:gd name="T54" fmla="*/ 587 w 699"/>
              <a:gd name="T55" fmla="*/ 114 h 134"/>
              <a:gd name="T56" fmla="*/ 567 w 699"/>
              <a:gd name="T57" fmla="*/ 111 h 134"/>
              <a:gd name="T58" fmla="*/ 544 w 699"/>
              <a:gd name="T59" fmla="*/ 112 h 134"/>
              <a:gd name="T60" fmla="*/ 520 w 699"/>
              <a:gd name="T61" fmla="*/ 110 h 134"/>
              <a:gd name="T62" fmla="*/ 493 w 699"/>
              <a:gd name="T63" fmla="*/ 112 h 134"/>
              <a:gd name="T64" fmla="*/ 466 w 699"/>
              <a:gd name="T65" fmla="*/ 116 h 134"/>
              <a:gd name="T66" fmla="*/ 439 w 699"/>
              <a:gd name="T67" fmla="*/ 117 h 134"/>
              <a:gd name="T68" fmla="*/ 413 w 699"/>
              <a:gd name="T69" fmla="*/ 117 h 134"/>
              <a:gd name="T70" fmla="*/ 389 w 699"/>
              <a:gd name="T71" fmla="*/ 120 h 134"/>
              <a:gd name="T72" fmla="*/ 363 w 699"/>
              <a:gd name="T73" fmla="*/ 125 h 134"/>
              <a:gd name="T74" fmla="*/ 332 w 699"/>
              <a:gd name="T75" fmla="*/ 125 h 134"/>
              <a:gd name="T76" fmla="*/ 305 w 699"/>
              <a:gd name="T77" fmla="*/ 127 h 134"/>
              <a:gd name="T78" fmla="*/ 279 w 699"/>
              <a:gd name="T79" fmla="*/ 123 h 134"/>
              <a:gd name="T80" fmla="*/ 253 w 699"/>
              <a:gd name="T81" fmla="*/ 125 h 134"/>
              <a:gd name="T82" fmla="*/ 232 w 699"/>
              <a:gd name="T83" fmla="*/ 123 h 134"/>
              <a:gd name="T84" fmla="*/ 207 w 699"/>
              <a:gd name="T85" fmla="*/ 125 h 134"/>
              <a:gd name="T86" fmla="*/ 179 w 699"/>
              <a:gd name="T87" fmla="*/ 127 h 134"/>
              <a:gd name="T88" fmla="*/ 143 w 699"/>
              <a:gd name="T89" fmla="*/ 133 h 134"/>
              <a:gd name="T90" fmla="*/ 102 w 699"/>
              <a:gd name="T91" fmla="*/ 133 h 134"/>
              <a:gd name="T92" fmla="*/ 68 w 699"/>
              <a:gd name="T93" fmla="*/ 127 h 134"/>
              <a:gd name="T94" fmla="*/ 37 w 699"/>
              <a:gd name="T95" fmla="*/ 129 h 134"/>
              <a:gd name="T96" fmla="*/ 7 w 699"/>
              <a:gd name="T97" fmla="*/ 1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9" h="134">
                <a:moveTo>
                  <a:pt x="0" y="120"/>
                </a:moveTo>
                <a:lnTo>
                  <a:pt x="4" y="117"/>
                </a:lnTo>
                <a:lnTo>
                  <a:pt x="9" y="115"/>
                </a:lnTo>
                <a:lnTo>
                  <a:pt x="15" y="112"/>
                </a:lnTo>
                <a:lnTo>
                  <a:pt x="21" y="110"/>
                </a:lnTo>
                <a:lnTo>
                  <a:pt x="29" y="108"/>
                </a:lnTo>
                <a:lnTo>
                  <a:pt x="39" y="105"/>
                </a:lnTo>
                <a:lnTo>
                  <a:pt x="47" y="102"/>
                </a:lnTo>
                <a:lnTo>
                  <a:pt x="58" y="99"/>
                </a:lnTo>
                <a:lnTo>
                  <a:pt x="70" y="96"/>
                </a:lnTo>
                <a:lnTo>
                  <a:pt x="82" y="93"/>
                </a:lnTo>
                <a:lnTo>
                  <a:pt x="94" y="91"/>
                </a:lnTo>
                <a:lnTo>
                  <a:pt x="106" y="90"/>
                </a:lnTo>
                <a:lnTo>
                  <a:pt x="118" y="88"/>
                </a:lnTo>
                <a:lnTo>
                  <a:pt x="129" y="85"/>
                </a:lnTo>
                <a:lnTo>
                  <a:pt x="140" y="83"/>
                </a:lnTo>
                <a:lnTo>
                  <a:pt x="149" y="81"/>
                </a:lnTo>
                <a:lnTo>
                  <a:pt x="163" y="79"/>
                </a:lnTo>
                <a:lnTo>
                  <a:pt x="174" y="77"/>
                </a:lnTo>
                <a:lnTo>
                  <a:pt x="185" y="75"/>
                </a:lnTo>
                <a:lnTo>
                  <a:pt x="193" y="74"/>
                </a:lnTo>
                <a:lnTo>
                  <a:pt x="200" y="71"/>
                </a:lnTo>
                <a:lnTo>
                  <a:pt x="206" y="67"/>
                </a:lnTo>
                <a:lnTo>
                  <a:pt x="211" y="64"/>
                </a:lnTo>
                <a:lnTo>
                  <a:pt x="215" y="59"/>
                </a:lnTo>
                <a:lnTo>
                  <a:pt x="219" y="55"/>
                </a:lnTo>
                <a:lnTo>
                  <a:pt x="226" y="48"/>
                </a:lnTo>
                <a:lnTo>
                  <a:pt x="233" y="42"/>
                </a:lnTo>
                <a:lnTo>
                  <a:pt x="241" y="34"/>
                </a:lnTo>
                <a:lnTo>
                  <a:pt x="249" y="27"/>
                </a:lnTo>
                <a:lnTo>
                  <a:pt x="257" y="19"/>
                </a:lnTo>
                <a:lnTo>
                  <a:pt x="267" y="12"/>
                </a:lnTo>
                <a:lnTo>
                  <a:pt x="276" y="6"/>
                </a:lnTo>
                <a:lnTo>
                  <a:pt x="283" y="0"/>
                </a:lnTo>
                <a:lnTo>
                  <a:pt x="286" y="11"/>
                </a:lnTo>
                <a:lnTo>
                  <a:pt x="291" y="24"/>
                </a:lnTo>
                <a:lnTo>
                  <a:pt x="295" y="36"/>
                </a:lnTo>
                <a:lnTo>
                  <a:pt x="298" y="47"/>
                </a:lnTo>
                <a:lnTo>
                  <a:pt x="300" y="52"/>
                </a:lnTo>
                <a:lnTo>
                  <a:pt x="300" y="58"/>
                </a:lnTo>
                <a:lnTo>
                  <a:pt x="300" y="63"/>
                </a:lnTo>
                <a:lnTo>
                  <a:pt x="295" y="69"/>
                </a:lnTo>
                <a:lnTo>
                  <a:pt x="306" y="72"/>
                </a:lnTo>
                <a:lnTo>
                  <a:pt x="318" y="73"/>
                </a:lnTo>
                <a:lnTo>
                  <a:pt x="332" y="75"/>
                </a:lnTo>
                <a:lnTo>
                  <a:pt x="348" y="78"/>
                </a:lnTo>
                <a:lnTo>
                  <a:pt x="364" y="81"/>
                </a:lnTo>
                <a:lnTo>
                  <a:pt x="376" y="83"/>
                </a:lnTo>
                <a:lnTo>
                  <a:pt x="389" y="85"/>
                </a:lnTo>
                <a:lnTo>
                  <a:pt x="400" y="86"/>
                </a:lnTo>
                <a:lnTo>
                  <a:pt x="410" y="87"/>
                </a:lnTo>
                <a:lnTo>
                  <a:pt x="419" y="85"/>
                </a:lnTo>
                <a:lnTo>
                  <a:pt x="427" y="81"/>
                </a:lnTo>
                <a:lnTo>
                  <a:pt x="434" y="75"/>
                </a:lnTo>
                <a:lnTo>
                  <a:pt x="452" y="78"/>
                </a:lnTo>
                <a:lnTo>
                  <a:pt x="471" y="83"/>
                </a:lnTo>
                <a:lnTo>
                  <a:pt x="484" y="86"/>
                </a:lnTo>
                <a:lnTo>
                  <a:pt x="476" y="94"/>
                </a:lnTo>
                <a:lnTo>
                  <a:pt x="482" y="96"/>
                </a:lnTo>
                <a:lnTo>
                  <a:pt x="491" y="99"/>
                </a:lnTo>
                <a:lnTo>
                  <a:pt x="501" y="102"/>
                </a:lnTo>
                <a:lnTo>
                  <a:pt x="512" y="103"/>
                </a:lnTo>
                <a:lnTo>
                  <a:pt x="522" y="102"/>
                </a:lnTo>
                <a:lnTo>
                  <a:pt x="532" y="102"/>
                </a:lnTo>
                <a:lnTo>
                  <a:pt x="543" y="99"/>
                </a:lnTo>
                <a:lnTo>
                  <a:pt x="555" y="96"/>
                </a:lnTo>
                <a:lnTo>
                  <a:pt x="566" y="90"/>
                </a:lnTo>
                <a:lnTo>
                  <a:pt x="579" y="80"/>
                </a:lnTo>
                <a:lnTo>
                  <a:pt x="589" y="72"/>
                </a:lnTo>
                <a:lnTo>
                  <a:pt x="602" y="61"/>
                </a:lnTo>
                <a:lnTo>
                  <a:pt x="607" y="56"/>
                </a:lnTo>
                <a:lnTo>
                  <a:pt x="616" y="47"/>
                </a:lnTo>
                <a:lnTo>
                  <a:pt x="624" y="42"/>
                </a:lnTo>
                <a:lnTo>
                  <a:pt x="631" y="36"/>
                </a:lnTo>
                <a:lnTo>
                  <a:pt x="639" y="31"/>
                </a:lnTo>
                <a:lnTo>
                  <a:pt x="645" y="27"/>
                </a:lnTo>
                <a:lnTo>
                  <a:pt x="652" y="24"/>
                </a:lnTo>
                <a:lnTo>
                  <a:pt x="658" y="21"/>
                </a:lnTo>
                <a:lnTo>
                  <a:pt x="664" y="18"/>
                </a:lnTo>
                <a:lnTo>
                  <a:pt x="671" y="16"/>
                </a:lnTo>
                <a:lnTo>
                  <a:pt x="677" y="15"/>
                </a:lnTo>
                <a:lnTo>
                  <a:pt x="686" y="15"/>
                </a:lnTo>
                <a:lnTo>
                  <a:pt x="698" y="15"/>
                </a:lnTo>
                <a:lnTo>
                  <a:pt x="693" y="19"/>
                </a:lnTo>
                <a:lnTo>
                  <a:pt x="688" y="25"/>
                </a:lnTo>
                <a:lnTo>
                  <a:pt x="685" y="29"/>
                </a:lnTo>
                <a:lnTo>
                  <a:pt x="680" y="36"/>
                </a:lnTo>
                <a:lnTo>
                  <a:pt x="675" y="42"/>
                </a:lnTo>
                <a:lnTo>
                  <a:pt x="668" y="48"/>
                </a:lnTo>
                <a:lnTo>
                  <a:pt x="659" y="54"/>
                </a:lnTo>
                <a:lnTo>
                  <a:pt x="655" y="58"/>
                </a:lnTo>
                <a:lnTo>
                  <a:pt x="652" y="62"/>
                </a:lnTo>
                <a:lnTo>
                  <a:pt x="647" y="67"/>
                </a:lnTo>
                <a:lnTo>
                  <a:pt x="645" y="71"/>
                </a:lnTo>
                <a:lnTo>
                  <a:pt x="641" y="75"/>
                </a:lnTo>
                <a:lnTo>
                  <a:pt x="638" y="79"/>
                </a:lnTo>
                <a:lnTo>
                  <a:pt x="636" y="84"/>
                </a:lnTo>
                <a:lnTo>
                  <a:pt x="633" y="88"/>
                </a:lnTo>
                <a:lnTo>
                  <a:pt x="630" y="91"/>
                </a:lnTo>
                <a:lnTo>
                  <a:pt x="628" y="95"/>
                </a:lnTo>
                <a:lnTo>
                  <a:pt x="627" y="99"/>
                </a:lnTo>
                <a:lnTo>
                  <a:pt x="626" y="103"/>
                </a:lnTo>
                <a:lnTo>
                  <a:pt x="625" y="108"/>
                </a:lnTo>
                <a:lnTo>
                  <a:pt x="625" y="111"/>
                </a:lnTo>
                <a:lnTo>
                  <a:pt x="621" y="109"/>
                </a:lnTo>
                <a:lnTo>
                  <a:pt x="615" y="108"/>
                </a:lnTo>
                <a:lnTo>
                  <a:pt x="610" y="108"/>
                </a:lnTo>
                <a:lnTo>
                  <a:pt x="605" y="108"/>
                </a:lnTo>
                <a:lnTo>
                  <a:pt x="600" y="110"/>
                </a:lnTo>
                <a:lnTo>
                  <a:pt x="596" y="111"/>
                </a:lnTo>
                <a:lnTo>
                  <a:pt x="592" y="112"/>
                </a:lnTo>
                <a:lnTo>
                  <a:pt x="587" y="114"/>
                </a:lnTo>
                <a:lnTo>
                  <a:pt x="582" y="114"/>
                </a:lnTo>
                <a:lnTo>
                  <a:pt x="576" y="113"/>
                </a:lnTo>
                <a:lnTo>
                  <a:pt x="570" y="112"/>
                </a:lnTo>
                <a:lnTo>
                  <a:pt x="567" y="111"/>
                </a:lnTo>
                <a:lnTo>
                  <a:pt x="562" y="110"/>
                </a:lnTo>
                <a:lnTo>
                  <a:pt x="557" y="110"/>
                </a:lnTo>
                <a:lnTo>
                  <a:pt x="550" y="111"/>
                </a:lnTo>
                <a:lnTo>
                  <a:pt x="544" y="112"/>
                </a:lnTo>
                <a:lnTo>
                  <a:pt x="539" y="112"/>
                </a:lnTo>
                <a:lnTo>
                  <a:pt x="532" y="112"/>
                </a:lnTo>
                <a:lnTo>
                  <a:pt x="526" y="110"/>
                </a:lnTo>
                <a:lnTo>
                  <a:pt x="520" y="110"/>
                </a:lnTo>
                <a:lnTo>
                  <a:pt x="514" y="112"/>
                </a:lnTo>
                <a:lnTo>
                  <a:pt x="506" y="113"/>
                </a:lnTo>
                <a:lnTo>
                  <a:pt x="500" y="113"/>
                </a:lnTo>
                <a:lnTo>
                  <a:pt x="493" y="112"/>
                </a:lnTo>
                <a:lnTo>
                  <a:pt x="487" y="111"/>
                </a:lnTo>
                <a:lnTo>
                  <a:pt x="480" y="112"/>
                </a:lnTo>
                <a:lnTo>
                  <a:pt x="474" y="115"/>
                </a:lnTo>
                <a:lnTo>
                  <a:pt x="466" y="116"/>
                </a:lnTo>
                <a:lnTo>
                  <a:pt x="460" y="117"/>
                </a:lnTo>
                <a:lnTo>
                  <a:pt x="453" y="118"/>
                </a:lnTo>
                <a:lnTo>
                  <a:pt x="447" y="118"/>
                </a:lnTo>
                <a:lnTo>
                  <a:pt x="439" y="117"/>
                </a:lnTo>
                <a:lnTo>
                  <a:pt x="432" y="115"/>
                </a:lnTo>
                <a:lnTo>
                  <a:pt x="424" y="117"/>
                </a:lnTo>
                <a:lnTo>
                  <a:pt x="419" y="117"/>
                </a:lnTo>
                <a:lnTo>
                  <a:pt x="413" y="117"/>
                </a:lnTo>
                <a:lnTo>
                  <a:pt x="407" y="117"/>
                </a:lnTo>
                <a:lnTo>
                  <a:pt x="401" y="117"/>
                </a:lnTo>
                <a:lnTo>
                  <a:pt x="394" y="118"/>
                </a:lnTo>
                <a:lnTo>
                  <a:pt x="389" y="120"/>
                </a:lnTo>
                <a:lnTo>
                  <a:pt x="384" y="122"/>
                </a:lnTo>
                <a:lnTo>
                  <a:pt x="377" y="124"/>
                </a:lnTo>
                <a:lnTo>
                  <a:pt x="371" y="125"/>
                </a:lnTo>
                <a:lnTo>
                  <a:pt x="363" y="125"/>
                </a:lnTo>
                <a:lnTo>
                  <a:pt x="356" y="126"/>
                </a:lnTo>
                <a:lnTo>
                  <a:pt x="347" y="125"/>
                </a:lnTo>
                <a:lnTo>
                  <a:pt x="338" y="125"/>
                </a:lnTo>
                <a:lnTo>
                  <a:pt x="332" y="125"/>
                </a:lnTo>
                <a:lnTo>
                  <a:pt x="324" y="126"/>
                </a:lnTo>
                <a:lnTo>
                  <a:pt x="318" y="126"/>
                </a:lnTo>
                <a:lnTo>
                  <a:pt x="311" y="127"/>
                </a:lnTo>
                <a:lnTo>
                  <a:pt x="305" y="127"/>
                </a:lnTo>
                <a:lnTo>
                  <a:pt x="297" y="126"/>
                </a:lnTo>
                <a:lnTo>
                  <a:pt x="290" y="125"/>
                </a:lnTo>
                <a:lnTo>
                  <a:pt x="285" y="123"/>
                </a:lnTo>
                <a:lnTo>
                  <a:pt x="279" y="123"/>
                </a:lnTo>
                <a:lnTo>
                  <a:pt x="273" y="123"/>
                </a:lnTo>
                <a:lnTo>
                  <a:pt x="267" y="124"/>
                </a:lnTo>
                <a:lnTo>
                  <a:pt x="259" y="125"/>
                </a:lnTo>
                <a:lnTo>
                  <a:pt x="253" y="125"/>
                </a:lnTo>
                <a:lnTo>
                  <a:pt x="248" y="125"/>
                </a:lnTo>
                <a:lnTo>
                  <a:pt x="244" y="125"/>
                </a:lnTo>
                <a:lnTo>
                  <a:pt x="238" y="123"/>
                </a:lnTo>
                <a:lnTo>
                  <a:pt x="232" y="123"/>
                </a:lnTo>
                <a:lnTo>
                  <a:pt x="226" y="123"/>
                </a:lnTo>
                <a:lnTo>
                  <a:pt x="221" y="124"/>
                </a:lnTo>
                <a:lnTo>
                  <a:pt x="215" y="125"/>
                </a:lnTo>
                <a:lnTo>
                  <a:pt x="207" y="125"/>
                </a:lnTo>
                <a:lnTo>
                  <a:pt x="199" y="125"/>
                </a:lnTo>
                <a:lnTo>
                  <a:pt x="193" y="125"/>
                </a:lnTo>
                <a:lnTo>
                  <a:pt x="186" y="126"/>
                </a:lnTo>
                <a:lnTo>
                  <a:pt x="179" y="127"/>
                </a:lnTo>
                <a:lnTo>
                  <a:pt x="172" y="129"/>
                </a:lnTo>
                <a:lnTo>
                  <a:pt x="165" y="130"/>
                </a:lnTo>
                <a:lnTo>
                  <a:pt x="155" y="132"/>
                </a:lnTo>
                <a:lnTo>
                  <a:pt x="143" y="133"/>
                </a:lnTo>
                <a:lnTo>
                  <a:pt x="132" y="133"/>
                </a:lnTo>
                <a:lnTo>
                  <a:pt x="122" y="132"/>
                </a:lnTo>
                <a:lnTo>
                  <a:pt x="109" y="133"/>
                </a:lnTo>
                <a:lnTo>
                  <a:pt x="102" y="133"/>
                </a:lnTo>
                <a:lnTo>
                  <a:pt x="96" y="132"/>
                </a:lnTo>
                <a:lnTo>
                  <a:pt x="89" y="133"/>
                </a:lnTo>
                <a:lnTo>
                  <a:pt x="81" y="132"/>
                </a:lnTo>
                <a:lnTo>
                  <a:pt x="68" y="127"/>
                </a:lnTo>
                <a:lnTo>
                  <a:pt x="60" y="128"/>
                </a:lnTo>
                <a:lnTo>
                  <a:pt x="52" y="129"/>
                </a:lnTo>
                <a:lnTo>
                  <a:pt x="44" y="129"/>
                </a:lnTo>
                <a:lnTo>
                  <a:pt x="37" y="129"/>
                </a:lnTo>
                <a:lnTo>
                  <a:pt x="29" y="128"/>
                </a:lnTo>
                <a:lnTo>
                  <a:pt x="22" y="127"/>
                </a:lnTo>
                <a:lnTo>
                  <a:pt x="14" y="125"/>
                </a:lnTo>
                <a:lnTo>
                  <a:pt x="7" y="123"/>
                </a:lnTo>
                <a:lnTo>
                  <a:pt x="1" y="122"/>
                </a:lnTo>
                <a:lnTo>
                  <a:pt x="0" y="12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12" name="Group 68"/>
          <p:cNvGrpSpPr>
            <a:grpSpLocks/>
          </p:cNvGrpSpPr>
          <p:nvPr/>
        </p:nvGrpSpPr>
        <p:grpSpPr bwMode="auto">
          <a:xfrm>
            <a:off x="7259639" y="3789364"/>
            <a:ext cx="161925" cy="109537"/>
            <a:chOff x="3613" y="2387"/>
            <a:chExt cx="102" cy="69"/>
          </a:xfrm>
        </p:grpSpPr>
        <p:sp>
          <p:nvSpPr>
            <p:cNvPr id="6210" name="Freeform 66" descr="50%"/>
            <p:cNvSpPr>
              <a:spLocks/>
            </p:cNvSpPr>
            <p:nvPr/>
          </p:nvSpPr>
          <p:spPr bwMode="auto">
            <a:xfrm>
              <a:off x="3613" y="2392"/>
              <a:ext cx="102" cy="64"/>
            </a:xfrm>
            <a:custGeom>
              <a:avLst/>
              <a:gdLst>
                <a:gd name="T0" fmla="*/ 95 w 102"/>
                <a:gd name="T1" fmla="*/ 57 h 64"/>
                <a:gd name="T2" fmla="*/ 89 w 102"/>
                <a:gd name="T3" fmla="*/ 51 h 64"/>
                <a:gd name="T4" fmla="*/ 86 w 102"/>
                <a:gd name="T5" fmla="*/ 47 h 64"/>
                <a:gd name="T6" fmla="*/ 83 w 102"/>
                <a:gd name="T7" fmla="*/ 44 h 64"/>
                <a:gd name="T8" fmla="*/ 80 w 102"/>
                <a:gd name="T9" fmla="*/ 41 h 64"/>
                <a:gd name="T10" fmla="*/ 77 w 102"/>
                <a:gd name="T11" fmla="*/ 37 h 64"/>
                <a:gd name="T12" fmla="*/ 75 w 102"/>
                <a:gd name="T13" fmla="*/ 34 h 64"/>
                <a:gd name="T14" fmla="*/ 72 w 102"/>
                <a:gd name="T15" fmla="*/ 30 h 64"/>
                <a:gd name="T16" fmla="*/ 70 w 102"/>
                <a:gd name="T17" fmla="*/ 25 h 64"/>
                <a:gd name="T18" fmla="*/ 68 w 102"/>
                <a:gd name="T19" fmla="*/ 21 h 64"/>
                <a:gd name="T20" fmla="*/ 67 w 102"/>
                <a:gd name="T21" fmla="*/ 16 h 64"/>
                <a:gd name="T22" fmla="*/ 66 w 102"/>
                <a:gd name="T23" fmla="*/ 11 h 64"/>
                <a:gd name="T24" fmla="*/ 66 w 102"/>
                <a:gd name="T25" fmla="*/ 6 h 64"/>
                <a:gd name="T26" fmla="*/ 65 w 102"/>
                <a:gd name="T27" fmla="*/ 0 h 64"/>
                <a:gd name="T28" fmla="*/ 0 w 102"/>
                <a:gd name="T29" fmla="*/ 0 h 64"/>
                <a:gd name="T30" fmla="*/ 2 w 102"/>
                <a:gd name="T31" fmla="*/ 4 h 64"/>
                <a:gd name="T32" fmla="*/ 5 w 102"/>
                <a:gd name="T33" fmla="*/ 9 h 64"/>
                <a:gd name="T34" fmla="*/ 9 w 102"/>
                <a:gd name="T35" fmla="*/ 14 h 64"/>
                <a:gd name="T36" fmla="*/ 12 w 102"/>
                <a:gd name="T37" fmla="*/ 18 h 64"/>
                <a:gd name="T38" fmla="*/ 17 w 102"/>
                <a:gd name="T39" fmla="*/ 23 h 64"/>
                <a:gd name="T40" fmla="*/ 22 w 102"/>
                <a:gd name="T41" fmla="*/ 28 h 64"/>
                <a:gd name="T42" fmla="*/ 27 w 102"/>
                <a:gd name="T43" fmla="*/ 32 h 64"/>
                <a:gd name="T44" fmla="*/ 32 w 102"/>
                <a:gd name="T45" fmla="*/ 36 h 64"/>
                <a:gd name="T46" fmla="*/ 38 w 102"/>
                <a:gd name="T47" fmla="*/ 41 h 64"/>
                <a:gd name="T48" fmla="*/ 45 w 102"/>
                <a:gd name="T49" fmla="*/ 46 h 64"/>
                <a:gd name="T50" fmla="*/ 51 w 102"/>
                <a:gd name="T51" fmla="*/ 49 h 64"/>
                <a:gd name="T52" fmla="*/ 56 w 102"/>
                <a:gd name="T53" fmla="*/ 52 h 64"/>
                <a:gd name="T54" fmla="*/ 61 w 102"/>
                <a:gd name="T55" fmla="*/ 54 h 64"/>
                <a:gd name="T56" fmla="*/ 67 w 102"/>
                <a:gd name="T57" fmla="*/ 57 h 64"/>
                <a:gd name="T58" fmla="*/ 72 w 102"/>
                <a:gd name="T59" fmla="*/ 59 h 64"/>
                <a:gd name="T60" fmla="*/ 79 w 102"/>
                <a:gd name="T61" fmla="*/ 60 h 64"/>
                <a:gd name="T62" fmla="*/ 86 w 102"/>
                <a:gd name="T63" fmla="*/ 61 h 64"/>
                <a:gd name="T64" fmla="*/ 91 w 102"/>
                <a:gd name="T65" fmla="*/ 62 h 64"/>
                <a:gd name="T66" fmla="*/ 97 w 102"/>
                <a:gd name="T67" fmla="*/ 62 h 64"/>
                <a:gd name="T68" fmla="*/ 101 w 102"/>
                <a:gd name="T69" fmla="*/ 63 h 64"/>
                <a:gd name="T70" fmla="*/ 95 w 102"/>
                <a:gd name="T71"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64">
                  <a:moveTo>
                    <a:pt x="95" y="57"/>
                  </a:moveTo>
                  <a:lnTo>
                    <a:pt x="89" y="51"/>
                  </a:lnTo>
                  <a:lnTo>
                    <a:pt x="86" y="47"/>
                  </a:lnTo>
                  <a:lnTo>
                    <a:pt x="83" y="44"/>
                  </a:lnTo>
                  <a:lnTo>
                    <a:pt x="80" y="41"/>
                  </a:lnTo>
                  <a:lnTo>
                    <a:pt x="77" y="37"/>
                  </a:lnTo>
                  <a:lnTo>
                    <a:pt x="75" y="34"/>
                  </a:lnTo>
                  <a:lnTo>
                    <a:pt x="72" y="30"/>
                  </a:lnTo>
                  <a:lnTo>
                    <a:pt x="70" y="25"/>
                  </a:lnTo>
                  <a:lnTo>
                    <a:pt x="68" y="21"/>
                  </a:lnTo>
                  <a:lnTo>
                    <a:pt x="67" y="16"/>
                  </a:lnTo>
                  <a:lnTo>
                    <a:pt x="66" y="11"/>
                  </a:lnTo>
                  <a:lnTo>
                    <a:pt x="66" y="6"/>
                  </a:lnTo>
                  <a:lnTo>
                    <a:pt x="65" y="0"/>
                  </a:lnTo>
                  <a:lnTo>
                    <a:pt x="0" y="0"/>
                  </a:lnTo>
                  <a:lnTo>
                    <a:pt x="2" y="4"/>
                  </a:lnTo>
                  <a:lnTo>
                    <a:pt x="5" y="9"/>
                  </a:lnTo>
                  <a:lnTo>
                    <a:pt x="9" y="14"/>
                  </a:lnTo>
                  <a:lnTo>
                    <a:pt x="12" y="18"/>
                  </a:lnTo>
                  <a:lnTo>
                    <a:pt x="17" y="23"/>
                  </a:lnTo>
                  <a:lnTo>
                    <a:pt x="22" y="28"/>
                  </a:lnTo>
                  <a:lnTo>
                    <a:pt x="27" y="32"/>
                  </a:lnTo>
                  <a:lnTo>
                    <a:pt x="32" y="36"/>
                  </a:lnTo>
                  <a:lnTo>
                    <a:pt x="38" y="41"/>
                  </a:lnTo>
                  <a:lnTo>
                    <a:pt x="45" y="46"/>
                  </a:lnTo>
                  <a:lnTo>
                    <a:pt x="51" y="49"/>
                  </a:lnTo>
                  <a:lnTo>
                    <a:pt x="56" y="52"/>
                  </a:lnTo>
                  <a:lnTo>
                    <a:pt x="61" y="54"/>
                  </a:lnTo>
                  <a:lnTo>
                    <a:pt x="67" y="57"/>
                  </a:lnTo>
                  <a:lnTo>
                    <a:pt x="72" y="59"/>
                  </a:lnTo>
                  <a:lnTo>
                    <a:pt x="79" y="60"/>
                  </a:lnTo>
                  <a:lnTo>
                    <a:pt x="86" y="61"/>
                  </a:lnTo>
                  <a:lnTo>
                    <a:pt x="91" y="62"/>
                  </a:lnTo>
                  <a:lnTo>
                    <a:pt x="97" y="62"/>
                  </a:lnTo>
                  <a:lnTo>
                    <a:pt x="101" y="63"/>
                  </a:lnTo>
                  <a:lnTo>
                    <a:pt x="95" y="5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1" name="Freeform 67" descr="50%"/>
            <p:cNvSpPr>
              <a:spLocks/>
            </p:cNvSpPr>
            <p:nvPr/>
          </p:nvSpPr>
          <p:spPr bwMode="auto">
            <a:xfrm>
              <a:off x="3615" y="2387"/>
              <a:ext cx="56" cy="5"/>
            </a:xfrm>
            <a:custGeom>
              <a:avLst/>
              <a:gdLst>
                <a:gd name="T0" fmla="*/ 0 w 56"/>
                <a:gd name="T1" fmla="*/ 4 h 5"/>
                <a:gd name="T2" fmla="*/ 0 w 56"/>
                <a:gd name="T3" fmla="*/ 3 h 5"/>
                <a:gd name="T4" fmla="*/ 1 w 56"/>
                <a:gd name="T5" fmla="*/ 0 h 5"/>
                <a:gd name="T6" fmla="*/ 55 w 56"/>
                <a:gd name="T7" fmla="*/ 0 h 5"/>
                <a:gd name="T8" fmla="*/ 55 w 56"/>
                <a:gd name="T9" fmla="*/ 4 h 5"/>
                <a:gd name="T10" fmla="*/ 0 w 56"/>
                <a:gd name="T11" fmla="*/ 4 h 5"/>
              </a:gdLst>
              <a:ahLst/>
              <a:cxnLst>
                <a:cxn ang="0">
                  <a:pos x="T0" y="T1"/>
                </a:cxn>
                <a:cxn ang="0">
                  <a:pos x="T2" y="T3"/>
                </a:cxn>
                <a:cxn ang="0">
                  <a:pos x="T4" y="T5"/>
                </a:cxn>
                <a:cxn ang="0">
                  <a:pos x="T6" y="T7"/>
                </a:cxn>
                <a:cxn ang="0">
                  <a:pos x="T8" y="T9"/>
                </a:cxn>
                <a:cxn ang="0">
                  <a:pos x="T10" y="T11"/>
                </a:cxn>
              </a:cxnLst>
              <a:rect l="0" t="0" r="r" b="b"/>
              <a:pathLst>
                <a:path w="56" h="5">
                  <a:moveTo>
                    <a:pt x="0" y="4"/>
                  </a:moveTo>
                  <a:lnTo>
                    <a:pt x="0" y="3"/>
                  </a:lnTo>
                  <a:lnTo>
                    <a:pt x="1" y="0"/>
                  </a:lnTo>
                  <a:lnTo>
                    <a:pt x="55" y="0"/>
                  </a:lnTo>
                  <a:lnTo>
                    <a:pt x="55" y="4"/>
                  </a:lnTo>
                  <a:lnTo>
                    <a:pt x="0" y="4"/>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213" name="Freeform 69" descr="50%"/>
          <p:cNvSpPr>
            <a:spLocks/>
          </p:cNvSpPr>
          <p:nvPr/>
        </p:nvSpPr>
        <p:spPr bwMode="auto">
          <a:xfrm>
            <a:off x="8404226" y="375443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4" name="Freeform 70" descr="50%"/>
          <p:cNvSpPr>
            <a:spLocks/>
          </p:cNvSpPr>
          <p:nvPr/>
        </p:nvSpPr>
        <p:spPr bwMode="auto">
          <a:xfrm>
            <a:off x="8212139" y="358298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17" name="Group 73"/>
          <p:cNvGrpSpPr>
            <a:grpSpLocks/>
          </p:cNvGrpSpPr>
          <p:nvPr/>
        </p:nvGrpSpPr>
        <p:grpSpPr bwMode="auto">
          <a:xfrm>
            <a:off x="8275638" y="3729038"/>
            <a:ext cx="11112" cy="11112"/>
            <a:chOff x="4253" y="2349"/>
            <a:chExt cx="7" cy="7"/>
          </a:xfrm>
        </p:grpSpPr>
        <p:sp>
          <p:nvSpPr>
            <p:cNvPr id="6215" name="Oval 71" descr="50%"/>
            <p:cNvSpPr>
              <a:spLocks noChangeArrowheads="1"/>
            </p:cNvSpPr>
            <p:nvPr/>
          </p:nvSpPr>
          <p:spPr bwMode="auto">
            <a:xfrm>
              <a:off x="4253" y="2349"/>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6" name="Arc 72" descr="50%"/>
            <p:cNvSpPr>
              <a:spLocks/>
            </p:cNvSpPr>
            <p:nvPr/>
          </p:nvSpPr>
          <p:spPr bwMode="auto">
            <a:xfrm>
              <a:off x="4257" y="2352"/>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23" name="Group 79"/>
          <p:cNvGrpSpPr>
            <a:grpSpLocks/>
          </p:cNvGrpSpPr>
          <p:nvPr/>
        </p:nvGrpSpPr>
        <p:grpSpPr bwMode="auto">
          <a:xfrm>
            <a:off x="8318501" y="3754439"/>
            <a:ext cx="47625" cy="20637"/>
            <a:chOff x="4280" y="2365"/>
            <a:chExt cx="30" cy="13"/>
          </a:xfrm>
        </p:grpSpPr>
        <p:sp>
          <p:nvSpPr>
            <p:cNvPr id="6218" name="Arc 74" descr="50%"/>
            <p:cNvSpPr>
              <a:spLocks/>
            </p:cNvSpPr>
            <p:nvPr/>
          </p:nvSpPr>
          <p:spPr bwMode="auto">
            <a:xfrm>
              <a:off x="4288" y="236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Arc 75" descr="50%"/>
            <p:cNvSpPr>
              <a:spLocks/>
            </p:cNvSpPr>
            <p:nvPr/>
          </p:nvSpPr>
          <p:spPr bwMode="auto">
            <a:xfrm>
              <a:off x="4280" y="236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0" name="Arc 76" descr="50%"/>
            <p:cNvSpPr>
              <a:spLocks/>
            </p:cNvSpPr>
            <p:nvPr/>
          </p:nvSpPr>
          <p:spPr bwMode="auto">
            <a:xfrm>
              <a:off x="4293" y="236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Arc 77" descr="50%"/>
            <p:cNvSpPr>
              <a:spLocks/>
            </p:cNvSpPr>
            <p:nvPr/>
          </p:nvSpPr>
          <p:spPr bwMode="auto">
            <a:xfrm>
              <a:off x="4301" y="236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Arc 78" descr="50%"/>
            <p:cNvSpPr>
              <a:spLocks/>
            </p:cNvSpPr>
            <p:nvPr/>
          </p:nvSpPr>
          <p:spPr bwMode="auto">
            <a:xfrm>
              <a:off x="4308" y="236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24" name="Freeform 80" descr="50%"/>
          <p:cNvSpPr>
            <a:spLocks/>
          </p:cNvSpPr>
          <p:nvPr/>
        </p:nvSpPr>
        <p:spPr bwMode="auto">
          <a:xfrm>
            <a:off x="8213726" y="358457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27" name="Group 83"/>
          <p:cNvGrpSpPr>
            <a:grpSpLocks/>
          </p:cNvGrpSpPr>
          <p:nvPr/>
        </p:nvGrpSpPr>
        <p:grpSpPr bwMode="auto">
          <a:xfrm>
            <a:off x="8366125" y="3767138"/>
            <a:ext cx="109538" cy="80962"/>
            <a:chOff x="4310" y="2373"/>
            <a:chExt cx="69" cy="51"/>
          </a:xfrm>
        </p:grpSpPr>
        <p:sp>
          <p:nvSpPr>
            <p:cNvPr id="6225" name="Freeform 81" descr="50%"/>
            <p:cNvSpPr>
              <a:spLocks/>
            </p:cNvSpPr>
            <p:nvPr/>
          </p:nvSpPr>
          <p:spPr bwMode="auto">
            <a:xfrm>
              <a:off x="4310" y="2379"/>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6" name="Freeform 82" descr="50%"/>
            <p:cNvSpPr>
              <a:spLocks/>
            </p:cNvSpPr>
            <p:nvPr/>
          </p:nvSpPr>
          <p:spPr bwMode="auto">
            <a:xfrm>
              <a:off x="4311" y="2373"/>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43" name="Group 99"/>
          <p:cNvGrpSpPr>
            <a:grpSpLocks/>
          </p:cNvGrpSpPr>
          <p:nvPr/>
        </p:nvGrpSpPr>
        <p:grpSpPr bwMode="auto">
          <a:xfrm>
            <a:off x="9031289" y="3632200"/>
            <a:ext cx="509587" cy="179388"/>
            <a:chOff x="4729" y="2288"/>
            <a:chExt cx="321" cy="113"/>
          </a:xfrm>
        </p:grpSpPr>
        <p:sp>
          <p:nvSpPr>
            <p:cNvPr id="6228" name="Freeform 84" descr="50%"/>
            <p:cNvSpPr>
              <a:spLocks/>
            </p:cNvSpPr>
            <p:nvPr/>
          </p:nvSpPr>
          <p:spPr bwMode="auto">
            <a:xfrm>
              <a:off x="4810" y="236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9" name="Freeform 85" descr="50%"/>
            <p:cNvSpPr>
              <a:spLocks/>
            </p:cNvSpPr>
            <p:nvPr/>
          </p:nvSpPr>
          <p:spPr bwMode="auto">
            <a:xfrm>
              <a:off x="4729" y="228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32" name="Group 88"/>
            <p:cNvGrpSpPr>
              <a:grpSpLocks/>
            </p:cNvGrpSpPr>
            <p:nvPr/>
          </p:nvGrpSpPr>
          <p:grpSpPr bwMode="auto">
            <a:xfrm>
              <a:off x="4756" y="2350"/>
              <a:ext cx="2" cy="3"/>
              <a:chOff x="4756" y="2350"/>
              <a:chExt cx="2" cy="3"/>
            </a:xfrm>
          </p:grpSpPr>
          <p:sp>
            <p:nvSpPr>
              <p:cNvPr id="6230" name="Oval 86" descr="50%"/>
              <p:cNvSpPr>
                <a:spLocks noChangeArrowheads="1"/>
              </p:cNvSpPr>
              <p:nvPr/>
            </p:nvSpPr>
            <p:spPr bwMode="auto">
              <a:xfrm>
                <a:off x="4756" y="235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1" name="Arc 87" descr="50%"/>
              <p:cNvSpPr>
                <a:spLocks/>
              </p:cNvSpPr>
              <p:nvPr/>
            </p:nvSpPr>
            <p:spPr bwMode="auto">
              <a:xfrm>
                <a:off x="4757" y="235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38" name="Group 94"/>
            <p:cNvGrpSpPr>
              <a:grpSpLocks/>
            </p:cNvGrpSpPr>
            <p:nvPr/>
          </p:nvGrpSpPr>
          <p:grpSpPr bwMode="auto">
            <a:xfrm>
              <a:off x="4773" y="2362"/>
              <a:ext cx="23" cy="4"/>
              <a:chOff x="4773" y="2362"/>
              <a:chExt cx="23" cy="4"/>
            </a:xfrm>
          </p:grpSpPr>
          <p:sp>
            <p:nvSpPr>
              <p:cNvPr id="6233" name="Arc 89" descr="50%"/>
              <p:cNvSpPr>
                <a:spLocks/>
              </p:cNvSpPr>
              <p:nvPr/>
            </p:nvSpPr>
            <p:spPr bwMode="auto">
              <a:xfrm>
                <a:off x="4777" y="236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4" name="Arc 90" descr="50%"/>
              <p:cNvSpPr>
                <a:spLocks/>
              </p:cNvSpPr>
              <p:nvPr/>
            </p:nvSpPr>
            <p:spPr bwMode="auto">
              <a:xfrm>
                <a:off x="4773" y="236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5" name="Arc 91" descr="50%"/>
              <p:cNvSpPr>
                <a:spLocks/>
              </p:cNvSpPr>
              <p:nvPr/>
            </p:nvSpPr>
            <p:spPr bwMode="auto">
              <a:xfrm>
                <a:off x="4780" y="236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6" name="Arc 92" descr="50%"/>
              <p:cNvSpPr>
                <a:spLocks/>
              </p:cNvSpPr>
              <p:nvPr/>
            </p:nvSpPr>
            <p:spPr bwMode="auto">
              <a:xfrm>
                <a:off x="4784" y="236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7" name="Arc 93" descr="50%"/>
              <p:cNvSpPr>
                <a:spLocks/>
              </p:cNvSpPr>
              <p:nvPr/>
            </p:nvSpPr>
            <p:spPr bwMode="auto">
              <a:xfrm>
                <a:off x="4790" y="236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39" name="Freeform 95" descr="50%"/>
            <p:cNvSpPr>
              <a:spLocks/>
            </p:cNvSpPr>
            <p:nvPr/>
          </p:nvSpPr>
          <p:spPr bwMode="auto">
            <a:xfrm>
              <a:off x="4729" y="229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42" name="Group 98"/>
            <p:cNvGrpSpPr>
              <a:grpSpLocks/>
            </p:cNvGrpSpPr>
            <p:nvPr/>
          </p:nvGrpSpPr>
          <p:grpSpPr bwMode="auto">
            <a:xfrm>
              <a:off x="4793" y="2364"/>
              <a:ext cx="47" cy="37"/>
              <a:chOff x="4793" y="2364"/>
              <a:chExt cx="47" cy="37"/>
            </a:xfrm>
          </p:grpSpPr>
          <p:sp>
            <p:nvSpPr>
              <p:cNvPr id="6240" name="Freeform 96" descr="50%"/>
              <p:cNvSpPr>
                <a:spLocks/>
              </p:cNvSpPr>
              <p:nvPr/>
            </p:nvSpPr>
            <p:spPr bwMode="auto">
              <a:xfrm>
                <a:off x="4793" y="237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1" name="Freeform 97" descr="50%"/>
              <p:cNvSpPr>
                <a:spLocks/>
              </p:cNvSpPr>
              <p:nvPr/>
            </p:nvSpPr>
            <p:spPr bwMode="auto">
              <a:xfrm>
                <a:off x="4794" y="236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4" name="Rectangle 100"/>
          <p:cNvSpPr>
            <a:spLocks noChangeArrowheads="1"/>
          </p:cNvSpPr>
          <p:nvPr/>
        </p:nvSpPr>
        <p:spPr bwMode="auto">
          <a:xfrm>
            <a:off x="3757613" y="5407026"/>
            <a:ext cx="2070100"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r>
              <a:rPr lang="en-US" altLang="zh-CN"/>
              <a:t>Massively Parallel Processors</a:t>
            </a:r>
          </a:p>
        </p:txBody>
      </p:sp>
      <p:grpSp>
        <p:nvGrpSpPr>
          <p:cNvPr id="6731" name="Group 587"/>
          <p:cNvGrpSpPr>
            <a:grpSpLocks/>
          </p:cNvGrpSpPr>
          <p:nvPr/>
        </p:nvGrpSpPr>
        <p:grpSpPr bwMode="auto">
          <a:xfrm>
            <a:off x="3259139" y="4546600"/>
            <a:ext cx="3367087" cy="788988"/>
            <a:chOff x="1093" y="2864"/>
            <a:chExt cx="2121" cy="497"/>
          </a:xfrm>
        </p:grpSpPr>
        <p:grpSp>
          <p:nvGrpSpPr>
            <p:cNvPr id="6325" name="Group 181"/>
            <p:cNvGrpSpPr>
              <a:grpSpLocks/>
            </p:cNvGrpSpPr>
            <p:nvPr/>
          </p:nvGrpSpPr>
          <p:grpSpPr bwMode="auto">
            <a:xfrm>
              <a:off x="1093" y="2864"/>
              <a:ext cx="321" cy="497"/>
              <a:chOff x="1093" y="2864"/>
              <a:chExt cx="321" cy="497"/>
            </a:xfrm>
          </p:grpSpPr>
          <p:grpSp>
            <p:nvGrpSpPr>
              <p:cNvPr id="6260" name="Group 116"/>
              <p:cNvGrpSpPr>
                <a:grpSpLocks/>
              </p:cNvGrpSpPr>
              <p:nvPr/>
            </p:nvGrpSpPr>
            <p:grpSpPr bwMode="auto">
              <a:xfrm>
                <a:off x="1093" y="2864"/>
                <a:ext cx="321" cy="113"/>
                <a:chOff x="1093" y="2864"/>
                <a:chExt cx="321" cy="113"/>
              </a:xfrm>
            </p:grpSpPr>
            <p:sp>
              <p:nvSpPr>
                <p:cNvPr id="6245" name="Freeform 101" descr="50%"/>
                <p:cNvSpPr>
                  <a:spLocks/>
                </p:cNvSpPr>
                <p:nvPr/>
              </p:nvSpPr>
              <p:spPr bwMode="auto">
                <a:xfrm>
                  <a:off x="1174"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6" name="Freeform 102" descr="50%"/>
                <p:cNvSpPr>
                  <a:spLocks/>
                </p:cNvSpPr>
                <p:nvPr/>
              </p:nvSpPr>
              <p:spPr bwMode="auto">
                <a:xfrm>
                  <a:off x="1093"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49" name="Group 105"/>
                <p:cNvGrpSpPr>
                  <a:grpSpLocks/>
                </p:cNvGrpSpPr>
                <p:nvPr/>
              </p:nvGrpSpPr>
              <p:grpSpPr bwMode="auto">
                <a:xfrm>
                  <a:off x="1120" y="2926"/>
                  <a:ext cx="2" cy="3"/>
                  <a:chOff x="1120" y="2926"/>
                  <a:chExt cx="2" cy="3"/>
                </a:xfrm>
              </p:grpSpPr>
              <p:sp>
                <p:nvSpPr>
                  <p:cNvPr id="6247" name="Oval 103" descr="50%"/>
                  <p:cNvSpPr>
                    <a:spLocks noChangeArrowheads="1"/>
                  </p:cNvSpPr>
                  <p:nvPr/>
                </p:nvSpPr>
                <p:spPr bwMode="auto">
                  <a:xfrm>
                    <a:off x="1120"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 name="Arc 104" descr="50%"/>
                  <p:cNvSpPr>
                    <a:spLocks/>
                  </p:cNvSpPr>
                  <p:nvPr/>
                </p:nvSpPr>
                <p:spPr bwMode="auto">
                  <a:xfrm>
                    <a:off x="1121"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55" name="Group 111"/>
                <p:cNvGrpSpPr>
                  <a:grpSpLocks/>
                </p:cNvGrpSpPr>
                <p:nvPr/>
              </p:nvGrpSpPr>
              <p:grpSpPr bwMode="auto">
                <a:xfrm>
                  <a:off x="1137" y="2938"/>
                  <a:ext cx="23" cy="4"/>
                  <a:chOff x="1137" y="2938"/>
                  <a:chExt cx="23" cy="4"/>
                </a:xfrm>
              </p:grpSpPr>
              <p:sp>
                <p:nvSpPr>
                  <p:cNvPr id="6250" name="Arc 106" descr="50%"/>
                  <p:cNvSpPr>
                    <a:spLocks/>
                  </p:cNvSpPr>
                  <p:nvPr/>
                </p:nvSpPr>
                <p:spPr bwMode="auto">
                  <a:xfrm>
                    <a:off x="1141"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 name="Arc 107" descr="50%"/>
                  <p:cNvSpPr>
                    <a:spLocks/>
                  </p:cNvSpPr>
                  <p:nvPr/>
                </p:nvSpPr>
                <p:spPr bwMode="auto">
                  <a:xfrm>
                    <a:off x="113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 name="Arc 108" descr="50%"/>
                  <p:cNvSpPr>
                    <a:spLocks/>
                  </p:cNvSpPr>
                  <p:nvPr/>
                </p:nvSpPr>
                <p:spPr bwMode="auto">
                  <a:xfrm>
                    <a:off x="114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3" name="Arc 109" descr="50%"/>
                  <p:cNvSpPr>
                    <a:spLocks/>
                  </p:cNvSpPr>
                  <p:nvPr/>
                </p:nvSpPr>
                <p:spPr bwMode="auto">
                  <a:xfrm>
                    <a:off x="1148"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4" name="Arc 110" descr="50%"/>
                  <p:cNvSpPr>
                    <a:spLocks/>
                  </p:cNvSpPr>
                  <p:nvPr/>
                </p:nvSpPr>
                <p:spPr bwMode="auto">
                  <a:xfrm>
                    <a:off x="1154"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56" name="Freeform 112" descr="50%"/>
                <p:cNvSpPr>
                  <a:spLocks/>
                </p:cNvSpPr>
                <p:nvPr/>
              </p:nvSpPr>
              <p:spPr bwMode="auto">
                <a:xfrm>
                  <a:off x="1093"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59" name="Group 115"/>
                <p:cNvGrpSpPr>
                  <a:grpSpLocks/>
                </p:cNvGrpSpPr>
                <p:nvPr/>
              </p:nvGrpSpPr>
              <p:grpSpPr bwMode="auto">
                <a:xfrm>
                  <a:off x="1157" y="2940"/>
                  <a:ext cx="47" cy="37"/>
                  <a:chOff x="1157" y="2940"/>
                  <a:chExt cx="47" cy="37"/>
                </a:xfrm>
              </p:grpSpPr>
              <p:sp>
                <p:nvSpPr>
                  <p:cNvPr id="6257" name="Freeform 113" descr="50%"/>
                  <p:cNvSpPr>
                    <a:spLocks/>
                  </p:cNvSpPr>
                  <p:nvPr/>
                </p:nvSpPr>
                <p:spPr bwMode="auto">
                  <a:xfrm>
                    <a:off x="1157"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8" name="Freeform 114" descr="50%"/>
                  <p:cNvSpPr>
                    <a:spLocks/>
                  </p:cNvSpPr>
                  <p:nvPr/>
                </p:nvSpPr>
                <p:spPr bwMode="auto">
                  <a:xfrm>
                    <a:off x="1158"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276" name="Group 132"/>
              <p:cNvGrpSpPr>
                <a:grpSpLocks/>
              </p:cNvGrpSpPr>
              <p:nvPr/>
            </p:nvGrpSpPr>
            <p:grpSpPr bwMode="auto">
              <a:xfrm>
                <a:off x="1093" y="2960"/>
                <a:ext cx="321" cy="113"/>
                <a:chOff x="1093" y="2960"/>
                <a:chExt cx="321" cy="113"/>
              </a:xfrm>
            </p:grpSpPr>
            <p:sp>
              <p:nvSpPr>
                <p:cNvPr id="6261" name="Freeform 117" descr="50%"/>
                <p:cNvSpPr>
                  <a:spLocks/>
                </p:cNvSpPr>
                <p:nvPr/>
              </p:nvSpPr>
              <p:spPr bwMode="auto">
                <a:xfrm>
                  <a:off x="1174"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62" name="Freeform 118" descr="50%"/>
                <p:cNvSpPr>
                  <a:spLocks/>
                </p:cNvSpPr>
                <p:nvPr/>
              </p:nvSpPr>
              <p:spPr bwMode="auto">
                <a:xfrm>
                  <a:off x="1093"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65" name="Group 121"/>
                <p:cNvGrpSpPr>
                  <a:grpSpLocks/>
                </p:cNvGrpSpPr>
                <p:nvPr/>
              </p:nvGrpSpPr>
              <p:grpSpPr bwMode="auto">
                <a:xfrm>
                  <a:off x="1120" y="3022"/>
                  <a:ext cx="2" cy="3"/>
                  <a:chOff x="1120" y="3022"/>
                  <a:chExt cx="2" cy="3"/>
                </a:xfrm>
              </p:grpSpPr>
              <p:sp>
                <p:nvSpPr>
                  <p:cNvPr id="6263" name="Oval 119" descr="50%"/>
                  <p:cNvSpPr>
                    <a:spLocks noChangeArrowheads="1"/>
                  </p:cNvSpPr>
                  <p:nvPr/>
                </p:nvSpPr>
                <p:spPr bwMode="auto">
                  <a:xfrm>
                    <a:off x="1120"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4" name="Arc 120" descr="50%"/>
                  <p:cNvSpPr>
                    <a:spLocks/>
                  </p:cNvSpPr>
                  <p:nvPr/>
                </p:nvSpPr>
                <p:spPr bwMode="auto">
                  <a:xfrm>
                    <a:off x="1121"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71" name="Group 127"/>
                <p:cNvGrpSpPr>
                  <a:grpSpLocks/>
                </p:cNvGrpSpPr>
                <p:nvPr/>
              </p:nvGrpSpPr>
              <p:grpSpPr bwMode="auto">
                <a:xfrm>
                  <a:off x="1137" y="3034"/>
                  <a:ext cx="23" cy="4"/>
                  <a:chOff x="1137" y="3034"/>
                  <a:chExt cx="23" cy="4"/>
                </a:xfrm>
              </p:grpSpPr>
              <p:sp>
                <p:nvSpPr>
                  <p:cNvPr id="6266" name="Arc 122" descr="50%"/>
                  <p:cNvSpPr>
                    <a:spLocks/>
                  </p:cNvSpPr>
                  <p:nvPr/>
                </p:nvSpPr>
                <p:spPr bwMode="auto">
                  <a:xfrm>
                    <a:off x="1141"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 name="Arc 123" descr="50%"/>
                  <p:cNvSpPr>
                    <a:spLocks/>
                  </p:cNvSpPr>
                  <p:nvPr/>
                </p:nvSpPr>
                <p:spPr bwMode="auto">
                  <a:xfrm>
                    <a:off x="113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8" name="Arc 124" descr="50%"/>
                  <p:cNvSpPr>
                    <a:spLocks/>
                  </p:cNvSpPr>
                  <p:nvPr/>
                </p:nvSpPr>
                <p:spPr bwMode="auto">
                  <a:xfrm>
                    <a:off x="114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9" name="Arc 125" descr="50%"/>
                  <p:cNvSpPr>
                    <a:spLocks/>
                  </p:cNvSpPr>
                  <p:nvPr/>
                </p:nvSpPr>
                <p:spPr bwMode="auto">
                  <a:xfrm>
                    <a:off x="1148"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70" name="Arc 126" descr="50%"/>
                  <p:cNvSpPr>
                    <a:spLocks/>
                  </p:cNvSpPr>
                  <p:nvPr/>
                </p:nvSpPr>
                <p:spPr bwMode="auto">
                  <a:xfrm>
                    <a:off x="1154"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72" name="Freeform 128" descr="50%"/>
                <p:cNvSpPr>
                  <a:spLocks/>
                </p:cNvSpPr>
                <p:nvPr/>
              </p:nvSpPr>
              <p:spPr bwMode="auto">
                <a:xfrm>
                  <a:off x="1093"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75" name="Group 131"/>
                <p:cNvGrpSpPr>
                  <a:grpSpLocks/>
                </p:cNvGrpSpPr>
                <p:nvPr/>
              </p:nvGrpSpPr>
              <p:grpSpPr bwMode="auto">
                <a:xfrm>
                  <a:off x="1157" y="3036"/>
                  <a:ext cx="47" cy="37"/>
                  <a:chOff x="1157" y="3036"/>
                  <a:chExt cx="47" cy="37"/>
                </a:xfrm>
              </p:grpSpPr>
              <p:sp>
                <p:nvSpPr>
                  <p:cNvPr id="6273" name="Freeform 129" descr="50%"/>
                  <p:cNvSpPr>
                    <a:spLocks/>
                  </p:cNvSpPr>
                  <p:nvPr/>
                </p:nvSpPr>
                <p:spPr bwMode="auto">
                  <a:xfrm>
                    <a:off x="1157"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74" name="Freeform 130" descr="50%"/>
                  <p:cNvSpPr>
                    <a:spLocks/>
                  </p:cNvSpPr>
                  <p:nvPr/>
                </p:nvSpPr>
                <p:spPr bwMode="auto">
                  <a:xfrm>
                    <a:off x="1158"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292" name="Group 148"/>
              <p:cNvGrpSpPr>
                <a:grpSpLocks/>
              </p:cNvGrpSpPr>
              <p:nvPr/>
            </p:nvGrpSpPr>
            <p:grpSpPr bwMode="auto">
              <a:xfrm>
                <a:off x="1093" y="3056"/>
                <a:ext cx="321" cy="113"/>
                <a:chOff x="1093" y="3056"/>
                <a:chExt cx="321" cy="113"/>
              </a:xfrm>
            </p:grpSpPr>
            <p:sp>
              <p:nvSpPr>
                <p:cNvPr id="6277" name="Freeform 133" descr="50%"/>
                <p:cNvSpPr>
                  <a:spLocks/>
                </p:cNvSpPr>
                <p:nvPr/>
              </p:nvSpPr>
              <p:spPr bwMode="auto">
                <a:xfrm>
                  <a:off x="1174"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78" name="Freeform 134" descr="50%"/>
                <p:cNvSpPr>
                  <a:spLocks/>
                </p:cNvSpPr>
                <p:nvPr/>
              </p:nvSpPr>
              <p:spPr bwMode="auto">
                <a:xfrm>
                  <a:off x="1093"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81" name="Group 137"/>
                <p:cNvGrpSpPr>
                  <a:grpSpLocks/>
                </p:cNvGrpSpPr>
                <p:nvPr/>
              </p:nvGrpSpPr>
              <p:grpSpPr bwMode="auto">
                <a:xfrm>
                  <a:off x="1120" y="3118"/>
                  <a:ext cx="2" cy="3"/>
                  <a:chOff x="1120" y="3118"/>
                  <a:chExt cx="2" cy="3"/>
                </a:xfrm>
              </p:grpSpPr>
              <p:sp>
                <p:nvSpPr>
                  <p:cNvPr id="6279" name="Oval 135" descr="50%"/>
                  <p:cNvSpPr>
                    <a:spLocks noChangeArrowheads="1"/>
                  </p:cNvSpPr>
                  <p:nvPr/>
                </p:nvSpPr>
                <p:spPr bwMode="auto">
                  <a:xfrm>
                    <a:off x="1120"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0" name="Arc 136" descr="50%"/>
                  <p:cNvSpPr>
                    <a:spLocks/>
                  </p:cNvSpPr>
                  <p:nvPr/>
                </p:nvSpPr>
                <p:spPr bwMode="auto">
                  <a:xfrm>
                    <a:off x="1121"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87" name="Group 143"/>
                <p:cNvGrpSpPr>
                  <a:grpSpLocks/>
                </p:cNvGrpSpPr>
                <p:nvPr/>
              </p:nvGrpSpPr>
              <p:grpSpPr bwMode="auto">
                <a:xfrm>
                  <a:off x="1137" y="3130"/>
                  <a:ext cx="23" cy="4"/>
                  <a:chOff x="1137" y="3130"/>
                  <a:chExt cx="23" cy="4"/>
                </a:xfrm>
              </p:grpSpPr>
              <p:sp>
                <p:nvSpPr>
                  <p:cNvPr id="6282" name="Arc 138" descr="50%"/>
                  <p:cNvSpPr>
                    <a:spLocks/>
                  </p:cNvSpPr>
                  <p:nvPr/>
                </p:nvSpPr>
                <p:spPr bwMode="auto">
                  <a:xfrm>
                    <a:off x="1141"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3" name="Arc 139" descr="50%"/>
                  <p:cNvSpPr>
                    <a:spLocks/>
                  </p:cNvSpPr>
                  <p:nvPr/>
                </p:nvSpPr>
                <p:spPr bwMode="auto">
                  <a:xfrm>
                    <a:off x="113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4" name="Arc 140" descr="50%"/>
                  <p:cNvSpPr>
                    <a:spLocks/>
                  </p:cNvSpPr>
                  <p:nvPr/>
                </p:nvSpPr>
                <p:spPr bwMode="auto">
                  <a:xfrm>
                    <a:off x="114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5" name="Arc 141" descr="50%"/>
                  <p:cNvSpPr>
                    <a:spLocks/>
                  </p:cNvSpPr>
                  <p:nvPr/>
                </p:nvSpPr>
                <p:spPr bwMode="auto">
                  <a:xfrm>
                    <a:off x="1148"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6" name="Arc 142" descr="50%"/>
                  <p:cNvSpPr>
                    <a:spLocks/>
                  </p:cNvSpPr>
                  <p:nvPr/>
                </p:nvSpPr>
                <p:spPr bwMode="auto">
                  <a:xfrm>
                    <a:off x="1154"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88" name="Freeform 144" descr="50%"/>
                <p:cNvSpPr>
                  <a:spLocks/>
                </p:cNvSpPr>
                <p:nvPr/>
              </p:nvSpPr>
              <p:spPr bwMode="auto">
                <a:xfrm>
                  <a:off x="1093"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91" name="Group 147"/>
                <p:cNvGrpSpPr>
                  <a:grpSpLocks/>
                </p:cNvGrpSpPr>
                <p:nvPr/>
              </p:nvGrpSpPr>
              <p:grpSpPr bwMode="auto">
                <a:xfrm>
                  <a:off x="1157" y="3132"/>
                  <a:ext cx="47" cy="37"/>
                  <a:chOff x="1157" y="3132"/>
                  <a:chExt cx="47" cy="37"/>
                </a:xfrm>
              </p:grpSpPr>
              <p:sp>
                <p:nvSpPr>
                  <p:cNvPr id="6289" name="Freeform 145" descr="50%"/>
                  <p:cNvSpPr>
                    <a:spLocks/>
                  </p:cNvSpPr>
                  <p:nvPr/>
                </p:nvSpPr>
                <p:spPr bwMode="auto">
                  <a:xfrm>
                    <a:off x="1157"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90" name="Freeform 146" descr="50%"/>
                  <p:cNvSpPr>
                    <a:spLocks/>
                  </p:cNvSpPr>
                  <p:nvPr/>
                </p:nvSpPr>
                <p:spPr bwMode="auto">
                  <a:xfrm>
                    <a:off x="1158"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08" name="Group 164"/>
              <p:cNvGrpSpPr>
                <a:grpSpLocks/>
              </p:cNvGrpSpPr>
              <p:nvPr/>
            </p:nvGrpSpPr>
            <p:grpSpPr bwMode="auto">
              <a:xfrm>
                <a:off x="1093" y="3152"/>
                <a:ext cx="321" cy="113"/>
                <a:chOff x="1093" y="3152"/>
                <a:chExt cx="321" cy="113"/>
              </a:xfrm>
            </p:grpSpPr>
            <p:sp>
              <p:nvSpPr>
                <p:cNvPr id="6293" name="Freeform 149" descr="50%"/>
                <p:cNvSpPr>
                  <a:spLocks/>
                </p:cNvSpPr>
                <p:nvPr/>
              </p:nvSpPr>
              <p:spPr bwMode="auto">
                <a:xfrm>
                  <a:off x="1174"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94" name="Freeform 150" descr="50%"/>
                <p:cNvSpPr>
                  <a:spLocks/>
                </p:cNvSpPr>
                <p:nvPr/>
              </p:nvSpPr>
              <p:spPr bwMode="auto">
                <a:xfrm>
                  <a:off x="1093"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97" name="Group 153"/>
                <p:cNvGrpSpPr>
                  <a:grpSpLocks/>
                </p:cNvGrpSpPr>
                <p:nvPr/>
              </p:nvGrpSpPr>
              <p:grpSpPr bwMode="auto">
                <a:xfrm>
                  <a:off x="1120" y="3214"/>
                  <a:ext cx="2" cy="3"/>
                  <a:chOff x="1120" y="3214"/>
                  <a:chExt cx="2" cy="3"/>
                </a:xfrm>
              </p:grpSpPr>
              <p:sp>
                <p:nvSpPr>
                  <p:cNvPr id="6295" name="Oval 151" descr="50%"/>
                  <p:cNvSpPr>
                    <a:spLocks noChangeArrowheads="1"/>
                  </p:cNvSpPr>
                  <p:nvPr/>
                </p:nvSpPr>
                <p:spPr bwMode="auto">
                  <a:xfrm>
                    <a:off x="1120"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96" name="Arc 152" descr="50%"/>
                  <p:cNvSpPr>
                    <a:spLocks/>
                  </p:cNvSpPr>
                  <p:nvPr/>
                </p:nvSpPr>
                <p:spPr bwMode="auto">
                  <a:xfrm>
                    <a:off x="1121"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03" name="Group 159"/>
                <p:cNvGrpSpPr>
                  <a:grpSpLocks/>
                </p:cNvGrpSpPr>
                <p:nvPr/>
              </p:nvGrpSpPr>
              <p:grpSpPr bwMode="auto">
                <a:xfrm>
                  <a:off x="1137" y="3226"/>
                  <a:ext cx="23" cy="4"/>
                  <a:chOff x="1137" y="3226"/>
                  <a:chExt cx="23" cy="4"/>
                </a:xfrm>
              </p:grpSpPr>
              <p:sp>
                <p:nvSpPr>
                  <p:cNvPr id="6298" name="Arc 154" descr="50%"/>
                  <p:cNvSpPr>
                    <a:spLocks/>
                  </p:cNvSpPr>
                  <p:nvPr/>
                </p:nvSpPr>
                <p:spPr bwMode="auto">
                  <a:xfrm>
                    <a:off x="1141"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99" name="Arc 155" descr="50%"/>
                  <p:cNvSpPr>
                    <a:spLocks/>
                  </p:cNvSpPr>
                  <p:nvPr/>
                </p:nvSpPr>
                <p:spPr bwMode="auto">
                  <a:xfrm>
                    <a:off x="113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00" name="Arc 156" descr="50%"/>
                  <p:cNvSpPr>
                    <a:spLocks/>
                  </p:cNvSpPr>
                  <p:nvPr/>
                </p:nvSpPr>
                <p:spPr bwMode="auto">
                  <a:xfrm>
                    <a:off x="114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01" name="Arc 157" descr="50%"/>
                  <p:cNvSpPr>
                    <a:spLocks/>
                  </p:cNvSpPr>
                  <p:nvPr/>
                </p:nvSpPr>
                <p:spPr bwMode="auto">
                  <a:xfrm>
                    <a:off x="1148"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02" name="Arc 158" descr="50%"/>
                  <p:cNvSpPr>
                    <a:spLocks/>
                  </p:cNvSpPr>
                  <p:nvPr/>
                </p:nvSpPr>
                <p:spPr bwMode="auto">
                  <a:xfrm>
                    <a:off x="1154"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04" name="Freeform 160" descr="50%"/>
                <p:cNvSpPr>
                  <a:spLocks/>
                </p:cNvSpPr>
                <p:nvPr/>
              </p:nvSpPr>
              <p:spPr bwMode="auto">
                <a:xfrm>
                  <a:off x="1093"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07" name="Group 163"/>
                <p:cNvGrpSpPr>
                  <a:grpSpLocks/>
                </p:cNvGrpSpPr>
                <p:nvPr/>
              </p:nvGrpSpPr>
              <p:grpSpPr bwMode="auto">
                <a:xfrm>
                  <a:off x="1157" y="3228"/>
                  <a:ext cx="47" cy="37"/>
                  <a:chOff x="1157" y="3228"/>
                  <a:chExt cx="47" cy="37"/>
                </a:xfrm>
              </p:grpSpPr>
              <p:sp>
                <p:nvSpPr>
                  <p:cNvPr id="6305" name="Freeform 161" descr="50%"/>
                  <p:cNvSpPr>
                    <a:spLocks/>
                  </p:cNvSpPr>
                  <p:nvPr/>
                </p:nvSpPr>
                <p:spPr bwMode="auto">
                  <a:xfrm>
                    <a:off x="1157"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06" name="Freeform 162" descr="50%"/>
                  <p:cNvSpPr>
                    <a:spLocks/>
                  </p:cNvSpPr>
                  <p:nvPr/>
                </p:nvSpPr>
                <p:spPr bwMode="auto">
                  <a:xfrm>
                    <a:off x="1158"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24" name="Group 180"/>
              <p:cNvGrpSpPr>
                <a:grpSpLocks/>
              </p:cNvGrpSpPr>
              <p:nvPr/>
            </p:nvGrpSpPr>
            <p:grpSpPr bwMode="auto">
              <a:xfrm>
                <a:off x="1093" y="3248"/>
                <a:ext cx="321" cy="113"/>
                <a:chOff x="1093" y="3248"/>
                <a:chExt cx="321" cy="113"/>
              </a:xfrm>
            </p:grpSpPr>
            <p:sp>
              <p:nvSpPr>
                <p:cNvPr id="6309" name="Freeform 165" descr="50%"/>
                <p:cNvSpPr>
                  <a:spLocks/>
                </p:cNvSpPr>
                <p:nvPr/>
              </p:nvSpPr>
              <p:spPr bwMode="auto">
                <a:xfrm>
                  <a:off x="1174"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10" name="Freeform 166" descr="50%"/>
                <p:cNvSpPr>
                  <a:spLocks/>
                </p:cNvSpPr>
                <p:nvPr/>
              </p:nvSpPr>
              <p:spPr bwMode="auto">
                <a:xfrm>
                  <a:off x="1093"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13" name="Group 169"/>
                <p:cNvGrpSpPr>
                  <a:grpSpLocks/>
                </p:cNvGrpSpPr>
                <p:nvPr/>
              </p:nvGrpSpPr>
              <p:grpSpPr bwMode="auto">
                <a:xfrm>
                  <a:off x="1120" y="3310"/>
                  <a:ext cx="2" cy="3"/>
                  <a:chOff x="1120" y="3310"/>
                  <a:chExt cx="2" cy="3"/>
                </a:xfrm>
              </p:grpSpPr>
              <p:sp>
                <p:nvSpPr>
                  <p:cNvPr id="6311" name="Oval 167" descr="50%"/>
                  <p:cNvSpPr>
                    <a:spLocks noChangeArrowheads="1"/>
                  </p:cNvSpPr>
                  <p:nvPr/>
                </p:nvSpPr>
                <p:spPr bwMode="auto">
                  <a:xfrm>
                    <a:off x="1120"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2" name="Arc 168" descr="50%"/>
                  <p:cNvSpPr>
                    <a:spLocks/>
                  </p:cNvSpPr>
                  <p:nvPr/>
                </p:nvSpPr>
                <p:spPr bwMode="auto">
                  <a:xfrm>
                    <a:off x="1121"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19" name="Group 175"/>
                <p:cNvGrpSpPr>
                  <a:grpSpLocks/>
                </p:cNvGrpSpPr>
                <p:nvPr/>
              </p:nvGrpSpPr>
              <p:grpSpPr bwMode="auto">
                <a:xfrm>
                  <a:off x="1137" y="3322"/>
                  <a:ext cx="23" cy="4"/>
                  <a:chOff x="1137" y="3322"/>
                  <a:chExt cx="23" cy="4"/>
                </a:xfrm>
              </p:grpSpPr>
              <p:sp>
                <p:nvSpPr>
                  <p:cNvPr id="6314" name="Arc 170" descr="50%"/>
                  <p:cNvSpPr>
                    <a:spLocks/>
                  </p:cNvSpPr>
                  <p:nvPr/>
                </p:nvSpPr>
                <p:spPr bwMode="auto">
                  <a:xfrm>
                    <a:off x="1141"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5" name="Arc 171" descr="50%"/>
                  <p:cNvSpPr>
                    <a:spLocks/>
                  </p:cNvSpPr>
                  <p:nvPr/>
                </p:nvSpPr>
                <p:spPr bwMode="auto">
                  <a:xfrm>
                    <a:off x="113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6" name="Arc 172" descr="50%"/>
                  <p:cNvSpPr>
                    <a:spLocks/>
                  </p:cNvSpPr>
                  <p:nvPr/>
                </p:nvSpPr>
                <p:spPr bwMode="auto">
                  <a:xfrm>
                    <a:off x="114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7" name="Arc 173" descr="50%"/>
                  <p:cNvSpPr>
                    <a:spLocks/>
                  </p:cNvSpPr>
                  <p:nvPr/>
                </p:nvSpPr>
                <p:spPr bwMode="auto">
                  <a:xfrm>
                    <a:off x="1148"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8" name="Arc 174" descr="50%"/>
                  <p:cNvSpPr>
                    <a:spLocks/>
                  </p:cNvSpPr>
                  <p:nvPr/>
                </p:nvSpPr>
                <p:spPr bwMode="auto">
                  <a:xfrm>
                    <a:off x="1154"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20" name="Freeform 176" descr="50%"/>
                <p:cNvSpPr>
                  <a:spLocks/>
                </p:cNvSpPr>
                <p:nvPr/>
              </p:nvSpPr>
              <p:spPr bwMode="auto">
                <a:xfrm>
                  <a:off x="1093"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23" name="Group 179"/>
                <p:cNvGrpSpPr>
                  <a:grpSpLocks/>
                </p:cNvGrpSpPr>
                <p:nvPr/>
              </p:nvGrpSpPr>
              <p:grpSpPr bwMode="auto">
                <a:xfrm>
                  <a:off x="1157" y="3324"/>
                  <a:ext cx="47" cy="37"/>
                  <a:chOff x="1157" y="3324"/>
                  <a:chExt cx="47" cy="37"/>
                </a:xfrm>
              </p:grpSpPr>
              <p:sp>
                <p:nvSpPr>
                  <p:cNvPr id="6321" name="Freeform 177" descr="50%"/>
                  <p:cNvSpPr>
                    <a:spLocks/>
                  </p:cNvSpPr>
                  <p:nvPr/>
                </p:nvSpPr>
                <p:spPr bwMode="auto">
                  <a:xfrm>
                    <a:off x="1157"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22" name="Freeform 178" descr="50%"/>
                  <p:cNvSpPr>
                    <a:spLocks/>
                  </p:cNvSpPr>
                  <p:nvPr/>
                </p:nvSpPr>
                <p:spPr bwMode="auto">
                  <a:xfrm>
                    <a:off x="1158"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406" name="Group 262"/>
            <p:cNvGrpSpPr>
              <a:grpSpLocks/>
            </p:cNvGrpSpPr>
            <p:nvPr/>
          </p:nvGrpSpPr>
          <p:grpSpPr bwMode="auto">
            <a:xfrm>
              <a:off x="1441" y="2864"/>
              <a:ext cx="321" cy="497"/>
              <a:chOff x="1441" y="2864"/>
              <a:chExt cx="321" cy="497"/>
            </a:xfrm>
          </p:grpSpPr>
          <p:grpSp>
            <p:nvGrpSpPr>
              <p:cNvPr id="6341" name="Group 197"/>
              <p:cNvGrpSpPr>
                <a:grpSpLocks/>
              </p:cNvGrpSpPr>
              <p:nvPr/>
            </p:nvGrpSpPr>
            <p:grpSpPr bwMode="auto">
              <a:xfrm>
                <a:off x="1441" y="2864"/>
                <a:ext cx="321" cy="113"/>
                <a:chOff x="1441" y="2864"/>
                <a:chExt cx="321" cy="113"/>
              </a:xfrm>
            </p:grpSpPr>
            <p:sp>
              <p:nvSpPr>
                <p:cNvPr id="6326" name="Freeform 182" descr="50%"/>
                <p:cNvSpPr>
                  <a:spLocks/>
                </p:cNvSpPr>
                <p:nvPr/>
              </p:nvSpPr>
              <p:spPr bwMode="auto">
                <a:xfrm>
                  <a:off x="1522"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27" name="Freeform 183" descr="50%"/>
                <p:cNvSpPr>
                  <a:spLocks/>
                </p:cNvSpPr>
                <p:nvPr/>
              </p:nvSpPr>
              <p:spPr bwMode="auto">
                <a:xfrm>
                  <a:off x="1441"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30" name="Group 186"/>
                <p:cNvGrpSpPr>
                  <a:grpSpLocks/>
                </p:cNvGrpSpPr>
                <p:nvPr/>
              </p:nvGrpSpPr>
              <p:grpSpPr bwMode="auto">
                <a:xfrm>
                  <a:off x="1468" y="2926"/>
                  <a:ext cx="2" cy="3"/>
                  <a:chOff x="1468" y="2926"/>
                  <a:chExt cx="2" cy="3"/>
                </a:xfrm>
              </p:grpSpPr>
              <p:sp>
                <p:nvSpPr>
                  <p:cNvPr id="6328" name="Oval 184" descr="50%"/>
                  <p:cNvSpPr>
                    <a:spLocks noChangeArrowheads="1"/>
                  </p:cNvSpPr>
                  <p:nvPr/>
                </p:nvSpPr>
                <p:spPr bwMode="auto">
                  <a:xfrm>
                    <a:off x="1468"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29" name="Arc 185" descr="50%"/>
                  <p:cNvSpPr>
                    <a:spLocks/>
                  </p:cNvSpPr>
                  <p:nvPr/>
                </p:nvSpPr>
                <p:spPr bwMode="auto">
                  <a:xfrm>
                    <a:off x="1469"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36" name="Group 192"/>
                <p:cNvGrpSpPr>
                  <a:grpSpLocks/>
                </p:cNvGrpSpPr>
                <p:nvPr/>
              </p:nvGrpSpPr>
              <p:grpSpPr bwMode="auto">
                <a:xfrm>
                  <a:off x="1485" y="2938"/>
                  <a:ext cx="23" cy="4"/>
                  <a:chOff x="1485" y="2938"/>
                  <a:chExt cx="23" cy="4"/>
                </a:xfrm>
              </p:grpSpPr>
              <p:sp>
                <p:nvSpPr>
                  <p:cNvPr id="6331" name="Arc 187" descr="50%"/>
                  <p:cNvSpPr>
                    <a:spLocks/>
                  </p:cNvSpPr>
                  <p:nvPr/>
                </p:nvSpPr>
                <p:spPr bwMode="auto">
                  <a:xfrm>
                    <a:off x="1489"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2" name="Arc 188" descr="50%"/>
                  <p:cNvSpPr>
                    <a:spLocks/>
                  </p:cNvSpPr>
                  <p:nvPr/>
                </p:nvSpPr>
                <p:spPr bwMode="auto">
                  <a:xfrm>
                    <a:off x="1485"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3" name="Arc 189" descr="50%"/>
                  <p:cNvSpPr>
                    <a:spLocks/>
                  </p:cNvSpPr>
                  <p:nvPr/>
                </p:nvSpPr>
                <p:spPr bwMode="auto">
                  <a:xfrm>
                    <a:off x="1492"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4" name="Arc 190" descr="50%"/>
                  <p:cNvSpPr>
                    <a:spLocks/>
                  </p:cNvSpPr>
                  <p:nvPr/>
                </p:nvSpPr>
                <p:spPr bwMode="auto">
                  <a:xfrm>
                    <a:off x="1496"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5" name="Arc 191" descr="50%"/>
                  <p:cNvSpPr>
                    <a:spLocks/>
                  </p:cNvSpPr>
                  <p:nvPr/>
                </p:nvSpPr>
                <p:spPr bwMode="auto">
                  <a:xfrm>
                    <a:off x="1502"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37" name="Freeform 193" descr="50%"/>
                <p:cNvSpPr>
                  <a:spLocks/>
                </p:cNvSpPr>
                <p:nvPr/>
              </p:nvSpPr>
              <p:spPr bwMode="auto">
                <a:xfrm>
                  <a:off x="1441"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40" name="Group 196"/>
                <p:cNvGrpSpPr>
                  <a:grpSpLocks/>
                </p:cNvGrpSpPr>
                <p:nvPr/>
              </p:nvGrpSpPr>
              <p:grpSpPr bwMode="auto">
                <a:xfrm>
                  <a:off x="1505" y="2940"/>
                  <a:ext cx="47" cy="37"/>
                  <a:chOff x="1505" y="2940"/>
                  <a:chExt cx="47" cy="37"/>
                </a:xfrm>
              </p:grpSpPr>
              <p:sp>
                <p:nvSpPr>
                  <p:cNvPr id="6338" name="Freeform 194" descr="50%"/>
                  <p:cNvSpPr>
                    <a:spLocks/>
                  </p:cNvSpPr>
                  <p:nvPr/>
                </p:nvSpPr>
                <p:spPr bwMode="auto">
                  <a:xfrm>
                    <a:off x="1505"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39" name="Freeform 195" descr="50%"/>
                  <p:cNvSpPr>
                    <a:spLocks/>
                  </p:cNvSpPr>
                  <p:nvPr/>
                </p:nvSpPr>
                <p:spPr bwMode="auto">
                  <a:xfrm>
                    <a:off x="1506"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57" name="Group 213"/>
              <p:cNvGrpSpPr>
                <a:grpSpLocks/>
              </p:cNvGrpSpPr>
              <p:nvPr/>
            </p:nvGrpSpPr>
            <p:grpSpPr bwMode="auto">
              <a:xfrm>
                <a:off x="1441" y="2960"/>
                <a:ext cx="321" cy="113"/>
                <a:chOff x="1441" y="2960"/>
                <a:chExt cx="321" cy="113"/>
              </a:xfrm>
            </p:grpSpPr>
            <p:sp>
              <p:nvSpPr>
                <p:cNvPr id="6342" name="Freeform 198" descr="50%"/>
                <p:cNvSpPr>
                  <a:spLocks/>
                </p:cNvSpPr>
                <p:nvPr/>
              </p:nvSpPr>
              <p:spPr bwMode="auto">
                <a:xfrm>
                  <a:off x="1522"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43" name="Freeform 199" descr="50%"/>
                <p:cNvSpPr>
                  <a:spLocks/>
                </p:cNvSpPr>
                <p:nvPr/>
              </p:nvSpPr>
              <p:spPr bwMode="auto">
                <a:xfrm>
                  <a:off x="1441"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46" name="Group 202"/>
                <p:cNvGrpSpPr>
                  <a:grpSpLocks/>
                </p:cNvGrpSpPr>
                <p:nvPr/>
              </p:nvGrpSpPr>
              <p:grpSpPr bwMode="auto">
                <a:xfrm>
                  <a:off x="1468" y="3022"/>
                  <a:ext cx="2" cy="3"/>
                  <a:chOff x="1468" y="3022"/>
                  <a:chExt cx="2" cy="3"/>
                </a:xfrm>
              </p:grpSpPr>
              <p:sp>
                <p:nvSpPr>
                  <p:cNvPr id="6344" name="Oval 200" descr="50%"/>
                  <p:cNvSpPr>
                    <a:spLocks noChangeArrowheads="1"/>
                  </p:cNvSpPr>
                  <p:nvPr/>
                </p:nvSpPr>
                <p:spPr bwMode="auto">
                  <a:xfrm>
                    <a:off x="1468"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5" name="Arc 201" descr="50%"/>
                  <p:cNvSpPr>
                    <a:spLocks/>
                  </p:cNvSpPr>
                  <p:nvPr/>
                </p:nvSpPr>
                <p:spPr bwMode="auto">
                  <a:xfrm>
                    <a:off x="1469"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52" name="Group 208"/>
                <p:cNvGrpSpPr>
                  <a:grpSpLocks/>
                </p:cNvGrpSpPr>
                <p:nvPr/>
              </p:nvGrpSpPr>
              <p:grpSpPr bwMode="auto">
                <a:xfrm>
                  <a:off x="1485" y="3034"/>
                  <a:ext cx="23" cy="4"/>
                  <a:chOff x="1485" y="3034"/>
                  <a:chExt cx="23" cy="4"/>
                </a:xfrm>
              </p:grpSpPr>
              <p:sp>
                <p:nvSpPr>
                  <p:cNvPr id="6347" name="Arc 203" descr="50%"/>
                  <p:cNvSpPr>
                    <a:spLocks/>
                  </p:cNvSpPr>
                  <p:nvPr/>
                </p:nvSpPr>
                <p:spPr bwMode="auto">
                  <a:xfrm>
                    <a:off x="1489"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8" name="Arc 204" descr="50%"/>
                  <p:cNvSpPr>
                    <a:spLocks/>
                  </p:cNvSpPr>
                  <p:nvPr/>
                </p:nvSpPr>
                <p:spPr bwMode="auto">
                  <a:xfrm>
                    <a:off x="1485"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 name="Arc 205" descr="50%"/>
                  <p:cNvSpPr>
                    <a:spLocks/>
                  </p:cNvSpPr>
                  <p:nvPr/>
                </p:nvSpPr>
                <p:spPr bwMode="auto">
                  <a:xfrm>
                    <a:off x="1492"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 name="Arc 206" descr="50%"/>
                  <p:cNvSpPr>
                    <a:spLocks/>
                  </p:cNvSpPr>
                  <p:nvPr/>
                </p:nvSpPr>
                <p:spPr bwMode="auto">
                  <a:xfrm>
                    <a:off x="1496"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 name="Arc 207" descr="50%"/>
                  <p:cNvSpPr>
                    <a:spLocks/>
                  </p:cNvSpPr>
                  <p:nvPr/>
                </p:nvSpPr>
                <p:spPr bwMode="auto">
                  <a:xfrm>
                    <a:off x="1502"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53" name="Freeform 209" descr="50%"/>
                <p:cNvSpPr>
                  <a:spLocks/>
                </p:cNvSpPr>
                <p:nvPr/>
              </p:nvSpPr>
              <p:spPr bwMode="auto">
                <a:xfrm>
                  <a:off x="1441"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56" name="Group 212"/>
                <p:cNvGrpSpPr>
                  <a:grpSpLocks/>
                </p:cNvGrpSpPr>
                <p:nvPr/>
              </p:nvGrpSpPr>
              <p:grpSpPr bwMode="auto">
                <a:xfrm>
                  <a:off x="1505" y="3036"/>
                  <a:ext cx="47" cy="37"/>
                  <a:chOff x="1505" y="3036"/>
                  <a:chExt cx="47" cy="37"/>
                </a:xfrm>
              </p:grpSpPr>
              <p:sp>
                <p:nvSpPr>
                  <p:cNvPr id="6354" name="Freeform 210" descr="50%"/>
                  <p:cNvSpPr>
                    <a:spLocks/>
                  </p:cNvSpPr>
                  <p:nvPr/>
                </p:nvSpPr>
                <p:spPr bwMode="auto">
                  <a:xfrm>
                    <a:off x="1505"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5" name="Freeform 211" descr="50%"/>
                  <p:cNvSpPr>
                    <a:spLocks/>
                  </p:cNvSpPr>
                  <p:nvPr/>
                </p:nvSpPr>
                <p:spPr bwMode="auto">
                  <a:xfrm>
                    <a:off x="1506"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73" name="Group 229"/>
              <p:cNvGrpSpPr>
                <a:grpSpLocks/>
              </p:cNvGrpSpPr>
              <p:nvPr/>
            </p:nvGrpSpPr>
            <p:grpSpPr bwMode="auto">
              <a:xfrm>
                <a:off x="1441" y="3056"/>
                <a:ext cx="321" cy="113"/>
                <a:chOff x="1441" y="3056"/>
                <a:chExt cx="321" cy="113"/>
              </a:xfrm>
            </p:grpSpPr>
            <p:sp>
              <p:nvSpPr>
                <p:cNvPr id="6358" name="Freeform 214" descr="50%"/>
                <p:cNvSpPr>
                  <a:spLocks/>
                </p:cNvSpPr>
                <p:nvPr/>
              </p:nvSpPr>
              <p:spPr bwMode="auto">
                <a:xfrm>
                  <a:off x="1522"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9" name="Freeform 215" descr="50%"/>
                <p:cNvSpPr>
                  <a:spLocks/>
                </p:cNvSpPr>
                <p:nvPr/>
              </p:nvSpPr>
              <p:spPr bwMode="auto">
                <a:xfrm>
                  <a:off x="1441"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62" name="Group 218"/>
                <p:cNvGrpSpPr>
                  <a:grpSpLocks/>
                </p:cNvGrpSpPr>
                <p:nvPr/>
              </p:nvGrpSpPr>
              <p:grpSpPr bwMode="auto">
                <a:xfrm>
                  <a:off x="1468" y="3118"/>
                  <a:ext cx="2" cy="3"/>
                  <a:chOff x="1468" y="3118"/>
                  <a:chExt cx="2" cy="3"/>
                </a:xfrm>
              </p:grpSpPr>
              <p:sp>
                <p:nvSpPr>
                  <p:cNvPr id="6360" name="Oval 216" descr="50%"/>
                  <p:cNvSpPr>
                    <a:spLocks noChangeArrowheads="1"/>
                  </p:cNvSpPr>
                  <p:nvPr/>
                </p:nvSpPr>
                <p:spPr bwMode="auto">
                  <a:xfrm>
                    <a:off x="1468"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1" name="Arc 217" descr="50%"/>
                  <p:cNvSpPr>
                    <a:spLocks/>
                  </p:cNvSpPr>
                  <p:nvPr/>
                </p:nvSpPr>
                <p:spPr bwMode="auto">
                  <a:xfrm>
                    <a:off x="1469"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68" name="Group 224"/>
                <p:cNvGrpSpPr>
                  <a:grpSpLocks/>
                </p:cNvGrpSpPr>
                <p:nvPr/>
              </p:nvGrpSpPr>
              <p:grpSpPr bwMode="auto">
                <a:xfrm>
                  <a:off x="1485" y="3130"/>
                  <a:ext cx="23" cy="4"/>
                  <a:chOff x="1485" y="3130"/>
                  <a:chExt cx="23" cy="4"/>
                </a:xfrm>
              </p:grpSpPr>
              <p:sp>
                <p:nvSpPr>
                  <p:cNvPr id="6363" name="Arc 219" descr="50%"/>
                  <p:cNvSpPr>
                    <a:spLocks/>
                  </p:cNvSpPr>
                  <p:nvPr/>
                </p:nvSpPr>
                <p:spPr bwMode="auto">
                  <a:xfrm>
                    <a:off x="1489"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4" name="Arc 220" descr="50%"/>
                  <p:cNvSpPr>
                    <a:spLocks/>
                  </p:cNvSpPr>
                  <p:nvPr/>
                </p:nvSpPr>
                <p:spPr bwMode="auto">
                  <a:xfrm>
                    <a:off x="1485"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5" name="Arc 221" descr="50%"/>
                  <p:cNvSpPr>
                    <a:spLocks/>
                  </p:cNvSpPr>
                  <p:nvPr/>
                </p:nvSpPr>
                <p:spPr bwMode="auto">
                  <a:xfrm>
                    <a:off x="1492"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6" name="Arc 222" descr="50%"/>
                  <p:cNvSpPr>
                    <a:spLocks/>
                  </p:cNvSpPr>
                  <p:nvPr/>
                </p:nvSpPr>
                <p:spPr bwMode="auto">
                  <a:xfrm>
                    <a:off x="1496"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7" name="Arc 223" descr="50%"/>
                  <p:cNvSpPr>
                    <a:spLocks/>
                  </p:cNvSpPr>
                  <p:nvPr/>
                </p:nvSpPr>
                <p:spPr bwMode="auto">
                  <a:xfrm>
                    <a:off x="1502"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69" name="Freeform 225" descr="50%"/>
                <p:cNvSpPr>
                  <a:spLocks/>
                </p:cNvSpPr>
                <p:nvPr/>
              </p:nvSpPr>
              <p:spPr bwMode="auto">
                <a:xfrm>
                  <a:off x="1441"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72" name="Group 228"/>
                <p:cNvGrpSpPr>
                  <a:grpSpLocks/>
                </p:cNvGrpSpPr>
                <p:nvPr/>
              </p:nvGrpSpPr>
              <p:grpSpPr bwMode="auto">
                <a:xfrm>
                  <a:off x="1505" y="3132"/>
                  <a:ext cx="47" cy="37"/>
                  <a:chOff x="1505" y="3132"/>
                  <a:chExt cx="47" cy="37"/>
                </a:xfrm>
              </p:grpSpPr>
              <p:sp>
                <p:nvSpPr>
                  <p:cNvPr id="6370" name="Freeform 226" descr="50%"/>
                  <p:cNvSpPr>
                    <a:spLocks/>
                  </p:cNvSpPr>
                  <p:nvPr/>
                </p:nvSpPr>
                <p:spPr bwMode="auto">
                  <a:xfrm>
                    <a:off x="1505"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71" name="Freeform 227" descr="50%"/>
                  <p:cNvSpPr>
                    <a:spLocks/>
                  </p:cNvSpPr>
                  <p:nvPr/>
                </p:nvSpPr>
                <p:spPr bwMode="auto">
                  <a:xfrm>
                    <a:off x="1506"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89" name="Group 245"/>
              <p:cNvGrpSpPr>
                <a:grpSpLocks/>
              </p:cNvGrpSpPr>
              <p:nvPr/>
            </p:nvGrpSpPr>
            <p:grpSpPr bwMode="auto">
              <a:xfrm>
                <a:off x="1441" y="3152"/>
                <a:ext cx="321" cy="113"/>
                <a:chOff x="1441" y="3152"/>
                <a:chExt cx="321" cy="113"/>
              </a:xfrm>
            </p:grpSpPr>
            <p:sp>
              <p:nvSpPr>
                <p:cNvPr id="6374" name="Freeform 230" descr="50%"/>
                <p:cNvSpPr>
                  <a:spLocks/>
                </p:cNvSpPr>
                <p:nvPr/>
              </p:nvSpPr>
              <p:spPr bwMode="auto">
                <a:xfrm>
                  <a:off x="1522"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75" name="Freeform 231" descr="50%"/>
                <p:cNvSpPr>
                  <a:spLocks/>
                </p:cNvSpPr>
                <p:nvPr/>
              </p:nvSpPr>
              <p:spPr bwMode="auto">
                <a:xfrm>
                  <a:off x="1441"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78" name="Group 234"/>
                <p:cNvGrpSpPr>
                  <a:grpSpLocks/>
                </p:cNvGrpSpPr>
                <p:nvPr/>
              </p:nvGrpSpPr>
              <p:grpSpPr bwMode="auto">
                <a:xfrm>
                  <a:off x="1468" y="3214"/>
                  <a:ext cx="2" cy="3"/>
                  <a:chOff x="1468" y="3214"/>
                  <a:chExt cx="2" cy="3"/>
                </a:xfrm>
              </p:grpSpPr>
              <p:sp>
                <p:nvSpPr>
                  <p:cNvPr id="6376" name="Oval 232" descr="50%"/>
                  <p:cNvSpPr>
                    <a:spLocks noChangeArrowheads="1"/>
                  </p:cNvSpPr>
                  <p:nvPr/>
                </p:nvSpPr>
                <p:spPr bwMode="auto">
                  <a:xfrm>
                    <a:off x="1468"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77" name="Arc 233" descr="50%"/>
                  <p:cNvSpPr>
                    <a:spLocks/>
                  </p:cNvSpPr>
                  <p:nvPr/>
                </p:nvSpPr>
                <p:spPr bwMode="auto">
                  <a:xfrm>
                    <a:off x="1469"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84" name="Group 240"/>
                <p:cNvGrpSpPr>
                  <a:grpSpLocks/>
                </p:cNvGrpSpPr>
                <p:nvPr/>
              </p:nvGrpSpPr>
              <p:grpSpPr bwMode="auto">
                <a:xfrm>
                  <a:off x="1485" y="3226"/>
                  <a:ext cx="23" cy="4"/>
                  <a:chOff x="1485" y="3226"/>
                  <a:chExt cx="23" cy="4"/>
                </a:xfrm>
              </p:grpSpPr>
              <p:sp>
                <p:nvSpPr>
                  <p:cNvPr id="6379" name="Arc 235" descr="50%"/>
                  <p:cNvSpPr>
                    <a:spLocks/>
                  </p:cNvSpPr>
                  <p:nvPr/>
                </p:nvSpPr>
                <p:spPr bwMode="auto">
                  <a:xfrm>
                    <a:off x="1489"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0" name="Arc 236" descr="50%"/>
                  <p:cNvSpPr>
                    <a:spLocks/>
                  </p:cNvSpPr>
                  <p:nvPr/>
                </p:nvSpPr>
                <p:spPr bwMode="auto">
                  <a:xfrm>
                    <a:off x="1485"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1" name="Arc 237" descr="50%"/>
                  <p:cNvSpPr>
                    <a:spLocks/>
                  </p:cNvSpPr>
                  <p:nvPr/>
                </p:nvSpPr>
                <p:spPr bwMode="auto">
                  <a:xfrm>
                    <a:off x="1492"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2" name="Arc 238" descr="50%"/>
                  <p:cNvSpPr>
                    <a:spLocks/>
                  </p:cNvSpPr>
                  <p:nvPr/>
                </p:nvSpPr>
                <p:spPr bwMode="auto">
                  <a:xfrm>
                    <a:off x="1496"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3" name="Arc 239" descr="50%"/>
                  <p:cNvSpPr>
                    <a:spLocks/>
                  </p:cNvSpPr>
                  <p:nvPr/>
                </p:nvSpPr>
                <p:spPr bwMode="auto">
                  <a:xfrm>
                    <a:off x="1502"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85" name="Freeform 241" descr="50%"/>
                <p:cNvSpPr>
                  <a:spLocks/>
                </p:cNvSpPr>
                <p:nvPr/>
              </p:nvSpPr>
              <p:spPr bwMode="auto">
                <a:xfrm>
                  <a:off x="1441"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88" name="Group 244"/>
                <p:cNvGrpSpPr>
                  <a:grpSpLocks/>
                </p:cNvGrpSpPr>
                <p:nvPr/>
              </p:nvGrpSpPr>
              <p:grpSpPr bwMode="auto">
                <a:xfrm>
                  <a:off x="1505" y="3228"/>
                  <a:ext cx="47" cy="37"/>
                  <a:chOff x="1505" y="3228"/>
                  <a:chExt cx="47" cy="37"/>
                </a:xfrm>
              </p:grpSpPr>
              <p:sp>
                <p:nvSpPr>
                  <p:cNvPr id="6386" name="Freeform 242" descr="50%"/>
                  <p:cNvSpPr>
                    <a:spLocks/>
                  </p:cNvSpPr>
                  <p:nvPr/>
                </p:nvSpPr>
                <p:spPr bwMode="auto">
                  <a:xfrm>
                    <a:off x="1505"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87" name="Freeform 243" descr="50%"/>
                  <p:cNvSpPr>
                    <a:spLocks/>
                  </p:cNvSpPr>
                  <p:nvPr/>
                </p:nvSpPr>
                <p:spPr bwMode="auto">
                  <a:xfrm>
                    <a:off x="1506"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05" name="Group 261"/>
              <p:cNvGrpSpPr>
                <a:grpSpLocks/>
              </p:cNvGrpSpPr>
              <p:nvPr/>
            </p:nvGrpSpPr>
            <p:grpSpPr bwMode="auto">
              <a:xfrm>
                <a:off x="1441" y="3248"/>
                <a:ext cx="321" cy="113"/>
                <a:chOff x="1441" y="3248"/>
                <a:chExt cx="321" cy="113"/>
              </a:xfrm>
            </p:grpSpPr>
            <p:sp>
              <p:nvSpPr>
                <p:cNvPr id="6390" name="Freeform 246" descr="50%"/>
                <p:cNvSpPr>
                  <a:spLocks/>
                </p:cNvSpPr>
                <p:nvPr/>
              </p:nvSpPr>
              <p:spPr bwMode="auto">
                <a:xfrm>
                  <a:off x="1522"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91" name="Freeform 247" descr="50%"/>
                <p:cNvSpPr>
                  <a:spLocks/>
                </p:cNvSpPr>
                <p:nvPr/>
              </p:nvSpPr>
              <p:spPr bwMode="auto">
                <a:xfrm>
                  <a:off x="1441"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94" name="Group 250"/>
                <p:cNvGrpSpPr>
                  <a:grpSpLocks/>
                </p:cNvGrpSpPr>
                <p:nvPr/>
              </p:nvGrpSpPr>
              <p:grpSpPr bwMode="auto">
                <a:xfrm>
                  <a:off x="1468" y="3310"/>
                  <a:ext cx="2" cy="3"/>
                  <a:chOff x="1468" y="3310"/>
                  <a:chExt cx="2" cy="3"/>
                </a:xfrm>
              </p:grpSpPr>
              <p:sp>
                <p:nvSpPr>
                  <p:cNvPr id="6392" name="Oval 248" descr="50%"/>
                  <p:cNvSpPr>
                    <a:spLocks noChangeArrowheads="1"/>
                  </p:cNvSpPr>
                  <p:nvPr/>
                </p:nvSpPr>
                <p:spPr bwMode="auto">
                  <a:xfrm>
                    <a:off x="1468"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3" name="Arc 249" descr="50%"/>
                  <p:cNvSpPr>
                    <a:spLocks/>
                  </p:cNvSpPr>
                  <p:nvPr/>
                </p:nvSpPr>
                <p:spPr bwMode="auto">
                  <a:xfrm>
                    <a:off x="1469"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00" name="Group 256"/>
                <p:cNvGrpSpPr>
                  <a:grpSpLocks/>
                </p:cNvGrpSpPr>
                <p:nvPr/>
              </p:nvGrpSpPr>
              <p:grpSpPr bwMode="auto">
                <a:xfrm>
                  <a:off x="1485" y="3322"/>
                  <a:ext cx="23" cy="4"/>
                  <a:chOff x="1485" y="3322"/>
                  <a:chExt cx="23" cy="4"/>
                </a:xfrm>
              </p:grpSpPr>
              <p:sp>
                <p:nvSpPr>
                  <p:cNvPr id="6395" name="Arc 251" descr="50%"/>
                  <p:cNvSpPr>
                    <a:spLocks/>
                  </p:cNvSpPr>
                  <p:nvPr/>
                </p:nvSpPr>
                <p:spPr bwMode="auto">
                  <a:xfrm>
                    <a:off x="1489"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6" name="Arc 252" descr="50%"/>
                  <p:cNvSpPr>
                    <a:spLocks/>
                  </p:cNvSpPr>
                  <p:nvPr/>
                </p:nvSpPr>
                <p:spPr bwMode="auto">
                  <a:xfrm>
                    <a:off x="1485"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7" name="Arc 253" descr="50%"/>
                  <p:cNvSpPr>
                    <a:spLocks/>
                  </p:cNvSpPr>
                  <p:nvPr/>
                </p:nvSpPr>
                <p:spPr bwMode="auto">
                  <a:xfrm>
                    <a:off x="1492"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8" name="Arc 254" descr="50%"/>
                  <p:cNvSpPr>
                    <a:spLocks/>
                  </p:cNvSpPr>
                  <p:nvPr/>
                </p:nvSpPr>
                <p:spPr bwMode="auto">
                  <a:xfrm>
                    <a:off x="1496"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9" name="Arc 255" descr="50%"/>
                  <p:cNvSpPr>
                    <a:spLocks/>
                  </p:cNvSpPr>
                  <p:nvPr/>
                </p:nvSpPr>
                <p:spPr bwMode="auto">
                  <a:xfrm>
                    <a:off x="1502"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01" name="Freeform 257" descr="50%"/>
                <p:cNvSpPr>
                  <a:spLocks/>
                </p:cNvSpPr>
                <p:nvPr/>
              </p:nvSpPr>
              <p:spPr bwMode="auto">
                <a:xfrm>
                  <a:off x="1441"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04" name="Group 260"/>
                <p:cNvGrpSpPr>
                  <a:grpSpLocks/>
                </p:cNvGrpSpPr>
                <p:nvPr/>
              </p:nvGrpSpPr>
              <p:grpSpPr bwMode="auto">
                <a:xfrm>
                  <a:off x="1505" y="3324"/>
                  <a:ext cx="47" cy="37"/>
                  <a:chOff x="1505" y="3324"/>
                  <a:chExt cx="47" cy="37"/>
                </a:xfrm>
              </p:grpSpPr>
              <p:sp>
                <p:nvSpPr>
                  <p:cNvPr id="6402" name="Freeform 258" descr="50%"/>
                  <p:cNvSpPr>
                    <a:spLocks/>
                  </p:cNvSpPr>
                  <p:nvPr/>
                </p:nvSpPr>
                <p:spPr bwMode="auto">
                  <a:xfrm>
                    <a:off x="1505"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03" name="Freeform 259" descr="50%"/>
                  <p:cNvSpPr>
                    <a:spLocks/>
                  </p:cNvSpPr>
                  <p:nvPr/>
                </p:nvSpPr>
                <p:spPr bwMode="auto">
                  <a:xfrm>
                    <a:off x="1506"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487" name="Group 343"/>
            <p:cNvGrpSpPr>
              <a:grpSpLocks/>
            </p:cNvGrpSpPr>
            <p:nvPr/>
          </p:nvGrpSpPr>
          <p:grpSpPr bwMode="auto">
            <a:xfrm>
              <a:off x="1789" y="2864"/>
              <a:ext cx="321" cy="497"/>
              <a:chOff x="1789" y="2864"/>
              <a:chExt cx="321" cy="497"/>
            </a:xfrm>
          </p:grpSpPr>
          <p:grpSp>
            <p:nvGrpSpPr>
              <p:cNvPr id="6422" name="Group 278"/>
              <p:cNvGrpSpPr>
                <a:grpSpLocks/>
              </p:cNvGrpSpPr>
              <p:nvPr/>
            </p:nvGrpSpPr>
            <p:grpSpPr bwMode="auto">
              <a:xfrm>
                <a:off x="1789" y="2864"/>
                <a:ext cx="321" cy="113"/>
                <a:chOff x="1789" y="2864"/>
                <a:chExt cx="321" cy="113"/>
              </a:xfrm>
            </p:grpSpPr>
            <p:sp>
              <p:nvSpPr>
                <p:cNvPr id="6407" name="Freeform 263" descr="50%"/>
                <p:cNvSpPr>
                  <a:spLocks/>
                </p:cNvSpPr>
                <p:nvPr/>
              </p:nvSpPr>
              <p:spPr bwMode="auto">
                <a:xfrm>
                  <a:off x="1870"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08" name="Freeform 264" descr="50%"/>
                <p:cNvSpPr>
                  <a:spLocks/>
                </p:cNvSpPr>
                <p:nvPr/>
              </p:nvSpPr>
              <p:spPr bwMode="auto">
                <a:xfrm>
                  <a:off x="1789"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11" name="Group 267"/>
                <p:cNvGrpSpPr>
                  <a:grpSpLocks/>
                </p:cNvGrpSpPr>
                <p:nvPr/>
              </p:nvGrpSpPr>
              <p:grpSpPr bwMode="auto">
                <a:xfrm>
                  <a:off x="1816" y="2926"/>
                  <a:ext cx="2" cy="3"/>
                  <a:chOff x="1816" y="2926"/>
                  <a:chExt cx="2" cy="3"/>
                </a:xfrm>
              </p:grpSpPr>
              <p:sp>
                <p:nvSpPr>
                  <p:cNvPr id="6409" name="Oval 265" descr="50%"/>
                  <p:cNvSpPr>
                    <a:spLocks noChangeArrowheads="1"/>
                  </p:cNvSpPr>
                  <p:nvPr/>
                </p:nvSpPr>
                <p:spPr bwMode="auto">
                  <a:xfrm>
                    <a:off x="1816"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0" name="Arc 266" descr="50%"/>
                  <p:cNvSpPr>
                    <a:spLocks/>
                  </p:cNvSpPr>
                  <p:nvPr/>
                </p:nvSpPr>
                <p:spPr bwMode="auto">
                  <a:xfrm>
                    <a:off x="1817"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17" name="Group 273"/>
                <p:cNvGrpSpPr>
                  <a:grpSpLocks/>
                </p:cNvGrpSpPr>
                <p:nvPr/>
              </p:nvGrpSpPr>
              <p:grpSpPr bwMode="auto">
                <a:xfrm>
                  <a:off x="1833" y="2938"/>
                  <a:ext cx="23" cy="4"/>
                  <a:chOff x="1833" y="2938"/>
                  <a:chExt cx="23" cy="4"/>
                </a:xfrm>
              </p:grpSpPr>
              <p:sp>
                <p:nvSpPr>
                  <p:cNvPr id="6412" name="Arc 268" descr="50%"/>
                  <p:cNvSpPr>
                    <a:spLocks/>
                  </p:cNvSpPr>
                  <p:nvPr/>
                </p:nvSpPr>
                <p:spPr bwMode="auto">
                  <a:xfrm>
                    <a:off x="183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3" name="Arc 269" descr="50%"/>
                  <p:cNvSpPr>
                    <a:spLocks/>
                  </p:cNvSpPr>
                  <p:nvPr/>
                </p:nvSpPr>
                <p:spPr bwMode="auto">
                  <a:xfrm>
                    <a:off x="1833"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4" name="Arc 270" descr="50%"/>
                  <p:cNvSpPr>
                    <a:spLocks/>
                  </p:cNvSpPr>
                  <p:nvPr/>
                </p:nvSpPr>
                <p:spPr bwMode="auto">
                  <a:xfrm>
                    <a:off x="1840"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5" name="Arc 271" descr="50%"/>
                  <p:cNvSpPr>
                    <a:spLocks/>
                  </p:cNvSpPr>
                  <p:nvPr/>
                </p:nvSpPr>
                <p:spPr bwMode="auto">
                  <a:xfrm>
                    <a:off x="184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6" name="Arc 272" descr="50%"/>
                  <p:cNvSpPr>
                    <a:spLocks/>
                  </p:cNvSpPr>
                  <p:nvPr/>
                </p:nvSpPr>
                <p:spPr bwMode="auto">
                  <a:xfrm>
                    <a:off x="1850"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18" name="Freeform 274" descr="50%"/>
                <p:cNvSpPr>
                  <a:spLocks/>
                </p:cNvSpPr>
                <p:nvPr/>
              </p:nvSpPr>
              <p:spPr bwMode="auto">
                <a:xfrm>
                  <a:off x="1789"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21" name="Group 277"/>
                <p:cNvGrpSpPr>
                  <a:grpSpLocks/>
                </p:cNvGrpSpPr>
                <p:nvPr/>
              </p:nvGrpSpPr>
              <p:grpSpPr bwMode="auto">
                <a:xfrm>
                  <a:off x="1853" y="2940"/>
                  <a:ext cx="47" cy="37"/>
                  <a:chOff x="1853" y="2940"/>
                  <a:chExt cx="47" cy="37"/>
                </a:xfrm>
              </p:grpSpPr>
              <p:sp>
                <p:nvSpPr>
                  <p:cNvPr id="6419" name="Freeform 275" descr="50%"/>
                  <p:cNvSpPr>
                    <a:spLocks/>
                  </p:cNvSpPr>
                  <p:nvPr/>
                </p:nvSpPr>
                <p:spPr bwMode="auto">
                  <a:xfrm>
                    <a:off x="1853"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20" name="Freeform 276" descr="50%"/>
                  <p:cNvSpPr>
                    <a:spLocks/>
                  </p:cNvSpPr>
                  <p:nvPr/>
                </p:nvSpPr>
                <p:spPr bwMode="auto">
                  <a:xfrm>
                    <a:off x="1854"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38" name="Group 294"/>
              <p:cNvGrpSpPr>
                <a:grpSpLocks/>
              </p:cNvGrpSpPr>
              <p:nvPr/>
            </p:nvGrpSpPr>
            <p:grpSpPr bwMode="auto">
              <a:xfrm>
                <a:off x="1789" y="2960"/>
                <a:ext cx="321" cy="113"/>
                <a:chOff x="1789" y="2960"/>
                <a:chExt cx="321" cy="113"/>
              </a:xfrm>
            </p:grpSpPr>
            <p:sp>
              <p:nvSpPr>
                <p:cNvPr id="6423" name="Freeform 279" descr="50%"/>
                <p:cNvSpPr>
                  <a:spLocks/>
                </p:cNvSpPr>
                <p:nvPr/>
              </p:nvSpPr>
              <p:spPr bwMode="auto">
                <a:xfrm>
                  <a:off x="1870"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24" name="Freeform 280" descr="50%"/>
                <p:cNvSpPr>
                  <a:spLocks/>
                </p:cNvSpPr>
                <p:nvPr/>
              </p:nvSpPr>
              <p:spPr bwMode="auto">
                <a:xfrm>
                  <a:off x="1789"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27" name="Group 283"/>
                <p:cNvGrpSpPr>
                  <a:grpSpLocks/>
                </p:cNvGrpSpPr>
                <p:nvPr/>
              </p:nvGrpSpPr>
              <p:grpSpPr bwMode="auto">
                <a:xfrm>
                  <a:off x="1816" y="3022"/>
                  <a:ext cx="2" cy="3"/>
                  <a:chOff x="1816" y="3022"/>
                  <a:chExt cx="2" cy="3"/>
                </a:xfrm>
              </p:grpSpPr>
              <p:sp>
                <p:nvSpPr>
                  <p:cNvPr id="6425" name="Oval 281" descr="50%"/>
                  <p:cNvSpPr>
                    <a:spLocks noChangeArrowheads="1"/>
                  </p:cNvSpPr>
                  <p:nvPr/>
                </p:nvSpPr>
                <p:spPr bwMode="auto">
                  <a:xfrm>
                    <a:off x="1816"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26" name="Arc 282" descr="50%"/>
                  <p:cNvSpPr>
                    <a:spLocks/>
                  </p:cNvSpPr>
                  <p:nvPr/>
                </p:nvSpPr>
                <p:spPr bwMode="auto">
                  <a:xfrm>
                    <a:off x="1817"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33" name="Group 289"/>
                <p:cNvGrpSpPr>
                  <a:grpSpLocks/>
                </p:cNvGrpSpPr>
                <p:nvPr/>
              </p:nvGrpSpPr>
              <p:grpSpPr bwMode="auto">
                <a:xfrm>
                  <a:off x="1833" y="3034"/>
                  <a:ext cx="23" cy="4"/>
                  <a:chOff x="1833" y="3034"/>
                  <a:chExt cx="23" cy="4"/>
                </a:xfrm>
              </p:grpSpPr>
              <p:sp>
                <p:nvSpPr>
                  <p:cNvPr id="6428" name="Arc 284" descr="50%"/>
                  <p:cNvSpPr>
                    <a:spLocks/>
                  </p:cNvSpPr>
                  <p:nvPr/>
                </p:nvSpPr>
                <p:spPr bwMode="auto">
                  <a:xfrm>
                    <a:off x="183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29" name="Arc 285" descr="50%"/>
                  <p:cNvSpPr>
                    <a:spLocks/>
                  </p:cNvSpPr>
                  <p:nvPr/>
                </p:nvSpPr>
                <p:spPr bwMode="auto">
                  <a:xfrm>
                    <a:off x="1833"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30" name="Arc 286" descr="50%"/>
                  <p:cNvSpPr>
                    <a:spLocks/>
                  </p:cNvSpPr>
                  <p:nvPr/>
                </p:nvSpPr>
                <p:spPr bwMode="auto">
                  <a:xfrm>
                    <a:off x="1840"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31" name="Arc 287" descr="50%"/>
                  <p:cNvSpPr>
                    <a:spLocks/>
                  </p:cNvSpPr>
                  <p:nvPr/>
                </p:nvSpPr>
                <p:spPr bwMode="auto">
                  <a:xfrm>
                    <a:off x="184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32" name="Arc 288" descr="50%"/>
                  <p:cNvSpPr>
                    <a:spLocks/>
                  </p:cNvSpPr>
                  <p:nvPr/>
                </p:nvSpPr>
                <p:spPr bwMode="auto">
                  <a:xfrm>
                    <a:off x="1850"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34" name="Freeform 290" descr="50%"/>
                <p:cNvSpPr>
                  <a:spLocks/>
                </p:cNvSpPr>
                <p:nvPr/>
              </p:nvSpPr>
              <p:spPr bwMode="auto">
                <a:xfrm>
                  <a:off x="1789"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37" name="Group 293"/>
                <p:cNvGrpSpPr>
                  <a:grpSpLocks/>
                </p:cNvGrpSpPr>
                <p:nvPr/>
              </p:nvGrpSpPr>
              <p:grpSpPr bwMode="auto">
                <a:xfrm>
                  <a:off x="1853" y="3036"/>
                  <a:ext cx="47" cy="37"/>
                  <a:chOff x="1853" y="3036"/>
                  <a:chExt cx="47" cy="37"/>
                </a:xfrm>
              </p:grpSpPr>
              <p:sp>
                <p:nvSpPr>
                  <p:cNvPr id="6435" name="Freeform 291" descr="50%"/>
                  <p:cNvSpPr>
                    <a:spLocks/>
                  </p:cNvSpPr>
                  <p:nvPr/>
                </p:nvSpPr>
                <p:spPr bwMode="auto">
                  <a:xfrm>
                    <a:off x="1853"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36" name="Freeform 292" descr="50%"/>
                  <p:cNvSpPr>
                    <a:spLocks/>
                  </p:cNvSpPr>
                  <p:nvPr/>
                </p:nvSpPr>
                <p:spPr bwMode="auto">
                  <a:xfrm>
                    <a:off x="1854"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54" name="Group 310"/>
              <p:cNvGrpSpPr>
                <a:grpSpLocks/>
              </p:cNvGrpSpPr>
              <p:nvPr/>
            </p:nvGrpSpPr>
            <p:grpSpPr bwMode="auto">
              <a:xfrm>
                <a:off x="1789" y="3056"/>
                <a:ext cx="321" cy="113"/>
                <a:chOff x="1789" y="3056"/>
                <a:chExt cx="321" cy="113"/>
              </a:xfrm>
            </p:grpSpPr>
            <p:sp>
              <p:nvSpPr>
                <p:cNvPr id="6439" name="Freeform 295" descr="50%"/>
                <p:cNvSpPr>
                  <a:spLocks/>
                </p:cNvSpPr>
                <p:nvPr/>
              </p:nvSpPr>
              <p:spPr bwMode="auto">
                <a:xfrm>
                  <a:off x="1870"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40" name="Freeform 296" descr="50%"/>
                <p:cNvSpPr>
                  <a:spLocks/>
                </p:cNvSpPr>
                <p:nvPr/>
              </p:nvSpPr>
              <p:spPr bwMode="auto">
                <a:xfrm>
                  <a:off x="1789"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43" name="Group 299"/>
                <p:cNvGrpSpPr>
                  <a:grpSpLocks/>
                </p:cNvGrpSpPr>
                <p:nvPr/>
              </p:nvGrpSpPr>
              <p:grpSpPr bwMode="auto">
                <a:xfrm>
                  <a:off x="1816" y="3118"/>
                  <a:ext cx="2" cy="3"/>
                  <a:chOff x="1816" y="3118"/>
                  <a:chExt cx="2" cy="3"/>
                </a:xfrm>
              </p:grpSpPr>
              <p:sp>
                <p:nvSpPr>
                  <p:cNvPr id="6441" name="Oval 297" descr="50%"/>
                  <p:cNvSpPr>
                    <a:spLocks noChangeArrowheads="1"/>
                  </p:cNvSpPr>
                  <p:nvPr/>
                </p:nvSpPr>
                <p:spPr bwMode="auto">
                  <a:xfrm>
                    <a:off x="1816"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2" name="Arc 298" descr="50%"/>
                  <p:cNvSpPr>
                    <a:spLocks/>
                  </p:cNvSpPr>
                  <p:nvPr/>
                </p:nvSpPr>
                <p:spPr bwMode="auto">
                  <a:xfrm>
                    <a:off x="1817"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49" name="Group 305"/>
                <p:cNvGrpSpPr>
                  <a:grpSpLocks/>
                </p:cNvGrpSpPr>
                <p:nvPr/>
              </p:nvGrpSpPr>
              <p:grpSpPr bwMode="auto">
                <a:xfrm>
                  <a:off x="1833" y="3130"/>
                  <a:ext cx="23" cy="4"/>
                  <a:chOff x="1833" y="3130"/>
                  <a:chExt cx="23" cy="4"/>
                </a:xfrm>
              </p:grpSpPr>
              <p:sp>
                <p:nvSpPr>
                  <p:cNvPr id="6444" name="Arc 300" descr="50%"/>
                  <p:cNvSpPr>
                    <a:spLocks/>
                  </p:cNvSpPr>
                  <p:nvPr/>
                </p:nvSpPr>
                <p:spPr bwMode="auto">
                  <a:xfrm>
                    <a:off x="183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5" name="Arc 301" descr="50%"/>
                  <p:cNvSpPr>
                    <a:spLocks/>
                  </p:cNvSpPr>
                  <p:nvPr/>
                </p:nvSpPr>
                <p:spPr bwMode="auto">
                  <a:xfrm>
                    <a:off x="1833"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6" name="Arc 302" descr="50%"/>
                  <p:cNvSpPr>
                    <a:spLocks/>
                  </p:cNvSpPr>
                  <p:nvPr/>
                </p:nvSpPr>
                <p:spPr bwMode="auto">
                  <a:xfrm>
                    <a:off x="1840"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7" name="Arc 303" descr="50%"/>
                  <p:cNvSpPr>
                    <a:spLocks/>
                  </p:cNvSpPr>
                  <p:nvPr/>
                </p:nvSpPr>
                <p:spPr bwMode="auto">
                  <a:xfrm>
                    <a:off x="184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8" name="Arc 304" descr="50%"/>
                  <p:cNvSpPr>
                    <a:spLocks/>
                  </p:cNvSpPr>
                  <p:nvPr/>
                </p:nvSpPr>
                <p:spPr bwMode="auto">
                  <a:xfrm>
                    <a:off x="1850"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50" name="Freeform 306" descr="50%"/>
                <p:cNvSpPr>
                  <a:spLocks/>
                </p:cNvSpPr>
                <p:nvPr/>
              </p:nvSpPr>
              <p:spPr bwMode="auto">
                <a:xfrm>
                  <a:off x="1789"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53" name="Group 309"/>
                <p:cNvGrpSpPr>
                  <a:grpSpLocks/>
                </p:cNvGrpSpPr>
                <p:nvPr/>
              </p:nvGrpSpPr>
              <p:grpSpPr bwMode="auto">
                <a:xfrm>
                  <a:off x="1853" y="3132"/>
                  <a:ext cx="47" cy="37"/>
                  <a:chOff x="1853" y="3132"/>
                  <a:chExt cx="47" cy="37"/>
                </a:xfrm>
              </p:grpSpPr>
              <p:sp>
                <p:nvSpPr>
                  <p:cNvPr id="6451" name="Freeform 307" descr="50%"/>
                  <p:cNvSpPr>
                    <a:spLocks/>
                  </p:cNvSpPr>
                  <p:nvPr/>
                </p:nvSpPr>
                <p:spPr bwMode="auto">
                  <a:xfrm>
                    <a:off x="1853"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 name="Freeform 308" descr="50%"/>
                  <p:cNvSpPr>
                    <a:spLocks/>
                  </p:cNvSpPr>
                  <p:nvPr/>
                </p:nvSpPr>
                <p:spPr bwMode="auto">
                  <a:xfrm>
                    <a:off x="1854"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70" name="Group 326"/>
              <p:cNvGrpSpPr>
                <a:grpSpLocks/>
              </p:cNvGrpSpPr>
              <p:nvPr/>
            </p:nvGrpSpPr>
            <p:grpSpPr bwMode="auto">
              <a:xfrm>
                <a:off x="1789" y="3152"/>
                <a:ext cx="321" cy="113"/>
                <a:chOff x="1789" y="3152"/>
                <a:chExt cx="321" cy="113"/>
              </a:xfrm>
            </p:grpSpPr>
            <p:sp>
              <p:nvSpPr>
                <p:cNvPr id="6455" name="Freeform 311" descr="50%"/>
                <p:cNvSpPr>
                  <a:spLocks/>
                </p:cNvSpPr>
                <p:nvPr/>
              </p:nvSpPr>
              <p:spPr bwMode="auto">
                <a:xfrm>
                  <a:off x="1870"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 name="Freeform 312" descr="50%"/>
                <p:cNvSpPr>
                  <a:spLocks/>
                </p:cNvSpPr>
                <p:nvPr/>
              </p:nvSpPr>
              <p:spPr bwMode="auto">
                <a:xfrm>
                  <a:off x="1789"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59" name="Group 315"/>
                <p:cNvGrpSpPr>
                  <a:grpSpLocks/>
                </p:cNvGrpSpPr>
                <p:nvPr/>
              </p:nvGrpSpPr>
              <p:grpSpPr bwMode="auto">
                <a:xfrm>
                  <a:off x="1816" y="3214"/>
                  <a:ext cx="2" cy="3"/>
                  <a:chOff x="1816" y="3214"/>
                  <a:chExt cx="2" cy="3"/>
                </a:xfrm>
              </p:grpSpPr>
              <p:sp>
                <p:nvSpPr>
                  <p:cNvPr id="6457" name="Oval 313" descr="50%"/>
                  <p:cNvSpPr>
                    <a:spLocks noChangeArrowheads="1"/>
                  </p:cNvSpPr>
                  <p:nvPr/>
                </p:nvSpPr>
                <p:spPr bwMode="auto">
                  <a:xfrm>
                    <a:off x="1816"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8" name="Arc 314" descr="50%"/>
                  <p:cNvSpPr>
                    <a:spLocks/>
                  </p:cNvSpPr>
                  <p:nvPr/>
                </p:nvSpPr>
                <p:spPr bwMode="auto">
                  <a:xfrm>
                    <a:off x="1817"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65" name="Group 321"/>
                <p:cNvGrpSpPr>
                  <a:grpSpLocks/>
                </p:cNvGrpSpPr>
                <p:nvPr/>
              </p:nvGrpSpPr>
              <p:grpSpPr bwMode="auto">
                <a:xfrm>
                  <a:off x="1833" y="3226"/>
                  <a:ext cx="23" cy="4"/>
                  <a:chOff x="1833" y="3226"/>
                  <a:chExt cx="23" cy="4"/>
                </a:xfrm>
              </p:grpSpPr>
              <p:sp>
                <p:nvSpPr>
                  <p:cNvPr id="6460" name="Arc 316" descr="50%"/>
                  <p:cNvSpPr>
                    <a:spLocks/>
                  </p:cNvSpPr>
                  <p:nvPr/>
                </p:nvSpPr>
                <p:spPr bwMode="auto">
                  <a:xfrm>
                    <a:off x="183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1" name="Arc 317" descr="50%"/>
                  <p:cNvSpPr>
                    <a:spLocks/>
                  </p:cNvSpPr>
                  <p:nvPr/>
                </p:nvSpPr>
                <p:spPr bwMode="auto">
                  <a:xfrm>
                    <a:off x="1833"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2" name="Arc 318" descr="50%"/>
                  <p:cNvSpPr>
                    <a:spLocks/>
                  </p:cNvSpPr>
                  <p:nvPr/>
                </p:nvSpPr>
                <p:spPr bwMode="auto">
                  <a:xfrm>
                    <a:off x="1840"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3" name="Arc 319" descr="50%"/>
                  <p:cNvSpPr>
                    <a:spLocks/>
                  </p:cNvSpPr>
                  <p:nvPr/>
                </p:nvSpPr>
                <p:spPr bwMode="auto">
                  <a:xfrm>
                    <a:off x="184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4" name="Arc 320" descr="50%"/>
                  <p:cNvSpPr>
                    <a:spLocks/>
                  </p:cNvSpPr>
                  <p:nvPr/>
                </p:nvSpPr>
                <p:spPr bwMode="auto">
                  <a:xfrm>
                    <a:off x="1850"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66" name="Freeform 322" descr="50%"/>
                <p:cNvSpPr>
                  <a:spLocks/>
                </p:cNvSpPr>
                <p:nvPr/>
              </p:nvSpPr>
              <p:spPr bwMode="auto">
                <a:xfrm>
                  <a:off x="1789"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69" name="Group 325"/>
                <p:cNvGrpSpPr>
                  <a:grpSpLocks/>
                </p:cNvGrpSpPr>
                <p:nvPr/>
              </p:nvGrpSpPr>
              <p:grpSpPr bwMode="auto">
                <a:xfrm>
                  <a:off x="1853" y="3228"/>
                  <a:ext cx="47" cy="37"/>
                  <a:chOff x="1853" y="3228"/>
                  <a:chExt cx="47" cy="37"/>
                </a:xfrm>
              </p:grpSpPr>
              <p:sp>
                <p:nvSpPr>
                  <p:cNvPr id="6467" name="Freeform 323" descr="50%"/>
                  <p:cNvSpPr>
                    <a:spLocks/>
                  </p:cNvSpPr>
                  <p:nvPr/>
                </p:nvSpPr>
                <p:spPr bwMode="auto">
                  <a:xfrm>
                    <a:off x="1853"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8" name="Freeform 324" descr="50%"/>
                  <p:cNvSpPr>
                    <a:spLocks/>
                  </p:cNvSpPr>
                  <p:nvPr/>
                </p:nvSpPr>
                <p:spPr bwMode="auto">
                  <a:xfrm>
                    <a:off x="1854"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86" name="Group 342"/>
              <p:cNvGrpSpPr>
                <a:grpSpLocks/>
              </p:cNvGrpSpPr>
              <p:nvPr/>
            </p:nvGrpSpPr>
            <p:grpSpPr bwMode="auto">
              <a:xfrm>
                <a:off x="1789" y="3248"/>
                <a:ext cx="321" cy="113"/>
                <a:chOff x="1789" y="3248"/>
                <a:chExt cx="321" cy="113"/>
              </a:xfrm>
            </p:grpSpPr>
            <p:sp>
              <p:nvSpPr>
                <p:cNvPr id="6471" name="Freeform 327" descr="50%"/>
                <p:cNvSpPr>
                  <a:spLocks/>
                </p:cNvSpPr>
                <p:nvPr/>
              </p:nvSpPr>
              <p:spPr bwMode="auto">
                <a:xfrm>
                  <a:off x="1870"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2" name="Freeform 328" descr="50%"/>
                <p:cNvSpPr>
                  <a:spLocks/>
                </p:cNvSpPr>
                <p:nvPr/>
              </p:nvSpPr>
              <p:spPr bwMode="auto">
                <a:xfrm>
                  <a:off x="1789"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75" name="Group 331"/>
                <p:cNvGrpSpPr>
                  <a:grpSpLocks/>
                </p:cNvGrpSpPr>
                <p:nvPr/>
              </p:nvGrpSpPr>
              <p:grpSpPr bwMode="auto">
                <a:xfrm>
                  <a:off x="1816" y="3310"/>
                  <a:ext cx="2" cy="3"/>
                  <a:chOff x="1816" y="3310"/>
                  <a:chExt cx="2" cy="3"/>
                </a:xfrm>
              </p:grpSpPr>
              <p:sp>
                <p:nvSpPr>
                  <p:cNvPr id="6473" name="Oval 329" descr="50%"/>
                  <p:cNvSpPr>
                    <a:spLocks noChangeArrowheads="1"/>
                  </p:cNvSpPr>
                  <p:nvPr/>
                </p:nvSpPr>
                <p:spPr bwMode="auto">
                  <a:xfrm>
                    <a:off x="1816"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4" name="Arc 330" descr="50%"/>
                  <p:cNvSpPr>
                    <a:spLocks/>
                  </p:cNvSpPr>
                  <p:nvPr/>
                </p:nvSpPr>
                <p:spPr bwMode="auto">
                  <a:xfrm>
                    <a:off x="1817"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81" name="Group 337"/>
                <p:cNvGrpSpPr>
                  <a:grpSpLocks/>
                </p:cNvGrpSpPr>
                <p:nvPr/>
              </p:nvGrpSpPr>
              <p:grpSpPr bwMode="auto">
                <a:xfrm>
                  <a:off x="1833" y="3322"/>
                  <a:ext cx="23" cy="4"/>
                  <a:chOff x="1833" y="3322"/>
                  <a:chExt cx="23" cy="4"/>
                </a:xfrm>
              </p:grpSpPr>
              <p:sp>
                <p:nvSpPr>
                  <p:cNvPr id="6476" name="Arc 332" descr="50%"/>
                  <p:cNvSpPr>
                    <a:spLocks/>
                  </p:cNvSpPr>
                  <p:nvPr/>
                </p:nvSpPr>
                <p:spPr bwMode="auto">
                  <a:xfrm>
                    <a:off x="183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7" name="Arc 333" descr="50%"/>
                  <p:cNvSpPr>
                    <a:spLocks/>
                  </p:cNvSpPr>
                  <p:nvPr/>
                </p:nvSpPr>
                <p:spPr bwMode="auto">
                  <a:xfrm>
                    <a:off x="1833"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8" name="Arc 334" descr="50%"/>
                  <p:cNvSpPr>
                    <a:spLocks/>
                  </p:cNvSpPr>
                  <p:nvPr/>
                </p:nvSpPr>
                <p:spPr bwMode="auto">
                  <a:xfrm>
                    <a:off x="1840"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9" name="Arc 335" descr="50%"/>
                  <p:cNvSpPr>
                    <a:spLocks/>
                  </p:cNvSpPr>
                  <p:nvPr/>
                </p:nvSpPr>
                <p:spPr bwMode="auto">
                  <a:xfrm>
                    <a:off x="184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80" name="Arc 336" descr="50%"/>
                  <p:cNvSpPr>
                    <a:spLocks/>
                  </p:cNvSpPr>
                  <p:nvPr/>
                </p:nvSpPr>
                <p:spPr bwMode="auto">
                  <a:xfrm>
                    <a:off x="1850"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82" name="Freeform 338" descr="50%"/>
                <p:cNvSpPr>
                  <a:spLocks/>
                </p:cNvSpPr>
                <p:nvPr/>
              </p:nvSpPr>
              <p:spPr bwMode="auto">
                <a:xfrm>
                  <a:off x="1789"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85" name="Group 341"/>
                <p:cNvGrpSpPr>
                  <a:grpSpLocks/>
                </p:cNvGrpSpPr>
                <p:nvPr/>
              </p:nvGrpSpPr>
              <p:grpSpPr bwMode="auto">
                <a:xfrm>
                  <a:off x="1853" y="3324"/>
                  <a:ext cx="47" cy="37"/>
                  <a:chOff x="1853" y="3324"/>
                  <a:chExt cx="47" cy="37"/>
                </a:xfrm>
              </p:grpSpPr>
              <p:sp>
                <p:nvSpPr>
                  <p:cNvPr id="6483" name="Freeform 339" descr="50%"/>
                  <p:cNvSpPr>
                    <a:spLocks/>
                  </p:cNvSpPr>
                  <p:nvPr/>
                </p:nvSpPr>
                <p:spPr bwMode="auto">
                  <a:xfrm>
                    <a:off x="1853"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84" name="Freeform 340" descr="50%"/>
                  <p:cNvSpPr>
                    <a:spLocks/>
                  </p:cNvSpPr>
                  <p:nvPr/>
                </p:nvSpPr>
                <p:spPr bwMode="auto">
                  <a:xfrm>
                    <a:off x="1854"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568" name="Group 424"/>
            <p:cNvGrpSpPr>
              <a:grpSpLocks/>
            </p:cNvGrpSpPr>
            <p:nvPr/>
          </p:nvGrpSpPr>
          <p:grpSpPr bwMode="auto">
            <a:xfrm>
              <a:off x="2137" y="2864"/>
              <a:ext cx="321" cy="497"/>
              <a:chOff x="2137" y="2864"/>
              <a:chExt cx="321" cy="497"/>
            </a:xfrm>
          </p:grpSpPr>
          <p:grpSp>
            <p:nvGrpSpPr>
              <p:cNvPr id="6503" name="Group 359"/>
              <p:cNvGrpSpPr>
                <a:grpSpLocks/>
              </p:cNvGrpSpPr>
              <p:nvPr/>
            </p:nvGrpSpPr>
            <p:grpSpPr bwMode="auto">
              <a:xfrm>
                <a:off x="2137" y="2864"/>
                <a:ext cx="321" cy="113"/>
                <a:chOff x="2137" y="2864"/>
                <a:chExt cx="321" cy="113"/>
              </a:xfrm>
            </p:grpSpPr>
            <p:sp>
              <p:nvSpPr>
                <p:cNvPr id="6488" name="Freeform 344" descr="50%"/>
                <p:cNvSpPr>
                  <a:spLocks/>
                </p:cNvSpPr>
                <p:nvPr/>
              </p:nvSpPr>
              <p:spPr bwMode="auto">
                <a:xfrm>
                  <a:off x="2218"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89" name="Freeform 345" descr="50%"/>
                <p:cNvSpPr>
                  <a:spLocks/>
                </p:cNvSpPr>
                <p:nvPr/>
              </p:nvSpPr>
              <p:spPr bwMode="auto">
                <a:xfrm>
                  <a:off x="2137"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92" name="Group 348"/>
                <p:cNvGrpSpPr>
                  <a:grpSpLocks/>
                </p:cNvGrpSpPr>
                <p:nvPr/>
              </p:nvGrpSpPr>
              <p:grpSpPr bwMode="auto">
                <a:xfrm>
                  <a:off x="2164" y="2926"/>
                  <a:ext cx="2" cy="3"/>
                  <a:chOff x="2164" y="2926"/>
                  <a:chExt cx="2" cy="3"/>
                </a:xfrm>
              </p:grpSpPr>
              <p:sp>
                <p:nvSpPr>
                  <p:cNvPr id="6490" name="Oval 346" descr="50%"/>
                  <p:cNvSpPr>
                    <a:spLocks noChangeArrowheads="1"/>
                  </p:cNvSpPr>
                  <p:nvPr/>
                </p:nvSpPr>
                <p:spPr bwMode="auto">
                  <a:xfrm>
                    <a:off x="2164"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1" name="Arc 347" descr="50%"/>
                  <p:cNvSpPr>
                    <a:spLocks/>
                  </p:cNvSpPr>
                  <p:nvPr/>
                </p:nvSpPr>
                <p:spPr bwMode="auto">
                  <a:xfrm>
                    <a:off x="2165"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98" name="Group 354"/>
                <p:cNvGrpSpPr>
                  <a:grpSpLocks/>
                </p:cNvGrpSpPr>
                <p:nvPr/>
              </p:nvGrpSpPr>
              <p:grpSpPr bwMode="auto">
                <a:xfrm>
                  <a:off x="2181" y="2938"/>
                  <a:ext cx="23" cy="4"/>
                  <a:chOff x="2181" y="2938"/>
                  <a:chExt cx="23" cy="4"/>
                </a:xfrm>
              </p:grpSpPr>
              <p:sp>
                <p:nvSpPr>
                  <p:cNvPr id="6493" name="Arc 349" descr="50%"/>
                  <p:cNvSpPr>
                    <a:spLocks/>
                  </p:cNvSpPr>
                  <p:nvPr/>
                </p:nvSpPr>
                <p:spPr bwMode="auto">
                  <a:xfrm>
                    <a:off x="2185"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4" name="Arc 350" descr="50%"/>
                  <p:cNvSpPr>
                    <a:spLocks/>
                  </p:cNvSpPr>
                  <p:nvPr/>
                </p:nvSpPr>
                <p:spPr bwMode="auto">
                  <a:xfrm>
                    <a:off x="2181"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5" name="Arc 351" descr="50%"/>
                  <p:cNvSpPr>
                    <a:spLocks/>
                  </p:cNvSpPr>
                  <p:nvPr/>
                </p:nvSpPr>
                <p:spPr bwMode="auto">
                  <a:xfrm>
                    <a:off x="2188"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6" name="Arc 352" descr="50%"/>
                  <p:cNvSpPr>
                    <a:spLocks/>
                  </p:cNvSpPr>
                  <p:nvPr/>
                </p:nvSpPr>
                <p:spPr bwMode="auto">
                  <a:xfrm>
                    <a:off x="2192"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7" name="Arc 353" descr="50%"/>
                  <p:cNvSpPr>
                    <a:spLocks/>
                  </p:cNvSpPr>
                  <p:nvPr/>
                </p:nvSpPr>
                <p:spPr bwMode="auto">
                  <a:xfrm>
                    <a:off x="2198"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99" name="Freeform 355" descr="50%"/>
                <p:cNvSpPr>
                  <a:spLocks/>
                </p:cNvSpPr>
                <p:nvPr/>
              </p:nvSpPr>
              <p:spPr bwMode="auto">
                <a:xfrm>
                  <a:off x="2137"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02" name="Group 358"/>
                <p:cNvGrpSpPr>
                  <a:grpSpLocks/>
                </p:cNvGrpSpPr>
                <p:nvPr/>
              </p:nvGrpSpPr>
              <p:grpSpPr bwMode="auto">
                <a:xfrm>
                  <a:off x="2201" y="2940"/>
                  <a:ext cx="47" cy="37"/>
                  <a:chOff x="2201" y="2940"/>
                  <a:chExt cx="47" cy="37"/>
                </a:xfrm>
              </p:grpSpPr>
              <p:sp>
                <p:nvSpPr>
                  <p:cNvPr id="6500" name="Freeform 356" descr="50%"/>
                  <p:cNvSpPr>
                    <a:spLocks/>
                  </p:cNvSpPr>
                  <p:nvPr/>
                </p:nvSpPr>
                <p:spPr bwMode="auto">
                  <a:xfrm>
                    <a:off x="2201"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01" name="Freeform 357" descr="50%"/>
                  <p:cNvSpPr>
                    <a:spLocks/>
                  </p:cNvSpPr>
                  <p:nvPr/>
                </p:nvSpPr>
                <p:spPr bwMode="auto">
                  <a:xfrm>
                    <a:off x="2202"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19" name="Group 375"/>
              <p:cNvGrpSpPr>
                <a:grpSpLocks/>
              </p:cNvGrpSpPr>
              <p:nvPr/>
            </p:nvGrpSpPr>
            <p:grpSpPr bwMode="auto">
              <a:xfrm>
                <a:off x="2137" y="2960"/>
                <a:ext cx="321" cy="113"/>
                <a:chOff x="2137" y="2960"/>
                <a:chExt cx="321" cy="113"/>
              </a:xfrm>
            </p:grpSpPr>
            <p:sp>
              <p:nvSpPr>
                <p:cNvPr id="6504" name="Freeform 360" descr="50%"/>
                <p:cNvSpPr>
                  <a:spLocks/>
                </p:cNvSpPr>
                <p:nvPr/>
              </p:nvSpPr>
              <p:spPr bwMode="auto">
                <a:xfrm>
                  <a:off x="2218"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05" name="Freeform 361" descr="50%"/>
                <p:cNvSpPr>
                  <a:spLocks/>
                </p:cNvSpPr>
                <p:nvPr/>
              </p:nvSpPr>
              <p:spPr bwMode="auto">
                <a:xfrm>
                  <a:off x="2137"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08" name="Group 364"/>
                <p:cNvGrpSpPr>
                  <a:grpSpLocks/>
                </p:cNvGrpSpPr>
                <p:nvPr/>
              </p:nvGrpSpPr>
              <p:grpSpPr bwMode="auto">
                <a:xfrm>
                  <a:off x="2164" y="3022"/>
                  <a:ext cx="2" cy="3"/>
                  <a:chOff x="2164" y="3022"/>
                  <a:chExt cx="2" cy="3"/>
                </a:xfrm>
              </p:grpSpPr>
              <p:sp>
                <p:nvSpPr>
                  <p:cNvPr id="6506" name="Oval 362" descr="50%"/>
                  <p:cNvSpPr>
                    <a:spLocks noChangeArrowheads="1"/>
                  </p:cNvSpPr>
                  <p:nvPr/>
                </p:nvSpPr>
                <p:spPr bwMode="auto">
                  <a:xfrm>
                    <a:off x="2164"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07" name="Arc 363" descr="50%"/>
                  <p:cNvSpPr>
                    <a:spLocks/>
                  </p:cNvSpPr>
                  <p:nvPr/>
                </p:nvSpPr>
                <p:spPr bwMode="auto">
                  <a:xfrm>
                    <a:off x="2165"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14" name="Group 370"/>
                <p:cNvGrpSpPr>
                  <a:grpSpLocks/>
                </p:cNvGrpSpPr>
                <p:nvPr/>
              </p:nvGrpSpPr>
              <p:grpSpPr bwMode="auto">
                <a:xfrm>
                  <a:off x="2181" y="3034"/>
                  <a:ext cx="23" cy="4"/>
                  <a:chOff x="2181" y="3034"/>
                  <a:chExt cx="23" cy="4"/>
                </a:xfrm>
              </p:grpSpPr>
              <p:sp>
                <p:nvSpPr>
                  <p:cNvPr id="6509" name="Arc 365" descr="50%"/>
                  <p:cNvSpPr>
                    <a:spLocks/>
                  </p:cNvSpPr>
                  <p:nvPr/>
                </p:nvSpPr>
                <p:spPr bwMode="auto">
                  <a:xfrm>
                    <a:off x="2185"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0" name="Arc 366" descr="50%"/>
                  <p:cNvSpPr>
                    <a:spLocks/>
                  </p:cNvSpPr>
                  <p:nvPr/>
                </p:nvSpPr>
                <p:spPr bwMode="auto">
                  <a:xfrm>
                    <a:off x="2181"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1" name="Arc 367" descr="50%"/>
                  <p:cNvSpPr>
                    <a:spLocks/>
                  </p:cNvSpPr>
                  <p:nvPr/>
                </p:nvSpPr>
                <p:spPr bwMode="auto">
                  <a:xfrm>
                    <a:off x="2188"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2" name="Arc 368" descr="50%"/>
                  <p:cNvSpPr>
                    <a:spLocks/>
                  </p:cNvSpPr>
                  <p:nvPr/>
                </p:nvSpPr>
                <p:spPr bwMode="auto">
                  <a:xfrm>
                    <a:off x="2192"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3" name="Arc 369" descr="50%"/>
                  <p:cNvSpPr>
                    <a:spLocks/>
                  </p:cNvSpPr>
                  <p:nvPr/>
                </p:nvSpPr>
                <p:spPr bwMode="auto">
                  <a:xfrm>
                    <a:off x="2198"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15" name="Freeform 371" descr="50%"/>
                <p:cNvSpPr>
                  <a:spLocks/>
                </p:cNvSpPr>
                <p:nvPr/>
              </p:nvSpPr>
              <p:spPr bwMode="auto">
                <a:xfrm>
                  <a:off x="2137"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18" name="Group 374"/>
                <p:cNvGrpSpPr>
                  <a:grpSpLocks/>
                </p:cNvGrpSpPr>
                <p:nvPr/>
              </p:nvGrpSpPr>
              <p:grpSpPr bwMode="auto">
                <a:xfrm>
                  <a:off x="2201" y="3036"/>
                  <a:ext cx="47" cy="37"/>
                  <a:chOff x="2201" y="3036"/>
                  <a:chExt cx="47" cy="37"/>
                </a:xfrm>
              </p:grpSpPr>
              <p:sp>
                <p:nvSpPr>
                  <p:cNvPr id="6516" name="Freeform 372" descr="50%"/>
                  <p:cNvSpPr>
                    <a:spLocks/>
                  </p:cNvSpPr>
                  <p:nvPr/>
                </p:nvSpPr>
                <p:spPr bwMode="auto">
                  <a:xfrm>
                    <a:off x="2201"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17" name="Freeform 373" descr="50%"/>
                  <p:cNvSpPr>
                    <a:spLocks/>
                  </p:cNvSpPr>
                  <p:nvPr/>
                </p:nvSpPr>
                <p:spPr bwMode="auto">
                  <a:xfrm>
                    <a:off x="2202"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35" name="Group 391"/>
              <p:cNvGrpSpPr>
                <a:grpSpLocks/>
              </p:cNvGrpSpPr>
              <p:nvPr/>
            </p:nvGrpSpPr>
            <p:grpSpPr bwMode="auto">
              <a:xfrm>
                <a:off x="2137" y="3056"/>
                <a:ext cx="321" cy="113"/>
                <a:chOff x="2137" y="3056"/>
                <a:chExt cx="321" cy="113"/>
              </a:xfrm>
            </p:grpSpPr>
            <p:sp>
              <p:nvSpPr>
                <p:cNvPr id="6520" name="Freeform 376" descr="50%"/>
                <p:cNvSpPr>
                  <a:spLocks/>
                </p:cNvSpPr>
                <p:nvPr/>
              </p:nvSpPr>
              <p:spPr bwMode="auto">
                <a:xfrm>
                  <a:off x="2218"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21" name="Freeform 377" descr="50%"/>
                <p:cNvSpPr>
                  <a:spLocks/>
                </p:cNvSpPr>
                <p:nvPr/>
              </p:nvSpPr>
              <p:spPr bwMode="auto">
                <a:xfrm>
                  <a:off x="2137"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24" name="Group 380"/>
                <p:cNvGrpSpPr>
                  <a:grpSpLocks/>
                </p:cNvGrpSpPr>
                <p:nvPr/>
              </p:nvGrpSpPr>
              <p:grpSpPr bwMode="auto">
                <a:xfrm>
                  <a:off x="2164" y="3118"/>
                  <a:ext cx="2" cy="3"/>
                  <a:chOff x="2164" y="3118"/>
                  <a:chExt cx="2" cy="3"/>
                </a:xfrm>
              </p:grpSpPr>
              <p:sp>
                <p:nvSpPr>
                  <p:cNvPr id="6522" name="Oval 378" descr="50%"/>
                  <p:cNvSpPr>
                    <a:spLocks noChangeArrowheads="1"/>
                  </p:cNvSpPr>
                  <p:nvPr/>
                </p:nvSpPr>
                <p:spPr bwMode="auto">
                  <a:xfrm>
                    <a:off x="2164"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3" name="Arc 379" descr="50%"/>
                  <p:cNvSpPr>
                    <a:spLocks/>
                  </p:cNvSpPr>
                  <p:nvPr/>
                </p:nvSpPr>
                <p:spPr bwMode="auto">
                  <a:xfrm>
                    <a:off x="2165"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30" name="Group 386"/>
                <p:cNvGrpSpPr>
                  <a:grpSpLocks/>
                </p:cNvGrpSpPr>
                <p:nvPr/>
              </p:nvGrpSpPr>
              <p:grpSpPr bwMode="auto">
                <a:xfrm>
                  <a:off x="2181" y="3130"/>
                  <a:ext cx="23" cy="4"/>
                  <a:chOff x="2181" y="3130"/>
                  <a:chExt cx="23" cy="4"/>
                </a:xfrm>
              </p:grpSpPr>
              <p:sp>
                <p:nvSpPr>
                  <p:cNvPr id="6525" name="Arc 381" descr="50%"/>
                  <p:cNvSpPr>
                    <a:spLocks/>
                  </p:cNvSpPr>
                  <p:nvPr/>
                </p:nvSpPr>
                <p:spPr bwMode="auto">
                  <a:xfrm>
                    <a:off x="2185"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6" name="Arc 382" descr="50%"/>
                  <p:cNvSpPr>
                    <a:spLocks/>
                  </p:cNvSpPr>
                  <p:nvPr/>
                </p:nvSpPr>
                <p:spPr bwMode="auto">
                  <a:xfrm>
                    <a:off x="2181"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7" name="Arc 383" descr="50%"/>
                  <p:cNvSpPr>
                    <a:spLocks/>
                  </p:cNvSpPr>
                  <p:nvPr/>
                </p:nvSpPr>
                <p:spPr bwMode="auto">
                  <a:xfrm>
                    <a:off x="2188"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8" name="Arc 384" descr="50%"/>
                  <p:cNvSpPr>
                    <a:spLocks/>
                  </p:cNvSpPr>
                  <p:nvPr/>
                </p:nvSpPr>
                <p:spPr bwMode="auto">
                  <a:xfrm>
                    <a:off x="2192"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9" name="Arc 385" descr="50%"/>
                  <p:cNvSpPr>
                    <a:spLocks/>
                  </p:cNvSpPr>
                  <p:nvPr/>
                </p:nvSpPr>
                <p:spPr bwMode="auto">
                  <a:xfrm>
                    <a:off x="2198"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31" name="Freeform 387" descr="50%"/>
                <p:cNvSpPr>
                  <a:spLocks/>
                </p:cNvSpPr>
                <p:nvPr/>
              </p:nvSpPr>
              <p:spPr bwMode="auto">
                <a:xfrm>
                  <a:off x="2137"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34" name="Group 390"/>
                <p:cNvGrpSpPr>
                  <a:grpSpLocks/>
                </p:cNvGrpSpPr>
                <p:nvPr/>
              </p:nvGrpSpPr>
              <p:grpSpPr bwMode="auto">
                <a:xfrm>
                  <a:off x="2201" y="3132"/>
                  <a:ext cx="47" cy="37"/>
                  <a:chOff x="2201" y="3132"/>
                  <a:chExt cx="47" cy="37"/>
                </a:xfrm>
              </p:grpSpPr>
              <p:sp>
                <p:nvSpPr>
                  <p:cNvPr id="6532" name="Freeform 388" descr="50%"/>
                  <p:cNvSpPr>
                    <a:spLocks/>
                  </p:cNvSpPr>
                  <p:nvPr/>
                </p:nvSpPr>
                <p:spPr bwMode="auto">
                  <a:xfrm>
                    <a:off x="2201"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33" name="Freeform 389" descr="50%"/>
                  <p:cNvSpPr>
                    <a:spLocks/>
                  </p:cNvSpPr>
                  <p:nvPr/>
                </p:nvSpPr>
                <p:spPr bwMode="auto">
                  <a:xfrm>
                    <a:off x="2202"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51" name="Group 407"/>
              <p:cNvGrpSpPr>
                <a:grpSpLocks/>
              </p:cNvGrpSpPr>
              <p:nvPr/>
            </p:nvGrpSpPr>
            <p:grpSpPr bwMode="auto">
              <a:xfrm>
                <a:off x="2137" y="3152"/>
                <a:ext cx="321" cy="113"/>
                <a:chOff x="2137" y="3152"/>
                <a:chExt cx="321" cy="113"/>
              </a:xfrm>
            </p:grpSpPr>
            <p:sp>
              <p:nvSpPr>
                <p:cNvPr id="6536" name="Freeform 392" descr="50%"/>
                <p:cNvSpPr>
                  <a:spLocks/>
                </p:cNvSpPr>
                <p:nvPr/>
              </p:nvSpPr>
              <p:spPr bwMode="auto">
                <a:xfrm>
                  <a:off x="2218"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37" name="Freeform 393" descr="50%"/>
                <p:cNvSpPr>
                  <a:spLocks/>
                </p:cNvSpPr>
                <p:nvPr/>
              </p:nvSpPr>
              <p:spPr bwMode="auto">
                <a:xfrm>
                  <a:off x="2137"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40" name="Group 396"/>
                <p:cNvGrpSpPr>
                  <a:grpSpLocks/>
                </p:cNvGrpSpPr>
                <p:nvPr/>
              </p:nvGrpSpPr>
              <p:grpSpPr bwMode="auto">
                <a:xfrm>
                  <a:off x="2164" y="3214"/>
                  <a:ext cx="2" cy="3"/>
                  <a:chOff x="2164" y="3214"/>
                  <a:chExt cx="2" cy="3"/>
                </a:xfrm>
              </p:grpSpPr>
              <p:sp>
                <p:nvSpPr>
                  <p:cNvPr id="6538" name="Oval 394" descr="50%"/>
                  <p:cNvSpPr>
                    <a:spLocks noChangeArrowheads="1"/>
                  </p:cNvSpPr>
                  <p:nvPr/>
                </p:nvSpPr>
                <p:spPr bwMode="auto">
                  <a:xfrm>
                    <a:off x="2164"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39" name="Arc 395" descr="50%"/>
                  <p:cNvSpPr>
                    <a:spLocks/>
                  </p:cNvSpPr>
                  <p:nvPr/>
                </p:nvSpPr>
                <p:spPr bwMode="auto">
                  <a:xfrm>
                    <a:off x="2165"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46" name="Group 402"/>
                <p:cNvGrpSpPr>
                  <a:grpSpLocks/>
                </p:cNvGrpSpPr>
                <p:nvPr/>
              </p:nvGrpSpPr>
              <p:grpSpPr bwMode="auto">
                <a:xfrm>
                  <a:off x="2181" y="3226"/>
                  <a:ext cx="23" cy="4"/>
                  <a:chOff x="2181" y="3226"/>
                  <a:chExt cx="23" cy="4"/>
                </a:xfrm>
              </p:grpSpPr>
              <p:sp>
                <p:nvSpPr>
                  <p:cNvPr id="6541" name="Arc 397" descr="50%"/>
                  <p:cNvSpPr>
                    <a:spLocks/>
                  </p:cNvSpPr>
                  <p:nvPr/>
                </p:nvSpPr>
                <p:spPr bwMode="auto">
                  <a:xfrm>
                    <a:off x="2185"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2" name="Arc 398" descr="50%"/>
                  <p:cNvSpPr>
                    <a:spLocks/>
                  </p:cNvSpPr>
                  <p:nvPr/>
                </p:nvSpPr>
                <p:spPr bwMode="auto">
                  <a:xfrm>
                    <a:off x="2181"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 name="Arc 399" descr="50%"/>
                  <p:cNvSpPr>
                    <a:spLocks/>
                  </p:cNvSpPr>
                  <p:nvPr/>
                </p:nvSpPr>
                <p:spPr bwMode="auto">
                  <a:xfrm>
                    <a:off x="2188"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4" name="Arc 400" descr="50%"/>
                  <p:cNvSpPr>
                    <a:spLocks/>
                  </p:cNvSpPr>
                  <p:nvPr/>
                </p:nvSpPr>
                <p:spPr bwMode="auto">
                  <a:xfrm>
                    <a:off x="2192"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5" name="Arc 401" descr="50%"/>
                  <p:cNvSpPr>
                    <a:spLocks/>
                  </p:cNvSpPr>
                  <p:nvPr/>
                </p:nvSpPr>
                <p:spPr bwMode="auto">
                  <a:xfrm>
                    <a:off x="2198"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47" name="Freeform 403" descr="50%"/>
                <p:cNvSpPr>
                  <a:spLocks/>
                </p:cNvSpPr>
                <p:nvPr/>
              </p:nvSpPr>
              <p:spPr bwMode="auto">
                <a:xfrm>
                  <a:off x="2137"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50" name="Group 406"/>
                <p:cNvGrpSpPr>
                  <a:grpSpLocks/>
                </p:cNvGrpSpPr>
                <p:nvPr/>
              </p:nvGrpSpPr>
              <p:grpSpPr bwMode="auto">
                <a:xfrm>
                  <a:off x="2201" y="3228"/>
                  <a:ext cx="47" cy="37"/>
                  <a:chOff x="2201" y="3228"/>
                  <a:chExt cx="47" cy="37"/>
                </a:xfrm>
              </p:grpSpPr>
              <p:sp>
                <p:nvSpPr>
                  <p:cNvPr id="6548" name="Freeform 404" descr="50%"/>
                  <p:cNvSpPr>
                    <a:spLocks/>
                  </p:cNvSpPr>
                  <p:nvPr/>
                </p:nvSpPr>
                <p:spPr bwMode="auto">
                  <a:xfrm>
                    <a:off x="2201"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49" name="Freeform 405" descr="50%"/>
                  <p:cNvSpPr>
                    <a:spLocks/>
                  </p:cNvSpPr>
                  <p:nvPr/>
                </p:nvSpPr>
                <p:spPr bwMode="auto">
                  <a:xfrm>
                    <a:off x="2202"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67" name="Group 423"/>
              <p:cNvGrpSpPr>
                <a:grpSpLocks/>
              </p:cNvGrpSpPr>
              <p:nvPr/>
            </p:nvGrpSpPr>
            <p:grpSpPr bwMode="auto">
              <a:xfrm>
                <a:off x="2137" y="3248"/>
                <a:ext cx="321" cy="113"/>
                <a:chOff x="2137" y="3248"/>
                <a:chExt cx="321" cy="113"/>
              </a:xfrm>
            </p:grpSpPr>
            <p:sp>
              <p:nvSpPr>
                <p:cNvPr id="6552" name="Freeform 408" descr="50%"/>
                <p:cNvSpPr>
                  <a:spLocks/>
                </p:cNvSpPr>
                <p:nvPr/>
              </p:nvSpPr>
              <p:spPr bwMode="auto">
                <a:xfrm>
                  <a:off x="2218"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3" name="Freeform 409" descr="50%"/>
                <p:cNvSpPr>
                  <a:spLocks/>
                </p:cNvSpPr>
                <p:nvPr/>
              </p:nvSpPr>
              <p:spPr bwMode="auto">
                <a:xfrm>
                  <a:off x="2137"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56" name="Group 412"/>
                <p:cNvGrpSpPr>
                  <a:grpSpLocks/>
                </p:cNvGrpSpPr>
                <p:nvPr/>
              </p:nvGrpSpPr>
              <p:grpSpPr bwMode="auto">
                <a:xfrm>
                  <a:off x="2164" y="3310"/>
                  <a:ext cx="2" cy="3"/>
                  <a:chOff x="2164" y="3310"/>
                  <a:chExt cx="2" cy="3"/>
                </a:xfrm>
              </p:grpSpPr>
              <p:sp>
                <p:nvSpPr>
                  <p:cNvPr id="6554" name="Oval 410" descr="50%"/>
                  <p:cNvSpPr>
                    <a:spLocks noChangeArrowheads="1"/>
                  </p:cNvSpPr>
                  <p:nvPr/>
                </p:nvSpPr>
                <p:spPr bwMode="auto">
                  <a:xfrm>
                    <a:off x="2164"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 name="Arc 411" descr="50%"/>
                  <p:cNvSpPr>
                    <a:spLocks/>
                  </p:cNvSpPr>
                  <p:nvPr/>
                </p:nvSpPr>
                <p:spPr bwMode="auto">
                  <a:xfrm>
                    <a:off x="2165"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62" name="Group 418"/>
                <p:cNvGrpSpPr>
                  <a:grpSpLocks/>
                </p:cNvGrpSpPr>
                <p:nvPr/>
              </p:nvGrpSpPr>
              <p:grpSpPr bwMode="auto">
                <a:xfrm>
                  <a:off x="2181" y="3322"/>
                  <a:ext cx="23" cy="4"/>
                  <a:chOff x="2181" y="3322"/>
                  <a:chExt cx="23" cy="4"/>
                </a:xfrm>
              </p:grpSpPr>
              <p:sp>
                <p:nvSpPr>
                  <p:cNvPr id="6557" name="Arc 413" descr="50%"/>
                  <p:cNvSpPr>
                    <a:spLocks/>
                  </p:cNvSpPr>
                  <p:nvPr/>
                </p:nvSpPr>
                <p:spPr bwMode="auto">
                  <a:xfrm>
                    <a:off x="2185"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 name="Arc 414" descr="50%"/>
                  <p:cNvSpPr>
                    <a:spLocks/>
                  </p:cNvSpPr>
                  <p:nvPr/>
                </p:nvSpPr>
                <p:spPr bwMode="auto">
                  <a:xfrm>
                    <a:off x="2181"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 name="Arc 415" descr="50%"/>
                  <p:cNvSpPr>
                    <a:spLocks/>
                  </p:cNvSpPr>
                  <p:nvPr/>
                </p:nvSpPr>
                <p:spPr bwMode="auto">
                  <a:xfrm>
                    <a:off x="2188"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 name="Arc 416" descr="50%"/>
                  <p:cNvSpPr>
                    <a:spLocks/>
                  </p:cNvSpPr>
                  <p:nvPr/>
                </p:nvSpPr>
                <p:spPr bwMode="auto">
                  <a:xfrm>
                    <a:off x="2192"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1" name="Arc 417" descr="50%"/>
                  <p:cNvSpPr>
                    <a:spLocks/>
                  </p:cNvSpPr>
                  <p:nvPr/>
                </p:nvSpPr>
                <p:spPr bwMode="auto">
                  <a:xfrm>
                    <a:off x="2198"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63" name="Freeform 419" descr="50%"/>
                <p:cNvSpPr>
                  <a:spLocks/>
                </p:cNvSpPr>
                <p:nvPr/>
              </p:nvSpPr>
              <p:spPr bwMode="auto">
                <a:xfrm>
                  <a:off x="2137"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66" name="Group 422"/>
                <p:cNvGrpSpPr>
                  <a:grpSpLocks/>
                </p:cNvGrpSpPr>
                <p:nvPr/>
              </p:nvGrpSpPr>
              <p:grpSpPr bwMode="auto">
                <a:xfrm>
                  <a:off x="2201" y="3324"/>
                  <a:ext cx="47" cy="37"/>
                  <a:chOff x="2201" y="3324"/>
                  <a:chExt cx="47" cy="37"/>
                </a:xfrm>
              </p:grpSpPr>
              <p:sp>
                <p:nvSpPr>
                  <p:cNvPr id="6564" name="Freeform 420" descr="50%"/>
                  <p:cNvSpPr>
                    <a:spLocks/>
                  </p:cNvSpPr>
                  <p:nvPr/>
                </p:nvSpPr>
                <p:spPr bwMode="auto">
                  <a:xfrm>
                    <a:off x="2201"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65" name="Freeform 421" descr="50%"/>
                  <p:cNvSpPr>
                    <a:spLocks/>
                  </p:cNvSpPr>
                  <p:nvPr/>
                </p:nvSpPr>
                <p:spPr bwMode="auto">
                  <a:xfrm>
                    <a:off x="2202"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649" name="Group 505"/>
            <p:cNvGrpSpPr>
              <a:grpSpLocks/>
            </p:cNvGrpSpPr>
            <p:nvPr/>
          </p:nvGrpSpPr>
          <p:grpSpPr bwMode="auto">
            <a:xfrm>
              <a:off x="2509" y="2864"/>
              <a:ext cx="321" cy="497"/>
              <a:chOff x="2509" y="2864"/>
              <a:chExt cx="321" cy="497"/>
            </a:xfrm>
          </p:grpSpPr>
          <p:grpSp>
            <p:nvGrpSpPr>
              <p:cNvPr id="6584" name="Group 440"/>
              <p:cNvGrpSpPr>
                <a:grpSpLocks/>
              </p:cNvGrpSpPr>
              <p:nvPr/>
            </p:nvGrpSpPr>
            <p:grpSpPr bwMode="auto">
              <a:xfrm>
                <a:off x="2509" y="2864"/>
                <a:ext cx="321" cy="113"/>
                <a:chOff x="2509" y="2864"/>
                <a:chExt cx="321" cy="113"/>
              </a:xfrm>
            </p:grpSpPr>
            <p:sp>
              <p:nvSpPr>
                <p:cNvPr id="6569" name="Freeform 425" descr="50%"/>
                <p:cNvSpPr>
                  <a:spLocks/>
                </p:cNvSpPr>
                <p:nvPr/>
              </p:nvSpPr>
              <p:spPr bwMode="auto">
                <a:xfrm>
                  <a:off x="2590"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70" name="Freeform 426" descr="50%"/>
                <p:cNvSpPr>
                  <a:spLocks/>
                </p:cNvSpPr>
                <p:nvPr/>
              </p:nvSpPr>
              <p:spPr bwMode="auto">
                <a:xfrm>
                  <a:off x="2509"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73" name="Group 429"/>
                <p:cNvGrpSpPr>
                  <a:grpSpLocks/>
                </p:cNvGrpSpPr>
                <p:nvPr/>
              </p:nvGrpSpPr>
              <p:grpSpPr bwMode="auto">
                <a:xfrm>
                  <a:off x="2536" y="2926"/>
                  <a:ext cx="2" cy="3"/>
                  <a:chOff x="2536" y="2926"/>
                  <a:chExt cx="2" cy="3"/>
                </a:xfrm>
              </p:grpSpPr>
              <p:sp>
                <p:nvSpPr>
                  <p:cNvPr id="6571" name="Oval 427" descr="50%"/>
                  <p:cNvSpPr>
                    <a:spLocks noChangeArrowheads="1"/>
                  </p:cNvSpPr>
                  <p:nvPr/>
                </p:nvSpPr>
                <p:spPr bwMode="auto">
                  <a:xfrm>
                    <a:off x="2536"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2" name="Arc 428" descr="50%"/>
                  <p:cNvSpPr>
                    <a:spLocks/>
                  </p:cNvSpPr>
                  <p:nvPr/>
                </p:nvSpPr>
                <p:spPr bwMode="auto">
                  <a:xfrm>
                    <a:off x="2537"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79" name="Group 435"/>
                <p:cNvGrpSpPr>
                  <a:grpSpLocks/>
                </p:cNvGrpSpPr>
                <p:nvPr/>
              </p:nvGrpSpPr>
              <p:grpSpPr bwMode="auto">
                <a:xfrm>
                  <a:off x="2553" y="2938"/>
                  <a:ext cx="23" cy="4"/>
                  <a:chOff x="2553" y="2938"/>
                  <a:chExt cx="23" cy="4"/>
                </a:xfrm>
              </p:grpSpPr>
              <p:sp>
                <p:nvSpPr>
                  <p:cNvPr id="6574" name="Arc 430" descr="50%"/>
                  <p:cNvSpPr>
                    <a:spLocks/>
                  </p:cNvSpPr>
                  <p:nvPr/>
                </p:nvSpPr>
                <p:spPr bwMode="auto">
                  <a:xfrm>
                    <a:off x="255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5" name="Arc 431" descr="50%"/>
                  <p:cNvSpPr>
                    <a:spLocks/>
                  </p:cNvSpPr>
                  <p:nvPr/>
                </p:nvSpPr>
                <p:spPr bwMode="auto">
                  <a:xfrm>
                    <a:off x="2553"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6" name="Arc 432" descr="50%"/>
                  <p:cNvSpPr>
                    <a:spLocks/>
                  </p:cNvSpPr>
                  <p:nvPr/>
                </p:nvSpPr>
                <p:spPr bwMode="auto">
                  <a:xfrm>
                    <a:off x="2560"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7" name="Arc 433" descr="50%"/>
                  <p:cNvSpPr>
                    <a:spLocks/>
                  </p:cNvSpPr>
                  <p:nvPr/>
                </p:nvSpPr>
                <p:spPr bwMode="auto">
                  <a:xfrm>
                    <a:off x="256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8" name="Arc 434" descr="50%"/>
                  <p:cNvSpPr>
                    <a:spLocks/>
                  </p:cNvSpPr>
                  <p:nvPr/>
                </p:nvSpPr>
                <p:spPr bwMode="auto">
                  <a:xfrm>
                    <a:off x="2570"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80" name="Freeform 436" descr="50%"/>
                <p:cNvSpPr>
                  <a:spLocks/>
                </p:cNvSpPr>
                <p:nvPr/>
              </p:nvSpPr>
              <p:spPr bwMode="auto">
                <a:xfrm>
                  <a:off x="2509"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83" name="Group 439"/>
                <p:cNvGrpSpPr>
                  <a:grpSpLocks/>
                </p:cNvGrpSpPr>
                <p:nvPr/>
              </p:nvGrpSpPr>
              <p:grpSpPr bwMode="auto">
                <a:xfrm>
                  <a:off x="2573" y="2940"/>
                  <a:ext cx="47" cy="37"/>
                  <a:chOff x="2573" y="2940"/>
                  <a:chExt cx="47" cy="37"/>
                </a:xfrm>
              </p:grpSpPr>
              <p:sp>
                <p:nvSpPr>
                  <p:cNvPr id="6581" name="Freeform 437" descr="50%"/>
                  <p:cNvSpPr>
                    <a:spLocks/>
                  </p:cNvSpPr>
                  <p:nvPr/>
                </p:nvSpPr>
                <p:spPr bwMode="auto">
                  <a:xfrm>
                    <a:off x="2573"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82" name="Freeform 438" descr="50%"/>
                  <p:cNvSpPr>
                    <a:spLocks/>
                  </p:cNvSpPr>
                  <p:nvPr/>
                </p:nvSpPr>
                <p:spPr bwMode="auto">
                  <a:xfrm>
                    <a:off x="2574"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00" name="Group 456"/>
              <p:cNvGrpSpPr>
                <a:grpSpLocks/>
              </p:cNvGrpSpPr>
              <p:nvPr/>
            </p:nvGrpSpPr>
            <p:grpSpPr bwMode="auto">
              <a:xfrm>
                <a:off x="2509" y="2960"/>
                <a:ext cx="321" cy="113"/>
                <a:chOff x="2509" y="2960"/>
                <a:chExt cx="321" cy="113"/>
              </a:xfrm>
            </p:grpSpPr>
            <p:sp>
              <p:nvSpPr>
                <p:cNvPr id="6585" name="Freeform 441" descr="50%"/>
                <p:cNvSpPr>
                  <a:spLocks/>
                </p:cNvSpPr>
                <p:nvPr/>
              </p:nvSpPr>
              <p:spPr bwMode="auto">
                <a:xfrm>
                  <a:off x="2590"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86" name="Freeform 442" descr="50%"/>
                <p:cNvSpPr>
                  <a:spLocks/>
                </p:cNvSpPr>
                <p:nvPr/>
              </p:nvSpPr>
              <p:spPr bwMode="auto">
                <a:xfrm>
                  <a:off x="2509"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89" name="Group 445"/>
                <p:cNvGrpSpPr>
                  <a:grpSpLocks/>
                </p:cNvGrpSpPr>
                <p:nvPr/>
              </p:nvGrpSpPr>
              <p:grpSpPr bwMode="auto">
                <a:xfrm>
                  <a:off x="2536" y="3022"/>
                  <a:ext cx="2" cy="3"/>
                  <a:chOff x="2536" y="3022"/>
                  <a:chExt cx="2" cy="3"/>
                </a:xfrm>
              </p:grpSpPr>
              <p:sp>
                <p:nvSpPr>
                  <p:cNvPr id="6587" name="Oval 443" descr="50%"/>
                  <p:cNvSpPr>
                    <a:spLocks noChangeArrowheads="1"/>
                  </p:cNvSpPr>
                  <p:nvPr/>
                </p:nvSpPr>
                <p:spPr bwMode="auto">
                  <a:xfrm>
                    <a:off x="2536"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88" name="Arc 444" descr="50%"/>
                  <p:cNvSpPr>
                    <a:spLocks/>
                  </p:cNvSpPr>
                  <p:nvPr/>
                </p:nvSpPr>
                <p:spPr bwMode="auto">
                  <a:xfrm>
                    <a:off x="2537"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95" name="Group 451"/>
                <p:cNvGrpSpPr>
                  <a:grpSpLocks/>
                </p:cNvGrpSpPr>
                <p:nvPr/>
              </p:nvGrpSpPr>
              <p:grpSpPr bwMode="auto">
                <a:xfrm>
                  <a:off x="2553" y="3034"/>
                  <a:ext cx="23" cy="4"/>
                  <a:chOff x="2553" y="3034"/>
                  <a:chExt cx="23" cy="4"/>
                </a:xfrm>
              </p:grpSpPr>
              <p:sp>
                <p:nvSpPr>
                  <p:cNvPr id="6590" name="Arc 446" descr="50%"/>
                  <p:cNvSpPr>
                    <a:spLocks/>
                  </p:cNvSpPr>
                  <p:nvPr/>
                </p:nvSpPr>
                <p:spPr bwMode="auto">
                  <a:xfrm>
                    <a:off x="255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1" name="Arc 447" descr="50%"/>
                  <p:cNvSpPr>
                    <a:spLocks/>
                  </p:cNvSpPr>
                  <p:nvPr/>
                </p:nvSpPr>
                <p:spPr bwMode="auto">
                  <a:xfrm>
                    <a:off x="2553"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2" name="Arc 448" descr="50%"/>
                  <p:cNvSpPr>
                    <a:spLocks/>
                  </p:cNvSpPr>
                  <p:nvPr/>
                </p:nvSpPr>
                <p:spPr bwMode="auto">
                  <a:xfrm>
                    <a:off x="2560"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3" name="Arc 449" descr="50%"/>
                  <p:cNvSpPr>
                    <a:spLocks/>
                  </p:cNvSpPr>
                  <p:nvPr/>
                </p:nvSpPr>
                <p:spPr bwMode="auto">
                  <a:xfrm>
                    <a:off x="256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 name="Arc 450" descr="50%"/>
                  <p:cNvSpPr>
                    <a:spLocks/>
                  </p:cNvSpPr>
                  <p:nvPr/>
                </p:nvSpPr>
                <p:spPr bwMode="auto">
                  <a:xfrm>
                    <a:off x="2570"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96" name="Freeform 452" descr="50%"/>
                <p:cNvSpPr>
                  <a:spLocks/>
                </p:cNvSpPr>
                <p:nvPr/>
              </p:nvSpPr>
              <p:spPr bwMode="auto">
                <a:xfrm>
                  <a:off x="2509"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99" name="Group 455"/>
                <p:cNvGrpSpPr>
                  <a:grpSpLocks/>
                </p:cNvGrpSpPr>
                <p:nvPr/>
              </p:nvGrpSpPr>
              <p:grpSpPr bwMode="auto">
                <a:xfrm>
                  <a:off x="2573" y="3036"/>
                  <a:ext cx="47" cy="37"/>
                  <a:chOff x="2573" y="3036"/>
                  <a:chExt cx="47" cy="37"/>
                </a:xfrm>
              </p:grpSpPr>
              <p:sp>
                <p:nvSpPr>
                  <p:cNvPr id="6597" name="Freeform 453" descr="50%"/>
                  <p:cNvSpPr>
                    <a:spLocks/>
                  </p:cNvSpPr>
                  <p:nvPr/>
                </p:nvSpPr>
                <p:spPr bwMode="auto">
                  <a:xfrm>
                    <a:off x="2573"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8" name="Freeform 454" descr="50%"/>
                  <p:cNvSpPr>
                    <a:spLocks/>
                  </p:cNvSpPr>
                  <p:nvPr/>
                </p:nvSpPr>
                <p:spPr bwMode="auto">
                  <a:xfrm>
                    <a:off x="2574"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16" name="Group 472"/>
              <p:cNvGrpSpPr>
                <a:grpSpLocks/>
              </p:cNvGrpSpPr>
              <p:nvPr/>
            </p:nvGrpSpPr>
            <p:grpSpPr bwMode="auto">
              <a:xfrm>
                <a:off x="2509" y="3056"/>
                <a:ext cx="321" cy="113"/>
                <a:chOff x="2509" y="3056"/>
                <a:chExt cx="321" cy="113"/>
              </a:xfrm>
            </p:grpSpPr>
            <p:sp>
              <p:nvSpPr>
                <p:cNvPr id="6601" name="Freeform 457" descr="50%"/>
                <p:cNvSpPr>
                  <a:spLocks/>
                </p:cNvSpPr>
                <p:nvPr/>
              </p:nvSpPr>
              <p:spPr bwMode="auto">
                <a:xfrm>
                  <a:off x="2590"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02" name="Freeform 458" descr="50%"/>
                <p:cNvSpPr>
                  <a:spLocks/>
                </p:cNvSpPr>
                <p:nvPr/>
              </p:nvSpPr>
              <p:spPr bwMode="auto">
                <a:xfrm>
                  <a:off x="2509"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05" name="Group 461"/>
                <p:cNvGrpSpPr>
                  <a:grpSpLocks/>
                </p:cNvGrpSpPr>
                <p:nvPr/>
              </p:nvGrpSpPr>
              <p:grpSpPr bwMode="auto">
                <a:xfrm>
                  <a:off x="2536" y="3118"/>
                  <a:ext cx="2" cy="3"/>
                  <a:chOff x="2536" y="3118"/>
                  <a:chExt cx="2" cy="3"/>
                </a:xfrm>
              </p:grpSpPr>
              <p:sp>
                <p:nvSpPr>
                  <p:cNvPr id="6603" name="Oval 459" descr="50%"/>
                  <p:cNvSpPr>
                    <a:spLocks noChangeArrowheads="1"/>
                  </p:cNvSpPr>
                  <p:nvPr/>
                </p:nvSpPr>
                <p:spPr bwMode="auto">
                  <a:xfrm>
                    <a:off x="2536"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4" name="Arc 460" descr="50%"/>
                  <p:cNvSpPr>
                    <a:spLocks/>
                  </p:cNvSpPr>
                  <p:nvPr/>
                </p:nvSpPr>
                <p:spPr bwMode="auto">
                  <a:xfrm>
                    <a:off x="2537"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11" name="Group 467"/>
                <p:cNvGrpSpPr>
                  <a:grpSpLocks/>
                </p:cNvGrpSpPr>
                <p:nvPr/>
              </p:nvGrpSpPr>
              <p:grpSpPr bwMode="auto">
                <a:xfrm>
                  <a:off x="2553" y="3130"/>
                  <a:ext cx="23" cy="4"/>
                  <a:chOff x="2553" y="3130"/>
                  <a:chExt cx="23" cy="4"/>
                </a:xfrm>
              </p:grpSpPr>
              <p:sp>
                <p:nvSpPr>
                  <p:cNvPr id="6606" name="Arc 462" descr="50%"/>
                  <p:cNvSpPr>
                    <a:spLocks/>
                  </p:cNvSpPr>
                  <p:nvPr/>
                </p:nvSpPr>
                <p:spPr bwMode="auto">
                  <a:xfrm>
                    <a:off x="255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7" name="Arc 463" descr="50%"/>
                  <p:cNvSpPr>
                    <a:spLocks/>
                  </p:cNvSpPr>
                  <p:nvPr/>
                </p:nvSpPr>
                <p:spPr bwMode="auto">
                  <a:xfrm>
                    <a:off x="2553"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8" name="Arc 464" descr="50%"/>
                  <p:cNvSpPr>
                    <a:spLocks/>
                  </p:cNvSpPr>
                  <p:nvPr/>
                </p:nvSpPr>
                <p:spPr bwMode="auto">
                  <a:xfrm>
                    <a:off x="2560"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9" name="Arc 465" descr="50%"/>
                  <p:cNvSpPr>
                    <a:spLocks/>
                  </p:cNvSpPr>
                  <p:nvPr/>
                </p:nvSpPr>
                <p:spPr bwMode="auto">
                  <a:xfrm>
                    <a:off x="256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10" name="Arc 466" descr="50%"/>
                  <p:cNvSpPr>
                    <a:spLocks/>
                  </p:cNvSpPr>
                  <p:nvPr/>
                </p:nvSpPr>
                <p:spPr bwMode="auto">
                  <a:xfrm>
                    <a:off x="2570"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12" name="Freeform 468" descr="50%"/>
                <p:cNvSpPr>
                  <a:spLocks/>
                </p:cNvSpPr>
                <p:nvPr/>
              </p:nvSpPr>
              <p:spPr bwMode="auto">
                <a:xfrm>
                  <a:off x="2509"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15" name="Group 471"/>
                <p:cNvGrpSpPr>
                  <a:grpSpLocks/>
                </p:cNvGrpSpPr>
                <p:nvPr/>
              </p:nvGrpSpPr>
              <p:grpSpPr bwMode="auto">
                <a:xfrm>
                  <a:off x="2573" y="3132"/>
                  <a:ext cx="47" cy="37"/>
                  <a:chOff x="2573" y="3132"/>
                  <a:chExt cx="47" cy="37"/>
                </a:xfrm>
              </p:grpSpPr>
              <p:sp>
                <p:nvSpPr>
                  <p:cNvPr id="6613" name="Freeform 469" descr="50%"/>
                  <p:cNvSpPr>
                    <a:spLocks/>
                  </p:cNvSpPr>
                  <p:nvPr/>
                </p:nvSpPr>
                <p:spPr bwMode="auto">
                  <a:xfrm>
                    <a:off x="2573"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14" name="Freeform 470" descr="50%"/>
                  <p:cNvSpPr>
                    <a:spLocks/>
                  </p:cNvSpPr>
                  <p:nvPr/>
                </p:nvSpPr>
                <p:spPr bwMode="auto">
                  <a:xfrm>
                    <a:off x="2574"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32" name="Group 488"/>
              <p:cNvGrpSpPr>
                <a:grpSpLocks/>
              </p:cNvGrpSpPr>
              <p:nvPr/>
            </p:nvGrpSpPr>
            <p:grpSpPr bwMode="auto">
              <a:xfrm>
                <a:off x="2509" y="3152"/>
                <a:ext cx="321" cy="113"/>
                <a:chOff x="2509" y="3152"/>
                <a:chExt cx="321" cy="113"/>
              </a:xfrm>
            </p:grpSpPr>
            <p:sp>
              <p:nvSpPr>
                <p:cNvPr id="6617" name="Freeform 473" descr="50%"/>
                <p:cNvSpPr>
                  <a:spLocks/>
                </p:cNvSpPr>
                <p:nvPr/>
              </p:nvSpPr>
              <p:spPr bwMode="auto">
                <a:xfrm>
                  <a:off x="2590"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18" name="Freeform 474" descr="50%"/>
                <p:cNvSpPr>
                  <a:spLocks/>
                </p:cNvSpPr>
                <p:nvPr/>
              </p:nvSpPr>
              <p:spPr bwMode="auto">
                <a:xfrm>
                  <a:off x="2509"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21" name="Group 477"/>
                <p:cNvGrpSpPr>
                  <a:grpSpLocks/>
                </p:cNvGrpSpPr>
                <p:nvPr/>
              </p:nvGrpSpPr>
              <p:grpSpPr bwMode="auto">
                <a:xfrm>
                  <a:off x="2536" y="3214"/>
                  <a:ext cx="2" cy="3"/>
                  <a:chOff x="2536" y="3214"/>
                  <a:chExt cx="2" cy="3"/>
                </a:xfrm>
              </p:grpSpPr>
              <p:sp>
                <p:nvSpPr>
                  <p:cNvPr id="6619" name="Oval 475" descr="50%"/>
                  <p:cNvSpPr>
                    <a:spLocks noChangeArrowheads="1"/>
                  </p:cNvSpPr>
                  <p:nvPr/>
                </p:nvSpPr>
                <p:spPr bwMode="auto">
                  <a:xfrm>
                    <a:off x="2536"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0" name="Arc 476" descr="50%"/>
                  <p:cNvSpPr>
                    <a:spLocks/>
                  </p:cNvSpPr>
                  <p:nvPr/>
                </p:nvSpPr>
                <p:spPr bwMode="auto">
                  <a:xfrm>
                    <a:off x="2537"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27" name="Group 483"/>
                <p:cNvGrpSpPr>
                  <a:grpSpLocks/>
                </p:cNvGrpSpPr>
                <p:nvPr/>
              </p:nvGrpSpPr>
              <p:grpSpPr bwMode="auto">
                <a:xfrm>
                  <a:off x="2553" y="3226"/>
                  <a:ext cx="23" cy="4"/>
                  <a:chOff x="2553" y="3226"/>
                  <a:chExt cx="23" cy="4"/>
                </a:xfrm>
              </p:grpSpPr>
              <p:sp>
                <p:nvSpPr>
                  <p:cNvPr id="6622" name="Arc 478" descr="50%"/>
                  <p:cNvSpPr>
                    <a:spLocks/>
                  </p:cNvSpPr>
                  <p:nvPr/>
                </p:nvSpPr>
                <p:spPr bwMode="auto">
                  <a:xfrm>
                    <a:off x="255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3" name="Arc 479" descr="50%"/>
                  <p:cNvSpPr>
                    <a:spLocks/>
                  </p:cNvSpPr>
                  <p:nvPr/>
                </p:nvSpPr>
                <p:spPr bwMode="auto">
                  <a:xfrm>
                    <a:off x="2553"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4" name="Arc 480" descr="50%"/>
                  <p:cNvSpPr>
                    <a:spLocks/>
                  </p:cNvSpPr>
                  <p:nvPr/>
                </p:nvSpPr>
                <p:spPr bwMode="auto">
                  <a:xfrm>
                    <a:off x="2560"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5" name="Arc 481" descr="50%"/>
                  <p:cNvSpPr>
                    <a:spLocks/>
                  </p:cNvSpPr>
                  <p:nvPr/>
                </p:nvSpPr>
                <p:spPr bwMode="auto">
                  <a:xfrm>
                    <a:off x="256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6" name="Arc 482" descr="50%"/>
                  <p:cNvSpPr>
                    <a:spLocks/>
                  </p:cNvSpPr>
                  <p:nvPr/>
                </p:nvSpPr>
                <p:spPr bwMode="auto">
                  <a:xfrm>
                    <a:off x="2570"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28" name="Freeform 484" descr="50%"/>
                <p:cNvSpPr>
                  <a:spLocks/>
                </p:cNvSpPr>
                <p:nvPr/>
              </p:nvSpPr>
              <p:spPr bwMode="auto">
                <a:xfrm>
                  <a:off x="2509"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31" name="Group 487"/>
                <p:cNvGrpSpPr>
                  <a:grpSpLocks/>
                </p:cNvGrpSpPr>
                <p:nvPr/>
              </p:nvGrpSpPr>
              <p:grpSpPr bwMode="auto">
                <a:xfrm>
                  <a:off x="2573" y="3228"/>
                  <a:ext cx="47" cy="37"/>
                  <a:chOff x="2573" y="3228"/>
                  <a:chExt cx="47" cy="37"/>
                </a:xfrm>
              </p:grpSpPr>
              <p:sp>
                <p:nvSpPr>
                  <p:cNvPr id="6629" name="Freeform 485" descr="50%"/>
                  <p:cNvSpPr>
                    <a:spLocks/>
                  </p:cNvSpPr>
                  <p:nvPr/>
                </p:nvSpPr>
                <p:spPr bwMode="auto">
                  <a:xfrm>
                    <a:off x="2573"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30" name="Freeform 486" descr="50%"/>
                  <p:cNvSpPr>
                    <a:spLocks/>
                  </p:cNvSpPr>
                  <p:nvPr/>
                </p:nvSpPr>
                <p:spPr bwMode="auto">
                  <a:xfrm>
                    <a:off x="2574"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48" name="Group 504"/>
              <p:cNvGrpSpPr>
                <a:grpSpLocks/>
              </p:cNvGrpSpPr>
              <p:nvPr/>
            </p:nvGrpSpPr>
            <p:grpSpPr bwMode="auto">
              <a:xfrm>
                <a:off x="2509" y="3248"/>
                <a:ext cx="321" cy="113"/>
                <a:chOff x="2509" y="3248"/>
                <a:chExt cx="321" cy="113"/>
              </a:xfrm>
            </p:grpSpPr>
            <p:sp>
              <p:nvSpPr>
                <p:cNvPr id="6633" name="Freeform 489" descr="50%"/>
                <p:cNvSpPr>
                  <a:spLocks/>
                </p:cNvSpPr>
                <p:nvPr/>
              </p:nvSpPr>
              <p:spPr bwMode="auto">
                <a:xfrm>
                  <a:off x="2590"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34" name="Freeform 490" descr="50%"/>
                <p:cNvSpPr>
                  <a:spLocks/>
                </p:cNvSpPr>
                <p:nvPr/>
              </p:nvSpPr>
              <p:spPr bwMode="auto">
                <a:xfrm>
                  <a:off x="2509"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37" name="Group 493"/>
                <p:cNvGrpSpPr>
                  <a:grpSpLocks/>
                </p:cNvGrpSpPr>
                <p:nvPr/>
              </p:nvGrpSpPr>
              <p:grpSpPr bwMode="auto">
                <a:xfrm>
                  <a:off x="2536" y="3310"/>
                  <a:ext cx="2" cy="3"/>
                  <a:chOff x="2536" y="3310"/>
                  <a:chExt cx="2" cy="3"/>
                </a:xfrm>
              </p:grpSpPr>
              <p:sp>
                <p:nvSpPr>
                  <p:cNvPr id="6635" name="Oval 491" descr="50%"/>
                  <p:cNvSpPr>
                    <a:spLocks noChangeArrowheads="1"/>
                  </p:cNvSpPr>
                  <p:nvPr/>
                </p:nvSpPr>
                <p:spPr bwMode="auto">
                  <a:xfrm>
                    <a:off x="2536"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36" name="Arc 492" descr="50%"/>
                  <p:cNvSpPr>
                    <a:spLocks/>
                  </p:cNvSpPr>
                  <p:nvPr/>
                </p:nvSpPr>
                <p:spPr bwMode="auto">
                  <a:xfrm>
                    <a:off x="2537"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43" name="Group 499"/>
                <p:cNvGrpSpPr>
                  <a:grpSpLocks/>
                </p:cNvGrpSpPr>
                <p:nvPr/>
              </p:nvGrpSpPr>
              <p:grpSpPr bwMode="auto">
                <a:xfrm>
                  <a:off x="2553" y="3322"/>
                  <a:ext cx="23" cy="4"/>
                  <a:chOff x="2553" y="3322"/>
                  <a:chExt cx="23" cy="4"/>
                </a:xfrm>
              </p:grpSpPr>
              <p:sp>
                <p:nvSpPr>
                  <p:cNvPr id="6638" name="Arc 494" descr="50%"/>
                  <p:cNvSpPr>
                    <a:spLocks/>
                  </p:cNvSpPr>
                  <p:nvPr/>
                </p:nvSpPr>
                <p:spPr bwMode="auto">
                  <a:xfrm>
                    <a:off x="255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39" name="Arc 495" descr="50%"/>
                  <p:cNvSpPr>
                    <a:spLocks/>
                  </p:cNvSpPr>
                  <p:nvPr/>
                </p:nvSpPr>
                <p:spPr bwMode="auto">
                  <a:xfrm>
                    <a:off x="2553"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0" name="Arc 496" descr="50%"/>
                  <p:cNvSpPr>
                    <a:spLocks/>
                  </p:cNvSpPr>
                  <p:nvPr/>
                </p:nvSpPr>
                <p:spPr bwMode="auto">
                  <a:xfrm>
                    <a:off x="2560"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1" name="Arc 497" descr="50%"/>
                  <p:cNvSpPr>
                    <a:spLocks/>
                  </p:cNvSpPr>
                  <p:nvPr/>
                </p:nvSpPr>
                <p:spPr bwMode="auto">
                  <a:xfrm>
                    <a:off x="256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2" name="Arc 498" descr="50%"/>
                  <p:cNvSpPr>
                    <a:spLocks/>
                  </p:cNvSpPr>
                  <p:nvPr/>
                </p:nvSpPr>
                <p:spPr bwMode="auto">
                  <a:xfrm>
                    <a:off x="2570"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44" name="Freeform 500" descr="50%"/>
                <p:cNvSpPr>
                  <a:spLocks/>
                </p:cNvSpPr>
                <p:nvPr/>
              </p:nvSpPr>
              <p:spPr bwMode="auto">
                <a:xfrm>
                  <a:off x="2509"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47" name="Group 503"/>
                <p:cNvGrpSpPr>
                  <a:grpSpLocks/>
                </p:cNvGrpSpPr>
                <p:nvPr/>
              </p:nvGrpSpPr>
              <p:grpSpPr bwMode="auto">
                <a:xfrm>
                  <a:off x="2573" y="3324"/>
                  <a:ext cx="47" cy="37"/>
                  <a:chOff x="2573" y="3324"/>
                  <a:chExt cx="47" cy="37"/>
                </a:xfrm>
              </p:grpSpPr>
              <p:sp>
                <p:nvSpPr>
                  <p:cNvPr id="6645" name="Freeform 501" descr="50%"/>
                  <p:cNvSpPr>
                    <a:spLocks/>
                  </p:cNvSpPr>
                  <p:nvPr/>
                </p:nvSpPr>
                <p:spPr bwMode="auto">
                  <a:xfrm>
                    <a:off x="2573"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46" name="Freeform 502" descr="50%"/>
                  <p:cNvSpPr>
                    <a:spLocks/>
                  </p:cNvSpPr>
                  <p:nvPr/>
                </p:nvSpPr>
                <p:spPr bwMode="auto">
                  <a:xfrm>
                    <a:off x="2574"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730" name="Group 586"/>
            <p:cNvGrpSpPr>
              <a:grpSpLocks/>
            </p:cNvGrpSpPr>
            <p:nvPr/>
          </p:nvGrpSpPr>
          <p:grpSpPr bwMode="auto">
            <a:xfrm>
              <a:off x="2893" y="2864"/>
              <a:ext cx="321" cy="497"/>
              <a:chOff x="2893" y="2864"/>
              <a:chExt cx="321" cy="497"/>
            </a:xfrm>
          </p:grpSpPr>
          <p:grpSp>
            <p:nvGrpSpPr>
              <p:cNvPr id="6665" name="Group 521"/>
              <p:cNvGrpSpPr>
                <a:grpSpLocks/>
              </p:cNvGrpSpPr>
              <p:nvPr/>
            </p:nvGrpSpPr>
            <p:grpSpPr bwMode="auto">
              <a:xfrm>
                <a:off x="2893" y="2864"/>
                <a:ext cx="321" cy="113"/>
                <a:chOff x="2893" y="2864"/>
                <a:chExt cx="321" cy="113"/>
              </a:xfrm>
            </p:grpSpPr>
            <p:sp>
              <p:nvSpPr>
                <p:cNvPr id="6650" name="Freeform 506" descr="50%"/>
                <p:cNvSpPr>
                  <a:spLocks/>
                </p:cNvSpPr>
                <p:nvPr/>
              </p:nvSpPr>
              <p:spPr bwMode="auto">
                <a:xfrm>
                  <a:off x="2974"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1" name="Freeform 507" descr="50%"/>
                <p:cNvSpPr>
                  <a:spLocks/>
                </p:cNvSpPr>
                <p:nvPr/>
              </p:nvSpPr>
              <p:spPr bwMode="auto">
                <a:xfrm>
                  <a:off x="2893"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54" name="Group 510"/>
                <p:cNvGrpSpPr>
                  <a:grpSpLocks/>
                </p:cNvGrpSpPr>
                <p:nvPr/>
              </p:nvGrpSpPr>
              <p:grpSpPr bwMode="auto">
                <a:xfrm>
                  <a:off x="2920" y="2926"/>
                  <a:ext cx="2" cy="3"/>
                  <a:chOff x="2920" y="2926"/>
                  <a:chExt cx="2" cy="3"/>
                </a:xfrm>
              </p:grpSpPr>
              <p:sp>
                <p:nvSpPr>
                  <p:cNvPr id="6652" name="Oval 508" descr="50%"/>
                  <p:cNvSpPr>
                    <a:spLocks noChangeArrowheads="1"/>
                  </p:cNvSpPr>
                  <p:nvPr/>
                </p:nvSpPr>
                <p:spPr bwMode="auto">
                  <a:xfrm>
                    <a:off x="2920"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3" name="Arc 509" descr="50%"/>
                  <p:cNvSpPr>
                    <a:spLocks/>
                  </p:cNvSpPr>
                  <p:nvPr/>
                </p:nvSpPr>
                <p:spPr bwMode="auto">
                  <a:xfrm>
                    <a:off x="2921"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60" name="Group 516"/>
                <p:cNvGrpSpPr>
                  <a:grpSpLocks/>
                </p:cNvGrpSpPr>
                <p:nvPr/>
              </p:nvGrpSpPr>
              <p:grpSpPr bwMode="auto">
                <a:xfrm>
                  <a:off x="2937" y="2938"/>
                  <a:ext cx="23" cy="4"/>
                  <a:chOff x="2937" y="2938"/>
                  <a:chExt cx="23" cy="4"/>
                </a:xfrm>
              </p:grpSpPr>
              <p:sp>
                <p:nvSpPr>
                  <p:cNvPr id="6655" name="Arc 511" descr="50%"/>
                  <p:cNvSpPr>
                    <a:spLocks/>
                  </p:cNvSpPr>
                  <p:nvPr/>
                </p:nvSpPr>
                <p:spPr bwMode="auto">
                  <a:xfrm>
                    <a:off x="2941"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 name="Arc 512" descr="50%"/>
                  <p:cNvSpPr>
                    <a:spLocks/>
                  </p:cNvSpPr>
                  <p:nvPr/>
                </p:nvSpPr>
                <p:spPr bwMode="auto">
                  <a:xfrm>
                    <a:off x="293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 name="Arc 513" descr="50%"/>
                  <p:cNvSpPr>
                    <a:spLocks/>
                  </p:cNvSpPr>
                  <p:nvPr/>
                </p:nvSpPr>
                <p:spPr bwMode="auto">
                  <a:xfrm>
                    <a:off x="294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 name="Arc 514" descr="50%"/>
                  <p:cNvSpPr>
                    <a:spLocks/>
                  </p:cNvSpPr>
                  <p:nvPr/>
                </p:nvSpPr>
                <p:spPr bwMode="auto">
                  <a:xfrm>
                    <a:off x="2948"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 name="Arc 515" descr="50%"/>
                  <p:cNvSpPr>
                    <a:spLocks/>
                  </p:cNvSpPr>
                  <p:nvPr/>
                </p:nvSpPr>
                <p:spPr bwMode="auto">
                  <a:xfrm>
                    <a:off x="2954"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61" name="Freeform 517" descr="50%"/>
                <p:cNvSpPr>
                  <a:spLocks/>
                </p:cNvSpPr>
                <p:nvPr/>
              </p:nvSpPr>
              <p:spPr bwMode="auto">
                <a:xfrm>
                  <a:off x="2893"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64" name="Group 520"/>
                <p:cNvGrpSpPr>
                  <a:grpSpLocks/>
                </p:cNvGrpSpPr>
                <p:nvPr/>
              </p:nvGrpSpPr>
              <p:grpSpPr bwMode="auto">
                <a:xfrm>
                  <a:off x="2957" y="2940"/>
                  <a:ext cx="47" cy="37"/>
                  <a:chOff x="2957" y="2940"/>
                  <a:chExt cx="47" cy="37"/>
                </a:xfrm>
              </p:grpSpPr>
              <p:sp>
                <p:nvSpPr>
                  <p:cNvPr id="6662" name="Freeform 518" descr="50%"/>
                  <p:cNvSpPr>
                    <a:spLocks/>
                  </p:cNvSpPr>
                  <p:nvPr/>
                </p:nvSpPr>
                <p:spPr bwMode="auto">
                  <a:xfrm>
                    <a:off x="2957"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 name="Freeform 519" descr="50%"/>
                  <p:cNvSpPr>
                    <a:spLocks/>
                  </p:cNvSpPr>
                  <p:nvPr/>
                </p:nvSpPr>
                <p:spPr bwMode="auto">
                  <a:xfrm>
                    <a:off x="2958"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81" name="Group 537"/>
              <p:cNvGrpSpPr>
                <a:grpSpLocks/>
              </p:cNvGrpSpPr>
              <p:nvPr/>
            </p:nvGrpSpPr>
            <p:grpSpPr bwMode="auto">
              <a:xfrm>
                <a:off x="2893" y="2960"/>
                <a:ext cx="321" cy="113"/>
                <a:chOff x="2893" y="2960"/>
                <a:chExt cx="321" cy="113"/>
              </a:xfrm>
            </p:grpSpPr>
            <p:sp>
              <p:nvSpPr>
                <p:cNvPr id="6666" name="Freeform 522" descr="50%"/>
                <p:cNvSpPr>
                  <a:spLocks/>
                </p:cNvSpPr>
                <p:nvPr/>
              </p:nvSpPr>
              <p:spPr bwMode="auto">
                <a:xfrm>
                  <a:off x="2974"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7" name="Freeform 523" descr="50%"/>
                <p:cNvSpPr>
                  <a:spLocks/>
                </p:cNvSpPr>
                <p:nvPr/>
              </p:nvSpPr>
              <p:spPr bwMode="auto">
                <a:xfrm>
                  <a:off x="2893"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70" name="Group 526"/>
                <p:cNvGrpSpPr>
                  <a:grpSpLocks/>
                </p:cNvGrpSpPr>
                <p:nvPr/>
              </p:nvGrpSpPr>
              <p:grpSpPr bwMode="auto">
                <a:xfrm>
                  <a:off x="2920" y="3022"/>
                  <a:ext cx="2" cy="3"/>
                  <a:chOff x="2920" y="3022"/>
                  <a:chExt cx="2" cy="3"/>
                </a:xfrm>
              </p:grpSpPr>
              <p:sp>
                <p:nvSpPr>
                  <p:cNvPr id="6668" name="Oval 524" descr="50%"/>
                  <p:cNvSpPr>
                    <a:spLocks noChangeArrowheads="1"/>
                  </p:cNvSpPr>
                  <p:nvPr/>
                </p:nvSpPr>
                <p:spPr bwMode="auto">
                  <a:xfrm>
                    <a:off x="2920"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9" name="Arc 525" descr="50%"/>
                  <p:cNvSpPr>
                    <a:spLocks/>
                  </p:cNvSpPr>
                  <p:nvPr/>
                </p:nvSpPr>
                <p:spPr bwMode="auto">
                  <a:xfrm>
                    <a:off x="2921"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76" name="Group 532"/>
                <p:cNvGrpSpPr>
                  <a:grpSpLocks/>
                </p:cNvGrpSpPr>
                <p:nvPr/>
              </p:nvGrpSpPr>
              <p:grpSpPr bwMode="auto">
                <a:xfrm>
                  <a:off x="2937" y="3034"/>
                  <a:ext cx="23" cy="4"/>
                  <a:chOff x="2937" y="3034"/>
                  <a:chExt cx="23" cy="4"/>
                </a:xfrm>
              </p:grpSpPr>
              <p:sp>
                <p:nvSpPr>
                  <p:cNvPr id="6671" name="Arc 527" descr="50%"/>
                  <p:cNvSpPr>
                    <a:spLocks/>
                  </p:cNvSpPr>
                  <p:nvPr/>
                </p:nvSpPr>
                <p:spPr bwMode="auto">
                  <a:xfrm>
                    <a:off x="2941"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 name="Arc 528" descr="50%"/>
                  <p:cNvSpPr>
                    <a:spLocks/>
                  </p:cNvSpPr>
                  <p:nvPr/>
                </p:nvSpPr>
                <p:spPr bwMode="auto">
                  <a:xfrm>
                    <a:off x="293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3" name="Arc 529" descr="50%"/>
                  <p:cNvSpPr>
                    <a:spLocks/>
                  </p:cNvSpPr>
                  <p:nvPr/>
                </p:nvSpPr>
                <p:spPr bwMode="auto">
                  <a:xfrm>
                    <a:off x="294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4" name="Arc 530" descr="50%"/>
                  <p:cNvSpPr>
                    <a:spLocks/>
                  </p:cNvSpPr>
                  <p:nvPr/>
                </p:nvSpPr>
                <p:spPr bwMode="auto">
                  <a:xfrm>
                    <a:off x="2948"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5" name="Arc 531" descr="50%"/>
                  <p:cNvSpPr>
                    <a:spLocks/>
                  </p:cNvSpPr>
                  <p:nvPr/>
                </p:nvSpPr>
                <p:spPr bwMode="auto">
                  <a:xfrm>
                    <a:off x="2954"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77" name="Freeform 533" descr="50%"/>
                <p:cNvSpPr>
                  <a:spLocks/>
                </p:cNvSpPr>
                <p:nvPr/>
              </p:nvSpPr>
              <p:spPr bwMode="auto">
                <a:xfrm>
                  <a:off x="2893"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80" name="Group 536"/>
                <p:cNvGrpSpPr>
                  <a:grpSpLocks/>
                </p:cNvGrpSpPr>
                <p:nvPr/>
              </p:nvGrpSpPr>
              <p:grpSpPr bwMode="auto">
                <a:xfrm>
                  <a:off x="2957" y="3036"/>
                  <a:ext cx="47" cy="37"/>
                  <a:chOff x="2957" y="3036"/>
                  <a:chExt cx="47" cy="37"/>
                </a:xfrm>
              </p:grpSpPr>
              <p:sp>
                <p:nvSpPr>
                  <p:cNvPr id="6678" name="Freeform 534" descr="50%"/>
                  <p:cNvSpPr>
                    <a:spLocks/>
                  </p:cNvSpPr>
                  <p:nvPr/>
                </p:nvSpPr>
                <p:spPr bwMode="auto">
                  <a:xfrm>
                    <a:off x="2957"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9" name="Freeform 535" descr="50%"/>
                  <p:cNvSpPr>
                    <a:spLocks/>
                  </p:cNvSpPr>
                  <p:nvPr/>
                </p:nvSpPr>
                <p:spPr bwMode="auto">
                  <a:xfrm>
                    <a:off x="2958"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97" name="Group 553"/>
              <p:cNvGrpSpPr>
                <a:grpSpLocks/>
              </p:cNvGrpSpPr>
              <p:nvPr/>
            </p:nvGrpSpPr>
            <p:grpSpPr bwMode="auto">
              <a:xfrm>
                <a:off x="2893" y="3056"/>
                <a:ext cx="321" cy="113"/>
                <a:chOff x="2893" y="3056"/>
                <a:chExt cx="321" cy="113"/>
              </a:xfrm>
            </p:grpSpPr>
            <p:sp>
              <p:nvSpPr>
                <p:cNvPr id="6682" name="Freeform 538" descr="50%"/>
                <p:cNvSpPr>
                  <a:spLocks/>
                </p:cNvSpPr>
                <p:nvPr/>
              </p:nvSpPr>
              <p:spPr bwMode="auto">
                <a:xfrm>
                  <a:off x="2974"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3" name="Freeform 539" descr="50%"/>
                <p:cNvSpPr>
                  <a:spLocks/>
                </p:cNvSpPr>
                <p:nvPr/>
              </p:nvSpPr>
              <p:spPr bwMode="auto">
                <a:xfrm>
                  <a:off x="2893"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86" name="Group 542"/>
                <p:cNvGrpSpPr>
                  <a:grpSpLocks/>
                </p:cNvGrpSpPr>
                <p:nvPr/>
              </p:nvGrpSpPr>
              <p:grpSpPr bwMode="auto">
                <a:xfrm>
                  <a:off x="2920" y="3118"/>
                  <a:ext cx="2" cy="3"/>
                  <a:chOff x="2920" y="3118"/>
                  <a:chExt cx="2" cy="3"/>
                </a:xfrm>
              </p:grpSpPr>
              <p:sp>
                <p:nvSpPr>
                  <p:cNvPr id="6684" name="Oval 540" descr="50%"/>
                  <p:cNvSpPr>
                    <a:spLocks noChangeArrowheads="1"/>
                  </p:cNvSpPr>
                  <p:nvPr/>
                </p:nvSpPr>
                <p:spPr bwMode="auto">
                  <a:xfrm>
                    <a:off x="2920"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85" name="Arc 541" descr="50%"/>
                  <p:cNvSpPr>
                    <a:spLocks/>
                  </p:cNvSpPr>
                  <p:nvPr/>
                </p:nvSpPr>
                <p:spPr bwMode="auto">
                  <a:xfrm>
                    <a:off x="2921"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92" name="Group 548"/>
                <p:cNvGrpSpPr>
                  <a:grpSpLocks/>
                </p:cNvGrpSpPr>
                <p:nvPr/>
              </p:nvGrpSpPr>
              <p:grpSpPr bwMode="auto">
                <a:xfrm>
                  <a:off x="2937" y="3130"/>
                  <a:ext cx="23" cy="4"/>
                  <a:chOff x="2937" y="3130"/>
                  <a:chExt cx="23" cy="4"/>
                </a:xfrm>
              </p:grpSpPr>
              <p:sp>
                <p:nvSpPr>
                  <p:cNvPr id="6687" name="Arc 543" descr="50%"/>
                  <p:cNvSpPr>
                    <a:spLocks/>
                  </p:cNvSpPr>
                  <p:nvPr/>
                </p:nvSpPr>
                <p:spPr bwMode="auto">
                  <a:xfrm>
                    <a:off x="2941"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88" name="Arc 544" descr="50%"/>
                  <p:cNvSpPr>
                    <a:spLocks/>
                  </p:cNvSpPr>
                  <p:nvPr/>
                </p:nvSpPr>
                <p:spPr bwMode="auto">
                  <a:xfrm>
                    <a:off x="293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89" name="Arc 545" descr="50%"/>
                  <p:cNvSpPr>
                    <a:spLocks/>
                  </p:cNvSpPr>
                  <p:nvPr/>
                </p:nvSpPr>
                <p:spPr bwMode="auto">
                  <a:xfrm>
                    <a:off x="294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0" name="Arc 546" descr="50%"/>
                  <p:cNvSpPr>
                    <a:spLocks/>
                  </p:cNvSpPr>
                  <p:nvPr/>
                </p:nvSpPr>
                <p:spPr bwMode="auto">
                  <a:xfrm>
                    <a:off x="2948"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1" name="Arc 547" descr="50%"/>
                  <p:cNvSpPr>
                    <a:spLocks/>
                  </p:cNvSpPr>
                  <p:nvPr/>
                </p:nvSpPr>
                <p:spPr bwMode="auto">
                  <a:xfrm>
                    <a:off x="2954"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93" name="Freeform 549" descr="50%"/>
                <p:cNvSpPr>
                  <a:spLocks/>
                </p:cNvSpPr>
                <p:nvPr/>
              </p:nvSpPr>
              <p:spPr bwMode="auto">
                <a:xfrm>
                  <a:off x="2893"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96" name="Group 552"/>
                <p:cNvGrpSpPr>
                  <a:grpSpLocks/>
                </p:cNvGrpSpPr>
                <p:nvPr/>
              </p:nvGrpSpPr>
              <p:grpSpPr bwMode="auto">
                <a:xfrm>
                  <a:off x="2957" y="3132"/>
                  <a:ext cx="47" cy="37"/>
                  <a:chOff x="2957" y="3132"/>
                  <a:chExt cx="47" cy="37"/>
                </a:xfrm>
              </p:grpSpPr>
              <p:sp>
                <p:nvSpPr>
                  <p:cNvPr id="6694" name="Freeform 550" descr="50%"/>
                  <p:cNvSpPr>
                    <a:spLocks/>
                  </p:cNvSpPr>
                  <p:nvPr/>
                </p:nvSpPr>
                <p:spPr bwMode="auto">
                  <a:xfrm>
                    <a:off x="2957"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95" name="Freeform 551" descr="50%"/>
                  <p:cNvSpPr>
                    <a:spLocks/>
                  </p:cNvSpPr>
                  <p:nvPr/>
                </p:nvSpPr>
                <p:spPr bwMode="auto">
                  <a:xfrm>
                    <a:off x="2958"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713" name="Group 569"/>
              <p:cNvGrpSpPr>
                <a:grpSpLocks/>
              </p:cNvGrpSpPr>
              <p:nvPr/>
            </p:nvGrpSpPr>
            <p:grpSpPr bwMode="auto">
              <a:xfrm>
                <a:off x="2893" y="3152"/>
                <a:ext cx="321" cy="113"/>
                <a:chOff x="2893" y="3152"/>
                <a:chExt cx="321" cy="113"/>
              </a:xfrm>
            </p:grpSpPr>
            <p:sp>
              <p:nvSpPr>
                <p:cNvPr id="6698" name="Freeform 554" descr="50%"/>
                <p:cNvSpPr>
                  <a:spLocks/>
                </p:cNvSpPr>
                <p:nvPr/>
              </p:nvSpPr>
              <p:spPr bwMode="auto">
                <a:xfrm>
                  <a:off x="2974"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99" name="Freeform 555" descr="50%"/>
                <p:cNvSpPr>
                  <a:spLocks/>
                </p:cNvSpPr>
                <p:nvPr/>
              </p:nvSpPr>
              <p:spPr bwMode="auto">
                <a:xfrm>
                  <a:off x="2893"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02" name="Group 558"/>
                <p:cNvGrpSpPr>
                  <a:grpSpLocks/>
                </p:cNvGrpSpPr>
                <p:nvPr/>
              </p:nvGrpSpPr>
              <p:grpSpPr bwMode="auto">
                <a:xfrm>
                  <a:off x="2920" y="3214"/>
                  <a:ext cx="2" cy="3"/>
                  <a:chOff x="2920" y="3214"/>
                  <a:chExt cx="2" cy="3"/>
                </a:xfrm>
              </p:grpSpPr>
              <p:sp>
                <p:nvSpPr>
                  <p:cNvPr id="6700" name="Oval 556" descr="50%"/>
                  <p:cNvSpPr>
                    <a:spLocks noChangeArrowheads="1"/>
                  </p:cNvSpPr>
                  <p:nvPr/>
                </p:nvSpPr>
                <p:spPr bwMode="auto">
                  <a:xfrm>
                    <a:off x="2920"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1" name="Arc 557" descr="50%"/>
                  <p:cNvSpPr>
                    <a:spLocks/>
                  </p:cNvSpPr>
                  <p:nvPr/>
                </p:nvSpPr>
                <p:spPr bwMode="auto">
                  <a:xfrm>
                    <a:off x="2921"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708" name="Group 564"/>
                <p:cNvGrpSpPr>
                  <a:grpSpLocks/>
                </p:cNvGrpSpPr>
                <p:nvPr/>
              </p:nvGrpSpPr>
              <p:grpSpPr bwMode="auto">
                <a:xfrm>
                  <a:off x="2937" y="3226"/>
                  <a:ext cx="23" cy="4"/>
                  <a:chOff x="2937" y="3226"/>
                  <a:chExt cx="23" cy="4"/>
                </a:xfrm>
              </p:grpSpPr>
              <p:sp>
                <p:nvSpPr>
                  <p:cNvPr id="6703" name="Arc 559" descr="50%"/>
                  <p:cNvSpPr>
                    <a:spLocks/>
                  </p:cNvSpPr>
                  <p:nvPr/>
                </p:nvSpPr>
                <p:spPr bwMode="auto">
                  <a:xfrm>
                    <a:off x="2941"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4" name="Arc 560" descr="50%"/>
                  <p:cNvSpPr>
                    <a:spLocks/>
                  </p:cNvSpPr>
                  <p:nvPr/>
                </p:nvSpPr>
                <p:spPr bwMode="auto">
                  <a:xfrm>
                    <a:off x="293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5" name="Arc 561" descr="50%"/>
                  <p:cNvSpPr>
                    <a:spLocks/>
                  </p:cNvSpPr>
                  <p:nvPr/>
                </p:nvSpPr>
                <p:spPr bwMode="auto">
                  <a:xfrm>
                    <a:off x="294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6" name="Arc 562" descr="50%"/>
                  <p:cNvSpPr>
                    <a:spLocks/>
                  </p:cNvSpPr>
                  <p:nvPr/>
                </p:nvSpPr>
                <p:spPr bwMode="auto">
                  <a:xfrm>
                    <a:off x="2948"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7" name="Arc 563" descr="50%"/>
                  <p:cNvSpPr>
                    <a:spLocks/>
                  </p:cNvSpPr>
                  <p:nvPr/>
                </p:nvSpPr>
                <p:spPr bwMode="auto">
                  <a:xfrm>
                    <a:off x="2954"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709" name="Freeform 565" descr="50%"/>
                <p:cNvSpPr>
                  <a:spLocks/>
                </p:cNvSpPr>
                <p:nvPr/>
              </p:nvSpPr>
              <p:spPr bwMode="auto">
                <a:xfrm>
                  <a:off x="2893"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12" name="Group 568"/>
                <p:cNvGrpSpPr>
                  <a:grpSpLocks/>
                </p:cNvGrpSpPr>
                <p:nvPr/>
              </p:nvGrpSpPr>
              <p:grpSpPr bwMode="auto">
                <a:xfrm>
                  <a:off x="2957" y="3228"/>
                  <a:ext cx="47" cy="37"/>
                  <a:chOff x="2957" y="3228"/>
                  <a:chExt cx="47" cy="37"/>
                </a:xfrm>
              </p:grpSpPr>
              <p:sp>
                <p:nvSpPr>
                  <p:cNvPr id="6710" name="Freeform 566" descr="50%"/>
                  <p:cNvSpPr>
                    <a:spLocks/>
                  </p:cNvSpPr>
                  <p:nvPr/>
                </p:nvSpPr>
                <p:spPr bwMode="auto">
                  <a:xfrm>
                    <a:off x="2957"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11" name="Freeform 567" descr="50%"/>
                  <p:cNvSpPr>
                    <a:spLocks/>
                  </p:cNvSpPr>
                  <p:nvPr/>
                </p:nvSpPr>
                <p:spPr bwMode="auto">
                  <a:xfrm>
                    <a:off x="2958"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729" name="Group 585"/>
              <p:cNvGrpSpPr>
                <a:grpSpLocks/>
              </p:cNvGrpSpPr>
              <p:nvPr/>
            </p:nvGrpSpPr>
            <p:grpSpPr bwMode="auto">
              <a:xfrm>
                <a:off x="2893" y="3248"/>
                <a:ext cx="321" cy="113"/>
                <a:chOff x="2893" y="3248"/>
                <a:chExt cx="321" cy="113"/>
              </a:xfrm>
            </p:grpSpPr>
            <p:sp>
              <p:nvSpPr>
                <p:cNvPr id="6714" name="Freeform 570" descr="50%"/>
                <p:cNvSpPr>
                  <a:spLocks/>
                </p:cNvSpPr>
                <p:nvPr/>
              </p:nvSpPr>
              <p:spPr bwMode="auto">
                <a:xfrm>
                  <a:off x="2974"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15" name="Freeform 571" descr="50%"/>
                <p:cNvSpPr>
                  <a:spLocks/>
                </p:cNvSpPr>
                <p:nvPr/>
              </p:nvSpPr>
              <p:spPr bwMode="auto">
                <a:xfrm>
                  <a:off x="2893"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18" name="Group 574"/>
                <p:cNvGrpSpPr>
                  <a:grpSpLocks/>
                </p:cNvGrpSpPr>
                <p:nvPr/>
              </p:nvGrpSpPr>
              <p:grpSpPr bwMode="auto">
                <a:xfrm>
                  <a:off x="2920" y="3310"/>
                  <a:ext cx="2" cy="3"/>
                  <a:chOff x="2920" y="3310"/>
                  <a:chExt cx="2" cy="3"/>
                </a:xfrm>
              </p:grpSpPr>
              <p:sp>
                <p:nvSpPr>
                  <p:cNvPr id="6716" name="Oval 572" descr="50%"/>
                  <p:cNvSpPr>
                    <a:spLocks noChangeArrowheads="1"/>
                  </p:cNvSpPr>
                  <p:nvPr/>
                </p:nvSpPr>
                <p:spPr bwMode="auto">
                  <a:xfrm>
                    <a:off x="2920"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17" name="Arc 573" descr="50%"/>
                  <p:cNvSpPr>
                    <a:spLocks/>
                  </p:cNvSpPr>
                  <p:nvPr/>
                </p:nvSpPr>
                <p:spPr bwMode="auto">
                  <a:xfrm>
                    <a:off x="2921"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724" name="Group 580"/>
                <p:cNvGrpSpPr>
                  <a:grpSpLocks/>
                </p:cNvGrpSpPr>
                <p:nvPr/>
              </p:nvGrpSpPr>
              <p:grpSpPr bwMode="auto">
                <a:xfrm>
                  <a:off x="2937" y="3322"/>
                  <a:ext cx="23" cy="4"/>
                  <a:chOff x="2937" y="3322"/>
                  <a:chExt cx="23" cy="4"/>
                </a:xfrm>
              </p:grpSpPr>
              <p:sp>
                <p:nvSpPr>
                  <p:cNvPr id="6719" name="Arc 575" descr="50%"/>
                  <p:cNvSpPr>
                    <a:spLocks/>
                  </p:cNvSpPr>
                  <p:nvPr/>
                </p:nvSpPr>
                <p:spPr bwMode="auto">
                  <a:xfrm>
                    <a:off x="2941"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0" name="Arc 576" descr="50%"/>
                  <p:cNvSpPr>
                    <a:spLocks/>
                  </p:cNvSpPr>
                  <p:nvPr/>
                </p:nvSpPr>
                <p:spPr bwMode="auto">
                  <a:xfrm>
                    <a:off x="293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1" name="Arc 577" descr="50%"/>
                  <p:cNvSpPr>
                    <a:spLocks/>
                  </p:cNvSpPr>
                  <p:nvPr/>
                </p:nvSpPr>
                <p:spPr bwMode="auto">
                  <a:xfrm>
                    <a:off x="294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2" name="Arc 578" descr="50%"/>
                  <p:cNvSpPr>
                    <a:spLocks/>
                  </p:cNvSpPr>
                  <p:nvPr/>
                </p:nvSpPr>
                <p:spPr bwMode="auto">
                  <a:xfrm>
                    <a:off x="2948"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3" name="Arc 579" descr="50%"/>
                  <p:cNvSpPr>
                    <a:spLocks/>
                  </p:cNvSpPr>
                  <p:nvPr/>
                </p:nvSpPr>
                <p:spPr bwMode="auto">
                  <a:xfrm>
                    <a:off x="2954"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725" name="Freeform 581" descr="50%"/>
                <p:cNvSpPr>
                  <a:spLocks/>
                </p:cNvSpPr>
                <p:nvPr/>
              </p:nvSpPr>
              <p:spPr bwMode="auto">
                <a:xfrm>
                  <a:off x="2893"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28" name="Group 584"/>
                <p:cNvGrpSpPr>
                  <a:grpSpLocks/>
                </p:cNvGrpSpPr>
                <p:nvPr/>
              </p:nvGrpSpPr>
              <p:grpSpPr bwMode="auto">
                <a:xfrm>
                  <a:off x="2957" y="3324"/>
                  <a:ext cx="47" cy="37"/>
                  <a:chOff x="2957" y="3324"/>
                  <a:chExt cx="47" cy="37"/>
                </a:xfrm>
              </p:grpSpPr>
              <p:sp>
                <p:nvSpPr>
                  <p:cNvPr id="6726" name="Freeform 582" descr="50%"/>
                  <p:cNvSpPr>
                    <a:spLocks/>
                  </p:cNvSpPr>
                  <p:nvPr/>
                </p:nvSpPr>
                <p:spPr bwMode="auto">
                  <a:xfrm>
                    <a:off x="2957"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27" name="Freeform 583" descr="50%"/>
                  <p:cNvSpPr>
                    <a:spLocks/>
                  </p:cNvSpPr>
                  <p:nvPr/>
                </p:nvSpPr>
                <p:spPr bwMode="auto">
                  <a:xfrm>
                    <a:off x="2958"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spTree>
    <p:extLst>
      <p:ext uri="{BB962C8B-B14F-4D97-AF65-F5344CB8AC3E}">
        <p14:creationId xmlns:p14="http://schemas.microsoft.com/office/powerpoint/2010/main" val="455396456"/>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514600" y="16192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1998 Computer Food Chain</a:t>
            </a:r>
          </a:p>
        </p:txBody>
      </p:sp>
      <p:sp>
        <p:nvSpPr>
          <p:cNvPr id="7171" name="Rectangle 3"/>
          <p:cNvSpPr>
            <a:spLocks noChangeArrowheads="1"/>
          </p:cNvSpPr>
          <p:nvPr/>
        </p:nvSpPr>
        <p:spPr bwMode="auto">
          <a:xfrm>
            <a:off x="8193830" y="4321175"/>
            <a:ext cx="50334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PC</a:t>
            </a:r>
          </a:p>
        </p:txBody>
      </p:sp>
      <p:sp>
        <p:nvSpPr>
          <p:cNvPr id="7172" name="Rectangle 4"/>
          <p:cNvSpPr>
            <a:spLocks noChangeArrowheads="1"/>
          </p:cNvSpPr>
          <p:nvPr/>
        </p:nvSpPr>
        <p:spPr bwMode="auto">
          <a:xfrm>
            <a:off x="7353893" y="4321176"/>
            <a:ext cx="862417"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Work-</a:t>
            </a:r>
          </a:p>
          <a:p>
            <a:pPr algn="ctr"/>
            <a:r>
              <a:rPr lang="en-US" altLang="zh-CN"/>
              <a:t>station</a:t>
            </a:r>
          </a:p>
        </p:txBody>
      </p:sp>
      <p:sp>
        <p:nvSpPr>
          <p:cNvPr id="7173" name="Rectangle 5"/>
          <p:cNvSpPr>
            <a:spLocks noChangeArrowheads="1"/>
          </p:cNvSpPr>
          <p:nvPr/>
        </p:nvSpPr>
        <p:spPr bwMode="auto">
          <a:xfrm>
            <a:off x="3148209" y="4111625"/>
            <a:ext cx="1272785"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Mainframe</a:t>
            </a:r>
          </a:p>
        </p:txBody>
      </p:sp>
      <p:sp>
        <p:nvSpPr>
          <p:cNvPr id="7174" name="Rectangle 6"/>
          <p:cNvSpPr>
            <a:spLocks noChangeArrowheads="1"/>
          </p:cNvSpPr>
          <p:nvPr/>
        </p:nvSpPr>
        <p:spPr bwMode="auto">
          <a:xfrm>
            <a:off x="3361753" y="5330825"/>
            <a:ext cx="176009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Supercomputer</a:t>
            </a:r>
          </a:p>
        </p:txBody>
      </p:sp>
      <p:sp>
        <p:nvSpPr>
          <p:cNvPr id="7175" name="Rectangle 7"/>
          <p:cNvSpPr>
            <a:spLocks noChangeArrowheads="1"/>
          </p:cNvSpPr>
          <p:nvPr/>
        </p:nvSpPr>
        <p:spPr bwMode="auto">
          <a:xfrm>
            <a:off x="6067039" y="949326"/>
            <a:ext cx="1721626"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supercomputer</a:t>
            </a:r>
          </a:p>
        </p:txBody>
      </p:sp>
      <p:grpSp>
        <p:nvGrpSpPr>
          <p:cNvPr id="7191" name="Group 23"/>
          <p:cNvGrpSpPr>
            <a:grpSpLocks/>
          </p:cNvGrpSpPr>
          <p:nvPr/>
        </p:nvGrpSpPr>
        <p:grpSpPr bwMode="auto">
          <a:xfrm>
            <a:off x="6183314" y="438150"/>
            <a:ext cx="1671637" cy="547688"/>
            <a:chOff x="2935" y="276"/>
            <a:chExt cx="1053" cy="345"/>
          </a:xfrm>
        </p:grpSpPr>
        <p:sp>
          <p:nvSpPr>
            <p:cNvPr id="7176" name="Freeform 8"/>
            <p:cNvSpPr>
              <a:spLocks/>
            </p:cNvSpPr>
            <p:nvPr/>
          </p:nvSpPr>
          <p:spPr bwMode="auto">
            <a:xfrm>
              <a:off x="3201" y="303"/>
              <a:ext cx="124" cy="93"/>
            </a:xfrm>
            <a:custGeom>
              <a:avLst/>
              <a:gdLst>
                <a:gd name="T0" fmla="*/ 0 w 124"/>
                <a:gd name="T1" fmla="*/ 92 h 93"/>
                <a:gd name="T2" fmla="*/ 5 w 124"/>
                <a:gd name="T3" fmla="*/ 83 h 93"/>
                <a:gd name="T4" fmla="*/ 11 w 124"/>
                <a:gd name="T5" fmla="*/ 73 h 93"/>
                <a:gd name="T6" fmla="*/ 18 w 124"/>
                <a:gd name="T7" fmla="*/ 63 h 93"/>
                <a:gd name="T8" fmla="*/ 25 w 124"/>
                <a:gd name="T9" fmla="*/ 54 h 93"/>
                <a:gd name="T10" fmla="*/ 35 w 124"/>
                <a:gd name="T11" fmla="*/ 44 h 93"/>
                <a:gd name="T12" fmla="*/ 44 w 124"/>
                <a:gd name="T13" fmla="*/ 34 h 93"/>
                <a:gd name="T14" fmla="*/ 52 w 124"/>
                <a:gd name="T15" fmla="*/ 27 h 93"/>
                <a:gd name="T16" fmla="*/ 60 w 124"/>
                <a:gd name="T17" fmla="*/ 20 h 93"/>
                <a:gd name="T18" fmla="*/ 69 w 124"/>
                <a:gd name="T19" fmla="*/ 14 h 93"/>
                <a:gd name="T20" fmla="*/ 79 w 124"/>
                <a:gd name="T21" fmla="*/ 9 h 93"/>
                <a:gd name="T22" fmla="*/ 88 w 124"/>
                <a:gd name="T23" fmla="*/ 5 h 93"/>
                <a:gd name="T24" fmla="*/ 98 w 124"/>
                <a:gd name="T25" fmla="*/ 2 h 93"/>
                <a:gd name="T26" fmla="*/ 109 w 124"/>
                <a:gd name="T27" fmla="*/ 0 h 93"/>
                <a:gd name="T28" fmla="*/ 118 w 124"/>
                <a:gd name="T29" fmla="*/ 0 h 93"/>
                <a:gd name="T30" fmla="*/ 123 w 124"/>
                <a:gd name="T31" fmla="*/ 1 h 93"/>
                <a:gd name="T32" fmla="*/ 117 w 124"/>
                <a:gd name="T33" fmla="*/ 7 h 93"/>
                <a:gd name="T34" fmla="*/ 110 w 124"/>
                <a:gd name="T35" fmla="*/ 15 h 93"/>
                <a:gd name="T36" fmla="*/ 104 w 124"/>
                <a:gd name="T37" fmla="*/ 23 h 93"/>
                <a:gd name="T38" fmla="*/ 97 w 124"/>
                <a:gd name="T39" fmla="*/ 33 h 93"/>
                <a:gd name="T40" fmla="*/ 91 w 124"/>
                <a:gd name="T41" fmla="*/ 42 h 93"/>
                <a:gd name="T42" fmla="*/ 86 w 124"/>
                <a:gd name="T43" fmla="*/ 51 h 93"/>
                <a:gd name="T44" fmla="*/ 83 w 124"/>
                <a:gd name="T45" fmla="*/ 60 h 93"/>
                <a:gd name="T46" fmla="*/ 80 w 124"/>
                <a:gd name="T47" fmla="*/ 73 h 93"/>
                <a:gd name="T48" fmla="*/ 80 w 124"/>
                <a:gd name="T49" fmla="*/ 83 h 93"/>
                <a:gd name="T50" fmla="*/ 80 w 124"/>
                <a:gd name="T51" fmla="*/ 91 h 93"/>
                <a:gd name="T52" fmla="*/ 0 w 124"/>
                <a:gd name="T53" fmla="*/ 9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 h="93">
                  <a:moveTo>
                    <a:pt x="0" y="92"/>
                  </a:moveTo>
                  <a:lnTo>
                    <a:pt x="5" y="83"/>
                  </a:lnTo>
                  <a:lnTo>
                    <a:pt x="11" y="73"/>
                  </a:lnTo>
                  <a:lnTo>
                    <a:pt x="18" y="63"/>
                  </a:lnTo>
                  <a:lnTo>
                    <a:pt x="25" y="54"/>
                  </a:lnTo>
                  <a:lnTo>
                    <a:pt x="35" y="44"/>
                  </a:lnTo>
                  <a:lnTo>
                    <a:pt x="44" y="34"/>
                  </a:lnTo>
                  <a:lnTo>
                    <a:pt x="52" y="27"/>
                  </a:lnTo>
                  <a:lnTo>
                    <a:pt x="60" y="20"/>
                  </a:lnTo>
                  <a:lnTo>
                    <a:pt x="69" y="14"/>
                  </a:lnTo>
                  <a:lnTo>
                    <a:pt x="79" y="9"/>
                  </a:lnTo>
                  <a:lnTo>
                    <a:pt x="88" y="5"/>
                  </a:lnTo>
                  <a:lnTo>
                    <a:pt x="98" y="2"/>
                  </a:lnTo>
                  <a:lnTo>
                    <a:pt x="109" y="0"/>
                  </a:lnTo>
                  <a:lnTo>
                    <a:pt x="118" y="0"/>
                  </a:lnTo>
                  <a:lnTo>
                    <a:pt x="123" y="1"/>
                  </a:lnTo>
                  <a:lnTo>
                    <a:pt x="117" y="7"/>
                  </a:lnTo>
                  <a:lnTo>
                    <a:pt x="110" y="15"/>
                  </a:lnTo>
                  <a:lnTo>
                    <a:pt x="104" y="23"/>
                  </a:lnTo>
                  <a:lnTo>
                    <a:pt x="97" y="33"/>
                  </a:lnTo>
                  <a:lnTo>
                    <a:pt x="91" y="42"/>
                  </a:lnTo>
                  <a:lnTo>
                    <a:pt x="86" y="51"/>
                  </a:lnTo>
                  <a:lnTo>
                    <a:pt x="83" y="60"/>
                  </a:lnTo>
                  <a:lnTo>
                    <a:pt x="80" y="73"/>
                  </a:lnTo>
                  <a:lnTo>
                    <a:pt x="80" y="83"/>
                  </a:lnTo>
                  <a:lnTo>
                    <a:pt x="80" y="91"/>
                  </a:lnTo>
                  <a:lnTo>
                    <a:pt x="0" y="92"/>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7" name="Freeform 9"/>
            <p:cNvSpPr>
              <a:spLocks/>
            </p:cNvSpPr>
            <p:nvPr/>
          </p:nvSpPr>
          <p:spPr bwMode="auto">
            <a:xfrm>
              <a:off x="2935" y="321"/>
              <a:ext cx="1053" cy="300"/>
            </a:xfrm>
            <a:custGeom>
              <a:avLst/>
              <a:gdLst>
                <a:gd name="T0" fmla="*/ 11 w 1053"/>
                <a:gd name="T1" fmla="*/ 121 h 300"/>
                <a:gd name="T2" fmla="*/ 43 w 1053"/>
                <a:gd name="T3" fmla="*/ 134 h 300"/>
                <a:gd name="T4" fmla="*/ 92 w 1053"/>
                <a:gd name="T5" fmla="*/ 148 h 300"/>
                <a:gd name="T6" fmla="*/ 143 w 1053"/>
                <a:gd name="T7" fmla="*/ 159 h 300"/>
                <a:gd name="T8" fmla="*/ 194 w 1053"/>
                <a:gd name="T9" fmla="*/ 168 h 300"/>
                <a:gd name="T10" fmla="*/ 246 w 1053"/>
                <a:gd name="T11" fmla="*/ 177 h 300"/>
                <a:gd name="T12" fmla="*/ 289 w 1053"/>
                <a:gd name="T13" fmla="*/ 186 h 300"/>
                <a:gd name="T14" fmla="*/ 314 w 1053"/>
                <a:gd name="T15" fmla="*/ 199 h 300"/>
                <a:gd name="T16" fmla="*/ 339 w 1053"/>
                <a:gd name="T17" fmla="*/ 223 h 300"/>
                <a:gd name="T18" fmla="*/ 375 w 1053"/>
                <a:gd name="T19" fmla="*/ 258 h 300"/>
                <a:gd name="T20" fmla="*/ 412 w 1053"/>
                <a:gd name="T21" fmla="*/ 289 h 300"/>
                <a:gd name="T22" fmla="*/ 438 w 1053"/>
                <a:gd name="T23" fmla="*/ 263 h 300"/>
                <a:gd name="T24" fmla="*/ 453 w 1053"/>
                <a:gd name="T25" fmla="*/ 211 h 300"/>
                <a:gd name="T26" fmla="*/ 462 w 1053"/>
                <a:gd name="T27" fmla="*/ 190 h 300"/>
                <a:gd name="T28" fmla="*/ 523 w 1053"/>
                <a:gd name="T29" fmla="*/ 180 h 300"/>
                <a:gd name="T30" fmla="*/ 584 w 1053"/>
                <a:gd name="T31" fmla="*/ 169 h 300"/>
                <a:gd name="T32" fmla="*/ 630 w 1053"/>
                <a:gd name="T33" fmla="*/ 169 h 300"/>
                <a:gd name="T34" fmla="*/ 679 w 1053"/>
                <a:gd name="T35" fmla="*/ 178 h 300"/>
                <a:gd name="T36" fmla="*/ 717 w 1053"/>
                <a:gd name="T37" fmla="*/ 153 h 300"/>
                <a:gd name="T38" fmla="*/ 754 w 1053"/>
                <a:gd name="T39" fmla="*/ 143 h 300"/>
                <a:gd name="T40" fmla="*/ 800 w 1053"/>
                <a:gd name="T41" fmla="*/ 143 h 300"/>
                <a:gd name="T42" fmla="*/ 849 w 1053"/>
                <a:gd name="T43" fmla="*/ 161 h 300"/>
                <a:gd name="T44" fmla="*/ 904 w 1053"/>
                <a:gd name="T45" fmla="*/ 205 h 300"/>
                <a:gd name="T46" fmla="*/ 968 w 1053"/>
                <a:gd name="T47" fmla="*/ 256 h 300"/>
                <a:gd name="T48" fmla="*/ 1032 w 1053"/>
                <a:gd name="T49" fmla="*/ 277 h 300"/>
                <a:gd name="T50" fmla="*/ 1034 w 1053"/>
                <a:gd name="T51" fmla="*/ 260 h 300"/>
                <a:gd name="T52" fmla="*/ 1004 w 1053"/>
                <a:gd name="T53" fmla="*/ 223 h 300"/>
                <a:gd name="T54" fmla="*/ 968 w 1053"/>
                <a:gd name="T55" fmla="*/ 187 h 300"/>
                <a:gd name="T56" fmla="*/ 945 w 1053"/>
                <a:gd name="T57" fmla="*/ 151 h 300"/>
                <a:gd name="T58" fmla="*/ 945 w 1053"/>
                <a:gd name="T59" fmla="*/ 114 h 300"/>
                <a:gd name="T60" fmla="*/ 970 w 1053"/>
                <a:gd name="T61" fmla="*/ 75 h 300"/>
                <a:gd name="T62" fmla="*/ 1002 w 1053"/>
                <a:gd name="T63" fmla="*/ 47 h 300"/>
                <a:gd name="T64" fmla="*/ 1031 w 1053"/>
                <a:gd name="T65" fmla="*/ 23 h 300"/>
                <a:gd name="T66" fmla="*/ 1032 w 1053"/>
                <a:gd name="T67" fmla="*/ 12 h 300"/>
                <a:gd name="T68" fmla="*/ 992 w 1053"/>
                <a:gd name="T69" fmla="*/ 13 h 300"/>
                <a:gd name="T70" fmla="*/ 957 w 1053"/>
                <a:gd name="T71" fmla="*/ 21 h 300"/>
                <a:gd name="T72" fmla="*/ 923 w 1053"/>
                <a:gd name="T73" fmla="*/ 38 h 300"/>
                <a:gd name="T74" fmla="*/ 868 w 1053"/>
                <a:gd name="T75" fmla="*/ 72 h 300"/>
                <a:gd name="T76" fmla="*/ 800 w 1053"/>
                <a:gd name="T77" fmla="*/ 77 h 300"/>
                <a:gd name="T78" fmla="*/ 718 w 1053"/>
                <a:gd name="T79" fmla="*/ 68 h 300"/>
                <a:gd name="T80" fmla="*/ 666 w 1053"/>
                <a:gd name="T81" fmla="*/ 48 h 300"/>
                <a:gd name="T82" fmla="*/ 649 w 1053"/>
                <a:gd name="T83" fmla="*/ 25 h 300"/>
                <a:gd name="T84" fmla="*/ 576 w 1053"/>
                <a:gd name="T85" fmla="*/ 27 h 300"/>
                <a:gd name="T86" fmla="*/ 514 w 1053"/>
                <a:gd name="T87" fmla="*/ 8 h 300"/>
                <a:gd name="T88" fmla="*/ 285 w 1053"/>
                <a:gd name="T89" fmla="*/ 0 h 300"/>
                <a:gd name="T90" fmla="*/ 153 w 1053"/>
                <a:gd name="T91" fmla="*/ 13 h 300"/>
                <a:gd name="T92" fmla="*/ 38 w 1053"/>
                <a:gd name="T93" fmla="*/ 51 h 300"/>
                <a:gd name="T94" fmla="*/ 38 w 1053"/>
                <a:gd name="T95" fmla="*/ 70 h 300"/>
                <a:gd name="T96" fmla="*/ 12 w 1053"/>
                <a:gd name="T97" fmla="*/ 93 h 300"/>
                <a:gd name="T98" fmla="*/ 2 w 1053"/>
                <a:gd name="T99" fmla="*/ 109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3" h="300">
                  <a:moveTo>
                    <a:pt x="0" y="114"/>
                  </a:moveTo>
                  <a:lnTo>
                    <a:pt x="4" y="117"/>
                  </a:lnTo>
                  <a:lnTo>
                    <a:pt x="11" y="121"/>
                  </a:lnTo>
                  <a:lnTo>
                    <a:pt x="24" y="126"/>
                  </a:lnTo>
                  <a:lnTo>
                    <a:pt x="33" y="130"/>
                  </a:lnTo>
                  <a:lnTo>
                    <a:pt x="43" y="134"/>
                  </a:lnTo>
                  <a:lnTo>
                    <a:pt x="60" y="139"/>
                  </a:lnTo>
                  <a:lnTo>
                    <a:pt x="76" y="144"/>
                  </a:lnTo>
                  <a:lnTo>
                    <a:pt x="92" y="148"/>
                  </a:lnTo>
                  <a:lnTo>
                    <a:pt x="108" y="152"/>
                  </a:lnTo>
                  <a:lnTo>
                    <a:pt x="125" y="155"/>
                  </a:lnTo>
                  <a:lnTo>
                    <a:pt x="143" y="159"/>
                  </a:lnTo>
                  <a:lnTo>
                    <a:pt x="162" y="162"/>
                  </a:lnTo>
                  <a:lnTo>
                    <a:pt x="178" y="165"/>
                  </a:lnTo>
                  <a:lnTo>
                    <a:pt x="194" y="168"/>
                  </a:lnTo>
                  <a:lnTo>
                    <a:pt x="209" y="171"/>
                  </a:lnTo>
                  <a:lnTo>
                    <a:pt x="229" y="175"/>
                  </a:lnTo>
                  <a:lnTo>
                    <a:pt x="246" y="177"/>
                  </a:lnTo>
                  <a:lnTo>
                    <a:pt x="263" y="180"/>
                  </a:lnTo>
                  <a:lnTo>
                    <a:pt x="277" y="182"/>
                  </a:lnTo>
                  <a:lnTo>
                    <a:pt x="289" y="186"/>
                  </a:lnTo>
                  <a:lnTo>
                    <a:pt x="300" y="190"/>
                  </a:lnTo>
                  <a:lnTo>
                    <a:pt x="307" y="194"/>
                  </a:lnTo>
                  <a:lnTo>
                    <a:pt x="314" y="199"/>
                  </a:lnTo>
                  <a:lnTo>
                    <a:pt x="321" y="206"/>
                  </a:lnTo>
                  <a:lnTo>
                    <a:pt x="329" y="214"/>
                  </a:lnTo>
                  <a:lnTo>
                    <a:pt x="339" y="223"/>
                  </a:lnTo>
                  <a:lnTo>
                    <a:pt x="350" y="235"/>
                  </a:lnTo>
                  <a:lnTo>
                    <a:pt x="362" y="246"/>
                  </a:lnTo>
                  <a:lnTo>
                    <a:pt x="375" y="258"/>
                  </a:lnTo>
                  <a:lnTo>
                    <a:pt x="386" y="269"/>
                  </a:lnTo>
                  <a:lnTo>
                    <a:pt x="399" y="278"/>
                  </a:lnTo>
                  <a:lnTo>
                    <a:pt x="412" y="289"/>
                  </a:lnTo>
                  <a:lnTo>
                    <a:pt x="427" y="299"/>
                  </a:lnTo>
                  <a:lnTo>
                    <a:pt x="432" y="280"/>
                  </a:lnTo>
                  <a:lnTo>
                    <a:pt x="438" y="263"/>
                  </a:lnTo>
                  <a:lnTo>
                    <a:pt x="444" y="245"/>
                  </a:lnTo>
                  <a:lnTo>
                    <a:pt x="450" y="226"/>
                  </a:lnTo>
                  <a:lnTo>
                    <a:pt x="453" y="211"/>
                  </a:lnTo>
                  <a:lnTo>
                    <a:pt x="452" y="201"/>
                  </a:lnTo>
                  <a:lnTo>
                    <a:pt x="446" y="192"/>
                  </a:lnTo>
                  <a:lnTo>
                    <a:pt x="462" y="190"/>
                  </a:lnTo>
                  <a:lnTo>
                    <a:pt x="479" y="187"/>
                  </a:lnTo>
                  <a:lnTo>
                    <a:pt x="500" y="183"/>
                  </a:lnTo>
                  <a:lnTo>
                    <a:pt x="523" y="180"/>
                  </a:lnTo>
                  <a:lnTo>
                    <a:pt x="546" y="175"/>
                  </a:lnTo>
                  <a:lnTo>
                    <a:pt x="565" y="172"/>
                  </a:lnTo>
                  <a:lnTo>
                    <a:pt x="584" y="169"/>
                  </a:lnTo>
                  <a:lnTo>
                    <a:pt x="602" y="167"/>
                  </a:lnTo>
                  <a:lnTo>
                    <a:pt x="618" y="165"/>
                  </a:lnTo>
                  <a:lnTo>
                    <a:pt x="630" y="169"/>
                  </a:lnTo>
                  <a:lnTo>
                    <a:pt x="642" y="175"/>
                  </a:lnTo>
                  <a:lnTo>
                    <a:pt x="653" y="182"/>
                  </a:lnTo>
                  <a:lnTo>
                    <a:pt x="679" y="178"/>
                  </a:lnTo>
                  <a:lnTo>
                    <a:pt x="707" y="172"/>
                  </a:lnTo>
                  <a:lnTo>
                    <a:pt x="731" y="167"/>
                  </a:lnTo>
                  <a:lnTo>
                    <a:pt x="717" y="153"/>
                  </a:lnTo>
                  <a:lnTo>
                    <a:pt x="726" y="150"/>
                  </a:lnTo>
                  <a:lnTo>
                    <a:pt x="739" y="146"/>
                  </a:lnTo>
                  <a:lnTo>
                    <a:pt x="754" y="143"/>
                  </a:lnTo>
                  <a:lnTo>
                    <a:pt x="770" y="140"/>
                  </a:lnTo>
                  <a:lnTo>
                    <a:pt x="784" y="142"/>
                  </a:lnTo>
                  <a:lnTo>
                    <a:pt x="800" y="143"/>
                  </a:lnTo>
                  <a:lnTo>
                    <a:pt x="817" y="147"/>
                  </a:lnTo>
                  <a:lnTo>
                    <a:pt x="834" y="152"/>
                  </a:lnTo>
                  <a:lnTo>
                    <a:pt x="849" y="161"/>
                  </a:lnTo>
                  <a:lnTo>
                    <a:pt x="870" y="175"/>
                  </a:lnTo>
                  <a:lnTo>
                    <a:pt x="885" y="187"/>
                  </a:lnTo>
                  <a:lnTo>
                    <a:pt x="904" y="205"/>
                  </a:lnTo>
                  <a:lnTo>
                    <a:pt x="924" y="226"/>
                  </a:lnTo>
                  <a:lnTo>
                    <a:pt x="948" y="243"/>
                  </a:lnTo>
                  <a:lnTo>
                    <a:pt x="968" y="256"/>
                  </a:lnTo>
                  <a:lnTo>
                    <a:pt x="988" y="267"/>
                  </a:lnTo>
                  <a:lnTo>
                    <a:pt x="1008" y="274"/>
                  </a:lnTo>
                  <a:lnTo>
                    <a:pt x="1032" y="277"/>
                  </a:lnTo>
                  <a:lnTo>
                    <a:pt x="1052" y="276"/>
                  </a:lnTo>
                  <a:lnTo>
                    <a:pt x="1042" y="267"/>
                  </a:lnTo>
                  <a:lnTo>
                    <a:pt x="1034" y="260"/>
                  </a:lnTo>
                  <a:lnTo>
                    <a:pt x="1031" y="253"/>
                  </a:lnTo>
                  <a:lnTo>
                    <a:pt x="1015" y="233"/>
                  </a:lnTo>
                  <a:lnTo>
                    <a:pt x="1004" y="223"/>
                  </a:lnTo>
                  <a:lnTo>
                    <a:pt x="990" y="212"/>
                  </a:lnTo>
                  <a:lnTo>
                    <a:pt x="978" y="199"/>
                  </a:lnTo>
                  <a:lnTo>
                    <a:pt x="968" y="187"/>
                  </a:lnTo>
                  <a:lnTo>
                    <a:pt x="959" y="175"/>
                  </a:lnTo>
                  <a:lnTo>
                    <a:pt x="951" y="162"/>
                  </a:lnTo>
                  <a:lnTo>
                    <a:pt x="945" y="151"/>
                  </a:lnTo>
                  <a:lnTo>
                    <a:pt x="941" y="140"/>
                  </a:lnTo>
                  <a:lnTo>
                    <a:pt x="940" y="127"/>
                  </a:lnTo>
                  <a:lnTo>
                    <a:pt x="945" y="114"/>
                  </a:lnTo>
                  <a:lnTo>
                    <a:pt x="951" y="99"/>
                  </a:lnTo>
                  <a:lnTo>
                    <a:pt x="960" y="87"/>
                  </a:lnTo>
                  <a:lnTo>
                    <a:pt x="970" y="75"/>
                  </a:lnTo>
                  <a:lnTo>
                    <a:pt x="980" y="66"/>
                  </a:lnTo>
                  <a:lnTo>
                    <a:pt x="991" y="57"/>
                  </a:lnTo>
                  <a:lnTo>
                    <a:pt x="1002" y="47"/>
                  </a:lnTo>
                  <a:lnTo>
                    <a:pt x="1015" y="36"/>
                  </a:lnTo>
                  <a:lnTo>
                    <a:pt x="1023" y="29"/>
                  </a:lnTo>
                  <a:lnTo>
                    <a:pt x="1031" y="23"/>
                  </a:lnTo>
                  <a:lnTo>
                    <a:pt x="1039" y="18"/>
                  </a:lnTo>
                  <a:lnTo>
                    <a:pt x="1044" y="12"/>
                  </a:lnTo>
                  <a:lnTo>
                    <a:pt x="1032" y="12"/>
                  </a:lnTo>
                  <a:lnTo>
                    <a:pt x="1017" y="12"/>
                  </a:lnTo>
                  <a:lnTo>
                    <a:pt x="1004" y="11"/>
                  </a:lnTo>
                  <a:lnTo>
                    <a:pt x="992" y="13"/>
                  </a:lnTo>
                  <a:lnTo>
                    <a:pt x="978" y="14"/>
                  </a:lnTo>
                  <a:lnTo>
                    <a:pt x="967" y="18"/>
                  </a:lnTo>
                  <a:lnTo>
                    <a:pt x="957" y="21"/>
                  </a:lnTo>
                  <a:lnTo>
                    <a:pt x="946" y="26"/>
                  </a:lnTo>
                  <a:lnTo>
                    <a:pt x="934" y="32"/>
                  </a:lnTo>
                  <a:lnTo>
                    <a:pt x="923" y="38"/>
                  </a:lnTo>
                  <a:lnTo>
                    <a:pt x="903" y="52"/>
                  </a:lnTo>
                  <a:lnTo>
                    <a:pt x="888" y="61"/>
                  </a:lnTo>
                  <a:lnTo>
                    <a:pt x="868" y="72"/>
                  </a:lnTo>
                  <a:lnTo>
                    <a:pt x="848" y="74"/>
                  </a:lnTo>
                  <a:lnTo>
                    <a:pt x="828" y="74"/>
                  </a:lnTo>
                  <a:lnTo>
                    <a:pt x="800" y="77"/>
                  </a:lnTo>
                  <a:lnTo>
                    <a:pt x="775" y="74"/>
                  </a:lnTo>
                  <a:lnTo>
                    <a:pt x="747" y="73"/>
                  </a:lnTo>
                  <a:lnTo>
                    <a:pt x="718" y="68"/>
                  </a:lnTo>
                  <a:lnTo>
                    <a:pt x="688" y="61"/>
                  </a:lnTo>
                  <a:lnTo>
                    <a:pt x="670" y="54"/>
                  </a:lnTo>
                  <a:lnTo>
                    <a:pt x="666" y="48"/>
                  </a:lnTo>
                  <a:lnTo>
                    <a:pt x="670" y="42"/>
                  </a:lnTo>
                  <a:lnTo>
                    <a:pt x="684" y="33"/>
                  </a:lnTo>
                  <a:lnTo>
                    <a:pt x="649" y="25"/>
                  </a:lnTo>
                  <a:lnTo>
                    <a:pt x="600" y="12"/>
                  </a:lnTo>
                  <a:lnTo>
                    <a:pt x="589" y="21"/>
                  </a:lnTo>
                  <a:lnTo>
                    <a:pt x="576" y="27"/>
                  </a:lnTo>
                  <a:lnTo>
                    <a:pt x="562" y="30"/>
                  </a:lnTo>
                  <a:lnTo>
                    <a:pt x="542" y="31"/>
                  </a:lnTo>
                  <a:lnTo>
                    <a:pt x="514" y="8"/>
                  </a:lnTo>
                  <a:lnTo>
                    <a:pt x="491" y="25"/>
                  </a:lnTo>
                  <a:lnTo>
                    <a:pt x="319" y="2"/>
                  </a:lnTo>
                  <a:lnTo>
                    <a:pt x="285" y="0"/>
                  </a:lnTo>
                  <a:lnTo>
                    <a:pt x="253" y="3"/>
                  </a:lnTo>
                  <a:lnTo>
                    <a:pt x="220" y="5"/>
                  </a:lnTo>
                  <a:lnTo>
                    <a:pt x="153" y="13"/>
                  </a:lnTo>
                  <a:lnTo>
                    <a:pt x="93" y="28"/>
                  </a:lnTo>
                  <a:lnTo>
                    <a:pt x="60" y="39"/>
                  </a:lnTo>
                  <a:lnTo>
                    <a:pt x="38" y="51"/>
                  </a:lnTo>
                  <a:lnTo>
                    <a:pt x="62" y="55"/>
                  </a:lnTo>
                  <a:lnTo>
                    <a:pt x="47" y="64"/>
                  </a:lnTo>
                  <a:lnTo>
                    <a:pt x="38" y="70"/>
                  </a:lnTo>
                  <a:lnTo>
                    <a:pt x="21" y="84"/>
                  </a:lnTo>
                  <a:lnTo>
                    <a:pt x="17" y="87"/>
                  </a:lnTo>
                  <a:lnTo>
                    <a:pt x="12" y="93"/>
                  </a:lnTo>
                  <a:lnTo>
                    <a:pt x="9" y="97"/>
                  </a:lnTo>
                  <a:lnTo>
                    <a:pt x="6" y="104"/>
                  </a:lnTo>
                  <a:lnTo>
                    <a:pt x="2" y="109"/>
                  </a:lnTo>
                  <a:lnTo>
                    <a:pt x="0" y="11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80" name="Group 12"/>
            <p:cNvGrpSpPr>
              <a:grpSpLocks/>
            </p:cNvGrpSpPr>
            <p:nvPr/>
          </p:nvGrpSpPr>
          <p:grpSpPr bwMode="auto">
            <a:xfrm>
              <a:off x="3028" y="410"/>
              <a:ext cx="17" cy="15"/>
              <a:chOff x="3028" y="410"/>
              <a:chExt cx="17" cy="15"/>
            </a:xfrm>
          </p:grpSpPr>
          <p:sp>
            <p:nvSpPr>
              <p:cNvPr id="7178" name="Oval 10"/>
              <p:cNvSpPr>
                <a:spLocks noChangeArrowheads="1"/>
              </p:cNvSpPr>
              <p:nvPr/>
            </p:nvSpPr>
            <p:spPr bwMode="auto">
              <a:xfrm>
                <a:off x="3028" y="410"/>
                <a:ext cx="16" cy="15"/>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Arc 11"/>
              <p:cNvSpPr>
                <a:spLocks/>
              </p:cNvSpPr>
              <p:nvPr/>
            </p:nvSpPr>
            <p:spPr bwMode="auto">
              <a:xfrm>
                <a:off x="3031" y="411"/>
                <a:ext cx="14" cy="14"/>
              </a:xfrm>
              <a:custGeom>
                <a:avLst/>
                <a:gdLst>
                  <a:gd name="G0" fmla="+- 21600 0 0"/>
                  <a:gd name="G1" fmla="+- 21600 0 0"/>
                  <a:gd name="G2" fmla="+- 21600 0 0"/>
                  <a:gd name="T0" fmla="*/ 14769 w 43200"/>
                  <a:gd name="T1" fmla="*/ 42092 h 42092"/>
                  <a:gd name="T2" fmla="*/ 35093 w 43200"/>
                  <a:gd name="T3" fmla="*/ 38467 h 42092"/>
                  <a:gd name="T4" fmla="*/ 21600 w 43200"/>
                  <a:gd name="T5" fmla="*/ 21600 h 42092"/>
                </a:gdLst>
                <a:ahLst/>
                <a:cxnLst>
                  <a:cxn ang="0">
                    <a:pos x="T0" y="T1"/>
                  </a:cxn>
                  <a:cxn ang="0">
                    <a:pos x="T2" y="T3"/>
                  </a:cxn>
                  <a:cxn ang="0">
                    <a:pos x="T4" y="T5"/>
                  </a:cxn>
                </a:cxnLst>
                <a:rect l="0" t="0" r="r" b="b"/>
                <a:pathLst>
                  <a:path w="43200" h="42092" fill="none" extrusionOk="0">
                    <a:moveTo>
                      <a:pt x="14769" y="42091"/>
                    </a:moveTo>
                    <a:cubicBezTo>
                      <a:pt x="5949" y="39151"/>
                      <a:pt x="0" y="30897"/>
                      <a:pt x="0" y="21600"/>
                    </a:cubicBezTo>
                    <a:cubicBezTo>
                      <a:pt x="0" y="9670"/>
                      <a:pt x="9670" y="0"/>
                      <a:pt x="21600" y="0"/>
                    </a:cubicBezTo>
                    <a:cubicBezTo>
                      <a:pt x="33529" y="0"/>
                      <a:pt x="43200" y="9670"/>
                      <a:pt x="43200" y="21600"/>
                    </a:cubicBezTo>
                    <a:cubicBezTo>
                      <a:pt x="43199" y="28161"/>
                      <a:pt x="40217" y="34367"/>
                      <a:pt x="35093" y="38467"/>
                    </a:cubicBezTo>
                  </a:path>
                  <a:path w="43200" h="42092" stroke="0" extrusionOk="0">
                    <a:moveTo>
                      <a:pt x="14769" y="42091"/>
                    </a:moveTo>
                    <a:cubicBezTo>
                      <a:pt x="5949" y="39151"/>
                      <a:pt x="0" y="30897"/>
                      <a:pt x="0" y="21600"/>
                    </a:cubicBezTo>
                    <a:cubicBezTo>
                      <a:pt x="0" y="9670"/>
                      <a:pt x="9670" y="0"/>
                      <a:pt x="21600" y="0"/>
                    </a:cubicBezTo>
                    <a:cubicBezTo>
                      <a:pt x="33529" y="0"/>
                      <a:pt x="43200" y="9670"/>
                      <a:pt x="43200" y="21600"/>
                    </a:cubicBezTo>
                    <a:cubicBezTo>
                      <a:pt x="43199" y="28161"/>
                      <a:pt x="40217" y="34367"/>
                      <a:pt x="35093" y="38467"/>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8"/>
            <p:cNvGrpSpPr>
              <a:grpSpLocks/>
            </p:cNvGrpSpPr>
            <p:nvPr/>
          </p:nvGrpSpPr>
          <p:grpSpPr bwMode="auto">
            <a:xfrm>
              <a:off x="3089" y="359"/>
              <a:ext cx="64" cy="44"/>
              <a:chOff x="3089" y="359"/>
              <a:chExt cx="64" cy="44"/>
            </a:xfrm>
          </p:grpSpPr>
          <p:sp>
            <p:nvSpPr>
              <p:cNvPr id="7181" name="Arc 13"/>
              <p:cNvSpPr>
                <a:spLocks/>
              </p:cNvSpPr>
              <p:nvPr/>
            </p:nvSpPr>
            <p:spPr bwMode="auto">
              <a:xfrm>
                <a:off x="3103"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Arc 14"/>
              <p:cNvSpPr>
                <a:spLocks/>
              </p:cNvSpPr>
              <p:nvPr/>
            </p:nvSpPr>
            <p:spPr bwMode="auto">
              <a:xfrm>
                <a:off x="3089"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Arc 15"/>
              <p:cNvSpPr>
                <a:spLocks/>
              </p:cNvSpPr>
              <p:nvPr/>
            </p:nvSpPr>
            <p:spPr bwMode="auto">
              <a:xfrm>
                <a:off x="3117"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Arc 16"/>
              <p:cNvSpPr>
                <a:spLocks/>
              </p:cNvSpPr>
              <p:nvPr/>
            </p:nvSpPr>
            <p:spPr bwMode="auto">
              <a:xfrm>
                <a:off x="3131"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Arc 17"/>
              <p:cNvSpPr>
                <a:spLocks/>
              </p:cNvSpPr>
              <p:nvPr/>
            </p:nvSpPr>
            <p:spPr bwMode="auto">
              <a:xfrm>
                <a:off x="3148" y="359"/>
                <a:ext cx="5" cy="44"/>
              </a:xfrm>
              <a:custGeom>
                <a:avLst/>
                <a:gdLst>
                  <a:gd name="G0" fmla="+- 4686 0 0"/>
                  <a:gd name="G1" fmla="+- 21600 0 0"/>
                  <a:gd name="G2" fmla="+- 21600 0 0"/>
                  <a:gd name="T0" fmla="*/ 0 w 26286"/>
                  <a:gd name="T1" fmla="*/ 514 h 43200"/>
                  <a:gd name="T2" fmla="*/ 0 w 26286"/>
                  <a:gd name="T3" fmla="*/ 42686 h 43200"/>
                  <a:gd name="T4" fmla="*/ 4686 w 26286"/>
                  <a:gd name="T5" fmla="*/ 21600 h 43200"/>
                </a:gdLst>
                <a:ahLst/>
                <a:cxnLst>
                  <a:cxn ang="0">
                    <a:pos x="T0" y="T1"/>
                  </a:cxn>
                  <a:cxn ang="0">
                    <a:pos x="T2" y="T3"/>
                  </a:cxn>
                  <a:cxn ang="0">
                    <a:pos x="T4" y="T5"/>
                  </a:cxn>
                </a:cxnLst>
                <a:rect l="0" t="0" r="r" b="b"/>
                <a:pathLst>
                  <a:path w="26286" h="43200" fill="none" extrusionOk="0">
                    <a:moveTo>
                      <a:pt x="0" y="514"/>
                    </a:moveTo>
                    <a:cubicBezTo>
                      <a:pt x="1538" y="172"/>
                      <a:pt x="3109" y="0"/>
                      <a:pt x="4686" y="0"/>
                    </a:cubicBezTo>
                    <a:cubicBezTo>
                      <a:pt x="16615" y="0"/>
                      <a:pt x="26286" y="9670"/>
                      <a:pt x="26286" y="21600"/>
                    </a:cubicBezTo>
                    <a:cubicBezTo>
                      <a:pt x="26286" y="33529"/>
                      <a:pt x="16615" y="43200"/>
                      <a:pt x="4686" y="43200"/>
                    </a:cubicBezTo>
                    <a:cubicBezTo>
                      <a:pt x="3109" y="43199"/>
                      <a:pt x="1538" y="43027"/>
                      <a:pt x="0" y="42685"/>
                    </a:cubicBezTo>
                  </a:path>
                  <a:path w="26286" h="43200" stroke="0" extrusionOk="0">
                    <a:moveTo>
                      <a:pt x="0" y="514"/>
                    </a:moveTo>
                    <a:cubicBezTo>
                      <a:pt x="1538" y="172"/>
                      <a:pt x="3109" y="0"/>
                      <a:pt x="4686" y="0"/>
                    </a:cubicBezTo>
                    <a:cubicBezTo>
                      <a:pt x="16615" y="0"/>
                      <a:pt x="26286" y="9670"/>
                      <a:pt x="26286" y="21600"/>
                    </a:cubicBezTo>
                    <a:cubicBezTo>
                      <a:pt x="26286" y="33529"/>
                      <a:pt x="16615" y="43200"/>
                      <a:pt x="4686" y="43200"/>
                    </a:cubicBezTo>
                    <a:cubicBezTo>
                      <a:pt x="3109" y="43199"/>
                      <a:pt x="1538" y="43027"/>
                      <a:pt x="0" y="42685"/>
                    </a:cubicBezTo>
                    <a:lnTo>
                      <a:pt x="4686"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87" name="Freeform 19"/>
            <p:cNvSpPr>
              <a:spLocks/>
            </p:cNvSpPr>
            <p:nvPr/>
          </p:nvSpPr>
          <p:spPr bwMode="auto">
            <a:xfrm>
              <a:off x="2938" y="421"/>
              <a:ext cx="1040" cy="197"/>
            </a:xfrm>
            <a:custGeom>
              <a:avLst/>
              <a:gdLst>
                <a:gd name="T0" fmla="*/ 22 w 1040"/>
                <a:gd name="T1" fmla="*/ 31 h 197"/>
                <a:gd name="T2" fmla="*/ 70 w 1040"/>
                <a:gd name="T3" fmla="*/ 46 h 197"/>
                <a:gd name="T4" fmla="*/ 139 w 1040"/>
                <a:gd name="T5" fmla="*/ 61 h 197"/>
                <a:gd name="T6" fmla="*/ 208 w 1040"/>
                <a:gd name="T7" fmla="*/ 74 h 197"/>
                <a:gd name="T8" fmla="*/ 275 w 1040"/>
                <a:gd name="T9" fmla="*/ 86 h 197"/>
                <a:gd name="T10" fmla="*/ 313 w 1040"/>
                <a:gd name="T11" fmla="*/ 102 h 197"/>
                <a:gd name="T12" fmla="*/ 347 w 1040"/>
                <a:gd name="T13" fmla="*/ 135 h 197"/>
                <a:gd name="T14" fmla="*/ 397 w 1040"/>
                <a:gd name="T15" fmla="*/ 178 h 197"/>
                <a:gd name="T16" fmla="*/ 432 w 1040"/>
                <a:gd name="T17" fmla="*/ 161 h 197"/>
                <a:gd name="T18" fmla="*/ 447 w 1040"/>
                <a:gd name="T19" fmla="*/ 111 h 197"/>
                <a:gd name="T20" fmla="*/ 473 w 1040"/>
                <a:gd name="T21" fmla="*/ 89 h 197"/>
                <a:gd name="T22" fmla="*/ 559 w 1040"/>
                <a:gd name="T23" fmla="*/ 74 h 197"/>
                <a:gd name="T24" fmla="*/ 623 w 1040"/>
                <a:gd name="T25" fmla="*/ 72 h 197"/>
                <a:gd name="T26" fmla="*/ 701 w 1040"/>
                <a:gd name="T27" fmla="*/ 74 h 197"/>
                <a:gd name="T28" fmla="*/ 731 w 1040"/>
                <a:gd name="T29" fmla="*/ 50 h 197"/>
                <a:gd name="T30" fmla="*/ 793 w 1040"/>
                <a:gd name="T31" fmla="*/ 47 h 197"/>
                <a:gd name="T32" fmla="*/ 862 w 1040"/>
                <a:gd name="T33" fmla="*/ 78 h 197"/>
                <a:gd name="T34" fmla="*/ 917 w 1040"/>
                <a:gd name="T35" fmla="*/ 127 h 197"/>
                <a:gd name="T36" fmla="*/ 961 w 1040"/>
                <a:gd name="T37" fmla="*/ 157 h 197"/>
                <a:gd name="T38" fmla="*/ 998 w 1040"/>
                <a:gd name="T39" fmla="*/ 173 h 197"/>
                <a:gd name="T40" fmla="*/ 1032 w 1040"/>
                <a:gd name="T41" fmla="*/ 169 h 197"/>
                <a:gd name="T42" fmla="*/ 1005 w 1040"/>
                <a:gd name="T43" fmla="*/ 135 h 197"/>
                <a:gd name="T44" fmla="*/ 970 w 1040"/>
                <a:gd name="T45" fmla="*/ 105 h 197"/>
                <a:gd name="T46" fmla="*/ 950 w 1040"/>
                <a:gd name="T47" fmla="*/ 79 h 197"/>
                <a:gd name="T48" fmla="*/ 935 w 1040"/>
                <a:gd name="T49" fmla="*/ 57 h 197"/>
                <a:gd name="T50" fmla="*/ 930 w 1040"/>
                <a:gd name="T51" fmla="*/ 32 h 197"/>
                <a:gd name="T52" fmla="*/ 901 w 1040"/>
                <a:gd name="T53" fmla="*/ 37 h 197"/>
                <a:gd name="T54" fmla="*/ 874 w 1040"/>
                <a:gd name="T55" fmla="*/ 29 h 197"/>
                <a:gd name="T56" fmla="*/ 843 w 1040"/>
                <a:gd name="T57" fmla="*/ 32 h 197"/>
                <a:gd name="T58" fmla="*/ 809 w 1040"/>
                <a:gd name="T59" fmla="*/ 30 h 197"/>
                <a:gd name="T60" fmla="*/ 774 w 1040"/>
                <a:gd name="T61" fmla="*/ 33 h 197"/>
                <a:gd name="T62" fmla="*/ 734 w 1040"/>
                <a:gd name="T63" fmla="*/ 32 h 197"/>
                <a:gd name="T64" fmla="*/ 693 w 1040"/>
                <a:gd name="T65" fmla="*/ 25 h 197"/>
                <a:gd name="T66" fmla="*/ 654 w 1040"/>
                <a:gd name="T67" fmla="*/ 24 h 197"/>
                <a:gd name="T68" fmla="*/ 615 w 1040"/>
                <a:gd name="T69" fmla="*/ 23 h 197"/>
                <a:gd name="T70" fmla="*/ 579 w 1040"/>
                <a:gd name="T71" fmla="*/ 19 h 197"/>
                <a:gd name="T72" fmla="*/ 540 w 1040"/>
                <a:gd name="T73" fmla="*/ 11 h 197"/>
                <a:gd name="T74" fmla="*/ 494 w 1040"/>
                <a:gd name="T75" fmla="*/ 12 h 197"/>
                <a:gd name="T76" fmla="*/ 455 w 1040"/>
                <a:gd name="T77" fmla="*/ 9 h 197"/>
                <a:gd name="T78" fmla="*/ 415 w 1040"/>
                <a:gd name="T79" fmla="*/ 15 h 197"/>
                <a:gd name="T80" fmla="*/ 377 w 1040"/>
                <a:gd name="T81" fmla="*/ 12 h 197"/>
                <a:gd name="T82" fmla="*/ 345 w 1040"/>
                <a:gd name="T83" fmla="*/ 15 h 197"/>
                <a:gd name="T84" fmla="*/ 307 w 1040"/>
                <a:gd name="T85" fmla="*/ 12 h 197"/>
                <a:gd name="T86" fmla="*/ 266 w 1040"/>
                <a:gd name="T87" fmla="*/ 9 h 197"/>
                <a:gd name="T88" fmla="*/ 213 w 1040"/>
                <a:gd name="T89" fmla="*/ 0 h 197"/>
                <a:gd name="T90" fmla="*/ 152 w 1040"/>
                <a:gd name="T91" fmla="*/ 0 h 197"/>
                <a:gd name="T92" fmla="*/ 101 w 1040"/>
                <a:gd name="T93" fmla="*/ 8 h 197"/>
                <a:gd name="T94" fmla="*/ 55 w 1040"/>
                <a:gd name="T95" fmla="*/ 6 h 197"/>
                <a:gd name="T96" fmla="*/ 10 w 1040"/>
                <a:gd name="T97" fmla="*/ 1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0" h="197">
                  <a:moveTo>
                    <a:pt x="0" y="20"/>
                  </a:moveTo>
                  <a:lnTo>
                    <a:pt x="6" y="24"/>
                  </a:lnTo>
                  <a:lnTo>
                    <a:pt x="13" y="27"/>
                  </a:lnTo>
                  <a:lnTo>
                    <a:pt x="22" y="31"/>
                  </a:lnTo>
                  <a:lnTo>
                    <a:pt x="31" y="34"/>
                  </a:lnTo>
                  <a:lnTo>
                    <a:pt x="42" y="37"/>
                  </a:lnTo>
                  <a:lnTo>
                    <a:pt x="58" y="42"/>
                  </a:lnTo>
                  <a:lnTo>
                    <a:pt x="70" y="46"/>
                  </a:lnTo>
                  <a:lnTo>
                    <a:pt x="86" y="51"/>
                  </a:lnTo>
                  <a:lnTo>
                    <a:pt x="104" y="55"/>
                  </a:lnTo>
                  <a:lnTo>
                    <a:pt x="121" y="59"/>
                  </a:lnTo>
                  <a:lnTo>
                    <a:pt x="139" y="61"/>
                  </a:lnTo>
                  <a:lnTo>
                    <a:pt x="157" y="64"/>
                  </a:lnTo>
                  <a:lnTo>
                    <a:pt x="175" y="67"/>
                  </a:lnTo>
                  <a:lnTo>
                    <a:pt x="191" y="70"/>
                  </a:lnTo>
                  <a:lnTo>
                    <a:pt x="208" y="74"/>
                  </a:lnTo>
                  <a:lnTo>
                    <a:pt x="222" y="76"/>
                  </a:lnTo>
                  <a:lnTo>
                    <a:pt x="242" y="80"/>
                  </a:lnTo>
                  <a:lnTo>
                    <a:pt x="259" y="83"/>
                  </a:lnTo>
                  <a:lnTo>
                    <a:pt x="275" y="86"/>
                  </a:lnTo>
                  <a:lnTo>
                    <a:pt x="286" y="88"/>
                  </a:lnTo>
                  <a:lnTo>
                    <a:pt x="297" y="92"/>
                  </a:lnTo>
                  <a:lnTo>
                    <a:pt x="307" y="97"/>
                  </a:lnTo>
                  <a:lnTo>
                    <a:pt x="313" y="102"/>
                  </a:lnTo>
                  <a:lnTo>
                    <a:pt x="320" y="109"/>
                  </a:lnTo>
                  <a:lnTo>
                    <a:pt x="326" y="115"/>
                  </a:lnTo>
                  <a:lnTo>
                    <a:pt x="336" y="126"/>
                  </a:lnTo>
                  <a:lnTo>
                    <a:pt x="347" y="135"/>
                  </a:lnTo>
                  <a:lnTo>
                    <a:pt x="358" y="146"/>
                  </a:lnTo>
                  <a:lnTo>
                    <a:pt x="370" y="157"/>
                  </a:lnTo>
                  <a:lnTo>
                    <a:pt x="382" y="168"/>
                  </a:lnTo>
                  <a:lnTo>
                    <a:pt x="397" y="178"/>
                  </a:lnTo>
                  <a:lnTo>
                    <a:pt x="410" y="188"/>
                  </a:lnTo>
                  <a:lnTo>
                    <a:pt x="422" y="196"/>
                  </a:lnTo>
                  <a:lnTo>
                    <a:pt x="426" y="180"/>
                  </a:lnTo>
                  <a:lnTo>
                    <a:pt x="432" y="161"/>
                  </a:lnTo>
                  <a:lnTo>
                    <a:pt x="438" y="144"/>
                  </a:lnTo>
                  <a:lnTo>
                    <a:pt x="444" y="128"/>
                  </a:lnTo>
                  <a:lnTo>
                    <a:pt x="445" y="119"/>
                  </a:lnTo>
                  <a:lnTo>
                    <a:pt x="447" y="111"/>
                  </a:lnTo>
                  <a:lnTo>
                    <a:pt x="445" y="104"/>
                  </a:lnTo>
                  <a:lnTo>
                    <a:pt x="439" y="95"/>
                  </a:lnTo>
                  <a:lnTo>
                    <a:pt x="456" y="91"/>
                  </a:lnTo>
                  <a:lnTo>
                    <a:pt x="473" y="89"/>
                  </a:lnTo>
                  <a:lnTo>
                    <a:pt x="494" y="86"/>
                  </a:lnTo>
                  <a:lnTo>
                    <a:pt x="517" y="82"/>
                  </a:lnTo>
                  <a:lnTo>
                    <a:pt x="541" y="77"/>
                  </a:lnTo>
                  <a:lnTo>
                    <a:pt x="559" y="74"/>
                  </a:lnTo>
                  <a:lnTo>
                    <a:pt x="578" y="72"/>
                  </a:lnTo>
                  <a:lnTo>
                    <a:pt x="596" y="69"/>
                  </a:lnTo>
                  <a:lnTo>
                    <a:pt x="611" y="68"/>
                  </a:lnTo>
                  <a:lnTo>
                    <a:pt x="623" y="72"/>
                  </a:lnTo>
                  <a:lnTo>
                    <a:pt x="635" y="77"/>
                  </a:lnTo>
                  <a:lnTo>
                    <a:pt x="646" y="85"/>
                  </a:lnTo>
                  <a:lnTo>
                    <a:pt x="672" y="81"/>
                  </a:lnTo>
                  <a:lnTo>
                    <a:pt x="701" y="74"/>
                  </a:lnTo>
                  <a:lnTo>
                    <a:pt x="721" y="70"/>
                  </a:lnTo>
                  <a:lnTo>
                    <a:pt x="708" y="58"/>
                  </a:lnTo>
                  <a:lnTo>
                    <a:pt x="718" y="54"/>
                  </a:lnTo>
                  <a:lnTo>
                    <a:pt x="731" y="50"/>
                  </a:lnTo>
                  <a:lnTo>
                    <a:pt x="746" y="46"/>
                  </a:lnTo>
                  <a:lnTo>
                    <a:pt x="762" y="44"/>
                  </a:lnTo>
                  <a:lnTo>
                    <a:pt x="777" y="46"/>
                  </a:lnTo>
                  <a:lnTo>
                    <a:pt x="793" y="47"/>
                  </a:lnTo>
                  <a:lnTo>
                    <a:pt x="809" y="50"/>
                  </a:lnTo>
                  <a:lnTo>
                    <a:pt x="826" y="55"/>
                  </a:lnTo>
                  <a:lnTo>
                    <a:pt x="843" y="64"/>
                  </a:lnTo>
                  <a:lnTo>
                    <a:pt x="862" y="78"/>
                  </a:lnTo>
                  <a:lnTo>
                    <a:pt x="877" y="90"/>
                  </a:lnTo>
                  <a:lnTo>
                    <a:pt x="896" y="107"/>
                  </a:lnTo>
                  <a:lnTo>
                    <a:pt x="903" y="114"/>
                  </a:lnTo>
                  <a:lnTo>
                    <a:pt x="917" y="127"/>
                  </a:lnTo>
                  <a:lnTo>
                    <a:pt x="928" y="135"/>
                  </a:lnTo>
                  <a:lnTo>
                    <a:pt x="939" y="143"/>
                  </a:lnTo>
                  <a:lnTo>
                    <a:pt x="950" y="150"/>
                  </a:lnTo>
                  <a:lnTo>
                    <a:pt x="961" y="157"/>
                  </a:lnTo>
                  <a:lnTo>
                    <a:pt x="971" y="161"/>
                  </a:lnTo>
                  <a:lnTo>
                    <a:pt x="980" y="166"/>
                  </a:lnTo>
                  <a:lnTo>
                    <a:pt x="989" y="169"/>
                  </a:lnTo>
                  <a:lnTo>
                    <a:pt x="998" y="173"/>
                  </a:lnTo>
                  <a:lnTo>
                    <a:pt x="1009" y="174"/>
                  </a:lnTo>
                  <a:lnTo>
                    <a:pt x="1021" y="175"/>
                  </a:lnTo>
                  <a:lnTo>
                    <a:pt x="1039" y="175"/>
                  </a:lnTo>
                  <a:lnTo>
                    <a:pt x="1032" y="169"/>
                  </a:lnTo>
                  <a:lnTo>
                    <a:pt x="1024" y="160"/>
                  </a:lnTo>
                  <a:lnTo>
                    <a:pt x="1019" y="154"/>
                  </a:lnTo>
                  <a:lnTo>
                    <a:pt x="1012" y="144"/>
                  </a:lnTo>
                  <a:lnTo>
                    <a:pt x="1005" y="135"/>
                  </a:lnTo>
                  <a:lnTo>
                    <a:pt x="995" y="126"/>
                  </a:lnTo>
                  <a:lnTo>
                    <a:pt x="982" y="117"/>
                  </a:lnTo>
                  <a:lnTo>
                    <a:pt x="975" y="111"/>
                  </a:lnTo>
                  <a:lnTo>
                    <a:pt x="970" y="105"/>
                  </a:lnTo>
                  <a:lnTo>
                    <a:pt x="964" y="97"/>
                  </a:lnTo>
                  <a:lnTo>
                    <a:pt x="959" y="92"/>
                  </a:lnTo>
                  <a:lnTo>
                    <a:pt x="954" y="86"/>
                  </a:lnTo>
                  <a:lnTo>
                    <a:pt x="950" y="79"/>
                  </a:lnTo>
                  <a:lnTo>
                    <a:pt x="946" y="73"/>
                  </a:lnTo>
                  <a:lnTo>
                    <a:pt x="942" y="67"/>
                  </a:lnTo>
                  <a:lnTo>
                    <a:pt x="938" y="61"/>
                  </a:lnTo>
                  <a:lnTo>
                    <a:pt x="935" y="57"/>
                  </a:lnTo>
                  <a:lnTo>
                    <a:pt x="933" y="50"/>
                  </a:lnTo>
                  <a:lnTo>
                    <a:pt x="931" y="44"/>
                  </a:lnTo>
                  <a:lnTo>
                    <a:pt x="931" y="38"/>
                  </a:lnTo>
                  <a:lnTo>
                    <a:pt x="930" y="32"/>
                  </a:lnTo>
                  <a:lnTo>
                    <a:pt x="924" y="36"/>
                  </a:lnTo>
                  <a:lnTo>
                    <a:pt x="915" y="37"/>
                  </a:lnTo>
                  <a:lnTo>
                    <a:pt x="908" y="37"/>
                  </a:lnTo>
                  <a:lnTo>
                    <a:pt x="901" y="37"/>
                  </a:lnTo>
                  <a:lnTo>
                    <a:pt x="893" y="35"/>
                  </a:lnTo>
                  <a:lnTo>
                    <a:pt x="887" y="32"/>
                  </a:lnTo>
                  <a:lnTo>
                    <a:pt x="881" y="31"/>
                  </a:lnTo>
                  <a:lnTo>
                    <a:pt x="874" y="29"/>
                  </a:lnTo>
                  <a:lnTo>
                    <a:pt x="867" y="28"/>
                  </a:lnTo>
                  <a:lnTo>
                    <a:pt x="857" y="29"/>
                  </a:lnTo>
                  <a:lnTo>
                    <a:pt x="849" y="30"/>
                  </a:lnTo>
                  <a:lnTo>
                    <a:pt x="843" y="32"/>
                  </a:lnTo>
                  <a:lnTo>
                    <a:pt x="836" y="34"/>
                  </a:lnTo>
                  <a:lnTo>
                    <a:pt x="829" y="33"/>
                  </a:lnTo>
                  <a:lnTo>
                    <a:pt x="818" y="32"/>
                  </a:lnTo>
                  <a:lnTo>
                    <a:pt x="809" y="30"/>
                  </a:lnTo>
                  <a:lnTo>
                    <a:pt x="802" y="31"/>
                  </a:lnTo>
                  <a:lnTo>
                    <a:pt x="793" y="32"/>
                  </a:lnTo>
                  <a:lnTo>
                    <a:pt x="783" y="33"/>
                  </a:lnTo>
                  <a:lnTo>
                    <a:pt x="774" y="33"/>
                  </a:lnTo>
                  <a:lnTo>
                    <a:pt x="766" y="32"/>
                  </a:lnTo>
                  <a:lnTo>
                    <a:pt x="753" y="30"/>
                  </a:lnTo>
                  <a:lnTo>
                    <a:pt x="745" y="30"/>
                  </a:lnTo>
                  <a:lnTo>
                    <a:pt x="734" y="32"/>
                  </a:lnTo>
                  <a:lnTo>
                    <a:pt x="725" y="32"/>
                  </a:lnTo>
                  <a:lnTo>
                    <a:pt x="714" y="30"/>
                  </a:lnTo>
                  <a:lnTo>
                    <a:pt x="706" y="27"/>
                  </a:lnTo>
                  <a:lnTo>
                    <a:pt x="693" y="25"/>
                  </a:lnTo>
                  <a:lnTo>
                    <a:pt x="684" y="24"/>
                  </a:lnTo>
                  <a:lnTo>
                    <a:pt x="673" y="23"/>
                  </a:lnTo>
                  <a:lnTo>
                    <a:pt x="664" y="22"/>
                  </a:lnTo>
                  <a:lnTo>
                    <a:pt x="654" y="24"/>
                  </a:lnTo>
                  <a:lnTo>
                    <a:pt x="643" y="27"/>
                  </a:lnTo>
                  <a:lnTo>
                    <a:pt x="632" y="24"/>
                  </a:lnTo>
                  <a:lnTo>
                    <a:pt x="624" y="24"/>
                  </a:lnTo>
                  <a:lnTo>
                    <a:pt x="615" y="23"/>
                  </a:lnTo>
                  <a:lnTo>
                    <a:pt x="606" y="24"/>
                  </a:lnTo>
                  <a:lnTo>
                    <a:pt x="597" y="24"/>
                  </a:lnTo>
                  <a:lnTo>
                    <a:pt x="587" y="23"/>
                  </a:lnTo>
                  <a:lnTo>
                    <a:pt x="579" y="19"/>
                  </a:lnTo>
                  <a:lnTo>
                    <a:pt x="571" y="17"/>
                  </a:lnTo>
                  <a:lnTo>
                    <a:pt x="561" y="14"/>
                  </a:lnTo>
                  <a:lnTo>
                    <a:pt x="551" y="12"/>
                  </a:lnTo>
                  <a:lnTo>
                    <a:pt x="540" y="11"/>
                  </a:lnTo>
                  <a:lnTo>
                    <a:pt x="530" y="10"/>
                  </a:lnTo>
                  <a:lnTo>
                    <a:pt x="516" y="12"/>
                  </a:lnTo>
                  <a:lnTo>
                    <a:pt x="503" y="12"/>
                  </a:lnTo>
                  <a:lnTo>
                    <a:pt x="494" y="12"/>
                  </a:lnTo>
                  <a:lnTo>
                    <a:pt x="482" y="10"/>
                  </a:lnTo>
                  <a:lnTo>
                    <a:pt x="473" y="10"/>
                  </a:lnTo>
                  <a:lnTo>
                    <a:pt x="463" y="9"/>
                  </a:lnTo>
                  <a:lnTo>
                    <a:pt x="455" y="9"/>
                  </a:lnTo>
                  <a:lnTo>
                    <a:pt x="442" y="10"/>
                  </a:lnTo>
                  <a:lnTo>
                    <a:pt x="431" y="12"/>
                  </a:lnTo>
                  <a:lnTo>
                    <a:pt x="424" y="15"/>
                  </a:lnTo>
                  <a:lnTo>
                    <a:pt x="415" y="15"/>
                  </a:lnTo>
                  <a:lnTo>
                    <a:pt x="406" y="15"/>
                  </a:lnTo>
                  <a:lnTo>
                    <a:pt x="397" y="14"/>
                  </a:lnTo>
                  <a:lnTo>
                    <a:pt x="386" y="12"/>
                  </a:lnTo>
                  <a:lnTo>
                    <a:pt x="377" y="12"/>
                  </a:lnTo>
                  <a:lnTo>
                    <a:pt x="369" y="12"/>
                  </a:lnTo>
                  <a:lnTo>
                    <a:pt x="363" y="13"/>
                  </a:lnTo>
                  <a:lnTo>
                    <a:pt x="354" y="15"/>
                  </a:lnTo>
                  <a:lnTo>
                    <a:pt x="345" y="15"/>
                  </a:lnTo>
                  <a:lnTo>
                    <a:pt x="336" y="15"/>
                  </a:lnTo>
                  <a:lnTo>
                    <a:pt x="328" y="14"/>
                  </a:lnTo>
                  <a:lnTo>
                    <a:pt x="319" y="13"/>
                  </a:lnTo>
                  <a:lnTo>
                    <a:pt x="307" y="12"/>
                  </a:lnTo>
                  <a:lnTo>
                    <a:pt x="296" y="12"/>
                  </a:lnTo>
                  <a:lnTo>
                    <a:pt x="286" y="12"/>
                  </a:lnTo>
                  <a:lnTo>
                    <a:pt x="276" y="11"/>
                  </a:lnTo>
                  <a:lnTo>
                    <a:pt x="266" y="9"/>
                  </a:lnTo>
                  <a:lnTo>
                    <a:pt x="255" y="6"/>
                  </a:lnTo>
                  <a:lnTo>
                    <a:pt x="245" y="4"/>
                  </a:lnTo>
                  <a:lnTo>
                    <a:pt x="230" y="1"/>
                  </a:lnTo>
                  <a:lnTo>
                    <a:pt x="213" y="0"/>
                  </a:lnTo>
                  <a:lnTo>
                    <a:pt x="196" y="0"/>
                  </a:lnTo>
                  <a:lnTo>
                    <a:pt x="181" y="1"/>
                  </a:lnTo>
                  <a:lnTo>
                    <a:pt x="162" y="0"/>
                  </a:lnTo>
                  <a:lnTo>
                    <a:pt x="152" y="0"/>
                  </a:lnTo>
                  <a:lnTo>
                    <a:pt x="142" y="2"/>
                  </a:lnTo>
                  <a:lnTo>
                    <a:pt x="132" y="0"/>
                  </a:lnTo>
                  <a:lnTo>
                    <a:pt x="120" y="1"/>
                  </a:lnTo>
                  <a:lnTo>
                    <a:pt x="101" y="8"/>
                  </a:lnTo>
                  <a:lnTo>
                    <a:pt x="89" y="7"/>
                  </a:lnTo>
                  <a:lnTo>
                    <a:pt x="77" y="6"/>
                  </a:lnTo>
                  <a:lnTo>
                    <a:pt x="65" y="6"/>
                  </a:lnTo>
                  <a:lnTo>
                    <a:pt x="55" y="6"/>
                  </a:lnTo>
                  <a:lnTo>
                    <a:pt x="43" y="7"/>
                  </a:lnTo>
                  <a:lnTo>
                    <a:pt x="31" y="9"/>
                  </a:lnTo>
                  <a:lnTo>
                    <a:pt x="20" y="12"/>
                  </a:lnTo>
                  <a:lnTo>
                    <a:pt x="10" y="15"/>
                  </a:lnTo>
                  <a:lnTo>
                    <a:pt x="0" y="17"/>
                  </a:lnTo>
                  <a:lnTo>
                    <a:pt x="0" y="2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90" name="Group 22"/>
            <p:cNvGrpSpPr>
              <a:grpSpLocks/>
            </p:cNvGrpSpPr>
            <p:nvPr/>
          </p:nvGrpSpPr>
          <p:grpSpPr bwMode="auto">
            <a:xfrm>
              <a:off x="3147" y="276"/>
              <a:ext cx="151" cy="95"/>
              <a:chOff x="3147" y="276"/>
              <a:chExt cx="151" cy="95"/>
            </a:xfrm>
          </p:grpSpPr>
          <p:sp>
            <p:nvSpPr>
              <p:cNvPr id="7188" name="Freeform 20"/>
              <p:cNvSpPr>
                <a:spLocks/>
              </p:cNvSpPr>
              <p:nvPr/>
            </p:nvSpPr>
            <p:spPr bwMode="auto">
              <a:xfrm>
                <a:off x="3147" y="276"/>
                <a:ext cx="151" cy="92"/>
              </a:xfrm>
              <a:custGeom>
                <a:avLst/>
                <a:gdLst>
                  <a:gd name="T0" fmla="*/ 140 w 151"/>
                  <a:gd name="T1" fmla="*/ 9 h 92"/>
                  <a:gd name="T2" fmla="*/ 132 w 151"/>
                  <a:gd name="T3" fmla="*/ 17 h 92"/>
                  <a:gd name="T4" fmla="*/ 127 w 151"/>
                  <a:gd name="T5" fmla="*/ 22 h 92"/>
                  <a:gd name="T6" fmla="*/ 123 w 151"/>
                  <a:gd name="T7" fmla="*/ 27 h 92"/>
                  <a:gd name="T8" fmla="*/ 118 w 151"/>
                  <a:gd name="T9" fmla="*/ 32 h 92"/>
                  <a:gd name="T10" fmla="*/ 114 w 151"/>
                  <a:gd name="T11" fmla="*/ 37 h 92"/>
                  <a:gd name="T12" fmla="*/ 111 w 151"/>
                  <a:gd name="T13" fmla="*/ 42 h 92"/>
                  <a:gd name="T14" fmla="*/ 107 w 151"/>
                  <a:gd name="T15" fmla="*/ 48 h 92"/>
                  <a:gd name="T16" fmla="*/ 104 w 151"/>
                  <a:gd name="T17" fmla="*/ 54 h 92"/>
                  <a:gd name="T18" fmla="*/ 101 w 151"/>
                  <a:gd name="T19" fmla="*/ 61 h 92"/>
                  <a:gd name="T20" fmla="*/ 99 w 151"/>
                  <a:gd name="T21" fmla="*/ 68 h 92"/>
                  <a:gd name="T22" fmla="*/ 97 w 151"/>
                  <a:gd name="T23" fmla="*/ 75 h 92"/>
                  <a:gd name="T24" fmla="*/ 97 w 151"/>
                  <a:gd name="T25" fmla="*/ 82 h 92"/>
                  <a:gd name="T26" fmla="*/ 97 w 151"/>
                  <a:gd name="T27" fmla="*/ 91 h 92"/>
                  <a:gd name="T28" fmla="*/ 0 w 151"/>
                  <a:gd name="T29" fmla="*/ 90 h 92"/>
                  <a:gd name="T30" fmla="*/ 3 w 151"/>
                  <a:gd name="T31" fmla="*/ 85 h 92"/>
                  <a:gd name="T32" fmla="*/ 8 w 151"/>
                  <a:gd name="T33" fmla="*/ 78 h 92"/>
                  <a:gd name="T34" fmla="*/ 13 w 151"/>
                  <a:gd name="T35" fmla="*/ 71 h 92"/>
                  <a:gd name="T36" fmla="*/ 18 w 151"/>
                  <a:gd name="T37" fmla="*/ 65 h 92"/>
                  <a:gd name="T38" fmla="*/ 25 w 151"/>
                  <a:gd name="T39" fmla="*/ 58 h 92"/>
                  <a:gd name="T40" fmla="*/ 32 w 151"/>
                  <a:gd name="T41" fmla="*/ 51 h 92"/>
                  <a:gd name="T42" fmla="*/ 39 w 151"/>
                  <a:gd name="T43" fmla="*/ 45 h 92"/>
                  <a:gd name="T44" fmla="*/ 47 w 151"/>
                  <a:gd name="T45" fmla="*/ 39 h 92"/>
                  <a:gd name="T46" fmla="*/ 56 w 151"/>
                  <a:gd name="T47" fmla="*/ 32 h 92"/>
                  <a:gd name="T48" fmla="*/ 66 w 151"/>
                  <a:gd name="T49" fmla="*/ 24 h 92"/>
                  <a:gd name="T50" fmla="*/ 75 w 151"/>
                  <a:gd name="T51" fmla="*/ 19 h 92"/>
                  <a:gd name="T52" fmla="*/ 83 w 151"/>
                  <a:gd name="T53" fmla="*/ 15 h 92"/>
                  <a:gd name="T54" fmla="*/ 91 w 151"/>
                  <a:gd name="T55" fmla="*/ 12 h 92"/>
                  <a:gd name="T56" fmla="*/ 99 w 151"/>
                  <a:gd name="T57" fmla="*/ 9 h 92"/>
                  <a:gd name="T58" fmla="*/ 107 w 151"/>
                  <a:gd name="T59" fmla="*/ 6 h 92"/>
                  <a:gd name="T60" fmla="*/ 117 w 151"/>
                  <a:gd name="T61" fmla="*/ 4 h 92"/>
                  <a:gd name="T62" fmla="*/ 127 w 151"/>
                  <a:gd name="T63" fmla="*/ 2 h 92"/>
                  <a:gd name="T64" fmla="*/ 135 w 151"/>
                  <a:gd name="T65" fmla="*/ 1 h 92"/>
                  <a:gd name="T66" fmla="*/ 143 w 151"/>
                  <a:gd name="T67" fmla="*/ 0 h 92"/>
                  <a:gd name="T68" fmla="*/ 150 w 151"/>
                  <a:gd name="T69" fmla="*/ 0 h 92"/>
                  <a:gd name="T70" fmla="*/ 140 w 151"/>
                  <a:gd name="T71" fmla="*/ 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 h="92">
                    <a:moveTo>
                      <a:pt x="140" y="9"/>
                    </a:moveTo>
                    <a:lnTo>
                      <a:pt x="132" y="17"/>
                    </a:lnTo>
                    <a:lnTo>
                      <a:pt x="127" y="22"/>
                    </a:lnTo>
                    <a:lnTo>
                      <a:pt x="123" y="27"/>
                    </a:lnTo>
                    <a:lnTo>
                      <a:pt x="118" y="32"/>
                    </a:lnTo>
                    <a:lnTo>
                      <a:pt x="114" y="37"/>
                    </a:lnTo>
                    <a:lnTo>
                      <a:pt x="111" y="42"/>
                    </a:lnTo>
                    <a:lnTo>
                      <a:pt x="107" y="48"/>
                    </a:lnTo>
                    <a:lnTo>
                      <a:pt x="104" y="54"/>
                    </a:lnTo>
                    <a:lnTo>
                      <a:pt x="101" y="61"/>
                    </a:lnTo>
                    <a:lnTo>
                      <a:pt x="99" y="68"/>
                    </a:lnTo>
                    <a:lnTo>
                      <a:pt x="97" y="75"/>
                    </a:lnTo>
                    <a:lnTo>
                      <a:pt x="97" y="82"/>
                    </a:lnTo>
                    <a:lnTo>
                      <a:pt x="97" y="91"/>
                    </a:lnTo>
                    <a:lnTo>
                      <a:pt x="0" y="90"/>
                    </a:lnTo>
                    <a:lnTo>
                      <a:pt x="3" y="85"/>
                    </a:lnTo>
                    <a:lnTo>
                      <a:pt x="8" y="78"/>
                    </a:lnTo>
                    <a:lnTo>
                      <a:pt x="13" y="71"/>
                    </a:lnTo>
                    <a:lnTo>
                      <a:pt x="18" y="65"/>
                    </a:lnTo>
                    <a:lnTo>
                      <a:pt x="25" y="58"/>
                    </a:lnTo>
                    <a:lnTo>
                      <a:pt x="32" y="51"/>
                    </a:lnTo>
                    <a:lnTo>
                      <a:pt x="39" y="45"/>
                    </a:lnTo>
                    <a:lnTo>
                      <a:pt x="47" y="39"/>
                    </a:lnTo>
                    <a:lnTo>
                      <a:pt x="56" y="32"/>
                    </a:lnTo>
                    <a:lnTo>
                      <a:pt x="66" y="24"/>
                    </a:lnTo>
                    <a:lnTo>
                      <a:pt x="75" y="19"/>
                    </a:lnTo>
                    <a:lnTo>
                      <a:pt x="83" y="15"/>
                    </a:lnTo>
                    <a:lnTo>
                      <a:pt x="91" y="12"/>
                    </a:lnTo>
                    <a:lnTo>
                      <a:pt x="99" y="9"/>
                    </a:lnTo>
                    <a:lnTo>
                      <a:pt x="107" y="6"/>
                    </a:lnTo>
                    <a:lnTo>
                      <a:pt x="117" y="4"/>
                    </a:lnTo>
                    <a:lnTo>
                      <a:pt x="127" y="2"/>
                    </a:lnTo>
                    <a:lnTo>
                      <a:pt x="135" y="1"/>
                    </a:lnTo>
                    <a:lnTo>
                      <a:pt x="143" y="0"/>
                    </a:lnTo>
                    <a:lnTo>
                      <a:pt x="150" y="0"/>
                    </a:lnTo>
                    <a:lnTo>
                      <a:pt x="140" y="9"/>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9" name="Freeform 21"/>
              <p:cNvSpPr>
                <a:spLocks/>
              </p:cNvSpPr>
              <p:nvPr/>
            </p:nvSpPr>
            <p:spPr bwMode="auto">
              <a:xfrm>
                <a:off x="3150" y="368"/>
                <a:ext cx="86" cy="3"/>
              </a:xfrm>
              <a:custGeom>
                <a:avLst/>
                <a:gdLst>
                  <a:gd name="T0" fmla="*/ 0 w 86"/>
                  <a:gd name="T1" fmla="*/ 2 h 3"/>
                  <a:gd name="T2" fmla="*/ 0 w 86"/>
                  <a:gd name="T3" fmla="*/ 1 h 3"/>
                  <a:gd name="T4" fmla="*/ 2 w 86"/>
                  <a:gd name="T5" fmla="*/ 0 h 3"/>
                  <a:gd name="T6" fmla="*/ 85 w 86"/>
                  <a:gd name="T7" fmla="*/ 0 h 3"/>
                  <a:gd name="T8" fmla="*/ 85 w 86"/>
                  <a:gd name="T9" fmla="*/ 2 h 3"/>
                  <a:gd name="T10" fmla="*/ 0 w 86"/>
                  <a:gd name="T11" fmla="*/ 2 h 3"/>
                </a:gdLst>
                <a:ahLst/>
                <a:cxnLst>
                  <a:cxn ang="0">
                    <a:pos x="T0" y="T1"/>
                  </a:cxn>
                  <a:cxn ang="0">
                    <a:pos x="T2" y="T3"/>
                  </a:cxn>
                  <a:cxn ang="0">
                    <a:pos x="T4" y="T5"/>
                  </a:cxn>
                  <a:cxn ang="0">
                    <a:pos x="T6" y="T7"/>
                  </a:cxn>
                  <a:cxn ang="0">
                    <a:pos x="T8" y="T9"/>
                  </a:cxn>
                  <a:cxn ang="0">
                    <a:pos x="T10" y="T11"/>
                  </a:cxn>
                </a:cxnLst>
                <a:rect l="0" t="0" r="r" b="b"/>
                <a:pathLst>
                  <a:path w="86" h="3">
                    <a:moveTo>
                      <a:pt x="0" y="2"/>
                    </a:moveTo>
                    <a:lnTo>
                      <a:pt x="0" y="1"/>
                    </a:lnTo>
                    <a:lnTo>
                      <a:pt x="2" y="0"/>
                    </a:lnTo>
                    <a:lnTo>
                      <a:pt x="85" y="0"/>
                    </a:lnTo>
                    <a:lnTo>
                      <a:pt x="85" y="2"/>
                    </a:lnTo>
                    <a:lnTo>
                      <a:pt x="0" y="2"/>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192" name="Rectangle 24"/>
          <p:cNvSpPr>
            <a:spLocks noChangeArrowheads="1"/>
          </p:cNvSpPr>
          <p:nvPr/>
        </p:nvSpPr>
        <p:spPr bwMode="auto">
          <a:xfrm>
            <a:off x="2500313" y="1349375"/>
            <a:ext cx="3346450"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r>
              <a:rPr lang="en-US" altLang="zh-CN"/>
              <a:t>Massively Parallel Processors</a:t>
            </a:r>
          </a:p>
        </p:txBody>
      </p:sp>
      <p:sp>
        <p:nvSpPr>
          <p:cNvPr id="7193" name="Rectangle 25"/>
          <p:cNvSpPr>
            <a:spLocks noChangeArrowheads="1"/>
          </p:cNvSpPr>
          <p:nvPr/>
        </p:nvSpPr>
        <p:spPr bwMode="auto">
          <a:xfrm>
            <a:off x="8031979" y="949326"/>
            <a:ext cx="1144545"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computer</a:t>
            </a:r>
          </a:p>
        </p:txBody>
      </p:sp>
      <p:grpSp>
        <p:nvGrpSpPr>
          <p:cNvPr id="7209" name="Group 41"/>
          <p:cNvGrpSpPr>
            <a:grpSpLocks/>
          </p:cNvGrpSpPr>
          <p:nvPr/>
        </p:nvGrpSpPr>
        <p:grpSpPr bwMode="auto">
          <a:xfrm>
            <a:off x="7985126" y="528638"/>
            <a:ext cx="1127125" cy="379412"/>
            <a:chOff x="4070" y="333"/>
            <a:chExt cx="710" cy="239"/>
          </a:xfrm>
        </p:grpSpPr>
        <p:sp>
          <p:nvSpPr>
            <p:cNvPr id="7194" name="Freeform 26"/>
            <p:cNvSpPr>
              <a:spLocks/>
            </p:cNvSpPr>
            <p:nvPr/>
          </p:nvSpPr>
          <p:spPr bwMode="auto">
            <a:xfrm>
              <a:off x="4250" y="352"/>
              <a:ext cx="84" cy="64"/>
            </a:xfrm>
            <a:custGeom>
              <a:avLst/>
              <a:gdLst>
                <a:gd name="T0" fmla="*/ 0 w 84"/>
                <a:gd name="T1" fmla="*/ 63 h 64"/>
                <a:gd name="T2" fmla="*/ 3 w 84"/>
                <a:gd name="T3" fmla="*/ 57 h 64"/>
                <a:gd name="T4" fmla="*/ 7 w 84"/>
                <a:gd name="T5" fmla="*/ 50 h 64"/>
                <a:gd name="T6" fmla="*/ 12 w 84"/>
                <a:gd name="T7" fmla="*/ 44 h 64"/>
                <a:gd name="T8" fmla="*/ 17 w 84"/>
                <a:gd name="T9" fmla="*/ 38 h 64"/>
                <a:gd name="T10" fmla="*/ 23 w 84"/>
                <a:gd name="T11" fmla="*/ 31 h 64"/>
                <a:gd name="T12" fmla="*/ 29 w 84"/>
                <a:gd name="T13" fmla="*/ 24 h 64"/>
                <a:gd name="T14" fmla="*/ 35 w 84"/>
                <a:gd name="T15" fmla="*/ 19 h 64"/>
                <a:gd name="T16" fmla="*/ 40 w 84"/>
                <a:gd name="T17" fmla="*/ 14 h 64"/>
                <a:gd name="T18" fmla="*/ 46 w 84"/>
                <a:gd name="T19" fmla="*/ 10 h 64"/>
                <a:gd name="T20" fmla="*/ 53 w 84"/>
                <a:gd name="T21" fmla="*/ 7 h 64"/>
                <a:gd name="T22" fmla="*/ 59 w 84"/>
                <a:gd name="T23" fmla="*/ 4 h 64"/>
                <a:gd name="T24" fmla="*/ 66 w 84"/>
                <a:gd name="T25" fmla="*/ 1 h 64"/>
                <a:gd name="T26" fmla="*/ 73 w 84"/>
                <a:gd name="T27" fmla="*/ 0 h 64"/>
                <a:gd name="T28" fmla="*/ 79 w 84"/>
                <a:gd name="T29" fmla="*/ 0 h 64"/>
                <a:gd name="T30" fmla="*/ 83 w 84"/>
                <a:gd name="T31" fmla="*/ 1 h 64"/>
                <a:gd name="T32" fmla="*/ 79 w 84"/>
                <a:gd name="T33" fmla="*/ 5 h 64"/>
                <a:gd name="T34" fmla="*/ 74 w 84"/>
                <a:gd name="T35" fmla="*/ 11 h 64"/>
                <a:gd name="T36" fmla="*/ 70 w 84"/>
                <a:gd name="T37" fmla="*/ 16 h 64"/>
                <a:gd name="T38" fmla="*/ 65 w 84"/>
                <a:gd name="T39" fmla="*/ 23 h 64"/>
                <a:gd name="T40" fmla="*/ 61 w 84"/>
                <a:gd name="T41" fmla="*/ 29 h 64"/>
                <a:gd name="T42" fmla="*/ 58 w 84"/>
                <a:gd name="T43" fmla="*/ 35 h 64"/>
                <a:gd name="T44" fmla="*/ 56 w 84"/>
                <a:gd name="T45" fmla="*/ 41 h 64"/>
                <a:gd name="T46" fmla="*/ 53 w 84"/>
                <a:gd name="T47" fmla="*/ 50 h 64"/>
                <a:gd name="T48" fmla="*/ 53 w 84"/>
                <a:gd name="T49" fmla="*/ 57 h 64"/>
                <a:gd name="T50" fmla="*/ 53 w 84"/>
                <a:gd name="T51" fmla="*/ 63 h 64"/>
                <a:gd name="T52" fmla="*/ 0 w 84"/>
                <a:gd name="T53" fmla="*/ 6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64">
                  <a:moveTo>
                    <a:pt x="0" y="63"/>
                  </a:moveTo>
                  <a:lnTo>
                    <a:pt x="3" y="57"/>
                  </a:lnTo>
                  <a:lnTo>
                    <a:pt x="7" y="50"/>
                  </a:lnTo>
                  <a:lnTo>
                    <a:pt x="12" y="44"/>
                  </a:lnTo>
                  <a:lnTo>
                    <a:pt x="17" y="38"/>
                  </a:lnTo>
                  <a:lnTo>
                    <a:pt x="23" y="31"/>
                  </a:lnTo>
                  <a:lnTo>
                    <a:pt x="29" y="24"/>
                  </a:lnTo>
                  <a:lnTo>
                    <a:pt x="35" y="19"/>
                  </a:lnTo>
                  <a:lnTo>
                    <a:pt x="40" y="14"/>
                  </a:lnTo>
                  <a:lnTo>
                    <a:pt x="46" y="10"/>
                  </a:lnTo>
                  <a:lnTo>
                    <a:pt x="53" y="7"/>
                  </a:lnTo>
                  <a:lnTo>
                    <a:pt x="59" y="4"/>
                  </a:lnTo>
                  <a:lnTo>
                    <a:pt x="66" y="1"/>
                  </a:lnTo>
                  <a:lnTo>
                    <a:pt x="73" y="0"/>
                  </a:lnTo>
                  <a:lnTo>
                    <a:pt x="79" y="0"/>
                  </a:lnTo>
                  <a:lnTo>
                    <a:pt x="83" y="1"/>
                  </a:lnTo>
                  <a:lnTo>
                    <a:pt x="79" y="5"/>
                  </a:lnTo>
                  <a:lnTo>
                    <a:pt x="74" y="11"/>
                  </a:lnTo>
                  <a:lnTo>
                    <a:pt x="70" y="16"/>
                  </a:lnTo>
                  <a:lnTo>
                    <a:pt x="65" y="23"/>
                  </a:lnTo>
                  <a:lnTo>
                    <a:pt x="61" y="29"/>
                  </a:lnTo>
                  <a:lnTo>
                    <a:pt x="58" y="35"/>
                  </a:lnTo>
                  <a:lnTo>
                    <a:pt x="56" y="41"/>
                  </a:lnTo>
                  <a:lnTo>
                    <a:pt x="53" y="50"/>
                  </a:lnTo>
                  <a:lnTo>
                    <a:pt x="53" y="57"/>
                  </a:lnTo>
                  <a:lnTo>
                    <a:pt x="53" y="63"/>
                  </a:lnTo>
                  <a:lnTo>
                    <a:pt x="0" y="6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5" name="Freeform 27"/>
            <p:cNvSpPr>
              <a:spLocks/>
            </p:cNvSpPr>
            <p:nvPr/>
          </p:nvSpPr>
          <p:spPr bwMode="auto">
            <a:xfrm>
              <a:off x="4070" y="365"/>
              <a:ext cx="710" cy="207"/>
            </a:xfrm>
            <a:custGeom>
              <a:avLst/>
              <a:gdLst>
                <a:gd name="T0" fmla="*/ 8 w 710"/>
                <a:gd name="T1" fmla="*/ 83 h 207"/>
                <a:gd name="T2" fmla="*/ 30 w 710"/>
                <a:gd name="T3" fmla="*/ 92 h 207"/>
                <a:gd name="T4" fmla="*/ 62 w 710"/>
                <a:gd name="T5" fmla="*/ 102 h 207"/>
                <a:gd name="T6" fmla="*/ 97 w 710"/>
                <a:gd name="T7" fmla="*/ 109 h 207"/>
                <a:gd name="T8" fmla="*/ 131 w 710"/>
                <a:gd name="T9" fmla="*/ 115 h 207"/>
                <a:gd name="T10" fmla="*/ 166 w 710"/>
                <a:gd name="T11" fmla="*/ 122 h 207"/>
                <a:gd name="T12" fmla="*/ 195 w 710"/>
                <a:gd name="T13" fmla="*/ 128 h 207"/>
                <a:gd name="T14" fmla="*/ 212 w 710"/>
                <a:gd name="T15" fmla="*/ 137 h 207"/>
                <a:gd name="T16" fmla="*/ 229 w 710"/>
                <a:gd name="T17" fmla="*/ 153 h 207"/>
                <a:gd name="T18" fmla="*/ 253 w 710"/>
                <a:gd name="T19" fmla="*/ 177 h 207"/>
                <a:gd name="T20" fmla="*/ 278 w 710"/>
                <a:gd name="T21" fmla="*/ 198 h 207"/>
                <a:gd name="T22" fmla="*/ 295 w 710"/>
                <a:gd name="T23" fmla="*/ 181 h 207"/>
                <a:gd name="T24" fmla="*/ 305 w 710"/>
                <a:gd name="T25" fmla="*/ 145 h 207"/>
                <a:gd name="T26" fmla="*/ 312 w 710"/>
                <a:gd name="T27" fmla="*/ 130 h 207"/>
                <a:gd name="T28" fmla="*/ 353 w 710"/>
                <a:gd name="T29" fmla="*/ 123 h 207"/>
                <a:gd name="T30" fmla="*/ 394 w 710"/>
                <a:gd name="T31" fmla="*/ 116 h 207"/>
                <a:gd name="T32" fmla="*/ 425 w 710"/>
                <a:gd name="T33" fmla="*/ 116 h 207"/>
                <a:gd name="T34" fmla="*/ 458 w 710"/>
                <a:gd name="T35" fmla="*/ 122 h 207"/>
                <a:gd name="T36" fmla="*/ 483 w 710"/>
                <a:gd name="T37" fmla="*/ 105 h 207"/>
                <a:gd name="T38" fmla="*/ 508 w 710"/>
                <a:gd name="T39" fmla="*/ 98 h 207"/>
                <a:gd name="T40" fmla="*/ 540 w 710"/>
                <a:gd name="T41" fmla="*/ 98 h 207"/>
                <a:gd name="T42" fmla="*/ 573 w 710"/>
                <a:gd name="T43" fmla="*/ 111 h 207"/>
                <a:gd name="T44" fmla="*/ 610 w 710"/>
                <a:gd name="T45" fmla="*/ 141 h 207"/>
                <a:gd name="T46" fmla="*/ 653 w 710"/>
                <a:gd name="T47" fmla="*/ 176 h 207"/>
                <a:gd name="T48" fmla="*/ 696 w 710"/>
                <a:gd name="T49" fmla="*/ 190 h 207"/>
                <a:gd name="T50" fmla="*/ 697 w 710"/>
                <a:gd name="T51" fmla="*/ 178 h 207"/>
                <a:gd name="T52" fmla="*/ 677 w 710"/>
                <a:gd name="T53" fmla="*/ 153 h 207"/>
                <a:gd name="T54" fmla="*/ 653 w 710"/>
                <a:gd name="T55" fmla="*/ 128 h 207"/>
                <a:gd name="T56" fmla="*/ 637 w 710"/>
                <a:gd name="T57" fmla="*/ 104 h 207"/>
                <a:gd name="T58" fmla="*/ 637 w 710"/>
                <a:gd name="T59" fmla="*/ 78 h 207"/>
                <a:gd name="T60" fmla="*/ 654 w 710"/>
                <a:gd name="T61" fmla="*/ 51 h 207"/>
                <a:gd name="T62" fmla="*/ 676 w 710"/>
                <a:gd name="T63" fmla="*/ 32 h 207"/>
                <a:gd name="T64" fmla="*/ 695 w 710"/>
                <a:gd name="T65" fmla="*/ 16 h 207"/>
                <a:gd name="T66" fmla="*/ 696 w 710"/>
                <a:gd name="T67" fmla="*/ 7 h 207"/>
                <a:gd name="T68" fmla="*/ 669 w 710"/>
                <a:gd name="T69" fmla="*/ 8 h 207"/>
                <a:gd name="T70" fmla="*/ 645 w 710"/>
                <a:gd name="T71" fmla="*/ 14 h 207"/>
                <a:gd name="T72" fmla="*/ 623 w 710"/>
                <a:gd name="T73" fmla="*/ 26 h 207"/>
                <a:gd name="T74" fmla="*/ 585 w 710"/>
                <a:gd name="T75" fmla="*/ 49 h 207"/>
                <a:gd name="T76" fmla="*/ 540 w 710"/>
                <a:gd name="T77" fmla="*/ 52 h 207"/>
                <a:gd name="T78" fmla="*/ 484 w 710"/>
                <a:gd name="T79" fmla="*/ 46 h 207"/>
                <a:gd name="T80" fmla="*/ 449 w 710"/>
                <a:gd name="T81" fmla="*/ 32 h 207"/>
                <a:gd name="T82" fmla="*/ 438 w 710"/>
                <a:gd name="T83" fmla="*/ 16 h 207"/>
                <a:gd name="T84" fmla="*/ 388 w 710"/>
                <a:gd name="T85" fmla="*/ 18 h 207"/>
                <a:gd name="T86" fmla="*/ 347 w 710"/>
                <a:gd name="T87" fmla="*/ 5 h 207"/>
                <a:gd name="T88" fmla="*/ 192 w 710"/>
                <a:gd name="T89" fmla="*/ 0 h 207"/>
                <a:gd name="T90" fmla="*/ 104 w 710"/>
                <a:gd name="T91" fmla="*/ 9 h 207"/>
                <a:gd name="T92" fmla="*/ 26 w 710"/>
                <a:gd name="T93" fmla="*/ 34 h 207"/>
                <a:gd name="T94" fmla="*/ 26 w 710"/>
                <a:gd name="T95" fmla="*/ 48 h 207"/>
                <a:gd name="T96" fmla="*/ 8 w 710"/>
                <a:gd name="T97" fmla="*/ 64 h 207"/>
                <a:gd name="T98" fmla="*/ 2 w 710"/>
                <a:gd name="T99" fmla="*/ 74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10" h="207">
                  <a:moveTo>
                    <a:pt x="0" y="78"/>
                  </a:moveTo>
                  <a:lnTo>
                    <a:pt x="3" y="80"/>
                  </a:lnTo>
                  <a:lnTo>
                    <a:pt x="8" y="83"/>
                  </a:lnTo>
                  <a:lnTo>
                    <a:pt x="16" y="87"/>
                  </a:lnTo>
                  <a:lnTo>
                    <a:pt x="22" y="89"/>
                  </a:lnTo>
                  <a:lnTo>
                    <a:pt x="30" y="92"/>
                  </a:lnTo>
                  <a:lnTo>
                    <a:pt x="41" y="95"/>
                  </a:lnTo>
                  <a:lnTo>
                    <a:pt x="52" y="99"/>
                  </a:lnTo>
                  <a:lnTo>
                    <a:pt x="62" y="102"/>
                  </a:lnTo>
                  <a:lnTo>
                    <a:pt x="73" y="104"/>
                  </a:lnTo>
                  <a:lnTo>
                    <a:pt x="84" y="106"/>
                  </a:lnTo>
                  <a:lnTo>
                    <a:pt x="97" y="109"/>
                  </a:lnTo>
                  <a:lnTo>
                    <a:pt x="109" y="111"/>
                  </a:lnTo>
                  <a:lnTo>
                    <a:pt x="120" y="113"/>
                  </a:lnTo>
                  <a:lnTo>
                    <a:pt x="131" y="115"/>
                  </a:lnTo>
                  <a:lnTo>
                    <a:pt x="141" y="117"/>
                  </a:lnTo>
                  <a:lnTo>
                    <a:pt x="155" y="120"/>
                  </a:lnTo>
                  <a:lnTo>
                    <a:pt x="166" y="122"/>
                  </a:lnTo>
                  <a:lnTo>
                    <a:pt x="177" y="124"/>
                  </a:lnTo>
                  <a:lnTo>
                    <a:pt x="187" y="125"/>
                  </a:lnTo>
                  <a:lnTo>
                    <a:pt x="195" y="128"/>
                  </a:lnTo>
                  <a:lnTo>
                    <a:pt x="202" y="131"/>
                  </a:lnTo>
                  <a:lnTo>
                    <a:pt x="207" y="133"/>
                  </a:lnTo>
                  <a:lnTo>
                    <a:pt x="212" y="137"/>
                  </a:lnTo>
                  <a:lnTo>
                    <a:pt x="217" y="141"/>
                  </a:lnTo>
                  <a:lnTo>
                    <a:pt x="222" y="147"/>
                  </a:lnTo>
                  <a:lnTo>
                    <a:pt x="229" y="153"/>
                  </a:lnTo>
                  <a:lnTo>
                    <a:pt x="236" y="162"/>
                  </a:lnTo>
                  <a:lnTo>
                    <a:pt x="244" y="169"/>
                  </a:lnTo>
                  <a:lnTo>
                    <a:pt x="253" y="177"/>
                  </a:lnTo>
                  <a:lnTo>
                    <a:pt x="260" y="185"/>
                  </a:lnTo>
                  <a:lnTo>
                    <a:pt x="269" y="191"/>
                  </a:lnTo>
                  <a:lnTo>
                    <a:pt x="278" y="198"/>
                  </a:lnTo>
                  <a:lnTo>
                    <a:pt x="288" y="206"/>
                  </a:lnTo>
                  <a:lnTo>
                    <a:pt x="292" y="193"/>
                  </a:lnTo>
                  <a:lnTo>
                    <a:pt x="295" y="181"/>
                  </a:lnTo>
                  <a:lnTo>
                    <a:pt x="300" y="169"/>
                  </a:lnTo>
                  <a:lnTo>
                    <a:pt x="303" y="155"/>
                  </a:lnTo>
                  <a:lnTo>
                    <a:pt x="305" y="145"/>
                  </a:lnTo>
                  <a:lnTo>
                    <a:pt x="305" y="138"/>
                  </a:lnTo>
                  <a:lnTo>
                    <a:pt x="301" y="132"/>
                  </a:lnTo>
                  <a:lnTo>
                    <a:pt x="312" y="130"/>
                  </a:lnTo>
                  <a:lnTo>
                    <a:pt x="323" y="128"/>
                  </a:lnTo>
                  <a:lnTo>
                    <a:pt x="337" y="126"/>
                  </a:lnTo>
                  <a:lnTo>
                    <a:pt x="353" y="123"/>
                  </a:lnTo>
                  <a:lnTo>
                    <a:pt x="369" y="120"/>
                  </a:lnTo>
                  <a:lnTo>
                    <a:pt x="381" y="118"/>
                  </a:lnTo>
                  <a:lnTo>
                    <a:pt x="394" y="116"/>
                  </a:lnTo>
                  <a:lnTo>
                    <a:pt x="406" y="115"/>
                  </a:lnTo>
                  <a:lnTo>
                    <a:pt x="417" y="114"/>
                  </a:lnTo>
                  <a:lnTo>
                    <a:pt x="425" y="116"/>
                  </a:lnTo>
                  <a:lnTo>
                    <a:pt x="433" y="120"/>
                  </a:lnTo>
                  <a:lnTo>
                    <a:pt x="440" y="125"/>
                  </a:lnTo>
                  <a:lnTo>
                    <a:pt x="458" y="122"/>
                  </a:lnTo>
                  <a:lnTo>
                    <a:pt x="477" y="118"/>
                  </a:lnTo>
                  <a:lnTo>
                    <a:pt x="493" y="115"/>
                  </a:lnTo>
                  <a:lnTo>
                    <a:pt x="483" y="105"/>
                  </a:lnTo>
                  <a:lnTo>
                    <a:pt x="489" y="103"/>
                  </a:lnTo>
                  <a:lnTo>
                    <a:pt x="498" y="100"/>
                  </a:lnTo>
                  <a:lnTo>
                    <a:pt x="508" y="98"/>
                  </a:lnTo>
                  <a:lnTo>
                    <a:pt x="519" y="96"/>
                  </a:lnTo>
                  <a:lnTo>
                    <a:pt x="529" y="97"/>
                  </a:lnTo>
                  <a:lnTo>
                    <a:pt x="540" y="98"/>
                  </a:lnTo>
                  <a:lnTo>
                    <a:pt x="551" y="101"/>
                  </a:lnTo>
                  <a:lnTo>
                    <a:pt x="562" y="104"/>
                  </a:lnTo>
                  <a:lnTo>
                    <a:pt x="573" y="111"/>
                  </a:lnTo>
                  <a:lnTo>
                    <a:pt x="587" y="120"/>
                  </a:lnTo>
                  <a:lnTo>
                    <a:pt x="596" y="129"/>
                  </a:lnTo>
                  <a:lnTo>
                    <a:pt x="610" y="141"/>
                  </a:lnTo>
                  <a:lnTo>
                    <a:pt x="623" y="155"/>
                  </a:lnTo>
                  <a:lnTo>
                    <a:pt x="639" y="167"/>
                  </a:lnTo>
                  <a:lnTo>
                    <a:pt x="653" y="176"/>
                  </a:lnTo>
                  <a:lnTo>
                    <a:pt x="666" y="184"/>
                  </a:lnTo>
                  <a:lnTo>
                    <a:pt x="679" y="188"/>
                  </a:lnTo>
                  <a:lnTo>
                    <a:pt x="696" y="190"/>
                  </a:lnTo>
                  <a:lnTo>
                    <a:pt x="709" y="190"/>
                  </a:lnTo>
                  <a:lnTo>
                    <a:pt x="702" y="184"/>
                  </a:lnTo>
                  <a:lnTo>
                    <a:pt x="697" y="178"/>
                  </a:lnTo>
                  <a:lnTo>
                    <a:pt x="695" y="174"/>
                  </a:lnTo>
                  <a:lnTo>
                    <a:pt x="685" y="160"/>
                  </a:lnTo>
                  <a:lnTo>
                    <a:pt x="677" y="153"/>
                  </a:lnTo>
                  <a:lnTo>
                    <a:pt x="668" y="146"/>
                  </a:lnTo>
                  <a:lnTo>
                    <a:pt x="659" y="137"/>
                  </a:lnTo>
                  <a:lnTo>
                    <a:pt x="653" y="128"/>
                  </a:lnTo>
                  <a:lnTo>
                    <a:pt x="647" y="120"/>
                  </a:lnTo>
                  <a:lnTo>
                    <a:pt x="641" y="111"/>
                  </a:lnTo>
                  <a:lnTo>
                    <a:pt x="637" y="104"/>
                  </a:lnTo>
                  <a:lnTo>
                    <a:pt x="635" y="96"/>
                  </a:lnTo>
                  <a:lnTo>
                    <a:pt x="634" y="87"/>
                  </a:lnTo>
                  <a:lnTo>
                    <a:pt x="637" y="78"/>
                  </a:lnTo>
                  <a:lnTo>
                    <a:pt x="641" y="68"/>
                  </a:lnTo>
                  <a:lnTo>
                    <a:pt x="647" y="60"/>
                  </a:lnTo>
                  <a:lnTo>
                    <a:pt x="654" y="51"/>
                  </a:lnTo>
                  <a:lnTo>
                    <a:pt x="661" y="45"/>
                  </a:lnTo>
                  <a:lnTo>
                    <a:pt x="668" y="39"/>
                  </a:lnTo>
                  <a:lnTo>
                    <a:pt x="676" y="32"/>
                  </a:lnTo>
                  <a:lnTo>
                    <a:pt x="684" y="24"/>
                  </a:lnTo>
                  <a:lnTo>
                    <a:pt x="689" y="20"/>
                  </a:lnTo>
                  <a:lnTo>
                    <a:pt x="695" y="16"/>
                  </a:lnTo>
                  <a:lnTo>
                    <a:pt x="700" y="12"/>
                  </a:lnTo>
                  <a:lnTo>
                    <a:pt x="704" y="8"/>
                  </a:lnTo>
                  <a:lnTo>
                    <a:pt x="696" y="7"/>
                  </a:lnTo>
                  <a:lnTo>
                    <a:pt x="686" y="7"/>
                  </a:lnTo>
                  <a:lnTo>
                    <a:pt x="677" y="7"/>
                  </a:lnTo>
                  <a:lnTo>
                    <a:pt x="669" y="8"/>
                  </a:lnTo>
                  <a:lnTo>
                    <a:pt x="659" y="9"/>
                  </a:lnTo>
                  <a:lnTo>
                    <a:pt x="652" y="12"/>
                  </a:lnTo>
                  <a:lnTo>
                    <a:pt x="645" y="14"/>
                  </a:lnTo>
                  <a:lnTo>
                    <a:pt x="638" y="17"/>
                  </a:lnTo>
                  <a:lnTo>
                    <a:pt x="630" y="21"/>
                  </a:lnTo>
                  <a:lnTo>
                    <a:pt x="623" y="26"/>
                  </a:lnTo>
                  <a:lnTo>
                    <a:pt x="609" y="35"/>
                  </a:lnTo>
                  <a:lnTo>
                    <a:pt x="599" y="41"/>
                  </a:lnTo>
                  <a:lnTo>
                    <a:pt x="585" y="49"/>
                  </a:lnTo>
                  <a:lnTo>
                    <a:pt x="572" y="51"/>
                  </a:lnTo>
                  <a:lnTo>
                    <a:pt x="558" y="50"/>
                  </a:lnTo>
                  <a:lnTo>
                    <a:pt x="540" y="52"/>
                  </a:lnTo>
                  <a:lnTo>
                    <a:pt x="523" y="50"/>
                  </a:lnTo>
                  <a:lnTo>
                    <a:pt x="504" y="50"/>
                  </a:lnTo>
                  <a:lnTo>
                    <a:pt x="484" y="46"/>
                  </a:lnTo>
                  <a:lnTo>
                    <a:pt x="464" y="41"/>
                  </a:lnTo>
                  <a:lnTo>
                    <a:pt x="452" y="37"/>
                  </a:lnTo>
                  <a:lnTo>
                    <a:pt x="449" y="32"/>
                  </a:lnTo>
                  <a:lnTo>
                    <a:pt x="452" y="28"/>
                  </a:lnTo>
                  <a:lnTo>
                    <a:pt x="461" y="22"/>
                  </a:lnTo>
                  <a:lnTo>
                    <a:pt x="438" y="16"/>
                  </a:lnTo>
                  <a:lnTo>
                    <a:pt x="405" y="8"/>
                  </a:lnTo>
                  <a:lnTo>
                    <a:pt x="397" y="14"/>
                  </a:lnTo>
                  <a:lnTo>
                    <a:pt x="388" y="18"/>
                  </a:lnTo>
                  <a:lnTo>
                    <a:pt x="379" y="20"/>
                  </a:lnTo>
                  <a:lnTo>
                    <a:pt x="365" y="21"/>
                  </a:lnTo>
                  <a:lnTo>
                    <a:pt x="347" y="5"/>
                  </a:lnTo>
                  <a:lnTo>
                    <a:pt x="331" y="17"/>
                  </a:lnTo>
                  <a:lnTo>
                    <a:pt x="215" y="1"/>
                  </a:lnTo>
                  <a:lnTo>
                    <a:pt x="192" y="0"/>
                  </a:lnTo>
                  <a:lnTo>
                    <a:pt x="171" y="1"/>
                  </a:lnTo>
                  <a:lnTo>
                    <a:pt x="148" y="3"/>
                  </a:lnTo>
                  <a:lnTo>
                    <a:pt x="104" y="9"/>
                  </a:lnTo>
                  <a:lnTo>
                    <a:pt x="63" y="19"/>
                  </a:lnTo>
                  <a:lnTo>
                    <a:pt x="41" y="27"/>
                  </a:lnTo>
                  <a:lnTo>
                    <a:pt x="26" y="34"/>
                  </a:lnTo>
                  <a:lnTo>
                    <a:pt x="42" y="38"/>
                  </a:lnTo>
                  <a:lnTo>
                    <a:pt x="32" y="43"/>
                  </a:lnTo>
                  <a:lnTo>
                    <a:pt x="26" y="48"/>
                  </a:lnTo>
                  <a:lnTo>
                    <a:pt x="14" y="57"/>
                  </a:lnTo>
                  <a:lnTo>
                    <a:pt x="12" y="60"/>
                  </a:lnTo>
                  <a:lnTo>
                    <a:pt x="8" y="64"/>
                  </a:lnTo>
                  <a:lnTo>
                    <a:pt x="6" y="66"/>
                  </a:lnTo>
                  <a:lnTo>
                    <a:pt x="4" y="71"/>
                  </a:lnTo>
                  <a:lnTo>
                    <a:pt x="2" y="74"/>
                  </a:lnTo>
                  <a:lnTo>
                    <a:pt x="0" y="78"/>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98" name="Group 30"/>
            <p:cNvGrpSpPr>
              <a:grpSpLocks/>
            </p:cNvGrpSpPr>
            <p:nvPr/>
          </p:nvGrpSpPr>
          <p:grpSpPr bwMode="auto">
            <a:xfrm>
              <a:off x="4134" y="429"/>
              <a:ext cx="8" cy="8"/>
              <a:chOff x="4134" y="429"/>
              <a:chExt cx="8" cy="8"/>
            </a:xfrm>
          </p:grpSpPr>
          <p:sp>
            <p:nvSpPr>
              <p:cNvPr id="7196" name="Oval 28"/>
              <p:cNvSpPr>
                <a:spLocks noChangeArrowheads="1"/>
              </p:cNvSpPr>
              <p:nvPr/>
            </p:nvSpPr>
            <p:spPr bwMode="auto">
              <a:xfrm>
                <a:off x="4134" y="429"/>
                <a:ext cx="6" cy="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Arc 29"/>
              <p:cNvSpPr>
                <a:spLocks/>
              </p:cNvSpPr>
              <p:nvPr/>
            </p:nvSpPr>
            <p:spPr bwMode="auto">
              <a:xfrm>
                <a:off x="4135" y="430"/>
                <a:ext cx="7" cy="7"/>
              </a:xfrm>
              <a:custGeom>
                <a:avLst/>
                <a:gdLst>
                  <a:gd name="G0" fmla="+- 21600 0 0"/>
                  <a:gd name="G1" fmla="+- 21600 0 0"/>
                  <a:gd name="G2" fmla="+- 21600 0 0"/>
                  <a:gd name="T0" fmla="*/ 6326 w 43200"/>
                  <a:gd name="T1" fmla="*/ 36874 h 40920"/>
                  <a:gd name="T2" fmla="*/ 31260 w 43200"/>
                  <a:gd name="T3" fmla="*/ 40920 h 40920"/>
                  <a:gd name="T4" fmla="*/ 21600 w 43200"/>
                  <a:gd name="T5" fmla="*/ 21600 h 40920"/>
                </a:gdLst>
                <a:ahLst/>
                <a:cxnLst>
                  <a:cxn ang="0">
                    <a:pos x="T0" y="T1"/>
                  </a:cxn>
                  <a:cxn ang="0">
                    <a:pos x="T2" y="T3"/>
                  </a:cxn>
                  <a:cxn ang="0">
                    <a:pos x="T4" y="T5"/>
                  </a:cxn>
                </a:cxnLst>
                <a:rect l="0" t="0" r="r" b="b"/>
                <a:pathLst>
                  <a:path w="43200" h="40920" fill="none" extrusionOk="0">
                    <a:moveTo>
                      <a:pt x="6326" y="36873"/>
                    </a:moveTo>
                    <a:cubicBezTo>
                      <a:pt x="2275" y="32822"/>
                      <a:pt x="0" y="27328"/>
                      <a:pt x="0" y="21600"/>
                    </a:cubicBezTo>
                    <a:cubicBezTo>
                      <a:pt x="0" y="9670"/>
                      <a:pt x="9670" y="0"/>
                      <a:pt x="21600" y="0"/>
                    </a:cubicBezTo>
                    <a:cubicBezTo>
                      <a:pt x="33529" y="0"/>
                      <a:pt x="43200" y="9670"/>
                      <a:pt x="43200" y="21600"/>
                    </a:cubicBezTo>
                    <a:cubicBezTo>
                      <a:pt x="43199" y="29781"/>
                      <a:pt x="38577" y="37260"/>
                      <a:pt x="31259" y="40919"/>
                    </a:cubicBezTo>
                  </a:path>
                  <a:path w="43200" h="40920" stroke="0" extrusionOk="0">
                    <a:moveTo>
                      <a:pt x="6326" y="36873"/>
                    </a:moveTo>
                    <a:cubicBezTo>
                      <a:pt x="2275" y="32822"/>
                      <a:pt x="0" y="27328"/>
                      <a:pt x="0" y="21600"/>
                    </a:cubicBezTo>
                    <a:cubicBezTo>
                      <a:pt x="0" y="9670"/>
                      <a:pt x="9670" y="0"/>
                      <a:pt x="21600" y="0"/>
                    </a:cubicBezTo>
                    <a:cubicBezTo>
                      <a:pt x="33529" y="0"/>
                      <a:pt x="43200" y="9670"/>
                      <a:pt x="43200" y="21600"/>
                    </a:cubicBezTo>
                    <a:cubicBezTo>
                      <a:pt x="43199" y="29781"/>
                      <a:pt x="38577" y="37260"/>
                      <a:pt x="31259" y="40919"/>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04" name="Group 36"/>
            <p:cNvGrpSpPr>
              <a:grpSpLocks/>
            </p:cNvGrpSpPr>
            <p:nvPr/>
          </p:nvGrpSpPr>
          <p:grpSpPr bwMode="auto">
            <a:xfrm>
              <a:off x="4174" y="395"/>
              <a:ext cx="38" cy="25"/>
              <a:chOff x="4174" y="395"/>
              <a:chExt cx="38" cy="25"/>
            </a:xfrm>
          </p:grpSpPr>
          <p:sp>
            <p:nvSpPr>
              <p:cNvPr id="7199" name="Arc 31"/>
              <p:cNvSpPr>
                <a:spLocks/>
              </p:cNvSpPr>
              <p:nvPr/>
            </p:nvSpPr>
            <p:spPr bwMode="auto">
              <a:xfrm>
                <a:off x="4183" y="395"/>
                <a:ext cx="1" cy="25"/>
              </a:xfrm>
              <a:custGeom>
                <a:avLst/>
                <a:gdLst>
                  <a:gd name="G0" fmla="+- 19473 0 0"/>
                  <a:gd name="G1" fmla="+- 21600 0 0"/>
                  <a:gd name="G2" fmla="+- 21600 0 0"/>
                  <a:gd name="T0" fmla="*/ 309 w 41073"/>
                  <a:gd name="T1" fmla="*/ 11635 h 43200"/>
                  <a:gd name="T2" fmla="*/ 0 w 41073"/>
                  <a:gd name="T3" fmla="*/ 30947 h 43200"/>
                  <a:gd name="T4" fmla="*/ 19473 w 41073"/>
                  <a:gd name="T5" fmla="*/ 21600 h 43200"/>
                </a:gdLst>
                <a:ahLst/>
                <a:cxnLst>
                  <a:cxn ang="0">
                    <a:pos x="T0" y="T1"/>
                  </a:cxn>
                  <a:cxn ang="0">
                    <a:pos x="T2" y="T3"/>
                  </a:cxn>
                  <a:cxn ang="0">
                    <a:pos x="T4" y="T5"/>
                  </a:cxn>
                </a:cxnLst>
                <a:rect l="0" t="0" r="r" b="b"/>
                <a:pathLst>
                  <a:path w="41073" h="43200" fill="none"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path>
                  <a:path w="41073" h="43200" stroke="0"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lnTo>
                      <a:pt x="194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0" name="Arc 32"/>
              <p:cNvSpPr>
                <a:spLocks/>
              </p:cNvSpPr>
              <p:nvPr/>
            </p:nvSpPr>
            <p:spPr bwMode="auto">
              <a:xfrm>
                <a:off x="4174" y="395"/>
                <a:ext cx="1" cy="25"/>
              </a:xfrm>
              <a:custGeom>
                <a:avLst/>
                <a:gdLst>
                  <a:gd name="G0" fmla="+- 19473 0 0"/>
                  <a:gd name="G1" fmla="+- 21600 0 0"/>
                  <a:gd name="G2" fmla="+- 21600 0 0"/>
                  <a:gd name="T0" fmla="*/ 309 w 41073"/>
                  <a:gd name="T1" fmla="*/ 11635 h 43200"/>
                  <a:gd name="T2" fmla="*/ 0 w 41073"/>
                  <a:gd name="T3" fmla="*/ 30947 h 43200"/>
                  <a:gd name="T4" fmla="*/ 19473 w 41073"/>
                  <a:gd name="T5" fmla="*/ 21600 h 43200"/>
                </a:gdLst>
                <a:ahLst/>
                <a:cxnLst>
                  <a:cxn ang="0">
                    <a:pos x="T0" y="T1"/>
                  </a:cxn>
                  <a:cxn ang="0">
                    <a:pos x="T2" y="T3"/>
                  </a:cxn>
                  <a:cxn ang="0">
                    <a:pos x="T4" y="T5"/>
                  </a:cxn>
                </a:cxnLst>
                <a:rect l="0" t="0" r="r" b="b"/>
                <a:pathLst>
                  <a:path w="41073" h="43200" fill="none"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path>
                  <a:path w="41073" h="43200" stroke="0"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lnTo>
                      <a:pt x="194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Arc 33"/>
              <p:cNvSpPr>
                <a:spLocks/>
              </p:cNvSpPr>
              <p:nvPr/>
            </p:nvSpPr>
            <p:spPr bwMode="auto">
              <a:xfrm>
                <a:off x="4192" y="395"/>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Arc 34"/>
              <p:cNvSpPr>
                <a:spLocks/>
              </p:cNvSpPr>
              <p:nvPr/>
            </p:nvSpPr>
            <p:spPr bwMode="auto">
              <a:xfrm>
                <a:off x="4202" y="395"/>
                <a:ext cx="1" cy="25"/>
              </a:xfrm>
              <a:custGeom>
                <a:avLst/>
                <a:gdLst>
                  <a:gd name="G0" fmla="+- 19473 0 0"/>
                  <a:gd name="G1" fmla="+- 21600 0 0"/>
                  <a:gd name="G2" fmla="+- 21600 0 0"/>
                  <a:gd name="T0" fmla="*/ 309 w 41073"/>
                  <a:gd name="T1" fmla="*/ 11635 h 43200"/>
                  <a:gd name="T2" fmla="*/ 0 w 41073"/>
                  <a:gd name="T3" fmla="*/ 30947 h 43200"/>
                  <a:gd name="T4" fmla="*/ 19473 w 41073"/>
                  <a:gd name="T5" fmla="*/ 21600 h 43200"/>
                </a:gdLst>
                <a:ahLst/>
                <a:cxnLst>
                  <a:cxn ang="0">
                    <a:pos x="T0" y="T1"/>
                  </a:cxn>
                  <a:cxn ang="0">
                    <a:pos x="T2" y="T3"/>
                  </a:cxn>
                  <a:cxn ang="0">
                    <a:pos x="T4" y="T5"/>
                  </a:cxn>
                </a:cxnLst>
                <a:rect l="0" t="0" r="r" b="b"/>
                <a:pathLst>
                  <a:path w="41073" h="43200" fill="none"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path>
                  <a:path w="41073" h="43200" stroke="0"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lnTo>
                      <a:pt x="194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Arc 35"/>
              <p:cNvSpPr>
                <a:spLocks/>
              </p:cNvSpPr>
              <p:nvPr/>
            </p:nvSpPr>
            <p:spPr bwMode="auto">
              <a:xfrm>
                <a:off x="4212" y="395"/>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05" name="Freeform 37"/>
            <p:cNvSpPr>
              <a:spLocks/>
            </p:cNvSpPr>
            <p:nvPr/>
          </p:nvSpPr>
          <p:spPr bwMode="auto">
            <a:xfrm>
              <a:off x="4072" y="436"/>
              <a:ext cx="699" cy="134"/>
            </a:xfrm>
            <a:custGeom>
              <a:avLst/>
              <a:gdLst>
                <a:gd name="T0" fmla="*/ 15 w 699"/>
                <a:gd name="T1" fmla="*/ 21 h 134"/>
                <a:gd name="T2" fmla="*/ 47 w 699"/>
                <a:gd name="T3" fmla="*/ 31 h 134"/>
                <a:gd name="T4" fmla="*/ 94 w 699"/>
                <a:gd name="T5" fmla="*/ 42 h 134"/>
                <a:gd name="T6" fmla="*/ 140 w 699"/>
                <a:gd name="T7" fmla="*/ 50 h 134"/>
                <a:gd name="T8" fmla="*/ 185 w 699"/>
                <a:gd name="T9" fmla="*/ 58 h 134"/>
                <a:gd name="T10" fmla="*/ 211 w 699"/>
                <a:gd name="T11" fmla="*/ 69 h 134"/>
                <a:gd name="T12" fmla="*/ 233 w 699"/>
                <a:gd name="T13" fmla="*/ 91 h 134"/>
                <a:gd name="T14" fmla="*/ 267 w 699"/>
                <a:gd name="T15" fmla="*/ 121 h 134"/>
                <a:gd name="T16" fmla="*/ 291 w 699"/>
                <a:gd name="T17" fmla="*/ 109 h 134"/>
                <a:gd name="T18" fmla="*/ 300 w 699"/>
                <a:gd name="T19" fmla="*/ 75 h 134"/>
                <a:gd name="T20" fmla="*/ 318 w 699"/>
                <a:gd name="T21" fmla="*/ 60 h 134"/>
                <a:gd name="T22" fmla="*/ 376 w 699"/>
                <a:gd name="T23" fmla="*/ 50 h 134"/>
                <a:gd name="T24" fmla="*/ 419 w 699"/>
                <a:gd name="T25" fmla="*/ 48 h 134"/>
                <a:gd name="T26" fmla="*/ 471 w 699"/>
                <a:gd name="T27" fmla="*/ 50 h 134"/>
                <a:gd name="T28" fmla="*/ 491 w 699"/>
                <a:gd name="T29" fmla="*/ 34 h 134"/>
                <a:gd name="T30" fmla="*/ 532 w 699"/>
                <a:gd name="T31" fmla="*/ 31 h 134"/>
                <a:gd name="T32" fmla="*/ 579 w 699"/>
                <a:gd name="T33" fmla="*/ 53 h 134"/>
                <a:gd name="T34" fmla="*/ 616 w 699"/>
                <a:gd name="T35" fmla="*/ 86 h 134"/>
                <a:gd name="T36" fmla="*/ 645 w 699"/>
                <a:gd name="T37" fmla="*/ 106 h 134"/>
                <a:gd name="T38" fmla="*/ 671 w 699"/>
                <a:gd name="T39" fmla="*/ 117 h 134"/>
                <a:gd name="T40" fmla="*/ 693 w 699"/>
                <a:gd name="T41" fmla="*/ 114 h 134"/>
                <a:gd name="T42" fmla="*/ 675 w 699"/>
                <a:gd name="T43" fmla="*/ 91 h 134"/>
                <a:gd name="T44" fmla="*/ 652 w 699"/>
                <a:gd name="T45" fmla="*/ 71 h 134"/>
                <a:gd name="T46" fmla="*/ 638 w 699"/>
                <a:gd name="T47" fmla="*/ 54 h 134"/>
                <a:gd name="T48" fmla="*/ 628 w 699"/>
                <a:gd name="T49" fmla="*/ 38 h 134"/>
                <a:gd name="T50" fmla="*/ 625 w 699"/>
                <a:gd name="T51" fmla="*/ 22 h 134"/>
                <a:gd name="T52" fmla="*/ 605 w 699"/>
                <a:gd name="T53" fmla="*/ 25 h 134"/>
                <a:gd name="T54" fmla="*/ 587 w 699"/>
                <a:gd name="T55" fmla="*/ 19 h 134"/>
                <a:gd name="T56" fmla="*/ 567 w 699"/>
                <a:gd name="T57" fmla="*/ 22 h 134"/>
                <a:gd name="T58" fmla="*/ 544 w 699"/>
                <a:gd name="T59" fmla="*/ 21 h 134"/>
                <a:gd name="T60" fmla="*/ 520 w 699"/>
                <a:gd name="T61" fmla="*/ 23 h 134"/>
                <a:gd name="T62" fmla="*/ 493 w 699"/>
                <a:gd name="T63" fmla="*/ 21 h 134"/>
                <a:gd name="T64" fmla="*/ 466 w 699"/>
                <a:gd name="T65" fmla="*/ 17 h 134"/>
                <a:gd name="T66" fmla="*/ 439 w 699"/>
                <a:gd name="T67" fmla="*/ 16 h 134"/>
                <a:gd name="T68" fmla="*/ 413 w 699"/>
                <a:gd name="T69" fmla="*/ 16 h 134"/>
                <a:gd name="T70" fmla="*/ 389 w 699"/>
                <a:gd name="T71" fmla="*/ 13 h 134"/>
                <a:gd name="T72" fmla="*/ 363 w 699"/>
                <a:gd name="T73" fmla="*/ 8 h 134"/>
                <a:gd name="T74" fmla="*/ 332 w 699"/>
                <a:gd name="T75" fmla="*/ 8 h 134"/>
                <a:gd name="T76" fmla="*/ 305 w 699"/>
                <a:gd name="T77" fmla="*/ 6 h 134"/>
                <a:gd name="T78" fmla="*/ 279 w 699"/>
                <a:gd name="T79" fmla="*/ 10 h 134"/>
                <a:gd name="T80" fmla="*/ 253 w 699"/>
                <a:gd name="T81" fmla="*/ 8 h 134"/>
                <a:gd name="T82" fmla="*/ 232 w 699"/>
                <a:gd name="T83" fmla="*/ 10 h 134"/>
                <a:gd name="T84" fmla="*/ 207 w 699"/>
                <a:gd name="T85" fmla="*/ 8 h 134"/>
                <a:gd name="T86" fmla="*/ 179 w 699"/>
                <a:gd name="T87" fmla="*/ 6 h 134"/>
                <a:gd name="T88" fmla="*/ 143 w 699"/>
                <a:gd name="T89" fmla="*/ 0 h 134"/>
                <a:gd name="T90" fmla="*/ 102 w 699"/>
                <a:gd name="T91" fmla="*/ 0 h 134"/>
                <a:gd name="T92" fmla="*/ 68 w 699"/>
                <a:gd name="T93" fmla="*/ 6 h 134"/>
                <a:gd name="T94" fmla="*/ 37 w 699"/>
                <a:gd name="T95" fmla="*/ 4 h 134"/>
                <a:gd name="T96" fmla="*/ 7 w 699"/>
                <a:gd name="T97" fmla="*/ 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9" h="134">
                  <a:moveTo>
                    <a:pt x="0" y="13"/>
                  </a:moveTo>
                  <a:lnTo>
                    <a:pt x="4" y="16"/>
                  </a:lnTo>
                  <a:lnTo>
                    <a:pt x="9" y="18"/>
                  </a:lnTo>
                  <a:lnTo>
                    <a:pt x="15" y="21"/>
                  </a:lnTo>
                  <a:lnTo>
                    <a:pt x="21" y="23"/>
                  </a:lnTo>
                  <a:lnTo>
                    <a:pt x="29" y="25"/>
                  </a:lnTo>
                  <a:lnTo>
                    <a:pt x="39" y="28"/>
                  </a:lnTo>
                  <a:lnTo>
                    <a:pt x="47" y="31"/>
                  </a:lnTo>
                  <a:lnTo>
                    <a:pt x="58" y="34"/>
                  </a:lnTo>
                  <a:lnTo>
                    <a:pt x="70" y="37"/>
                  </a:lnTo>
                  <a:lnTo>
                    <a:pt x="82" y="40"/>
                  </a:lnTo>
                  <a:lnTo>
                    <a:pt x="94" y="42"/>
                  </a:lnTo>
                  <a:lnTo>
                    <a:pt x="106" y="43"/>
                  </a:lnTo>
                  <a:lnTo>
                    <a:pt x="118" y="45"/>
                  </a:lnTo>
                  <a:lnTo>
                    <a:pt x="129" y="48"/>
                  </a:lnTo>
                  <a:lnTo>
                    <a:pt x="140" y="50"/>
                  </a:lnTo>
                  <a:lnTo>
                    <a:pt x="149" y="52"/>
                  </a:lnTo>
                  <a:lnTo>
                    <a:pt x="163" y="54"/>
                  </a:lnTo>
                  <a:lnTo>
                    <a:pt x="174" y="56"/>
                  </a:lnTo>
                  <a:lnTo>
                    <a:pt x="185" y="58"/>
                  </a:lnTo>
                  <a:lnTo>
                    <a:pt x="193" y="59"/>
                  </a:lnTo>
                  <a:lnTo>
                    <a:pt x="200" y="62"/>
                  </a:lnTo>
                  <a:lnTo>
                    <a:pt x="206" y="66"/>
                  </a:lnTo>
                  <a:lnTo>
                    <a:pt x="211" y="69"/>
                  </a:lnTo>
                  <a:lnTo>
                    <a:pt x="215" y="74"/>
                  </a:lnTo>
                  <a:lnTo>
                    <a:pt x="219" y="78"/>
                  </a:lnTo>
                  <a:lnTo>
                    <a:pt x="226" y="85"/>
                  </a:lnTo>
                  <a:lnTo>
                    <a:pt x="233" y="91"/>
                  </a:lnTo>
                  <a:lnTo>
                    <a:pt x="241" y="99"/>
                  </a:lnTo>
                  <a:lnTo>
                    <a:pt x="249" y="106"/>
                  </a:lnTo>
                  <a:lnTo>
                    <a:pt x="257" y="114"/>
                  </a:lnTo>
                  <a:lnTo>
                    <a:pt x="267" y="121"/>
                  </a:lnTo>
                  <a:lnTo>
                    <a:pt x="276" y="127"/>
                  </a:lnTo>
                  <a:lnTo>
                    <a:pt x="283" y="133"/>
                  </a:lnTo>
                  <a:lnTo>
                    <a:pt x="286" y="122"/>
                  </a:lnTo>
                  <a:lnTo>
                    <a:pt x="291" y="109"/>
                  </a:lnTo>
                  <a:lnTo>
                    <a:pt x="295" y="97"/>
                  </a:lnTo>
                  <a:lnTo>
                    <a:pt x="298" y="86"/>
                  </a:lnTo>
                  <a:lnTo>
                    <a:pt x="300" y="81"/>
                  </a:lnTo>
                  <a:lnTo>
                    <a:pt x="300" y="75"/>
                  </a:lnTo>
                  <a:lnTo>
                    <a:pt x="300" y="70"/>
                  </a:lnTo>
                  <a:lnTo>
                    <a:pt x="295" y="64"/>
                  </a:lnTo>
                  <a:lnTo>
                    <a:pt x="306" y="61"/>
                  </a:lnTo>
                  <a:lnTo>
                    <a:pt x="318" y="60"/>
                  </a:lnTo>
                  <a:lnTo>
                    <a:pt x="332" y="58"/>
                  </a:lnTo>
                  <a:lnTo>
                    <a:pt x="348" y="55"/>
                  </a:lnTo>
                  <a:lnTo>
                    <a:pt x="364" y="52"/>
                  </a:lnTo>
                  <a:lnTo>
                    <a:pt x="376" y="50"/>
                  </a:lnTo>
                  <a:lnTo>
                    <a:pt x="389" y="48"/>
                  </a:lnTo>
                  <a:lnTo>
                    <a:pt x="400" y="47"/>
                  </a:lnTo>
                  <a:lnTo>
                    <a:pt x="410" y="46"/>
                  </a:lnTo>
                  <a:lnTo>
                    <a:pt x="419" y="48"/>
                  </a:lnTo>
                  <a:lnTo>
                    <a:pt x="427" y="52"/>
                  </a:lnTo>
                  <a:lnTo>
                    <a:pt x="434" y="58"/>
                  </a:lnTo>
                  <a:lnTo>
                    <a:pt x="452" y="55"/>
                  </a:lnTo>
                  <a:lnTo>
                    <a:pt x="471" y="50"/>
                  </a:lnTo>
                  <a:lnTo>
                    <a:pt x="484" y="47"/>
                  </a:lnTo>
                  <a:lnTo>
                    <a:pt x="476" y="39"/>
                  </a:lnTo>
                  <a:lnTo>
                    <a:pt x="482" y="37"/>
                  </a:lnTo>
                  <a:lnTo>
                    <a:pt x="491" y="34"/>
                  </a:lnTo>
                  <a:lnTo>
                    <a:pt x="501" y="31"/>
                  </a:lnTo>
                  <a:lnTo>
                    <a:pt x="512" y="30"/>
                  </a:lnTo>
                  <a:lnTo>
                    <a:pt x="522" y="31"/>
                  </a:lnTo>
                  <a:lnTo>
                    <a:pt x="532" y="31"/>
                  </a:lnTo>
                  <a:lnTo>
                    <a:pt x="543" y="34"/>
                  </a:lnTo>
                  <a:lnTo>
                    <a:pt x="555" y="37"/>
                  </a:lnTo>
                  <a:lnTo>
                    <a:pt x="566" y="43"/>
                  </a:lnTo>
                  <a:lnTo>
                    <a:pt x="579" y="53"/>
                  </a:lnTo>
                  <a:lnTo>
                    <a:pt x="589" y="61"/>
                  </a:lnTo>
                  <a:lnTo>
                    <a:pt x="602" y="72"/>
                  </a:lnTo>
                  <a:lnTo>
                    <a:pt x="607" y="77"/>
                  </a:lnTo>
                  <a:lnTo>
                    <a:pt x="616" y="86"/>
                  </a:lnTo>
                  <a:lnTo>
                    <a:pt x="624" y="91"/>
                  </a:lnTo>
                  <a:lnTo>
                    <a:pt x="631" y="97"/>
                  </a:lnTo>
                  <a:lnTo>
                    <a:pt x="639" y="102"/>
                  </a:lnTo>
                  <a:lnTo>
                    <a:pt x="645" y="106"/>
                  </a:lnTo>
                  <a:lnTo>
                    <a:pt x="652" y="109"/>
                  </a:lnTo>
                  <a:lnTo>
                    <a:pt x="658" y="112"/>
                  </a:lnTo>
                  <a:lnTo>
                    <a:pt x="664" y="115"/>
                  </a:lnTo>
                  <a:lnTo>
                    <a:pt x="671" y="117"/>
                  </a:lnTo>
                  <a:lnTo>
                    <a:pt x="677" y="118"/>
                  </a:lnTo>
                  <a:lnTo>
                    <a:pt x="686" y="118"/>
                  </a:lnTo>
                  <a:lnTo>
                    <a:pt x="698" y="118"/>
                  </a:lnTo>
                  <a:lnTo>
                    <a:pt x="693" y="114"/>
                  </a:lnTo>
                  <a:lnTo>
                    <a:pt x="688" y="108"/>
                  </a:lnTo>
                  <a:lnTo>
                    <a:pt x="685" y="104"/>
                  </a:lnTo>
                  <a:lnTo>
                    <a:pt x="680" y="97"/>
                  </a:lnTo>
                  <a:lnTo>
                    <a:pt x="675" y="91"/>
                  </a:lnTo>
                  <a:lnTo>
                    <a:pt x="668" y="85"/>
                  </a:lnTo>
                  <a:lnTo>
                    <a:pt x="659" y="79"/>
                  </a:lnTo>
                  <a:lnTo>
                    <a:pt x="655" y="75"/>
                  </a:lnTo>
                  <a:lnTo>
                    <a:pt x="652" y="71"/>
                  </a:lnTo>
                  <a:lnTo>
                    <a:pt x="647" y="66"/>
                  </a:lnTo>
                  <a:lnTo>
                    <a:pt x="645" y="62"/>
                  </a:lnTo>
                  <a:lnTo>
                    <a:pt x="641" y="58"/>
                  </a:lnTo>
                  <a:lnTo>
                    <a:pt x="638" y="54"/>
                  </a:lnTo>
                  <a:lnTo>
                    <a:pt x="636" y="49"/>
                  </a:lnTo>
                  <a:lnTo>
                    <a:pt x="633" y="45"/>
                  </a:lnTo>
                  <a:lnTo>
                    <a:pt x="630" y="42"/>
                  </a:lnTo>
                  <a:lnTo>
                    <a:pt x="628" y="38"/>
                  </a:lnTo>
                  <a:lnTo>
                    <a:pt x="627" y="34"/>
                  </a:lnTo>
                  <a:lnTo>
                    <a:pt x="626" y="30"/>
                  </a:lnTo>
                  <a:lnTo>
                    <a:pt x="625" y="25"/>
                  </a:lnTo>
                  <a:lnTo>
                    <a:pt x="625" y="22"/>
                  </a:lnTo>
                  <a:lnTo>
                    <a:pt x="621" y="24"/>
                  </a:lnTo>
                  <a:lnTo>
                    <a:pt x="615" y="25"/>
                  </a:lnTo>
                  <a:lnTo>
                    <a:pt x="610" y="25"/>
                  </a:lnTo>
                  <a:lnTo>
                    <a:pt x="605" y="25"/>
                  </a:lnTo>
                  <a:lnTo>
                    <a:pt x="600" y="23"/>
                  </a:lnTo>
                  <a:lnTo>
                    <a:pt x="596" y="22"/>
                  </a:lnTo>
                  <a:lnTo>
                    <a:pt x="592" y="21"/>
                  </a:lnTo>
                  <a:lnTo>
                    <a:pt x="587" y="19"/>
                  </a:lnTo>
                  <a:lnTo>
                    <a:pt x="582" y="19"/>
                  </a:lnTo>
                  <a:lnTo>
                    <a:pt x="576" y="20"/>
                  </a:lnTo>
                  <a:lnTo>
                    <a:pt x="570" y="21"/>
                  </a:lnTo>
                  <a:lnTo>
                    <a:pt x="567" y="22"/>
                  </a:lnTo>
                  <a:lnTo>
                    <a:pt x="562" y="23"/>
                  </a:lnTo>
                  <a:lnTo>
                    <a:pt x="557" y="23"/>
                  </a:lnTo>
                  <a:lnTo>
                    <a:pt x="550" y="22"/>
                  </a:lnTo>
                  <a:lnTo>
                    <a:pt x="544" y="21"/>
                  </a:lnTo>
                  <a:lnTo>
                    <a:pt x="539" y="21"/>
                  </a:lnTo>
                  <a:lnTo>
                    <a:pt x="532" y="21"/>
                  </a:lnTo>
                  <a:lnTo>
                    <a:pt x="526" y="23"/>
                  </a:lnTo>
                  <a:lnTo>
                    <a:pt x="520" y="23"/>
                  </a:lnTo>
                  <a:lnTo>
                    <a:pt x="514" y="21"/>
                  </a:lnTo>
                  <a:lnTo>
                    <a:pt x="506" y="20"/>
                  </a:lnTo>
                  <a:lnTo>
                    <a:pt x="500" y="20"/>
                  </a:lnTo>
                  <a:lnTo>
                    <a:pt x="493" y="21"/>
                  </a:lnTo>
                  <a:lnTo>
                    <a:pt x="487" y="22"/>
                  </a:lnTo>
                  <a:lnTo>
                    <a:pt x="480" y="21"/>
                  </a:lnTo>
                  <a:lnTo>
                    <a:pt x="474" y="18"/>
                  </a:lnTo>
                  <a:lnTo>
                    <a:pt x="466" y="17"/>
                  </a:lnTo>
                  <a:lnTo>
                    <a:pt x="460" y="16"/>
                  </a:lnTo>
                  <a:lnTo>
                    <a:pt x="453" y="15"/>
                  </a:lnTo>
                  <a:lnTo>
                    <a:pt x="447" y="15"/>
                  </a:lnTo>
                  <a:lnTo>
                    <a:pt x="439" y="16"/>
                  </a:lnTo>
                  <a:lnTo>
                    <a:pt x="432" y="18"/>
                  </a:lnTo>
                  <a:lnTo>
                    <a:pt x="424" y="16"/>
                  </a:lnTo>
                  <a:lnTo>
                    <a:pt x="419" y="16"/>
                  </a:lnTo>
                  <a:lnTo>
                    <a:pt x="413" y="16"/>
                  </a:lnTo>
                  <a:lnTo>
                    <a:pt x="407" y="16"/>
                  </a:lnTo>
                  <a:lnTo>
                    <a:pt x="401" y="16"/>
                  </a:lnTo>
                  <a:lnTo>
                    <a:pt x="394" y="15"/>
                  </a:lnTo>
                  <a:lnTo>
                    <a:pt x="389" y="13"/>
                  </a:lnTo>
                  <a:lnTo>
                    <a:pt x="384" y="11"/>
                  </a:lnTo>
                  <a:lnTo>
                    <a:pt x="377" y="9"/>
                  </a:lnTo>
                  <a:lnTo>
                    <a:pt x="371" y="8"/>
                  </a:lnTo>
                  <a:lnTo>
                    <a:pt x="363" y="8"/>
                  </a:lnTo>
                  <a:lnTo>
                    <a:pt x="356" y="7"/>
                  </a:lnTo>
                  <a:lnTo>
                    <a:pt x="347" y="8"/>
                  </a:lnTo>
                  <a:lnTo>
                    <a:pt x="338" y="8"/>
                  </a:lnTo>
                  <a:lnTo>
                    <a:pt x="332" y="8"/>
                  </a:lnTo>
                  <a:lnTo>
                    <a:pt x="324" y="7"/>
                  </a:lnTo>
                  <a:lnTo>
                    <a:pt x="318" y="7"/>
                  </a:lnTo>
                  <a:lnTo>
                    <a:pt x="311" y="6"/>
                  </a:lnTo>
                  <a:lnTo>
                    <a:pt x="305" y="6"/>
                  </a:lnTo>
                  <a:lnTo>
                    <a:pt x="297" y="7"/>
                  </a:lnTo>
                  <a:lnTo>
                    <a:pt x="290" y="8"/>
                  </a:lnTo>
                  <a:lnTo>
                    <a:pt x="285" y="10"/>
                  </a:lnTo>
                  <a:lnTo>
                    <a:pt x="279" y="10"/>
                  </a:lnTo>
                  <a:lnTo>
                    <a:pt x="273" y="10"/>
                  </a:lnTo>
                  <a:lnTo>
                    <a:pt x="267" y="9"/>
                  </a:lnTo>
                  <a:lnTo>
                    <a:pt x="259" y="8"/>
                  </a:lnTo>
                  <a:lnTo>
                    <a:pt x="253" y="8"/>
                  </a:lnTo>
                  <a:lnTo>
                    <a:pt x="248" y="8"/>
                  </a:lnTo>
                  <a:lnTo>
                    <a:pt x="244" y="8"/>
                  </a:lnTo>
                  <a:lnTo>
                    <a:pt x="238" y="10"/>
                  </a:lnTo>
                  <a:lnTo>
                    <a:pt x="232" y="10"/>
                  </a:lnTo>
                  <a:lnTo>
                    <a:pt x="226" y="10"/>
                  </a:lnTo>
                  <a:lnTo>
                    <a:pt x="221" y="9"/>
                  </a:lnTo>
                  <a:lnTo>
                    <a:pt x="215" y="8"/>
                  </a:lnTo>
                  <a:lnTo>
                    <a:pt x="207" y="8"/>
                  </a:lnTo>
                  <a:lnTo>
                    <a:pt x="199" y="8"/>
                  </a:lnTo>
                  <a:lnTo>
                    <a:pt x="193" y="8"/>
                  </a:lnTo>
                  <a:lnTo>
                    <a:pt x="186" y="7"/>
                  </a:lnTo>
                  <a:lnTo>
                    <a:pt x="179" y="6"/>
                  </a:lnTo>
                  <a:lnTo>
                    <a:pt x="172" y="4"/>
                  </a:lnTo>
                  <a:lnTo>
                    <a:pt x="165" y="3"/>
                  </a:lnTo>
                  <a:lnTo>
                    <a:pt x="155" y="1"/>
                  </a:lnTo>
                  <a:lnTo>
                    <a:pt x="143" y="0"/>
                  </a:lnTo>
                  <a:lnTo>
                    <a:pt x="132" y="0"/>
                  </a:lnTo>
                  <a:lnTo>
                    <a:pt x="122" y="1"/>
                  </a:lnTo>
                  <a:lnTo>
                    <a:pt x="109" y="0"/>
                  </a:lnTo>
                  <a:lnTo>
                    <a:pt x="102" y="0"/>
                  </a:lnTo>
                  <a:lnTo>
                    <a:pt x="96" y="1"/>
                  </a:lnTo>
                  <a:lnTo>
                    <a:pt x="89" y="0"/>
                  </a:lnTo>
                  <a:lnTo>
                    <a:pt x="81" y="1"/>
                  </a:lnTo>
                  <a:lnTo>
                    <a:pt x="68" y="6"/>
                  </a:lnTo>
                  <a:lnTo>
                    <a:pt x="60" y="5"/>
                  </a:lnTo>
                  <a:lnTo>
                    <a:pt x="52" y="4"/>
                  </a:lnTo>
                  <a:lnTo>
                    <a:pt x="44" y="4"/>
                  </a:lnTo>
                  <a:lnTo>
                    <a:pt x="37" y="4"/>
                  </a:lnTo>
                  <a:lnTo>
                    <a:pt x="29" y="5"/>
                  </a:lnTo>
                  <a:lnTo>
                    <a:pt x="22" y="6"/>
                  </a:lnTo>
                  <a:lnTo>
                    <a:pt x="14" y="8"/>
                  </a:lnTo>
                  <a:lnTo>
                    <a:pt x="7" y="10"/>
                  </a:lnTo>
                  <a:lnTo>
                    <a:pt x="1" y="11"/>
                  </a:lnTo>
                  <a:lnTo>
                    <a:pt x="0" y="13"/>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08" name="Group 40"/>
            <p:cNvGrpSpPr>
              <a:grpSpLocks/>
            </p:cNvGrpSpPr>
            <p:nvPr/>
          </p:nvGrpSpPr>
          <p:grpSpPr bwMode="auto">
            <a:xfrm>
              <a:off x="4213" y="333"/>
              <a:ext cx="102" cy="69"/>
              <a:chOff x="4213" y="333"/>
              <a:chExt cx="102" cy="69"/>
            </a:xfrm>
          </p:grpSpPr>
          <p:sp>
            <p:nvSpPr>
              <p:cNvPr id="7206" name="Freeform 38"/>
              <p:cNvSpPr>
                <a:spLocks/>
              </p:cNvSpPr>
              <p:nvPr/>
            </p:nvSpPr>
            <p:spPr bwMode="auto">
              <a:xfrm>
                <a:off x="4213" y="333"/>
                <a:ext cx="102" cy="64"/>
              </a:xfrm>
              <a:custGeom>
                <a:avLst/>
                <a:gdLst>
                  <a:gd name="T0" fmla="*/ 95 w 102"/>
                  <a:gd name="T1" fmla="*/ 6 h 64"/>
                  <a:gd name="T2" fmla="*/ 89 w 102"/>
                  <a:gd name="T3" fmla="*/ 12 h 64"/>
                  <a:gd name="T4" fmla="*/ 86 w 102"/>
                  <a:gd name="T5" fmla="*/ 16 h 64"/>
                  <a:gd name="T6" fmla="*/ 83 w 102"/>
                  <a:gd name="T7" fmla="*/ 19 h 64"/>
                  <a:gd name="T8" fmla="*/ 80 w 102"/>
                  <a:gd name="T9" fmla="*/ 22 h 64"/>
                  <a:gd name="T10" fmla="*/ 77 w 102"/>
                  <a:gd name="T11" fmla="*/ 26 h 64"/>
                  <a:gd name="T12" fmla="*/ 75 w 102"/>
                  <a:gd name="T13" fmla="*/ 29 h 64"/>
                  <a:gd name="T14" fmla="*/ 72 w 102"/>
                  <a:gd name="T15" fmla="*/ 33 h 64"/>
                  <a:gd name="T16" fmla="*/ 70 w 102"/>
                  <a:gd name="T17" fmla="*/ 38 h 64"/>
                  <a:gd name="T18" fmla="*/ 68 w 102"/>
                  <a:gd name="T19" fmla="*/ 42 h 64"/>
                  <a:gd name="T20" fmla="*/ 67 w 102"/>
                  <a:gd name="T21" fmla="*/ 47 h 64"/>
                  <a:gd name="T22" fmla="*/ 66 w 102"/>
                  <a:gd name="T23" fmla="*/ 52 h 64"/>
                  <a:gd name="T24" fmla="*/ 66 w 102"/>
                  <a:gd name="T25" fmla="*/ 57 h 64"/>
                  <a:gd name="T26" fmla="*/ 65 w 102"/>
                  <a:gd name="T27" fmla="*/ 63 h 64"/>
                  <a:gd name="T28" fmla="*/ 0 w 102"/>
                  <a:gd name="T29" fmla="*/ 63 h 64"/>
                  <a:gd name="T30" fmla="*/ 2 w 102"/>
                  <a:gd name="T31" fmla="*/ 59 h 64"/>
                  <a:gd name="T32" fmla="*/ 5 w 102"/>
                  <a:gd name="T33" fmla="*/ 54 h 64"/>
                  <a:gd name="T34" fmla="*/ 9 w 102"/>
                  <a:gd name="T35" fmla="*/ 49 h 64"/>
                  <a:gd name="T36" fmla="*/ 12 w 102"/>
                  <a:gd name="T37" fmla="*/ 45 h 64"/>
                  <a:gd name="T38" fmla="*/ 17 w 102"/>
                  <a:gd name="T39" fmla="*/ 40 h 64"/>
                  <a:gd name="T40" fmla="*/ 22 w 102"/>
                  <a:gd name="T41" fmla="*/ 35 h 64"/>
                  <a:gd name="T42" fmla="*/ 27 w 102"/>
                  <a:gd name="T43" fmla="*/ 31 h 64"/>
                  <a:gd name="T44" fmla="*/ 32 w 102"/>
                  <a:gd name="T45" fmla="*/ 27 h 64"/>
                  <a:gd name="T46" fmla="*/ 38 w 102"/>
                  <a:gd name="T47" fmla="*/ 22 h 64"/>
                  <a:gd name="T48" fmla="*/ 45 w 102"/>
                  <a:gd name="T49" fmla="*/ 17 h 64"/>
                  <a:gd name="T50" fmla="*/ 51 w 102"/>
                  <a:gd name="T51" fmla="*/ 14 h 64"/>
                  <a:gd name="T52" fmla="*/ 56 w 102"/>
                  <a:gd name="T53" fmla="*/ 11 h 64"/>
                  <a:gd name="T54" fmla="*/ 61 w 102"/>
                  <a:gd name="T55" fmla="*/ 9 h 64"/>
                  <a:gd name="T56" fmla="*/ 67 w 102"/>
                  <a:gd name="T57" fmla="*/ 6 h 64"/>
                  <a:gd name="T58" fmla="*/ 72 w 102"/>
                  <a:gd name="T59" fmla="*/ 4 h 64"/>
                  <a:gd name="T60" fmla="*/ 79 w 102"/>
                  <a:gd name="T61" fmla="*/ 3 h 64"/>
                  <a:gd name="T62" fmla="*/ 86 w 102"/>
                  <a:gd name="T63" fmla="*/ 2 h 64"/>
                  <a:gd name="T64" fmla="*/ 91 w 102"/>
                  <a:gd name="T65" fmla="*/ 1 h 64"/>
                  <a:gd name="T66" fmla="*/ 97 w 102"/>
                  <a:gd name="T67" fmla="*/ 1 h 64"/>
                  <a:gd name="T68" fmla="*/ 101 w 102"/>
                  <a:gd name="T69" fmla="*/ 0 h 64"/>
                  <a:gd name="T70" fmla="*/ 95 w 102"/>
                  <a:gd name="T71" fmla="*/ 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64">
                    <a:moveTo>
                      <a:pt x="95" y="6"/>
                    </a:moveTo>
                    <a:lnTo>
                      <a:pt x="89" y="12"/>
                    </a:lnTo>
                    <a:lnTo>
                      <a:pt x="86" y="16"/>
                    </a:lnTo>
                    <a:lnTo>
                      <a:pt x="83" y="19"/>
                    </a:lnTo>
                    <a:lnTo>
                      <a:pt x="80" y="22"/>
                    </a:lnTo>
                    <a:lnTo>
                      <a:pt x="77" y="26"/>
                    </a:lnTo>
                    <a:lnTo>
                      <a:pt x="75" y="29"/>
                    </a:lnTo>
                    <a:lnTo>
                      <a:pt x="72" y="33"/>
                    </a:lnTo>
                    <a:lnTo>
                      <a:pt x="70" y="38"/>
                    </a:lnTo>
                    <a:lnTo>
                      <a:pt x="68" y="42"/>
                    </a:lnTo>
                    <a:lnTo>
                      <a:pt x="67" y="47"/>
                    </a:lnTo>
                    <a:lnTo>
                      <a:pt x="66" y="52"/>
                    </a:lnTo>
                    <a:lnTo>
                      <a:pt x="66" y="57"/>
                    </a:lnTo>
                    <a:lnTo>
                      <a:pt x="65" y="63"/>
                    </a:lnTo>
                    <a:lnTo>
                      <a:pt x="0" y="63"/>
                    </a:lnTo>
                    <a:lnTo>
                      <a:pt x="2" y="59"/>
                    </a:lnTo>
                    <a:lnTo>
                      <a:pt x="5" y="54"/>
                    </a:lnTo>
                    <a:lnTo>
                      <a:pt x="9" y="49"/>
                    </a:lnTo>
                    <a:lnTo>
                      <a:pt x="12" y="45"/>
                    </a:lnTo>
                    <a:lnTo>
                      <a:pt x="17" y="40"/>
                    </a:lnTo>
                    <a:lnTo>
                      <a:pt x="22" y="35"/>
                    </a:lnTo>
                    <a:lnTo>
                      <a:pt x="27" y="31"/>
                    </a:lnTo>
                    <a:lnTo>
                      <a:pt x="32" y="27"/>
                    </a:lnTo>
                    <a:lnTo>
                      <a:pt x="38" y="22"/>
                    </a:lnTo>
                    <a:lnTo>
                      <a:pt x="45" y="17"/>
                    </a:lnTo>
                    <a:lnTo>
                      <a:pt x="51" y="14"/>
                    </a:lnTo>
                    <a:lnTo>
                      <a:pt x="56" y="11"/>
                    </a:lnTo>
                    <a:lnTo>
                      <a:pt x="61" y="9"/>
                    </a:lnTo>
                    <a:lnTo>
                      <a:pt x="67" y="6"/>
                    </a:lnTo>
                    <a:lnTo>
                      <a:pt x="72" y="4"/>
                    </a:lnTo>
                    <a:lnTo>
                      <a:pt x="79" y="3"/>
                    </a:lnTo>
                    <a:lnTo>
                      <a:pt x="86" y="2"/>
                    </a:lnTo>
                    <a:lnTo>
                      <a:pt x="91" y="1"/>
                    </a:lnTo>
                    <a:lnTo>
                      <a:pt x="97" y="1"/>
                    </a:lnTo>
                    <a:lnTo>
                      <a:pt x="101" y="0"/>
                    </a:lnTo>
                    <a:lnTo>
                      <a:pt x="95" y="6"/>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7" name="Freeform 39"/>
              <p:cNvSpPr>
                <a:spLocks/>
              </p:cNvSpPr>
              <p:nvPr/>
            </p:nvSpPr>
            <p:spPr bwMode="auto">
              <a:xfrm>
                <a:off x="4215" y="397"/>
                <a:ext cx="56" cy="5"/>
              </a:xfrm>
              <a:custGeom>
                <a:avLst/>
                <a:gdLst>
                  <a:gd name="T0" fmla="*/ 0 w 56"/>
                  <a:gd name="T1" fmla="*/ 4 h 5"/>
                  <a:gd name="T2" fmla="*/ 0 w 56"/>
                  <a:gd name="T3" fmla="*/ 3 h 5"/>
                  <a:gd name="T4" fmla="*/ 1 w 56"/>
                  <a:gd name="T5" fmla="*/ 0 h 5"/>
                  <a:gd name="T6" fmla="*/ 55 w 56"/>
                  <a:gd name="T7" fmla="*/ 0 h 5"/>
                  <a:gd name="T8" fmla="*/ 55 w 56"/>
                  <a:gd name="T9" fmla="*/ 4 h 5"/>
                  <a:gd name="T10" fmla="*/ 0 w 56"/>
                  <a:gd name="T11" fmla="*/ 4 h 5"/>
                </a:gdLst>
                <a:ahLst/>
                <a:cxnLst>
                  <a:cxn ang="0">
                    <a:pos x="T0" y="T1"/>
                  </a:cxn>
                  <a:cxn ang="0">
                    <a:pos x="T2" y="T3"/>
                  </a:cxn>
                  <a:cxn ang="0">
                    <a:pos x="T4" y="T5"/>
                  </a:cxn>
                  <a:cxn ang="0">
                    <a:pos x="T6" y="T7"/>
                  </a:cxn>
                  <a:cxn ang="0">
                    <a:pos x="T8" y="T9"/>
                  </a:cxn>
                  <a:cxn ang="0">
                    <a:pos x="T10" y="T11"/>
                  </a:cxn>
                </a:cxnLst>
                <a:rect l="0" t="0" r="r" b="b"/>
                <a:pathLst>
                  <a:path w="56" h="5">
                    <a:moveTo>
                      <a:pt x="0" y="4"/>
                    </a:moveTo>
                    <a:lnTo>
                      <a:pt x="0" y="3"/>
                    </a:lnTo>
                    <a:lnTo>
                      <a:pt x="1" y="0"/>
                    </a:lnTo>
                    <a:lnTo>
                      <a:pt x="55" y="0"/>
                    </a:lnTo>
                    <a:lnTo>
                      <a:pt x="55" y="4"/>
                    </a:lnTo>
                    <a:lnTo>
                      <a:pt x="0" y="4"/>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210" name="Freeform 42" descr="50%"/>
          <p:cNvSpPr>
            <a:spLocks/>
          </p:cNvSpPr>
          <p:nvPr/>
        </p:nvSpPr>
        <p:spPr bwMode="auto">
          <a:xfrm>
            <a:off x="6594476" y="41925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1" name="Freeform 43" descr="50%"/>
          <p:cNvSpPr>
            <a:spLocks/>
          </p:cNvSpPr>
          <p:nvPr/>
        </p:nvSpPr>
        <p:spPr bwMode="auto">
          <a:xfrm>
            <a:off x="6402389" y="40211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14" name="Group 46"/>
          <p:cNvGrpSpPr>
            <a:grpSpLocks/>
          </p:cNvGrpSpPr>
          <p:nvPr/>
        </p:nvGrpSpPr>
        <p:grpSpPr bwMode="auto">
          <a:xfrm>
            <a:off x="6465888" y="4167188"/>
            <a:ext cx="11112" cy="11112"/>
            <a:chOff x="3113" y="2625"/>
            <a:chExt cx="7" cy="7"/>
          </a:xfrm>
        </p:grpSpPr>
        <p:sp>
          <p:nvSpPr>
            <p:cNvPr id="7212" name="Oval 44" descr="50%"/>
            <p:cNvSpPr>
              <a:spLocks noChangeArrowheads="1"/>
            </p:cNvSpPr>
            <p:nvPr/>
          </p:nvSpPr>
          <p:spPr bwMode="auto">
            <a:xfrm>
              <a:off x="3113" y="2625"/>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Arc 45" descr="50%"/>
            <p:cNvSpPr>
              <a:spLocks/>
            </p:cNvSpPr>
            <p:nvPr/>
          </p:nvSpPr>
          <p:spPr bwMode="auto">
            <a:xfrm>
              <a:off x="3117" y="2628"/>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20" name="Group 52"/>
          <p:cNvGrpSpPr>
            <a:grpSpLocks/>
          </p:cNvGrpSpPr>
          <p:nvPr/>
        </p:nvGrpSpPr>
        <p:grpSpPr bwMode="auto">
          <a:xfrm>
            <a:off x="6508751" y="4192589"/>
            <a:ext cx="47625" cy="20637"/>
            <a:chOff x="3140" y="2641"/>
            <a:chExt cx="30" cy="13"/>
          </a:xfrm>
        </p:grpSpPr>
        <p:sp>
          <p:nvSpPr>
            <p:cNvPr id="7215" name="Arc 47" descr="50%"/>
            <p:cNvSpPr>
              <a:spLocks/>
            </p:cNvSpPr>
            <p:nvPr/>
          </p:nvSpPr>
          <p:spPr bwMode="auto">
            <a:xfrm>
              <a:off x="3148"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6" name="Arc 48" descr="50%"/>
            <p:cNvSpPr>
              <a:spLocks/>
            </p:cNvSpPr>
            <p:nvPr/>
          </p:nvSpPr>
          <p:spPr bwMode="auto">
            <a:xfrm>
              <a:off x="3140"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Arc 49" descr="50%"/>
            <p:cNvSpPr>
              <a:spLocks/>
            </p:cNvSpPr>
            <p:nvPr/>
          </p:nvSpPr>
          <p:spPr bwMode="auto">
            <a:xfrm>
              <a:off x="3153"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Arc 50" descr="50%"/>
            <p:cNvSpPr>
              <a:spLocks/>
            </p:cNvSpPr>
            <p:nvPr/>
          </p:nvSpPr>
          <p:spPr bwMode="auto">
            <a:xfrm>
              <a:off x="3161"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Arc 51" descr="50%"/>
            <p:cNvSpPr>
              <a:spLocks/>
            </p:cNvSpPr>
            <p:nvPr/>
          </p:nvSpPr>
          <p:spPr bwMode="auto">
            <a:xfrm>
              <a:off x="3168"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21" name="Freeform 53" descr="50%"/>
          <p:cNvSpPr>
            <a:spLocks/>
          </p:cNvSpPr>
          <p:nvPr/>
        </p:nvSpPr>
        <p:spPr bwMode="auto">
          <a:xfrm>
            <a:off x="6403976" y="40227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24" name="Group 56"/>
          <p:cNvGrpSpPr>
            <a:grpSpLocks/>
          </p:cNvGrpSpPr>
          <p:nvPr/>
        </p:nvGrpSpPr>
        <p:grpSpPr bwMode="auto">
          <a:xfrm>
            <a:off x="6556375" y="4205288"/>
            <a:ext cx="109538" cy="80962"/>
            <a:chOff x="3170" y="2649"/>
            <a:chExt cx="69" cy="51"/>
          </a:xfrm>
        </p:grpSpPr>
        <p:sp>
          <p:nvSpPr>
            <p:cNvPr id="7222" name="Freeform 54" descr="50%"/>
            <p:cNvSpPr>
              <a:spLocks/>
            </p:cNvSpPr>
            <p:nvPr/>
          </p:nvSpPr>
          <p:spPr bwMode="auto">
            <a:xfrm>
              <a:off x="3170" y="2655"/>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23" name="Freeform 55" descr="50%"/>
            <p:cNvSpPr>
              <a:spLocks/>
            </p:cNvSpPr>
            <p:nvPr/>
          </p:nvSpPr>
          <p:spPr bwMode="auto">
            <a:xfrm>
              <a:off x="3171" y="2649"/>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25" name="Freeform 57" descr="50%"/>
          <p:cNvSpPr>
            <a:spLocks/>
          </p:cNvSpPr>
          <p:nvPr/>
        </p:nvSpPr>
        <p:spPr bwMode="auto">
          <a:xfrm>
            <a:off x="5756276" y="41925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26" name="Freeform 58" descr="50%"/>
          <p:cNvSpPr>
            <a:spLocks/>
          </p:cNvSpPr>
          <p:nvPr/>
        </p:nvSpPr>
        <p:spPr bwMode="auto">
          <a:xfrm>
            <a:off x="5564189" y="40211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29" name="Group 61"/>
          <p:cNvGrpSpPr>
            <a:grpSpLocks/>
          </p:cNvGrpSpPr>
          <p:nvPr/>
        </p:nvGrpSpPr>
        <p:grpSpPr bwMode="auto">
          <a:xfrm>
            <a:off x="5627688" y="4167188"/>
            <a:ext cx="11112" cy="11112"/>
            <a:chOff x="2585" y="2625"/>
            <a:chExt cx="7" cy="7"/>
          </a:xfrm>
        </p:grpSpPr>
        <p:sp>
          <p:nvSpPr>
            <p:cNvPr id="7227" name="Oval 59" descr="50%"/>
            <p:cNvSpPr>
              <a:spLocks noChangeArrowheads="1"/>
            </p:cNvSpPr>
            <p:nvPr/>
          </p:nvSpPr>
          <p:spPr bwMode="auto">
            <a:xfrm>
              <a:off x="2585" y="2625"/>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8" name="Arc 60" descr="50%"/>
            <p:cNvSpPr>
              <a:spLocks/>
            </p:cNvSpPr>
            <p:nvPr/>
          </p:nvSpPr>
          <p:spPr bwMode="auto">
            <a:xfrm>
              <a:off x="2589" y="2628"/>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35" name="Group 67"/>
          <p:cNvGrpSpPr>
            <a:grpSpLocks/>
          </p:cNvGrpSpPr>
          <p:nvPr/>
        </p:nvGrpSpPr>
        <p:grpSpPr bwMode="auto">
          <a:xfrm>
            <a:off x="5670551" y="4192589"/>
            <a:ext cx="47625" cy="20637"/>
            <a:chOff x="2612" y="2641"/>
            <a:chExt cx="30" cy="13"/>
          </a:xfrm>
        </p:grpSpPr>
        <p:sp>
          <p:nvSpPr>
            <p:cNvPr id="7230" name="Arc 62" descr="50%"/>
            <p:cNvSpPr>
              <a:spLocks/>
            </p:cNvSpPr>
            <p:nvPr/>
          </p:nvSpPr>
          <p:spPr bwMode="auto">
            <a:xfrm>
              <a:off x="2620"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Arc 63" descr="50%"/>
            <p:cNvSpPr>
              <a:spLocks/>
            </p:cNvSpPr>
            <p:nvPr/>
          </p:nvSpPr>
          <p:spPr bwMode="auto">
            <a:xfrm>
              <a:off x="2612"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2" name="Arc 64" descr="50%"/>
            <p:cNvSpPr>
              <a:spLocks/>
            </p:cNvSpPr>
            <p:nvPr/>
          </p:nvSpPr>
          <p:spPr bwMode="auto">
            <a:xfrm>
              <a:off x="2625"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Arc 65" descr="50%"/>
            <p:cNvSpPr>
              <a:spLocks/>
            </p:cNvSpPr>
            <p:nvPr/>
          </p:nvSpPr>
          <p:spPr bwMode="auto">
            <a:xfrm>
              <a:off x="2633"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Arc 66" descr="50%"/>
            <p:cNvSpPr>
              <a:spLocks/>
            </p:cNvSpPr>
            <p:nvPr/>
          </p:nvSpPr>
          <p:spPr bwMode="auto">
            <a:xfrm>
              <a:off x="2640"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36" name="Freeform 68" descr="50%"/>
          <p:cNvSpPr>
            <a:spLocks/>
          </p:cNvSpPr>
          <p:nvPr/>
        </p:nvSpPr>
        <p:spPr bwMode="auto">
          <a:xfrm>
            <a:off x="5565776" y="40227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39" name="Group 71"/>
          <p:cNvGrpSpPr>
            <a:grpSpLocks/>
          </p:cNvGrpSpPr>
          <p:nvPr/>
        </p:nvGrpSpPr>
        <p:grpSpPr bwMode="auto">
          <a:xfrm>
            <a:off x="5718175" y="4205288"/>
            <a:ext cx="109538" cy="80962"/>
            <a:chOff x="2642" y="2649"/>
            <a:chExt cx="69" cy="51"/>
          </a:xfrm>
        </p:grpSpPr>
        <p:sp>
          <p:nvSpPr>
            <p:cNvPr id="7237" name="Freeform 69" descr="50%"/>
            <p:cNvSpPr>
              <a:spLocks/>
            </p:cNvSpPr>
            <p:nvPr/>
          </p:nvSpPr>
          <p:spPr bwMode="auto">
            <a:xfrm>
              <a:off x="2642" y="2655"/>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38" name="Freeform 70" descr="50%"/>
            <p:cNvSpPr>
              <a:spLocks/>
            </p:cNvSpPr>
            <p:nvPr/>
          </p:nvSpPr>
          <p:spPr bwMode="auto">
            <a:xfrm>
              <a:off x="2643" y="2649"/>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40" name="Freeform 72" descr="50%"/>
          <p:cNvSpPr>
            <a:spLocks/>
          </p:cNvSpPr>
          <p:nvPr/>
        </p:nvSpPr>
        <p:spPr bwMode="auto">
          <a:xfrm>
            <a:off x="5756276" y="44211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41" name="Freeform 73" descr="50%"/>
          <p:cNvSpPr>
            <a:spLocks/>
          </p:cNvSpPr>
          <p:nvPr/>
        </p:nvSpPr>
        <p:spPr bwMode="auto">
          <a:xfrm>
            <a:off x="5564189" y="42497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44" name="Group 76"/>
          <p:cNvGrpSpPr>
            <a:grpSpLocks/>
          </p:cNvGrpSpPr>
          <p:nvPr/>
        </p:nvGrpSpPr>
        <p:grpSpPr bwMode="auto">
          <a:xfrm>
            <a:off x="5627688" y="4395788"/>
            <a:ext cx="11112" cy="11112"/>
            <a:chOff x="2585" y="2769"/>
            <a:chExt cx="7" cy="7"/>
          </a:xfrm>
        </p:grpSpPr>
        <p:sp>
          <p:nvSpPr>
            <p:cNvPr id="7242" name="Oval 74" descr="50%"/>
            <p:cNvSpPr>
              <a:spLocks noChangeArrowheads="1"/>
            </p:cNvSpPr>
            <p:nvPr/>
          </p:nvSpPr>
          <p:spPr bwMode="auto">
            <a:xfrm>
              <a:off x="2585" y="2769"/>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Arc 75" descr="50%"/>
            <p:cNvSpPr>
              <a:spLocks/>
            </p:cNvSpPr>
            <p:nvPr/>
          </p:nvSpPr>
          <p:spPr bwMode="auto">
            <a:xfrm>
              <a:off x="2589" y="2772"/>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50" name="Group 82"/>
          <p:cNvGrpSpPr>
            <a:grpSpLocks/>
          </p:cNvGrpSpPr>
          <p:nvPr/>
        </p:nvGrpSpPr>
        <p:grpSpPr bwMode="auto">
          <a:xfrm>
            <a:off x="5670551" y="4421189"/>
            <a:ext cx="47625" cy="20637"/>
            <a:chOff x="2612" y="2785"/>
            <a:chExt cx="30" cy="13"/>
          </a:xfrm>
        </p:grpSpPr>
        <p:sp>
          <p:nvSpPr>
            <p:cNvPr id="7245" name="Arc 77" descr="50%"/>
            <p:cNvSpPr>
              <a:spLocks/>
            </p:cNvSpPr>
            <p:nvPr/>
          </p:nvSpPr>
          <p:spPr bwMode="auto">
            <a:xfrm>
              <a:off x="2620"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Arc 78" descr="50%"/>
            <p:cNvSpPr>
              <a:spLocks/>
            </p:cNvSpPr>
            <p:nvPr/>
          </p:nvSpPr>
          <p:spPr bwMode="auto">
            <a:xfrm>
              <a:off x="2612"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Arc 79" descr="50%"/>
            <p:cNvSpPr>
              <a:spLocks/>
            </p:cNvSpPr>
            <p:nvPr/>
          </p:nvSpPr>
          <p:spPr bwMode="auto">
            <a:xfrm>
              <a:off x="2625"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8" name="Arc 80" descr="50%"/>
            <p:cNvSpPr>
              <a:spLocks/>
            </p:cNvSpPr>
            <p:nvPr/>
          </p:nvSpPr>
          <p:spPr bwMode="auto">
            <a:xfrm>
              <a:off x="2633"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9" name="Arc 81" descr="50%"/>
            <p:cNvSpPr>
              <a:spLocks/>
            </p:cNvSpPr>
            <p:nvPr/>
          </p:nvSpPr>
          <p:spPr bwMode="auto">
            <a:xfrm>
              <a:off x="2640"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51" name="Freeform 83" descr="50%"/>
          <p:cNvSpPr>
            <a:spLocks/>
          </p:cNvSpPr>
          <p:nvPr/>
        </p:nvSpPr>
        <p:spPr bwMode="auto">
          <a:xfrm>
            <a:off x="5565776" y="42513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54" name="Group 86"/>
          <p:cNvGrpSpPr>
            <a:grpSpLocks/>
          </p:cNvGrpSpPr>
          <p:nvPr/>
        </p:nvGrpSpPr>
        <p:grpSpPr bwMode="auto">
          <a:xfrm>
            <a:off x="5718175" y="4433888"/>
            <a:ext cx="109538" cy="80962"/>
            <a:chOff x="2642" y="2793"/>
            <a:chExt cx="69" cy="51"/>
          </a:xfrm>
        </p:grpSpPr>
        <p:sp>
          <p:nvSpPr>
            <p:cNvPr id="7252" name="Freeform 84" descr="50%"/>
            <p:cNvSpPr>
              <a:spLocks/>
            </p:cNvSpPr>
            <p:nvPr/>
          </p:nvSpPr>
          <p:spPr bwMode="auto">
            <a:xfrm>
              <a:off x="2642" y="2799"/>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3" name="Freeform 85" descr="50%"/>
            <p:cNvSpPr>
              <a:spLocks/>
            </p:cNvSpPr>
            <p:nvPr/>
          </p:nvSpPr>
          <p:spPr bwMode="auto">
            <a:xfrm>
              <a:off x="2643" y="2793"/>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55" name="Freeform 87" descr="50%"/>
          <p:cNvSpPr>
            <a:spLocks/>
          </p:cNvSpPr>
          <p:nvPr/>
        </p:nvSpPr>
        <p:spPr bwMode="auto">
          <a:xfrm>
            <a:off x="6594476" y="44211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6" name="Freeform 88" descr="50%"/>
          <p:cNvSpPr>
            <a:spLocks/>
          </p:cNvSpPr>
          <p:nvPr/>
        </p:nvSpPr>
        <p:spPr bwMode="auto">
          <a:xfrm>
            <a:off x="6402389" y="42497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59" name="Group 91"/>
          <p:cNvGrpSpPr>
            <a:grpSpLocks/>
          </p:cNvGrpSpPr>
          <p:nvPr/>
        </p:nvGrpSpPr>
        <p:grpSpPr bwMode="auto">
          <a:xfrm>
            <a:off x="6465888" y="4395788"/>
            <a:ext cx="11112" cy="11112"/>
            <a:chOff x="3113" y="2769"/>
            <a:chExt cx="7" cy="7"/>
          </a:xfrm>
        </p:grpSpPr>
        <p:sp>
          <p:nvSpPr>
            <p:cNvPr id="7257" name="Oval 89" descr="50%"/>
            <p:cNvSpPr>
              <a:spLocks noChangeArrowheads="1"/>
            </p:cNvSpPr>
            <p:nvPr/>
          </p:nvSpPr>
          <p:spPr bwMode="auto">
            <a:xfrm>
              <a:off x="3113" y="2769"/>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8" name="Arc 90" descr="50%"/>
            <p:cNvSpPr>
              <a:spLocks/>
            </p:cNvSpPr>
            <p:nvPr/>
          </p:nvSpPr>
          <p:spPr bwMode="auto">
            <a:xfrm>
              <a:off x="3117" y="2772"/>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65" name="Group 97"/>
          <p:cNvGrpSpPr>
            <a:grpSpLocks/>
          </p:cNvGrpSpPr>
          <p:nvPr/>
        </p:nvGrpSpPr>
        <p:grpSpPr bwMode="auto">
          <a:xfrm>
            <a:off x="6508751" y="4421189"/>
            <a:ext cx="47625" cy="20637"/>
            <a:chOff x="3140" y="2785"/>
            <a:chExt cx="30" cy="13"/>
          </a:xfrm>
        </p:grpSpPr>
        <p:sp>
          <p:nvSpPr>
            <p:cNvPr id="7260" name="Arc 92" descr="50%"/>
            <p:cNvSpPr>
              <a:spLocks/>
            </p:cNvSpPr>
            <p:nvPr/>
          </p:nvSpPr>
          <p:spPr bwMode="auto">
            <a:xfrm>
              <a:off x="3148"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1" name="Arc 93" descr="50%"/>
            <p:cNvSpPr>
              <a:spLocks/>
            </p:cNvSpPr>
            <p:nvPr/>
          </p:nvSpPr>
          <p:spPr bwMode="auto">
            <a:xfrm>
              <a:off x="3140"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2" name="Arc 94" descr="50%"/>
            <p:cNvSpPr>
              <a:spLocks/>
            </p:cNvSpPr>
            <p:nvPr/>
          </p:nvSpPr>
          <p:spPr bwMode="auto">
            <a:xfrm>
              <a:off x="3153"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3" name="Arc 95" descr="50%"/>
            <p:cNvSpPr>
              <a:spLocks/>
            </p:cNvSpPr>
            <p:nvPr/>
          </p:nvSpPr>
          <p:spPr bwMode="auto">
            <a:xfrm>
              <a:off x="3161"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4" name="Arc 96" descr="50%"/>
            <p:cNvSpPr>
              <a:spLocks/>
            </p:cNvSpPr>
            <p:nvPr/>
          </p:nvSpPr>
          <p:spPr bwMode="auto">
            <a:xfrm>
              <a:off x="3168"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66" name="Freeform 98" descr="50%"/>
          <p:cNvSpPr>
            <a:spLocks/>
          </p:cNvSpPr>
          <p:nvPr/>
        </p:nvSpPr>
        <p:spPr bwMode="auto">
          <a:xfrm>
            <a:off x="6403976" y="42513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69" name="Group 101"/>
          <p:cNvGrpSpPr>
            <a:grpSpLocks/>
          </p:cNvGrpSpPr>
          <p:nvPr/>
        </p:nvGrpSpPr>
        <p:grpSpPr bwMode="auto">
          <a:xfrm>
            <a:off x="6556375" y="4433888"/>
            <a:ext cx="109538" cy="80962"/>
            <a:chOff x="3170" y="2793"/>
            <a:chExt cx="69" cy="51"/>
          </a:xfrm>
        </p:grpSpPr>
        <p:sp>
          <p:nvSpPr>
            <p:cNvPr id="7267" name="Freeform 99" descr="50%"/>
            <p:cNvSpPr>
              <a:spLocks/>
            </p:cNvSpPr>
            <p:nvPr/>
          </p:nvSpPr>
          <p:spPr bwMode="auto">
            <a:xfrm>
              <a:off x="3170" y="2799"/>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68" name="Freeform 100" descr="50%"/>
            <p:cNvSpPr>
              <a:spLocks/>
            </p:cNvSpPr>
            <p:nvPr/>
          </p:nvSpPr>
          <p:spPr bwMode="auto">
            <a:xfrm>
              <a:off x="3171" y="2793"/>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70" name="Freeform 102" descr="50%"/>
          <p:cNvSpPr>
            <a:spLocks/>
          </p:cNvSpPr>
          <p:nvPr/>
        </p:nvSpPr>
        <p:spPr bwMode="auto">
          <a:xfrm>
            <a:off x="7546976" y="428783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 name="Freeform 103" descr="50%"/>
          <p:cNvSpPr>
            <a:spLocks/>
          </p:cNvSpPr>
          <p:nvPr/>
        </p:nvSpPr>
        <p:spPr bwMode="auto">
          <a:xfrm>
            <a:off x="7354889" y="411638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74" name="Group 106"/>
          <p:cNvGrpSpPr>
            <a:grpSpLocks/>
          </p:cNvGrpSpPr>
          <p:nvPr/>
        </p:nvGrpSpPr>
        <p:grpSpPr bwMode="auto">
          <a:xfrm>
            <a:off x="7418388" y="4262438"/>
            <a:ext cx="11112" cy="11112"/>
            <a:chOff x="3713" y="2685"/>
            <a:chExt cx="7" cy="7"/>
          </a:xfrm>
        </p:grpSpPr>
        <p:sp>
          <p:nvSpPr>
            <p:cNvPr id="7272" name="Oval 104" descr="50%"/>
            <p:cNvSpPr>
              <a:spLocks noChangeArrowheads="1"/>
            </p:cNvSpPr>
            <p:nvPr/>
          </p:nvSpPr>
          <p:spPr bwMode="auto">
            <a:xfrm>
              <a:off x="3713" y="2685"/>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 name="Arc 105" descr="50%"/>
            <p:cNvSpPr>
              <a:spLocks/>
            </p:cNvSpPr>
            <p:nvPr/>
          </p:nvSpPr>
          <p:spPr bwMode="auto">
            <a:xfrm>
              <a:off x="3717" y="2688"/>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80" name="Group 112"/>
          <p:cNvGrpSpPr>
            <a:grpSpLocks/>
          </p:cNvGrpSpPr>
          <p:nvPr/>
        </p:nvGrpSpPr>
        <p:grpSpPr bwMode="auto">
          <a:xfrm>
            <a:off x="7461251" y="4287839"/>
            <a:ext cx="47625" cy="20637"/>
            <a:chOff x="3740" y="2701"/>
            <a:chExt cx="30" cy="13"/>
          </a:xfrm>
        </p:grpSpPr>
        <p:sp>
          <p:nvSpPr>
            <p:cNvPr id="7275" name="Arc 107" descr="50%"/>
            <p:cNvSpPr>
              <a:spLocks/>
            </p:cNvSpPr>
            <p:nvPr/>
          </p:nvSpPr>
          <p:spPr bwMode="auto">
            <a:xfrm>
              <a:off x="3748" y="270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 name="Arc 108" descr="50%"/>
            <p:cNvSpPr>
              <a:spLocks/>
            </p:cNvSpPr>
            <p:nvPr/>
          </p:nvSpPr>
          <p:spPr bwMode="auto">
            <a:xfrm>
              <a:off x="3740" y="270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7" name="Arc 109" descr="50%"/>
            <p:cNvSpPr>
              <a:spLocks/>
            </p:cNvSpPr>
            <p:nvPr/>
          </p:nvSpPr>
          <p:spPr bwMode="auto">
            <a:xfrm>
              <a:off x="3753" y="270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8" name="Arc 110" descr="50%"/>
            <p:cNvSpPr>
              <a:spLocks/>
            </p:cNvSpPr>
            <p:nvPr/>
          </p:nvSpPr>
          <p:spPr bwMode="auto">
            <a:xfrm>
              <a:off x="3761" y="270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9" name="Arc 111" descr="50%"/>
            <p:cNvSpPr>
              <a:spLocks/>
            </p:cNvSpPr>
            <p:nvPr/>
          </p:nvSpPr>
          <p:spPr bwMode="auto">
            <a:xfrm>
              <a:off x="3768" y="270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81" name="Freeform 113" descr="50%"/>
          <p:cNvSpPr>
            <a:spLocks/>
          </p:cNvSpPr>
          <p:nvPr/>
        </p:nvSpPr>
        <p:spPr bwMode="auto">
          <a:xfrm>
            <a:off x="7356476" y="411797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84" name="Group 116"/>
          <p:cNvGrpSpPr>
            <a:grpSpLocks/>
          </p:cNvGrpSpPr>
          <p:nvPr/>
        </p:nvGrpSpPr>
        <p:grpSpPr bwMode="auto">
          <a:xfrm>
            <a:off x="7508875" y="4300538"/>
            <a:ext cx="109538" cy="80962"/>
            <a:chOff x="3770" y="2709"/>
            <a:chExt cx="69" cy="51"/>
          </a:xfrm>
        </p:grpSpPr>
        <p:sp>
          <p:nvSpPr>
            <p:cNvPr id="7282" name="Freeform 114" descr="50%"/>
            <p:cNvSpPr>
              <a:spLocks/>
            </p:cNvSpPr>
            <p:nvPr/>
          </p:nvSpPr>
          <p:spPr bwMode="auto">
            <a:xfrm>
              <a:off x="3770" y="2715"/>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83" name="Freeform 115" descr="50%"/>
            <p:cNvSpPr>
              <a:spLocks/>
            </p:cNvSpPr>
            <p:nvPr/>
          </p:nvSpPr>
          <p:spPr bwMode="auto">
            <a:xfrm>
              <a:off x="3771" y="2709"/>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85" name="Freeform 117" descr="50%"/>
          <p:cNvSpPr>
            <a:spLocks/>
          </p:cNvSpPr>
          <p:nvPr/>
        </p:nvSpPr>
        <p:spPr bwMode="auto">
          <a:xfrm>
            <a:off x="8302626" y="4281488"/>
            <a:ext cx="60325" cy="49212"/>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86" name="Freeform 118" descr="50%"/>
          <p:cNvSpPr>
            <a:spLocks/>
          </p:cNvSpPr>
          <p:nvPr/>
        </p:nvSpPr>
        <p:spPr bwMode="auto">
          <a:xfrm>
            <a:off x="8174039" y="4165601"/>
            <a:ext cx="509587" cy="155575"/>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89" name="Group 121"/>
          <p:cNvGrpSpPr>
            <a:grpSpLocks/>
          </p:cNvGrpSpPr>
          <p:nvPr/>
        </p:nvGrpSpPr>
        <p:grpSpPr bwMode="auto">
          <a:xfrm>
            <a:off x="8216901" y="4264026"/>
            <a:ext cx="3175" cy="4763"/>
            <a:chOff x="4216" y="2686"/>
            <a:chExt cx="2" cy="3"/>
          </a:xfrm>
        </p:grpSpPr>
        <p:sp>
          <p:nvSpPr>
            <p:cNvPr id="7287" name="Oval 119" descr="50%"/>
            <p:cNvSpPr>
              <a:spLocks noChangeArrowheads="1"/>
            </p:cNvSpPr>
            <p:nvPr/>
          </p:nvSpPr>
          <p:spPr bwMode="auto">
            <a:xfrm>
              <a:off x="4216" y="268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8" name="Arc 120" descr="50%"/>
            <p:cNvSpPr>
              <a:spLocks/>
            </p:cNvSpPr>
            <p:nvPr/>
          </p:nvSpPr>
          <p:spPr bwMode="auto">
            <a:xfrm>
              <a:off x="4217" y="268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95" name="Group 127"/>
          <p:cNvGrpSpPr>
            <a:grpSpLocks/>
          </p:cNvGrpSpPr>
          <p:nvPr/>
        </p:nvGrpSpPr>
        <p:grpSpPr bwMode="auto">
          <a:xfrm>
            <a:off x="8243888" y="4283075"/>
            <a:ext cx="36512" cy="6350"/>
            <a:chOff x="4233" y="2698"/>
            <a:chExt cx="23" cy="4"/>
          </a:xfrm>
        </p:grpSpPr>
        <p:sp>
          <p:nvSpPr>
            <p:cNvPr id="7290" name="Arc 122" descr="50%"/>
            <p:cNvSpPr>
              <a:spLocks/>
            </p:cNvSpPr>
            <p:nvPr/>
          </p:nvSpPr>
          <p:spPr bwMode="auto">
            <a:xfrm>
              <a:off x="4237" y="269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1" name="Arc 123" descr="50%"/>
            <p:cNvSpPr>
              <a:spLocks/>
            </p:cNvSpPr>
            <p:nvPr/>
          </p:nvSpPr>
          <p:spPr bwMode="auto">
            <a:xfrm>
              <a:off x="4233" y="269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2" name="Arc 124" descr="50%"/>
            <p:cNvSpPr>
              <a:spLocks/>
            </p:cNvSpPr>
            <p:nvPr/>
          </p:nvSpPr>
          <p:spPr bwMode="auto">
            <a:xfrm>
              <a:off x="4240" y="269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3" name="Arc 125" descr="50%"/>
            <p:cNvSpPr>
              <a:spLocks/>
            </p:cNvSpPr>
            <p:nvPr/>
          </p:nvSpPr>
          <p:spPr bwMode="auto">
            <a:xfrm>
              <a:off x="4244" y="269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4" name="Arc 126" descr="50%"/>
            <p:cNvSpPr>
              <a:spLocks/>
            </p:cNvSpPr>
            <p:nvPr/>
          </p:nvSpPr>
          <p:spPr bwMode="auto">
            <a:xfrm>
              <a:off x="4250" y="269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96" name="Freeform 128" descr="50%"/>
          <p:cNvSpPr>
            <a:spLocks/>
          </p:cNvSpPr>
          <p:nvPr/>
        </p:nvSpPr>
        <p:spPr bwMode="auto">
          <a:xfrm>
            <a:off x="8174038" y="4168776"/>
            <a:ext cx="495300" cy="92075"/>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99" name="Group 131"/>
          <p:cNvGrpSpPr>
            <a:grpSpLocks/>
          </p:cNvGrpSpPr>
          <p:nvPr/>
        </p:nvGrpSpPr>
        <p:grpSpPr bwMode="auto">
          <a:xfrm>
            <a:off x="8275638" y="4286250"/>
            <a:ext cx="74612" cy="58738"/>
            <a:chOff x="4253" y="2700"/>
            <a:chExt cx="47" cy="37"/>
          </a:xfrm>
        </p:grpSpPr>
        <p:sp>
          <p:nvSpPr>
            <p:cNvPr id="7297" name="Freeform 129" descr="50%"/>
            <p:cNvSpPr>
              <a:spLocks/>
            </p:cNvSpPr>
            <p:nvPr/>
          </p:nvSpPr>
          <p:spPr bwMode="auto">
            <a:xfrm>
              <a:off x="4253" y="270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98" name="Freeform 130" descr="50%"/>
            <p:cNvSpPr>
              <a:spLocks/>
            </p:cNvSpPr>
            <p:nvPr/>
          </p:nvSpPr>
          <p:spPr bwMode="auto">
            <a:xfrm>
              <a:off x="4254" y="270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00" name="Freeform 132" descr="50%"/>
          <p:cNvSpPr>
            <a:spLocks/>
          </p:cNvSpPr>
          <p:nvPr/>
        </p:nvSpPr>
        <p:spPr bwMode="auto">
          <a:xfrm>
            <a:off x="3559175" y="5132388"/>
            <a:ext cx="292100" cy="215900"/>
          </a:xfrm>
          <a:custGeom>
            <a:avLst/>
            <a:gdLst>
              <a:gd name="T0" fmla="*/ 0 w 184"/>
              <a:gd name="T1" fmla="*/ 0 h 136"/>
              <a:gd name="T2" fmla="*/ 7 w 184"/>
              <a:gd name="T3" fmla="*/ 14 h 136"/>
              <a:gd name="T4" fmla="*/ 16 w 184"/>
              <a:gd name="T5" fmla="*/ 28 h 136"/>
              <a:gd name="T6" fmla="*/ 27 w 184"/>
              <a:gd name="T7" fmla="*/ 43 h 136"/>
              <a:gd name="T8" fmla="*/ 38 w 184"/>
              <a:gd name="T9" fmla="*/ 55 h 136"/>
              <a:gd name="T10" fmla="*/ 52 w 184"/>
              <a:gd name="T11" fmla="*/ 70 h 136"/>
              <a:gd name="T12" fmla="*/ 66 w 184"/>
              <a:gd name="T13" fmla="*/ 85 h 136"/>
              <a:gd name="T14" fmla="*/ 77 w 184"/>
              <a:gd name="T15" fmla="*/ 96 h 136"/>
              <a:gd name="T16" fmla="*/ 90 w 184"/>
              <a:gd name="T17" fmla="*/ 106 h 136"/>
              <a:gd name="T18" fmla="*/ 103 w 184"/>
              <a:gd name="T19" fmla="*/ 114 h 136"/>
              <a:gd name="T20" fmla="*/ 117 w 184"/>
              <a:gd name="T21" fmla="*/ 121 h 136"/>
              <a:gd name="T22" fmla="*/ 131 w 184"/>
              <a:gd name="T23" fmla="*/ 127 h 136"/>
              <a:gd name="T24" fmla="*/ 146 w 184"/>
              <a:gd name="T25" fmla="*/ 132 h 136"/>
              <a:gd name="T26" fmla="*/ 162 w 184"/>
              <a:gd name="T27" fmla="*/ 135 h 136"/>
              <a:gd name="T28" fmla="*/ 176 w 184"/>
              <a:gd name="T29" fmla="*/ 135 h 136"/>
              <a:gd name="T30" fmla="*/ 183 w 184"/>
              <a:gd name="T31" fmla="*/ 134 h 136"/>
              <a:gd name="T32" fmla="*/ 174 w 184"/>
              <a:gd name="T33" fmla="*/ 125 h 136"/>
              <a:gd name="T34" fmla="*/ 164 w 184"/>
              <a:gd name="T35" fmla="*/ 113 h 136"/>
              <a:gd name="T36" fmla="*/ 154 w 184"/>
              <a:gd name="T37" fmla="*/ 101 h 136"/>
              <a:gd name="T38" fmla="*/ 144 w 184"/>
              <a:gd name="T39" fmla="*/ 87 h 136"/>
              <a:gd name="T40" fmla="*/ 135 w 184"/>
              <a:gd name="T41" fmla="*/ 73 h 136"/>
              <a:gd name="T42" fmla="*/ 128 w 184"/>
              <a:gd name="T43" fmla="*/ 60 h 136"/>
              <a:gd name="T44" fmla="*/ 124 w 184"/>
              <a:gd name="T45" fmla="*/ 48 h 136"/>
              <a:gd name="T46" fmla="*/ 119 w 184"/>
              <a:gd name="T47" fmla="*/ 28 h 136"/>
              <a:gd name="T48" fmla="*/ 119 w 184"/>
              <a:gd name="T49" fmla="*/ 13 h 136"/>
              <a:gd name="T50" fmla="*/ 119 w 184"/>
              <a:gd name="T51" fmla="*/ 2 h 136"/>
              <a:gd name="T52" fmla="*/ 0 w 184"/>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136">
                <a:moveTo>
                  <a:pt x="0" y="0"/>
                </a:moveTo>
                <a:lnTo>
                  <a:pt x="7" y="14"/>
                </a:lnTo>
                <a:lnTo>
                  <a:pt x="16" y="28"/>
                </a:lnTo>
                <a:lnTo>
                  <a:pt x="27" y="43"/>
                </a:lnTo>
                <a:lnTo>
                  <a:pt x="38" y="55"/>
                </a:lnTo>
                <a:lnTo>
                  <a:pt x="52" y="70"/>
                </a:lnTo>
                <a:lnTo>
                  <a:pt x="66" y="85"/>
                </a:lnTo>
                <a:lnTo>
                  <a:pt x="77" y="96"/>
                </a:lnTo>
                <a:lnTo>
                  <a:pt x="90" y="106"/>
                </a:lnTo>
                <a:lnTo>
                  <a:pt x="103" y="114"/>
                </a:lnTo>
                <a:lnTo>
                  <a:pt x="117" y="121"/>
                </a:lnTo>
                <a:lnTo>
                  <a:pt x="131" y="127"/>
                </a:lnTo>
                <a:lnTo>
                  <a:pt x="146" y="132"/>
                </a:lnTo>
                <a:lnTo>
                  <a:pt x="162" y="135"/>
                </a:lnTo>
                <a:lnTo>
                  <a:pt x="176" y="135"/>
                </a:lnTo>
                <a:lnTo>
                  <a:pt x="183" y="134"/>
                </a:lnTo>
                <a:lnTo>
                  <a:pt x="174" y="125"/>
                </a:lnTo>
                <a:lnTo>
                  <a:pt x="164" y="113"/>
                </a:lnTo>
                <a:lnTo>
                  <a:pt x="154" y="101"/>
                </a:lnTo>
                <a:lnTo>
                  <a:pt x="144" y="87"/>
                </a:lnTo>
                <a:lnTo>
                  <a:pt x="135" y="73"/>
                </a:lnTo>
                <a:lnTo>
                  <a:pt x="128" y="60"/>
                </a:lnTo>
                <a:lnTo>
                  <a:pt x="124" y="48"/>
                </a:lnTo>
                <a:lnTo>
                  <a:pt x="119" y="28"/>
                </a:lnTo>
                <a:lnTo>
                  <a:pt x="119" y="13"/>
                </a:lnTo>
                <a:lnTo>
                  <a:pt x="119"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01" name="Freeform 133" descr="50%"/>
          <p:cNvSpPr>
            <a:spLocks/>
          </p:cNvSpPr>
          <p:nvPr/>
        </p:nvSpPr>
        <p:spPr bwMode="auto">
          <a:xfrm>
            <a:off x="2930526" y="4606925"/>
            <a:ext cx="2487613" cy="698500"/>
          </a:xfrm>
          <a:custGeom>
            <a:avLst/>
            <a:gdLst>
              <a:gd name="T0" fmla="*/ 17 w 1567"/>
              <a:gd name="T1" fmla="*/ 261 h 440"/>
              <a:gd name="T2" fmla="*/ 64 w 1567"/>
              <a:gd name="T3" fmla="*/ 244 h 440"/>
              <a:gd name="T4" fmla="*/ 137 w 1567"/>
              <a:gd name="T5" fmla="*/ 222 h 440"/>
              <a:gd name="T6" fmla="*/ 214 w 1567"/>
              <a:gd name="T7" fmla="*/ 207 h 440"/>
              <a:gd name="T8" fmla="*/ 289 w 1567"/>
              <a:gd name="T9" fmla="*/ 193 h 440"/>
              <a:gd name="T10" fmla="*/ 367 w 1567"/>
              <a:gd name="T11" fmla="*/ 179 h 440"/>
              <a:gd name="T12" fmla="*/ 431 w 1567"/>
              <a:gd name="T13" fmla="*/ 167 h 440"/>
              <a:gd name="T14" fmla="*/ 468 w 1567"/>
              <a:gd name="T15" fmla="*/ 147 h 440"/>
              <a:gd name="T16" fmla="*/ 504 w 1567"/>
              <a:gd name="T17" fmla="*/ 112 h 440"/>
              <a:gd name="T18" fmla="*/ 558 w 1567"/>
              <a:gd name="T19" fmla="*/ 62 h 440"/>
              <a:gd name="T20" fmla="*/ 613 w 1567"/>
              <a:gd name="T21" fmla="*/ 16 h 440"/>
              <a:gd name="T22" fmla="*/ 652 w 1567"/>
              <a:gd name="T23" fmla="*/ 53 h 440"/>
              <a:gd name="T24" fmla="*/ 674 w 1567"/>
              <a:gd name="T25" fmla="*/ 131 h 440"/>
              <a:gd name="T26" fmla="*/ 688 w 1567"/>
              <a:gd name="T27" fmla="*/ 161 h 440"/>
              <a:gd name="T28" fmla="*/ 778 w 1567"/>
              <a:gd name="T29" fmla="*/ 176 h 440"/>
              <a:gd name="T30" fmla="*/ 870 w 1567"/>
              <a:gd name="T31" fmla="*/ 192 h 440"/>
              <a:gd name="T32" fmla="*/ 938 w 1567"/>
              <a:gd name="T33" fmla="*/ 192 h 440"/>
              <a:gd name="T34" fmla="*/ 1011 w 1567"/>
              <a:gd name="T35" fmla="*/ 178 h 440"/>
              <a:gd name="T36" fmla="*/ 1067 w 1567"/>
              <a:gd name="T37" fmla="*/ 215 h 440"/>
              <a:gd name="T38" fmla="*/ 1122 w 1567"/>
              <a:gd name="T39" fmla="*/ 230 h 440"/>
              <a:gd name="T40" fmla="*/ 1191 w 1567"/>
              <a:gd name="T41" fmla="*/ 229 h 440"/>
              <a:gd name="T42" fmla="*/ 1265 w 1567"/>
              <a:gd name="T43" fmla="*/ 203 h 440"/>
              <a:gd name="T44" fmla="*/ 1346 w 1567"/>
              <a:gd name="T45" fmla="*/ 138 h 440"/>
              <a:gd name="T46" fmla="*/ 1441 w 1567"/>
              <a:gd name="T47" fmla="*/ 63 h 440"/>
              <a:gd name="T48" fmla="*/ 1536 w 1567"/>
              <a:gd name="T49" fmla="*/ 33 h 440"/>
              <a:gd name="T50" fmla="*/ 1540 w 1567"/>
              <a:gd name="T51" fmla="*/ 59 h 440"/>
              <a:gd name="T52" fmla="*/ 1494 w 1567"/>
              <a:gd name="T53" fmla="*/ 112 h 440"/>
              <a:gd name="T54" fmla="*/ 1441 w 1567"/>
              <a:gd name="T55" fmla="*/ 165 h 440"/>
              <a:gd name="T56" fmla="*/ 1407 w 1567"/>
              <a:gd name="T57" fmla="*/ 218 h 440"/>
              <a:gd name="T58" fmla="*/ 1407 w 1567"/>
              <a:gd name="T59" fmla="*/ 273 h 440"/>
              <a:gd name="T60" fmla="*/ 1444 w 1567"/>
              <a:gd name="T61" fmla="*/ 329 h 440"/>
              <a:gd name="T62" fmla="*/ 1492 w 1567"/>
              <a:gd name="T63" fmla="*/ 371 h 440"/>
              <a:gd name="T64" fmla="*/ 1534 w 1567"/>
              <a:gd name="T65" fmla="*/ 405 h 440"/>
              <a:gd name="T66" fmla="*/ 1536 w 1567"/>
              <a:gd name="T67" fmla="*/ 423 h 440"/>
              <a:gd name="T68" fmla="*/ 1477 w 1567"/>
              <a:gd name="T69" fmla="*/ 421 h 440"/>
              <a:gd name="T70" fmla="*/ 1424 w 1567"/>
              <a:gd name="T71" fmla="*/ 408 h 440"/>
              <a:gd name="T72" fmla="*/ 1375 w 1567"/>
              <a:gd name="T73" fmla="*/ 384 h 440"/>
              <a:gd name="T74" fmla="*/ 1292 w 1567"/>
              <a:gd name="T75" fmla="*/ 335 h 440"/>
              <a:gd name="T76" fmla="*/ 1191 w 1567"/>
              <a:gd name="T77" fmla="*/ 327 h 440"/>
              <a:gd name="T78" fmla="*/ 1069 w 1567"/>
              <a:gd name="T79" fmla="*/ 340 h 440"/>
              <a:gd name="T80" fmla="*/ 992 w 1567"/>
              <a:gd name="T81" fmla="*/ 369 h 440"/>
              <a:gd name="T82" fmla="*/ 966 w 1567"/>
              <a:gd name="T83" fmla="*/ 404 h 440"/>
              <a:gd name="T84" fmla="*/ 857 w 1567"/>
              <a:gd name="T85" fmla="*/ 400 h 440"/>
              <a:gd name="T86" fmla="*/ 765 w 1567"/>
              <a:gd name="T87" fmla="*/ 428 h 440"/>
              <a:gd name="T88" fmla="*/ 424 w 1567"/>
              <a:gd name="T89" fmla="*/ 439 h 440"/>
              <a:gd name="T90" fmla="*/ 228 w 1567"/>
              <a:gd name="T91" fmla="*/ 420 h 440"/>
              <a:gd name="T92" fmla="*/ 56 w 1567"/>
              <a:gd name="T93" fmla="*/ 365 h 440"/>
              <a:gd name="T94" fmla="*/ 56 w 1567"/>
              <a:gd name="T95" fmla="*/ 337 h 440"/>
              <a:gd name="T96" fmla="*/ 18 w 1567"/>
              <a:gd name="T97" fmla="*/ 303 h 440"/>
              <a:gd name="T98" fmla="*/ 3 w 1567"/>
              <a:gd name="T99" fmla="*/ 28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7" h="440">
                <a:moveTo>
                  <a:pt x="0" y="272"/>
                </a:moveTo>
                <a:lnTo>
                  <a:pt x="5" y="268"/>
                </a:lnTo>
                <a:lnTo>
                  <a:pt x="17" y="261"/>
                </a:lnTo>
                <a:lnTo>
                  <a:pt x="35" y="254"/>
                </a:lnTo>
                <a:lnTo>
                  <a:pt x="49" y="250"/>
                </a:lnTo>
                <a:lnTo>
                  <a:pt x="64" y="244"/>
                </a:lnTo>
                <a:lnTo>
                  <a:pt x="89" y="236"/>
                </a:lnTo>
                <a:lnTo>
                  <a:pt x="114" y="229"/>
                </a:lnTo>
                <a:lnTo>
                  <a:pt x="137" y="222"/>
                </a:lnTo>
                <a:lnTo>
                  <a:pt x="161" y="217"/>
                </a:lnTo>
                <a:lnTo>
                  <a:pt x="186" y="212"/>
                </a:lnTo>
                <a:lnTo>
                  <a:pt x="214" y="207"/>
                </a:lnTo>
                <a:lnTo>
                  <a:pt x="241" y="202"/>
                </a:lnTo>
                <a:lnTo>
                  <a:pt x="265" y="197"/>
                </a:lnTo>
                <a:lnTo>
                  <a:pt x="289" y="193"/>
                </a:lnTo>
                <a:lnTo>
                  <a:pt x="311" y="189"/>
                </a:lnTo>
                <a:lnTo>
                  <a:pt x="342" y="183"/>
                </a:lnTo>
                <a:lnTo>
                  <a:pt x="367" y="179"/>
                </a:lnTo>
                <a:lnTo>
                  <a:pt x="391" y="175"/>
                </a:lnTo>
                <a:lnTo>
                  <a:pt x="412" y="172"/>
                </a:lnTo>
                <a:lnTo>
                  <a:pt x="431" y="167"/>
                </a:lnTo>
                <a:lnTo>
                  <a:pt x="446" y="161"/>
                </a:lnTo>
                <a:lnTo>
                  <a:pt x="457" y="155"/>
                </a:lnTo>
                <a:lnTo>
                  <a:pt x="468" y="147"/>
                </a:lnTo>
                <a:lnTo>
                  <a:pt x="478" y="138"/>
                </a:lnTo>
                <a:lnTo>
                  <a:pt x="490" y="126"/>
                </a:lnTo>
                <a:lnTo>
                  <a:pt x="504" y="112"/>
                </a:lnTo>
                <a:lnTo>
                  <a:pt x="522" y="95"/>
                </a:lnTo>
                <a:lnTo>
                  <a:pt x="539" y="78"/>
                </a:lnTo>
                <a:lnTo>
                  <a:pt x="558" y="62"/>
                </a:lnTo>
                <a:lnTo>
                  <a:pt x="574" y="45"/>
                </a:lnTo>
                <a:lnTo>
                  <a:pt x="593" y="31"/>
                </a:lnTo>
                <a:lnTo>
                  <a:pt x="613" y="16"/>
                </a:lnTo>
                <a:lnTo>
                  <a:pt x="636" y="0"/>
                </a:lnTo>
                <a:lnTo>
                  <a:pt x="643" y="28"/>
                </a:lnTo>
                <a:lnTo>
                  <a:pt x="652" y="53"/>
                </a:lnTo>
                <a:lnTo>
                  <a:pt x="661" y="80"/>
                </a:lnTo>
                <a:lnTo>
                  <a:pt x="669" y="108"/>
                </a:lnTo>
                <a:lnTo>
                  <a:pt x="674" y="131"/>
                </a:lnTo>
                <a:lnTo>
                  <a:pt x="673" y="145"/>
                </a:lnTo>
                <a:lnTo>
                  <a:pt x="663" y="157"/>
                </a:lnTo>
                <a:lnTo>
                  <a:pt x="688" y="161"/>
                </a:lnTo>
                <a:lnTo>
                  <a:pt x="713" y="165"/>
                </a:lnTo>
                <a:lnTo>
                  <a:pt x="744" y="171"/>
                </a:lnTo>
                <a:lnTo>
                  <a:pt x="778" y="176"/>
                </a:lnTo>
                <a:lnTo>
                  <a:pt x="813" y="183"/>
                </a:lnTo>
                <a:lnTo>
                  <a:pt x="841" y="188"/>
                </a:lnTo>
                <a:lnTo>
                  <a:pt x="870" y="192"/>
                </a:lnTo>
                <a:lnTo>
                  <a:pt x="896" y="195"/>
                </a:lnTo>
                <a:lnTo>
                  <a:pt x="920" y="197"/>
                </a:lnTo>
                <a:lnTo>
                  <a:pt x="938" y="192"/>
                </a:lnTo>
                <a:lnTo>
                  <a:pt x="955" y="183"/>
                </a:lnTo>
                <a:lnTo>
                  <a:pt x="972" y="172"/>
                </a:lnTo>
                <a:lnTo>
                  <a:pt x="1011" y="178"/>
                </a:lnTo>
                <a:lnTo>
                  <a:pt x="1053" y="188"/>
                </a:lnTo>
                <a:lnTo>
                  <a:pt x="1089" y="194"/>
                </a:lnTo>
                <a:lnTo>
                  <a:pt x="1067" y="215"/>
                </a:lnTo>
                <a:lnTo>
                  <a:pt x="1080" y="219"/>
                </a:lnTo>
                <a:lnTo>
                  <a:pt x="1100" y="225"/>
                </a:lnTo>
                <a:lnTo>
                  <a:pt x="1122" y="230"/>
                </a:lnTo>
                <a:lnTo>
                  <a:pt x="1146" y="234"/>
                </a:lnTo>
                <a:lnTo>
                  <a:pt x="1168" y="231"/>
                </a:lnTo>
                <a:lnTo>
                  <a:pt x="1191" y="229"/>
                </a:lnTo>
                <a:lnTo>
                  <a:pt x="1216" y="225"/>
                </a:lnTo>
                <a:lnTo>
                  <a:pt x="1242" y="217"/>
                </a:lnTo>
                <a:lnTo>
                  <a:pt x="1265" y="203"/>
                </a:lnTo>
                <a:lnTo>
                  <a:pt x="1295" y="183"/>
                </a:lnTo>
                <a:lnTo>
                  <a:pt x="1317" y="165"/>
                </a:lnTo>
                <a:lnTo>
                  <a:pt x="1346" y="138"/>
                </a:lnTo>
                <a:lnTo>
                  <a:pt x="1376" y="108"/>
                </a:lnTo>
                <a:lnTo>
                  <a:pt x="1411" y="82"/>
                </a:lnTo>
                <a:lnTo>
                  <a:pt x="1441" y="63"/>
                </a:lnTo>
                <a:lnTo>
                  <a:pt x="1471" y="48"/>
                </a:lnTo>
                <a:lnTo>
                  <a:pt x="1500" y="38"/>
                </a:lnTo>
                <a:lnTo>
                  <a:pt x="1536" y="33"/>
                </a:lnTo>
                <a:lnTo>
                  <a:pt x="1566" y="35"/>
                </a:lnTo>
                <a:lnTo>
                  <a:pt x="1550" y="48"/>
                </a:lnTo>
                <a:lnTo>
                  <a:pt x="1540" y="59"/>
                </a:lnTo>
                <a:lnTo>
                  <a:pt x="1534" y="68"/>
                </a:lnTo>
                <a:lnTo>
                  <a:pt x="1511" y="98"/>
                </a:lnTo>
                <a:lnTo>
                  <a:pt x="1494" y="112"/>
                </a:lnTo>
                <a:lnTo>
                  <a:pt x="1474" y="128"/>
                </a:lnTo>
                <a:lnTo>
                  <a:pt x="1456" y="147"/>
                </a:lnTo>
                <a:lnTo>
                  <a:pt x="1441" y="165"/>
                </a:lnTo>
                <a:lnTo>
                  <a:pt x="1428" y="183"/>
                </a:lnTo>
                <a:lnTo>
                  <a:pt x="1416" y="202"/>
                </a:lnTo>
                <a:lnTo>
                  <a:pt x="1407" y="218"/>
                </a:lnTo>
                <a:lnTo>
                  <a:pt x="1401" y="235"/>
                </a:lnTo>
                <a:lnTo>
                  <a:pt x="1399" y="254"/>
                </a:lnTo>
                <a:lnTo>
                  <a:pt x="1407" y="273"/>
                </a:lnTo>
                <a:lnTo>
                  <a:pt x="1416" y="294"/>
                </a:lnTo>
                <a:lnTo>
                  <a:pt x="1429" y="311"/>
                </a:lnTo>
                <a:lnTo>
                  <a:pt x="1444" y="329"/>
                </a:lnTo>
                <a:lnTo>
                  <a:pt x="1459" y="343"/>
                </a:lnTo>
                <a:lnTo>
                  <a:pt x="1475" y="356"/>
                </a:lnTo>
                <a:lnTo>
                  <a:pt x="1492" y="371"/>
                </a:lnTo>
                <a:lnTo>
                  <a:pt x="1511" y="387"/>
                </a:lnTo>
                <a:lnTo>
                  <a:pt x="1522" y="397"/>
                </a:lnTo>
                <a:lnTo>
                  <a:pt x="1534" y="405"/>
                </a:lnTo>
                <a:lnTo>
                  <a:pt x="1546" y="413"/>
                </a:lnTo>
                <a:lnTo>
                  <a:pt x="1554" y="422"/>
                </a:lnTo>
                <a:lnTo>
                  <a:pt x="1536" y="423"/>
                </a:lnTo>
                <a:lnTo>
                  <a:pt x="1514" y="423"/>
                </a:lnTo>
                <a:lnTo>
                  <a:pt x="1494" y="423"/>
                </a:lnTo>
                <a:lnTo>
                  <a:pt x="1477" y="421"/>
                </a:lnTo>
                <a:lnTo>
                  <a:pt x="1455" y="419"/>
                </a:lnTo>
                <a:lnTo>
                  <a:pt x="1439" y="414"/>
                </a:lnTo>
                <a:lnTo>
                  <a:pt x="1424" y="408"/>
                </a:lnTo>
                <a:lnTo>
                  <a:pt x="1408" y="401"/>
                </a:lnTo>
                <a:lnTo>
                  <a:pt x="1391" y="393"/>
                </a:lnTo>
                <a:lnTo>
                  <a:pt x="1375" y="384"/>
                </a:lnTo>
                <a:lnTo>
                  <a:pt x="1344" y="363"/>
                </a:lnTo>
                <a:lnTo>
                  <a:pt x="1322" y="350"/>
                </a:lnTo>
                <a:lnTo>
                  <a:pt x="1292" y="335"/>
                </a:lnTo>
                <a:lnTo>
                  <a:pt x="1263" y="330"/>
                </a:lnTo>
                <a:lnTo>
                  <a:pt x="1232" y="331"/>
                </a:lnTo>
                <a:lnTo>
                  <a:pt x="1191" y="327"/>
                </a:lnTo>
                <a:lnTo>
                  <a:pt x="1154" y="331"/>
                </a:lnTo>
                <a:lnTo>
                  <a:pt x="1112" y="333"/>
                </a:lnTo>
                <a:lnTo>
                  <a:pt x="1069" y="340"/>
                </a:lnTo>
                <a:lnTo>
                  <a:pt x="1024" y="350"/>
                </a:lnTo>
                <a:lnTo>
                  <a:pt x="997" y="360"/>
                </a:lnTo>
                <a:lnTo>
                  <a:pt x="992" y="369"/>
                </a:lnTo>
                <a:lnTo>
                  <a:pt x="997" y="378"/>
                </a:lnTo>
                <a:lnTo>
                  <a:pt x="1019" y="391"/>
                </a:lnTo>
                <a:lnTo>
                  <a:pt x="966" y="404"/>
                </a:lnTo>
                <a:lnTo>
                  <a:pt x="893" y="422"/>
                </a:lnTo>
                <a:lnTo>
                  <a:pt x="877" y="409"/>
                </a:lnTo>
                <a:lnTo>
                  <a:pt x="857" y="400"/>
                </a:lnTo>
                <a:lnTo>
                  <a:pt x="837" y="395"/>
                </a:lnTo>
                <a:lnTo>
                  <a:pt x="806" y="394"/>
                </a:lnTo>
                <a:lnTo>
                  <a:pt x="765" y="428"/>
                </a:lnTo>
                <a:lnTo>
                  <a:pt x="731" y="403"/>
                </a:lnTo>
                <a:lnTo>
                  <a:pt x="475" y="437"/>
                </a:lnTo>
                <a:lnTo>
                  <a:pt x="424" y="439"/>
                </a:lnTo>
                <a:lnTo>
                  <a:pt x="376" y="436"/>
                </a:lnTo>
                <a:lnTo>
                  <a:pt x="327" y="432"/>
                </a:lnTo>
                <a:lnTo>
                  <a:pt x="228" y="420"/>
                </a:lnTo>
                <a:lnTo>
                  <a:pt x="139" y="399"/>
                </a:lnTo>
                <a:lnTo>
                  <a:pt x="90" y="382"/>
                </a:lnTo>
                <a:lnTo>
                  <a:pt x="56" y="365"/>
                </a:lnTo>
                <a:lnTo>
                  <a:pt x="92" y="359"/>
                </a:lnTo>
                <a:lnTo>
                  <a:pt x="70" y="346"/>
                </a:lnTo>
                <a:lnTo>
                  <a:pt x="56" y="337"/>
                </a:lnTo>
                <a:lnTo>
                  <a:pt x="31" y="317"/>
                </a:lnTo>
                <a:lnTo>
                  <a:pt x="25" y="311"/>
                </a:lnTo>
                <a:lnTo>
                  <a:pt x="18" y="303"/>
                </a:lnTo>
                <a:lnTo>
                  <a:pt x="13" y="297"/>
                </a:lnTo>
                <a:lnTo>
                  <a:pt x="8" y="287"/>
                </a:lnTo>
                <a:lnTo>
                  <a:pt x="3" y="280"/>
                </a:lnTo>
                <a:lnTo>
                  <a:pt x="0" y="27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04" name="Group 136"/>
          <p:cNvGrpSpPr>
            <a:grpSpLocks/>
          </p:cNvGrpSpPr>
          <p:nvPr/>
        </p:nvGrpSpPr>
        <p:grpSpPr bwMode="auto">
          <a:xfrm>
            <a:off x="3146425" y="5059364"/>
            <a:ext cx="52388" cy="47625"/>
            <a:chOff x="1022" y="3187"/>
            <a:chExt cx="33" cy="30"/>
          </a:xfrm>
        </p:grpSpPr>
        <p:sp>
          <p:nvSpPr>
            <p:cNvPr id="7302" name="Oval 134" descr="50%"/>
            <p:cNvSpPr>
              <a:spLocks noChangeArrowheads="1"/>
            </p:cNvSpPr>
            <p:nvPr/>
          </p:nvSpPr>
          <p:spPr bwMode="auto">
            <a:xfrm>
              <a:off x="1022" y="3187"/>
              <a:ext cx="33" cy="30"/>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3" name="Arc 135" descr="50%"/>
            <p:cNvSpPr>
              <a:spLocks/>
            </p:cNvSpPr>
            <p:nvPr/>
          </p:nvSpPr>
          <p:spPr bwMode="auto">
            <a:xfrm>
              <a:off x="1028" y="3191"/>
              <a:ext cx="25" cy="23"/>
            </a:xfrm>
            <a:custGeom>
              <a:avLst/>
              <a:gdLst>
                <a:gd name="G0" fmla="+- 21600 0 0"/>
                <a:gd name="G1" fmla="+- 21050 0 0"/>
                <a:gd name="G2" fmla="+- 21600 0 0"/>
                <a:gd name="T0" fmla="*/ 35274 w 43200"/>
                <a:gd name="T1" fmla="*/ 4329 h 42650"/>
                <a:gd name="T2" fmla="*/ 16758 w 43200"/>
                <a:gd name="T3" fmla="*/ 0 h 42650"/>
                <a:gd name="T4" fmla="*/ 21600 w 43200"/>
                <a:gd name="T5" fmla="*/ 21050 h 42650"/>
              </a:gdLst>
              <a:ahLst/>
              <a:cxnLst>
                <a:cxn ang="0">
                  <a:pos x="T0" y="T1"/>
                </a:cxn>
                <a:cxn ang="0">
                  <a:pos x="T2" y="T3"/>
                </a:cxn>
                <a:cxn ang="0">
                  <a:pos x="T4" y="T5"/>
                </a:cxn>
              </a:cxnLst>
              <a:rect l="0" t="0" r="r" b="b"/>
              <a:pathLst>
                <a:path w="43200" h="42650" fill="none"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path>
                <a:path w="43200" h="42650" stroke="0"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lnTo>
                    <a:pt x="21600" y="2105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10" name="Group 142"/>
          <p:cNvGrpSpPr>
            <a:grpSpLocks/>
          </p:cNvGrpSpPr>
          <p:nvPr/>
        </p:nvGrpSpPr>
        <p:grpSpPr bwMode="auto">
          <a:xfrm>
            <a:off x="3295651" y="5114925"/>
            <a:ext cx="157163" cy="114300"/>
            <a:chOff x="1116" y="3222"/>
            <a:chExt cx="99" cy="72"/>
          </a:xfrm>
        </p:grpSpPr>
        <p:sp>
          <p:nvSpPr>
            <p:cNvPr id="7305" name="Arc 137" descr="50%"/>
            <p:cNvSpPr>
              <a:spLocks/>
            </p:cNvSpPr>
            <p:nvPr/>
          </p:nvSpPr>
          <p:spPr bwMode="auto">
            <a:xfrm>
              <a:off x="1137"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6" name="Arc 138" descr="50%"/>
            <p:cNvSpPr>
              <a:spLocks/>
            </p:cNvSpPr>
            <p:nvPr/>
          </p:nvSpPr>
          <p:spPr bwMode="auto">
            <a:xfrm>
              <a:off x="1116" y="3222"/>
              <a:ext cx="14" cy="72"/>
            </a:xfrm>
            <a:custGeom>
              <a:avLst/>
              <a:gdLst>
                <a:gd name="G0" fmla="+- 5834 0 0"/>
                <a:gd name="G1" fmla="+- 21600 0 0"/>
                <a:gd name="G2" fmla="+- 21600 0 0"/>
                <a:gd name="T0" fmla="*/ 3878 w 27434"/>
                <a:gd name="T1" fmla="*/ 89 h 43200"/>
                <a:gd name="T2" fmla="*/ 0 w 27434"/>
                <a:gd name="T3" fmla="*/ 42397 h 43200"/>
                <a:gd name="T4" fmla="*/ 5834 w 27434"/>
                <a:gd name="T5" fmla="*/ 21600 h 43200"/>
              </a:gdLst>
              <a:ahLst/>
              <a:cxnLst>
                <a:cxn ang="0">
                  <a:pos x="T0" y="T1"/>
                </a:cxn>
                <a:cxn ang="0">
                  <a:pos x="T2" y="T3"/>
                </a:cxn>
                <a:cxn ang="0">
                  <a:pos x="T4" y="T5"/>
                </a:cxn>
              </a:cxnLst>
              <a:rect l="0" t="0" r="r" b="b"/>
              <a:pathLst>
                <a:path w="27434" h="43200" fill="none"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path>
                <a:path w="27434" h="43200" stroke="0"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lnTo>
                    <a:pt x="5834"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7" name="Arc 139" descr="50%"/>
            <p:cNvSpPr>
              <a:spLocks/>
            </p:cNvSpPr>
            <p:nvPr/>
          </p:nvSpPr>
          <p:spPr bwMode="auto">
            <a:xfrm>
              <a:off x="1158"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8" name="Arc 140" descr="50%"/>
            <p:cNvSpPr>
              <a:spLocks/>
            </p:cNvSpPr>
            <p:nvPr/>
          </p:nvSpPr>
          <p:spPr bwMode="auto">
            <a:xfrm>
              <a:off x="1179"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9" name="Arc 141" descr="50%"/>
            <p:cNvSpPr>
              <a:spLocks/>
            </p:cNvSpPr>
            <p:nvPr/>
          </p:nvSpPr>
          <p:spPr bwMode="auto">
            <a:xfrm>
              <a:off x="1202"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11" name="Freeform 143" descr="50%"/>
          <p:cNvSpPr>
            <a:spLocks/>
          </p:cNvSpPr>
          <p:nvPr/>
        </p:nvSpPr>
        <p:spPr bwMode="auto">
          <a:xfrm>
            <a:off x="2936875" y="4614863"/>
            <a:ext cx="2465388" cy="463550"/>
          </a:xfrm>
          <a:custGeom>
            <a:avLst/>
            <a:gdLst>
              <a:gd name="T0" fmla="*/ 33 w 1553"/>
              <a:gd name="T1" fmla="*/ 246 h 292"/>
              <a:gd name="T2" fmla="*/ 105 w 1553"/>
              <a:gd name="T3" fmla="*/ 223 h 292"/>
              <a:gd name="T4" fmla="*/ 209 w 1553"/>
              <a:gd name="T5" fmla="*/ 200 h 292"/>
              <a:gd name="T6" fmla="*/ 312 w 1553"/>
              <a:gd name="T7" fmla="*/ 182 h 292"/>
              <a:gd name="T8" fmla="*/ 410 w 1553"/>
              <a:gd name="T9" fmla="*/ 165 h 292"/>
              <a:gd name="T10" fmla="*/ 468 w 1553"/>
              <a:gd name="T11" fmla="*/ 140 h 292"/>
              <a:gd name="T12" fmla="*/ 518 w 1553"/>
              <a:gd name="T13" fmla="*/ 91 h 292"/>
              <a:gd name="T14" fmla="*/ 592 w 1553"/>
              <a:gd name="T15" fmla="*/ 27 h 292"/>
              <a:gd name="T16" fmla="*/ 646 w 1553"/>
              <a:gd name="T17" fmla="*/ 52 h 292"/>
              <a:gd name="T18" fmla="*/ 667 w 1553"/>
              <a:gd name="T19" fmla="*/ 126 h 292"/>
              <a:gd name="T20" fmla="*/ 707 w 1553"/>
              <a:gd name="T21" fmla="*/ 160 h 292"/>
              <a:gd name="T22" fmla="*/ 834 w 1553"/>
              <a:gd name="T23" fmla="*/ 181 h 292"/>
              <a:gd name="T24" fmla="*/ 931 w 1553"/>
              <a:gd name="T25" fmla="*/ 185 h 292"/>
              <a:gd name="T26" fmla="*/ 1046 w 1553"/>
              <a:gd name="T27" fmla="*/ 181 h 292"/>
              <a:gd name="T28" fmla="*/ 1092 w 1553"/>
              <a:gd name="T29" fmla="*/ 218 h 292"/>
              <a:gd name="T30" fmla="*/ 1183 w 1553"/>
              <a:gd name="T31" fmla="*/ 222 h 292"/>
              <a:gd name="T32" fmla="*/ 1287 w 1553"/>
              <a:gd name="T33" fmla="*/ 176 h 292"/>
              <a:gd name="T34" fmla="*/ 1368 w 1553"/>
              <a:gd name="T35" fmla="*/ 103 h 292"/>
              <a:gd name="T36" fmla="*/ 1434 w 1553"/>
              <a:gd name="T37" fmla="*/ 59 h 292"/>
              <a:gd name="T38" fmla="*/ 1491 w 1553"/>
              <a:gd name="T39" fmla="*/ 35 h 292"/>
              <a:gd name="T40" fmla="*/ 1540 w 1553"/>
              <a:gd name="T41" fmla="*/ 41 h 292"/>
              <a:gd name="T42" fmla="*/ 1500 w 1553"/>
              <a:gd name="T43" fmla="*/ 91 h 292"/>
              <a:gd name="T44" fmla="*/ 1448 w 1553"/>
              <a:gd name="T45" fmla="*/ 136 h 292"/>
              <a:gd name="T46" fmla="*/ 1418 w 1553"/>
              <a:gd name="T47" fmla="*/ 174 h 292"/>
              <a:gd name="T48" fmla="*/ 1396 w 1553"/>
              <a:gd name="T49" fmla="*/ 208 h 292"/>
              <a:gd name="T50" fmla="*/ 1388 w 1553"/>
              <a:gd name="T51" fmla="*/ 244 h 292"/>
              <a:gd name="T52" fmla="*/ 1344 w 1553"/>
              <a:gd name="T53" fmla="*/ 237 h 292"/>
              <a:gd name="T54" fmla="*/ 1305 w 1553"/>
              <a:gd name="T55" fmla="*/ 249 h 292"/>
              <a:gd name="T56" fmla="*/ 1259 w 1553"/>
              <a:gd name="T57" fmla="*/ 244 h 292"/>
              <a:gd name="T58" fmla="*/ 1208 w 1553"/>
              <a:gd name="T59" fmla="*/ 247 h 292"/>
              <a:gd name="T60" fmla="*/ 1155 w 1553"/>
              <a:gd name="T61" fmla="*/ 242 h 292"/>
              <a:gd name="T62" fmla="*/ 1096 w 1553"/>
              <a:gd name="T63" fmla="*/ 245 h 292"/>
              <a:gd name="T64" fmla="*/ 1035 w 1553"/>
              <a:gd name="T65" fmla="*/ 255 h 292"/>
              <a:gd name="T66" fmla="*/ 976 w 1553"/>
              <a:gd name="T67" fmla="*/ 256 h 292"/>
              <a:gd name="T68" fmla="*/ 918 w 1553"/>
              <a:gd name="T69" fmla="*/ 257 h 292"/>
              <a:gd name="T70" fmla="*/ 864 w 1553"/>
              <a:gd name="T71" fmla="*/ 263 h 292"/>
              <a:gd name="T72" fmla="*/ 807 w 1553"/>
              <a:gd name="T73" fmla="*/ 275 h 292"/>
              <a:gd name="T74" fmla="*/ 738 w 1553"/>
              <a:gd name="T75" fmla="*/ 275 h 292"/>
              <a:gd name="T76" fmla="*/ 679 w 1553"/>
              <a:gd name="T77" fmla="*/ 278 h 292"/>
              <a:gd name="T78" fmla="*/ 620 w 1553"/>
              <a:gd name="T79" fmla="*/ 269 h 292"/>
              <a:gd name="T80" fmla="*/ 563 w 1553"/>
              <a:gd name="T81" fmla="*/ 275 h 292"/>
              <a:gd name="T82" fmla="*/ 516 w 1553"/>
              <a:gd name="T83" fmla="*/ 268 h 292"/>
              <a:gd name="T84" fmla="*/ 458 w 1553"/>
              <a:gd name="T85" fmla="*/ 275 h 292"/>
              <a:gd name="T86" fmla="*/ 397 w 1553"/>
              <a:gd name="T87" fmla="*/ 278 h 292"/>
              <a:gd name="T88" fmla="*/ 319 w 1553"/>
              <a:gd name="T89" fmla="*/ 291 h 292"/>
              <a:gd name="T90" fmla="*/ 227 w 1553"/>
              <a:gd name="T91" fmla="*/ 291 h 292"/>
              <a:gd name="T92" fmla="*/ 152 w 1553"/>
              <a:gd name="T93" fmla="*/ 280 h 292"/>
              <a:gd name="T94" fmla="*/ 82 w 1553"/>
              <a:gd name="T95" fmla="*/ 283 h 292"/>
              <a:gd name="T96" fmla="*/ 16 w 1553"/>
              <a:gd name="T97" fmla="*/ 27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3" h="292">
                <a:moveTo>
                  <a:pt x="0" y="262"/>
                </a:moveTo>
                <a:lnTo>
                  <a:pt x="9" y="257"/>
                </a:lnTo>
                <a:lnTo>
                  <a:pt x="20" y="251"/>
                </a:lnTo>
                <a:lnTo>
                  <a:pt x="33" y="246"/>
                </a:lnTo>
                <a:lnTo>
                  <a:pt x="47" y="241"/>
                </a:lnTo>
                <a:lnTo>
                  <a:pt x="63" y="236"/>
                </a:lnTo>
                <a:lnTo>
                  <a:pt x="86" y="230"/>
                </a:lnTo>
                <a:lnTo>
                  <a:pt x="105" y="223"/>
                </a:lnTo>
                <a:lnTo>
                  <a:pt x="129" y="216"/>
                </a:lnTo>
                <a:lnTo>
                  <a:pt x="156" y="210"/>
                </a:lnTo>
                <a:lnTo>
                  <a:pt x="182" y="204"/>
                </a:lnTo>
                <a:lnTo>
                  <a:pt x="209" y="200"/>
                </a:lnTo>
                <a:lnTo>
                  <a:pt x="234" y="196"/>
                </a:lnTo>
                <a:lnTo>
                  <a:pt x="261" y="192"/>
                </a:lnTo>
                <a:lnTo>
                  <a:pt x="286" y="187"/>
                </a:lnTo>
                <a:lnTo>
                  <a:pt x="312" y="182"/>
                </a:lnTo>
                <a:lnTo>
                  <a:pt x="332" y="178"/>
                </a:lnTo>
                <a:lnTo>
                  <a:pt x="362" y="173"/>
                </a:lnTo>
                <a:lnTo>
                  <a:pt x="387" y="169"/>
                </a:lnTo>
                <a:lnTo>
                  <a:pt x="410" y="165"/>
                </a:lnTo>
                <a:lnTo>
                  <a:pt x="428" y="161"/>
                </a:lnTo>
                <a:lnTo>
                  <a:pt x="444" y="155"/>
                </a:lnTo>
                <a:lnTo>
                  <a:pt x="458" y="147"/>
                </a:lnTo>
                <a:lnTo>
                  <a:pt x="468" y="140"/>
                </a:lnTo>
                <a:lnTo>
                  <a:pt x="477" y="130"/>
                </a:lnTo>
                <a:lnTo>
                  <a:pt x="487" y="120"/>
                </a:lnTo>
                <a:lnTo>
                  <a:pt x="503" y="104"/>
                </a:lnTo>
                <a:lnTo>
                  <a:pt x="518" y="91"/>
                </a:lnTo>
                <a:lnTo>
                  <a:pt x="535" y="75"/>
                </a:lnTo>
                <a:lnTo>
                  <a:pt x="553" y="59"/>
                </a:lnTo>
                <a:lnTo>
                  <a:pt x="571" y="42"/>
                </a:lnTo>
                <a:lnTo>
                  <a:pt x="592" y="27"/>
                </a:lnTo>
                <a:lnTo>
                  <a:pt x="612" y="12"/>
                </a:lnTo>
                <a:lnTo>
                  <a:pt x="629" y="0"/>
                </a:lnTo>
                <a:lnTo>
                  <a:pt x="636" y="24"/>
                </a:lnTo>
                <a:lnTo>
                  <a:pt x="646" y="52"/>
                </a:lnTo>
                <a:lnTo>
                  <a:pt x="654" y="78"/>
                </a:lnTo>
                <a:lnTo>
                  <a:pt x="662" y="102"/>
                </a:lnTo>
                <a:lnTo>
                  <a:pt x="665" y="114"/>
                </a:lnTo>
                <a:lnTo>
                  <a:pt x="667" y="126"/>
                </a:lnTo>
                <a:lnTo>
                  <a:pt x="665" y="138"/>
                </a:lnTo>
                <a:lnTo>
                  <a:pt x="655" y="151"/>
                </a:lnTo>
                <a:lnTo>
                  <a:pt x="681" y="156"/>
                </a:lnTo>
                <a:lnTo>
                  <a:pt x="707" y="160"/>
                </a:lnTo>
                <a:lnTo>
                  <a:pt x="738" y="165"/>
                </a:lnTo>
                <a:lnTo>
                  <a:pt x="773" y="170"/>
                </a:lnTo>
                <a:lnTo>
                  <a:pt x="808" y="177"/>
                </a:lnTo>
                <a:lnTo>
                  <a:pt x="834" y="181"/>
                </a:lnTo>
                <a:lnTo>
                  <a:pt x="864" y="185"/>
                </a:lnTo>
                <a:lnTo>
                  <a:pt x="889" y="188"/>
                </a:lnTo>
                <a:lnTo>
                  <a:pt x="912" y="190"/>
                </a:lnTo>
                <a:lnTo>
                  <a:pt x="931" y="185"/>
                </a:lnTo>
                <a:lnTo>
                  <a:pt x="949" y="177"/>
                </a:lnTo>
                <a:lnTo>
                  <a:pt x="965" y="165"/>
                </a:lnTo>
                <a:lnTo>
                  <a:pt x="1004" y="171"/>
                </a:lnTo>
                <a:lnTo>
                  <a:pt x="1046" y="181"/>
                </a:lnTo>
                <a:lnTo>
                  <a:pt x="1077" y="187"/>
                </a:lnTo>
                <a:lnTo>
                  <a:pt x="1058" y="206"/>
                </a:lnTo>
                <a:lnTo>
                  <a:pt x="1072" y="211"/>
                </a:lnTo>
                <a:lnTo>
                  <a:pt x="1092" y="218"/>
                </a:lnTo>
                <a:lnTo>
                  <a:pt x="1114" y="223"/>
                </a:lnTo>
                <a:lnTo>
                  <a:pt x="1138" y="226"/>
                </a:lnTo>
                <a:lnTo>
                  <a:pt x="1160" y="224"/>
                </a:lnTo>
                <a:lnTo>
                  <a:pt x="1183" y="222"/>
                </a:lnTo>
                <a:lnTo>
                  <a:pt x="1207" y="218"/>
                </a:lnTo>
                <a:lnTo>
                  <a:pt x="1234" y="210"/>
                </a:lnTo>
                <a:lnTo>
                  <a:pt x="1258" y="196"/>
                </a:lnTo>
                <a:lnTo>
                  <a:pt x="1287" y="176"/>
                </a:lnTo>
                <a:lnTo>
                  <a:pt x="1310" y="158"/>
                </a:lnTo>
                <a:lnTo>
                  <a:pt x="1337" y="133"/>
                </a:lnTo>
                <a:lnTo>
                  <a:pt x="1349" y="122"/>
                </a:lnTo>
                <a:lnTo>
                  <a:pt x="1368" y="103"/>
                </a:lnTo>
                <a:lnTo>
                  <a:pt x="1386" y="91"/>
                </a:lnTo>
                <a:lnTo>
                  <a:pt x="1402" y="79"/>
                </a:lnTo>
                <a:lnTo>
                  <a:pt x="1419" y="68"/>
                </a:lnTo>
                <a:lnTo>
                  <a:pt x="1434" y="59"/>
                </a:lnTo>
                <a:lnTo>
                  <a:pt x="1449" y="52"/>
                </a:lnTo>
                <a:lnTo>
                  <a:pt x="1463" y="45"/>
                </a:lnTo>
                <a:lnTo>
                  <a:pt x="1476" y="40"/>
                </a:lnTo>
                <a:lnTo>
                  <a:pt x="1491" y="35"/>
                </a:lnTo>
                <a:lnTo>
                  <a:pt x="1506" y="33"/>
                </a:lnTo>
                <a:lnTo>
                  <a:pt x="1524" y="32"/>
                </a:lnTo>
                <a:lnTo>
                  <a:pt x="1552" y="32"/>
                </a:lnTo>
                <a:lnTo>
                  <a:pt x="1540" y="41"/>
                </a:lnTo>
                <a:lnTo>
                  <a:pt x="1528" y="54"/>
                </a:lnTo>
                <a:lnTo>
                  <a:pt x="1522" y="62"/>
                </a:lnTo>
                <a:lnTo>
                  <a:pt x="1511" y="78"/>
                </a:lnTo>
                <a:lnTo>
                  <a:pt x="1500" y="91"/>
                </a:lnTo>
                <a:lnTo>
                  <a:pt x="1485" y="104"/>
                </a:lnTo>
                <a:lnTo>
                  <a:pt x="1466" y="118"/>
                </a:lnTo>
                <a:lnTo>
                  <a:pt x="1456" y="126"/>
                </a:lnTo>
                <a:lnTo>
                  <a:pt x="1448" y="136"/>
                </a:lnTo>
                <a:lnTo>
                  <a:pt x="1438" y="147"/>
                </a:lnTo>
                <a:lnTo>
                  <a:pt x="1432" y="155"/>
                </a:lnTo>
                <a:lnTo>
                  <a:pt x="1425" y="164"/>
                </a:lnTo>
                <a:lnTo>
                  <a:pt x="1418" y="174"/>
                </a:lnTo>
                <a:lnTo>
                  <a:pt x="1412" y="183"/>
                </a:lnTo>
                <a:lnTo>
                  <a:pt x="1406" y="192"/>
                </a:lnTo>
                <a:lnTo>
                  <a:pt x="1401" y="200"/>
                </a:lnTo>
                <a:lnTo>
                  <a:pt x="1396" y="208"/>
                </a:lnTo>
                <a:lnTo>
                  <a:pt x="1392" y="218"/>
                </a:lnTo>
                <a:lnTo>
                  <a:pt x="1390" y="226"/>
                </a:lnTo>
                <a:lnTo>
                  <a:pt x="1389" y="235"/>
                </a:lnTo>
                <a:lnTo>
                  <a:pt x="1388" y="244"/>
                </a:lnTo>
                <a:lnTo>
                  <a:pt x="1380" y="239"/>
                </a:lnTo>
                <a:lnTo>
                  <a:pt x="1366" y="237"/>
                </a:lnTo>
                <a:lnTo>
                  <a:pt x="1355" y="236"/>
                </a:lnTo>
                <a:lnTo>
                  <a:pt x="1344" y="237"/>
                </a:lnTo>
                <a:lnTo>
                  <a:pt x="1334" y="240"/>
                </a:lnTo>
                <a:lnTo>
                  <a:pt x="1325" y="244"/>
                </a:lnTo>
                <a:lnTo>
                  <a:pt x="1315" y="246"/>
                </a:lnTo>
                <a:lnTo>
                  <a:pt x="1305" y="249"/>
                </a:lnTo>
                <a:lnTo>
                  <a:pt x="1294" y="251"/>
                </a:lnTo>
                <a:lnTo>
                  <a:pt x="1279" y="248"/>
                </a:lnTo>
                <a:lnTo>
                  <a:pt x="1268" y="247"/>
                </a:lnTo>
                <a:lnTo>
                  <a:pt x="1259" y="244"/>
                </a:lnTo>
                <a:lnTo>
                  <a:pt x="1248" y="241"/>
                </a:lnTo>
                <a:lnTo>
                  <a:pt x="1237" y="242"/>
                </a:lnTo>
                <a:lnTo>
                  <a:pt x="1222" y="244"/>
                </a:lnTo>
                <a:lnTo>
                  <a:pt x="1208" y="247"/>
                </a:lnTo>
                <a:lnTo>
                  <a:pt x="1198" y="246"/>
                </a:lnTo>
                <a:lnTo>
                  <a:pt x="1183" y="245"/>
                </a:lnTo>
                <a:lnTo>
                  <a:pt x="1169" y="242"/>
                </a:lnTo>
                <a:lnTo>
                  <a:pt x="1155" y="242"/>
                </a:lnTo>
                <a:lnTo>
                  <a:pt x="1143" y="245"/>
                </a:lnTo>
                <a:lnTo>
                  <a:pt x="1124" y="247"/>
                </a:lnTo>
                <a:lnTo>
                  <a:pt x="1112" y="247"/>
                </a:lnTo>
                <a:lnTo>
                  <a:pt x="1096" y="245"/>
                </a:lnTo>
                <a:lnTo>
                  <a:pt x="1082" y="244"/>
                </a:lnTo>
                <a:lnTo>
                  <a:pt x="1066" y="247"/>
                </a:lnTo>
                <a:lnTo>
                  <a:pt x="1053" y="251"/>
                </a:lnTo>
                <a:lnTo>
                  <a:pt x="1035" y="255"/>
                </a:lnTo>
                <a:lnTo>
                  <a:pt x="1021" y="256"/>
                </a:lnTo>
                <a:lnTo>
                  <a:pt x="1005" y="258"/>
                </a:lnTo>
                <a:lnTo>
                  <a:pt x="992" y="258"/>
                </a:lnTo>
                <a:lnTo>
                  <a:pt x="976" y="256"/>
                </a:lnTo>
                <a:lnTo>
                  <a:pt x="960" y="252"/>
                </a:lnTo>
                <a:lnTo>
                  <a:pt x="943" y="256"/>
                </a:lnTo>
                <a:lnTo>
                  <a:pt x="932" y="257"/>
                </a:lnTo>
                <a:lnTo>
                  <a:pt x="918" y="257"/>
                </a:lnTo>
                <a:lnTo>
                  <a:pt x="905" y="256"/>
                </a:lnTo>
                <a:lnTo>
                  <a:pt x="891" y="256"/>
                </a:lnTo>
                <a:lnTo>
                  <a:pt x="877" y="258"/>
                </a:lnTo>
                <a:lnTo>
                  <a:pt x="864" y="263"/>
                </a:lnTo>
                <a:lnTo>
                  <a:pt x="852" y="266"/>
                </a:lnTo>
                <a:lnTo>
                  <a:pt x="837" y="271"/>
                </a:lnTo>
                <a:lnTo>
                  <a:pt x="823" y="273"/>
                </a:lnTo>
                <a:lnTo>
                  <a:pt x="807" y="275"/>
                </a:lnTo>
                <a:lnTo>
                  <a:pt x="791" y="277"/>
                </a:lnTo>
                <a:lnTo>
                  <a:pt x="770" y="275"/>
                </a:lnTo>
                <a:lnTo>
                  <a:pt x="751" y="273"/>
                </a:lnTo>
                <a:lnTo>
                  <a:pt x="738" y="275"/>
                </a:lnTo>
                <a:lnTo>
                  <a:pt x="720" y="277"/>
                </a:lnTo>
                <a:lnTo>
                  <a:pt x="707" y="277"/>
                </a:lnTo>
                <a:lnTo>
                  <a:pt x="692" y="278"/>
                </a:lnTo>
                <a:lnTo>
                  <a:pt x="679" y="278"/>
                </a:lnTo>
                <a:lnTo>
                  <a:pt x="660" y="277"/>
                </a:lnTo>
                <a:lnTo>
                  <a:pt x="644" y="273"/>
                </a:lnTo>
                <a:lnTo>
                  <a:pt x="633" y="269"/>
                </a:lnTo>
                <a:lnTo>
                  <a:pt x="620" y="269"/>
                </a:lnTo>
                <a:lnTo>
                  <a:pt x="606" y="268"/>
                </a:lnTo>
                <a:lnTo>
                  <a:pt x="592" y="271"/>
                </a:lnTo>
                <a:lnTo>
                  <a:pt x="576" y="273"/>
                </a:lnTo>
                <a:lnTo>
                  <a:pt x="563" y="275"/>
                </a:lnTo>
                <a:lnTo>
                  <a:pt x="551" y="275"/>
                </a:lnTo>
                <a:lnTo>
                  <a:pt x="542" y="273"/>
                </a:lnTo>
                <a:lnTo>
                  <a:pt x="529" y="269"/>
                </a:lnTo>
                <a:lnTo>
                  <a:pt x="516" y="268"/>
                </a:lnTo>
                <a:lnTo>
                  <a:pt x="503" y="269"/>
                </a:lnTo>
                <a:lnTo>
                  <a:pt x="491" y="271"/>
                </a:lnTo>
                <a:lnTo>
                  <a:pt x="476" y="273"/>
                </a:lnTo>
                <a:lnTo>
                  <a:pt x="458" y="275"/>
                </a:lnTo>
                <a:lnTo>
                  <a:pt x="443" y="275"/>
                </a:lnTo>
                <a:lnTo>
                  <a:pt x="428" y="273"/>
                </a:lnTo>
                <a:lnTo>
                  <a:pt x="412" y="276"/>
                </a:lnTo>
                <a:lnTo>
                  <a:pt x="397" y="278"/>
                </a:lnTo>
                <a:lnTo>
                  <a:pt x="381" y="282"/>
                </a:lnTo>
                <a:lnTo>
                  <a:pt x="365" y="286"/>
                </a:lnTo>
                <a:lnTo>
                  <a:pt x="343" y="290"/>
                </a:lnTo>
                <a:lnTo>
                  <a:pt x="319" y="291"/>
                </a:lnTo>
                <a:lnTo>
                  <a:pt x="293" y="291"/>
                </a:lnTo>
                <a:lnTo>
                  <a:pt x="270" y="290"/>
                </a:lnTo>
                <a:lnTo>
                  <a:pt x="242" y="291"/>
                </a:lnTo>
                <a:lnTo>
                  <a:pt x="227" y="291"/>
                </a:lnTo>
                <a:lnTo>
                  <a:pt x="213" y="289"/>
                </a:lnTo>
                <a:lnTo>
                  <a:pt x="197" y="291"/>
                </a:lnTo>
                <a:lnTo>
                  <a:pt x="179" y="290"/>
                </a:lnTo>
                <a:lnTo>
                  <a:pt x="152" y="280"/>
                </a:lnTo>
                <a:lnTo>
                  <a:pt x="133" y="281"/>
                </a:lnTo>
                <a:lnTo>
                  <a:pt x="116" y="283"/>
                </a:lnTo>
                <a:lnTo>
                  <a:pt x="98" y="283"/>
                </a:lnTo>
                <a:lnTo>
                  <a:pt x="82" y="283"/>
                </a:lnTo>
                <a:lnTo>
                  <a:pt x="64" y="281"/>
                </a:lnTo>
                <a:lnTo>
                  <a:pt x="47" y="278"/>
                </a:lnTo>
                <a:lnTo>
                  <a:pt x="31" y="273"/>
                </a:lnTo>
                <a:lnTo>
                  <a:pt x="16" y="270"/>
                </a:lnTo>
                <a:lnTo>
                  <a:pt x="1" y="266"/>
                </a:lnTo>
                <a:lnTo>
                  <a:pt x="0" y="26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14" name="Group 146"/>
          <p:cNvGrpSpPr>
            <a:grpSpLocks/>
          </p:cNvGrpSpPr>
          <p:nvPr/>
        </p:nvGrpSpPr>
        <p:grpSpPr bwMode="auto">
          <a:xfrm>
            <a:off x="3432176" y="5194300"/>
            <a:ext cx="354013" cy="217488"/>
            <a:chOff x="1202" y="3272"/>
            <a:chExt cx="223" cy="137"/>
          </a:xfrm>
        </p:grpSpPr>
        <p:sp>
          <p:nvSpPr>
            <p:cNvPr id="7312" name="Freeform 144" descr="50%"/>
            <p:cNvSpPr>
              <a:spLocks/>
            </p:cNvSpPr>
            <p:nvPr/>
          </p:nvSpPr>
          <p:spPr bwMode="auto">
            <a:xfrm>
              <a:off x="1202" y="3275"/>
              <a:ext cx="223" cy="134"/>
            </a:xfrm>
            <a:custGeom>
              <a:avLst/>
              <a:gdLst>
                <a:gd name="T0" fmla="*/ 208 w 223"/>
                <a:gd name="T1" fmla="*/ 120 h 134"/>
                <a:gd name="T2" fmla="*/ 196 w 223"/>
                <a:gd name="T3" fmla="*/ 108 h 134"/>
                <a:gd name="T4" fmla="*/ 188 w 223"/>
                <a:gd name="T5" fmla="*/ 100 h 134"/>
                <a:gd name="T6" fmla="*/ 182 w 223"/>
                <a:gd name="T7" fmla="*/ 93 h 134"/>
                <a:gd name="T8" fmla="*/ 176 w 223"/>
                <a:gd name="T9" fmla="*/ 86 h 134"/>
                <a:gd name="T10" fmla="*/ 170 w 223"/>
                <a:gd name="T11" fmla="*/ 78 h 134"/>
                <a:gd name="T12" fmla="*/ 164 w 223"/>
                <a:gd name="T13" fmla="*/ 71 h 134"/>
                <a:gd name="T14" fmla="*/ 159 w 223"/>
                <a:gd name="T15" fmla="*/ 63 h 134"/>
                <a:gd name="T16" fmla="*/ 154 w 223"/>
                <a:gd name="T17" fmla="*/ 53 h 134"/>
                <a:gd name="T18" fmla="*/ 150 w 223"/>
                <a:gd name="T19" fmla="*/ 43 h 134"/>
                <a:gd name="T20" fmla="*/ 146 w 223"/>
                <a:gd name="T21" fmla="*/ 33 h 134"/>
                <a:gd name="T22" fmla="*/ 144 w 223"/>
                <a:gd name="T23" fmla="*/ 23 h 134"/>
                <a:gd name="T24" fmla="*/ 144 w 223"/>
                <a:gd name="T25" fmla="*/ 13 h 134"/>
                <a:gd name="T26" fmla="*/ 143 w 223"/>
                <a:gd name="T27" fmla="*/ 0 h 134"/>
                <a:gd name="T28" fmla="*/ 0 w 223"/>
                <a:gd name="T29" fmla="*/ 0 h 134"/>
                <a:gd name="T30" fmla="*/ 4 w 223"/>
                <a:gd name="T31" fmla="*/ 8 h 134"/>
                <a:gd name="T32" fmla="*/ 11 w 223"/>
                <a:gd name="T33" fmla="*/ 19 h 134"/>
                <a:gd name="T34" fmla="*/ 18 w 223"/>
                <a:gd name="T35" fmla="*/ 28 h 134"/>
                <a:gd name="T36" fmla="*/ 26 w 223"/>
                <a:gd name="T37" fmla="*/ 38 h 134"/>
                <a:gd name="T38" fmla="*/ 36 w 223"/>
                <a:gd name="T39" fmla="*/ 48 h 134"/>
                <a:gd name="T40" fmla="*/ 47 w 223"/>
                <a:gd name="T41" fmla="*/ 58 h 134"/>
                <a:gd name="T42" fmla="*/ 58 w 223"/>
                <a:gd name="T43" fmla="*/ 67 h 134"/>
                <a:gd name="T44" fmla="*/ 70 w 223"/>
                <a:gd name="T45" fmla="*/ 76 h 134"/>
                <a:gd name="T46" fmla="*/ 82 w 223"/>
                <a:gd name="T47" fmla="*/ 86 h 134"/>
                <a:gd name="T48" fmla="*/ 98 w 223"/>
                <a:gd name="T49" fmla="*/ 97 h 134"/>
                <a:gd name="T50" fmla="*/ 111 w 223"/>
                <a:gd name="T51" fmla="*/ 104 h 134"/>
                <a:gd name="T52" fmla="*/ 123 w 223"/>
                <a:gd name="T53" fmla="*/ 110 h 134"/>
                <a:gd name="T54" fmla="*/ 135 w 223"/>
                <a:gd name="T55" fmla="*/ 115 h 134"/>
                <a:gd name="T56" fmla="*/ 147 w 223"/>
                <a:gd name="T57" fmla="*/ 120 h 134"/>
                <a:gd name="T58" fmla="*/ 159 w 223"/>
                <a:gd name="T59" fmla="*/ 124 h 134"/>
                <a:gd name="T60" fmla="*/ 173 w 223"/>
                <a:gd name="T61" fmla="*/ 127 h 134"/>
                <a:gd name="T62" fmla="*/ 189 w 223"/>
                <a:gd name="T63" fmla="*/ 130 h 134"/>
                <a:gd name="T64" fmla="*/ 201 w 223"/>
                <a:gd name="T65" fmla="*/ 131 h 134"/>
                <a:gd name="T66" fmla="*/ 213 w 223"/>
                <a:gd name="T67" fmla="*/ 132 h 134"/>
                <a:gd name="T68" fmla="*/ 222 w 223"/>
                <a:gd name="T69" fmla="*/ 133 h 134"/>
                <a:gd name="T70" fmla="*/ 208 w 223"/>
                <a:gd name="T71" fmla="*/ 12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34">
                  <a:moveTo>
                    <a:pt x="208" y="120"/>
                  </a:moveTo>
                  <a:lnTo>
                    <a:pt x="196" y="108"/>
                  </a:lnTo>
                  <a:lnTo>
                    <a:pt x="188" y="100"/>
                  </a:lnTo>
                  <a:lnTo>
                    <a:pt x="182" y="93"/>
                  </a:lnTo>
                  <a:lnTo>
                    <a:pt x="176" y="86"/>
                  </a:lnTo>
                  <a:lnTo>
                    <a:pt x="170" y="78"/>
                  </a:lnTo>
                  <a:lnTo>
                    <a:pt x="164" y="71"/>
                  </a:lnTo>
                  <a:lnTo>
                    <a:pt x="159" y="63"/>
                  </a:lnTo>
                  <a:lnTo>
                    <a:pt x="154" y="53"/>
                  </a:lnTo>
                  <a:lnTo>
                    <a:pt x="150" y="43"/>
                  </a:lnTo>
                  <a:lnTo>
                    <a:pt x="146" y="33"/>
                  </a:lnTo>
                  <a:lnTo>
                    <a:pt x="144" y="23"/>
                  </a:lnTo>
                  <a:lnTo>
                    <a:pt x="144" y="13"/>
                  </a:lnTo>
                  <a:lnTo>
                    <a:pt x="143" y="0"/>
                  </a:lnTo>
                  <a:lnTo>
                    <a:pt x="0" y="0"/>
                  </a:lnTo>
                  <a:lnTo>
                    <a:pt x="4" y="8"/>
                  </a:lnTo>
                  <a:lnTo>
                    <a:pt x="11" y="19"/>
                  </a:lnTo>
                  <a:lnTo>
                    <a:pt x="18" y="28"/>
                  </a:lnTo>
                  <a:lnTo>
                    <a:pt x="26" y="38"/>
                  </a:lnTo>
                  <a:lnTo>
                    <a:pt x="36" y="48"/>
                  </a:lnTo>
                  <a:lnTo>
                    <a:pt x="47" y="58"/>
                  </a:lnTo>
                  <a:lnTo>
                    <a:pt x="58" y="67"/>
                  </a:lnTo>
                  <a:lnTo>
                    <a:pt x="70" y="76"/>
                  </a:lnTo>
                  <a:lnTo>
                    <a:pt x="82" y="86"/>
                  </a:lnTo>
                  <a:lnTo>
                    <a:pt x="98" y="97"/>
                  </a:lnTo>
                  <a:lnTo>
                    <a:pt x="111" y="104"/>
                  </a:lnTo>
                  <a:lnTo>
                    <a:pt x="123" y="110"/>
                  </a:lnTo>
                  <a:lnTo>
                    <a:pt x="135" y="115"/>
                  </a:lnTo>
                  <a:lnTo>
                    <a:pt x="147" y="120"/>
                  </a:lnTo>
                  <a:lnTo>
                    <a:pt x="159" y="124"/>
                  </a:lnTo>
                  <a:lnTo>
                    <a:pt x="173" y="127"/>
                  </a:lnTo>
                  <a:lnTo>
                    <a:pt x="189" y="130"/>
                  </a:lnTo>
                  <a:lnTo>
                    <a:pt x="201" y="131"/>
                  </a:lnTo>
                  <a:lnTo>
                    <a:pt x="213" y="132"/>
                  </a:lnTo>
                  <a:lnTo>
                    <a:pt x="222" y="133"/>
                  </a:lnTo>
                  <a:lnTo>
                    <a:pt x="208" y="12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13" name="Freeform 145" descr="50%"/>
            <p:cNvSpPr>
              <a:spLocks/>
            </p:cNvSpPr>
            <p:nvPr/>
          </p:nvSpPr>
          <p:spPr bwMode="auto">
            <a:xfrm>
              <a:off x="1206" y="3272"/>
              <a:ext cx="132" cy="2"/>
            </a:xfrm>
            <a:custGeom>
              <a:avLst/>
              <a:gdLst>
                <a:gd name="T0" fmla="*/ 1 w 132"/>
                <a:gd name="T1" fmla="*/ 0 h 2"/>
                <a:gd name="T2" fmla="*/ 0 w 132"/>
                <a:gd name="T3" fmla="*/ 0 h 2"/>
                <a:gd name="T4" fmla="*/ 3 w 132"/>
                <a:gd name="T5" fmla="*/ 1 h 2"/>
                <a:gd name="T6" fmla="*/ 131 w 132"/>
                <a:gd name="T7" fmla="*/ 1 h 2"/>
                <a:gd name="T8" fmla="*/ 131 w 132"/>
                <a:gd name="T9" fmla="*/ 0 h 2"/>
                <a:gd name="T10" fmla="*/ 1 w 132"/>
                <a:gd name="T11" fmla="*/ 0 h 2"/>
              </a:gdLst>
              <a:ahLst/>
              <a:cxnLst>
                <a:cxn ang="0">
                  <a:pos x="T0" y="T1"/>
                </a:cxn>
                <a:cxn ang="0">
                  <a:pos x="T2" y="T3"/>
                </a:cxn>
                <a:cxn ang="0">
                  <a:pos x="T4" y="T5"/>
                </a:cxn>
                <a:cxn ang="0">
                  <a:pos x="T6" y="T7"/>
                </a:cxn>
                <a:cxn ang="0">
                  <a:pos x="T8" y="T9"/>
                </a:cxn>
                <a:cxn ang="0">
                  <a:pos x="T10" y="T11"/>
                </a:cxn>
              </a:cxnLst>
              <a:rect l="0" t="0" r="r" b="b"/>
              <a:pathLst>
                <a:path w="132" h="2">
                  <a:moveTo>
                    <a:pt x="1" y="0"/>
                  </a:moveTo>
                  <a:lnTo>
                    <a:pt x="0" y="0"/>
                  </a:lnTo>
                  <a:lnTo>
                    <a:pt x="3" y="1"/>
                  </a:lnTo>
                  <a:lnTo>
                    <a:pt x="131" y="1"/>
                  </a:lnTo>
                  <a:lnTo>
                    <a:pt x="131"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15" name="Freeform 147" descr="50%"/>
          <p:cNvSpPr>
            <a:spLocks/>
          </p:cNvSpPr>
          <p:nvPr/>
        </p:nvSpPr>
        <p:spPr bwMode="auto">
          <a:xfrm>
            <a:off x="2714626" y="3889375"/>
            <a:ext cx="436563" cy="317500"/>
          </a:xfrm>
          <a:custGeom>
            <a:avLst/>
            <a:gdLst>
              <a:gd name="T0" fmla="*/ 0 w 275"/>
              <a:gd name="T1" fmla="*/ 0 h 200"/>
              <a:gd name="T2" fmla="*/ 11 w 275"/>
              <a:gd name="T3" fmla="*/ 19 h 200"/>
              <a:gd name="T4" fmla="*/ 24 w 275"/>
              <a:gd name="T5" fmla="*/ 41 h 200"/>
              <a:gd name="T6" fmla="*/ 41 w 275"/>
              <a:gd name="T7" fmla="*/ 62 h 200"/>
              <a:gd name="T8" fmla="*/ 57 w 275"/>
              <a:gd name="T9" fmla="*/ 81 h 200"/>
              <a:gd name="T10" fmla="*/ 78 w 275"/>
              <a:gd name="T11" fmla="*/ 102 h 200"/>
              <a:gd name="T12" fmla="*/ 99 w 275"/>
              <a:gd name="T13" fmla="*/ 124 h 200"/>
              <a:gd name="T14" fmla="*/ 116 w 275"/>
              <a:gd name="T15" fmla="*/ 140 h 200"/>
              <a:gd name="T16" fmla="*/ 135 w 275"/>
              <a:gd name="T17" fmla="*/ 156 h 200"/>
              <a:gd name="T18" fmla="*/ 154 w 275"/>
              <a:gd name="T19" fmla="*/ 167 h 200"/>
              <a:gd name="T20" fmla="*/ 176 w 275"/>
              <a:gd name="T21" fmla="*/ 178 h 200"/>
              <a:gd name="T22" fmla="*/ 197 w 275"/>
              <a:gd name="T23" fmla="*/ 187 h 200"/>
              <a:gd name="T24" fmla="*/ 219 w 275"/>
              <a:gd name="T25" fmla="*/ 194 h 200"/>
              <a:gd name="T26" fmla="*/ 242 w 275"/>
              <a:gd name="T27" fmla="*/ 198 h 200"/>
              <a:gd name="T28" fmla="*/ 263 w 275"/>
              <a:gd name="T29" fmla="*/ 199 h 200"/>
              <a:gd name="T30" fmla="*/ 274 w 275"/>
              <a:gd name="T31" fmla="*/ 197 h 200"/>
              <a:gd name="T32" fmla="*/ 261 w 275"/>
              <a:gd name="T33" fmla="*/ 183 h 200"/>
              <a:gd name="T34" fmla="*/ 246 w 275"/>
              <a:gd name="T35" fmla="*/ 165 h 200"/>
              <a:gd name="T36" fmla="*/ 231 w 275"/>
              <a:gd name="T37" fmla="*/ 148 h 200"/>
              <a:gd name="T38" fmla="*/ 216 w 275"/>
              <a:gd name="T39" fmla="*/ 128 h 200"/>
              <a:gd name="T40" fmla="*/ 203 w 275"/>
              <a:gd name="T41" fmla="*/ 107 h 200"/>
              <a:gd name="T42" fmla="*/ 192 w 275"/>
              <a:gd name="T43" fmla="*/ 88 h 200"/>
              <a:gd name="T44" fmla="*/ 185 w 275"/>
              <a:gd name="T45" fmla="*/ 69 h 200"/>
              <a:gd name="T46" fmla="*/ 178 w 275"/>
              <a:gd name="T47" fmla="*/ 41 h 200"/>
              <a:gd name="T48" fmla="*/ 178 w 275"/>
              <a:gd name="T49" fmla="*/ 18 h 200"/>
              <a:gd name="T50" fmla="*/ 178 w 275"/>
              <a:gd name="T51" fmla="*/ 2 h 200"/>
              <a:gd name="T52" fmla="*/ 0 w 275"/>
              <a:gd name="T5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75" h="200">
                <a:moveTo>
                  <a:pt x="0" y="0"/>
                </a:moveTo>
                <a:lnTo>
                  <a:pt x="11" y="19"/>
                </a:lnTo>
                <a:lnTo>
                  <a:pt x="24" y="41"/>
                </a:lnTo>
                <a:lnTo>
                  <a:pt x="41" y="62"/>
                </a:lnTo>
                <a:lnTo>
                  <a:pt x="57" y="81"/>
                </a:lnTo>
                <a:lnTo>
                  <a:pt x="78" y="102"/>
                </a:lnTo>
                <a:lnTo>
                  <a:pt x="99" y="124"/>
                </a:lnTo>
                <a:lnTo>
                  <a:pt x="116" y="140"/>
                </a:lnTo>
                <a:lnTo>
                  <a:pt x="135" y="156"/>
                </a:lnTo>
                <a:lnTo>
                  <a:pt x="154" y="167"/>
                </a:lnTo>
                <a:lnTo>
                  <a:pt x="176" y="178"/>
                </a:lnTo>
                <a:lnTo>
                  <a:pt x="197" y="187"/>
                </a:lnTo>
                <a:lnTo>
                  <a:pt x="219" y="194"/>
                </a:lnTo>
                <a:lnTo>
                  <a:pt x="242" y="198"/>
                </a:lnTo>
                <a:lnTo>
                  <a:pt x="263" y="199"/>
                </a:lnTo>
                <a:lnTo>
                  <a:pt x="274" y="197"/>
                </a:lnTo>
                <a:lnTo>
                  <a:pt x="261" y="183"/>
                </a:lnTo>
                <a:lnTo>
                  <a:pt x="246" y="165"/>
                </a:lnTo>
                <a:lnTo>
                  <a:pt x="231" y="148"/>
                </a:lnTo>
                <a:lnTo>
                  <a:pt x="216" y="128"/>
                </a:lnTo>
                <a:lnTo>
                  <a:pt x="203" y="107"/>
                </a:lnTo>
                <a:lnTo>
                  <a:pt x="192" y="88"/>
                </a:lnTo>
                <a:lnTo>
                  <a:pt x="185" y="69"/>
                </a:lnTo>
                <a:lnTo>
                  <a:pt x="178" y="41"/>
                </a:lnTo>
                <a:lnTo>
                  <a:pt x="178" y="18"/>
                </a:lnTo>
                <a:lnTo>
                  <a:pt x="178"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16" name="Freeform 148" descr="50%"/>
          <p:cNvSpPr>
            <a:spLocks/>
          </p:cNvSpPr>
          <p:nvPr/>
        </p:nvSpPr>
        <p:spPr bwMode="auto">
          <a:xfrm>
            <a:off x="1776413" y="3111501"/>
            <a:ext cx="3713162" cy="1031875"/>
          </a:xfrm>
          <a:custGeom>
            <a:avLst/>
            <a:gdLst>
              <a:gd name="T0" fmla="*/ 26 w 2339"/>
              <a:gd name="T1" fmla="*/ 386 h 650"/>
              <a:gd name="T2" fmla="*/ 97 w 2339"/>
              <a:gd name="T3" fmla="*/ 360 h 650"/>
              <a:gd name="T4" fmla="*/ 205 w 2339"/>
              <a:gd name="T5" fmla="*/ 329 h 650"/>
              <a:gd name="T6" fmla="*/ 319 w 2339"/>
              <a:gd name="T7" fmla="*/ 306 h 650"/>
              <a:gd name="T8" fmla="*/ 432 w 2339"/>
              <a:gd name="T9" fmla="*/ 286 h 650"/>
              <a:gd name="T10" fmla="*/ 548 w 2339"/>
              <a:gd name="T11" fmla="*/ 265 h 650"/>
              <a:gd name="T12" fmla="*/ 643 w 2339"/>
              <a:gd name="T13" fmla="*/ 247 h 650"/>
              <a:gd name="T14" fmla="*/ 699 w 2339"/>
              <a:gd name="T15" fmla="*/ 218 h 650"/>
              <a:gd name="T16" fmla="*/ 753 w 2339"/>
              <a:gd name="T17" fmla="*/ 166 h 650"/>
              <a:gd name="T18" fmla="*/ 833 w 2339"/>
              <a:gd name="T19" fmla="*/ 91 h 650"/>
              <a:gd name="T20" fmla="*/ 915 w 2339"/>
              <a:gd name="T21" fmla="*/ 24 h 650"/>
              <a:gd name="T22" fmla="*/ 973 w 2339"/>
              <a:gd name="T23" fmla="*/ 79 h 650"/>
              <a:gd name="T24" fmla="*/ 1007 w 2339"/>
              <a:gd name="T25" fmla="*/ 193 h 650"/>
              <a:gd name="T26" fmla="*/ 1027 w 2339"/>
              <a:gd name="T27" fmla="*/ 238 h 650"/>
              <a:gd name="T28" fmla="*/ 1162 w 2339"/>
              <a:gd name="T29" fmla="*/ 260 h 650"/>
              <a:gd name="T30" fmla="*/ 1298 w 2339"/>
              <a:gd name="T31" fmla="*/ 284 h 650"/>
              <a:gd name="T32" fmla="*/ 1401 w 2339"/>
              <a:gd name="T33" fmla="*/ 284 h 650"/>
              <a:gd name="T34" fmla="*/ 1510 w 2339"/>
              <a:gd name="T35" fmla="*/ 263 h 650"/>
              <a:gd name="T36" fmla="*/ 1593 w 2339"/>
              <a:gd name="T37" fmla="*/ 317 h 650"/>
              <a:gd name="T38" fmla="*/ 1675 w 2339"/>
              <a:gd name="T39" fmla="*/ 340 h 650"/>
              <a:gd name="T40" fmla="*/ 1779 w 2339"/>
              <a:gd name="T41" fmla="*/ 339 h 650"/>
              <a:gd name="T42" fmla="*/ 1888 w 2339"/>
              <a:gd name="T43" fmla="*/ 300 h 650"/>
              <a:gd name="T44" fmla="*/ 2009 w 2339"/>
              <a:gd name="T45" fmla="*/ 204 h 650"/>
              <a:gd name="T46" fmla="*/ 2151 w 2339"/>
              <a:gd name="T47" fmla="*/ 94 h 650"/>
              <a:gd name="T48" fmla="*/ 2293 w 2339"/>
              <a:gd name="T49" fmla="*/ 49 h 650"/>
              <a:gd name="T50" fmla="*/ 2299 w 2339"/>
              <a:gd name="T51" fmla="*/ 87 h 650"/>
              <a:gd name="T52" fmla="*/ 2231 w 2339"/>
              <a:gd name="T53" fmla="*/ 166 h 650"/>
              <a:gd name="T54" fmla="*/ 2151 w 2339"/>
              <a:gd name="T55" fmla="*/ 244 h 650"/>
              <a:gd name="T56" fmla="*/ 2100 w 2339"/>
              <a:gd name="T57" fmla="*/ 322 h 650"/>
              <a:gd name="T58" fmla="*/ 2100 w 2339"/>
              <a:gd name="T59" fmla="*/ 403 h 650"/>
              <a:gd name="T60" fmla="*/ 2157 w 2339"/>
              <a:gd name="T61" fmla="*/ 486 h 650"/>
              <a:gd name="T62" fmla="*/ 2227 w 2339"/>
              <a:gd name="T63" fmla="*/ 549 h 650"/>
              <a:gd name="T64" fmla="*/ 2291 w 2339"/>
              <a:gd name="T65" fmla="*/ 599 h 650"/>
              <a:gd name="T66" fmla="*/ 2293 w 2339"/>
              <a:gd name="T67" fmla="*/ 624 h 650"/>
              <a:gd name="T68" fmla="*/ 2205 w 2339"/>
              <a:gd name="T69" fmla="*/ 622 h 650"/>
              <a:gd name="T70" fmla="*/ 2126 w 2339"/>
              <a:gd name="T71" fmla="*/ 603 h 650"/>
              <a:gd name="T72" fmla="*/ 2052 w 2339"/>
              <a:gd name="T73" fmla="*/ 567 h 650"/>
              <a:gd name="T74" fmla="*/ 1929 w 2339"/>
              <a:gd name="T75" fmla="*/ 494 h 650"/>
              <a:gd name="T76" fmla="*/ 1779 w 2339"/>
              <a:gd name="T77" fmla="*/ 483 h 650"/>
              <a:gd name="T78" fmla="*/ 1596 w 2339"/>
              <a:gd name="T79" fmla="*/ 503 h 650"/>
              <a:gd name="T80" fmla="*/ 1481 w 2339"/>
              <a:gd name="T81" fmla="*/ 546 h 650"/>
              <a:gd name="T82" fmla="*/ 1443 w 2339"/>
              <a:gd name="T83" fmla="*/ 596 h 650"/>
              <a:gd name="T84" fmla="*/ 1279 w 2339"/>
              <a:gd name="T85" fmla="*/ 592 h 650"/>
              <a:gd name="T86" fmla="*/ 1143 w 2339"/>
              <a:gd name="T87" fmla="*/ 633 h 650"/>
              <a:gd name="T88" fmla="*/ 633 w 2339"/>
              <a:gd name="T89" fmla="*/ 649 h 650"/>
              <a:gd name="T90" fmla="*/ 341 w 2339"/>
              <a:gd name="T91" fmla="*/ 621 h 650"/>
              <a:gd name="T92" fmla="*/ 84 w 2339"/>
              <a:gd name="T93" fmla="*/ 540 h 650"/>
              <a:gd name="T94" fmla="*/ 84 w 2339"/>
              <a:gd name="T95" fmla="*/ 498 h 650"/>
              <a:gd name="T96" fmla="*/ 27 w 2339"/>
              <a:gd name="T97" fmla="*/ 448 h 650"/>
              <a:gd name="T98" fmla="*/ 5 w 2339"/>
              <a:gd name="T99" fmla="*/ 414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39" h="650">
                <a:moveTo>
                  <a:pt x="0" y="402"/>
                </a:moveTo>
                <a:lnTo>
                  <a:pt x="8" y="396"/>
                </a:lnTo>
                <a:lnTo>
                  <a:pt x="26" y="386"/>
                </a:lnTo>
                <a:lnTo>
                  <a:pt x="53" y="375"/>
                </a:lnTo>
                <a:lnTo>
                  <a:pt x="73" y="369"/>
                </a:lnTo>
                <a:lnTo>
                  <a:pt x="97" y="360"/>
                </a:lnTo>
                <a:lnTo>
                  <a:pt x="134" y="348"/>
                </a:lnTo>
                <a:lnTo>
                  <a:pt x="170" y="338"/>
                </a:lnTo>
                <a:lnTo>
                  <a:pt x="205" y="329"/>
                </a:lnTo>
                <a:lnTo>
                  <a:pt x="240" y="320"/>
                </a:lnTo>
                <a:lnTo>
                  <a:pt x="278" y="313"/>
                </a:lnTo>
                <a:lnTo>
                  <a:pt x="319" y="306"/>
                </a:lnTo>
                <a:lnTo>
                  <a:pt x="360" y="298"/>
                </a:lnTo>
                <a:lnTo>
                  <a:pt x="396" y="292"/>
                </a:lnTo>
                <a:lnTo>
                  <a:pt x="432" y="286"/>
                </a:lnTo>
                <a:lnTo>
                  <a:pt x="464" y="280"/>
                </a:lnTo>
                <a:lnTo>
                  <a:pt x="510" y="271"/>
                </a:lnTo>
                <a:lnTo>
                  <a:pt x="548" y="265"/>
                </a:lnTo>
                <a:lnTo>
                  <a:pt x="584" y="259"/>
                </a:lnTo>
                <a:lnTo>
                  <a:pt x="615" y="254"/>
                </a:lnTo>
                <a:lnTo>
                  <a:pt x="643" y="247"/>
                </a:lnTo>
                <a:lnTo>
                  <a:pt x="667" y="237"/>
                </a:lnTo>
                <a:lnTo>
                  <a:pt x="683" y="229"/>
                </a:lnTo>
                <a:lnTo>
                  <a:pt x="699" y="218"/>
                </a:lnTo>
                <a:lnTo>
                  <a:pt x="715" y="204"/>
                </a:lnTo>
                <a:lnTo>
                  <a:pt x="732" y="186"/>
                </a:lnTo>
                <a:lnTo>
                  <a:pt x="753" y="166"/>
                </a:lnTo>
                <a:lnTo>
                  <a:pt x="779" y="140"/>
                </a:lnTo>
                <a:lnTo>
                  <a:pt x="804" y="116"/>
                </a:lnTo>
                <a:lnTo>
                  <a:pt x="833" y="91"/>
                </a:lnTo>
                <a:lnTo>
                  <a:pt x="858" y="67"/>
                </a:lnTo>
                <a:lnTo>
                  <a:pt x="886" y="46"/>
                </a:lnTo>
                <a:lnTo>
                  <a:pt x="915" y="24"/>
                </a:lnTo>
                <a:lnTo>
                  <a:pt x="950" y="0"/>
                </a:lnTo>
                <a:lnTo>
                  <a:pt x="961" y="42"/>
                </a:lnTo>
                <a:lnTo>
                  <a:pt x="973" y="79"/>
                </a:lnTo>
                <a:lnTo>
                  <a:pt x="987" y="118"/>
                </a:lnTo>
                <a:lnTo>
                  <a:pt x="999" y="159"/>
                </a:lnTo>
                <a:lnTo>
                  <a:pt x="1007" y="193"/>
                </a:lnTo>
                <a:lnTo>
                  <a:pt x="1004" y="214"/>
                </a:lnTo>
                <a:lnTo>
                  <a:pt x="991" y="233"/>
                </a:lnTo>
                <a:lnTo>
                  <a:pt x="1027" y="238"/>
                </a:lnTo>
                <a:lnTo>
                  <a:pt x="1064" y="244"/>
                </a:lnTo>
                <a:lnTo>
                  <a:pt x="1111" y="252"/>
                </a:lnTo>
                <a:lnTo>
                  <a:pt x="1162" y="260"/>
                </a:lnTo>
                <a:lnTo>
                  <a:pt x="1215" y="270"/>
                </a:lnTo>
                <a:lnTo>
                  <a:pt x="1255" y="278"/>
                </a:lnTo>
                <a:lnTo>
                  <a:pt x="1298" y="284"/>
                </a:lnTo>
                <a:lnTo>
                  <a:pt x="1339" y="288"/>
                </a:lnTo>
                <a:lnTo>
                  <a:pt x="1374" y="291"/>
                </a:lnTo>
                <a:lnTo>
                  <a:pt x="1401" y="284"/>
                </a:lnTo>
                <a:lnTo>
                  <a:pt x="1426" y="271"/>
                </a:lnTo>
                <a:lnTo>
                  <a:pt x="1452" y="254"/>
                </a:lnTo>
                <a:lnTo>
                  <a:pt x="1510" y="263"/>
                </a:lnTo>
                <a:lnTo>
                  <a:pt x="1572" y="278"/>
                </a:lnTo>
                <a:lnTo>
                  <a:pt x="1625" y="287"/>
                </a:lnTo>
                <a:lnTo>
                  <a:pt x="1593" y="317"/>
                </a:lnTo>
                <a:lnTo>
                  <a:pt x="1613" y="324"/>
                </a:lnTo>
                <a:lnTo>
                  <a:pt x="1643" y="333"/>
                </a:lnTo>
                <a:lnTo>
                  <a:pt x="1675" y="340"/>
                </a:lnTo>
                <a:lnTo>
                  <a:pt x="1711" y="345"/>
                </a:lnTo>
                <a:lnTo>
                  <a:pt x="1744" y="342"/>
                </a:lnTo>
                <a:lnTo>
                  <a:pt x="1779" y="339"/>
                </a:lnTo>
                <a:lnTo>
                  <a:pt x="1816" y="332"/>
                </a:lnTo>
                <a:lnTo>
                  <a:pt x="1854" y="320"/>
                </a:lnTo>
                <a:lnTo>
                  <a:pt x="1888" y="300"/>
                </a:lnTo>
                <a:lnTo>
                  <a:pt x="1934" y="270"/>
                </a:lnTo>
                <a:lnTo>
                  <a:pt x="1966" y="243"/>
                </a:lnTo>
                <a:lnTo>
                  <a:pt x="2009" y="204"/>
                </a:lnTo>
                <a:lnTo>
                  <a:pt x="2054" y="159"/>
                </a:lnTo>
                <a:lnTo>
                  <a:pt x="2107" y="122"/>
                </a:lnTo>
                <a:lnTo>
                  <a:pt x="2151" y="94"/>
                </a:lnTo>
                <a:lnTo>
                  <a:pt x="2197" y="71"/>
                </a:lnTo>
                <a:lnTo>
                  <a:pt x="2240" y="56"/>
                </a:lnTo>
                <a:lnTo>
                  <a:pt x="2293" y="49"/>
                </a:lnTo>
                <a:lnTo>
                  <a:pt x="2338" y="52"/>
                </a:lnTo>
                <a:lnTo>
                  <a:pt x="2315" y="71"/>
                </a:lnTo>
                <a:lnTo>
                  <a:pt x="2299" y="87"/>
                </a:lnTo>
                <a:lnTo>
                  <a:pt x="2291" y="100"/>
                </a:lnTo>
                <a:lnTo>
                  <a:pt x="2257" y="145"/>
                </a:lnTo>
                <a:lnTo>
                  <a:pt x="2231" y="166"/>
                </a:lnTo>
                <a:lnTo>
                  <a:pt x="2200" y="189"/>
                </a:lnTo>
                <a:lnTo>
                  <a:pt x="2173" y="217"/>
                </a:lnTo>
                <a:lnTo>
                  <a:pt x="2151" y="244"/>
                </a:lnTo>
                <a:lnTo>
                  <a:pt x="2132" y="271"/>
                </a:lnTo>
                <a:lnTo>
                  <a:pt x="2114" y="299"/>
                </a:lnTo>
                <a:lnTo>
                  <a:pt x="2100" y="322"/>
                </a:lnTo>
                <a:lnTo>
                  <a:pt x="2092" y="347"/>
                </a:lnTo>
                <a:lnTo>
                  <a:pt x="2089" y="375"/>
                </a:lnTo>
                <a:lnTo>
                  <a:pt x="2100" y="403"/>
                </a:lnTo>
                <a:lnTo>
                  <a:pt x="2114" y="434"/>
                </a:lnTo>
                <a:lnTo>
                  <a:pt x="2134" y="460"/>
                </a:lnTo>
                <a:lnTo>
                  <a:pt x="2157" y="486"/>
                </a:lnTo>
                <a:lnTo>
                  <a:pt x="2178" y="507"/>
                </a:lnTo>
                <a:lnTo>
                  <a:pt x="2202" y="526"/>
                </a:lnTo>
                <a:lnTo>
                  <a:pt x="2227" y="549"/>
                </a:lnTo>
                <a:lnTo>
                  <a:pt x="2256" y="571"/>
                </a:lnTo>
                <a:lnTo>
                  <a:pt x="2273" y="586"/>
                </a:lnTo>
                <a:lnTo>
                  <a:pt x="2291" y="599"/>
                </a:lnTo>
                <a:lnTo>
                  <a:pt x="2308" y="610"/>
                </a:lnTo>
                <a:lnTo>
                  <a:pt x="2320" y="623"/>
                </a:lnTo>
                <a:lnTo>
                  <a:pt x="2293" y="624"/>
                </a:lnTo>
                <a:lnTo>
                  <a:pt x="2261" y="624"/>
                </a:lnTo>
                <a:lnTo>
                  <a:pt x="2231" y="625"/>
                </a:lnTo>
                <a:lnTo>
                  <a:pt x="2205" y="622"/>
                </a:lnTo>
                <a:lnTo>
                  <a:pt x="2173" y="618"/>
                </a:lnTo>
                <a:lnTo>
                  <a:pt x="2149" y="611"/>
                </a:lnTo>
                <a:lnTo>
                  <a:pt x="2126" y="603"/>
                </a:lnTo>
                <a:lnTo>
                  <a:pt x="2103" y="593"/>
                </a:lnTo>
                <a:lnTo>
                  <a:pt x="2076" y="581"/>
                </a:lnTo>
                <a:lnTo>
                  <a:pt x="2052" y="567"/>
                </a:lnTo>
                <a:lnTo>
                  <a:pt x="2006" y="537"/>
                </a:lnTo>
                <a:lnTo>
                  <a:pt x="1974" y="518"/>
                </a:lnTo>
                <a:lnTo>
                  <a:pt x="1929" y="494"/>
                </a:lnTo>
                <a:lnTo>
                  <a:pt x="1886" y="488"/>
                </a:lnTo>
                <a:lnTo>
                  <a:pt x="1840" y="490"/>
                </a:lnTo>
                <a:lnTo>
                  <a:pt x="1779" y="483"/>
                </a:lnTo>
                <a:lnTo>
                  <a:pt x="1722" y="490"/>
                </a:lnTo>
                <a:lnTo>
                  <a:pt x="1660" y="492"/>
                </a:lnTo>
                <a:lnTo>
                  <a:pt x="1596" y="503"/>
                </a:lnTo>
                <a:lnTo>
                  <a:pt x="1529" y="518"/>
                </a:lnTo>
                <a:lnTo>
                  <a:pt x="1489" y="533"/>
                </a:lnTo>
                <a:lnTo>
                  <a:pt x="1481" y="546"/>
                </a:lnTo>
                <a:lnTo>
                  <a:pt x="1489" y="559"/>
                </a:lnTo>
                <a:lnTo>
                  <a:pt x="1521" y="578"/>
                </a:lnTo>
                <a:lnTo>
                  <a:pt x="1443" y="596"/>
                </a:lnTo>
                <a:lnTo>
                  <a:pt x="1333" y="623"/>
                </a:lnTo>
                <a:lnTo>
                  <a:pt x="1309" y="604"/>
                </a:lnTo>
                <a:lnTo>
                  <a:pt x="1279" y="592"/>
                </a:lnTo>
                <a:lnTo>
                  <a:pt x="1250" y="584"/>
                </a:lnTo>
                <a:lnTo>
                  <a:pt x="1204" y="583"/>
                </a:lnTo>
                <a:lnTo>
                  <a:pt x="1143" y="633"/>
                </a:lnTo>
                <a:lnTo>
                  <a:pt x="1092" y="596"/>
                </a:lnTo>
                <a:lnTo>
                  <a:pt x="709" y="646"/>
                </a:lnTo>
                <a:lnTo>
                  <a:pt x="633" y="649"/>
                </a:lnTo>
                <a:lnTo>
                  <a:pt x="562" y="644"/>
                </a:lnTo>
                <a:lnTo>
                  <a:pt x="489" y="638"/>
                </a:lnTo>
                <a:lnTo>
                  <a:pt x="341" y="621"/>
                </a:lnTo>
                <a:lnTo>
                  <a:pt x="208" y="589"/>
                </a:lnTo>
                <a:lnTo>
                  <a:pt x="135" y="564"/>
                </a:lnTo>
                <a:lnTo>
                  <a:pt x="84" y="540"/>
                </a:lnTo>
                <a:lnTo>
                  <a:pt x="138" y="530"/>
                </a:lnTo>
                <a:lnTo>
                  <a:pt x="105" y="512"/>
                </a:lnTo>
                <a:lnTo>
                  <a:pt x="84" y="498"/>
                </a:lnTo>
                <a:lnTo>
                  <a:pt x="47" y="468"/>
                </a:lnTo>
                <a:lnTo>
                  <a:pt x="38" y="460"/>
                </a:lnTo>
                <a:lnTo>
                  <a:pt x="27" y="448"/>
                </a:lnTo>
                <a:lnTo>
                  <a:pt x="19" y="439"/>
                </a:lnTo>
                <a:lnTo>
                  <a:pt x="13" y="424"/>
                </a:lnTo>
                <a:lnTo>
                  <a:pt x="5" y="414"/>
                </a:lnTo>
                <a:lnTo>
                  <a:pt x="0" y="40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19" name="Group 151"/>
          <p:cNvGrpSpPr>
            <a:grpSpLocks/>
          </p:cNvGrpSpPr>
          <p:nvPr/>
        </p:nvGrpSpPr>
        <p:grpSpPr bwMode="auto">
          <a:xfrm>
            <a:off x="2095500" y="3778251"/>
            <a:ext cx="90488" cy="80963"/>
            <a:chOff x="360" y="2380"/>
            <a:chExt cx="57" cy="51"/>
          </a:xfrm>
        </p:grpSpPr>
        <p:sp>
          <p:nvSpPr>
            <p:cNvPr id="7317" name="Oval 149" descr="50%"/>
            <p:cNvSpPr>
              <a:spLocks noChangeArrowheads="1"/>
            </p:cNvSpPr>
            <p:nvPr/>
          </p:nvSpPr>
          <p:spPr bwMode="auto">
            <a:xfrm>
              <a:off x="360" y="2380"/>
              <a:ext cx="57" cy="51"/>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18" name="Arc 150" descr="50%"/>
            <p:cNvSpPr>
              <a:spLocks/>
            </p:cNvSpPr>
            <p:nvPr/>
          </p:nvSpPr>
          <p:spPr bwMode="auto">
            <a:xfrm>
              <a:off x="371" y="2386"/>
              <a:ext cx="42" cy="38"/>
            </a:xfrm>
            <a:custGeom>
              <a:avLst/>
              <a:gdLst>
                <a:gd name="G0" fmla="+- 21600 0 0"/>
                <a:gd name="G1" fmla="+- 21219 0 0"/>
                <a:gd name="G2" fmla="+- 21600 0 0"/>
                <a:gd name="T0" fmla="*/ 36092 w 43200"/>
                <a:gd name="T1" fmla="*/ 5202 h 42819"/>
                <a:gd name="T2" fmla="*/ 17558 w 43200"/>
                <a:gd name="T3" fmla="*/ 0 h 42819"/>
                <a:gd name="T4" fmla="*/ 21600 w 43200"/>
                <a:gd name="T5" fmla="*/ 21219 h 42819"/>
              </a:gdLst>
              <a:ahLst/>
              <a:cxnLst>
                <a:cxn ang="0">
                  <a:pos x="T0" y="T1"/>
                </a:cxn>
                <a:cxn ang="0">
                  <a:pos x="T2" y="T3"/>
                </a:cxn>
                <a:cxn ang="0">
                  <a:pos x="T4" y="T5"/>
                </a:cxn>
              </a:cxnLst>
              <a:rect l="0" t="0" r="r" b="b"/>
              <a:pathLst>
                <a:path w="43200" h="42819" fill="none"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path>
                <a:path w="43200" h="42819" stroke="0"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lnTo>
                    <a:pt x="21600" y="2121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25" name="Group 157"/>
          <p:cNvGrpSpPr>
            <a:grpSpLocks/>
          </p:cNvGrpSpPr>
          <p:nvPr/>
        </p:nvGrpSpPr>
        <p:grpSpPr bwMode="auto">
          <a:xfrm>
            <a:off x="2322514" y="3857626"/>
            <a:ext cx="242887" cy="180975"/>
            <a:chOff x="503" y="2430"/>
            <a:chExt cx="153" cy="114"/>
          </a:xfrm>
        </p:grpSpPr>
        <p:sp>
          <p:nvSpPr>
            <p:cNvPr id="7320" name="Arc 152" descr="50%"/>
            <p:cNvSpPr>
              <a:spLocks/>
            </p:cNvSpPr>
            <p:nvPr/>
          </p:nvSpPr>
          <p:spPr bwMode="auto">
            <a:xfrm>
              <a:off x="535" y="2430"/>
              <a:ext cx="22" cy="114"/>
            </a:xfrm>
            <a:custGeom>
              <a:avLst/>
              <a:gdLst>
                <a:gd name="G0" fmla="+- 3427 0 0"/>
                <a:gd name="G1" fmla="+- 21600 0 0"/>
                <a:gd name="G2" fmla="+- 21600 0 0"/>
                <a:gd name="T0" fmla="*/ 2292 w 25027"/>
                <a:gd name="T1" fmla="*/ 30 h 43200"/>
                <a:gd name="T2" fmla="*/ 0 w 25027"/>
                <a:gd name="T3" fmla="*/ 42926 h 43200"/>
                <a:gd name="T4" fmla="*/ 3427 w 25027"/>
                <a:gd name="T5" fmla="*/ 21600 h 43200"/>
              </a:gdLst>
              <a:ahLst/>
              <a:cxnLst>
                <a:cxn ang="0">
                  <a:pos x="T0" y="T1"/>
                </a:cxn>
                <a:cxn ang="0">
                  <a:pos x="T2" y="T3"/>
                </a:cxn>
                <a:cxn ang="0">
                  <a:pos x="T4" y="T5"/>
                </a:cxn>
              </a:cxnLst>
              <a:rect l="0" t="0" r="r" b="b"/>
              <a:pathLst>
                <a:path w="25027" h="43200" fill="none"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path>
                <a:path w="25027" h="43200" stroke="0"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lnTo>
                    <a:pt x="342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1" name="Arc 153" descr="50%"/>
            <p:cNvSpPr>
              <a:spLocks/>
            </p:cNvSpPr>
            <p:nvPr/>
          </p:nvSpPr>
          <p:spPr bwMode="auto">
            <a:xfrm>
              <a:off x="503" y="2430"/>
              <a:ext cx="26" cy="114"/>
            </a:xfrm>
            <a:custGeom>
              <a:avLst/>
              <a:gdLst>
                <a:gd name="G0" fmla="+- 6270 0 0"/>
                <a:gd name="G1" fmla="+- 21600 0 0"/>
                <a:gd name="G2" fmla="+- 21600 0 0"/>
                <a:gd name="T0" fmla="*/ 5218 w 27870"/>
                <a:gd name="T1" fmla="*/ 26 h 43200"/>
                <a:gd name="T2" fmla="*/ 0 w 27870"/>
                <a:gd name="T3" fmla="*/ 42270 h 43200"/>
                <a:gd name="T4" fmla="*/ 6270 w 27870"/>
                <a:gd name="T5" fmla="*/ 21600 h 43200"/>
              </a:gdLst>
              <a:ahLst/>
              <a:cxnLst>
                <a:cxn ang="0">
                  <a:pos x="T0" y="T1"/>
                </a:cxn>
                <a:cxn ang="0">
                  <a:pos x="T2" y="T3"/>
                </a:cxn>
                <a:cxn ang="0">
                  <a:pos x="T4" y="T5"/>
                </a:cxn>
              </a:cxnLst>
              <a:rect l="0" t="0" r="r" b="b"/>
              <a:pathLst>
                <a:path w="27870" h="43200" fill="none"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path>
                <a:path w="27870" h="43200" stroke="0"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lnTo>
                    <a:pt x="627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2" name="Arc 154" descr="50%"/>
            <p:cNvSpPr>
              <a:spLocks/>
            </p:cNvSpPr>
            <p:nvPr/>
          </p:nvSpPr>
          <p:spPr bwMode="auto">
            <a:xfrm>
              <a:off x="567" y="2430"/>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3" name="Arc 155" descr="50%"/>
            <p:cNvSpPr>
              <a:spLocks/>
            </p:cNvSpPr>
            <p:nvPr/>
          </p:nvSpPr>
          <p:spPr bwMode="auto">
            <a:xfrm>
              <a:off x="598" y="2430"/>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4" name="Arc 156" descr="50%"/>
            <p:cNvSpPr>
              <a:spLocks/>
            </p:cNvSpPr>
            <p:nvPr/>
          </p:nvSpPr>
          <p:spPr bwMode="auto">
            <a:xfrm>
              <a:off x="633" y="2430"/>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26" name="Freeform 158" descr="50%"/>
          <p:cNvSpPr>
            <a:spLocks/>
          </p:cNvSpPr>
          <p:nvPr/>
        </p:nvSpPr>
        <p:spPr bwMode="auto">
          <a:xfrm>
            <a:off x="1785939" y="3124201"/>
            <a:ext cx="3686175" cy="688975"/>
          </a:xfrm>
          <a:custGeom>
            <a:avLst/>
            <a:gdLst>
              <a:gd name="T0" fmla="*/ 50 w 2322"/>
              <a:gd name="T1" fmla="*/ 367 h 434"/>
              <a:gd name="T2" fmla="*/ 158 w 2322"/>
              <a:gd name="T3" fmla="*/ 331 h 434"/>
              <a:gd name="T4" fmla="*/ 312 w 2322"/>
              <a:gd name="T5" fmla="*/ 297 h 434"/>
              <a:gd name="T6" fmla="*/ 467 w 2322"/>
              <a:gd name="T7" fmla="*/ 271 h 434"/>
              <a:gd name="T8" fmla="*/ 614 w 2322"/>
              <a:gd name="T9" fmla="*/ 245 h 434"/>
              <a:gd name="T10" fmla="*/ 699 w 2322"/>
              <a:gd name="T11" fmla="*/ 208 h 434"/>
              <a:gd name="T12" fmla="*/ 775 w 2322"/>
              <a:gd name="T13" fmla="*/ 135 h 434"/>
              <a:gd name="T14" fmla="*/ 886 w 2322"/>
              <a:gd name="T15" fmla="*/ 40 h 434"/>
              <a:gd name="T16" fmla="*/ 965 w 2322"/>
              <a:gd name="T17" fmla="*/ 77 h 434"/>
              <a:gd name="T18" fmla="*/ 998 w 2322"/>
              <a:gd name="T19" fmla="*/ 187 h 434"/>
              <a:gd name="T20" fmla="*/ 1057 w 2322"/>
              <a:gd name="T21" fmla="*/ 237 h 434"/>
              <a:gd name="T22" fmla="*/ 1248 w 2322"/>
              <a:gd name="T23" fmla="*/ 270 h 434"/>
              <a:gd name="T24" fmla="*/ 1393 w 2322"/>
              <a:gd name="T25" fmla="*/ 275 h 434"/>
              <a:gd name="T26" fmla="*/ 1564 w 2322"/>
              <a:gd name="T27" fmla="*/ 270 h 434"/>
              <a:gd name="T28" fmla="*/ 1634 w 2322"/>
              <a:gd name="T29" fmla="*/ 324 h 434"/>
              <a:gd name="T30" fmla="*/ 1770 w 2322"/>
              <a:gd name="T31" fmla="*/ 331 h 434"/>
              <a:gd name="T32" fmla="*/ 1925 w 2322"/>
              <a:gd name="T33" fmla="*/ 262 h 434"/>
              <a:gd name="T34" fmla="*/ 2047 w 2322"/>
              <a:gd name="T35" fmla="*/ 152 h 434"/>
              <a:gd name="T36" fmla="*/ 2144 w 2322"/>
              <a:gd name="T37" fmla="*/ 87 h 434"/>
              <a:gd name="T38" fmla="*/ 2229 w 2322"/>
              <a:gd name="T39" fmla="*/ 52 h 434"/>
              <a:gd name="T40" fmla="*/ 2304 w 2322"/>
              <a:gd name="T41" fmla="*/ 60 h 434"/>
              <a:gd name="T42" fmla="*/ 2244 w 2322"/>
              <a:gd name="T43" fmla="*/ 136 h 434"/>
              <a:gd name="T44" fmla="*/ 2165 w 2322"/>
              <a:gd name="T45" fmla="*/ 202 h 434"/>
              <a:gd name="T46" fmla="*/ 2120 w 2322"/>
              <a:gd name="T47" fmla="*/ 258 h 434"/>
              <a:gd name="T48" fmla="*/ 2087 w 2322"/>
              <a:gd name="T49" fmla="*/ 309 h 434"/>
              <a:gd name="T50" fmla="*/ 2076 w 2322"/>
              <a:gd name="T51" fmla="*/ 363 h 434"/>
              <a:gd name="T52" fmla="*/ 2011 w 2322"/>
              <a:gd name="T53" fmla="*/ 353 h 434"/>
              <a:gd name="T54" fmla="*/ 1952 w 2322"/>
              <a:gd name="T55" fmla="*/ 371 h 434"/>
              <a:gd name="T56" fmla="*/ 1883 w 2322"/>
              <a:gd name="T57" fmla="*/ 363 h 434"/>
              <a:gd name="T58" fmla="*/ 1807 w 2322"/>
              <a:gd name="T59" fmla="*/ 367 h 434"/>
              <a:gd name="T60" fmla="*/ 1728 w 2322"/>
              <a:gd name="T61" fmla="*/ 360 h 434"/>
              <a:gd name="T62" fmla="*/ 1640 w 2322"/>
              <a:gd name="T63" fmla="*/ 365 h 434"/>
              <a:gd name="T64" fmla="*/ 1548 w 2322"/>
              <a:gd name="T65" fmla="*/ 379 h 434"/>
              <a:gd name="T66" fmla="*/ 1460 w 2322"/>
              <a:gd name="T67" fmla="*/ 381 h 434"/>
              <a:gd name="T68" fmla="*/ 1373 w 2322"/>
              <a:gd name="T69" fmla="*/ 383 h 434"/>
              <a:gd name="T70" fmla="*/ 1292 w 2322"/>
              <a:gd name="T71" fmla="*/ 391 h 434"/>
              <a:gd name="T72" fmla="*/ 1207 w 2322"/>
              <a:gd name="T73" fmla="*/ 410 h 434"/>
              <a:gd name="T74" fmla="*/ 1105 w 2322"/>
              <a:gd name="T75" fmla="*/ 409 h 434"/>
              <a:gd name="T76" fmla="*/ 1016 w 2322"/>
              <a:gd name="T77" fmla="*/ 415 h 434"/>
              <a:gd name="T78" fmla="*/ 927 w 2322"/>
              <a:gd name="T79" fmla="*/ 400 h 434"/>
              <a:gd name="T80" fmla="*/ 842 w 2322"/>
              <a:gd name="T81" fmla="*/ 409 h 434"/>
              <a:gd name="T82" fmla="*/ 772 w 2322"/>
              <a:gd name="T83" fmla="*/ 399 h 434"/>
              <a:gd name="T84" fmla="*/ 686 w 2322"/>
              <a:gd name="T85" fmla="*/ 409 h 434"/>
              <a:gd name="T86" fmla="*/ 594 w 2322"/>
              <a:gd name="T87" fmla="*/ 414 h 434"/>
              <a:gd name="T88" fmla="*/ 477 w 2322"/>
              <a:gd name="T89" fmla="*/ 433 h 434"/>
              <a:gd name="T90" fmla="*/ 340 w 2322"/>
              <a:gd name="T91" fmla="*/ 433 h 434"/>
              <a:gd name="T92" fmla="*/ 228 w 2322"/>
              <a:gd name="T93" fmla="*/ 417 h 434"/>
              <a:gd name="T94" fmla="*/ 124 w 2322"/>
              <a:gd name="T95" fmla="*/ 421 h 434"/>
              <a:gd name="T96" fmla="*/ 24 w 2322"/>
              <a:gd name="T97" fmla="*/ 40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22" h="434">
                <a:moveTo>
                  <a:pt x="0" y="390"/>
                </a:moveTo>
                <a:lnTo>
                  <a:pt x="13" y="382"/>
                </a:lnTo>
                <a:lnTo>
                  <a:pt x="31" y="374"/>
                </a:lnTo>
                <a:lnTo>
                  <a:pt x="50" y="367"/>
                </a:lnTo>
                <a:lnTo>
                  <a:pt x="70" y="359"/>
                </a:lnTo>
                <a:lnTo>
                  <a:pt x="94" y="351"/>
                </a:lnTo>
                <a:lnTo>
                  <a:pt x="129" y="341"/>
                </a:lnTo>
                <a:lnTo>
                  <a:pt x="158" y="331"/>
                </a:lnTo>
                <a:lnTo>
                  <a:pt x="194" y="321"/>
                </a:lnTo>
                <a:lnTo>
                  <a:pt x="233" y="312"/>
                </a:lnTo>
                <a:lnTo>
                  <a:pt x="272" y="304"/>
                </a:lnTo>
                <a:lnTo>
                  <a:pt x="312" y="297"/>
                </a:lnTo>
                <a:lnTo>
                  <a:pt x="351" y="291"/>
                </a:lnTo>
                <a:lnTo>
                  <a:pt x="390" y="285"/>
                </a:lnTo>
                <a:lnTo>
                  <a:pt x="428" y="278"/>
                </a:lnTo>
                <a:lnTo>
                  <a:pt x="467" y="271"/>
                </a:lnTo>
                <a:lnTo>
                  <a:pt x="497" y="265"/>
                </a:lnTo>
                <a:lnTo>
                  <a:pt x="541" y="257"/>
                </a:lnTo>
                <a:lnTo>
                  <a:pt x="579" y="251"/>
                </a:lnTo>
                <a:lnTo>
                  <a:pt x="614" y="245"/>
                </a:lnTo>
                <a:lnTo>
                  <a:pt x="640" y="239"/>
                </a:lnTo>
                <a:lnTo>
                  <a:pt x="664" y="231"/>
                </a:lnTo>
                <a:lnTo>
                  <a:pt x="685" y="219"/>
                </a:lnTo>
                <a:lnTo>
                  <a:pt x="699" y="208"/>
                </a:lnTo>
                <a:lnTo>
                  <a:pt x="714" y="194"/>
                </a:lnTo>
                <a:lnTo>
                  <a:pt x="729" y="178"/>
                </a:lnTo>
                <a:lnTo>
                  <a:pt x="752" y="155"/>
                </a:lnTo>
                <a:lnTo>
                  <a:pt x="775" y="135"/>
                </a:lnTo>
                <a:lnTo>
                  <a:pt x="801" y="110"/>
                </a:lnTo>
                <a:lnTo>
                  <a:pt x="828" y="87"/>
                </a:lnTo>
                <a:lnTo>
                  <a:pt x="854" y="62"/>
                </a:lnTo>
                <a:lnTo>
                  <a:pt x="886" y="40"/>
                </a:lnTo>
                <a:lnTo>
                  <a:pt x="916" y="17"/>
                </a:lnTo>
                <a:lnTo>
                  <a:pt x="941" y="0"/>
                </a:lnTo>
                <a:lnTo>
                  <a:pt x="951" y="36"/>
                </a:lnTo>
                <a:lnTo>
                  <a:pt x="965" y="77"/>
                </a:lnTo>
                <a:lnTo>
                  <a:pt x="979" y="115"/>
                </a:lnTo>
                <a:lnTo>
                  <a:pt x="990" y="152"/>
                </a:lnTo>
                <a:lnTo>
                  <a:pt x="995" y="170"/>
                </a:lnTo>
                <a:lnTo>
                  <a:pt x="998" y="187"/>
                </a:lnTo>
                <a:lnTo>
                  <a:pt x="995" y="204"/>
                </a:lnTo>
                <a:lnTo>
                  <a:pt x="979" y="224"/>
                </a:lnTo>
                <a:lnTo>
                  <a:pt x="1019" y="232"/>
                </a:lnTo>
                <a:lnTo>
                  <a:pt x="1057" y="237"/>
                </a:lnTo>
                <a:lnTo>
                  <a:pt x="1104" y="245"/>
                </a:lnTo>
                <a:lnTo>
                  <a:pt x="1156" y="253"/>
                </a:lnTo>
                <a:lnTo>
                  <a:pt x="1208" y="263"/>
                </a:lnTo>
                <a:lnTo>
                  <a:pt x="1248" y="270"/>
                </a:lnTo>
                <a:lnTo>
                  <a:pt x="1291" y="275"/>
                </a:lnTo>
                <a:lnTo>
                  <a:pt x="1331" y="280"/>
                </a:lnTo>
                <a:lnTo>
                  <a:pt x="1364" y="283"/>
                </a:lnTo>
                <a:lnTo>
                  <a:pt x="1393" y="275"/>
                </a:lnTo>
                <a:lnTo>
                  <a:pt x="1419" y="263"/>
                </a:lnTo>
                <a:lnTo>
                  <a:pt x="1444" y="246"/>
                </a:lnTo>
                <a:lnTo>
                  <a:pt x="1501" y="255"/>
                </a:lnTo>
                <a:lnTo>
                  <a:pt x="1564" y="270"/>
                </a:lnTo>
                <a:lnTo>
                  <a:pt x="1610" y="279"/>
                </a:lnTo>
                <a:lnTo>
                  <a:pt x="1582" y="306"/>
                </a:lnTo>
                <a:lnTo>
                  <a:pt x="1603" y="315"/>
                </a:lnTo>
                <a:lnTo>
                  <a:pt x="1634" y="324"/>
                </a:lnTo>
                <a:lnTo>
                  <a:pt x="1666" y="331"/>
                </a:lnTo>
                <a:lnTo>
                  <a:pt x="1702" y="336"/>
                </a:lnTo>
                <a:lnTo>
                  <a:pt x="1734" y="333"/>
                </a:lnTo>
                <a:lnTo>
                  <a:pt x="1770" y="331"/>
                </a:lnTo>
                <a:lnTo>
                  <a:pt x="1805" y="324"/>
                </a:lnTo>
                <a:lnTo>
                  <a:pt x="1845" y="312"/>
                </a:lnTo>
                <a:lnTo>
                  <a:pt x="1881" y="291"/>
                </a:lnTo>
                <a:lnTo>
                  <a:pt x="1925" y="262"/>
                </a:lnTo>
                <a:lnTo>
                  <a:pt x="1959" y="235"/>
                </a:lnTo>
                <a:lnTo>
                  <a:pt x="2000" y="198"/>
                </a:lnTo>
                <a:lnTo>
                  <a:pt x="2017" y="181"/>
                </a:lnTo>
                <a:lnTo>
                  <a:pt x="2047" y="152"/>
                </a:lnTo>
                <a:lnTo>
                  <a:pt x="2072" y="135"/>
                </a:lnTo>
                <a:lnTo>
                  <a:pt x="2097" y="117"/>
                </a:lnTo>
                <a:lnTo>
                  <a:pt x="2122" y="101"/>
                </a:lnTo>
                <a:lnTo>
                  <a:pt x="2144" y="87"/>
                </a:lnTo>
                <a:lnTo>
                  <a:pt x="2167" y="77"/>
                </a:lnTo>
                <a:lnTo>
                  <a:pt x="2189" y="66"/>
                </a:lnTo>
                <a:lnTo>
                  <a:pt x="2208" y="58"/>
                </a:lnTo>
                <a:lnTo>
                  <a:pt x="2229" y="52"/>
                </a:lnTo>
                <a:lnTo>
                  <a:pt x="2252" y="49"/>
                </a:lnTo>
                <a:lnTo>
                  <a:pt x="2280" y="46"/>
                </a:lnTo>
                <a:lnTo>
                  <a:pt x="2321" y="47"/>
                </a:lnTo>
                <a:lnTo>
                  <a:pt x="2304" y="60"/>
                </a:lnTo>
                <a:lnTo>
                  <a:pt x="2286" y="79"/>
                </a:lnTo>
                <a:lnTo>
                  <a:pt x="2276" y="92"/>
                </a:lnTo>
                <a:lnTo>
                  <a:pt x="2260" y="115"/>
                </a:lnTo>
                <a:lnTo>
                  <a:pt x="2244" y="136"/>
                </a:lnTo>
                <a:lnTo>
                  <a:pt x="2221" y="154"/>
                </a:lnTo>
                <a:lnTo>
                  <a:pt x="2192" y="175"/>
                </a:lnTo>
                <a:lnTo>
                  <a:pt x="2178" y="187"/>
                </a:lnTo>
                <a:lnTo>
                  <a:pt x="2165" y="202"/>
                </a:lnTo>
                <a:lnTo>
                  <a:pt x="2151" y="219"/>
                </a:lnTo>
                <a:lnTo>
                  <a:pt x="2141" y="231"/>
                </a:lnTo>
                <a:lnTo>
                  <a:pt x="2130" y="244"/>
                </a:lnTo>
                <a:lnTo>
                  <a:pt x="2120" y="258"/>
                </a:lnTo>
                <a:lnTo>
                  <a:pt x="2111" y="273"/>
                </a:lnTo>
                <a:lnTo>
                  <a:pt x="2103" y="285"/>
                </a:lnTo>
                <a:lnTo>
                  <a:pt x="2095" y="297"/>
                </a:lnTo>
                <a:lnTo>
                  <a:pt x="2087" y="309"/>
                </a:lnTo>
                <a:lnTo>
                  <a:pt x="2082" y="324"/>
                </a:lnTo>
                <a:lnTo>
                  <a:pt x="2079" y="336"/>
                </a:lnTo>
                <a:lnTo>
                  <a:pt x="2078" y="350"/>
                </a:lnTo>
                <a:lnTo>
                  <a:pt x="2076" y="363"/>
                </a:lnTo>
                <a:lnTo>
                  <a:pt x="2063" y="355"/>
                </a:lnTo>
                <a:lnTo>
                  <a:pt x="2044" y="352"/>
                </a:lnTo>
                <a:lnTo>
                  <a:pt x="2027" y="351"/>
                </a:lnTo>
                <a:lnTo>
                  <a:pt x="2011" y="353"/>
                </a:lnTo>
                <a:lnTo>
                  <a:pt x="1995" y="358"/>
                </a:lnTo>
                <a:lnTo>
                  <a:pt x="1982" y="363"/>
                </a:lnTo>
                <a:lnTo>
                  <a:pt x="1967" y="367"/>
                </a:lnTo>
                <a:lnTo>
                  <a:pt x="1952" y="371"/>
                </a:lnTo>
                <a:lnTo>
                  <a:pt x="1936" y="373"/>
                </a:lnTo>
                <a:lnTo>
                  <a:pt x="1914" y="370"/>
                </a:lnTo>
                <a:lnTo>
                  <a:pt x="1896" y="367"/>
                </a:lnTo>
                <a:lnTo>
                  <a:pt x="1883" y="363"/>
                </a:lnTo>
                <a:lnTo>
                  <a:pt x="1867" y="359"/>
                </a:lnTo>
                <a:lnTo>
                  <a:pt x="1850" y="360"/>
                </a:lnTo>
                <a:lnTo>
                  <a:pt x="1827" y="364"/>
                </a:lnTo>
                <a:lnTo>
                  <a:pt x="1807" y="367"/>
                </a:lnTo>
                <a:lnTo>
                  <a:pt x="1791" y="367"/>
                </a:lnTo>
                <a:lnTo>
                  <a:pt x="1770" y="365"/>
                </a:lnTo>
                <a:lnTo>
                  <a:pt x="1749" y="360"/>
                </a:lnTo>
                <a:lnTo>
                  <a:pt x="1728" y="360"/>
                </a:lnTo>
                <a:lnTo>
                  <a:pt x="1710" y="365"/>
                </a:lnTo>
                <a:lnTo>
                  <a:pt x="1681" y="368"/>
                </a:lnTo>
                <a:lnTo>
                  <a:pt x="1663" y="368"/>
                </a:lnTo>
                <a:lnTo>
                  <a:pt x="1640" y="365"/>
                </a:lnTo>
                <a:lnTo>
                  <a:pt x="1618" y="363"/>
                </a:lnTo>
                <a:lnTo>
                  <a:pt x="1594" y="367"/>
                </a:lnTo>
                <a:lnTo>
                  <a:pt x="1575" y="374"/>
                </a:lnTo>
                <a:lnTo>
                  <a:pt x="1548" y="379"/>
                </a:lnTo>
                <a:lnTo>
                  <a:pt x="1528" y="381"/>
                </a:lnTo>
                <a:lnTo>
                  <a:pt x="1503" y="383"/>
                </a:lnTo>
                <a:lnTo>
                  <a:pt x="1484" y="385"/>
                </a:lnTo>
                <a:lnTo>
                  <a:pt x="1460" y="381"/>
                </a:lnTo>
                <a:lnTo>
                  <a:pt x="1436" y="375"/>
                </a:lnTo>
                <a:lnTo>
                  <a:pt x="1411" y="381"/>
                </a:lnTo>
                <a:lnTo>
                  <a:pt x="1394" y="382"/>
                </a:lnTo>
                <a:lnTo>
                  <a:pt x="1373" y="383"/>
                </a:lnTo>
                <a:lnTo>
                  <a:pt x="1353" y="381"/>
                </a:lnTo>
                <a:lnTo>
                  <a:pt x="1333" y="381"/>
                </a:lnTo>
                <a:lnTo>
                  <a:pt x="1312" y="383"/>
                </a:lnTo>
                <a:lnTo>
                  <a:pt x="1292" y="391"/>
                </a:lnTo>
                <a:lnTo>
                  <a:pt x="1275" y="396"/>
                </a:lnTo>
                <a:lnTo>
                  <a:pt x="1252" y="403"/>
                </a:lnTo>
                <a:lnTo>
                  <a:pt x="1231" y="406"/>
                </a:lnTo>
                <a:lnTo>
                  <a:pt x="1207" y="410"/>
                </a:lnTo>
                <a:lnTo>
                  <a:pt x="1183" y="413"/>
                </a:lnTo>
                <a:lnTo>
                  <a:pt x="1152" y="409"/>
                </a:lnTo>
                <a:lnTo>
                  <a:pt x="1124" y="407"/>
                </a:lnTo>
                <a:lnTo>
                  <a:pt x="1105" y="409"/>
                </a:lnTo>
                <a:lnTo>
                  <a:pt x="1078" y="412"/>
                </a:lnTo>
                <a:lnTo>
                  <a:pt x="1058" y="412"/>
                </a:lnTo>
                <a:lnTo>
                  <a:pt x="1035" y="414"/>
                </a:lnTo>
                <a:lnTo>
                  <a:pt x="1016" y="415"/>
                </a:lnTo>
                <a:lnTo>
                  <a:pt x="987" y="413"/>
                </a:lnTo>
                <a:lnTo>
                  <a:pt x="963" y="406"/>
                </a:lnTo>
                <a:lnTo>
                  <a:pt x="947" y="401"/>
                </a:lnTo>
                <a:lnTo>
                  <a:pt x="927" y="400"/>
                </a:lnTo>
                <a:lnTo>
                  <a:pt x="906" y="399"/>
                </a:lnTo>
                <a:lnTo>
                  <a:pt x="886" y="403"/>
                </a:lnTo>
                <a:lnTo>
                  <a:pt x="862" y="406"/>
                </a:lnTo>
                <a:lnTo>
                  <a:pt x="842" y="409"/>
                </a:lnTo>
                <a:lnTo>
                  <a:pt x="824" y="409"/>
                </a:lnTo>
                <a:lnTo>
                  <a:pt x="812" y="405"/>
                </a:lnTo>
                <a:lnTo>
                  <a:pt x="791" y="401"/>
                </a:lnTo>
                <a:lnTo>
                  <a:pt x="772" y="399"/>
                </a:lnTo>
                <a:lnTo>
                  <a:pt x="752" y="400"/>
                </a:lnTo>
                <a:lnTo>
                  <a:pt x="734" y="403"/>
                </a:lnTo>
                <a:lnTo>
                  <a:pt x="712" y="405"/>
                </a:lnTo>
                <a:lnTo>
                  <a:pt x="686" y="409"/>
                </a:lnTo>
                <a:lnTo>
                  <a:pt x="662" y="409"/>
                </a:lnTo>
                <a:lnTo>
                  <a:pt x="640" y="406"/>
                </a:lnTo>
                <a:lnTo>
                  <a:pt x="616" y="410"/>
                </a:lnTo>
                <a:lnTo>
                  <a:pt x="594" y="414"/>
                </a:lnTo>
                <a:lnTo>
                  <a:pt x="570" y="421"/>
                </a:lnTo>
                <a:lnTo>
                  <a:pt x="547" y="426"/>
                </a:lnTo>
                <a:lnTo>
                  <a:pt x="514" y="432"/>
                </a:lnTo>
                <a:lnTo>
                  <a:pt x="477" y="433"/>
                </a:lnTo>
                <a:lnTo>
                  <a:pt x="439" y="433"/>
                </a:lnTo>
                <a:lnTo>
                  <a:pt x="404" y="432"/>
                </a:lnTo>
                <a:lnTo>
                  <a:pt x="363" y="433"/>
                </a:lnTo>
                <a:lnTo>
                  <a:pt x="340" y="433"/>
                </a:lnTo>
                <a:lnTo>
                  <a:pt x="319" y="430"/>
                </a:lnTo>
                <a:lnTo>
                  <a:pt x="295" y="433"/>
                </a:lnTo>
                <a:lnTo>
                  <a:pt x="268" y="432"/>
                </a:lnTo>
                <a:lnTo>
                  <a:pt x="228" y="417"/>
                </a:lnTo>
                <a:lnTo>
                  <a:pt x="199" y="419"/>
                </a:lnTo>
                <a:lnTo>
                  <a:pt x="174" y="421"/>
                </a:lnTo>
                <a:lnTo>
                  <a:pt x="147" y="421"/>
                </a:lnTo>
                <a:lnTo>
                  <a:pt x="124" y="421"/>
                </a:lnTo>
                <a:lnTo>
                  <a:pt x="96" y="419"/>
                </a:lnTo>
                <a:lnTo>
                  <a:pt x="71" y="414"/>
                </a:lnTo>
                <a:lnTo>
                  <a:pt x="46" y="407"/>
                </a:lnTo>
                <a:lnTo>
                  <a:pt x="24" y="401"/>
                </a:lnTo>
                <a:lnTo>
                  <a:pt x="2" y="396"/>
                </a:lnTo>
                <a:lnTo>
                  <a:pt x="0" y="39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29" name="Group 161"/>
          <p:cNvGrpSpPr>
            <a:grpSpLocks/>
          </p:cNvGrpSpPr>
          <p:nvPr/>
        </p:nvGrpSpPr>
        <p:grpSpPr bwMode="auto">
          <a:xfrm>
            <a:off x="2525714" y="3979864"/>
            <a:ext cx="528637" cy="320675"/>
            <a:chOff x="631" y="2507"/>
            <a:chExt cx="333" cy="202"/>
          </a:xfrm>
        </p:grpSpPr>
        <p:sp>
          <p:nvSpPr>
            <p:cNvPr id="7327" name="Freeform 159" descr="50%"/>
            <p:cNvSpPr>
              <a:spLocks/>
            </p:cNvSpPr>
            <p:nvPr/>
          </p:nvSpPr>
          <p:spPr bwMode="auto">
            <a:xfrm>
              <a:off x="631" y="2511"/>
              <a:ext cx="333" cy="198"/>
            </a:xfrm>
            <a:custGeom>
              <a:avLst/>
              <a:gdLst>
                <a:gd name="T0" fmla="*/ 311 w 333"/>
                <a:gd name="T1" fmla="*/ 177 h 198"/>
                <a:gd name="T2" fmla="*/ 293 w 333"/>
                <a:gd name="T3" fmla="*/ 159 h 198"/>
                <a:gd name="T4" fmla="*/ 281 w 333"/>
                <a:gd name="T5" fmla="*/ 148 h 198"/>
                <a:gd name="T6" fmla="*/ 272 w 333"/>
                <a:gd name="T7" fmla="*/ 138 h 198"/>
                <a:gd name="T8" fmla="*/ 262 w 333"/>
                <a:gd name="T9" fmla="*/ 127 h 198"/>
                <a:gd name="T10" fmla="*/ 254 w 333"/>
                <a:gd name="T11" fmla="*/ 116 h 198"/>
                <a:gd name="T12" fmla="*/ 246 w 333"/>
                <a:gd name="T13" fmla="*/ 105 h 198"/>
                <a:gd name="T14" fmla="*/ 237 w 333"/>
                <a:gd name="T15" fmla="*/ 93 h 198"/>
                <a:gd name="T16" fmla="*/ 230 w 333"/>
                <a:gd name="T17" fmla="*/ 78 h 198"/>
                <a:gd name="T18" fmla="*/ 224 w 333"/>
                <a:gd name="T19" fmla="*/ 64 h 198"/>
                <a:gd name="T20" fmla="*/ 219 w 333"/>
                <a:gd name="T21" fmla="*/ 49 h 198"/>
                <a:gd name="T22" fmla="*/ 215 w 333"/>
                <a:gd name="T23" fmla="*/ 34 h 198"/>
                <a:gd name="T24" fmla="*/ 215 w 333"/>
                <a:gd name="T25" fmla="*/ 19 h 198"/>
                <a:gd name="T26" fmla="*/ 214 w 333"/>
                <a:gd name="T27" fmla="*/ 0 h 198"/>
                <a:gd name="T28" fmla="*/ 0 w 333"/>
                <a:gd name="T29" fmla="*/ 0 h 198"/>
                <a:gd name="T30" fmla="*/ 6 w 333"/>
                <a:gd name="T31" fmla="*/ 12 h 198"/>
                <a:gd name="T32" fmla="*/ 17 w 333"/>
                <a:gd name="T33" fmla="*/ 28 h 198"/>
                <a:gd name="T34" fmla="*/ 27 w 333"/>
                <a:gd name="T35" fmla="*/ 42 h 198"/>
                <a:gd name="T36" fmla="*/ 39 w 333"/>
                <a:gd name="T37" fmla="*/ 56 h 198"/>
                <a:gd name="T38" fmla="*/ 54 w 333"/>
                <a:gd name="T39" fmla="*/ 71 h 198"/>
                <a:gd name="T40" fmla="*/ 70 w 333"/>
                <a:gd name="T41" fmla="*/ 86 h 198"/>
                <a:gd name="T42" fmla="*/ 87 w 333"/>
                <a:gd name="T43" fmla="*/ 100 h 198"/>
                <a:gd name="T44" fmla="*/ 104 w 333"/>
                <a:gd name="T45" fmla="*/ 112 h 198"/>
                <a:gd name="T46" fmla="*/ 123 w 333"/>
                <a:gd name="T47" fmla="*/ 127 h 198"/>
                <a:gd name="T48" fmla="*/ 146 w 333"/>
                <a:gd name="T49" fmla="*/ 143 h 198"/>
                <a:gd name="T50" fmla="*/ 166 w 333"/>
                <a:gd name="T51" fmla="*/ 154 h 198"/>
                <a:gd name="T52" fmla="*/ 184 w 333"/>
                <a:gd name="T53" fmla="*/ 163 h 198"/>
                <a:gd name="T54" fmla="*/ 201 w 333"/>
                <a:gd name="T55" fmla="*/ 170 h 198"/>
                <a:gd name="T56" fmla="*/ 219 w 333"/>
                <a:gd name="T57" fmla="*/ 177 h 198"/>
                <a:gd name="T58" fmla="*/ 238 w 333"/>
                <a:gd name="T59" fmla="*/ 184 h 198"/>
                <a:gd name="T60" fmla="*/ 259 w 333"/>
                <a:gd name="T61" fmla="*/ 188 h 198"/>
                <a:gd name="T62" fmla="*/ 282 w 333"/>
                <a:gd name="T63" fmla="*/ 192 h 198"/>
                <a:gd name="T64" fmla="*/ 300 w 333"/>
                <a:gd name="T65" fmla="*/ 194 h 198"/>
                <a:gd name="T66" fmla="*/ 318 w 333"/>
                <a:gd name="T67" fmla="*/ 196 h 198"/>
                <a:gd name="T68" fmla="*/ 332 w 333"/>
                <a:gd name="T69" fmla="*/ 197 h 198"/>
                <a:gd name="T70" fmla="*/ 311 w 333"/>
                <a:gd name="T71" fmla="*/ 177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3" h="198">
                  <a:moveTo>
                    <a:pt x="311" y="177"/>
                  </a:moveTo>
                  <a:lnTo>
                    <a:pt x="293" y="159"/>
                  </a:lnTo>
                  <a:lnTo>
                    <a:pt x="281" y="148"/>
                  </a:lnTo>
                  <a:lnTo>
                    <a:pt x="272" y="138"/>
                  </a:lnTo>
                  <a:lnTo>
                    <a:pt x="262" y="127"/>
                  </a:lnTo>
                  <a:lnTo>
                    <a:pt x="254" y="116"/>
                  </a:lnTo>
                  <a:lnTo>
                    <a:pt x="246" y="105"/>
                  </a:lnTo>
                  <a:lnTo>
                    <a:pt x="237" y="93"/>
                  </a:lnTo>
                  <a:lnTo>
                    <a:pt x="230" y="78"/>
                  </a:lnTo>
                  <a:lnTo>
                    <a:pt x="224" y="64"/>
                  </a:lnTo>
                  <a:lnTo>
                    <a:pt x="219" y="49"/>
                  </a:lnTo>
                  <a:lnTo>
                    <a:pt x="215" y="34"/>
                  </a:lnTo>
                  <a:lnTo>
                    <a:pt x="215" y="19"/>
                  </a:lnTo>
                  <a:lnTo>
                    <a:pt x="214" y="0"/>
                  </a:lnTo>
                  <a:lnTo>
                    <a:pt x="0" y="0"/>
                  </a:lnTo>
                  <a:lnTo>
                    <a:pt x="6" y="12"/>
                  </a:lnTo>
                  <a:lnTo>
                    <a:pt x="17" y="28"/>
                  </a:lnTo>
                  <a:lnTo>
                    <a:pt x="27" y="42"/>
                  </a:lnTo>
                  <a:lnTo>
                    <a:pt x="39" y="56"/>
                  </a:lnTo>
                  <a:lnTo>
                    <a:pt x="54" y="71"/>
                  </a:lnTo>
                  <a:lnTo>
                    <a:pt x="70" y="86"/>
                  </a:lnTo>
                  <a:lnTo>
                    <a:pt x="87" y="100"/>
                  </a:lnTo>
                  <a:lnTo>
                    <a:pt x="104" y="112"/>
                  </a:lnTo>
                  <a:lnTo>
                    <a:pt x="123" y="127"/>
                  </a:lnTo>
                  <a:lnTo>
                    <a:pt x="146" y="143"/>
                  </a:lnTo>
                  <a:lnTo>
                    <a:pt x="166" y="154"/>
                  </a:lnTo>
                  <a:lnTo>
                    <a:pt x="184" y="163"/>
                  </a:lnTo>
                  <a:lnTo>
                    <a:pt x="201" y="170"/>
                  </a:lnTo>
                  <a:lnTo>
                    <a:pt x="219" y="177"/>
                  </a:lnTo>
                  <a:lnTo>
                    <a:pt x="238" y="184"/>
                  </a:lnTo>
                  <a:lnTo>
                    <a:pt x="259" y="188"/>
                  </a:lnTo>
                  <a:lnTo>
                    <a:pt x="282" y="192"/>
                  </a:lnTo>
                  <a:lnTo>
                    <a:pt x="300" y="194"/>
                  </a:lnTo>
                  <a:lnTo>
                    <a:pt x="318" y="196"/>
                  </a:lnTo>
                  <a:lnTo>
                    <a:pt x="332" y="197"/>
                  </a:lnTo>
                  <a:lnTo>
                    <a:pt x="311" y="17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28" name="Freeform 160" descr="50%"/>
            <p:cNvSpPr>
              <a:spLocks/>
            </p:cNvSpPr>
            <p:nvPr/>
          </p:nvSpPr>
          <p:spPr bwMode="auto">
            <a:xfrm>
              <a:off x="637" y="2507"/>
              <a:ext cx="201" cy="7"/>
            </a:xfrm>
            <a:custGeom>
              <a:avLst/>
              <a:gdLst>
                <a:gd name="T0" fmla="*/ 1 w 201"/>
                <a:gd name="T1" fmla="*/ 0 h 7"/>
                <a:gd name="T2" fmla="*/ 0 w 201"/>
                <a:gd name="T3" fmla="*/ 2 h 7"/>
                <a:gd name="T4" fmla="*/ 4 w 201"/>
                <a:gd name="T5" fmla="*/ 6 h 7"/>
                <a:gd name="T6" fmla="*/ 200 w 201"/>
                <a:gd name="T7" fmla="*/ 6 h 7"/>
                <a:gd name="T8" fmla="*/ 200 w 201"/>
                <a:gd name="T9" fmla="*/ 0 h 7"/>
                <a:gd name="T10" fmla="*/ 1 w 201"/>
                <a:gd name="T11" fmla="*/ 0 h 7"/>
              </a:gdLst>
              <a:ahLst/>
              <a:cxnLst>
                <a:cxn ang="0">
                  <a:pos x="T0" y="T1"/>
                </a:cxn>
                <a:cxn ang="0">
                  <a:pos x="T2" y="T3"/>
                </a:cxn>
                <a:cxn ang="0">
                  <a:pos x="T4" y="T5"/>
                </a:cxn>
                <a:cxn ang="0">
                  <a:pos x="T6" y="T7"/>
                </a:cxn>
                <a:cxn ang="0">
                  <a:pos x="T8" y="T9"/>
                </a:cxn>
                <a:cxn ang="0">
                  <a:pos x="T10" y="T11"/>
                </a:cxn>
              </a:cxnLst>
              <a:rect l="0" t="0" r="r" b="b"/>
              <a:pathLst>
                <a:path w="201" h="7">
                  <a:moveTo>
                    <a:pt x="1" y="0"/>
                  </a:moveTo>
                  <a:lnTo>
                    <a:pt x="0" y="2"/>
                  </a:lnTo>
                  <a:lnTo>
                    <a:pt x="4" y="6"/>
                  </a:lnTo>
                  <a:lnTo>
                    <a:pt x="200" y="6"/>
                  </a:lnTo>
                  <a:lnTo>
                    <a:pt x="200"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30" name="Rectangle 162"/>
          <p:cNvSpPr>
            <a:spLocks noChangeArrowheads="1"/>
          </p:cNvSpPr>
          <p:nvPr/>
        </p:nvSpPr>
        <p:spPr bwMode="auto">
          <a:xfrm>
            <a:off x="5776913" y="5273676"/>
            <a:ext cx="436177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800"/>
              <a:t>Now who is eating whom?</a:t>
            </a:r>
          </a:p>
        </p:txBody>
      </p:sp>
      <p:sp>
        <p:nvSpPr>
          <p:cNvPr id="7331" name="Rectangle 163"/>
          <p:cNvSpPr>
            <a:spLocks noChangeArrowheads="1"/>
          </p:cNvSpPr>
          <p:nvPr/>
        </p:nvSpPr>
        <p:spPr bwMode="auto">
          <a:xfrm>
            <a:off x="5925143" y="4625975"/>
            <a:ext cx="86241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Server</a:t>
            </a:r>
          </a:p>
        </p:txBody>
      </p:sp>
      <p:grpSp>
        <p:nvGrpSpPr>
          <p:cNvPr id="7818" name="Group 650"/>
          <p:cNvGrpSpPr>
            <a:grpSpLocks/>
          </p:cNvGrpSpPr>
          <p:nvPr/>
        </p:nvGrpSpPr>
        <p:grpSpPr bwMode="auto">
          <a:xfrm>
            <a:off x="2344739" y="450850"/>
            <a:ext cx="3367087" cy="788988"/>
            <a:chOff x="517" y="284"/>
            <a:chExt cx="2121" cy="497"/>
          </a:xfrm>
        </p:grpSpPr>
        <p:grpSp>
          <p:nvGrpSpPr>
            <p:cNvPr id="7412" name="Group 244"/>
            <p:cNvGrpSpPr>
              <a:grpSpLocks/>
            </p:cNvGrpSpPr>
            <p:nvPr/>
          </p:nvGrpSpPr>
          <p:grpSpPr bwMode="auto">
            <a:xfrm>
              <a:off x="517" y="284"/>
              <a:ext cx="321" cy="497"/>
              <a:chOff x="517" y="284"/>
              <a:chExt cx="321" cy="497"/>
            </a:xfrm>
          </p:grpSpPr>
          <p:grpSp>
            <p:nvGrpSpPr>
              <p:cNvPr id="7347" name="Group 179"/>
              <p:cNvGrpSpPr>
                <a:grpSpLocks/>
              </p:cNvGrpSpPr>
              <p:nvPr/>
            </p:nvGrpSpPr>
            <p:grpSpPr bwMode="auto">
              <a:xfrm>
                <a:off x="517" y="668"/>
                <a:ext cx="321" cy="113"/>
                <a:chOff x="517" y="668"/>
                <a:chExt cx="321" cy="113"/>
              </a:xfrm>
            </p:grpSpPr>
            <p:sp>
              <p:nvSpPr>
                <p:cNvPr id="7332" name="Freeform 164"/>
                <p:cNvSpPr>
                  <a:spLocks/>
                </p:cNvSpPr>
                <p:nvPr/>
              </p:nvSpPr>
              <p:spPr bwMode="auto">
                <a:xfrm>
                  <a:off x="598"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33" name="Freeform 165"/>
                <p:cNvSpPr>
                  <a:spLocks/>
                </p:cNvSpPr>
                <p:nvPr/>
              </p:nvSpPr>
              <p:spPr bwMode="auto">
                <a:xfrm>
                  <a:off x="517"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36" name="Group 168"/>
                <p:cNvGrpSpPr>
                  <a:grpSpLocks/>
                </p:cNvGrpSpPr>
                <p:nvPr/>
              </p:nvGrpSpPr>
              <p:grpSpPr bwMode="auto">
                <a:xfrm>
                  <a:off x="544" y="716"/>
                  <a:ext cx="2" cy="5"/>
                  <a:chOff x="544" y="716"/>
                  <a:chExt cx="2" cy="5"/>
                </a:xfrm>
              </p:grpSpPr>
              <p:sp>
                <p:nvSpPr>
                  <p:cNvPr id="7334" name="Oval 166"/>
                  <p:cNvSpPr>
                    <a:spLocks noChangeArrowheads="1"/>
                  </p:cNvSpPr>
                  <p:nvPr/>
                </p:nvSpPr>
                <p:spPr bwMode="auto">
                  <a:xfrm>
                    <a:off x="544"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35" name="Arc 167"/>
                  <p:cNvSpPr>
                    <a:spLocks/>
                  </p:cNvSpPr>
                  <p:nvPr/>
                </p:nvSpPr>
                <p:spPr bwMode="auto">
                  <a:xfrm rot="10800000">
                    <a:off x="545"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42" name="Group 174"/>
                <p:cNvGrpSpPr>
                  <a:grpSpLocks/>
                </p:cNvGrpSpPr>
                <p:nvPr/>
              </p:nvGrpSpPr>
              <p:grpSpPr bwMode="auto">
                <a:xfrm>
                  <a:off x="561" y="703"/>
                  <a:ext cx="19" cy="5"/>
                  <a:chOff x="561" y="703"/>
                  <a:chExt cx="19" cy="5"/>
                </a:xfrm>
              </p:grpSpPr>
              <p:sp>
                <p:nvSpPr>
                  <p:cNvPr id="7337" name="Arc 169"/>
                  <p:cNvSpPr>
                    <a:spLocks/>
                  </p:cNvSpPr>
                  <p:nvPr/>
                </p:nvSpPr>
                <p:spPr bwMode="auto">
                  <a:xfrm rot="10800000">
                    <a:off x="565"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38" name="Arc 170"/>
                  <p:cNvSpPr>
                    <a:spLocks/>
                  </p:cNvSpPr>
                  <p:nvPr/>
                </p:nvSpPr>
                <p:spPr bwMode="auto">
                  <a:xfrm rot="10800000">
                    <a:off x="56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39" name="Arc 171"/>
                  <p:cNvSpPr>
                    <a:spLocks/>
                  </p:cNvSpPr>
                  <p:nvPr/>
                </p:nvSpPr>
                <p:spPr bwMode="auto">
                  <a:xfrm rot="10800000">
                    <a:off x="56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40" name="Arc 172"/>
                  <p:cNvSpPr>
                    <a:spLocks/>
                  </p:cNvSpPr>
                  <p:nvPr/>
                </p:nvSpPr>
                <p:spPr bwMode="auto">
                  <a:xfrm rot="10800000">
                    <a:off x="570"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41" name="Arc 173"/>
                  <p:cNvSpPr>
                    <a:spLocks/>
                  </p:cNvSpPr>
                  <p:nvPr/>
                </p:nvSpPr>
                <p:spPr bwMode="auto">
                  <a:xfrm rot="10800000">
                    <a:off x="575"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43" name="Freeform 175"/>
                <p:cNvSpPr>
                  <a:spLocks/>
                </p:cNvSpPr>
                <p:nvPr/>
              </p:nvSpPr>
              <p:spPr bwMode="auto">
                <a:xfrm>
                  <a:off x="517"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46" name="Group 178"/>
                <p:cNvGrpSpPr>
                  <a:grpSpLocks/>
                </p:cNvGrpSpPr>
                <p:nvPr/>
              </p:nvGrpSpPr>
              <p:grpSpPr bwMode="auto">
                <a:xfrm>
                  <a:off x="581" y="668"/>
                  <a:ext cx="47" cy="37"/>
                  <a:chOff x="581" y="668"/>
                  <a:chExt cx="47" cy="37"/>
                </a:xfrm>
              </p:grpSpPr>
              <p:sp>
                <p:nvSpPr>
                  <p:cNvPr id="7344" name="Freeform 176"/>
                  <p:cNvSpPr>
                    <a:spLocks/>
                  </p:cNvSpPr>
                  <p:nvPr/>
                </p:nvSpPr>
                <p:spPr bwMode="auto">
                  <a:xfrm>
                    <a:off x="581"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45" name="Freeform 177"/>
                  <p:cNvSpPr>
                    <a:spLocks/>
                  </p:cNvSpPr>
                  <p:nvPr/>
                </p:nvSpPr>
                <p:spPr bwMode="auto">
                  <a:xfrm>
                    <a:off x="582"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363" name="Group 195"/>
              <p:cNvGrpSpPr>
                <a:grpSpLocks/>
              </p:cNvGrpSpPr>
              <p:nvPr/>
            </p:nvGrpSpPr>
            <p:grpSpPr bwMode="auto">
              <a:xfrm>
                <a:off x="517" y="572"/>
                <a:ext cx="321" cy="113"/>
                <a:chOff x="517" y="572"/>
                <a:chExt cx="321" cy="113"/>
              </a:xfrm>
            </p:grpSpPr>
            <p:sp>
              <p:nvSpPr>
                <p:cNvPr id="7348" name="Freeform 180"/>
                <p:cNvSpPr>
                  <a:spLocks/>
                </p:cNvSpPr>
                <p:nvPr/>
              </p:nvSpPr>
              <p:spPr bwMode="auto">
                <a:xfrm>
                  <a:off x="598"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49" name="Freeform 181"/>
                <p:cNvSpPr>
                  <a:spLocks/>
                </p:cNvSpPr>
                <p:nvPr/>
              </p:nvSpPr>
              <p:spPr bwMode="auto">
                <a:xfrm>
                  <a:off x="517"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52" name="Group 184"/>
                <p:cNvGrpSpPr>
                  <a:grpSpLocks/>
                </p:cNvGrpSpPr>
                <p:nvPr/>
              </p:nvGrpSpPr>
              <p:grpSpPr bwMode="auto">
                <a:xfrm>
                  <a:off x="544" y="620"/>
                  <a:ext cx="2" cy="5"/>
                  <a:chOff x="544" y="620"/>
                  <a:chExt cx="2" cy="5"/>
                </a:xfrm>
              </p:grpSpPr>
              <p:sp>
                <p:nvSpPr>
                  <p:cNvPr id="7350" name="Oval 182"/>
                  <p:cNvSpPr>
                    <a:spLocks noChangeArrowheads="1"/>
                  </p:cNvSpPr>
                  <p:nvPr/>
                </p:nvSpPr>
                <p:spPr bwMode="auto">
                  <a:xfrm>
                    <a:off x="544"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1" name="Arc 183"/>
                  <p:cNvSpPr>
                    <a:spLocks/>
                  </p:cNvSpPr>
                  <p:nvPr/>
                </p:nvSpPr>
                <p:spPr bwMode="auto">
                  <a:xfrm rot="10800000">
                    <a:off x="545"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58" name="Group 190"/>
                <p:cNvGrpSpPr>
                  <a:grpSpLocks/>
                </p:cNvGrpSpPr>
                <p:nvPr/>
              </p:nvGrpSpPr>
              <p:grpSpPr bwMode="auto">
                <a:xfrm>
                  <a:off x="561" y="607"/>
                  <a:ext cx="19" cy="5"/>
                  <a:chOff x="561" y="607"/>
                  <a:chExt cx="19" cy="5"/>
                </a:xfrm>
              </p:grpSpPr>
              <p:sp>
                <p:nvSpPr>
                  <p:cNvPr id="7353" name="Arc 185"/>
                  <p:cNvSpPr>
                    <a:spLocks/>
                  </p:cNvSpPr>
                  <p:nvPr/>
                </p:nvSpPr>
                <p:spPr bwMode="auto">
                  <a:xfrm rot="10800000">
                    <a:off x="565"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4" name="Arc 186"/>
                  <p:cNvSpPr>
                    <a:spLocks/>
                  </p:cNvSpPr>
                  <p:nvPr/>
                </p:nvSpPr>
                <p:spPr bwMode="auto">
                  <a:xfrm rot="10800000">
                    <a:off x="56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5" name="Arc 187"/>
                  <p:cNvSpPr>
                    <a:spLocks/>
                  </p:cNvSpPr>
                  <p:nvPr/>
                </p:nvSpPr>
                <p:spPr bwMode="auto">
                  <a:xfrm rot="10800000">
                    <a:off x="56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6" name="Arc 188"/>
                  <p:cNvSpPr>
                    <a:spLocks/>
                  </p:cNvSpPr>
                  <p:nvPr/>
                </p:nvSpPr>
                <p:spPr bwMode="auto">
                  <a:xfrm rot="10800000">
                    <a:off x="570"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7" name="Arc 189"/>
                  <p:cNvSpPr>
                    <a:spLocks/>
                  </p:cNvSpPr>
                  <p:nvPr/>
                </p:nvSpPr>
                <p:spPr bwMode="auto">
                  <a:xfrm rot="10800000">
                    <a:off x="575"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59" name="Freeform 191"/>
                <p:cNvSpPr>
                  <a:spLocks/>
                </p:cNvSpPr>
                <p:nvPr/>
              </p:nvSpPr>
              <p:spPr bwMode="auto">
                <a:xfrm>
                  <a:off x="517"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62" name="Group 194"/>
                <p:cNvGrpSpPr>
                  <a:grpSpLocks/>
                </p:cNvGrpSpPr>
                <p:nvPr/>
              </p:nvGrpSpPr>
              <p:grpSpPr bwMode="auto">
                <a:xfrm>
                  <a:off x="581" y="572"/>
                  <a:ext cx="47" cy="37"/>
                  <a:chOff x="581" y="572"/>
                  <a:chExt cx="47" cy="37"/>
                </a:xfrm>
              </p:grpSpPr>
              <p:sp>
                <p:nvSpPr>
                  <p:cNvPr id="7360" name="Freeform 192"/>
                  <p:cNvSpPr>
                    <a:spLocks/>
                  </p:cNvSpPr>
                  <p:nvPr/>
                </p:nvSpPr>
                <p:spPr bwMode="auto">
                  <a:xfrm>
                    <a:off x="581"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1" name="Freeform 193"/>
                  <p:cNvSpPr>
                    <a:spLocks/>
                  </p:cNvSpPr>
                  <p:nvPr/>
                </p:nvSpPr>
                <p:spPr bwMode="auto">
                  <a:xfrm>
                    <a:off x="582"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379" name="Group 211"/>
              <p:cNvGrpSpPr>
                <a:grpSpLocks/>
              </p:cNvGrpSpPr>
              <p:nvPr/>
            </p:nvGrpSpPr>
            <p:grpSpPr bwMode="auto">
              <a:xfrm>
                <a:off x="517" y="476"/>
                <a:ext cx="321" cy="113"/>
                <a:chOff x="517" y="476"/>
                <a:chExt cx="321" cy="113"/>
              </a:xfrm>
            </p:grpSpPr>
            <p:sp>
              <p:nvSpPr>
                <p:cNvPr id="7364" name="Freeform 196"/>
                <p:cNvSpPr>
                  <a:spLocks/>
                </p:cNvSpPr>
                <p:nvPr/>
              </p:nvSpPr>
              <p:spPr bwMode="auto">
                <a:xfrm>
                  <a:off x="598"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5" name="Freeform 197"/>
                <p:cNvSpPr>
                  <a:spLocks/>
                </p:cNvSpPr>
                <p:nvPr/>
              </p:nvSpPr>
              <p:spPr bwMode="auto">
                <a:xfrm>
                  <a:off x="517"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68" name="Group 200"/>
                <p:cNvGrpSpPr>
                  <a:grpSpLocks/>
                </p:cNvGrpSpPr>
                <p:nvPr/>
              </p:nvGrpSpPr>
              <p:grpSpPr bwMode="auto">
                <a:xfrm>
                  <a:off x="544" y="524"/>
                  <a:ext cx="2" cy="5"/>
                  <a:chOff x="544" y="524"/>
                  <a:chExt cx="2" cy="5"/>
                </a:xfrm>
              </p:grpSpPr>
              <p:sp>
                <p:nvSpPr>
                  <p:cNvPr id="7366" name="Oval 198"/>
                  <p:cNvSpPr>
                    <a:spLocks noChangeArrowheads="1"/>
                  </p:cNvSpPr>
                  <p:nvPr/>
                </p:nvSpPr>
                <p:spPr bwMode="auto">
                  <a:xfrm>
                    <a:off x="544"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67" name="Arc 199"/>
                  <p:cNvSpPr>
                    <a:spLocks/>
                  </p:cNvSpPr>
                  <p:nvPr/>
                </p:nvSpPr>
                <p:spPr bwMode="auto">
                  <a:xfrm rot="10800000">
                    <a:off x="545"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74" name="Group 206"/>
                <p:cNvGrpSpPr>
                  <a:grpSpLocks/>
                </p:cNvGrpSpPr>
                <p:nvPr/>
              </p:nvGrpSpPr>
              <p:grpSpPr bwMode="auto">
                <a:xfrm>
                  <a:off x="561" y="511"/>
                  <a:ext cx="19" cy="5"/>
                  <a:chOff x="561" y="511"/>
                  <a:chExt cx="19" cy="5"/>
                </a:xfrm>
              </p:grpSpPr>
              <p:sp>
                <p:nvSpPr>
                  <p:cNvPr id="7369" name="Arc 201"/>
                  <p:cNvSpPr>
                    <a:spLocks/>
                  </p:cNvSpPr>
                  <p:nvPr/>
                </p:nvSpPr>
                <p:spPr bwMode="auto">
                  <a:xfrm rot="10800000">
                    <a:off x="565"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0" name="Arc 202"/>
                  <p:cNvSpPr>
                    <a:spLocks/>
                  </p:cNvSpPr>
                  <p:nvPr/>
                </p:nvSpPr>
                <p:spPr bwMode="auto">
                  <a:xfrm rot="10800000">
                    <a:off x="56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1" name="Arc 203"/>
                  <p:cNvSpPr>
                    <a:spLocks/>
                  </p:cNvSpPr>
                  <p:nvPr/>
                </p:nvSpPr>
                <p:spPr bwMode="auto">
                  <a:xfrm rot="10800000">
                    <a:off x="56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2" name="Arc 204"/>
                  <p:cNvSpPr>
                    <a:spLocks/>
                  </p:cNvSpPr>
                  <p:nvPr/>
                </p:nvSpPr>
                <p:spPr bwMode="auto">
                  <a:xfrm rot="10800000">
                    <a:off x="570"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 name="Arc 205"/>
                  <p:cNvSpPr>
                    <a:spLocks/>
                  </p:cNvSpPr>
                  <p:nvPr/>
                </p:nvSpPr>
                <p:spPr bwMode="auto">
                  <a:xfrm rot="10800000">
                    <a:off x="575"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75" name="Freeform 207"/>
                <p:cNvSpPr>
                  <a:spLocks/>
                </p:cNvSpPr>
                <p:nvPr/>
              </p:nvSpPr>
              <p:spPr bwMode="auto">
                <a:xfrm>
                  <a:off x="517"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78" name="Group 210"/>
                <p:cNvGrpSpPr>
                  <a:grpSpLocks/>
                </p:cNvGrpSpPr>
                <p:nvPr/>
              </p:nvGrpSpPr>
              <p:grpSpPr bwMode="auto">
                <a:xfrm>
                  <a:off x="581" y="476"/>
                  <a:ext cx="47" cy="37"/>
                  <a:chOff x="581" y="476"/>
                  <a:chExt cx="47" cy="37"/>
                </a:xfrm>
              </p:grpSpPr>
              <p:sp>
                <p:nvSpPr>
                  <p:cNvPr id="7376" name="Freeform 208"/>
                  <p:cNvSpPr>
                    <a:spLocks/>
                  </p:cNvSpPr>
                  <p:nvPr/>
                </p:nvSpPr>
                <p:spPr bwMode="auto">
                  <a:xfrm>
                    <a:off x="581"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 name="Freeform 209"/>
                  <p:cNvSpPr>
                    <a:spLocks/>
                  </p:cNvSpPr>
                  <p:nvPr/>
                </p:nvSpPr>
                <p:spPr bwMode="auto">
                  <a:xfrm>
                    <a:off x="582"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395" name="Group 227"/>
              <p:cNvGrpSpPr>
                <a:grpSpLocks/>
              </p:cNvGrpSpPr>
              <p:nvPr/>
            </p:nvGrpSpPr>
            <p:grpSpPr bwMode="auto">
              <a:xfrm>
                <a:off x="517" y="380"/>
                <a:ext cx="321" cy="113"/>
                <a:chOff x="517" y="380"/>
                <a:chExt cx="321" cy="113"/>
              </a:xfrm>
            </p:grpSpPr>
            <p:sp>
              <p:nvSpPr>
                <p:cNvPr id="7380" name="Freeform 212"/>
                <p:cNvSpPr>
                  <a:spLocks/>
                </p:cNvSpPr>
                <p:nvPr/>
              </p:nvSpPr>
              <p:spPr bwMode="auto">
                <a:xfrm>
                  <a:off x="598"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81" name="Freeform 213"/>
                <p:cNvSpPr>
                  <a:spLocks/>
                </p:cNvSpPr>
                <p:nvPr/>
              </p:nvSpPr>
              <p:spPr bwMode="auto">
                <a:xfrm>
                  <a:off x="517"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84" name="Group 216"/>
                <p:cNvGrpSpPr>
                  <a:grpSpLocks/>
                </p:cNvGrpSpPr>
                <p:nvPr/>
              </p:nvGrpSpPr>
              <p:grpSpPr bwMode="auto">
                <a:xfrm>
                  <a:off x="544" y="428"/>
                  <a:ext cx="2" cy="5"/>
                  <a:chOff x="544" y="428"/>
                  <a:chExt cx="2" cy="5"/>
                </a:xfrm>
              </p:grpSpPr>
              <p:sp>
                <p:nvSpPr>
                  <p:cNvPr id="7382" name="Oval 214"/>
                  <p:cNvSpPr>
                    <a:spLocks noChangeArrowheads="1"/>
                  </p:cNvSpPr>
                  <p:nvPr/>
                </p:nvSpPr>
                <p:spPr bwMode="auto">
                  <a:xfrm>
                    <a:off x="544"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 name="Arc 215"/>
                  <p:cNvSpPr>
                    <a:spLocks/>
                  </p:cNvSpPr>
                  <p:nvPr/>
                </p:nvSpPr>
                <p:spPr bwMode="auto">
                  <a:xfrm rot="10800000">
                    <a:off x="545"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90" name="Group 222"/>
                <p:cNvGrpSpPr>
                  <a:grpSpLocks/>
                </p:cNvGrpSpPr>
                <p:nvPr/>
              </p:nvGrpSpPr>
              <p:grpSpPr bwMode="auto">
                <a:xfrm>
                  <a:off x="561" y="415"/>
                  <a:ext cx="19" cy="5"/>
                  <a:chOff x="561" y="415"/>
                  <a:chExt cx="19" cy="5"/>
                </a:xfrm>
              </p:grpSpPr>
              <p:sp>
                <p:nvSpPr>
                  <p:cNvPr id="7385" name="Arc 217"/>
                  <p:cNvSpPr>
                    <a:spLocks/>
                  </p:cNvSpPr>
                  <p:nvPr/>
                </p:nvSpPr>
                <p:spPr bwMode="auto">
                  <a:xfrm rot="10800000">
                    <a:off x="565"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6" name="Arc 218"/>
                  <p:cNvSpPr>
                    <a:spLocks/>
                  </p:cNvSpPr>
                  <p:nvPr/>
                </p:nvSpPr>
                <p:spPr bwMode="auto">
                  <a:xfrm rot="10800000">
                    <a:off x="56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7" name="Arc 219"/>
                  <p:cNvSpPr>
                    <a:spLocks/>
                  </p:cNvSpPr>
                  <p:nvPr/>
                </p:nvSpPr>
                <p:spPr bwMode="auto">
                  <a:xfrm rot="10800000">
                    <a:off x="56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8" name="Arc 220"/>
                  <p:cNvSpPr>
                    <a:spLocks/>
                  </p:cNvSpPr>
                  <p:nvPr/>
                </p:nvSpPr>
                <p:spPr bwMode="auto">
                  <a:xfrm rot="10800000">
                    <a:off x="570"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9" name="Arc 221"/>
                  <p:cNvSpPr>
                    <a:spLocks/>
                  </p:cNvSpPr>
                  <p:nvPr/>
                </p:nvSpPr>
                <p:spPr bwMode="auto">
                  <a:xfrm rot="10800000">
                    <a:off x="575"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91" name="Freeform 223"/>
                <p:cNvSpPr>
                  <a:spLocks/>
                </p:cNvSpPr>
                <p:nvPr/>
              </p:nvSpPr>
              <p:spPr bwMode="auto">
                <a:xfrm>
                  <a:off x="517"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94" name="Group 226"/>
                <p:cNvGrpSpPr>
                  <a:grpSpLocks/>
                </p:cNvGrpSpPr>
                <p:nvPr/>
              </p:nvGrpSpPr>
              <p:grpSpPr bwMode="auto">
                <a:xfrm>
                  <a:off x="581" y="380"/>
                  <a:ext cx="47" cy="37"/>
                  <a:chOff x="581" y="380"/>
                  <a:chExt cx="47" cy="37"/>
                </a:xfrm>
              </p:grpSpPr>
              <p:sp>
                <p:nvSpPr>
                  <p:cNvPr id="7392" name="Freeform 224"/>
                  <p:cNvSpPr>
                    <a:spLocks/>
                  </p:cNvSpPr>
                  <p:nvPr/>
                </p:nvSpPr>
                <p:spPr bwMode="auto">
                  <a:xfrm>
                    <a:off x="581"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93" name="Freeform 225"/>
                  <p:cNvSpPr>
                    <a:spLocks/>
                  </p:cNvSpPr>
                  <p:nvPr/>
                </p:nvSpPr>
                <p:spPr bwMode="auto">
                  <a:xfrm>
                    <a:off x="582"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11" name="Group 243"/>
              <p:cNvGrpSpPr>
                <a:grpSpLocks/>
              </p:cNvGrpSpPr>
              <p:nvPr/>
            </p:nvGrpSpPr>
            <p:grpSpPr bwMode="auto">
              <a:xfrm>
                <a:off x="517" y="284"/>
                <a:ext cx="321" cy="113"/>
                <a:chOff x="517" y="284"/>
                <a:chExt cx="321" cy="113"/>
              </a:xfrm>
            </p:grpSpPr>
            <p:sp>
              <p:nvSpPr>
                <p:cNvPr id="7396" name="Freeform 228"/>
                <p:cNvSpPr>
                  <a:spLocks/>
                </p:cNvSpPr>
                <p:nvPr/>
              </p:nvSpPr>
              <p:spPr bwMode="auto">
                <a:xfrm>
                  <a:off x="598"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97" name="Freeform 229"/>
                <p:cNvSpPr>
                  <a:spLocks/>
                </p:cNvSpPr>
                <p:nvPr/>
              </p:nvSpPr>
              <p:spPr bwMode="auto">
                <a:xfrm>
                  <a:off x="517"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00" name="Group 232"/>
                <p:cNvGrpSpPr>
                  <a:grpSpLocks/>
                </p:cNvGrpSpPr>
                <p:nvPr/>
              </p:nvGrpSpPr>
              <p:grpSpPr bwMode="auto">
                <a:xfrm>
                  <a:off x="544" y="332"/>
                  <a:ext cx="2" cy="5"/>
                  <a:chOff x="544" y="332"/>
                  <a:chExt cx="2" cy="5"/>
                </a:xfrm>
              </p:grpSpPr>
              <p:sp>
                <p:nvSpPr>
                  <p:cNvPr id="7398" name="Oval 230"/>
                  <p:cNvSpPr>
                    <a:spLocks noChangeArrowheads="1"/>
                  </p:cNvSpPr>
                  <p:nvPr/>
                </p:nvSpPr>
                <p:spPr bwMode="auto">
                  <a:xfrm>
                    <a:off x="544"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99" name="Arc 231"/>
                  <p:cNvSpPr>
                    <a:spLocks/>
                  </p:cNvSpPr>
                  <p:nvPr/>
                </p:nvSpPr>
                <p:spPr bwMode="auto">
                  <a:xfrm rot="10800000">
                    <a:off x="545"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06" name="Group 238"/>
                <p:cNvGrpSpPr>
                  <a:grpSpLocks/>
                </p:cNvGrpSpPr>
                <p:nvPr/>
              </p:nvGrpSpPr>
              <p:grpSpPr bwMode="auto">
                <a:xfrm>
                  <a:off x="561" y="319"/>
                  <a:ext cx="19" cy="5"/>
                  <a:chOff x="561" y="319"/>
                  <a:chExt cx="19" cy="5"/>
                </a:xfrm>
              </p:grpSpPr>
              <p:sp>
                <p:nvSpPr>
                  <p:cNvPr id="7401" name="Arc 233"/>
                  <p:cNvSpPr>
                    <a:spLocks/>
                  </p:cNvSpPr>
                  <p:nvPr/>
                </p:nvSpPr>
                <p:spPr bwMode="auto">
                  <a:xfrm rot="10800000">
                    <a:off x="565"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2" name="Arc 234"/>
                  <p:cNvSpPr>
                    <a:spLocks/>
                  </p:cNvSpPr>
                  <p:nvPr/>
                </p:nvSpPr>
                <p:spPr bwMode="auto">
                  <a:xfrm rot="10800000">
                    <a:off x="56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 name="Arc 235"/>
                  <p:cNvSpPr>
                    <a:spLocks/>
                  </p:cNvSpPr>
                  <p:nvPr/>
                </p:nvSpPr>
                <p:spPr bwMode="auto">
                  <a:xfrm rot="10800000">
                    <a:off x="56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 name="Arc 236"/>
                  <p:cNvSpPr>
                    <a:spLocks/>
                  </p:cNvSpPr>
                  <p:nvPr/>
                </p:nvSpPr>
                <p:spPr bwMode="auto">
                  <a:xfrm rot="10800000">
                    <a:off x="570"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5" name="Arc 237"/>
                  <p:cNvSpPr>
                    <a:spLocks/>
                  </p:cNvSpPr>
                  <p:nvPr/>
                </p:nvSpPr>
                <p:spPr bwMode="auto">
                  <a:xfrm rot="10800000">
                    <a:off x="575"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07" name="Freeform 239"/>
                <p:cNvSpPr>
                  <a:spLocks/>
                </p:cNvSpPr>
                <p:nvPr/>
              </p:nvSpPr>
              <p:spPr bwMode="auto">
                <a:xfrm>
                  <a:off x="517"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10" name="Group 242"/>
                <p:cNvGrpSpPr>
                  <a:grpSpLocks/>
                </p:cNvGrpSpPr>
                <p:nvPr/>
              </p:nvGrpSpPr>
              <p:grpSpPr bwMode="auto">
                <a:xfrm>
                  <a:off x="581" y="284"/>
                  <a:ext cx="47" cy="37"/>
                  <a:chOff x="581" y="284"/>
                  <a:chExt cx="47" cy="37"/>
                </a:xfrm>
              </p:grpSpPr>
              <p:sp>
                <p:nvSpPr>
                  <p:cNvPr id="7408" name="Freeform 240"/>
                  <p:cNvSpPr>
                    <a:spLocks/>
                  </p:cNvSpPr>
                  <p:nvPr/>
                </p:nvSpPr>
                <p:spPr bwMode="auto">
                  <a:xfrm>
                    <a:off x="581"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09" name="Freeform 241"/>
                  <p:cNvSpPr>
                    <a:spLocks/>
                  </p:cNvSpPr>
                  <p:nvPr/>
                </p:nvSpPr>
                <p:spPr bwMode="auto">
                  <a:xfrm>
                    <a:off x="582"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493" name="Group 325"/>
            <p:cNvGrpSpPr>
              <a:grpSpLocks/>
            </p:cNvGrpSpPr>
            <p:nvPr/>
          </p:nvGrpSpPr>
          <p:grpSpPr bwMode="auto">
            <a:xfrm>
              <a:off x="865" y="284"/>
              <a:ext cx="321" cy="497"/>
              <a:chOff x="865" y="284"/>
              <a:chExt cx="321" cy="497"/>
            </a:xfrm>
          </p:grpSpPr>
          <p:grpSp>
            <p:nvGrpSpPr>
              <p:cNvPr id="7428" name="Group 260"/>
              <p:cNvGrpSpPr>
                <a:grpSpLocks/>
              </p:cNvGrpSpPr>
              <p:nvPr/>
            </p:nvGrpSpPr>
            <p:grpSpPr bwMode="auto">
              <a:xfrm>
                <a:off x="865" y="668"/>
                <a:ext cx="321" cy="113"/>
                <a:chOff x="865" y="668"/>
                <a:chExt cx="321" cy="113"/>
              </a:xfrm>
            </p:grpSpPr>
            <p:sp>
              <p:nvSpPr>
                <p:cNvPr id="7413" name="Freeform 245"/>
                <p:cNvSpPr>
                  <a:spLocks/>
                </p:cNvSpPr>
                <p:nvPr/>
              </p:nvSpPr>
              <p:spPr bwMode="auto">
                <a:xfrm>
                  <a:off x="946"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14" name="Freeform 246"/>
                <p:cNvSpPr>
                  <a:spLocks/>
                </p:cNvSpPr>
                <p:nvPr/>
              </p:nvSpPr>
              <p:spPr bwMode="auto">
                <a:xfrm>
                  <a:off x="865"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17" name="Group 249"/>
                <p:cNvGrpSpPr>
                  <a:grpSpLocks/>
                </p:cNvGrpSpPr>
                <p:nvPr/>
              </p:nvGrpSpPr>
              <p:grpSpPr bwMode="auto">
                <a:xfrm>
                  <a:off x="892" y="716"/>
                  <a:ext cx="2" cy="5"/>
                  <a:chOff x="892" y="716"/>
                  <a:chExt cx="2" cy="5"/>
                </a:xfrm>
              </p:grpSpPr>
              <p:sp>
                <p:nvSpPr>
                  <p:cNvPr id="7415" name="Oval 247"/>
                  <p:cNvSpPr>
                    <a:spLocks noChangeArrowheads="1"/>
                  </p:cNvSpPr>
                  <p:nvPr/>
                </p:nvSpPr>
                <p:spPr bwMode="auto">
                  <a:xfrm>
                    <a:off x="892"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16" name="Arc 248"/>
                  <p:cNvSpPr>
                    <a:spLocks/>
                  </p:cNvSpPr>
                  <p:nvPr/>
                </p:nvSpPr>
                <p:spPr bwMode="auto">
                  <a:xfrm rot="10800000">
                    <a:off x="893"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23" name="Group 255"/>
                <p:cNvGrpSpPr>
                  <a:grpSpLocks/>
                </p:cNvGrpSpPr>
                <p:nvPr/>
              </p:nvGrpSpPr>
              <p:grpSpPr bwMode="auto">
                <a:xfrm>
                  <a:off x="909" y="703"/>
                  <a:ext cx="19" cy="5"/>
                  <a:chOff x="909" y="703"/>
                  <a:chExt cx="19" cy="5"/>
                </a:xfrm>
              </p:grpSpPr>
              <p:sp>
                <p:nvSpPr>
                  <p:cNvPr id="7418" name="Arc 250"/>
                  <p:cNvSpPr>
                    <a:spLocks/>
                  </p:cNvSpPr>
                  <p:nvPr/>
                </p:nvSpPr>
                <p:spPr bwMode="auto">
                  <a:xfrm rot="10800000">
                    <a:off x="913"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19" name="Arc 251"/>
                  <p:cNvSpPr>
                    <a:spLocks/>
                  </p:cNvSpPr>
                  <p:nvPr/>
                </p:nvSpPr>
                <p:spPr bwMode="auto">
                  <a:xfrm rot="10800000">
                    <a:off x="909"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20" name="Arc 252"/>
                  <p:cNvSpPr>
                    <a:spLocks/>
                  </p:cNvSpPr>
                  <p:nvPr/>
                </p:nvSpPr>
                <p:spPr bwMode="auto">
                  <a:xfrm rot="10800000">
                    <a:off x="914"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21" name="Arc 253"/>
                  <p:cNvSpPr>
                    <a:spLocks/>
                  </p:cNvSpPr>
                  <p:nvPr/>
                </p:nvSpPr>
                <p:spPr bwMode="auto">
                  <a:xfrm rot="10800000">
                    <a:off x="918"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22" name="Arc 254"/>
                  <p:cNvSpPr>
                    <a:spLocks/>
                  </p:cNvSpPr>
                  <p:nvPr/>
                </p:nvSpPr>
                <p:spPr bwMode="auto">
                  <a:xfrm rot="10800000">
                    <a:off x="923"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24" name="Freeform 256"/>
                <p:cNvSpPr>
                  <a:spLocks/>
                </p:cNvSpPr>
                <p:nvPr/>
              </p:nvSpPr>
              <p:spPr bwMode="auto">
                <a:xfrm>
                  <a:off x="865"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27" name="Group 259"/>
                <p:cNvGrpSpPr>
                  <a:grpSpLocks/>
                </p:cNvGrpSpPr>
                <p:nvPr/>
              </p:nvGrpSpPr>
              <p:grpSpPr bwMode="auto">
                <a:xfrm>
                  <a:off x="929" y="668"/>
                  <a:ext cx="47" cy="37"/>
                  <a:chOff x="929" y="668"/>
                  <a:chExt cx="47" cy="37"/>
                </a:xfrm>
              </p:grpSpPr>
              <p:sp>
                <p:nvSpPr>
                  <p:cNvPr id="7425" name="Freeform 257"/>
                  <p:cNvSpPr>
                    <a:spLocks/>
                  </p:cNvSpPr>
                  <p:nvPr/>
                </p:nvSpPr>
                <p:spPr bwMode="auto">
                  <a:xfrm>
                    <a:off x="929"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26" name="Freeform 258"/>
                  <p:cNvSpPr>
                    <a:spLocks/>
                  </p:cNvSpPr>
                  <p:nvPr/>
                </p:nvSpPr>
                <p:spPr bwMode="auto">
                  <a:xfrm>
                    <a:off x="930"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44" name="Group 276"/>
              <p:cNvGrpSpPr>
                <a:grpSpLocks/>
              </p:cNvGrpSpPr>
              <p:nvPr/>
            </p:nvGrpSpPr>
            <p:grpSpPr bwMode="auto">
              <a:xfrm>
                <a:off x="865" y="572"/>
                <a:ext cx="321" cy="113"/>
                <a:chOff x="865" y="572"/>
                <a:chExt cx="321" cy="113"/>
              </a:xfrm>
            </p:grpSpPr>
            <p:sp>
              <p:nvSpPr>
                <p:cNvPr id="7429" name="Freeform 261"/>
                <p:cNvSpPr>
                  <a:spLocks/>
                </p:cNvSpPr>
                <p:nvPr/>
              </p:nvSpPr>
              <p:spPr bwMode="auto">
                <a:xfrm>
                  <a:off x="946"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30" name="Freeform 262"/>
                <p:cNvSpPr>
                  <a:spLocks/>
                </p:cNvSpPr>
                <p:nvPr/>
              </p:nvSpPr>
              <p:spPr bwMode="auto">
                <a:xfrm>
                  <a:off x="865"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33" name="Group 265"/>
                <p:cNvGrpSpPr>
                  <a:grpSpLocks/>
                </p:cNvGrpSpPr>
                <p:nvPr/>
              </p:nvGrpSpPr>
              <p:grpSpPr bwMode="auto">
                <a:xfrm>
                  <a:off x="892" y="620"/>
                  <a:ext cx="2" cy="5"/>
                  <a:chOff x="892" y="620"/>
                  <a:chExt cx="2" cy="5"/>
                </a:xfrm>
              </p:grpSpPr>
              <p:sp>
                <p:nvSpPr>
                  <p:cNvPr id="7431" name="Oval 263"/>
                  <p:cNvSpPr>
                    <a:spLocks noChangeArrowheads="1"/>
                  </p:cNvSpPr>
                  <p:nvPr/>
                </p:nvSpPr>
                <p:spPr bwMode="auto">
                  <a:xfrm>
                    <a:off x="892"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2" name="Arc 264"/>
                  <p:cNvSpPr>
                    <a:spLocks/>
                  </p:cNvSpPr>
                  <p:nvPr/>
                </p:nvSpPr>
                <p:spPr bwMode="auto">
                  <a:xfrm rot="10800000">
                    <a:off x="893"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39" name="Group 271"/>
                <p:cNvGrpSpPr>
                  <a:grpSpLocks/>
                </p:cNvGrpSpPr>
                <p:nvPr/>
              </p:nvGrpSpPr>
              <p:grpSpPr bwMode="auto">
                <a:xfrm>
                  <a:off x="909" y="607"/>
                  <a:ext cx="19" cy="5"/>
                  <a:chOff x="909" y="607"/>
                  <a:chExt cx="19" cy="5"/>
                </a:xfrm>
              </p:grpSpPr>
              <p:sp>
                <p:nvSpPr>
                  <p:cNvPr id="7434" name="Arc 266"/>
                  <p:cNvSpPr>
                    <a:spLocks/>
                  </p:cNvSpPr>
                  <p:nvPr/>
                </p:nvSpPr>
                <p:spPr bwMode="auto">
                  <a:xfrm rot="10800000">
                    <a:off x="913"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5" name="Arc 267"/>
                  <p:cNvSpPr>
                    <a:spLocks/>
                  </p:cNvSpPr>
                  <p:nvPr/>
                </p:nvSpPr>
                <p:spPr bwMode="auto">
                  <a:xfrm rot="10800000">
                    <a:off x="909"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6" name="Arc 268"/>
                  <p:cNvSpPr>
                    <a:spLocks/>
                  </p:cNvSpPr>
                  <p:nvPr/>
                </p:nvSpPr>
                <p:spPr bwMode="auto">
                  <a:xfrm rot="10800000">
                    <a:off x="914"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7" name="Arc 269"/>
                  <p:cNvSpPr>
                    <a:spLocks/>
                  </p:cNvSpPr>
                  <p:nvPr/>
                </p:nvSpPr>
                <p:spPr bwMode="auto">
                  <a:xfrm rot="10800000">
                    <a:off x="918"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8" name="Arc 270"/>
                  <p:cNvSpPr>
                    <a:spLocks/>
                  </p:cNvSpPr>
                  <p:nvPr/>
                </p:nvSpPr>
                <p:spPr bwMode="auto">
                  <a:xfrm rot="10800000">
                    <a:off x="923"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40" name="Freeform 272"/>
                <p:cNvSpPr>
                  <a:spLocks/>
                </p:cNvSpPr>
                <p:nvPr/>
              </p:nvSpPr>
              <p:spPr bwMode="auto">
                <a:xfrm>
                  <a:off x="865"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43" name="Group 275"/>
                <p:cNvGrpSpPr>
                  <a:grpSpLocks/>
                </p:cNvGrpSpPr>
                <p:nvPr/>
              </p:nvGrpSpPr>
              <p:grpSpPr bwMode="auto">
                <a:xfrm>
                  <a:off x="929" y="572"/>
                  <a:ext cx="47" cy="37"/>
                  <a:chOff x="929" y="572"/>
                  <a:chExt cx="47" cy="37"/>
                </a:xfrm>
              </p:grpSpPr>
              <p:sp>
                <p:nvSpPr>
                  <p:cNvPr id="7441" name="Freeform 273"/>
                  <p:cNvSpPr>
                    <a:spLocks/>
                  </p:cNvSpPr>
                  <p:nvPr/>
                </p:nvSpPr>
                <p:spPr bwMode="auto">
                  <a:xfrm>
                    <a:off x="929"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42" name="Freeform 274"/>
                  <p:cNvSpPr>
                    <a:spLocks/>
                  </p:cNvSpPr>
                  <p:nvPr/>
                </p:nvSpPr>
                <p:spPr bwMode="auto">
                  <a:xfrm>
                    <a:off x="930"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60" name="Group 292"/>
              <p:cNvGrpSpPr>
                <a:grpSpLocks/>
              </p:cNvGrpSpPr>
              <p:nvPr/>
            </p:nvGrpSpPr>
            <p:grpSpPr bwMode="auto">
              <a:xfrm>
                <a:off x="865" y="476"/>
                <a:ext cx="321" cy="113"/>
                <a:chOff x="865" y="476"/>
                <a:chExt cx="321" cy="113"/>
              </a:xfrm>
            </p:grpSpPr>
            <p:sp>
              <p:nvSpPr>
                <p:cNvPr id="7445" name="Freeform 277"/>
                <p:cNvSpPr>
                  <a:spLocks/>
                </p:cNvSpPr>
                <p:nvPr/>
              </p:nvSpPr>
              <p:spPr bwMode="auto">
                <a:xfrm>
                  <a:off x="946"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46" name="Freeform 278"/>
                <p:cNvSpPr>
                  <a:spLocks/>
                </p:cNvSpPr>
                <p:nvPr/>
              </p:nvSpPr>
              <p:spPr bwMode="auto">
                <a:xfrm>
                  <a:off x="865"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49" name="Group 281"/>
                <p:cNvGrpSpPr>
                  <a:grpSpLocks/>
                </p:cNvGrpSpPr>
                <p:nvPr/>
              </p:nvGrpSpPr>
              <p:grpSpPr bwMode="auto">
                <a:xfrm>
                  <a:off x="892" y="524"/>
                  <a:ext cx="2" cy="5"/>
                  <a:chOff x="892" y="524"/>
                  <a:chExt cx="2" cy="5"/>
                </a:xfrm>
              </p:grpSpPr>
              <p:sp>
                <p:nvSpPr>
                  <p:cNvPr id="7447" name="Oval 279"/>
                  <p:cNvSpPr>
                    <a:spLocks noChangeArrowheads="1"/>
                  </p:cNvSpPr>
                  <p:nvPr/>
                </p:nvSpPr>
                <p:spPr bwMode="auto">
                  <a:xfrm>
                    <a:off x="892"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48" name="Arc 280"/>
                  <p:cNvSpPr>
                    <a:spLocks/>
                  </p:cNvSpPr>
                  <p:nvPr/>
                </p:nvSpPr>
                <p:spPr bwMode="auto">
                  <a:xfrm rot="10800000">
                    <a:off x="893"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55" name="Group 287"/>
                <p:cNvGrpSpPr>
                  <a:grpSpLocks/>
                </p:cNvGrpSpPr>
                <p:nvPr/>
              </p:nvGrpSpPr>
              <p:grpSpPr bwMode="auto">
                <a:xfrm>
                  <a:off x="909" y="511"/>
                  <a:ext cx="19" cy="5"/>
                  <a:chOff x="909" y="511"/>
                  <a:chExt cx="19" cy="5"/>
                </a:xfrm>
              </p:grpSpPr>
              <p:sp>
                <p:nvSpPr>
                  <p:cNvPr id="7450" name="Arc 282"/>
                  <p:cNvSpPr>
                    <a:spLocks/>
                  </p:cNvSpPr>
                  <p:nvPr/>
                </p:nvSpPr>
                <p:spPr bwMode="auto">
                  <a:xfrm rot="10800000">
                    <a:off x="913"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1" name="Arc 283"/>
                  <p:cNvSpPr>
                    <a:spLocks/>
                  </p:cNvSpPr>
                  <p:nvPr/>
                </p:nvSpPr>
                <p:spPr bwMode="auto">
                  <a:xfrm rot="10800000">
                    <a:off x="909"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2" name="Arc 284"/>
                  <p:cNvSpPr>
                    <a:spLocks/>
                  </p:cNvSpPr>
                  <p:nvPr/>
                </p:nvSpPr>
                <p:spPr bwMode="auto">
                  <a:xfrm rot="10800000">
                    <a:off x="914"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3" name="Arc 285"/>
                  <p:cNvSpPr>
                    <a:spLocks/>
                  </p:cNvSpPr>
                  <p:nvPr/>
                </p:nvSpPr>
                <p:spPr bwMode="auto">
                  <a:xfrm rot="10800000">
                    <a:off x="918"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4" name="Arc 286"/>
                  <p:cNvSpPr>
                    <a:spLocks/>
                  </p:cNvSpPr>
                  <p:nvPr/>
                </p:nvSpPr>
                <p:spPr bwMode="auto">
                  <a:xfrm rot="10800000">
                    <a:off x="923"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56" name="Freeform 288"/>
                <p:cNvSpPr>
                  <a:spLocks/>
                </p:cNvSpPr>
                <p:nvPr/>
              </p:nvSpPr>
              <p:spPr bwMode="auto">
                <a:xfrm>
                  <a:off x="865"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59" name="Group 291"/>
                <p:cNvGrpSpPr>
                  <a:grpSpLocks/>
                </p:cNvGrpSpPr>
                <p:nvPr/>
              </p:nvGrpSpPr>
              <p:grpSpPr bwMode="auto">
                <a:xfrm>
                  <a:off x="929" y="476"/>
                  <a:ext cx="47" cy="37"/>
                  <a:chOff x="929" y="476"/>
                  <a:chExt cx="47" cy="37"/>
                </a:xfrm>
              </p:grpSpPr>
              <p:sp>
                <p:nvSpPr>
                  <p:cNvPr id="7457" name="Freeform 289"/>
                  <p:cNvSpPr>
                    <a:spLocks/>
                  </p:cNvSpPr>
                  <p:nvPr/>
                </p:nvSpPr>
                <p:spPr bwMode="auto">
                  <a:xfrm>
                    <a:off x="929"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58" name="Freeform 290"/>
                  <p:cNvSpPr>
                    <a:spLocks/>
                  </p:cNvSpPr>
                  <p:nvPr/>
                </p:nvSpPr>
                <p:spPr bwMode="auto">
                  <a:xfrm>
                    <a:off x="930"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76" name="Group 308"/>
              <p:cNvGrpSpPr>
                <a:grpSpLocks/>
              </p:cNvGrpSpPr>
              <p:nvPr/>
            </p:nvGrpSpPr>
            <p:grpSpPr bwMode="auto">
              <a:xfrm>
                <a:off x="865" y="380"/>
                <a:ext cx="321" cy="113"/>
                <a:chOff x="865" y="380"/>
                <a:chExt cx="321" cy="113"/>
              </a:xfrm>
            </p:grpSpPr>
            <p:sp>
              <p:nvSpPr>
                <p:cNvPr id="7461" name="Freeform 293"/>
                <p:cNvSpPr>
                  <a:spLocks/>
                </p:cNvSpPr>
                <p:nvPr/>
              </p:nvSpPr>
              <p:spPr bwMode="auto">
                <a:xfrm>
                  <a:off x="946"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62" name="Freeform 294"/>
                <p:cNvSpPr>
                  <a:spLocks/>
                </p:cNvSpPr>
                <p:nvPr/>
              </p:nvSpPr>
              <p:spPr bwMode="auto">
                <a:xfrm>
                  <a:off x="865"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65" name="Group 297"/>
                <p:cNvGrpSpPr>
                  <a:grpSpLocks/>
                </p:cNvGrpSpPr>
                <p:nvPr/>
              </p:nvGrpSpPr>
              <p:grpSpPr bwMode="auto">
                <a:xfrm>
                  <a:off x="892" y="428"/>
                  <a:ext cx="2" cy="5"/>
                  <a:chOff x="892" y="428"/>
                  <a:chExt cx="2" cy="5"/>
                </a:xfrm>
              </p:grpSpPr>
              <p:sp>
                <p:nvSpPr>
                  <p:cNvPr id="7463" name="Oval 295"/>
                  <p:cNvSpPr>
                    <a:spLocks noChangeArrowheads="1"/>
                  </p:cNvSpPr>
                  <p:nvPr/>
                </p:nvSpPr>
                <p:spPr bwMode="auto">
                  <a:xfrm>
                    <a:off x="892"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4" name="Arc 296"/>
                  <p:cNvSpPr>
                    <a:spLocks/>
                  </p:cNvSpPr>
                  <p:nvPr/>
                </p:nvSpPr>
                <p:spPr bwMode="auto">
                  <a:xfrm rot="10800000">
                    <a:off x="893"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71" name="Group 303"/>
                <p:cNvGrpSpPr>
                  <a:grpSpLocks/>
                </p:cNvGrpSpPr>
                <p:nvPr/>
              </p:nvGrpSpPr>
              <p:grpSpPr bwMode="auto">
                <a:xfrm>
                  <a:off x="909" y="415"/>
                  <a:ext cx="19" cy="5"/>
                  <a:chOff x="909" y="415"/>
                  <a:chExt cx="19" cy="5"/>
                </a:xfrm>
              </p:grpSpPr>
              <p:sp>
                <p:nvSpPr>
                  <p:cNvPr id="7466" name="Arc 298"/>
                  <p:cNvSpPr>
                    <a:spLocks/>
                  </p:cNvSpPr>
                  <p:nvPr/>
                </p:nvSpPr>
                <p:spPr bwMode="auto">
                  <a:xfrm rot="10800000">
                    <a:off x="913"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7" name="Arc 299"/>
                  <p:cNvSpPr>
                    <a:spLocks/>
                  </p:cNvSpPr>
                  <p:nvPr/>
                </p:nvSpPr>
                <p:spPr bwMode="auto">
                  <a:xfrm rot="10800000">
                    <a:off x="909"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8" name="Arc 300"/>
                  <p:cNvSpPr>
                    <a:spLocks/>
                  </p:cNvSpPr>
                  <p:nvPr/>
                </p:nvSpPr>
                <p:spPr bwMode="auto">
                  <a:xfrm rot="10800000">
                    <a:off x="914"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9" name="Arc 301"/>
                  <p:cNvSpPr>
                    <a:spLocks/>
                  </p:cNvSpPr>
                  <p:nvPr/>
                </p:nvSpPr>
                <p:spPr bwMode="auto">
                  <a:xfrm rot="10800000">
                    <a:off x="918"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0" name="Arc 302"/>
                  <p:cNvSpPr>
                    <a:spLocks/>
                  </p:cNvSpPr>
                  <p:nvPr/>
                </p:nvSpPr>
                <p:spPr bwMode="auto">
                  <a:xfrm rot="10800000">
                    <a:off x="923"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72" name="Freeform 304"/>
                <p:cNvSpPr>
                  <a:spLocks/>
                </p:cNvSpPr>
                <p:nvPr/>
              </p:nvSpPr>
              <p:spPr bwMode="auto">
                <a:xfrm>
                  <a:off x="865"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75" name="Group 307"/>
                <p:cNvGrpSpPr>
                  <a:grpSpLocks/>
                </p:cNvGrpSpPr>
                <p:nvPr/>
              </p:nvGrpSpPr>
              <p:grpSpPr bwMode="auto">
                <a:xfrm>
                  <a:off x="929" y="380"/>
                  <a:ext cx="47" cy="37"/>
                  <a:chOff x="929" y="380"/>
                  <a:chExt cx="47" cy="37"/>
                </a:xfrm>
              </p:grpSpPr>
              <p:sp>
                <p:nvSpPr>
                  <p:cNvPr id="7473" name="Freeform 305"/>
                  <p:cNvSpPr>
                    <a:spLocks/>
                  </p:cNvSpPr>
                  <p:nvPr/>
                </p:nvSpPr>
                <p:spPr bwMode="auto">
                  <a:xfrm>
                    <a:off x="929"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4" name="Freeform 306"/>
                  <p:cNvSpPr>
                    <a:spLocks/>
                  </p:cNvSpPr>
                  <p:nvPr/>
                </p:nvSpPr>
                <p:spPr bwMode="auto">
                  <a:xfrm>
                    <a:off x="930"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92" name="Group 324"/>
              <p:cNvGrpSpPr>
                <a:grpSpLocks/>
              </p:cNvGrpSpPr>
              <p:nvPr/>
            </p:nvGrpSpPr>
            <p:grpSpPr bwMode="auto">
              <a:xfrm>
                <a:off x="865" y="284"/>
                <a:ext cx="321" cy="113"/>
                <a:chOff x="865" y="284"/>
                <a:chExt cx="321" cy="113"/>
              </a:xfrm>
            </p:grpSpPr>
            <p:sp>
              <p:nvSpPr>
                <p:cNvPr id="7477" name="Freeform 309"/>
                <p:cNvSpPr>
                  <a:spLocks/>
                </p:cNvSpPr>
                <p:nvPr/>
              </p:nvSpPr>
              <p:spPr bwMode="auto">
                <a:xfrm>
                  <a:off x="946"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8" name="Freeform 310"/>
                <p:cNvSpPr>
                  <a:spLocks/>
                </p:cNvSpPr>
                <p:nvPr/>
              </p:nvSpPr>
              <p:spPr bwMode="auto">
                <a:xfrm>
                  <a:off x="865"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81" name="Group 313"/>
                <p:cNvGrpSpPr>
                  <a:grpSpLocks/>
                </p:cNvGrpSpPr>
                <p:nvPr/>
              </p:nvGrpSpPr>
              <p:grpSpPr bwMode="auto">
                <a:xfrm>
                  <a:off x="892" y="332"/>
                  <a:ext cx="2" cy="5"/>
                  <a:chOff x="892" y="332"/>
                  <a:chExt cx="2" cy="5"/>
                </a:xfrm>
              </p:grpSpPr>
              <p:sp>
                <p:nvSpPr>
                  <p:cNvPr id="7479" name="Oval 311"/>
                  <p:cNvSpPr>
                    <a:spLocks noChangeArrowheads="1"/>
                  </p:cNvSpPr>
                  <p:nvPr/>
                </p:nvSpPr>
                <p:spPr bwMode="auto">
                  <a:xfrm>
                    <a:off x="892"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0" name="Arc 312"/>
                  <p:cNvSpPr>
                    <a:spLocks/>
                  </p:cNvSpPr>
                  <p:nvPr/>
                </p:nvSpPr>
                <p:spPr bwMode="auto">
                  <a:xfrm rot="10800000">
                    <a:off x="893"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87" name="Group 319"/>
                <p:cNvGrpSpPr>
                  <a:grpSpLocks/>
                </p:cNvGrpSpPr>
                <p:nvPr/>
              </p:nvGrpSpPr>
              <p:grpSpPr bwMode="auto">
                <a:xfrm>
                  <a:off x="909" y="319"/>
                  <a:ext cx="19" cy="5"/>
                  <a:chOff x="909" y="319"/>
                  <a:chExt cx="19" cy="5"/>
                </a:xfrm>
              </p:grpSpPr>
              <p:sp>
                <p:nvSpPr>
                  <p:cNvPr id="7482" name="Arc 314"/>
                  <p:cNvSpPr>
                    <a:spLocks/>
                  </p:cNvSpPr>
                  <p:nvPr/>
                </p:nvSpPr>
                <p:spPr bwMode="auto">
                  <a:xfrm rot="10800000">
                    <a:off x="913"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3" name="Arc 315"/>
                  <p:cNvSpPr>
                    <a:spLocks/>
                  </p:cNvSpPr>
                  <p:nvPr/>
                </p:nvSpPr>
                <p:spPr bwMode="auto">
                  <a:xfrm rot="10800000">
                    <a:off x="909"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4" name="Arc 316"/>
                  <p:cNvSpPr>
                    <a:spLocks/>
                  </p:cNvSpPr>
                  <p:nvPr/>
                </p:nvSpPr>
                <p:spPr bwMode="auto">
                  <a:xfrm rot="10800000">
                    <a:off x="914"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5" name="Arc 317"/>
                  <p:cNvSpPr>
                    <a:spLocks/>
                  </p:cNvSpPr>
                  <p:nvPr/>
                </p:nvSpPr>
                <p:spPr bwMode="auto">
                  <a:xfrm rot="10800000">
                    <a:off x="918"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6" name="Arc 318"/>
                  <p:cNvSpPr>
                    <a:spLocks/>
                  </p:cNvSpPr>
                  <p:nvPr/>
                </p:nvSpPr>
                <p:spPr bwMode="auto">
                  <a:xfrm rot="10800000">
                    <a:off x="923"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88" name="Freeform 320"/>
                <p:cNvSpPr>
                  <a:spLocks/>
                </p:cNvSpPr>
                <p:nvPr/>
              </p:nvSpPr>
              <p:spPr bwMode="auto">
                <a:xfrm>
                  <a:off x="865"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91" name="Group 323"/>
                <p:cNvGrpSpPr>
                  <a:grpSpLocks/>
                </p:cNvGrpSpPr>
                <p:nvPr/>
              </p:nvGrpSpPr>
              <p:grpSpPr bwMode="auto">
                <a:xfrm>
                  <a:off x="929" y="284"/>
                  <a:ext cx="47" cy="37"/>
                  <a:chOff x="929" y="284"/>
                  <a:chExt cx="47" cy="37"/>
                </a:xfrm>
              </p:grpSpPr>
              <p:sp>
                <p:nvSpPr>
                  <p:cNvPr id="7489" name="Freeform 321"/>
                  <p:cNvSpPr>
                    <a:spLocks/>
                  </p:cNvSpPr>
                  <p:nvPr/>
                </p:nvSpPr>
                <p:spPr bwMode="auto">
                  <a:xfrm>
                    <a:off x="929"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90" name="Freeform 322"/>
                  <p:cNvSpPr>
                    <a:spLocks/>
                  </p:cNvSpPr>
                  <p:nvPr/>
                </p:nvSpPr>
                <p:spPr bwMode="auto">
                  <a:xfrm>
                    <a:off x="930"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574" name="Group 406"/>
            <p:cNvGrpSpPr>
              <a:grpSpLocks/>
            </p:cNvGrpSpPr>
            <p:nvPr/>
          </p:nvGrpSpPr>
          <p:grpSpPr bwMode="auto">
            <a:xfrm>
              <a:off x="1213" y="284"/>
              <a:ext cx="321" cy="497"/>
              <a:chOff x="1213" y="284"/>
              <a:chExt cx="321" cy="497"/>
            </a:xfrm>
          </p:grpSpPr>
          <p:grpSp>
            <p:nvGrpSpPr>
              <p:cNvPr id="7509" name="Group 341"/>
              <p:cNvGrpSpPr>
                <a:grpSpLocks/>
              </p:cNvGrpSpPr>
              <p:nvPr/>
            </p:nvGrpSpPr>
            <p:grpSpPr bwMode="auto">
              <a:xfrm>
                <a:off x="1213" y="668"/>
                <a:ext cx="321" cy="113"/>
                <a:chOff x="1213" y="668"/>
                <a:chExt cx="321" cy="113"/>
              </a:xfrm>
            </p:grpSpPr>
            <p:sp>
              <p:nvSpPr>
                <p:cNvPr id="7494" name="Freeform 326"/>
                <p:cNvSpPr>
                  <a:spLocks/>
                </p:cNvSpPr>
                <p:nvPr/>
              </p:nvSpPr>
              <p:spPr bwMode="auto">
                <a:xfrm>
                  <a:off x="1294"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95" name="Freeform 327"/>
                <p:cNvSpPr>
                  <a:spLocks/>
                </p:cNvSpPr>
                <p:nvPr/>
              </p:nvSpPr>
              <p:spPr bwMode="auto">
                <a:xfrm>
                  <a:off x="1213"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98" name="Group 330"/>
                <p:cNvGrpSpPr>
                  <a:grpSpLocks/>
                </p:cNvGrpSpPr>
                <p:nvPr/>
              </p:nvGrpSpPr>
              <p:grpSpPr bwMode="auto">
                <a:xfrm>
                  <a:off x="1240" y="716"/>
                  <a:ext cx="2" cy="5"/>
                  <a:chOff x="1240" y="716"/>
                  <a:chExt cx="2" cy="5"/>
                </a:xfrm>
              </p:grpSpPr>
              <p:sp>
                <p:nvSpPr>
                  <p:cNvPr id="7496" name="Oval 328"/>
                  <p:cNvSpPr>
                    <a:spLocks noChangeArrowheads="1"/>
                  </p:cNvSpPr>
                  <p:nvPr/>
                </p:nvSpPr>
                <p:spPr bwMode="auto">
                  <a:xfrm>
                    <a:off x="1240"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97" name="Arc 329"/>
                  <p:cNvSpPr>
                    <a:spLocks/>
                  </p:cNvSpPr>
                  <p:nvPr/>
                </p:nvSpPr>
                <p:spPr bwMode="auto">
                  <a:xfrm rot="10800000">
                    <a:off x="1241"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04" name="Group 336"/>
                <p:cNvGrpSpPr>
                  <a:grpSpLocks/>
                </p:cNvGrpSpPr>
                <p:nvPr/>
              </p:nvGrpSpPr>
              <p:grpSpPr bwMode="auto">
                <a:xfrm>
                  <a:off x="1257" y="703"/>
                  <a:ext cx="19" cy="5"/>
                  <a:chOff x="1257" y="703"/>
                  <a:chExt cx="19" cy="5"/>
                </a:xfrm>
              </p:grpSpPr>
              <p:sp>
                <p:nvSpPr>
                  <p:cNvPr id="7499" name="Arc 331"/>
                  <p:cNvSpPr>
                    <a:spLocks/>
                  </p:cNvSpPr>
                  <p:nvPr/>
                </p:nvSpPr>
                <p:spPr bwMode="auto">
                  <a:xfrm rot="10800000">
                    <a:off x="126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0" name="Arc 332"/>
                  <p:cNvSpPr>
                    <a:spLocks/>
                  </p:cNvSpPr>
                  <p:nvPr/>
                </p:nvSpPr>
                <p:spPr bwMode="auto">
                  <a:xfrm rot="10800000">
                    <a:off x="1257"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1" name="Arc 333"/>
                  <p:cNvSpPr>
                    <a:spLocks/>
                  </p:cNvSpPr>
                  <p:nvPr/>
                </p:nvSpPr>
                <p:spPr bwMode="auto">
                  <a:xfrm rot="10800000">
                    <a:off x="1262"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2" name="Arc 334"/>
                  <p:cNvSpPr>
                    <a:spLocks/>
                  </p:cNvSpPr>
                  <p:nvPr/>
                </p:nvSpPr>
                <p:spPr bwMode="auto">
                  <a:xfrm rot="10800000">
                    <a:off x="126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3" name="Arc 335"/>
                  <p:cNvSpPr>
                    <a:spLocks/>
                  </p:cNvSpPr>
                  <p:nvPr/>
                </p:nvSpPr>
                <p:spPr bwMode="auto">
                  <a:xfrm rot="10800000">
                    <a:off x="1271"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5" name="Freeform 337"/>
                <p:cNvSpPr>
                  <a:spLocks/>
                </p:cNvSpPr>
                <p:nvPr/>
              </p:nvSpPr>
              <p:spPr bwMode="auto">
                <a:xfrm>
                  <a:off x="1213"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08" name="Group 340"/>
                <p:cNvGrpSpPr>
                  <a:grpSpLocks/>
                </p:cNvGrpSpPr>
                <p:nvPr/>
              </p:nvGrpSpPr>
              <p:grpSpPr bwMode="auto">
                <a:xfrm>
                  <a:off x="1277" y="668"/>
                  <a:ext cx="47" cy="37"/>
                  <a:chOff x="1277" y="668"/>
                  <a:chExt cx="47" cy="37"/>
                </a:xfrm>
              </p:grpSpPr>
              <p:sp>
                <p:nvSpPr>
                  <p:cNvPr id="7506" name="Freeform 338"/>
                  <p:cNvSpPr>
                    <a:spLocks/>
                  </p:cNvSpPr>
                  <p:nvPr/>
                </p:nvSpPr>
                <p:spPr bwMode="auto">
                  <a:xfrm>
                    <a:off x="1277"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07" name="Freeform 339"/>
                  <p:cNvSpPr>
                    <a:spLocks/>
                  </p:cNvSpPr>
                  <p:nvPr/>
                </p:nvSpPr>
                <p:spPr bwMode="auto">
                  <a:xfrm>
                    <a:off x="1278"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25" name="Group 357"/>
              <p:cNvGrpSpPr>
                <a:grpSpLocks/>
              </p:cNvGrpSpPr>
              <p:nvPr/>
            </p:nvGrpSpPr>
            <p:grpSpPr bwMode="auto">
              <a:xfrm>
                <a:off x="1213" y="572"/>
                <a:ext cx="321" cy="113"/>
                <a:chOff x="1213" y="572"/>
                <a:chExt cx="321" cy="113"/>
              </a:xfrm>
            </p:grpSpPr>
            <p:sp>
              <p:nvSpPr>
                <p:cNvPr id="7510" name="Freeform 342"/>
                <p:cNvSpPr>
                  <a:spLocks/>
                </p:cNvSpPr>
                <p:nvPr/>
              </p:nvSpPr>
              <p:spPr bwMode="auto">
                <a:xfrm>
                  <a:off x="1294"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11" name="Freeform 343"/>
                <p:cNvSpPr>
                  <a:spLocks/>
                </p:cNvSpPr>
                <p:nvPr/>
              </p:nvSpPr>
              <p:spPr bwMode="auto">
                <a:xfrm>
                  <a:off x="1213"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14" name="Group 346"/>
                <p:cNvGrpSpPr>
                  <a:grpSpLocks/>
                </p:cNvGrpSpPr>
                <p:nvPr/>
              </p:nvGrpSpPr>
              <p:grpSpPr bwMode="auto">
                <a:xfrm>
                  <a:off x="1240" y="620"/>
                  <a:ext cx="2" cy="5"/>
                  <a:chOff x="1240" y="620"/>
                  <a:chExt cx="2" cy="5"/>
                </a:xfrm>
              </p:grpSpPr>
              <p:sp>
                <p:nvSpPr>
                  <p:cNvPr id="7512" name="Oval 344"/>
                  <p:cNvSpPr>
                    <a:spLocks noChangeArrowheads="1"/>
                  </p:cNvSpPr>
                  <p:nvPr/>
                </p:nvSpPr>
                <p:spPr bwMode="auto">
                  <a:xfrm>
                    <a:off x="1240"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3" name="Arc 345"/>
                  <p:cNvSpPr>
                    <a:spLocks/>
                  </p:cNvSpPr>
                  <p:nvPr/>
                </p:nvSpPr>
                <p:spPr bwMode="auto">
                  <a:xfrm rot="10800000">
                    <a:off x="1241"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20" name="Group 352"/>
                <p:cNvGrpSpPr>
                  <a:grpSpLocks/>
                </p:cNvGrpSpPr>
                <p:nvPr/>
              </p:nvGrpSpPr>
              <p:grpSpPr bwMode="auto">
                <a:xfrm>
                  <a:off x="1257" y="607"/>
                  <a:ext cx="19" cy="5"/>
                  <a:chOff x="1257" y="607"/>
                  <a:chExt cx="19" cy="5"/>
                </a:xfrm>
              </p:grpSpPr>
              <p:sp>
                <p:nvSpPr>
                  <p:cNvPr id="7515" name="Arc 347"/>
                  <p:cNvSpPr>
                    <a:spLocks/>
                  </p:cNvSpPr>
                  <p:nvPr/>
                </p:nvSpPr>
                <p:spPr bwMode="auto">
                  <a:xfrm rot="10800000">
                    <a:off x="126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6" name="Arc 348"/>
                  <p:cNvSpPr>
                    <a:spLocks/>
                  </p:cNvSpPr>
                  <p:nvPr/>
                </p:nvSpPr>
                <p:spPr bwMode="auto">
                  <a:xfrm rot="10800000">
                    <a:off x="1257"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7" name="Arc 349"/>
                  <p:cNvSpPr>
                    <a:spLocks/>
                  </p:cNvSpPr>
                  <p:nvPr/>
                </p:nvSpPr>
                <p:spPr bwMode="auto">
                  <a:xfrm rot="10800000">
                    <a:off x="1262"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8" name="Arc 350"/>
                  <p:cNvSpPr>
                    <a:spLocks/>
                  </p:cNvSpPr>
                  <p:nvPr/>
                </p:nvSpPr>
                <p:spPr bwMode="auto">
                  <a:xfrm rot="10800000">
                    <a:off x="126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9" name="Arc 351"/>
                  <p:cNvSpPr>
                    <a:spLocks/>
                  </p:cNvSpPr>
                  <p:nvPr/>
                </p:nvSpPr>
                <p:spPr bwMode="auto">
                  <a:xfrm rot="10800000">
                    <a:off x="1271"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21" name="Freeform 353"/>
                <p:cNvSpPr>
                  <a:spLocks/>
                </p:cNvSpPr>
                <p:nvPr/>
              </p:nvSpPr>
              <p:spPr bwMode="auto">
                <a:xfrm>
                  <a:off x="1213"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24" name="Group 356"/>
                <p:cNvGrpSpPr>
                  <a:grpSpLocks/>
                </p:cNvGrpSpPr>
                <p:nvPr/>
              </p:nvGrpSpPr>
              <p:grpSpPr bwMode="auto">
                <a:xfrm>
                  <a:off x="1277" y="572"/>
                  <a:ext cx="47" cy="37"/>
                  <a:chOff x="1277" y="572"/>
                  <a:chExt cx="47" cy="37"/>
                </a:xfrm>
              </p:grpSpPr>
              <p:sp>
                <p:nvSpPr>
                  <p:cNvPr id="7522" name="Freeform 354"/>
                  <p:cNvSpPr>
                    <a:spLocks/>
                  </p:cNvSpPr>
                  <p:nvPr/>
                </p:nvSpPr>
                <p:spPr bwMode="auto">
                  <a:xfrm>
                    <a:off x="1277"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23" name="Freeform 355"/>
                  <p:cNvSpPr>
                    <a:spLocks/>
                  </p:cNvSpPr>
                  <p:nvPr/>
                </p:nvSpPr>
                <p:spPr bwMode="auto">
                  <a:xfrm>
                    <a:off x="1278"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41" name="Group 373"/>
              <p:cNvGrpSpPr>
                <a:grpSpLocks/>
              </p:cNvGrpSpPr>
              <p:nvPr/>
            </p:nvGrpSpPr>
            <p:grpSpPr bwMode="auto">
              <a:xfrm>
                <a:off x="1213" y="476"/>
                <a:ext cx="321" cy="113"/>
                <a:chOff x="1213" y="476"/>
                <a:chExt cx="321" cy="113"/>
              </a:xfrm>
            </p:grpSpPr>
            <p:sp>
              <p:nvSpPr>
                <p:cNvPr id="7526" name="Freeform 358"/>
                <p:cNvSpPr>
                  <a:spLocks/>
                </p:cNvSpPr>
                <p:nvPr/>
              </p:nvSpPr>
              <p:spPr bwMode="auto">
                <a:xfrm>
                  <a:off x="1294"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27" name="Freeform 359"/>
                <p:cNvSpPr>
                  <a:spLocks/>
                </p:cNvSpPr>
                <p:nvPr/>
              </p:nvSpPr>
              <p:spPr bwMode="auto">
                <a:xfrm>
                  <a:off x="1213"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30" name="Group 362"/>
                <p:cNvGrpSpPr>
                  <a:grpSpLocks/>
                </p:cNvGrpSpPr>
                <p:nvPr/>
              </p:nvGrpSpPr>
              <p:grpSpPr bwMode="auto">
                <a:xfrm>
                  <a:off x="1240" y="524"/>
                  <a:ext cx="2" cy="5"/>
                  <a:chOff x="1240" y="524"/>
                  <a:chExt cx="2" cy="5"/>
                </a:xfrm>
              </p:grpSpPr>
              <p:sp>
                <p:nvSpPr>
                  <p:cNvPr id="7528" name="Oval 360"/>
                  <p:cNvSpPr>
                    <a:spLocks noChangeArrowheads="1"/>
                  </p:cNvSpPr>
                  <p:nvPr/>
                </p:nvSpPr>
                <p:spPr bwMode="auto">
                  <a:xfrm>
                    <a:off x="1240"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29" name="Arc 361"/>
                  <p:cNvSpPr>
                    <a:spLocks/>
                  </p:cNvSpPr>
                  <p:nvPr/>
                </p:nvSpPr>
                <p:spPr bwMode="auto">
                  <a:xfrm rot="10800000">
                    <a:off x="1241"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36" name="Group 368"/>
                <p:cNvGrpSpPr>
                  <a:grpSpLocks/>
                </p:cNvGrpSpPr>
                <p:nvPr/>
              </p:nvGrpSpPr>
              <p:grpSpPr bwMode="auto">
                <a:xfrm>
                  <a:off x="1257" y="511"/>
                  <a:ext cx="19" cy="5"/>
                  <a:chOff x="1257" y="511"/>
                  <a:chExt cx="19" cy="5"/>
                </a:xfrm>
              </p:grpSpPr>
              <p:sp>
                <p:nvSpPr>
                  <p:cNvPr id="7531" name="Arc 363"/>
                  <p:cNvSpPr>
                    <a:spLocks/>
                  </p:cNvSpPr>
                  <p:nvPr/>
                </p:nvSpPr>
                <p:spPr bwMode="auto">
                  <a:xfrm rot="10800000">
                    <a:off x="126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2" name="Arc 364"/>
                  <p:cNvSpPr>
                    <a:spLocks/>
                  </p:cNvSpPr>
                  <p:nvPr/>
                </p:nvSpPr>
                <p:spPr bwMode="auto">
                  <a:xfrm rot="10800000">
                    <a:off x="1257"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3" name="Arc 365"/>
                  <p:cNvSpPr>
                    <a:spLocks/>
                  </p:cNvSpPr>
                  <p:nvPr/>
                </p:nvSpPr>
                <p:spPr bwMode="auto">
                  <a:xfrm rot="10800000">
                    <a:off x="1262"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4" name="Arc 366"/>
                  <p:cNvSpPr>
                    <a:spLocks/>
                  </p:cNvSpPr>
                  <p:nvPr/>
                </p:nvSpPr>
                <p:spPr bwMode="auto">
                  <a:xfrm rot="10800000">
                    <a:off x="126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5" name="Arc 367"/>
                  <p:cNvSpPr>
                    <a:spLocks/>
                  </p:cNvSpPr>
                  <p:nvPr/>
                </p:nvSpPr>
                <p:spPr bwMode="auto">
                  <a:xfrm rot="10800000">
                    <a:off x="1271"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37" name="Freeform 369"/>
                <p:cNvSpPr>
                  <a:spLocks/>
                </p:cNvSpPr>
                <p:nvPr/>
              </p:nvSpPr>
              <p:spPr bwMode="auto">
                <a:xfrm>
                  <a:off x="1213"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40" name="Group 372"/>
                <p:cNvGrpSpPr>
                  <a:grpSpLocks/>
                </p:cNvGrpSpPr>
                <p:nvPr/>
              </p:nvGrpSpPr>
              <p:grpSpPr bwMode="auto">
                <a:xfrm>
                  <a:off x="1277" y="476"/>
                  <a:ext cx="47" cy="37"/>
                  <a:chOff x="1277" y="476"/>
                  <a:chExt cx="47" cy="37"/>
                </a:xfrm>
              </p:grpSpPr>
              <p:sp>
                <p:nvSpPr>
                  <p:cNvPr id="7538" name="Freeform 370"/>
                  <p:cNvSpPr>
                    <a:spLocks/>
                  </p:cNvSpPr>
                  <p:nvPr/>
                </p:nvSpPr>
                <p:spPr bwMode="auto">
                  <a:xfrm>
                    <a:off x="1277"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39" name="Freeform 371"/>
                  <p:cNvSpPr>
                    <a:spLocks/>
                  </p:cNvSpPr>
                  <p:nvPr/>
                </p:nvSpPr>
                <p:spPr bwMode="auto">
                  <a:xfrm>
                    <a:off x="1278"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57" name="Group 389"/>
              <p:cNvGrpSpPr>
                <a:grpSpLocks/>
              </p:cNvGrpSpPr>
              <p:nvPr/>
            </p:nvGrpSpPr>
            <p:grpSpPr bwMode="auto">
              <a:xfrm>
                <a:off x="1213" y="380"/>
                <a:ext cx="321" cy="113"/>
                <a:chOff x="1213" y="380"/>
                <a:chExt cx="321" cy="113"/>
              </a:xfrm>
            </p:grpSpPr>
            <p:sp>
              <p:nvSpPr>
                <p:cNvPr id="7542" name="Freeform 374"/>
                <p:cNvSpPr>
                  <a:spLocks/>
                </p:cNvSpPr>
                <p:nvPr/>
              </p:nvSpPr>
              <p:spPr bwMode="auto">
                <a:xfrm>
                  <a:off x="1294"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43" name="Freeform 375"/>
                <p:cNvSpPr>
                  <a:spLocks/>
                </p:cNvSpPr>
                <p:nvPr/>
              </p:nvSpPr>
              <p:spPr bwMode="auto">
                <a:xfrm>
                  <a:off x="1213"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46" name="Group 378"/>
                <p:cNvGrpSpPr>
                  <a:grpSpLocks/>
                </p:cNvGrpSpPr>
                <p:nvPr/>
              </p:nvGrpSpPr>
              <p:grpSpPr bwMode="auto">
                <a:xfrm>
                  <a:off x="1240" y="428"/>
                  <a:ext cx="2" cy="5"/>
                  <a:chOff x="1240" y="428"/>
                  <a:chExt cx="2" cy="5"/>
                </a:xfrm>
              </p:grpSpPr>
              <p:sp>
                <p:nvSpPr>
                  <p:cNvPr id="7544" name="Oval 376"/>
                  <p:cNvSpPr>
                    <a:spLocks noChangeArrowheads="1"/>
                  </p:cNvSpPr>
                  <p:nvPr/>
                </p:nvSpPr>
                <p:spPr bwMode="auto">
                  <a:xfrm>
                    <a:off x="1240"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5" name="Arc 377"/>
                  <p:cNvSpPr>
                    <a:spLocks/>
                  </p:cNvSpPr>
                  <p:nvPr/>
                </p:nvSpPr>
                <p:spPr bwMode="auto">
                  <a:xfrm rot="10800000">
                    <a:off x="1241"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52" name="Group 384"/>
                <p:cNvGrpSpPr>
                  <a:grpSpLocks/>
                </p:cNvGrpSpPr>
                <p:nvPr/>
              </p:nvGrpSpPr>
              <p:grpSpPr bwMode="auto">
                <a:xfrm>
                  <a:off x="1257" y="415"/>
                  <a:ext cx="19" cy="5"/>
                  <a:chOff x="1257" y="415"/>
                  <a:chExt cx="19" cy="5"/>
                </a:xfrm>
              </p:grpSpPr>
              <p:sp>
                <p:nvSpPr>
                  <p:cNvPr id="7547" name="Arc 379"/>
                  <p:cNvSpPr>
                    <a:spLocks/>
                  </p:cNvSpPr>
                  <p:nvPr/>
                </p:nvSpPr>
                <p:spPr bwMode="auto">
                  <a:xfrm rot="10800000">
                    <a:off x="126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8" name="Arc 380"/>
                  <p:cNvSpPr>
                    <a:spLocks/>
                  </p:cNvSpPr>
                  <p:nvPr/>
                </p:nvSpPr>
                <p:spPr bwMode="auto">
                  <a:xfrm rot="10800000">
                    <a:off x="1257"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9" name="Arc 381"/>
                  <p:cNvSpPr>
                    <a:spLocks/>
                  </p:cNvSpPr>
                  <p:nvPr/>
                </p:nvSpPr>
                <p:spPr bwMode="auto">
                  <a:xfrm rot="10800000">
                    <a:off x="1262"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50" name="Arc 382"/>
                  <p:cNvSpPr>
                    <a:spLocks/>
                  </p:cNvSpPr>
                  <p:nvPr/>
                </p:nvSpPr>
                <p:spPr bwMode="auto">
                  <a:xfrm rot="10800000">
                    <a:off x="126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51" name="Arc 383"/>
                  <p:cNvSpPr>
                    <a:spLocks/>
                  </p:cNvSpPr>
                  <p:nvPr/>
                </p:nvSpPr>
                <p:spPr bwMode="auto">
                  <a:xfrm rot="10800000">
                    <a:off x="1271"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53" name="Freeform 385"/>
                <p:cNvSpPr>
                  <a:spLocks/>
                </p:cNvSpPr>
                <p:nvPr/>
              </p:nvSpPr>
              <p:spPr bwMode="auto">
                <a:xfrm>
                  <a:off x="1213"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56" name="Group 388"/>
                <p:cNvGrpSpPr>
                  <a:grpSpLocks/>
                </p:cNvGrpSpPr>
                <p:nvPr/>
              </p:nvGrpSpPr>
              <p:grpSpPr bwMode="auto">
                <a:xfrm>
                  <a:off x="1277" y="380"/>
                  <a:ext cx="47" cy="37"/>
                  <a:chOff x="1277" y="380"/>
                  <a:chExt cx="47" cy="37"/>
                </a:xfrm>
              </p:grpSpPr>
              <p:sp>
                <p:nvSpPr>
                  <p:cNvPr id="7554" name="Freeform 386"/>
                  <p:cNvSpPr>
                    <a:spLocks/>
                  </p:cNvSpPr>
                  <p:nvPr/>
                </p:nvSpPr>
                <p:spPr bwMode="auto">
                  <a:xfrm>
                    <a:off x="1277"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55" name="Freeform 387"/>
                  <p:cNvSpPr>
                    <a:spLocks/>
                  </p:cNvSpPr>
                  <p:nvPr/>
                </p:nvSpPr>
                <p:spPr bwMode="auto">
                  <a:xfrm>
                    <a:off x="1278"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73" name="Group 405"/>
              <p:cNvGrpSpPr>
                <a:grpSpLocks/>
              </p:cNvGrpSpPr>
              <p:nvPr/>
            </p:nvGrpSpPr>
            <p:grpSpPr bwMode="auto">
              <a:xfrm>
                <a:off x="1213" y="284"/>
                <a:ext cx="321" cy="113"/>
                <a:chOff x="1213" y="284"/>
                <a:chExt cx="321" cy="113"/>
              </a:xfrm>
            </p:grpSpPr>
            <p:sp>
              <p:nvSpPr>
                <p:cNvPr id="7558" name="Freeform 390"/>
                <p:cNvSpPr>
                  <a:spLocks/>
                </p:cNvSpPr>
                <p:nvPr/>
              </p:nvSpPr>
              <p:spPr bwMode="auto">
                <a:xfrm>
                  <a:off x="1294"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59" name="Freeform 391"/>
                <p:cNvSpPr>
                  <a:spLocks/>
                </p:cNvSpPr>
                <p:nvPr/>
              </p:nvSpPr>
              <p:spPr bwMode="auto">
                <a:xfrm>
                  <a:off x="1213"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62" name="Group 394"/>
                <p:cNvGrpSpPr>
                  <a:grpSpLocks/>
                </p:cNvGrpSpPr>
                <p:nvPr/>
              </p:nvGrpSpPr>
              <p:grpSpPr bwMode="auto">
                <a:xfrm>
                  <a:off x="1240" y="332"/>
                  <a:ext cx="2" cy="5"/>
                  <a:chOff x="1240" y="332"/>
                  <a:chExt cx="2" cy="5"/>
                </a:xfrm>
              </p:grpSpPr>
              <p:sp>
                <p:nvSpPr>
                  <p:cNvPr id="7560" name="Oval 392"/>
                  <p:cNvSpPr>
                    <a:spLocks noChangeArrowheads="1"/>
                  </p:cNvSpPr>
                  <p:nvPr/>
                </p:nvSpPr>
                <p:spPr bwMode="auto">
                  <a:xfrm>
                    <a:off x="1240"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1" name="Arc 393"/>
                  <p:cNvSpPr>
                    <a:spLocks/>
                  </p:cNvSpPr>
                  <p:nvPr/>
                </p:nvSpPr>
                <p:spPr bwMode="auto">
                  <a:xfrm rot="10800000">
                    <a:off x="1241"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68" name="Group 400"/>
                <p:cNvGrpSpPr>
                  <a:grpSpLocks/>
                </p:cNvGrpSpPr>
                <p:nvPr/>
              </p:nvGrpSpPr>
              <p:grpSpPr bwMode="auto">
                <a:xfrm>
                  <a:off x="1257" y="319"/>
                  <a:ext cx="19" cy="5"/>
                  <a:chOff x="1257" y="319"/>
                  <a:chExt cx="19" cy="5"/>
                </a:xfrm>
              </p:grpSpPr>
              <p:sp>
                <p:nvSpPr>
                  <p:cNvPr id="7563" name="Arc 395"/>
                  <p:cNvSpPr>
                    <a:spLocks/>
                  </p:cNvSpPr>
                  <p:nvPr/>
                </p:nvSpPr>
                <p:spPr bwMode="auto">
                  <a:xfrm rot="10800000">
                    <a:off x="126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4" name="Arc 396"/>
                  <p:cNvSpPr>
                    <a:spLocks/>
                  </p:cNvSpPr>
                  <p:nvPr/>
                </p:nvSpPr>
                <p:spPr bwMode="auto">
                  <a:xfrm rot="10800000">
                    <a:off x="1257"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5" name="Arc 397"/>
                  <p:cNvSpPr>
                    <a:spLocks/>
                  </p:cNvSpPr>
                  <p:nvPr/>
                </p:nvSpPr>
                <p:spPr bwMode="auto">
                  <a:xfrm rot="10800000">
                    <a:off x="1262"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6" name="Arc 398"/>
                  <p:cNvSpPr>
                    <a:spLocks/>
                  </p:cNvSpPr>
                  <p:nvPr/>
                </p:nvSpPr>
                <p:spPr bwMode="auto">
                  <a:xfrm rot="10800000">
                    <a:off x="126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 name="Arc 399"/>
                  <p:cNvSpPr>
                    <a:spLocks/>
                  </p:cNvSpPr>
                  <p:nvPr/>
                </p:nvSpPr>
                <p:spPr bwMode="auto">
                  <a:xfrm rot="10800000">
                    <a:off x="1271"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9" name="Freeform 401"/>
                <p:cNvSpPr>
                  <a:spLocks/>
                </p:cNvSpPr>
                <p:nvPr/>
              </p:nvSpPr>
              <p:spPr bwMode="auto">
                <a:xfrm>
                  <a:off x="1213"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72" name="Group 404"/>
                <p:cNvGrpSpPr>
                  <a:grpSpLocks/>
                </p:cNvGrpSpPr>
                <p:nvPr/>
              </p:nvGrpSpPr>
              <p:grpSpPr bwMode="auto">
                <a:xfrm>
                  <a:off x="1277" y="284"/>
                  <a:ext cx="47" cy="37"/>
                  <a:chOff x="1277" y="284"/>
                  <a:chExt cx="47" cy="37"/>
                </a:xfrm>
              </p:grpSpPr>
              <p:sp>
                <p:nvSpPr>
                  <p:cNvPr id="7570" name="Freeform 402"/>
                  <p:cNvSpPr>
                    <a:spLocks/>
                  </p:cNvSpPr>
                  <p:nvPr/>
                </p:nvSpPr>
                <p:spPr bwMode="auto">
                  <a:xfrm>
                    <a:off x="1277"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1" name="Freeform 403"/>
                  <p:cNvSpPr>
                    <a:spLocks/>
                  </p:cNvSpPr>
                  <p:nvPr/>
                </p:nvSpPr>
                <p:spPr bwMode="auto">
                  <a:xfrm>
                    <a:off x="1278"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655" name="Group 487"/>
            <p:cNvGrpSpPr>
              <a:grpSpLocks/>
            </p:cNvGrpSpPr>
            <p:nvPr/>
          </p:nvGrpSpPr>
          <p:grpSpPr bwMode="auto">
            <a:xfrm>
              <a:off x="1561" y="284"/>
              <a:ext cx="321" cy="497"/>
              <a:chOff x="1561" y="284"/>
              <a:chExt cx="321" cy="497"/>
            </a:xfrm>
          </p:grpSpPr>
          <p:grpSp>
            <p:nvGrpSpPr>
              <p:cNvPr id="7590" name="Group 422"/>
              <p:cNvGrpSpPr>
                <a:grpSpLocks/>
              </p:cNvGrpSpPr>
              <p:nvPr/>
            </p:nvGrpSpPr>
            <p:grpSpPr bwMode="auto">
              <a:xfrm>
                <a:off x="1561" y="668"/>
                <a:ext cx="321" cy="113"/>
                <a:chOff x="1561" y="668"/>
                <a:chExt cx="321" cy="113"/>
              </a:xfrm>
            </p:grpSpPr>
            <p:sp>
              <p:nvSpPr>
                <p:cNvPr id="7575" name="Freeform 407"/>
                <p:cNvSpPr>
                  <a:spLocks/>
                </p:cNvSpPr>
                <p:nvPr/>
              </p:nvSpPr>
              <p:spPr bwMode="auto">
                <a:xfrm>
                  <a:off x="1642"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6" name="Freeform 408"/>
                <p:cNvSpPr>
                  <a:spLocks/>
                </p:cNvSpPr>
                <p:nvPr/>
              </p:nvSpPr>
              <p:spPr bwMode="auto">
                <a:xfrm>
                  <a:off x="1561"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79" name="Group 411"/>
                <p:cNvGrpSpPr>
                  <a:grpSpLocks/>
                </p:cNvGrpSpPr>
                <p:nvPr/>
              </p:nvGrpSpPr>
              <p:grpSpPr bwMode="auto">
                <a:xfrm>
                  <a:off x="1588" y="716"/>
                  <a:ext cx="2" cy="5"/>
                  <a:chOff x="1588" y="716"/>
                  <a:chExt cx="2" cy="5"/>
                </a:xfrm>
              </p:grpSpPr>
              <p:sp>
                <p:nvSpPr>
                  <p:cNvPr id="7577" name="Oval 409"/>
                  <p:cNvSpPr>
                    <a:spLocks noChangeArrowheads="1"/>
                  </p:cNvSpPr>
                  <p:nvPr/>
                </p:nvSpPr>
                <p:spPr bwMode="auto">
                  <a:xfrm>
                    <a:off x="1588"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 name="Arc 410"/>
                  <p:cNvSpPr>
                    <a:spLocks/>
                  </p:cNvSpPr>
                  <p:nvPr/>
                </p:nvSpPr>
                <p:spPr bwMode="auto">
                  <a:xfrm rot="10800000">
                    <a:off x="1589"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85" name="Group 417"/>
                <p:cNvGrpSpPr>
                  <a:grpSpLocks/>
                </p:cNvGrpSpPr>
                <p:nvPr/>
              </p:nvGrpSpPr>
              <p:grpSpPr bwMode="auto">
                <a:xfrm>
                  <a:off x="1605" y="703"/>
                  <a:ext cx="19" cy="5"/>
                  <a:chOff x="1605" y="703"/>
                  <a:chExt cx="19" cy="5"/>
                </a:xfrm>
              </p:grpSpPr>
              <p:sp>
                <p:nvSpPr>
                  <p:cNvPr id="7580" name="Arc 412"/>
                  <p:cNvSpPr>
                    <a:spLocks/>
                  </p:cNvSpPr>
                  <p:nvPr/>
                </p:nvSpPr>
                <p:spPr bwMode="auto">
                  <a:xfrm rot="10800000">
                    <a:off x="1609"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 name="Arc 413"/>
                  <p:cNvSpPr>
                    <a:spLocks/>
                  </p:cNvSpPr>
                  <p:nvPr/>
                </p:nvSpPr>
                <p:spPr bwMode="auto">
                  <a:xfrm rot="10800000">
                    <a:off x="1605"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 name="Arc 414"/>
                  <p:cNvSpPr>
                    <a:spLocks/>
                  </p:cNvSpPr>
                  <p:nvPr/>
                </p:nvSpPr>
                <p:spPr bwMode="auto">
                  <a:xfrm rot="10800000">
                    <a:off x="1610"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3" name="Arc 415"/>
                  <p:cNvSpPr>
                    <a:spLocks/>
                  </p:cNvSpPr>
                  <p:nvPr/>
                </p:nvSpPr>
                <p:spPr bwMode="auto">
                  <a:xfrm rot="10800000">
                    <a:off x="1614"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 name="Arc 416"/>
                  <p:cNvSpPr>
                    <a:spLocks/>
                  </p:cNvSpPr>
                  <p:nvPr/>
                </p:nvSpPr>
                <p:spPr bwMode="auto">
                  <a:xfrm rot="10800000">
                    <a:off x="1619"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86" name="Freeform 418"/>
                <p:cNvSpPr>
                  <a:spLocks/>
                </p:cNvSpPr>
                <p:nvPr/>
              </p:nvSpPr>
              <p:spPr bwMode="auto">
                <a:xfrm>
                  <a:off x="1561"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89" name="Group 421"/>
                <p:cNvGrpSpPr>
                  <a:grpSpLocks/>
                </p:cNvGrpSpPr>
                <p:nvPr/>
              </p:nvGrpSpPr>
              <p:grpSpPr bwMode="auto">
                <a:xfrm>
                  <a:off x="1625" y="668"/>
                  <a:ext cx="47" cy="37"/>
                  <a:chOff x="1625" y="668"/>
                  <a:chExt cx="47" cy="37"/>
                </a:xfrm>
              </p:grpSpPr>
              <p:sp>
                <p:nvSpPr>
                  <p:cNvPr id="7587" name="Freeform 419"/>
                  <p:cNvSpPr>
                    <a:spLocks/>
                  </p:cNvSpPr>
                  <p:nvPr/>
                </p:nvSpPr>
                <p:spPr bwMode="auto">
                  <a:xfrm>
                    <a:off x="1625"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8" name="Freeform 420"/>
                  <p:cNvSpPr>
                    <a:spLocks/>
                  </p:cNvSpPr>
                  <p:nvPr/>
                </p:nvSpPr>
                <p:spPr bwMode="auto">
                  <a:xfrm>
                    <a:off x="1626"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06" name="Group 438"/>
              <p:cNvGrpSpPr>
                <a:grpSpLocks/>
              </p:cNvGrpSpPr>
              <p:nvPr/>
            </p:nvGrpSpPr>
            <p:grpSpPr bwMode="auto">
              <a:xfrm>
                <a:off x="1561" y="572"/>
                <a:ext cx="321" cy="113"/>
                <a:chOff x="1561" y="572"/>
                <a:chExt cx="321" cy="113"/>
              </a:xfrm>
            </p:grpSpPr>
            <p:sp>
              <p:nvSpPr>
                <p:cNvPr id="7591" name="Freeform 423"/>
                <p:cNvSpPr>
                  <a:spLocks/>
                </p:cNvSpPr>
                <p:nvPr/>
              </p:nvSpPr>
              <p:spPr bwMode="auto">
                <a:xfrm>
                  <a:off x="1642"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92" name="Freeform 424"/>
                <p:cNvSpPr>
                  <a:spLocks/>
                </p:cNvSpPr>
                <p:nvPr/>
              </p:nvSpPr>
              <p:spPr bwMode="auto">
                <a:xfrm>
                  <a:off x="1561"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95" name="Group 427"/>
                <p:cNvGrpSpPr>
                  <a:grpSpLocks/>
                </p:cNvGrpSpPr>
                <p:nvPr/>
              </p:nvGrpSpPr>
              <p:grpSpPr bwMode="auto">
                <a:xfrm>
                  <a:off x="1588" y="620"/>
                  <a:ext cx="2" cy="5"/>
                  <a:chOff x="1588" y="620"/>
                  <a:chExt cx="2" cy="5"/>
                </a:xfrm>
              </p:grpSpPr>
              <p:sp>
                <p:nvSpPr>
                  <p:cNvPr id="7593" name="Oval 425"/>
                  <p:cNvSpPr>
                    <a:spLocks noChangeArrowheads="1"/>
                  </p:cNvSpPr>
                  <p:nvPr/>
                </p:nvSpPr>
                <p:spPr bwMode="auto">
                  <a:xfrm>
                    <a:off x="1588"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4" name="Arc 426"/>
                  <p:cNvSpPr>
                    <a:spLocks/>
                  </p:cNvSpPr>
                  <p:nvPr/>
                </p:nvSpPr>
                <p:spPr bwMode="auto">
                  <a:xfrm rot="10800000">
                    <a:off x="1589"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01" name="Group 433"/>
                <p:cNvGrpSpPr>
                  <a:grpSpLocks/>
                </p:cNvGrpSpPr>
                <p:nvPr/>
              </p:nvGrpSpPr>
              <p:grpSpPr bwMode="auto">
                <a:xfrm>
                  <a:off x="1605" y="607"/>
                  <a:ext cx="19" cy="5"/>
                  <a:chOff x="1605" y="607"/>
                  <a:chExt cx="19" cy="5"/>
                </a:xfrm>
              </p:grpSpPr>
              <p:sp>
                <p:nvSpPr>
                  <p:cNvPr id="7596" name="Arc 428"/>
                  <p:cNvSpPr>
                    <a:spLocks/>
                  </p:cNvSpPr>
                  <p:nvPr/>
                </p:nvSpPr>
                <p:spPr bwMode="auto">
                  <a:xfrm rot="10800000">
                    <a:off x="1609"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7" name="Arc 429"/>
                  <p:cNvSpPr>
                    <a:spLocks/>
                  </p:cNvSpPr>
                  <p:nvPr/>
                </p:nvSpPr>
                <p:spPr bwMode="auto">
                  <a:xfrm rot="10800000">
                    <a:off x="1605"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8" name="Arc 430"/>
                  <p:cNvSpPr>
                    <a:spLocks/>
                  </p:cNvSpPr>
                  <p:nvPr/>
                </p:nvSpPr>
                <p:spPr bwMode="auto">
                  <a:xfrm rot="10800000">
                    <a:off x="1610"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9" name="Arc 431"/>
                  <p:cNvSpPr>
                    <a:spLocks/>
                  </p:cNvSpPr>
                  <p:nvPr/>
                </p:nvSpPr>
                <p:spPr bwMode="auto">
                  <a:xfrm rot="10800000">
                    <a:off x="1614"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00" name="Arc 432"/>
                  <p:cNvSpPr>
                    <a:spLocks/>
                  </p:cNvSpPr>
                  <p:nvPr/>
                </p:nvSpPr>
                <p:spPr bwMode="auto">
                  <a:xfrm rot="10800000">
                    <a:off x="1619"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02" name="Freeform 434"/>
                <p:cNvSpPr>
                  <a:spLocks/>
                </p:cNvSpPr>
                <p:nvPr/>
              </p:nvSpPr>
              <p:spPr bwMode="auto">
                <a:xfrm>
                  <a:off x="1561"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05" name="Group 437"/>
                <p:cNvGrpSpPr>
                  <a:grpSpLocks/>
                </p:cNvGrpSpPr>
                <p:nvPr/>
              </p:nvGrpSpPr>
              <p:grpSpPr bwMode="auto">
                <a:xfrm>
                  <a:off x="1625" y="572"/>
                  <a:ext cx="47" cy="37"/>
                  <a:chOff x="1625" y="572"/>
                  <a:chExt cx="47" cy="37"/>
                </a:xfrm>
              </p:grpSpPr>
              <p:sp>
                <p:nvSpPr>
                  <p:cNvPr id="7603" name="Freeform 435"/>
                  <p:cNvSpPr>
                    <a:spLocks/>
                  </p:cNvSpPr>
                  <p:nvPr/>
                </p:nvSpPr>
                <p:spPr bwMode="auto">
                  <a:xfrm>
                    <a:off x="1625"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04" name="Freeform 436"/>
                  <p:cNvSpPr>
                    <a:spLocks/>
                  </p:cNvSpPr>
                  <p:nvPr/>
                </p:nvSpPr>
                <p:spPr bwMode="auto">
                  <a:xfrm>
                    <a:off x="1626"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22" name="Group 454"/>
              <p:cNvGrpSpPr>
                <a:grpSpLocks/>
              </p:cNvGrpSpPr>
              <p:nvPr/>
            </p:nvGrpSpPr>
            <p:grpSpPr bwMode="auto">
              <a:xfrm>
                <a:off x="1561" y="476"/>
                <a:ext cx="321" cy="113"/>
                <a:chOff x="1561" y="476"/>
                <a:chExt cx="321" cy="113"/>
              </a:xfrm>
            </p:grpSpPr>
            <p:sp>
              <p:nvSpPr>
                <p:cNvPr id="7607" name="Freeform 439"/>
                <p:cNvSpPr>
                  <a:spLocks/>
                </p:cNvSpPr>
                <p:nvPr/>
              </p:nvSpPr>
              <p:spPr bwMode="auto">
                <a:xfrm>
                  <a:off x="1642"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08" name="Freeform 440"/>
                <p:cNvSpPr>
                  <a:spLocks/>
                </p:cNvSpPr>
                <p:nvPr/>
              </p:nvSpPr>
              <p:spPr bwMode="auto">
                <a:xfrm>
                  <a:off x="1561"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11" name="Group 443"/>
                <p:cNvGrpSpPr>
                  <a:grpSpLocks/>
                </p:cNvGrpSpPr>
                <p:nvPr/>
              </p:nvGrpSpPr>
              <p:grpSpPr bwMode="auto">
                <a:xfrm>
                  <a:off x="1588" y="524"/>
                  <a:ext cx="2" cy="5"/>
                  <a:chOff x="1588" y="524"/>
                  <a:chExt cx="2" cy="5"/>
                </a:xfrm>
              </p:grpSpPr>
              <p:sp>
                <p:nvSpPr>
                  <p:cNvPr id="7609" name="Oval 441"/>
                  <p:cNvSpPr>
                    <a:spLocks noChangeArrowheads="1"/>
                  </p:cNvSpPr>
                  <p:nvPr/>
                </p:nvSpPr>
                <p:spPr bwMode="auto">
                  <a:xfrm>
                    <a:off x="1588"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0" name="Arc 442"/>
                  <p:cNvSpPr>
                    <a:spLocks/>
                  </p:cNvSpPr>
                  <p:nvPr/>
                </p:nvSpPr>
                <p:spPr bwMode="auto">
                  <a:xfrm rot="10800000">
                    <a:off x="1589"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17" name="Group 449"/>
                <p:cNvGrpSpPr>
                  <a:grpSpLocks/>
                </p:cNvGrpSpPr>
                <p:nvPr/>
              </p:nvGrpSpPr>
              <p:grpSpPr bwMode="auto">
                <a:xfrm>
                  <a:off x="1605" y="511"/>
                  <a:ext cx="19" cy="5"/>
                  <a:chOff x="1605" y="511"/>
                  <a:chExt cx="19" cy="5"/>
                </a:xfrm>
              </p:grpSpPr>
              <p:sp>
                <p:nvSpPr>
                  <p:cNvPr id="7612" name="Arc 444"/>
                  <p:cNvSpPr>
                    <a:spLocks/>
                  </p:cNvSpPr>
                  <p:nvPr/>
                </p:nvSpPr>
                <p:spPr bwMode="auto">
                  <a:xfrm rot="10800000">
                    <a:off x="1609"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3" name="Arc 445"/>
                  <p:cNvSpPr>
                    <a:spLocks/>
                  </p:cNvSpPr>
                  <p:nvPr/>
                </p:nvSpPr>
                <p:spPr bwMode="auto">
                  <a:xfrm rot="10800000">
                    <a:off x="1605"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4" name="Arc 446"/>
                  <p:cNvSpPr>
                    <a:spLocks/>
                  </p:cNvSpPr>
                  <p:nvPr/>
                </p:nvSpPr>
                <p:spPr bwMode="auto">
                  <a:xfrm rot="10800000">
                    <a:off x="1610"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5" name="Arc 447"/>
                  <p:cNvSpPr>
                    <a:spLocks/>
                  </p:cNvSpPr>
                  <p:nvPr/>
                </p:nvSpPr>
                <p:spPr bwMode="auto">
                  <a:xfrm rot="10800000">
                    <a:off x="1614"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6" name="Arc 448"/>
                  <p:cNvSpPr>
                    <a:spLocks/>
                  </p:cNvSpPr>
                  <p:nvPr/>
                </p:nvSpPr>
                <p:spPr bwMode="auto">
                  <a:xfrm rot="10800000">
                    <a:off x="1619"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18" name="Freeform 450"/>
                <p:cNvSpPr>
                  <a:spLocks/>
                </p:cNvSpPr>
                <p:nvPr/>
              </p:nvSpPr>
              <p:spPr bwMode="auto">
                <a:xfrm>
                  <a:off x="1561"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21" name="Group 453"/>
                <p:cNvGrpSpPr>
                  <a:grpSpLocks/>
                </p:cNvGrpSpPr>
                <p:nvPr/>
              </p:nvGrpSpPr>
              <p:grpSpPr bwMode="auto">
                <a:xfrm>
                  <a:off x="1625" y="476"/>
                  <a:ext cx="47" cy="37"/>
                  <a:chOff x="1625" y="476"/>
                  <a:chExt cx="47" cy="37"/>
                </a:xfrm>
              </p:grpSpPr>
              <p:sp>
                <p:nvSpPr>
                  <p:cNvPr id="7619" name="Freeform 451"/>
                  <p:cNvSpPr>
                    <a:spLocks/>
                  </p:cNvSpPr>
                  <p:nvPr/>
                </p:nvSpPr>
                <p:spPr bwMode="auto">
                  <a:xfrm>
                    <a:off x="1625"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20" name="Freeform 452"/>
                  <p:cNvSpPr>
                    <a:spLocks/>
                  </p:cNvSpPr>
                  <p:nvPr/>
                </p:nvSpPr>
                <p:spPr bwMode="auto">
                  <a:xfrm>
                    <a:off x="1626"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38" name="Group 470"/>
              <p:cNvGrpSpPr>
                <a:grpSpLocks/>
              </p:cNvGrpSpPr>
              <p:nvPr/>
            </p:nvGrpSpPr>
            <p:grpSpPr bwMode="auto">
              <a:xfrm>
                <a:off x="1561" y="380"/>
                <a:ext cx="321" cy="113"/>
                <a:chOff x="1561" y="380"/>
                <a:chExt cx="321" cy="113"/>
              </a:xfrm>
            </p:grpSpPr>
            <p:sp>
              <p:nvSpPr>
                <p:cNvPr id="7623" name="Freeform 455"/>
                <p:cNvSpPr>
                  <a:spLocks/>
                </p:cNvSpPr>
                <p:nvPr/>
              </p:nvSpPr>
              <p:spPr bwMode="auto">
                <a:xfrm>
                  <a:off x="1642"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24" name="Freeform 456"/>
                <p:cNvSpPr>
                  <a:spLocks/>
                </p:cNvSpPr>
                <p:nvPr/>
              </p:nvSpPr>
              <p:spPr bwMode="auto">
                <a:xfrm>
                  <a:off x="1561"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27" name="Group 459"/>
                <p:cNvGrpSpPr>
                  <a:grpSpLocks/>
                </p:cNvGrpSpPr>
                <p:nvPr/>
              </p:nvGrpSpPr>
              <p:grpSpPr bwMode="auto">
                <a:xfrm>
                  <a:off x="1588" y="428"/>
                  <a:ext cx="2" cy="5"/>
                  <a:chOff x="1588" y="428"/>
                  <a:chExt cx="2" cy="5"/>
                </a:xfrm>
              </p:grpSpPr>
              <p:sp>
                <p:nvSpPr>
                  <p:cNvPr id="7625" name="Oval 457"/>
                  <p:cNvSpPr>
                    <a:spLocks noChangeArrowheads="1"/>
                  </p:cNvSpPr>
                  <p:nvPr/>
                </p:nvSpPr>
                <p:spPr bwMode="auto">
                  <a:xfrm>
                    <a:off x="1588"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26" name="Arc 458"/>
                  <p:cNvSpPr>
                    <a:spLocks/>
                  </p:cNvSpPr>
                  <p:nvPr/>
                </p:nvSpPr>
                <p:spPr bwMode="auto">
                  <a:xfrm rot="10800000">
                    <a:off x="1589"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33" name="Group 465"/>
                <p:cNvGrpSpPr>
                  <a:grpSpLocks/>
                </p:cNvGrpSpPr>
                <p:nvPr/>
              </p:nvGrpSpPr>
              <p:grpSpPr bwMode="auto">
                <a:xfrm>
                  <a:off x="1605" y="415"/>
                  <a:ext cx="19" cy="5"/>
                  <a:chOff x="1605" y="415"/>
                  <a:chExt cx="19" cy="5"/>
                </a:xfrm>
              </p:grpSpPr>
              <p:sp>
                <p:nvSpPr>
                  <p:cNvPr id="7628" name="Arc 460"/>
                  <p:cNvSpPr>
                    <a:spLocks/>
                  </p:cNvSpPr>
                  <p:nvPr/>
                </p:nvSpPr>
                <p:spPr bwMode="auto">
                  <a:xfrm rot="10800000">
                    <a:off x="1609"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29" name="Arc 461"/>
                  <p:cNvSpPr>
                    <a:spLocks/>
                  </p:cNvSpPr>
                  <p:nvPr/>
                </p:nvSpPr>
                <p:spPr bwMode="auto">
                  <a:xfrm rot="10800000">
                    <a:off x="1605"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30" name="Arc 462"/>
                  <p:cNvSpPr>
                    <a:spLocks/>
                  </p:cNvSpPr>
                  <p:nvPr/>
                </p:nvSpPr>
                <p:spPr bwMode="auto">
                  <a:xfrm rot="10800000">
                    <a:off x="1610"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31" name="Arc 463"/>
                  <p:cNvSpPr>
                    <a:spLocks/>
                  </p:cNvSpPr>
                  <p:nvPr/>
                </p:nvSpPr>
                <p:spPr bwMode="auto">
                  <a:xfrm rot="10800000">
                    <a:off x="1614"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32" name="Arc 464"/>
                  <p:cNvSpPr>
                    <a:spLocks/>
                  </p:cNvSpPr>
                  <p:nvPr/>
                </p:nvSpPr>
                <p:spPr bwMode="auto">
                  <a:xfrm rot="10800000">
                    <a:off x="1619"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34" name="Freeform 466"/>
                <p:cNvSpPr>
                  <a:spLocks/>
                </p:cNvSpPr>
                <p:nvPr/>
              </p:nvSpPr>
              <p:spPr bwMode="auto">
                <a:xfrm>
                  <a:off x="1561"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37" name="Group 469"/>
                <p:cNvGrpSpPr>
                  <a:grpSpLocks/>
                </p:cNvGrpSpPr>
                <p:nvPr/>
              </p:nvGrpSpPr>
              <p:grpSpPr bwMode="auto">
                <a:xfrm>
                  <a:off x="1625" y="380"/>
                  <a:ext cx="47" cy="37"/>
                  <a:chOff x="1625" y="380"/>
                  <a:chExt cx="47" cy="37"/>
                </a:xfrm>
              </p:grpSpPr>
              <p:sp>
                <p:nvSpPr>
                  <p:cNvPr id="7635" name="Freeform 467"/>
                  <p:cNvSpPr>
                    <a:spLocks/>
                  </p:cNvSpPr>
                  <p:nvPr/>
                </p:nvSpPr>
                <p:spPr bwMode="auto">
                  <a:xfrm>
                    <a:off x="1625"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36" name="Freeform 468"/>
                  <p:cNvSpPr>
                    <a:spLocks/>
                  </p:cNvSpPr>
                  <p:nvPr/>
                </p:nvSpPr>
                <p:spPr bwMode="auto">
                  <a:xfrm>
                    <a:off x="1626"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54" name="Group 486"/>
              <p:cNvGrpSpPr>
                <a:grpSpLocks/>
              </p:cNvGrpSpPr>
              <p:nvPr/>
            </p:nvGrpSpPr>
            <p:grpSpPr bwMode="auto">
              <a:xfrm>
                <a:off x="1561" y="284"/>
                <a:ext cx="321" cy="113"/>
                <a:chOff x="1561" y="284"/>
                <a:chExt cx="321" cy="113"/>
              </a:xfrm>
            </p:grpSpPr>
            <p:sp>
              <p:nvSpPr>
                <p:cNvPr id="7639" name="Freeform 471"/>
                <p:cNvSpPr>
                  <a:spLocks/>
                </p:cNvSpPr>
                <p:nvPr/>
              </p:nvSpPr>
              <p:spPr bwMode="auto">
                <a:xfrm>
                  <a:off x="1642"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40" name="Freeform 472"/>
                <p:cNvSpPr>
                  <a:spLocks/>
                </p:cNvSpPr>
                <p:nvPr/>
              </p:nvSpPr>
              <p:spPr bwMode="auto">
                <a:xfrm>
                  <a:off x="1561"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43" name="Group 475"/>
                <p:cNvGrpSpPr>
                  <a:grpSpLocks/>
                </p:cNvGrpSpPr>
                <p:nvPr/>
              </p:nvGrpSpPr>
              <p:grpSpPr bwMode="auto">
                <a:xfrm>
                  <a:off x="1588" y="332"/>
                  <a:ext cx="2" cy="5"/>
                  <a:chOff x="1588" y="332"/>
                  <a:chExt cx="2" cy="5"/>
                </a:xfrm>
              </p:grpSpPr>
              <p:sp>
                <p:nvSpPr>
                  <p:cNvPr id="7641" name="Oval 473"/>
                  <p:cNvSpPr>
                    <a:spLocks noChangeArrowheads="1"/>
                  </p:cNvSpPr>
                  <p:nvPr/>
                </p:nvSpPr>
                <p:spPr bwMode="auto">
                  <a:xfrm>
                    <a:off x="1588"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2" name="Arc 474"/>
                  <p:cNvSpPr>
                    <a:spLocks/>
                  </p:cNvSpPr>
                  <p:nvPr/>
                </p:nvSpPr>
                <p:spPr bwMode="auto">
                  <a:xfrm rot="10800000">
                    <a:off x="1589"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49" name="Group 481"/>
                <p:cNvGrpSpPr>
                  <a:grpSpLocks/>
                </p:cNvGrpSpPr>
                <p:nvPr/>
              </p:nvGrpSpPr>
              <p:grpSpPr bwMode="auto">
                <a:xfrm>
                  <a:off x="1605" y="319"/>
                  <a:ext cx="19" cy="5"/>
                  <a:chOff x="1605" y="319"/>
                  <a:chExt cx="19" cy="5"/>
                </a:xfrm>
              </p:grpSpPr>
              <p:sp>
                <p:nvSpPr>
                  <p:cNvPr id="7644" name="Arc 476"/>
                  <p:cNvSpPr>
                    <a:spLocks/>
                  </p:cNvSpPr>
                  <p:nvPr/>
                </p:nvSpPr>
                <p:spPr bwMode="auto">
                  <a:xfrm rot="10800000">
                    <a:off x="1609"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5" name="Arc 477"/>
                  <p:cNvSpPr>
                    <a:spLocks/>
                  </p:cNvSpPr>
                  <p:nvPr/>
                </p:nvSpPr>
                <p:spPr bwMode="auto">
                  <a:xfrm rot="10800000">
                    <a:off x="1605"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6" name="Arc 478"/>
                  <p:cNvSpPr>
                    <a:spLocks/>
                  </p:cNvSpPr>
                  <p:nvPr/>
                </p:nvSpPr>
                <p:spPr bwMode="auto">
                  <a:xfrm rot="10800000">
                    <a:off x="1610"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7" name="Arc 479"/>
                  <p:cNvSpPr>
                    <a:spLocks/>
                  </p:cNvSpPr>
                  <p:nvPr/>
                </p:nvSpPr>
                <p:spPr bwMode="auto">
                  <a:xfrm rot="10800000">
                    <a:off x="1614"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8" name="Arc 480"/>
                  <p:cNvSpPr>
                    <a:spLocks/>
                  </p:cNvSpPr>
                  <p:nvPr/>
                </p:nvSpPr>
                <p:spPr bwMode="auto">
                  <a:xfrm rot="10800000">
                    <a:off x="1619"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50" name="Freeform 482"/>
                <p:cNvSpPr>
                  <a:spLocks/>
                </p:cNvSpPr>
                <p:nvPr/>
              </p:nvSpPr>
              <p:spPr bwMode="auto">
                <a:xfrm>
                  <a:off x="1561"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53" name="Group 485"/>
                <p:cNvGrpSpPr>
                  <a:grpSpLocks/>
                </p:cNvGrpSpPr>
                <p:nvPr/>
              </p:nvGrpSpPr>
              <p:grpSpPr bwMode="auto">
                <a:xfrm>
                  <a:off x="1625" y="284"/>
                  <a:ext cx="47" cy="37"/>
                  <a:chOff x="1625" y="284"/>
                  <a:chExt cx="47" cy="37"/>
                </a:xfrm>
              </p:grpSpPr>
              <p:sp>
                <p:nvSpPr>
                  <p:cNvPr id="7651" name="Freeform 483"/>
                  <p:cNvSpPr>
                    <a:spLocks/>
                  </p:cNvSpPr>
                  <p:nvPr/>
                </p:nvSpPr>
                <p:spPr bwMode="auto">
                  <a:xfrm>
                    <a:off x="1625"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52" name="Freeform 484"/>
                  <p:cNvSpPr>
                    <a:spLocks/>
                  </p:cNvSpPr>
                  <p:nvPr/>
                </p:nvSpPr>
                <p:spPr bwMode="auto">
                  <a:xfrm>
                    <a:off x="1626"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736" name="Group 568"/>
            <p:cNvGrpSpPr>
              <a:grpSpLocks/>
            </p:cNvGrpSpPr>
            <p:nvPr/>
          </p:nvGrpSpPr>
          <p:grpSpPr bwMode="auto">
            <a:xfrm>
              <a:off x="1933" y="284"/>
              <a:ext cx="321" cy="497"/>
              <a:chOff x="1933" y="284"/>
              <a:chExt cx="321" cy="497"/>
            </a:xfrm>
          </p:grpSpPr>
          <p:grpSp>
            <p:nvGrpSpPr>
              <p:cNvPr id="7671" name="Group 503"/>
              <p:cNvGrpSpPr>
                <a:grpSpLocks/>
              </p:cNvGrpSpPr>
              <p:nvPr/>
            </p:nvGrpSpPr>
            <p:grpSpPr bwMode="auto">
              <a:xfrm>
                <a:off x="1933" y="668"/>
                <a:ext cx="321" cy="113"/>
                <a:chOff x="1933" y="668"/>
                <a:chExt cx="321" cy="113"/>
              </a:xfrm>
            </p:grpSpPr>
            <p:sp>
              <p:nvSpPr>
                <p:cNvPr id="7656" name="Freeform 488"/>
                <p:cNvSpPr>
                  <a:spLocks/>
                </p:cNvSpPr>
                <p:nvPr/>
              </p:nvSpPr>
              <p:spPr bwMode="auto">
                <a:xfrm>
                  <a:off x="2014"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57" name="Freeform 489"/>
                <p:cNvSpPr>
                  <a:spLocks/>
                </p:cNvSpPr>
                <p:nvPr/>
              </p:nvSpPr>
              <p:spPr bwMode="auto">
                <a:xfrm>
                  <a:off x="1933"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60" name="Group 492"/>
                <p:cNvGrpSpPr>
                  <a:grpSpLocks/>
                </p:cNvGrpSpPr>
                <p:nvPr/>
              </p:nvGrpSpPr>
              <p:grpSpPr bwMode="auto">
                <a:xfrm>
                  <a:off x="1960" y="716"/>
                  <a:ext cx="2" cy="5"/>
                  <a:chOff x="1960" y="716"/>
                  <a:chExt cx="2" cy="5"/>
                </a:xfrm>
              </p:grpSpPr>
              <p:sp>
                <p:nvSpPr>
                  <p:cNvPr id="7658" name="Oval 490"/>
                  <p:cNvSpPr>
                    <a:spLocks noChangeArrowheads="1"/>
                  </p:cNvSpPr>
                  <p:nvPr/>
                </p:nvSpPr>
                <p:spPr bwMode="auto">
                  <a:xfrm>
                    <a:off x="1960"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59" name="Arc 491"/>
                  <p:cNvSpPr>
                    <a:spLocks/>
                  </p:cNvSpPr>
                  <p:nvPr/>
                </p:nvSpPr>
                <p:spPr bwMode="auto">
                  <a:xfrm rot="10800000">
                    <a:off x="1961"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66" name="Group 498"/>
                <p:cNvGrpSpPr>
                  <a:grpSpLocks/>
                </p:cNvGrpSpPr>
                <p:nvPr/>
              </p:nvGrpSpPr>
              <p:grpSpPr bwMode="auto">
                <a:xfrm>
                  <a:off x="1977" y="703"/>
                  <a:ext cx="19" cy="5"/>
                  <a:chOff x="1977" y="703"/>
                  <a:chExt cx="19" cy="5"/>
                </a:xfrm>
              </p:grpSpPr>
              <p:sp>
                <p:nvSpPr>
                  <p:cNvPr id="7661" name="Arc 493"/>
                  <p:cNvSpPr>
                    <a:spLocks/>
                  </p:cNvSpPr>
                  <p:nvPr/>
                </p:nvSpPr>
                <p:spPr bwMode="auto">
                  <a:xfrm rot="10800000">
                    <a:off x="198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2" name="Arc 494"/>
                  <p:cNvSpPr>
                    <a:spLocks/>
                  </p:cNvSpPr>
                  <p:nvPr/>
                </p:nvSpPr>
                <p:spPr bwMode="auto">
                  <a:xfrm rot="10800000">
                    <a:off x="1977"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3" name="Arc 495"/>
                  <p:cNvSpPr>
                    <a:spLocks/>
                  </p:cNvSpPr>
                  <p:nvPr/>
                </p:nvSpPr>
                <p:spPr bwMode="auto">
                  <a:xfrm rot="10800000">
                    <a:off x="1982"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4" name="Arc 496"/>
                  <p:cNvSpPr>
                    <a:spLocks/>
                  </p:cNvSpPr>
                  <p:nvPr/>
                </p:nvSpPr>
                <p:spPr bwMode="auto">
                  <a:xfrm rot="10800000">
                    <a:off x="198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5" name="Arc 497"/>
                  <p:cNvSpPr>
                    <a:spLocks/>
                  </p:cNvSpPr>
                  <p:nvPr/>
                </p:nvSpPr>
                <p:spPr bwMode="auto">
                  <a:xfrm rot="10800000">
                    <a:off x="1991"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67" name="Freeform 499"/>
                <p:cNvSpPr>
                  <a:spLocks/>
                </p:cNvSpPr>
                <p:nvPr/>
              </p:nvSpPr>
              <p:spPr bwMode="auto">
                <a:xfrm>
                  <a:off x="1933"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70" name="Group 502"/>
                <p:cNvGrpSpPr>
                  <a:grpSpLocks/>
                </p:cNvGrpSpPr>
                <p:nvPr/>
              </p:nvGrpSpPr>
              <p:grpSpPr bwMode="auto">
                <a:xfrm>
                  <a:off x="1997" y="668"/>
                  <a:ext cx="47" cy="37"/>
                  <a:chOff x="1997" y="668"/>
                  <a:chExt cx="47" cy="37"/>
                </a:xfrm>
              </p:grpSpPr>
              <p:sp>
                <p:nvSpPr>
                  <p:cNvPr id="7668" name="Freeform 500"/>
                  <p:cNvSpPr>
                    <a:spLocks/>
                  </p:cNvSpPr>
                  <p:nvPr/>
                </p:nvSpPr>
                <p:spPr bwMode="auto">
                  <a:xfrm>
                    <a:off x="1997"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69" name="Freeform 501"/>
                  <p:cNvSpPr>
                    <a:spLocks/>
                  </p:cNvSpPr>
                  <p:nvPr/>
                </p:nvSpPr>
                <p:spPr bwMode="auto">
                  <a:xfrm>
                    <a:off x="1998"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87" name="Group 519"/>
              <p:cNvGrpSpPr>
                <a:grpSpLocks/>
              </p:cNvGrpSpPr>
              <p:nvPr/>
            </p:nvGrpSpPr>
            <p:grpSpPr bwMode="auto">
              <a:xfrm>
                <a:off x="1933" y="572"/>
                <a:ext cx="321" cy="113"/>
                <a:chOff x="1933" y="572"/>
                <a:chExt cx="321" cy="113"/>
              </a:xfrm>
            </p:grpSpPr>
            <p:sp>
              <p:nvSpPr>
                <p:cNvPr id="7672" name="Freeform 504"/>
                <p:cNvSpPr>
                  <a:spLocks/>
                </p:cNvSpPr>
                <p:nvPr/>
              </p:nvSpPr>
              <p:spPr bwMode="auto">
                <a:xfrm>
                  <a:off x="2014"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73" name="Freeform 505"/>
                <p:cNvSpPr>
                  <a:spLocks/>
                </p:cNvSpPr>
                <p:nvPr/>
              </p:nvSpPr>
              <p:spPr bwMode="auto">
                <a:xfrm>
                  <a:off x="1933"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76" name="Group 508"/>
                <p:cNvGrpSpPr>
                  <a:grpSpLocks/>
                </p:cNvGrpSpPr>
                <p:nvPr/>
              </p:nvGrpSpPr>
              <p:grpSpPr bwMode="auto">
                <a:xfrm>
                  <a:off x="1960" y="620"/>
                  <a:ext cx="2" cy="5"/>
                  <a:chOff x="1960" y="620"/>
                  <a:chExt cx="2" cy="5"/>
                </a:xfrm>
              </p:grpSpPr>
              <p:sp>
                <p:nvSpPr>
                  <p:cNvPr id="7674" name="Oval 506"/>
                  <p:cNvSpPr>
                    <a:spLocks noChangeArrowheads="1"/>
                  </p:cNvSpPr>
                  <p:nvPr/>
                </p:nvSpPr>
                <p:spPr bwMode="auto">
                  <a:xfrm>
                    <a:off x="1960"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5" name="Arc 507"/>
                  <p:cNvSpPr>
                    <a:spLocks/>
                  </p:cNvSpPr>
                  <p:nvPr/>
                </p:nvSpPr>
                <p:spPr bwMode="auto">
                  <a:xfrm rot="10800000">
                    <a:off x="1961"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82" name="Group 514"/>
                <p:cNvGrpSpPr>
                  <a:grpSpLocks/>
                </p:cNvGrpSpPr>
                <p:nvPr/>
              </p:nvGrpSpPr>
              <p:grpSpPr bwMode="auto">
                <a:xfrm>
                  <a:off x="1977" y="607"/>
                  <a:ext cx="19" cy="5"/>
                  <a:chOff x="1977" y="607"/>
                  <a:chExt cx="19" cy="5"/>
                </a:xfrm>
              </p:grpSpPr>
              <p:sp>
                <p:nvSpPr>
                  <p:cNvPr id="7677" name="Arc 509"/>
                  <p:cNvSpPr>
                    <a:spLocks/>
                  </p:cNvSpPr>
                  <p:nvPr/>
                </p:nvSpPr>
                <p:spPr bwMode="auto">
                  <a:xfrm rot="10800000">
                    <a:off x="198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8" name="Arc 510"/>
                  <p:cNvSpPr>
                    <a:spLocks/>
                  </p:cNvSpPr>
                  <p:nvPr/>
                </p:nvSpPr>
                <p:spPr bwMode="auto">
                  <a:xfrm rot="10800000">
                    <a:off x="1977"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9" name="Arc 511"/>
                  <p:cNvSpPr>
                    <a:spLocks/>
                  </p:cNvSpPr>
                  <p:nvPr/>
                </p:nvSpPr>
                <p:spPr bwMode="auto">
                  <a:xfrm rot="10800000">
                    <a:off x="1982"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 name="Arc 512"/>
                  <p:cNvSpPr>
                    <a:spLocks/>
                  </p:cNvSpPr>
                  <p:nvPr/>
                </p:nvSpPr>
                <p:spPr bwMode="auto">
                  <a:xfrm rot="10800000">
                    <a:off x="198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 name="Arc 513"/>
                  <p:cNvSpPr>
                    <a:spLocks/>
                  </p:cNvSpPr>
                  <p:nvPr/>
                </p:nvSpPr>
                <p:spPr bwMode="auto">
                  <a:xfrm rot="10800000">
                    <a:off x="1991"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83" name="Freeform 515"/>
                <p:cNvSpPr>
                  <a:spLocks/>
                </p:cNvSpPr>
                <p:nvPr/>
              </p:nvSpPr>
              <p:spPr bwMode="auto">
                <a:xfrm>
                  <a:off x="1933"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86" name="Group 518"/>
                <p:cNvGrpSpPr>
                  <a:grpSpLocks/>
                </p:cNvGrpSpPr>
                <p:nvPr/>
              </p:nvGrpSpPr>
              <p:grpSpPr bwMode="auto">
                <a:xfrm>
                  <a:off x="1997" y="572"/>
                  <a:ext cx="47" cy="37"/>
                  <a:chOff x="1997" y="572"/>
                  <a:chExt cx="47" cy="37"/>
                </a:xfrm>
              </p:grpSpPr>
              <p:sp>
                <p:nvSpPr>
                  <p:cNvPr id="7684" name="Freeform 516"/>
                  <p:cNvSpPr>
                    <a:spLocks/>
                  </p:cNvSpPr>
                  <p:nvPr/>
                </p:nvSpPr>
                <p:spPr bwMode="auto">
                  <a:xfrm>
                    <a:off x="1997"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5" name="Freeform 517"/>
                  <p:cNvSpPr>
                    <a:spLocks/>
                  </p:cNvSpPr>
                  <p:nvPr/>
                </p:nvSpPr>
                <p:spPr bwMode="auto">
                  <a:xfrm>
                    <a:off x="1998"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03" name="Group 535"/>
              <p:cNvGrpSpPr>
                <a:grpSpLocks/>
              </p:cNvGrpSpPr>
              <p:nvPr/>
            </p:nvGrpSpPr>
            <p:grpSpPr bwMode="auto">
              <a:xfrm>
                <a:off x="1933" y="476"/>
                <a:ext cx="321" cy="113"/>
                <a:chOff x="1933" y="476"/>
                <a:chExt cx="321" cy="113"/>
              </a:xfrm>
            </p:grpSpPr>
            <p:sp>
              <p:nvSpPr>
                <p:cNvPr id="7688" name="Freeform 520"/>
                <p:cNvSpPr>
                  <a:spLocks/>
                </p:cNvSpPr>
                <p:nvPr/>
              </p:nvSpPr>
              <p:spPr bwMode="auto">
                <a:xfrm>
                  <a:off x="2014"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9" name="Freeform 521"/>
                <p:cNvSpPr>
                  <a:spLocks/>
                </p:cNvSpPr>
                <p:nvPr/>
              </p:nvSpPr>
              <p:spPr bwMode="auto">
                <a:xfrm>
                  <a:off x="1933"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92" name="Group 524"/>
                <p:cNvGrpSpPr>
                  <a:grpSpLocks/>
                </p:cNvGrpSpPr>
                <p:nvPr/>
              </p:nvGrpSpPr>
              <p:grpSpPr bwMode="auto">
                <a:xfrm>
                  <a:off x="1960" y="524"/>
                  <a:ext cx="2" cy="5"/>
                  <a:chOff x="1960" y="524"/>
                  <a:chExt cx="2" cy="5"/>
                </a:xfrm>
              </p:grpSpPr>
              <p:sp>
                <p:nvSpPr>
                  <p:cNvPr id="7690" name="Oval 522"/>
                  <p:cNvSpPr>
                    <a:spLocks noChangeArrowheads="1"/>
                  </p:cNvSpPr>
                  <p:nvPr/>
                </p:nvSpPr>
                <p:spPr bwMode="auto">
                  <a:xfrm>
                    <a:off x="1960"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1" name="Arc 523"/>
                  <p:cNvSpPr>
                    <a:spLocks/>
                  </p:cNvSpPr>
                  <p:nvPr/>
                </p:nvSpPr>
                <p:spPr bwMode="auto">
                  <a:xfrm rot="10800000">
                    <a:off x="1961"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98" name="Group 530"/>
                <p:cNvGrpSpPr>
                  <a:grpSpLocks/>
                </p:cNvGrpSpPr>
                <p:nvPr/>
              </p:nvGrpSpPr>
              <p:grpSpPr bwMode="auto">
                <a:xfrm>
                  <a:off x="1977" y="511"/>
                  <a:ext cx="19" cy="5"/>
                  <a:chOff x="1977" y="511"/>
                  <a:chExt cx="19" cy="5"/>
                </a:xfrm>
              </p:grpSpPr>
              <p:sp>
                <p:nvSpPr>
                  <p:cNvPr id="7693" name="Arc 525"/>
                  <p:cNvSpPr>
                    <a:spLocks/>
                  </p:cNvSpPr>
                  <p:nvPr/>
                </p:nvSpPr>
                <p:spPr bwMode="auto">
                  <a:xfrm rot="10800000">
                    <a:off x="198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4" name="Arc 526"/>
                  <p:cNvSpPr>
                    <a:spLocks/>
                  </p:cNvSpPr>
                  <p:nvPr/>
                </p:nvSpPr>
                <p:spPr bwMode="auto">
                  <a:xfrm rot="10800000">
                    <a:off x="1977"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5" name="Arc 527"/>
                  <p:cNvSpPr>
                    <a:spLocks/>
                  </p:cNvSpPr>
                  <p:nvPr/>
                </p:nvSpPr>
                <p:spPr bwMode="auto">
                  <a:xfrm rot="10800000">
                    <a:off x="1982"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6" name="Arc 528"/>
                  <p:cNvSpPr>
                    <a:spLocks/>
                  </p:cNvSpPr>
                  <p:nvPr/>
                </p:nvSpPr>
                <p:spPr bwMode="auto">
                  <a:xfrm rot="10800000">
                    <a:off x="198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7" name="Arc 529"/>
                  <p:cNvSpPr>
                    <a:spLocks/>
                  </p:cNvSpPr>
                  <p:nvPr/>
                </p:nvSpPr>
                <p:spPr bwMode="auto">
                  <a:xfrm rot="10800000">
                    <a:off x="1991"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99" name="Freeform 531"/>
                <p:cNvSpPr>
                  <a:spLocks/>
                </p:cNvSpPr>
                <p:nvPr/>
              </p:nvSpPr>
              <p:spPr bwMode="auto">
                <a:xfrm>
                  <a:off x="1933"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02" name="Group 534"/>
                <p:cNvGrpSpPr>
                  <a:grpSpLocks/>
                </p:cNvGrpSpPr>
                <p:nvPr/>
              </p:nvGrpSpPr>
              <p:grpSpPr bwMode="auto">
                <a:xfrm>
                  <a:off x="1997" y="476"/>
                  <a:ext cx="47" cy="37"/>
                  <a:chOff x="1997" y="476"/>
                  <a:chExt cx="47" cy="37"/>
                </a:xfrm>
              </p:grpSpPr>
              <p:sp>
                <p:nvSpPr>
                  <p:cNvPr id="7700" name="Freeform 532"/>
                  <p:cNvSpPr>
                    <a:spLocks/>
                  </p:cNvSpPr>
                  <p:nvPr/>
                </p:nvSpPr>
                <p:spPr bwMode="auto">
                  <a:xfrm>
                    <a:off x="1997"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01" name="Freeform 533"/>
                  <p:cNvSpPr>
                    <a:spLocks/>
                  </p:cNvSpPr>
                  <p:nvPr/>
                </p:nvSpPr>
                <p:spPr bwMode="auto">
                  <a:xfrm>
                    <a:off x="1998"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19" name="Group 551"/>
              <p:cNvGrpSpPr>
                <a:grpSpLocks/>
              </p:cNvGrpSpPr>
              <p:nvPr/>
            </p:nvGrpSpPr>
            <p:grpSpPr bwMode="auto">
              <a:xfrm>
                <a:off x="1933" y="380"/>
                <a:ext cx="321" cy="113"/>
                <a:chOff x="1933" y="380"/>
                <a:chExt cx="321" cy="113"/>
              </a:xfrm>
            </p:grpSpPr>
            <p:sp>
              <p:nvSpPr>
                <p:cNvPr id="7704" name="Freeform 536"/>
                <p:cNvSpPr>
                  <a:spLocks/>
                </p:cNvSpPr>
                <p:nvPr/>
              </p:nvSpPr>
              <p:spPr bwMode="auto">
                <a:xfrm>
                  <a:off x="2014"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05" name="Freeform 537"/>
                <p:cNvSpPr>
                  <a:spLocks/>
                </p:cNvSpPr>
                <p:nvPr/>
              </p:nvSpPr>
              <p:spPr bwMode="auto">
                <a:xfrm>
                  <a:off x="1933"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08" name="Group 540"/>
                <p:cNvGrpSpPr>
                  <a:grpSpLocks/>
                </p:cNvGrpSpPr>
                <p:nvPr/>
              </p:nvGrpSpPr>
              <p:grpSpPr bwMode="auto">
                <a:xfrm>
                  <a:off x="1960" y="428"/>
                  <a:ext cx="2" cy="5"/>
                  <a:chOff x="1960" y="428"/>
                  <a:chExt cx="2" cy="5"/>
                </a:xfrm>
              </p:grpSpPr>
              <p:sp>
                <p:nvSpPr>
                  <p:cNvPr id="7706" name="Oval 538"/>
                  <p:cNvSpPr>
                    <a:spLocks noChangeArrowheads="1"/>
                  </p:cNvSpPr>
                  <p:nvPr/>
                </p:nvSpPr>
                <p:spPr bwMode="auto">
                  <a:xfrm>
                    <a:off x="1960"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07" name="Arc 539"/>
                  <p:cNvSpPr>
                    <a:spLocks/>
                  </p:cNvSpPr>
                  <p:nvPr/>
                </p:nvSpPr>
                <p:spPr bwMode="auto">
                  <a:xfrm rot="10800000">
                    <a:off x="1961"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14" name="Group 546"/>
                <p:cNvGrpSpPr>
                  <a:grpSpLocks/>
                </p:cNvGrpSpPr>
                <p:nvPr/>
              </p:nvGrpSpPr>
              <p:grpSpPr bwMode="auto">
                <a:xfrm>
                  <a:off x="1977" y="415"/>
                  <a:ext cx="19" cy="5"/>
                  <a:chOff x="1977" y="415"/>
                  <a:chExt cx="19" cy="5"/>
                </a:xfrm>
              </p:grpSpPr>
              <p:sp>
                <p:nvSpPr>
                  <p:cNvPr id="7709" name="Arc 541"/>
                  <p:cNvSpPr>
                    <a:spLocks/>
                  </p:cNvSpPr>
                  <p:nvPr/>
                </p:nvSpPr>
                <p:spPr bwMode="auto">
                  <a:xfrm rot="10800000">
                    <a:off x="198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0" name="Arc 542"/>
                  <p:cNvSpPr>
                    <a:spLocks/>
                  </p:cNvSpPr>
                  <p:nvPr/>
                </p:nvSpPr>
                <p:spPr bwMode="auto">
                  <a:xfrm rot="10800000">
                    <a:off x="1977"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1" name="Arc 543"/>
                  <p:cNvSpPr>
                    <a:spLocks/>
                  </p:cNvSpPr>
                  <p:nvPr/>
                </p:nvSpPr>
                <p:spPr bwMode="auto">
                  <a:xfrm rot="10800000">
                    <a:off x="1982"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2" name="Arc 544"/>
                  <p:cNvSpPr>
                    <a:spLocks/>
                  </p:cNvSpPr>
                  <p:nvPr/>
                </p:nvSpPr>
                <p:spPr bwMode="auto">
                  <a:xfrm rot="10800000">
                    <a:off x="198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3" name="Arc 545"/>
                  <p:cNvSpPr>
                    <a:spLocks/>
                  </p:cNvSpPr>
                  <p:nvPr/>
                </p:nvSpPr>
                <p:spPr bwMode="auto">
                  <a:xfrm rot="10800000">
                    <a:off x="1991"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15" name="Freeform 547"/>
                <p:cNvSpPr>
                  <a:spLocks/>
                </p:cNvSpPr>
                <p:nvPr/>
              </p:nvSpPr>
              <p:spPr bwMode="auto">
                <a:xfrm>
                  <a:off x="1933"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18" name="Group 550"/>
                <p:cNvGrpSpPr>
                  <a:grpSpLocks/>
                </p:cNvGrpSpPr>
                <p:nvPr/>
              </p:nvGrpSpPr>
              <p:grpSpPr bwMode="auto">
                <a:xfrm>
                  <a:off x="1997" y="380"/>
                  <a:ext cx="47" cy="37"/>
                  <a:chOff x="1997" y="380"/>
                  <a:chExt cx="47" cy="37"/>
                </a:xfrm>
              </p:grpSpPr>
              <p:sp>
                <p:nvSpPr>
                  <p:cNvPr id="7716" name="Freeform 548"/>
                  <p:cNvSpPr>
                    <a:spLocks/>
                  </p:cNvSpPr>
                  <p:nvPr/>
                </p:nvSpPr>
                <p:spPr bwMode="auto">
                  <a:xfrm>
                    <a:off x="1997"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17" name="Freeform 549"/>
                  <p:cNvSpPr>
                    <a:spLocks/>
                  </p:cNvSpPr>
                  <p:nvPr/>
                </p:nvSpPr>
                <p:spPr bwMode="auto">
                  <a:xfrm>
                    <a:off x="1998"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35" name="Group 567"/>
              <p:cNvGrpSpPr>
                <a:grpSpLocks/>
              </p:cNvGrpSpPr>
              <p:nvPr/>
            </p:nvGrpSpPr>
            <p:grpSpPr bwMode="auto">
              <a:xfrm>
                <a:off x="1933" y="284"/>
                <a:ext cx="321" cy="113"/>
                <a:chOff x="1933" y="284"/>
                <a:chExt cx="321" cy="113"/>
              </a:xfrm>
            </p:grpSpPr>
            <p:sp>
              <p:nvSpPr>
                <p:cNvPr id="7720" name="Freeform 552"/>
                <p:cNvSpPr>
                  <a:spLocks/>
                </p:cNvSpPr>
                <p:nvPr/>
              </p:nvSpPr>
              <p:spPr bwMode="auto">
                <a:xfrm>
                  <a:off x="2014"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21" name="Freeform 553"/>
                <p:cNvSpPr>
                  <a:spLocks/>
                </p:cNvSpPr>
                <p:nvPr/>
              </p:nvSpPr>
              <p:spPr bwMode="auto">
                <a:xfrm>
                  <a:off x="1933"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24" name="Group 556"/>
                <p:cNvGrpSpPr>
                  <a:grpSpLocks/>
                </p:cNvGrpSpPr>
                <p:nvPr/>
              </p:nvGrpSpPr>
              <p:grpSpPr bwMode="auto">
                <a:xfrm>
                  <a:off x="1960" y="332"/>
                  <a:ext cx="2" cy="5"/>
                  <a:chOff x="1960" y="332"/>
                  <a:chExt cx="2" cy="5"/>
                </a:xfrm>
              </p:grpSpPr>
              <p:sp>
                <p:nvSpPr>
                  <p:cNvPr id="7722" name="Oval 554"/>
                  <p:cNvSpPr>
                    <a:spLocks noChangeArrowheads="1"/>
                  </p:cNvSpPr>
                  <p:nvPr/>
                </p:nvSpPr>
                <p:spPr bwMode="auto">
                  <a:xfrm>
                    <a:off x="1960"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3" name="Arc 555"/>
                  <p:cNvSpPr>
                    <a:spLocks/>
                  </p:cNvSpPr>
                  <p:nvPr/>
                </p:nvSpPr>
                <p:spPr bwMode="auto">
                  <a:xfrm rot="10800000">
                    <a:off x="1961"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30" name="Group 562"/>
                <p:cNvGrpSpPr>
                  <a:grpSpLocks/>
                </p:cNvGrpSpPr>
                <p:nvPr/>
              </p:nvGrpSpPr>
              <p:grpSpPr bwMode="auto">
                <a:xfrm>
                  <a:off x="1977" y="319"/>
                  <a:ext cx="19" cy="5"/>
                  <a:chOff x="1977" y="319"/>
                  <a:chExt cx="19" cy="5"/>
                </a:xfrm>
              </p:grpSpPr>
              <p:sp>
                <p:nvSpPr>
                  <p:cNvPr id="7725" name="Arc 557"/>
                  <p:cNvSpPr>
                    <a:spLocks/>
                  </p:cNvSpPr>
                  <p:nvPr/>
                </p:nvSpPr>
                <p:spPr bwMode="auto">
                  <a:xfrm rot="10800000">
                    <a:off x="198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6" name="Arc 558"/>
                  <p:cNvSpPr>
                    <a:spLocks/>
                  </p:cNvSpPr>
                  <p:nvPr/>
                </p:nvSpPr>
                <p:spPr bwMode="auto">
                  <a:xfrm rot="10800000">
                    <a:off x="1977"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7" name="Arc 559"/>
                  <p:cNvSpPr>
                    <a:spLocks/>
                  </p:cNvSpPr>
                  <p:nvPr/>
                </p:nvSpPr>
                <p:spPr bwMode="auto">
                  <a:xfrm rot="10800000">
                    <a:off x="1982"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8" name="Arc 560"/>
                  <p:cNvSpPr>
                    <a:spLocks/>
                  </p:cNvSpPr>
                  <p:nvPr/>
                </p:nvSpPr>
                <p:spPr bwMode="auto">
                  <a:xfrm rot="10800000">
                    <a:off x="198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9" name="Arc 561"/>
                  <p:cNvSpPr>
                    <a:spLocks/>
                  </p:cNvSpPr>
                  <p:nvPr/>
                </p:nvSpPr>
                <p:spPr bwMode="auto">
                  <a:xfrm rot="10800000">
                    <a:off x="1991"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31" name="Freeform 563"/>
                <p:cNvSpPr>
                  <a:spLocks/>
                </p:cNvSpPr>
                <p:nvPr/>
              </p:nvSpPr>
              <p:spPr bwMode="auto">
                <a:xfrm>
                  <a:off x="1933"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34" name="Group 566"/>
                <p:cNvGrpSpPr>
                  <a:grpSpLocks/>
                </p:cNvGrpSpPr>
                <p:nvPr/>
              </p:nvGrpSpPr>
              <p:grpSpPr bwMode="auto">
                <a:xfrm>
                  <a:off x="1997" y="284"/>
                  <a:ext cx="47" cy="37"/>
                  <a:chOff x="1997" y="284"/>
                  <a:chExt cx="47" cy="37"/>
                </a:xfrm>
              </p:grpSpPr>
              <p:sp>
                <p:nvSpPr>
                  <p:cNvPr id="7732" name="Freeform 564"/>
                  <p:cNvSpPr>
                    <a:spLocks/>
                  </p:cNvSpPr>
                  <p:nvPr/>
                </p:nvSpPr>
                <p:spPr bwMode="auto">
                  <a:xfrm>
                    <a:off x="1997"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33" name="Freeform 565"/>
                  <p:cNvSpPr>
                    <a:spLocks/>
                  </p:cNvSpPr>
                  <p:nvPr/>
                </p:nvSpPr>
                <p:spPr bwMode="auto">
                  <a:xfrm>
                    <a:off x="1998"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817" name="Group 649"/>
            <p:cNvGrpSpPr>
              <a:grpSpLocks/>
            </p:cNvGrpSpPr>
            <p:nvPr/>
          </p:nvGrpSpPr>
          <p:grpSpPr bwMode="auto">
            <a:xfrm>
              <a:off x="2317" y="284"/>
              <a:ext cx="321" cy="497"/>
              <a:chOff x="2317" y="284"/>
              <a:chExt cx="321" cy="497"/>
            </a:xfrm>
          </p:grpSpPr>
          <p:grpSp>
            <p:nvGrpSpPr>
              <p:cNvPr id="7752" name="Group 584"/>
              <p:cNvGrpSpPr>
                <a:grpSpLocks/>
              </p:cNvGrpSpPr>
              <p:nvPr/>
            </p:nvGrpSpPr>
            <p:grpSpPr bwMode="auto">
              <a:xfrm>
                <a:off x="2317" y="668"/>
                <a:ext cx="321" cy="113"/>
                <a:chOff x="2317" y="668"/>
                <a:chExt cx="321" cy="113"/>
              </a:xfrm>
            </p:grpSpPr>
            <p:sp>
              <p:nvSpPr>
                <p:cNvPr id="7737" name="Freeform 569"/>
                <p:cNvSpPr>
                  <a:spLocks/>
                </p:cNvSpPr>
                <p:nvPr/>
              </p:nvSpPr>
              <p:spPr bwMode="auto">
                <a:xfrm>
                  <a:off x="2398"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38" name="Freeform 570"/>
                <p:cNvSpPr>
                  <a:spLocks/>
                </p:cNvSpPr>
                <p:nvPr/>
              </p:nvSpPr>
              <p:spPr bwMode="auto">
                <a:xfrm>
                  <a:off x="2317"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41" name="Group 573"/>
                <p:cNvGrpSpPr>
                  <a:grpSpLocks/>
                </p:cNvGrpSpPr>
                <p:nvPr/>
              </p:nvGrpSpPr>
              <p:grpSpPr bwMode="auto">
                <a:xfrm>
                  <a:off x="2344" y="716"/>
                  <a:ext cx="2" cy="5"/>
                  <a:chOff x="2344" y="716"/>
                  <a:chExt cx="2" cy="5"/>
                </a:xfrm>
              </p:grpSpPr>
              <p:sp>
                <p:nvSpPr>
                  <p:cNvPr id="7739" name="Oval 571"/>
                  <p:cNvSpPr>
                    <a:spLocks noChangeArrowheads="1"/>
                  </p:cNvSpPr>
                  <p:nvPr/>
                </p:nvSpPr>
                <p:spPr bwMode="auto">
                  <a:xfrm>
                    <a:off x="2344"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0" name="Arc 572"/>
                  <p:cNvSpPr>
                    <a:spLocks/>
                  </p:cNvSpPr>
                  <p:nvPr/>
                </p:nvSpPr>
                <p:spPr bwMode="auto">
                  <a:xfrm rot="10800000">
                    <a:off x="2345"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47" name="Group 579"/>
                <p:cNvGrpSpPr>
                  <a:grpSpLocks/>
                </p:cNvGrpSpPr>
                <p:nvPr/>
              </p:nvGrpSpPr>
              <p:grpSpPr bwMode="auto">
                <a:xfrm>
                  <a:off x="2361" y="703"/>
                  <a:ext cx="19" cy="5"/>
                  <a:chOff x="2361" y="703"/>
                  <a:chExt cx="19" cy="5"/>
                </a:xfrm>
              </p:grpSpPr>
              <p:sp>
                <p:nvSpPr>
                  <p:cNvPr id="7742" name="Arc 574"/>
                  <p:cNvSpPr>
                    <a:spLocks/>
                  </p:cNvSpPr>
                  <p:nvPr/>
                </p:nvSpPr>
                <p:spPr bwMode="auto">
                  <a:xfrm rot="10800000">
                    <a:off x="2365"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3" name="Arc 575"/>
                  <p:cNvSpPr>
                    <a:spLocks/>
                  </p:cNvSpPr>
                  <p:nvPr/>
                </p:nvSpPr>
                <p:spPr bwMode="auto">
                  <a:xfrm rot="10800000">
                    <a:off x="236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4" name="Arc 576"/>
                  <p:cNvSpPr>
                    <a:spLocks/>
                  </p:cNvSpPr>
                  <p:nvPr/>
                </p:nvSpPr>
                <p:spPr bwMode="auto">
                  <a:xfrm rot="10800000">
                    <a:off x="236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5" name="Arc 577"/>
                  <p:cNvSpPr>
                    <a:spLocks/>
                  </p:cNvSpPr>
                  <p:nvPr/>
                </p:nvSpPr>
                <p:spPr bwMode="auto">
                  <a:xfrm rot="10800000">
                    <a:off x="2370"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6" name="Arc 578"/>
                  <p:cNvSpPr>
                    <a:spLocks/>
                  </p:cNvSpPr>
                  <p:nvPr/>
                </p:nvSpPr>
                <p:spPr bwMode="auto">
                  <a:xfrm rot="10800000">
                    <a:off x="2375"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48" name="Freeform 580"/>
                <p:cNvSpPr>
                  <a:spLocks/>
                </p:cNvSpPr>
                <p:nvPr/>
              </p:nvSpPr>
              <p:spPr bwMode="auto">
                <a:xfrm>
                  <a:off x="2317"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51" name="Group 583"/>
                <p:cNvGrpSpPr>
                  <a:grpSpLocks/>
                </p:cNvGrpSpPr>
                <p:nvPr/>
              </p:nvGrpSpPr>
              <p:grpSpPr bwMode="auto">
                <a:xfrm>
                  <a:off x="2381" y="668"/>
                  <a:ext cx="47" cy="37"/>
                  <a:chOff x="2381" y="668"/>
                  <a:chExt cx="47" cy="37"/>
                </a:xfrm>
              </p:grpSpPr>
              <p:sp>
                <p:nvSpPr>
                  <p:cNvPr id="7749" name="Freeform 581"/>
                  <p:cNvSpPr>
                    <a:spLocks/>
                  </p:cNvSpPr>
                  <p:nvPr/>
                </p:nvSpPr>
                <p:spPr bwMode="auto">
                  <a:xfrm>
                    <a:off x="2381"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50" name="Freeform 582"/>
                  <p:cNvSpPr>
                    <a:spLocks/>
                  </p:cNvSpPr>
                  <p:nvPr/>
                </p:nvSpPr>
                <p:spPr bwMode="auto">
                  <a:xfrm>
                    <a:off x="2382"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68" name="Group 600"/>
              <p:cNvGrpSpPr>
                <a:grpSpLocks/>
              </p:cNvGrpSpPr>
              <p:nvPr/>
            </p:nvGrpSpPr>
            <p:grpSpPr bwMode="auto">
              <a:xfrm>
                <a:off x="2317" y="572"/>
                <a:ext cx="321" cy="113"/>
                <a:chOff x="2317" y="572"/>
                <a:chExt cx="321" cy="113"/>
              </a:xfrm>
            </p:grpSpPr>
            <p:sp>
              <p:nvSpPr>
                <p:cNvPr id="7753" name="Freeform 585"/>
                <p:cNvSpPr>
                  <a:spLocks/>
                </p:cNvSpPr>
                <p:nvPr/>
              </p:nvSpPr>
              <p:spPr bwMode="auto">
                <a:xfrm>
                  <a:off x="2398"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54" name="Freeform 586"/>
                <p:cNvSpPr>
                  <a:spLocks/>
                </p:cNvSpPr>
                <p:nvPr/>
              </p:nvSpPr>
              <p:spPr bwMode="auto">
                <a:xfrm>
                  <a:off x="2317"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57" name="Group 589"/>
                <p:cNvGrpSpPr>
                  <a:grpSpLocks/>
                </p:cNvGrpSpPr>
                <p:nvPr/>
              </p:nvGrpSpPr>
              <p:grpSpPr bwMode="auto">
                <a:xfrm>
                  <a:off x="2344" y="620"/>
                  <a:ext cx="2" cy="5"/>
                  <a:chOff x="2344" y="620"/>
                  <a:chExt cx="2" cy="5"/>
                </a:xfrm>
              </p:grpSpPr>
              <p:sp>
                <p:nvSpPr>
                  <p:cNvPr id="7755" name="Oval 587"/>
                  <p:cNvSpPr>
                    <a:spLocks noChangeArrowheads="1"/>
                  </p:cNvSpPr>
                  <p:nvPr/>
                </p:nvSpPr>
                <p:spPr bwMode="auto">
                  <a:xfrm>
                    <a:off x="2344"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56" name="Arc 588"/>
                  <p:cNvSpPr>
                    <a:spLocks/>
                  </p:cNvSpPr>
                  <p:nvPr/>
                </p:nvSpPr>
                <p:spPr bwMode="auto">
                  <a:xfrm rot="10800000">
                    <a:off x="2345"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63" name="Group 595"/>
                <p:cNvGrpSpPr>
                  <a:grpSpLocks/>
                </p:cNvGrpSpPr>
                <p:nvPr/>
              </p:nvGrpSpPr>
              <p:grpSpPr bwMode="auto">
                <a:xfrm>
                  <a:off x="2361" y="607"/>
                  <a:ext cx="19" cy="5"/>
                  <a:chOff x="2361" y="607"/>
                  <a:chExt cx="19" cy="5"/>
                </a:xfrm>
              </p:grpSpPr>
              <p:sp>
                <p:nvSpPr>
                  <p:cNvPr id="7758" name="Arc 590"/>
                  <p:cNvSpPr>
                    <a:spLocks/>
                  </p:cNvSpPr>
                  <p:nvPr/>
                </p:nvSpPr>
                <p:spPr bwMode="auto">
                  <a:xfrm rot="10800000">
                    <a:off x="2365"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59" name="Arc 591"/>
                  <p:cNvSpPr>
                    <a:spLocks/>
                  </p:cNvSpPr>
                  <p:nvPr/>
                </p:nvSpPr>
                <p:spPr bwMode="auto">
                  <a:xfrm rot="10800000">
                    <a:off x="236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60" name="Arc 592"/>
                  <p:cNvSpPr>
                    <a:spLocks/>
                  </p:cNvSpPr>
                  <p:nvPr/>
                </p:nvSpPr>
                <p:spPr bwMode="auto">
                  <a:xfrm rot="10800000">
                    <a:off x="236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61" name="Arc 593"/>
                  <p:cNvSpPr>
                    <a:spLocks/>
                  </p:cNvSpPr>
                  <p:nvPr/>
                </p:nvSpPr>
                <p:spPr bwMode="auto">
                  <a:xfrm rot="10800000">
                    <a:off x="2370"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62" name="Arc 594"/>
                  <p:cNvSpPr>
                    <a:spLocks/>
                  </p:cNvSpPr>
                  <p:nvPr/>
                </p:nvSpPr>
                <p:spPr bwMode="auto">
                  <a:xfrm rot="10800000">
                    <a:off x="2375"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64" name="Freeform 596"/>
                <p:cNvSpPr>
                  <a:spLocks/>
                </p:cNvSpPr>
                <p:nvPr/>
              </p:nvSpPr>
              <p:spPr bwMode="auto">
                <a:xfrm>
                  <a:off x="2317"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67" name="Group 599"/>
                <p:cNvGrpSpPr>
                  <a:grpSpLocks/>
                </p:cNvGrpSpPr>
                <p:nvPr/>
              </p:nvGrpSpPr>
              <p:grpSpPr bwMode="auto">
                <a:xfrm>
                  <a:off x="2381" y="572"/>
                  <a:ext cx="47" cy="37"/>
                  <a:chOff x="2381" y="572"/>
                  <a:chExt cx="47" cy="37"/>
                </a:xfrm>
              </p:grpSpPr>
              <p:sp>
                <p:nvSpPr>
                  <p:cNvPr id="7765" name="Freeform 597"/>
                  <p:cNvSpPr>
                    <a:spLocks/>
                  </p:cNvSpPr>
                  <p:nvPr/>
                </p:nvSpPr>
                <p:spPr bwMode="auto">
                  <a:xfrm>
                    <a:off x="2381"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66" name="Freeform 598"/>
                  <p:cNvSpPr>
                    <a:spLocks/>
                  </p:cNvSpPr>
                  <p:nvPr/>
                </p:nvSpPr>
                <p:spPr bwMode="auto">
                  <a:xfrm>
                    <a:off x="2382"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84" name="Group 616"/>
              <p:cNvGrpSpPr>
                <a:grpSpLocks/>
              </p:cNvGrpSpPr>
              <p:nvPr/>
            </p:nvGrpSpPr>
            <p:grpSpPr bwMode="auto">
              <a:xfrm>
                <a:off x="2317" y="476"/>
                <a:ext cx="321" cy="113"/>
                <a:chOff x="2317" y="476"/>
                <a:chExt cx="321" cy="113"/>
              </a:xfrm>
            </p:grpSpPr>
            <p:sp>
              <p:nvSpPr>
                <p:cNvPr id="7769" name="Freeform 601"/>
                <p:cNvSpPr>
                  <a:spLocks/>
                </p:cNvSpPr>
                <p:nvPr/>
              </p:nvSpPr>
              <p:spPr bwMode="auto">
                <a:xfrm>
                  <a:off x="2398"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70" name="Freeform 602"/>
                <p:cNvSpPr>
                  <a:spLocks/>
                </p:cNvSpPr>
                <p:nvPr/>
              </p:nvSpPr>
              <p:spPr bwMode="auto">
                <a:xfrm>
                  <a:off x="2317"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73" name="Group 605"/>
                <p:cNvGrpSpPr>
                  <a:grpSpLocks/>
                </p:cNvGrpSpPr>
                <p:nvPr/>
              </p:nvGrpSpPr>
              <p:grpSpPr bwMode="auto">
                <a:xfrm>
                  <a:off x="2344" y="524"/>
                  <a:ext cx="2" cy="5"/>
                  <a:chOff x="2344" y="524"/>
                  <a:chExt cx="2" cy="5"/>
                </a:xfrm>
              </p:grpSpPr>
              <p:sp>
                <p:nvSpPr>
                  <p:cNvPr id="7771" name="Oval 603"/>
                  <p:cNvSpPr>
                    <a:spLocks noChangeArrowheads="1"/>
                  </p:cNvSpPr>
                  <p:nvPr/>
                </p:nvSpPr>
                <p:spPr bwMode="auto">
                  <a:xfrm>
                    <a:off x="2344"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2" name="Arc 604"/>
                  <p:cNvSpPr>
                    <a:spLocks/>
                  </p:cNvSpPr>
                  <p:nvPr/>
                </p:nvSpPr>
                <p:spPr bwMode="auto">
                  <a:xfrm rot="10800000">
                    <a:off x="2345"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79" name="Group 611"/>
                <p:cNvGrpSpPr>
                  <a:grpSpLocks/>
                </p:cNvGrpSpPr>
                <p:nvPr/>
              </p:nvGrpSpPr>
              <p:grpSpPr bwMode="auto">
                <a:xfrm>
                  <a:off x="2361" y="511"/>
                  <a:ext cx="19" cy="5"/>
                  <a:chOff x="2361" y="511"/>
                  <a:chExt cx="19" cy="5"/>
                </a:xfrm>
              </p:grpSpPr>
              <p:sp>
                <p:nvSpPr>
                  <p:cNvPr id="7774" name="Arc 606"/>
                  <p:cNvSpPr>
                    <a:spLocks/>
                  </p:cNvSpPr>
                  <p:nvPr/>
                </p:nvSpPr>
                <p:spPr bwMode="auto">
                  <a:xfrm rot="10800000">
                    <a:off x="2365"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5" name="Arc 607"/>
                  <p:cNvSpPr>
                    <a:spLocks/>
                  </p:cNvSpPr>
                  <p:nvPr/>
                </p:nvSpPr>
                <p:spPr bwMode="auto">
                  <a:xfrm rot="10800000">
                    <a:off x="236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6" name="Arc 608"/>
                  <p:cNvSpPr>
                    <a:spLocks/>
                  </p:cNvSpPr>
                  <p:nvPr/>
                </p:nvSpPr>
                <p:spPr bwMode="auto">
                  <a:xfrm rot="10800000">
                    <a:off x="236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7" name="Arc 609"/>
                  <p:cNvSpPr>
                    <a:spLocks/>
                  </p:cNvSpPr>
                  <p:nvPr/>
                </p:nvSpPr>
                <p:spPr bwMode="auto">
                  <a:xfrm rot="10800000">
                    <a:off x="2370"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8" name="Arc 610"/>
                  <p:cNvSpPr>
                    <a:spLocks/>
                  </p:cNvSpPr>
                  <p:nvPr/>
                </p:nvSpPr>
                <p:spPr bwMode="auto">
                  <a:xfrm rot="10800000">
                    <a:off x="2375"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80" name="Freeform 612"/>
                <p:cNvSpPr>
                  <a:spLocks/>
                </p:cNvSpPr>
                <p:nvPr/>
              </p:nvSpPr>
              <p:spPr bwMode="auto">
                <a:xfrm>
                  <a:off x="2317"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83" name="Group 615"/>
                <p:cNvGrpSpPr>
                  <a:grpSpLocks/>
                </p:cNvGrpSpPr>
                <p:nvPr/>
              </p:nvGrpSpPr>
              <p:grpSpPr bwMode="auto">
                <a:xfrm>
                  <a:off x="2381" y="476"/>
                  <a:ext cx="47" cy="37"/>
                  <a:chOff x="2381" y="476"/>
                  <a:chExt cx="47" cy="37"/>
                </a:xfrm>
              </p:grpSpPr>
              <p:sp>
                <p:nvSpPr>
                  <p:cNvPr id="7781" name="Freeform 613"/>
                  <p:cNvSpPr>
                    <a:spLocks/>
                  </p:cNvSpPr>
                  <p:nvPr/>
                </p:nvSpPr>
                <p:spPr bwMode="auto">
                  <a:xfrm>
                    <a:off x="2381"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2" name="Freeform 614"/>
                  <p:cNvSpPr>
                    <a:spLocks/>
                  </p:cNvSpPr>
                  <p:nvPr/>
                </p:nvSpPr>
                <p:spPr bwMode="auto">
                  <a:xfrm>
                    <a:off x="2382"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800" name="Group 632"/>
              <p:cNvGrpSpPr>
                <a:grpSpLocks/>
              </p:cNvGrpSpPr>
              <p:nvPr/>
            </p:nvGrpSpPr>
            <p:grpSpPr bwMode="auto">
              <a:xfrm>
                <a:off x="2317" y="380"/>
                <a:ext cx="321" cy="113"/>
                <a:chOff x="2317" y="380"/>
                <a:chExt cx="321" cy="113"/>
              </a:xfrm>
            </p:grpSpPr>
            <p:sp>
              <p:nvSpPr>
                <p:cNvPr id="7785" name="Freeform 617"/>
                <p:cNvSpPr>
                  <a:spLocks/>
                </p:cNvSpPr>
                <p:nvPr/>
              </p:nvSpPr>
              <p:spPr bwMode="auto">
                <a:xfrm>
                  <a:off x="2398"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6" name="Freeform 618"/>
                <p:cNvSpPr>
                  <a:spLocks/>
                </p:cNvSpPr>
                <p:nvPr/>
              </p:nvSpPr>
              <p:spPr bwMode="auto">
                <a:xfrm>
                  <a:off x="2317"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89" name="Group 621"/>
                <p:cNvGrpSpPr>
                  <a:grpSpLocks/>
                </p:cNvGrpSpPr>
                <p:nvPr/>
              </p:nvGrpSpPr>
              <p:grpSpPr bwMode="auto">
                <a:xfrm>
                  <a:off x="2344" y="428"/>
                  <a:ext cx="2" cy="5"/>
                  <a:chOff x="2344" y="428"/>
                  <a:chExt cx="2" cy="5"/>
                </a:xfrm>
              </p:grpSpPr>
              <p:sp>
                <p:nvSpPr>
                  <p:cNvPr id="7787" name="Oval 619"/>
                  <p:cNvSpPr>
                    <a:spLocks noChangeArrowheads="1"/>
                  </p:cNvSpPr>
                  <p:nvPr/>
                </p:nvSpPr>
                <p:spPr bwMode="auto">
                  <a:xfrm>
                    <a:off x="2344"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8" name="Arc 620"/>
                  <p:cNvSpPr>
                    <a:spLocks/>
                  </p:cNvSpPr>
                  <p:nvPr/>
                </p:nvSpPr>
                <p:spPr bwMode="auto">
                  <a:xfrm rot="10800000">
                    <a:off x="2345"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95" name="Group 627"/>
                <p:cNvGrpSpPr>
                  <a:grpSpLocks/>
                </p:cNvGrpSpPr>
                <p:nvPr/>
              </p:nvGrpSpPr>
              <p:grpSpPr bwMode="auto">
                <a:xfrm>
                  <a:off x="2361" y="415"/>
                  <a:ext cx="19" cy="5"/>
                  <a:chOff x="2361" y="415"/>
                  <a:chExt cx="19" cy="5"/>
                </a:xfrm>
              </p:grpSpPr>
              <p:sp>
                <p:nvSpPr>
                  <p:cNvPr id="7790" name="Arc 622"/>
                  <p:cNvSpPr>
                    <a:spLocks/>
                  </p:cNvSpPr>
                  <p:nvPr/>
                </p:nvSpPr>
                <p:spPr bwMode="auto">
                  <a:xfrm rot="10800000">
                    <a:off x="2365"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1" name="Arc 623"/>
                  <p:cNvSpPr>
                    <a:spLocks/>
                  </p:cNvSpPr>
                  <p:nvPr/>
                </p:nvSpPr>
                <p:spPr bwMode="auto">
                  <a:xfrm rot="10800000">
                    <a:off x="236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2" name="Arc 624"/>
                  <p:cNvSpPr>
                    <a:spLocks/>
                  </p:cNvSpPr>
                  <p:nvPr/>
                </p:nvSpPr>
                <p:spPr bwMode="auto">
                  <a:xfrm rot="10800000">
                    <a:off x="236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3" name="Arc 625"/>
                  <p:cNvSpPr>
                    <a:spLocks/>
                  </p:cNvSpPr>
                  <p:nvPr/>
                </p:nvSpPr>
                <p:spPr bwMode="auto">
                  <a:xfrm rot="10800000">
                    <a:off x="2370"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4" name="Arc 626"/>
                  <p:cNvSpPr>
                    <a:spLocks/>
                  </p:cNvSpPr>
                  <p:nvPr/>
                </p:nvSpPr>
                <p:spPr bwMode="auto">
                  <a:xfrm rot="10800000">
                    <a:off x="2375"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96" name="Freeform 628"/>
                <p:cNvSpPr>
                  <a:spLocks/>
                </p:cNvSpPr>
                <p:nvPr/>
              </p:nvSpPr>
              <p:spPr bwMode="auto">
                <a:xfrm>
                  <a:off x="2317"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99" name="Group 631"/>
                <p:cNvGrpSpPr>
                  <a:grpSpLocks/>
                </p:cNvGrpSpPr>
                <p:nvPr/>
              </p:nvGrpSpPr>
              <p:grpSpPr bwMode="auto">
                <a:xfrm>
                  <a:off x="2381" y="380"/>
                  <a:ext cx="47" cy="37"/>
                  <a:chOff x="2381" y="380"/>
                  <a:chExt cx="47" cy="37"/>
                </a:xfrm>
              </p:grpSpPr>
              <p:sp>
                <p:nvSpPr>
                  <p:cNvPr id="7797" name="Freeform 629"/>
                  <p:cNvSpPr>
                    <a:spLocks/>
                  </p:cNvSpPr>
                  <p:nvPr/>
                </p:nvSpPr>
                <p:spPr bwMode="auto">
                  <a:xfrm>
                    <a:off x="2381"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98" name="Freeform 630"/>
                  <p:cNvSpPr>
                    <a:spLocks/>
                  </p:cNvSpPr>
                  <p:nvPr/>
                </p:nvSpPr>
                <p:spPr bwMode="auto">
                  <a:xfrm>
                    <a:off x="2382"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816" name="Group 648"/>
              <p:cNvGrpSpPr>
                <a:grpSpLocks/>
              </p:cNvGrpSpPr>
              <p:nvPr/>
            </p:nvGrpSpPr>
            <p:grpSpPr bwMode="auto">
              <a:xfrm>
                <a:off x="2317" y="284"/>
                <a:ext cx="321" cy="113"/>
                <a:chOff x="2317" y="284"/>
                <a:chExt cx="321" cy="113"/>
              </a:xfrm>
            </p:grpSpPr>
            <p:sp>
              <p:nvSpPr>
                <p:cNvPr id="7801" name="Freeform 633"/>
                <p:cNvSpPr>
                  <a:spLocks/>
                </p:cNvSpPr>
                <p:nvPr/>
              </p:nvSpPr>
              <p:spPr bwMode="auto">
                <a:xfrm>
                  <a:off x="2398"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02" name="Freeform 634"/>
                <p:cNvSpPr>
                  <a:spLocks/>
                </p:cNvSpPr>
                <p:nvPr/>
              </p:nvSpPr>
              <p:spPr bwMode="auto">
                <a:xfrm>
                  <a:off x="2317"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805" name="Group 637"/>
                <p:cNvGrpSpPr>
                  <a:grpSpLocks/>
                </p:cNvGrpSpPr>
                <p:nvPr/>
              </p:nvGrpSpPr>
              <p:grpSpPr bwMode="auto">
                <a:xfrm>
                  <a:off x="2344" y="332"/>
                  <a:ext cx="2" cy="5"/>
                  <a:chOff x="2344" y="332"/>
                  <a:chExt cx="2" cy="5"/>
                </a:xfrm>
              </p:grpSpPr>
              <p:sp>
                <p:nvSpPr>
                  <p:cNvPr id="7803" name="Oval 635"/>
                  <p:cNvSpPr>
                    <a:spLocks noChangeArrowheads="1"/>
                  </p:cNvSpPr>
                  <p:nvPr/>
                </p:nvSpPr>
                <p:spPr bwMode="auto">
                  <a:xfrm>
                    <a:off x="2344"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4" name="Arc 636"/>
                  <p:cNvSpPr>
                    <a:spLocks/>
                  </p:cNvSpPr>
                  <p:nvPr/>
                </p:nvSpPr>
                <p:spPr bwMode="auto">
                  <a:xfrm rot="10800000">
                    <a:off x="2345"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811" name="Group 643"/>
                <p:cNvGrpSpPr>
                  <a:grpSpLocks/>
                </p:cNvGrpSpPr>
                <p:nvPr/>
              </p:nvGrpSpPr>
              <p:grpSpPr bwMode="auto">
                <a:xfrm>
                  <a:off x="2361" y="319"/>
                  <a:ext cx="19" cy="5"/>
                  <a:chOff x="2361" y="319"/>
                  <a:chExt cx="19" cy="5"/>
                </a:xfrm>
              </p:grpSpPr>
              <p:sp>
                <p:nvSpPr>
                  <p:cNvPr id="7806" name="Arc 638"/>
                  <p:cNvSpPr>
                    <a:spLocks/>
                  </p:cNvSpPr>
                  <p:nvPr/>
                </p:nvSpPr>
                <p:spPr bwMode="auto">
                  <a:xfrm rot="10800000">
                    <a:off x="2365"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7" name="Arc 639"/>
                  <p:cNvSpPr>
                    <a:spLocks/>
                  </p:cNvSpPr>
                  <p:nvPr/>
                </p:nvSpPr>
                <p:spPr bwMode="auto">
                  <a:xfrm rot="10800000">
                    <a:off x="236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8" name="Arc 640"/>
                  <p:cNvSpPr>
                    <a:spLocks/>
                  </p:cNvSpPr>
                  <p:nvPr/>
                </p:nvSpPr>
                <p:spPr bwMode="auto">
                  <a:xfrm rot="10800000">
                    <a:off x="236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9" name="Arc 641"/>
                  <p:cNvSpPr>
                    <a:spLocks/>
                  </p:cNvSpPr>
                  <p:nvPr/>
                </p:nvSpPr>
                <p:spPr bwMode="auto">
                  <a:xfrm rot="10800000">
                    <a:off x="2370"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10" name="Arc 642"/>
                  <p:cNvSpPr>
                    <a:spLocks/>
                  </p:cNvSpPr>
                  <p:nvPr/>
                </p:nvSpPr>
                <p:spPr bwMode="auto">
                  <a:xfrm rot="10800000">
                    <a:off x="2375"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812" name="Freeform 644"/>
                <p:cNvSpPr>
                  <a:spLocks/>
                </p:cNvSpPr>
                <p:nvPr/>
              </p:nvSpPr>
              <p:spPr bwMode="auto">
                <a:xfrm>
                  <a:off x="2317"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815" name="Group 647"/>
                <p:cNvGrpSpPr>
                  <a:grpSpLocks/>
                </p:cNvGrpSpPr>
                <p:nvPr/>
              </p:nvGrpSpPr>
              <p:grpSpPr bwMode="auto">
                <a:xfrm>
                  <a:off x="2381" y="284"/>
                  <a:ext cx="47" cy="37"/>
                  <a:chOff x="2381" y="284"/>
                  <a:chExt cx="47" cy="37"/>
                </a:xfrm>
              </p:grpSpPr>
              <p:sp>
                <p:nvSpPr>
                  <p:cNvPr id="7813" name="Freeform 645"/>
                  <p:cNvSpPr>
                    <a:spLocks/>
                  </p:cNvSpPr>
                  <p:nvPr/>
                </p:nvSpPr>
                <p:spPr bwMode="auto">
                  <a:xfrm>
                    <a:off x="2381"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14" name="Freeform 646"/>
                  <p:cNvSpPr>
                    <a:spLocks/>
                  </p:cNvSpPr>
                  <p:nvPr/>
                </p:nvSpPr>
                <p:spPr bwMode="auto">
                  <a:xfrm>
                    <a:off x="2382"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spTree>
    <p:extLst>
      <p:ext uri="{BB962C8B-B14F-4D97-AF65-F5344CB8AC3E}">
        <p14:creationId xmlns:p14="http://schemas.microsoft.com/office/powerpoint/2010/main" val="1675261190"/>
      </p:ext>
    </p:extLst>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4"/>
          <p:cNvSpPr>
            <a:spLocks noGrp="1" noChangeArrowheads="1"/>
          </p:cNvSpPr>
          <p:nvPr>
            <p:ph type="title"/>
          </p:nvPr>
        </p:nvSpPr>
        <p:spPr/>
        <p:txBody>
          <a:bodyPr/>
          <a:lstStyle/>
          <a:p>
            <a:r>
              <a:rPr lang="zh-CN" altLang="en-US" dirty="0"/>
              <a:t>现实世界中的</a:t>
            </a:r>
            <a:r>
              <a:rPr lang="zh-CN" altLang="en-US" dirty="0" smtClean="0"/>
              <a:t>例子：微处理器的成功</a:t>
            </a:r>
            <a:endParaRPr lang="zh-CN" altLang="en-US" dirty="0"/>
          </a:p>
        </p:txBody>
      </p:sp>
      <p:sp>
        <p:nvSpPr>
          <p:cNvPr id="79877" name="Rectangle 5"/>
          <p:cNvSpPr>
            <a:spLocks noGrp="1" noChangeArrowheads="1"/>
          </p:cNvSpPr>
          <p:nvPr>
            <p:ph type="body" idx="1"/>
          </p:nvPr>
        </p:nvSpPr>
        <p:spPr/>
        <p:txBody>
          <a:bodyPr/>
          <a:lstStyle/>
          <a:p>
            <a:r>
              <a:rPr lang="en-US" altLang="zh-CN" dirty="0" smtClean="0"/>
              <a:t>Supercomputer </a:t>
            </a:r>
            <a:r>
              <a:rPr lang="en-US" altLang="zh-CN" dirty="0"/>
              <a:t>eaten by Workstations</a:t>
            </a:r>
          </a:p>
          <a:p>
            <a:pPr lvl="1"/>
            <a:r>
              <a:rPr lang="en-US" altLang="zh-CN" dirty="0"/>
              <a:t>In 1996, Cray Research </a:t>
            </a:r>
            <a:r>
              <a:rPr lang="en-US" altLang="zh-CN" dirty="0" smtClean="0"/>
              <a:t>Inc. </a:t>
            </a:r>
            <a:r>
              <a:rPr lang="en-US" altLang="zh-CN" dirty="0"/>
              <a:t>was acquired by SGI Corporation</a:t>
            </a:r>
          </a:p>
          <a:p>
            <a:pPr lvl="1"/>
            <a:r>
              <a:rPr lang="en-US" altLang="zh-CN" dirty="0"/>
              <a:t>Cray Research: start from </a:t>
            </a:r>
            <a:r>
              <a:rPr lang="en-US" altLang="zh-CN" dirty="0" smtClean="0"/>
              <a:t>1970’s</a:t>
            </a:r>
          </a:p>
          <a:p>
            <a:pPr lvl="1"/>
            <a:r>
              <a:rPr lang="en-US" altLang="zh-CN" dirty="0" smtClean="0"/>
              <a:t>SGI</a:t>
            </a:r>
            <a:r>
              <a:rPr lang="zh-CN" altLang="en-US" dirty="0" smtClean="0"/>
              <a:t>成立于</a:t>
            </a:r>
            <a:r>
              <a:rPr lang="en-US" altLang="zh-CN" dirty="0" smtClean="0"/>
              <a:t>1982</a:t>
            </a:r>
            <a:r>
              <a:rPr lang="zh-CN" altLang="en-US" dirty="0" smtClean="0"/>
              <a:t>年，著名产品：图形工作站、</a:t>
            </a:r>
            <a:r>
              <a:rPr lang="en-US" altLang="zh-CN" dirty="0" smtClean="0"/>
              <a:t>MIPS</a:t>
            </a:r>
            <a:r>
              <a:rPr lang="zh-CN" altLang="en-US" dirty="0" smtClean="0"/>
              <a:t>处理器</a:t>
            </a:r>
            <a:endParaRPr lang="en-US" altLang="zh-CN" dirty="0" smtClean="0"/>
          </a:p>
          <a:p>
            <a:pPr lvl="2"/>
            <a:r>
              <a:rPr lang="en-US" altLang="zh-CN" dirty="0" smtClean="0"/>
              <a:t>2009</a:t>
            </a:r>
            <a:r>
              <a:rPr lang="zh-CN" altLang="en-US" dirty="0" smtClean="0"/>
              <a:t>年被不著名的公司并购，开发高性能计算和存储解决方案</a:t>
            </a:r>
            <a:endParaRPr lang="en-US" altLang="zh-CN" dirty="0"/>
          </a:p>
          <a:p>
            <a:r>
              <a:rPr lang="en-US" altLang="zh-CN" dirty="0"/>
              <a:t>Minicomputers eaten by PCs</a:t>
            </a:r>
          </a:p>
          <a:p>
            <a:pPr lvl="1"/>
            <a:r>
              <a:rPr lang="en-US" altLang="zh-CN" dirty="0"/>
              <a:t>In 1998, Digital Equipment Corporation was acquired by Compaq </a:t>
            </a:r>
          </a:p>
          <a:p>
            <a:pPr lvl="1"/>
            <a:r>
              <a:rPr lang="en-US" altLang="zh-CN" dirty="0"/>
              <a:t>DEC: start from </a:t>
            </a:r>
            <a:r>
              <a:rPr lang="en-US" altLang="zh-CN" dirty="0" smtClean="0"/>
              <a:t>1960’s</a:t>
            </a:r>
            <a:r>
              <a:rPr lang="zh-CN" altLang="en-US" dirty="0" smtClean="0"/>
              <a:t>，著名产品：</a:t>
            </a:r>
            <a:r>
              <a:rPr lang="en-US" altLang="zh-CN" dirty="0" smtClean="0"/>
              <a:t>PDP 11</a:t>
            </a:r>
            <a:r>
              <a:rPr lang="zh-CN" altLang="en-US" dirty="0" smtClean="0"/>
              <a:t>，</a:t>
            </a:r>
            <a:r>
              <a:rPr lang="en-US" altLang="zh-CN" dirty="0" smtClean="0"/>
              <a:t>VAX 780</a:t>
            </a:r>
          </a:p>
          <a:p>
            <a:pPr lvl="1"/>
            <a:r>
              <a:rPr lang="en-US" altLang="zh-CN" dirty="0" smtClean="0"/>
              <a:t>Compaq: </a:t>
            </a:r>
            <a:r>
              <a:rPr lang="zh-CN" altLang="en-US" dirty="0" smtClean="0"/>
              <a:t>康柏，</a:t>
            </a:r>
            <a:r>
              <a:rPr lang="en-US" altLang="zh-CN" dirty="0" smtClean="0"/>
              <a:t>1982</a:t>
            </a:r>
            <a:r>
              <a:rPr lang="zh-CN" altLang="en-US" dirty="0" smtClean="0"/>
              <a:t>年成立的</a:t>
            </a:r>
            <a:r>
              <a:rPr lang="en-US" altLang="zh-CN" dirty="0" smtClean="0"/>
              <a:t>PC</a:t>
            </a:r>
            <a:r>
              <a:rPr lang="zh-CN" altLang="en-US" dirty="0" smtClean="0"/>
              <a:t>公司，</a:t>
            </a:r>
            <a:r>
              <a:rPr lang="en-US" altLang="zh-CN" dirty="0" smtClean="0"/>
              <a:t>2002</a:t>
            </a:r>
            <a:r>
              <a:rPr lang="zh-CN" altLang="en-US" dirty="0" smtClean="0"/>
              <a:t>年被</a:t>
            </a:r>
            <a:r>
              <a:rPr lang="en-US" altLang="zh-CN" dirty="0" smtClean="0"/>
              <a:t>HP</a:t>
            </a:r>
            <a:r>
              <a:rPr lang="zh-CN" altLang="en-US" dirty="0" smtClean="0"/>
              <a:t>并购</a:t>
            </a:r>
            <a:r>
              <a:rPr lang="en-US" altLang="zh-CN" dirty="0" smtClean="0"/>
              <a:t> </a:t>
            </a:r>
            <a:endParaRPr lang="en-US" altLang="zh-CN" dirty="0"/>
          </a:p>
          <a:p>
            <a:pPr lvl="1"/>
            <a:r>
              <a:rPr lang="en-US" altLang="zh-CN" dirty="0" smtClean="0"/>
              <a:t>A Joke</a:t>
            </a:r>
            <a:r>
              <a:rPr lang="en-US" altLang="zh-CN" dirty="0"/>
              <a:t>: Definitely Eaten by </a:t>
            </a:r>
            <a:r>
              <a:rPr lang="en-US" altLang="zh-CN" dirty="0" smtClean="0"/>
              <a:t>Compaq</a:t>
            </a:r>
          </a:p>
          <a:p>
            <a:r>
              <a:rPr lang="zh-CN" altLang="en-US" dirty="0" smtClean="0"/>
              <a:t>“联想收购</a:t>
            </a:r>
            <a:r>
              <a:rPr lang="en-US" altLang="zh-CN" dirty="0" smtClean="0"/>
              <a:t>IBM</a:t>
            </a:r>
            <a:r>
              <a:rPr lang="zh-CN" altLang="en-US" dirty="0" smtClean="0"/>
              <a:t>”</a:t>
            </a:r>
            <a:endParaRPr lang="en-US" altLang="zh-CN" dirty="0" smtClean="0"/>
          </a:p>
          <a:p>
            <a:pPr lvl="1"/>
            <a:r>
              <a:rPr lang="en-US" altLang="zh-CN" dirty="0" smtClean="0"/>
              <a:t>2005</a:t>
            </a:r>
            <a:r>
              <a:rPr lang="zh-CN" altLang="en-US" dirty="0" smtClean="0"/>
              <a:t>年收购</a:t>
            </a:r>
            <a:r>
              <a:rPr lang="en-US" altLang="zh-CN" dirty="0" smtClean="0"/>
              <a:t>PC</a:t>
            </a:r>
            <a:r>
              <a:rPr lang="zh-CN" altLang="en-US" dirty="0" smtClean="0"/>
              <a:t>业务，</a:t>
            </a:r>
            <a:r>
              <a:rPr lang="en-US" altLang="zh-CN" dirty="0" smtClean="0"/>
              <a:t>2014</a:t>
            </a:r>
            <a:r>
              <a:rPr lang="zh-CN" altLang="en-US" dirty="0" smtClean="0"/>
              <a:t>年收购</a:t>
            </a:r>
            <a:r>
              <a:rPr lang="en-US" altLang="zh-CN" dirty="0" smtClean="0"/>
              <a:t>x86</a:t>
            </a:r>
            <a:r>
              <a:rPr lang="zh-CN" altLang="en-US" dirty="0" smtClean="0"/>
              <a:t>服务器业务</a:t>
            </a:r>
            <a:endParaRPr lang="en-US" altLang="zh-CN" dirty="0"/>
          </a:p>
        </p:txBody>
      </p:sp>
    </p:spTree>
    <p:extLst>
      <p:ext uri="{BB962C8B-B14F-4D97-AF65-F5344CB8AC3E}">
        <p14:creationId xmlns:p14="http://schemas.microsoft.com/office/powerpoint/2010/main" val="633178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微处理器出现后，计算平台的发展</a:t>
            </a:r>
            <a:endParaRPr lang="zh-CN" altLang="en-US" dirty="0"/>
          </a:p>
        </p:txBody>
      </p:sp>
      <p:sp>
        <p:nvSpPr>
          <p:cNvPr id="5" name="内容占位符 4"/>
          <p:cNvSpPr>
            <a:spLocks noGrp="1"/>
          </p:cNvSpPr>
          <p:nvPr>
            <p:ph idx="1"/>
          </p:nvPr>
        </p:nvSpPr>
        <p:spPr/>
        <p:txBody>
          <a:bodyPr/>
          <a:lstStyle/>
          <a:p>
            <a:r>
              <a:rPr lang="zh-CN" altLang="en-US" dirty="0" smtClean="0"/>
              <a:t>个人计算机</a:t>
            </a:r>
            <a:r>
              <a:rPr lang="en-US" altLang="zh-CN" dirty="0" smtClean="0"/>
              <a:t>(PC)</a:t>
            </a:r>
            <a:r>
              <a:rPr lang="zh-CN" altLang="en-US" dirty="0" smtClean="0"/>
              <a:t>，不再是专业装备</a:t>
            </a:r>
            <a:endParaRPr lang="en-US" altLang="zh-CN" dirty="0" smtClean="0"/>
          </a:p>
          <a:p>
            <a:pPr lvl="1"/>
            <a:r>
              <a:rPr lang="zh-CN" altLang="en-US" dirty="0" smtClean="0"/>
              <a:t>计算的普及：日常办公、休闲娱乐</a:t>
            </a:r>
            <a:endParaRPr lang="en-US" altLang="zh-CN" dirty="0" smtClean="0"/>
          </a:p>
          <a:p>
            <a:pPr lvl="1"/>
            <a:endParaRPr lang="en-US" altLang="zh-CN" dirty="0" smtClean="0"/>
          </a:p>
          <a:p>
            <a:r>
              <a:rPr lang="zh-CN" altLang="en-US" dirty="0" smtClean="0"/>
              <a:t>智能手机</a:t>
            </a:r>
            <a:r>
              <a:rPr lang="en-US" altLang="zh-CN" dirty="0" smtClean="0"/>
              <a:t>(Smart Phone)</a:t>
            </a:r>
          </a:p>
          <a:p>
            <a:pPr lvl="1"/>
            <a:r>
              <a:rPr lang="zh-CN" altLang="en-US" dirty="0" smtClean="0"/>
              <a:t>移动性和</a:t>
            </a:r>
            <a:r>
              <a:rPr lang="zh-CN" altLang="en-US" dirty="0"/>
              <a:t>广泛</a:t>
            </a:r>
            <a:r>
              <a:rPr lang="zh-CN" altLang="en-US" dirty="0" smtClean="0"/>
              <a:t>应用：饮食起居</a:t>
            </a:r>
            <a:endParaRPr lang="en-US" altLang="zh-CN" dirty="0" smtClean="0"/>
          </a:p>
          <a:p>
            <a:pPr lvl="1"/>
            <a:endParaRPr lang="en-US" altLang="zh-CN" dirty="0" smtClean="0"/>
          </a:p>
          <a:p>
            <a:r>
              <a:rPr lang="zh-CN" altLang="en-US" dirty="0" smtClean="0"/>
              <a:t>自主驾驶汽车</a:t>
            </a:r>
            <a:endParaRPr lang="en-US" altLang="zh-CN" dirty="0" smtClean="0"/>
          </a:p>
          <a:p>
            <a:pPr lvl="1"/>
            <a:r>
              <a:rPr lang="zh-CN" altLang="en-US" dirty="0" smtClean="0"/>
              <a:t>可信安全：性命交关</a:t>
            </a:r>
            <a:endParaRPr lang="en-US" altLang="zh-CN" dirty="0" smtClean="0"/>
          </a:p>
          <a:p>
            <a:pPr marL="457200" lvl="1" indent="0">
              <a:buNone/>
            </a:pPr>
            <a:endParaRPr lang="en-US" altLang="zh-CN" dirty="0" smtClean="0"/>
          </a:p>
        </p:txBody>
      </p:sp>
      <p:pic>
        <p:nvPicPr>
          <p:cNvPr id="6" name="图片 5"/>
          <p:cNvPicPr>
            <a:picLocks noChangeAspect="1"/>
          </p:cNvPicPr>
          <p:nvPr/>
        </p:nvPicPr>
        <p:blipFill>
          <a:blip r:embed="rId2"/>
          <a:stretch>
            <a:fillRect/>
          </a:stretch>
        </p:blipFill>
        <p:spPr>
          <a:xfrm>
            <a:off x="6600057" y="4813492"/>
            <a:ext cx="3297892" cy="1783860"/>
          </a:xfrm>
          <a:prstGeom prst="rect">
            <a:avLst/>
          </a:prstGeom>
        </p:spPr>
      </p:pic>
      <p:pic>
        <p:nvPicPr>
          <p:cNvPr id="9" name="图片 8"/>
          <p:cNvPicPr>
            <a:picLocks noChangeAspect="1"/>
          </p:cNvPicPr>
          <p:nvPr/>
        </p:nvPicPr>
        <p:blipFill>
          <a:blip r:embed="rId3"/>
          <a:stretch>
            <a:fillRect/>
          </a:stretch>
        </p:blipFill>
        <p:spPr>
          <a:xfrm>
            <a:off x="9355266" y="1404778"/>
            <a:ext cx="2620288" cy="2096230"/>
          </a:xfrm>
          <a:prstGeom prst="rect">
            <a:avLst/>
          </a:prstGeom>
        </p:spPr>
      </p:pic>
      <p:pic>
        <p:nvPicPr>
          <p:cNvPr id="11" name="图片 10"/>
          <p:cNvPicPr>
            <a:picLocks noChangeAspect="1"/>
          </p:cNvPicPr>
          <p:nvPr/>
        </p:nvPicPr>
        <p:blipFill>
          <a:blip r:embed="rId4"/>
          <a:stretch>
            <a:fillRect/>
          </a:stretch>
        </p:blipFill>
        <p:spPr>
          <a:xfrm rot="4328733">
            <a:off x="7592834" y="2932712"/>
            <a:ext cx="995711" cy="1903565"/>
          </a:xfrm>
          <a:prstGeom prst="rect">
            <a:avLst/>
          </a:prstGeom>
        </p:spPr>
      </p:pic>
    </p:spTree>
    <p:extLst>
      <p:ext uri="{BB962C8B-B14F-4D97-AF65-F5344CB8AC3E}">
        <p14:creationId xmlns:p14="http://schemas.microsoft.com/office/powerpoint/2010/main" val="665928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计算平台上</a:t>
            </a:r>
            <a:r>
              <a:rPr lang="en-US" altLang="zh-CN" dirty="0" smtClean="0"/>
              <a:t>CPU</a:t>
            </a:r>
            <a:r>
              <a:rPr lang="zh-CN" altLang="en-US" dirty="0" smtClean="0"/>
              <a:t>架构的三分天下</a:t>
            </a:r>
            <a:endParaRPr lang="zh-CN" altLang="en-US" dirty="0"/>
          </a:p>
        </p:txBody>
      </p:sp>
      <p:sp>
        <p:nvSpPr>
          <p:cNvPr id="6" name="内容占位符 4"/>
          <p:cNvSpPr>
            <a:spLocks noGrp="1"/>
          </p:cNvSpPr>
          <p:nvPr>
            <p:ph idx="1"/>
          </p:nvPr>
        </p:nvSpPr>
        <p:spPr/>
        <p:txBody>
          <a:bodyPr/>
          <a:lstStyle/>
          <a:p>
            <a:r>
              <a:rPr lang="zh-CN" altLang="en-US" dirty="0" smtClean="0"/>
              <a:t>个人计算机</a:t>
            </a:r>
            <a:r>
              <a:rPr lang="en-US" altLang="zh-CN" dirty="0" smtClean="0"/>
              <a:t>(PC) 			</a:t>
            </a:r>
            <a:r>
              <a:rPr lang="en-US" altLang="zh-CN" dirty="0" smtClean="0">
                <a:solidFill>
                  <a:srgbClr val="FF0000"/>
                </a:solidFill>
              </a:rPr>
              <a:t>x86</a:t>
            </a:r>
          </a:p>
          <a:p>
            <a:pPr lvl="1"/>
            <a:r>
              <a:rPr lang="zh-CN" altLang="en-US" dirty="0" smtClean="0"/>
              <a:t>计算的普及：日常办公、休闲娱乐</a:t>
            </a:r>
            <a:endParaRPr lang="en-US" altLang="zh-CN" dirty="0" smtClean="0"/>
          </a:p>
          <a:p>
            <a:pPr lvl="1"/>
            <a:endParaRPr lang="en-US" altLang="zh-CN" dirty="0" smtClean="0"/>
          </a:p>
          <a:p>
            <a:r>
              <a:rPr lang="zh-CN" altLang="en-US" dirty="0" smtClean="0"/>
              <a:t>智能手机</a:t>
            </a:r>
            <a:r>
              <a:rPr lang="en-US" altLang="zh-CN" dirty="0" smtClean="0"/>
              <a:t>				ARM</a:t>
            </a:r>
          </a:p>
          <a:p>
            <a:pPr lvl="1"/>
            <a:r>
              <a:rPr lang="zh-CN" altLang="en-US" dirty="0" smtClean="0"/>
              <a:t>移动性和智能应用：饮食起居</a:t>
            </a:r>
            <a:endParaRPr lang="en-US" altLang="zh-CN" dirty="0" smtClean="0"/>
          </a:p>
          <a:p>
            <a:pPr lvl="1"/>
            <a:endParaRPr lang="en-US" altLang="zh-CN" dirty="0" smtClean="0"/>
          </a:p>
          <a:p>
            <a:pPr lvl="1"/>
            <a:endParaRPr lang="en-US" altLang="zh-CN" dirty="0" smtClean="0"/>
          </a:p>
          <a:p>
            <a:r>
              <a:rPr lang="zh-CN" altLang="en-US" dirty="0" smtClean="0"/>
              <a:t>自主驾驶汽车</a:t>
            </a:r>
            <a:r>
              <a:rPr lang="en-US" altLang="zh-CN" dirty="0" smtClean="0"/>
              <a:t>			</a:t>
            </a:r>
            <a:r>
              <a:rPr lang="en-US" altLang="zh-CN" dirty="0" smtClean="0">
                <a:solidFill>
                  <a:srgbClr val="00B050"/>
                </a:solidFill>
              </a:rPr>
              <a:t>RISC-V </a:t>
            </a:r>
            <a:r>
              <a:rPr lang="en-US" altLang="zh-CN" dirty="0" smtClean="0"/>
              <a:t>?</a:t>
            </a:r>
          </a:p>
          <a:p>
            <a:pPr lvl="1"/>
            <a:r>
              <a:rPr lang="zh-CN" altLang="en-US" dirty="0" smtClean="0"/>
              <a:t>可信安全：性命交关</a:t>
            </a:r>
            <a:endParaRPr lang="en-US" altLang="zh-CN" dirty="0" smtClean="0"/>
          </a:p>
          <a:p>
            <a:pPr marL="457200" lvl="1" indent="0">
              <a:buNone/>
            </a:pPr>
            <a:endParaRPr lang="en-US" altLang="zh-CN" dirty="0" smtClean="0"/>
          </a:p>
        </p:txBody>
      </p:sp>
      <p:pic>
        <p:nvPicPr>
          <p:cNvPr id="7" name="图片 6"/>
          <p:cNvPicPr>
            <a:picLocks noChangeAspect="1"/>
          </p:cNvPicPr>
          <p:nvPr/>
        </p:nvPicPr>
        <p:blipFill>
          <a:blip r:embed="rId2"/>
          <a:stretch>
            <a:fillRect/>
          </a:stretch>
        </p:blipFill>
        <p:spPr>
          <a:xfrm>
            <a:off x="8400256" y="2113414"/>
            <a:ext cx="1400944" cy="546368"/>
          </a:xfrm>
          <a:prstGeom prst="rect">
            <a:avLst/>
          </a:prstGeom>
        </p:spPr>
      </p:pic>
      <p:pic>
        <p:nvPicPr>
          <p:cNvPr id="4098" name="Picture 2" descr="Advanced Micro Devices, Inc.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6440" y="1688232"/>
            <a:ext cx="19050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4"/>
          <a:stretch>
            <a:fillRect/>
          </a:stretch>
        </p:blipFill>
        <p:spPr>
          <a:xfrm>
            <a:off x="9174103" y="2964582"/>
            <a:ext cx="2095500" cy="381000"/>
          </a:xfrm>
          <a:prstGeom prst="rect">
            <a:avLst/>
          </a:prstGeom>
        </p:spPr>
      </p:pic>
      <p:pic>
        <p:nvPicPr>
          <p:cNvPr id="9" name="图片 8"/>
          <p:cNvPicPr>
            <a:picLocks noChangeAspect="1"/>
          </p:cNvPicPr>
          <p:nvPr/>
        </p:nvPicPr>
        <p:blipFill>
          <a:blip r:embed="rId5"/>
          <a:stretch>
            <a:fillRect/>
          </a:stretch>
        </p:blipFill>
        <p:spPr>
          <a:xfrm>
            <a:off x="9174103" y="3422961"/>
            <a:ext cx="2095500" cy="323850"/>
          </a:xfrm>
          <a:prstGeom prst="rect">
            <a:avLst/>
          </a:prstGeom>
        </p:spPr>
      </p:pic>
      <p:pic>
        <p:nvPicPr>
          <p:cNvPr id="10" name="图片 9"/>
          <p:cNvPicPr>
            <a:picLocks noChangeAspect="1"/>
          </p:cNvPicPr>
          <p:nvPr/>
        </p:nvPicPr>
        <p:blipFill>
          <a:blip r:embed="rId6"/>
          <a:stretch>
            <a:fillRect/>
          </a:stretch>
        </p:blipFill>
        <p:spPr>
          <a:xfrm>
            <a:off x="9174103" y="3824190"/>
            <a:ext cx="2095500" cy="552450"/>
          </a:xfrm>
          <a:prstGeom prst="rect">
            <a:avLst/>
          </a:prstGeom>
        </p:spPr>
      </p:pic>
      <p:pic>
        <p:nvPicPr>
          <p:cNvPr id="13" name="图片 12"/>
          <p:cNvPicPr>
            <a:picLocks noChangeAspect="1"/>
          </p:cNvPicPr>
          <p:nvPr/>
        </p:nvPicPr>
        <p:blipFill>
          <a:blip r:embed="rId7"/>
          <a:stretch>
            <a:fillRect/>
          </a:stretch>
        </p:blipFill>
        <p:spPr>
          <a:xfrm>
            <a:off x="9100728" y="4349432"/>
            <a:ext cx="2728359" cy="552923"/>
          </a:xfrm>
          <a:prstGeom prst="rect">
            <a:avLst/>
          </a:prstGeom>
        </p:spPr>
      </p:pic>
      <p:pic>
        <p:nvPicPr>
          <p:cNvPr id="14" name="图片 13"/>
          <p:cNvPicPr>
            <a:picLocks noChangeAspect="1"/>
          </p:cNvPicPr>
          <p:nvPr/>
        </p:nvPicPr>
        <p:blipFill>
          <a:blip r:embed="rId8"/>
          <a:stretch>
            <a:fillRect/>
          </a:stretch>
        </p:blipFill>
        <p:spPr>
          <a:xfrm>
            <a:off x="8082456" y="3671790"/>
            <a:ext cx="571500" cy="704850"/>
          </a:xfrm>
          <a:prstGeom prst="rect">
            <a:avLst/>
          </a:prstGeom>
        </p:spPr>
      </p:pic>
      <p:pic>
        <p:nvPicPr>
          <p:cNvPr id="3" name="图片 2"/>
          <p:cNvPicPr>
            <a:picLocks noChangeAspect="1"/>
          </p:cNvPicPr>
          <p:nvPr/>
        </p:nvPicPr>
        <p:blipFill>
          <a:blip r:embed="rId9"/>
          <a:stretch>
            <a:fillRect/>
          </a:stretch>
        </p:blipFill>
        <p:spPr>
          <a:xfrm>
            <a:off x="9622837" y="5351952"/>
            <a:ext cx="560480" cy="725025"/>
          </a:xfrm>
          <a:prstGeom prst="rect">
            <a:avLst/>
          </a:prstGeom>
        </p:spPr>
      </p:pic>
    </p:spTree>
    <p:extLst>
      <p:ext uri="{BB962C8B-B14F-4D97-AF65-F5344CB8AC3E}">
        <p14:creationId xmlns:p14="http://schemas.microsoft.com/office/powerpoint/2010/main" val="406496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计算机架构的“分久必合”</a:t>
            </a:r>
            <a:endParaRPr lang="zh-CN" altLang="en-US" dirty="0"/>
          </a:p>
        </p:txBody>
      </p:sp>
      <p:sp>
        <p:nvSpPr>
          <p:cNvPr id="7" name="副标题 6"/>
          <p:cNvSpPr>
            <a:spLocks noGrp="1"/>
          </p:cNvSpPr>
          <p:nvPr>
            <p:ph idx="1"/>
          </p:nvPr>
        </p:nvSpPr>
        <p:spPr/>
        <p:txBody>
          <a:bodyPr/>
          <a:lstStyle/>
          <a:p>
            <a:r>
              <a:rPr lang="zh-CN" altLang="en-US" dirty="0" smtClean="0"/>
              <a:t>处理器发展了好几十年，出现了许多各有特色的架构和产品，但大部分都逐渐凋零了</a:t>
            </a:r>
            <a:endParaRPr lang="en-US" altLang="zh-CN" dirty="0" smtClean="0"/>
          </a:p>
          <a:p>
            <a:pPr lvl="1"/>
            <a:r>
              <a:rPr lang="en-US" altLang="zh-CN" dirty="0" smtClean="0"/>
              <a:t>Intel i860/i960, </a:t>
            </a:r>
            <a:r>
              <a:rPr lang="zh-CN" altLang="en-US" dirty="0" smtClean="0"/>
              <a:t>与</a:t>
            </a:r>
            <a:r>
              <a:rPr lang="en-US" altLang="zh-CN" dirty="0" smtClean="0"/>
              <a:t>HP</a:t>
            </a:r>
            <a:r>
              <a:rPr lang="zh-CN" altLang="en-US" dirty="0" smtClean="0"/>
              <a:t>联合开发的</a:t>
            </a:r>
            <a:r>
              <a:rPr lang="en-US" altLang="zh-CN" dirty="0" smtClean="0"/>
              <a:t>EPIC</a:t>
            </a:r>
            <a:r>
              <a:rPr lang="zh-CN" altLang="en-US" dirty="0" smtClean="0"/>
              <a:t>架构</a:t>
            </a:r>
            <a:r>
              <a:rPr lang="en-US" altLang="zh-CN" dirty="0" smtClean="0"/>
              <a:t>IA-64</a:t>
            </a:r>
            <a:r>
              <a:rPr lang="zh-CN" altLang="en-US" dirty="0" smtClean="0"/>
              <a:t>（安腾）</a:t>
            </a:r>
            <a:endParaRPr lang="en-US" altLang="zh-CN" dirty="0" smtClean="0"/>
          </a:p>
          <a:p>
            <a:pPr lvl="1"/>
            <a:r>
              <a:rPr lang="en-US" altLang="zh-CN" dirty="0" smtClean="0"/>
              <a:t>Motorola </a:t>
            </a:r>
            <a:r>
              <a:rPr lang="zh-CN" altLang="en-US" dirty="0" smtClean="0"/>
              <a:t>的</a:t>
            </a:r>
            <a:r>
              <a:rPr lang="en-US" altLang="zh-CN" dirty="0" smtClean="0"/>
              <a:t>68000</a:t>
            </a:r>
            <a:r>
              <a:rPr lang="zh-CN" altLang="en-US" dirty="0" smtClean="0"/>
              <a:t>架构，后来跟</a:t>
            </a:r>
            <a:r>
              <a:rPr lang="en-US" altLang="zh-CN" dirty="0" smtClean="0"/>
              <a:t>IBM</a:t>
            </a:r>
            <a:r>
              <a:rPr lang="zh-CN" altLang="en-US" dirty="0" smtClean="0"/>
              <a:t>合作的</a:t>
            </a:r>
            <a:r>
              <a:rPr lang="en-US" altLang="zh-CN" dirty="0" smtClean="0"/>
              <a:t>PowerPC</a:t>
            </a:r>
            <a:r>
              <a:rPr lang="zh-CN" altLang="en-US" dirty="0" smtClean="0"/>
              <a:t>架构</a:t>
            </a:r>
            <a:endParaRPr lang="en-US" altLang="zh-CN" dirty="0" smtClean="0"/>
          </a:p>
          <a:p>
            <a:pPr lvl="1"/>
            <a:r>
              <a:rPr lang="en-US" altLang="zh-CN" dirty="0" smtClean="0"/>
              <a:t>HP</a:t>
            </a:r>
            <a:r>
              <a:rPr lang="zh-CN" altLang="en-US" dirty="0" smtClean="0"/>
              <a:t>的</a:t>
            </a:r>
            <a:r>
              <a:rPr lang="en-US" altLang="zh-CN" dirty="0" smtClean="0"/>
              <a:t>PA-RISC</a:t>
            </a:r>
            <a:r>
              <a:rPr lang="zh-CN" altLang="en-US" dirty="0" smtClean="0"/>
              <a:t>，</a:t>
            </a:r>
            <a:r>
              <a:rPr lang="en-US" altLang="zh-CN" dirty="0" smtClean="0"/>
              <a:t>SUN</a:t>
            </a:r>
            <a:r>
              <a:rPr lang="zh-CN" altLang="en-US" dirty="0" smtClean="0"/>
              <a:t>的</a:t>
            </a:r>
            <a:r>
              <a:rPr lang="en-US" altLang="zh-CN" dirty="0" smtClean="0"/>
              <a:t>SPARC</a:t>
            </a:r>
            <a:r>
              <a:rPr lang="zh-CN" altLang="en-US" dirty="0" smtClean="0"/>
              <a:t>，</a:t>
            </a:r>
            <a:r>
              <a:rPr lang="en-US" altLang="zh-CN" dirty="0" smtClean="0"/>
              <a:t>DEC</a:t>
            </a:r>
            <a:r>
              <a:rPr lang="zh-CN" altLang="en-US" dirty="0" smtClean="0"/>
              <a:t>的</a:t>
            </a:r>
            <a:r>
              <a:rPr lang="en-US" altLang="zh-CN" dirty="0" smtClean="0"/>
              <a:t>Alpha</a:t>
            </a:r>
            <a:r>
              <a:rPr lang="zh-CN" altLang="en-US" dirty="0" smtClean="0"/>
              <a:t>，</a:t>
            </a:r>
            <a:r>
              <a:rPr lang="en-US" altLang="zh-CN" dirty="0" smtClean="0"/>
              <a:t>SGI</a:t>
            </a:r>
            <a:r>
              <a:rPr lang="zh-CN" altLang="en-US" dirty="0" smtClean="0"/>
              <a:t>的</a:t>
            </a:r>
            <a:r>
              <a:rPr lang="en-US" altLang="zh-CN" dirty="0" smtClean="0"/>
              <a:t>MIPS</a:t>
            </a:r>
          </a:p>
          <a:p>
            <a:r>
              <a:rPr lang="zh-CN" altLang="en-US" dirty="0" smtClean="0"/>
              <a:t>现在桌面和云端主要采用</a:t>
            </a:r>
            <a:r>
              <a:rPr lang="en-US" altLang="zh-CN" dirty="0" smtClean="0"/>
              <a:t>x86</a:t>
            </a:r>
            <a:r>
              <a:rPr lang="zh-CN" altLang="en-US" dirty="0" smtClean="0"/>
              <a:t>架构，移动端是</a:t>
            </a:r>
            <a:r>
              <a:rPr lang="en-US" altLang="zh-CN" dirty="0" smtClean="0"/>
              <a:t>ARM</a:t>
            </a:r>
            <a:r>
              <a:rPr lang="zh-CN" altLang="en-US" dirty="0" smtClean="0"/>
              <a:t>架构</a:t>
            </a:r>
          </a:p>
          <a:p>
            <a:pPr lvl="1"/>
            <a:r>
              <a:rPr lang="zh-CN" altLang="en-US" dirty="0" smtClean="0"/>
              <a:t>快速收敛的原因是什么？是必然的吗，还是偶然的？</a:t>
            </a:r>
            <a:endParaRPr lang="en-US" altLang="zh-CN" dirty="0" smtClean="0"/>
          </a:p>
          <a:p>
            <a:r>
              <a:rPr lang="zh-CN" altLang="en-US" dirty="0" smtClean="0"/>
              <a:t>架构即“指令系统结构”：软件与硬件的接口界面</a:t>
            </a:r>
            <a:endParaRPr lang="en-US" altLang="zh-CN" dirty="0" smtClean="0"/>
          </a:p>
          <a:p>
            <a:pPr lvl="1"/>
            <a:r>
              <a:rPr lang="en-US" altLang="zh-CN" dirty="0" smtClean="0"/>
              <a:t>ISA, Instruction Set Architecture</a:t>
            </a:r>
            <a:endParaRPr lang="zh-CN" altLang="en-US" dirty="0"/>
          </a:p>
        </p:txBody>
      </p:sp>
    </p:spTree>
    <p:extLst>
      <p:ext uri="{BB962C8B-B14F-4D97-AF65-F5344CB8AC3E}">
        <p14:creationId xmlns:p14="http://schemas.microsoft.com/office/powerpoint/2010/main" val="3862483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a:t>
            </a:r>
            <a:r>
              <a:rPr lang="en-US" altLang="zh-CN" dirty="0" smtClean="0"/>
              <a:t>ISA</a:t>
            </a:r>
            <a:r>
              <a:rPr lang="zh-CN" altLang="en-US" dirty="0" smtClean="0"/>
              <a:t>的发展演变</a:t>
            </a:r>
            <a:endParaRPr lang="zh-CN" altLang="en-US" dirty="0"/>
          </a:p>
        </p:txBody>
      </p:sp>
      <p:sp>
        <p:nvSpPr>
          <p:cNvPr id="3" name="内容占位符 2"/>
          <p:cNvSpPr>
            <a:spLocks noGrp="1"/>
          </p:cNvSpPr>
          <p:nvPr>
            <p:ph idx="1"/>
          </p:nvPr>
        </p:nvSpPr>
        <p:spPr/>
        <p:txBody>
          <a:bodyPr/>
          <a:lstStyle/>
          <a:p>
            <a:r>
              <a:rPr lang="en-US" altLang="zh-CN" dirty="0" smtClean="0"/>
              <a:t>1960</a:t>
            </a:r>
            <a:r>
              <a:rPr lang="zh-CN" altLang="en-US" dirty="0" smtClean="0"/>
              <a:t>年代，</a:t>
            </a:r>
            <a:r>
              <a:rPr lang="en-US" altLang="zh-CN" dirty="0" smtClean="0"/>
              <a:t>IBM 360</a:t>
            </a:r>
            <a:r>
              <a:rPr lang="zh-CN" altLang="en-US" dirty="0" smtClean="0"/>
              <a:t>明确了</a:t>
            </a:r>
            <a:r>
              <a:rPr lang="en-US" altLang="zh-CN" dirty="0" smtClean="0"/>
              <a:t>ISA</a:t>
            </a:r>
            <a:r>
              <a:rPr lang="zh-CN" altLang="en-US" dirty="0" smtClean="0"/>
              <a:t>的概念，为了软件的兼容</a:t>
            </a:r>
            <a:endParaRPr lang="en-US" altLang="zh-CN" dirty="0" smtClean="0"/>
          </a:p>
          <a:p>
            <a:pPr lvl="1"/>
            <a:r>
              <a:rPr lang="zh-CN" altLang="en-US" dirty="0" smtClean="0"/>
              <a:t>系列机：不同性能不同成本的多种机器，使用同样的</a:t>
            </a:r>
            <a:r>
              <a:rPr lang="en-US" altLang="zh-CN" dirty="0" smtClean="0"/>
              <a:t>ISA</a:t>
            </a:r>
          </a:p>
          <a:p>
            <a:r>
              <a:rPr lang="en-US" altLang="zh-CN" dirty="0" smtClean="0"/>
              <a:t>1970</a:t>
            </a:r>
            <a:r>
              <a:rPr lang="zh-CN" altLang="en-US" dirty="0" smtClean="0"/>
              <a:t>年代，各种</a:t>
            </a:r>
            <a:r>
              <a:rPr lang="en-US" altLang="zh-CN" dirty="0" smtClean="0"/>
              <a:t>ISA</a:t>
            </a:r>
            <a:r>
              <a:rPr lang="zh-CN" altLang="en-US" dirty="0" smtClean="0"/>
              <a:t>的试验场</a:t>
            </a:r>
            <a:endParaRPr lang="en-US" altLang="zh-CN" dirty="0" smtClean="0"/>
          </a:p>
          <a:p>
            <a:pPr lvl="1"/>
            <a:r>
              <a:rPr lang="zh-CN" altLang="en-US" dirty="0" smtClean="0"/>
              <a:t>从简单的</a:t>
            </a:r>
            <a:r>
              <a:rPr lang="en-US" altLang="zh-CN" dirty="0" smtClean="0"/>
              <a:t>load/store</a:t>
            </a:r>
            <a:r>
              <a:rPr lang="zh-CN" altLang="en-US" dirty="0"/>
              <a:t>结</a:t>
            </a:r>
            <a:r>
              <a:rPr lang="zh-CN" altLang="en-US" dirty="0" smtClean="0"/>
              <a:t>构到复杂的高级语言机，及</a:t>
            </a:r>
            <a:r>
              <a:rPr lang="en-US" altLang="zh-CN" dirty="0" smtClean="0"/>
              <a:t>x86</a:t>
            </a:r>
          </a:p>
          <a:p>
            <a:r>
              <a:rPr lang="en-US" altLang="zh-CN" dirty="0" smtClean="0"/>
              <a:t>1980</a:t>
            </a:r>
            <a:r>
              <a:rPr lang="zh-CN" altLang="en-US" dirty="0" smtClean="0"/>
              <a:t>年代，</a:t>
            </a:r>
            <a:r>
              <a:rPr lang="en-US" altLang="zh-CN" dirty="0" smtClean="0"/>
              <a:t>VLSI</a:t>
            </a:r>
            <a:r>
              <a:rPr lang="zh-CN" altLang="en-US" dirty="0" smtClean="0"/>
              <a:t>出现，</a:t>
            </a:r>
            <a:r>
              <a:rPr lang="en-US" altLang="zh-CN" dirty="0" smtClean="0"/>
              <a:t>CISC/RISC</a:t>
            </a:r>
            <a:r>
              <a:rPr lang="zh-CN" altLang="en-US" dirty="0" smtClean="0"/>
              <a:t>之争</a:t>
            </a:r>
            <a:endParaRPr lang="en-US" altLang="zh-CN" dirty="0" smtClean="0"/>
          </a:p>
          <a:p>
            <a:r>
              <a:rPr lang="en-US" altLang="zh-CN" dirty="0" smtClean="0"/>
              <a:t>1990</a:t>
            </a:r>
            <a:r>
              <a:rPr lang="zh-CN" altLang="en-US" dirty="0" smtClean="0"/>
              <a:t>年代，超标量</a:t>
            </a:r>
            <a:r>
              <a:rPr lang="en-US" altLang="zh-CN" dirty="0" err="1" smtClean="0"/>
              <a:t>SuperScalar</a:t>
            </a:r>
            <a:r>
              <a:rPr lang="en-US" altLang="zh-CN" dirty="0" smtClean="0"/>
              <a:t> RISC</a:t>
            </a:r>
            <a:r>
              <a:rPr lang="zh-CN" altLang="en-US" dirty="0" smtClean="0"/>
              <a:t>设计达到巅峰</a:t>
            </a:r>
            <a:endParaRPr lang="en-US" altLang="zh-CN" dirty="0" smtClean="0"/>
          </a:p>
          <a:p>
            <a:pPr lvl="1"/>
            <a:r>
              <a:rPr lang="en-US" altLang="zh-CN" dirty="0" smtClean="0"/>
              <a:t>Alpha, MIPS, Power(PC), PA-RISC, SPARC</a:t>
            </a:r>
            <a:r>
              <a:rPr lang="zh-CN" altLang="en-US" dirty="0" smtClean="0"/>
              <a:t>，性能都超过</a:t>
            </a:r>
            <a:r>
              <a:rPr lang="en-US" altLang="zh-CN" dirty="0" smtClean="0"/>
              <a:t>x86</a:t>
            </a:r>
          </a:p>
          <a:p>
            <a:r>
              <a:rPr lang="en-US" altLang="zh-CN" dirty="0" smtClean="0"/>
              <a:t>2000</a:t>
            </a:r>
            <a:r>
              <a:rPr lang="zh-CN" altLang="en-US" dirty="0" smtClean="0"/>
              <a:t>年后，</a:t>
            </a:r>
            <a:r>
              <a:rPr lang="en-US" altLang="zh-CN" dirty="0" smtClean="0"/>
              <a:t>x86-64</a:t>
            </a:r>
            <a:r>
              <a:rPr lang="zh-CN" altLang="en-US" dirty="0" smtClean="0"/>
              <a:t>完胜</a:t>
            </a:r>
            <a:endParaRPr lang="en-US" altLang="zh-CN" dirty="0" smtClean="0"/>
          </a:p>
          <a:p>
            <a:pPr lvl="1"/>
            <a:r>
              <a:rPr lang="en-US" altLang="zh-CN" dirty="0" smtClean="0"/>
              <a:t>CISC</a:t>
            </a:r>
            <a:r>
              <a:rPr lang="zh-CN" altLang="en-US" dirty="0" smtClean="0"/>
              <a:t>与</a:t>
            </a:r>
            <a:r>
              <a:rPr lang="en-US" altLang="zh-CN" dirty="0" smtClean="0"/>
              <a:t>RISC</a:t>
            </a:r>
            <a:r>
              <a:rPr lang="zh-CN" altLang="en-US" dirty="0" smtClean="0"/>
              <a:t>的融合；</a:t>
            </a:r>
            <a:r>
              <a:rPr lang="en-US" altLang="zh-CN" dirty="0" smtClean="0"/>
              <a:t>Intel/HP</a:t>
            </a:r>
            <a:r>
              <a:rPr lang="zh-CN" altLang="en-US" dirty="0" smtClean="0"/>
              <a:t>合作的</a:t>
            </a:r>
            <a:r>
              <a:rPr lang="en-US" altLang="zh-CN" dirty="0" smtClean="0"/>
              <a:t>EPIC</a:t>
            </a:r>
            <a:r>
              <a:rPr lang="zh-CN" altLang="en-US" dirty="0" smtClean="0"/>
              <a:t>未达成预期目标</a:t>
            </a:r>
            <a:endParaRPr lang="zh-CN" altLang="en-US" dirty="0"/>
          </a:p>
        </p:txBody>
      </p:sp>
    </p:spTree>
    <p:extLst>
      <p:ext uri="{BB962C8B-B14F-4D97-AF65-F5344CB8AC3E}">
        <p14:creationId xmlns:p14="http://schemas.microsoft.com/office/powerpoint/2010/main" val="2700297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784CD92E-6EFA-4C3E-902F-F6F90DFF5117}"/>
              </a:ext>
            </a:extLst>
          </p:cNvPr>
          <p:cNvSpPr>
            <a:spLocks noGrp="1"/>
          </p:cNvSpPr>
          <p:nvPr>
            <p:ph type="title"/>
          </p:nvPr>
        </p:nvSpPr>
        <p:spPr>
          <a:xfrm>
            <a:off x="1981200" y="354360"/>
            <a:ext cx="8153400" cy="914400"/>
          </a:xfrm>
        </p:spPr>
        <p:txBody>
          <a:bodyPr/>
          <a:lstStyle/>
          <a:p>
            <a:r>
              <a:rPr lang="zh-CN" altLang="en-US" sz="3600" dirty="0"/>
              <a:t>关键业务领域里，</a:t>
            </a:r>
            <a:r>
              <a:rPr lang="en-US" altLang="zh-CN" sz="3600" dirty="0"/>
              <a:t>RISC/EPIC</a:t>
            </a:r>
            <a:r>
              <a:rPr lang="zh-CN" altLang="en-US" sz="3600" dirty="0"/>
              <a:t>的份额</a:t>
            </a:r>
            <a:r>
              <a:rPr lang="en-US" altLang="zh-CN" sz="3600" dirty="0"/>
              <a:t/>
            </a:r>
            <a:br>
              <a:rPr lang="en-US" altLang="zh-CN" sz="3600" dirty="0"/>
            </a:br>
            <a:r>
              <a:rPr lang="zh-CN" altLang="en-US" sz="3600" dirty="0"/>
              <a:t>也在被</a:t>
            </a:r>
            <a:r>
              <a:rPr lang="en-US" altLang="zh-CN" sz="3600" dirty="0"/>
              <a:t>x86</a:t>
            </a:r>
            <a:r>
              <a:rPr lang="zh-CN" altLang="en-US" sz="3600" dirty="0"/>
              <a:t>服务器逐步蚕食</a:t>
            </a:r>
          </a:p>
        </p:txBody>
      </p:sp>
      <p:graphicFrame>
        <p:nvGraphicFramePr>
          <p:cNvPr id="7" name="Content Placeholder 8">
            <a:extLst>
              <a:ext uri="{FF2B5EF4-FFF2-40B4-BE49-F238E27FC236}">
                <a16:creationId xmlns:a16="http://schemas.microsoft.com/office/drawing/2014/main" id="{04324353-235E-4DB2-A999-15508F058E59}"/>
              </a:ext>
            </a:extLst>
          </p:cNvPr>
          <p:cNvGraphicFramePr>
            <a:graphicFrameLocks/>
          </p:cNvGraphicFramePr>
          <p:nvPr>
            <p:extLst/>
          </p:nvPr>
        </p:nvGraphicFramePr>
        <p:xfrm>
          <a:off x="1544712" y="947051"/>
          <a:ext cx="9051776" cy="4176464"/>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16">
            <a:extLst>
              <a:ext uri="{FF2B5EF4-FFF2-40B4-BE49-F238E27FC236}">
                <a16:creationId xmlns:a16="http://schemas.microsoft.com/office/drawing/2014/main" id="{9E9FF680-7C41-4716-BE10-58E0E0CEB2B2}"/>
              </a:ext>
            </a:extLst>
          </p:cNvPr>
          <p:cNvSpPr/>
          <p:nvPr/>
        </p:nvSpPr>
        <p:spPr>
          <a:xfrm>
            <a:off x="2763041" y="1439152"/>
            <a:ext cx="6053805" cy="307777"/>
          </a:xfrm>
          <a:prstGeom prst="rect">
            <a:avLst/>
          </a:prstGeom>
        </p:spPr>
        <p:txBody>
          <a:bodyPr wrap="square">
            <a:spAutoFit/>
          </a:bodyPr>
          <a:lstStyle/>
          <a:p>
            <a:pPr algn="ctr" defTabSz="685800" fontAlgn="auto">
              <a:spcBef>
                <a:spcPts val="0"/>
              </a:spcBef>
              <a:spcAft>
                <a:spcPts val="0"/>
              </a:spcAft>
              <a:defRPr sz="1200" b="1" i="0" u="none" strike="noStrike" kern="1200" baseline="0">
                <a:solidFill>
                  <a:prstClr val="black"/>
                </a:solidFill>
                <a:latin typeface="+mn-lt"/>
                <a:ea typeface="+mn-ea"/>
                <a:cs typeface="+mn-cs"/>
              </a:defRPr>
            </a:pPr>
            <a:r>
              <a:rPr kumimoji="0" lang="en-US" altLang="zh-CN" sz="1400" b="1" dirty="0">
                <a:solidFill>
                  <a:prstClr val="black"/>
                </a:solidFill>
                <a:latin typeface="Calibri"/>
                <a:ea typeface="微软雅黑"/>
                <a:cs typeface="+mn-cs"/>
              </a:rPr>
              <a:t>RISC/EPIC vs. 4 way+ X86 Server by Industry, Rolling 4 Quarters</a:t>
            </a:r>
          </a:p>
        </p:txBody>
      </p:sp>
      <p:sp>
        <p:nvSpPr>
          <p:cNvPr id="9" name="TextBox 17">
            <a:extLst>
              <a:ext uri="{FF2B5EF4-FFF2-40B4-BE49-F238E27FC236}">
                <a16:creationId xmlns:a16="http://schemas.microsoft.com/office/drawing/2014/main" id="{2C6FCE0D-9395-45F0-8BD9-7218C60555B6}"/>
              </a:ext>
            </a:extLst>
          </p:cNvPr>
          <p:cNvSpPr txBox="1"/>
          <p:nvPr/>
        </p:nvSpPr>
        <p:spPr>
          <a:xfrm>
            <a:off x="3431706" y="1709086"/>
            <a:ext cx="5385139" cy="307777"/>
          </a:xfrm>
          <a:prstGeom prst="rect">
            <a:avLst/>
          </a:prstGeom>
          <a:noFill/>
          <a:ln>
            <a:solidFill>
              <a:srgbClr val="004B85"/>
            </a:solidFill>
            <a:prstDash val="dashDot"/>
          </a:ln>
        </p:spPr>
        <p:txBody>
          <a:bodyPr wrap="square" lIns="68580" rtlCol="0">
            <a:spAutoFit/>
          </a:bodyPr>
          <a:lstStyle/>
          <a:p>
            <a:pPr marL="205740" indent="-205740" defTabSz="685800" fontAlgn="auto">
              <a:spcBef>
                <a:spcPts val="0"/>
              </a:spcBef>
              <a:spcAft>
                <a:spcPts val="450"/>
              </a:spcAft>
              <a:buClr>
                <a:srgbClr val="004B85"/>
              </a:buClr>
              <a:defRPr/>
            </a:pPr>
            <a:r>
              <a:rPr kumimoji="0" lang="en-US" sz="1400" i="1" kern="0" dirty="0">
                <a:solidFill>
                  <a:prstClr val="black"/>
                </a:solidFill>
                <a:latin typeface="Calibri"/>
                <a:ea typeface="微软雅黑"/>
                <a:cs typeface="+mn-cs"/>
              </a:rPr>
              <a:t>Average growth rate: 4 way+ x86 server </a:t>
            </a:r>
            <a:r>
              <a:rPr kumimoji="0" lang="en-US" altLang="zh-CN" sz="1400" b="1" kern="0" dirty="0">
                <a:solidFill>
                  <a:prstClr val="black"/>
                </a:solidFill>
                <a:latin typeface="Calibri"/>
                <a:ea typeface="微软雅黑"/>
                <a:cs typeface="+mn-cs"/>
              </a:rPr>
              <a:t>-7.3%</a:t>
            </a:r>
            <a:r>
              <a:rPr kumimoji="0" lang="en-US" sz="1400" i="1" kern="0" dirty="0">
                <a:solidFill>
                  <a:prstClr val="black"/>
                </a:solidFill>
                <a:latin typeface="Calibri"/>
                <a:ea typeface="微软雅黑"/>
                <a:cs typeface="+mn-cs"/>
              </a:rPr>
              <a:t>, RISC/EPIC server </a:t>
            </a:r>
            <a:r>
              <a:rPr kumimoji="0" lang="en-US" altLang="zh-CN" sz="1400" b="1" kern="0" dirty="0">
                <a:solidFill>
                  <a:prstClr val="black"/>
                </a:solidFill>
                <a:latin typeface="Calibri"/>
                <a:ea typeface="微软雅黑"/>
                <a:cs typeface="+mn-cs"/>
              </a:rPr>
              <a:t>-25.2%</a:t>
            </a:r>
            <a:r>
              <a:rPr kumimoji="0" lang="zh-CN" altLang="en-US" sz="1400" kern="0" dirty="0">
                <a:solidFill>
                  <a:prstClr val="black"/>
                </a:solidFill>
                <a:latin typeface="Calibri"/>
                <a:ea typeface="微软雅黑"/>
                <a:cs typeface="+mn-cs"/>
              </a:rPr>
              <a:t> </a:t>
            </a:r>
            <a:endParaRPr kumimoji="0" lang="en-US" sz="1400" b="1" i="1" kern="0" dirty="0">
              <a:solidFill>
                <a:prstClr val="black"/>
              </a:solidFill>
              <a:latin typeface="Calibri"/>
              <a:ea typeface="微软雅黑"/>
              <a:cs typeface="+mn-cs"/>
            </a:endParaRPr>
          </a:p>
        </p:txBody>
      </p:sp>
      <p:sp>
        <p:nvSpPr>
          <p:cNvPr id="16" name="内容占位符 1">
            <a:extLst>
              <a:ext uri="{FF2B5EF4-FFF2-40B4-BE49-F238E27FC236}">
                <a16:creationId xmlns:a16="http://schemas.microsoft.com/office/drawing/2014/main" id="{CDC0BC1D-570C-4DD2-A856-0B9B7425BEB6}"/>
              </a:ext>
            </a:extLst>
          </p:cNvPr>
          <p:cNvSpPr txBox="1">
            <a:spLocks/>
          </p:cNvSpPr>
          <p:nvPr/>
        </p:nvSpPr>
        <p:spPr>
          <a:xfrm>
            <a:off x="1981200" y="5102700"/>
            <a:ext cx="8178800" cy="1062607"/>
          </a:xfrm>
          <a:prstGeom prst="rect">
            <a:avLst/>
          </a:prstGeom>
        </p:spPr>
        <p:txBody>
          <a:bodyPr/>
          <a:lstStyle>
            <a:lvl1pPr marL="342900" indent="-342900" algn="l" rtl="0" eaLnBrk="1" fontAlgn="base" hangingPunct="1">
              <a:spcBef>
                <a:spcPct val="20000"/>
              </a:spcBef>
              <a:spcAft>
                <a:spcPct val="0"/>
              </a:spcAft>
              <a:buClrTx/>
              <a:buFont typeface="Wingdings" charset="2"/>
              <a:buChar char="n"/>
              <a:defRPr kumimoji="1" sz="3200">
                <a:solidFill>
                  <a:srgbClr val="0000FF"/>
                </a:solidFill>
                <a:latin typeface="+mn-lt"/>
                <a:ea typeface="+mn-ea"/>
                <a:cs typeface="+mn-cs"/>
              </a:defRPr>
            </a:lvl1pPr>
            <a:lvl2pPr marL="742950" indent="-285750" algn="l" rtl="0" eaLnBrk="1" fontAlgn="base" hangingPunct="1">
              <a:spcBef>
                <a:spcPct val="20000"/>
              </a:spcBef>
              <a:spcAft>
                <a:spcPct val="0"/>
              </a:spcAft>
              <a:buClrTx/>
              <a:buFont typeface="Wingdings" charset="2"/>
              <a:buChar char="n"/>
              <a:defRPr kumimoji="1" sz="2800">
                <a:solidFill>
                  <a:srgbClr val="0000FF"/>
                </a:solidFill>
                <a:latin typeface="+mn-lt"/>
                <a:ea typeface="+mn-ea"/>
                <a:cs typeface="+mn-cs"/>
              </a:defRPr>
            </a:lvl2pPr>
            <a:lvl3pPr marL="1143000" indent="-228600" algn="l" rtl="0" eaLnBrk="1" fontAlgn="base" hangingPunct="1">
              <a:spcBef>
                <a:spcPct val="20000"/>
              </a:spcBef>
              <a:spcAft>
                <a:spcPct val="0"/>
              </a:spcAft>
              <a:buClrTx/>
              <a:buFont typeface="Wingdings" charset="2"/>
              <a:buChar char="n"/>
              <a:defRPr kumimoji="1" sz="2400">
                <a:solidFill>
                  <a:srgbClr val="0000FF"/>
                </a:solidFill>
                <a:latin typeface="+mn-lt"/>
                <a:ea typeface="+mn-ea"/>
                <a:cs typeface="+mn-cs"/>
              </a:defRPr>
            </a:lvl3pPr>
            <a:lvl4pPr marL="1600200" indent="-228600" algn="l" rtl="0" eaLnBrk="1" fontAlgn="base" hangingPunct="1">
              <a:spcBef>
                <a:spcPct val="20000"/>
              </a:spcBef>
              <a:spcAft>
                <a:spcPct val="0"/>
              </a:spcAft>
              <a:buClrTx/>
              <a:buFont typeface="Wingdings" charset="2"/>
              <a:buChar char="n"/>
              <a:defRPr kumimoji="1" sz="2000">
                <a:solidFill>
                  <a:srgbClr val="0000FF"/>
                </a:solidFill>
                <a:latin typeface="+mn-lt"/>
                <a:ea typeface="+mn-ea"/>
                <a:cs typeface="+mn-cs"/>
              </a:defRPr>
            </a:lvl4pPr>
            <a:lvl5pPr marL="2057400" indent="-228600" algn="l" rtl="0" eaLnBrk="1" fontAlgn="base" hangingPunct="1">
              <a:spcBef>
                <a:spcPct val="20000"/>
              </a:spcBef>
              <a:spcAft>
                <a:spcPct val="0"/>
              </a:spcAft>
              <a:buClrTx/>
              <a:buFont typeface="Wingdings" charset="2"/>
              <a:buChar char="n"/>
              <a:defRPr kumimoji="1" sz="2000">
                <a:solidFill>
                  <a:srgbClr val="0000FF"/>
                </a:solidFill>
                <a:latin typeface="+mn-lt"/>
                <a:ea typeface="+mn-ea"/>
                <a:cs typeface="+mn-cs"/>
              </a:defRPr>
            </a:lvl5pPr>
            <a:lvl6pPr marL="25146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6pPr>
            <a:lvl7pPr marL="29718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7pPr>
            <a:lvl8pPr marL="34290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8pPr>
            <a:lvl9pPr marL="38862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9pPr>
          </a:lstStyle>
          <a:p>
            <a:r>
              <a:rPr lang="zh-CN" altLang="en-US" sz="2800" kern="0" dirty="0"/>
              <a:t>关键业务</a:t>
            </a:r>
            <a:r>
              <a:rPr lang="zh-CN" altLang="en-US" sz="2800" kern="0" dirty="0" smtClean="0"/>
              <a:t>领域大型主机</a:t>
            </a:r>
            <a:r>
              <a:rPr lang="zh-CN" altLang="en-US" sz="2800" kern="0" dirty="0"/>
              <a:t>和</a:t>
            </a:r>
            <a:r>
              <a:rPr lang="en-US" altLang="zh-CN" sz="2800" kern="0" dirty="0"/>
              <a:t>RISC</a:t>
            </a:r>
            <a:r>
              <a:rPr lang="zh-CN" altLang="en-US" sz="2800" kern="0" dirty="0"/>
              <a:t>服务器一直有优势</a:t>
            </a:r>
            <a:endParaRPr lang="en-US" altLang="zh-CN" sz="2800" kern="0" dirty="0"/>
          </a:p>
          <a:p>
            <a:r>
              <a:rPr lang="zh-CN" altLang="en-US" sz="2800" kern="0" dirty="0" smtClean="0"/>
              <a:t>后来</a:t>
            </a:r>
            <a:r>
              <a:rPr lang="en-US" altLang="zh-CN" sz="2800" kern="0" dirty="0" smtClean="0"/>
              <a:t>4</a:t>
            </a:r>
            <a:r>
              <a:rPr lang="zh-CN" altLang="en-US" sz="2800" kern="0" dirty="0"/>
              <a:t>路</a:t>
            </a:r>
            <a:r>
              <a:rPr lang="en-US" altLang="zh-CN" sz="2800" kern="0" dirty="0"/>
              <a:t>x86</a:t>
            </a:r>
            <a:r>
              <a:rPr lang="zh-CN" altLang="en-US" sz="2800" kern="0" dirty="0"/>
              <a:t>服务器大量替代了</a:t>
            </a:r>
            <a:r>
              <a:rPr lang="en-US" altLang="zh-CN" sz="2800" kern="0" dirty="0"/>
              <a:t>RISC/EPIC</a:t>
            </a:r>
            <a:r>
              <a:rPr lang="zh-CN" altLang="en-US" sz="2800" kern="0" dirty="0" smtClean="0"/>
              <a:t>服务器</a:t>
            </a:r>
            <a:endParaRPr lang="en-US" altLang="zh-CN" sz="2800" kern="0" dirty="0" smtClean="0"/>
          </a:p>
          <a:p>
            <a:r>
              <a:rPr lang="zh-CN" altLang="en-US" sz="2800" kern="0" dirty="0" smtClean="0"/>
              <a:t>再后来，</a:t>
            </a:r>
            <a:r>
              <a:rPr lang="en-US" altLang="zh-CN" sz="2800" kern="0" dirty="0" smtClean="0"/>
              <a:t>8</a:t>
            </a:r>
            <a:r>
              <a:rPr lang="zh-CN" altLang="en-US" sz="2800" kern="0" dirty="0" smtClean="0"/>
              <a:t>路和</a:t>
            </a:r>
            <a:r>
              <a:rPr lang="en-US" altLang="zh-CN" sz="2800" kern="0" dirty="0" smtClean="0"/>
              <a:t>4</a:t>
            </a:r>
            <a:r>
              <a:rPr lang="zh-CN" altLang="en-US" sz="2800" kern="0" dirty="0" smtClean="0"/>
              <a:t>路服务器又被</a:t>
            </a:r>
            <a:r>
              <a:rPr lang="en-US" altLang="zh-CN" sz="2800" kern="0" dirty="0" smtClean="0"/>
              <a:t>2</a:t>
            </a:r>
            <a:r>
              <a:rPr lang="zh-CN" altLang="en-US" sz="2800" kern="0" dirty="0" smtClean="0"/>
              <a:t>路服务器替代</a:t>
            </a:r>
            <a:endParaRPr lang="en-US" altLang="zh-CN" sz="2400" kern="0" dirty="0"/>
          </a:p>
        </p:txBody>
      </p:sp>
      <p:sp>
        <p:nvSpPr>
          <p:cNvPr id="17" name="对话气泡: 椭圆形 16">
            <a:extLst>
              <a:ext uri="{FF2B5EF4-FFF2-40B4-BE49-F238E27FC236}">
                <a16:creationId xmlns:a16="http://schemas.microsoft.com/office/drawing/2014/main" id="{692F29A4-94FD-4F9D-8F82-119D3D1BB418}"/>
              </a:ext>
            </a:extLst>
          </p:cNvPr>
          <p:cNvSpPr/>
          <p:nvPr/>
        </p:nvSpPr>
        <p:spPr bwMode="auto">
          <a:xfrm>
            <a:off x="6528048" y="2232884"/>
            <a:ext cx="3744416" cy="1196116"/>
          </a:xfrm>
          <a:prstGeom prst="wedgeEllipseCallout">
            <a:avLst>
              <a:gd name="adj1" fmla="val -50759"/>
              <a:gd name="adj2" fmla="val -73729"/>
            </a:avLst>
          </a:prstGeom>
          <a:solidFill>
            <a:srgbClr val="92D050"/>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dirty="0">
                <a:solidFill>
                  <a:srgbClr val="FF0000"/>
                </a:solidFill>
                <a:latin typeface="+mn-ea"/>
                <a:ea typeface="+mn-ea"/>
              </a:rPr>
              <a:t>四路</a:t>
            </a:r>
            <a:r>
              <a:rPr lang="en-US" altLang="zh-CN" dirty="0">
                <a:solidFill>
                  <a:srgbClr val="FF0000"/>
                </a:solidFill>
                <a:latin typeface="+mn-ea"/>
                <a:ea typeface="+mn-ea"/>
              </a:rPr>
              <a:t>x86</a:t>
            </a:r>
            <a:r>
              <a:rPr lang="zh-CN" altLang="en-US" dirty="0">
                <a:solidFill>
                  <a:srgbClr val="FF0000"/>
                </a:solidFill>
                <a:latin typeface="+mn-ea"/>
                <a:ea typeface="+mn-ea"/>
              </a:rPr>
              <a:t>服务器的增长率也是负数？</a:t>
            </a:r>
          </a:p>
        </p:txBody>
      </p:sp>
    </p:spTree>
    <p:extLst>
      <p:ext uri="{BB962C8B-B14F-4D97-AF65-F5344CB8AC3E}">
        <p14:creationId xmlns:p14="http://schemas.microsoft.com/office/powerpoint/2010/main" val="134055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90150-BC2D-4E63-9A02-437FA7A1089B}"/>
              </a:ext>
            </a:extLst>
          </p:cNvPr>
          <p:cNvSpPr>
            <a:spLocks noGrp="1"/>
          </p:cNvSpPr>
          <p:nvPr>
            <p:ph type="title"/>
          </p:nvPr>
        </p:nvSpPr>
        <p:spPr/>
        <p:txBody>
          <a:bodyPr/>
          <a:lstStyle/>
          <a:p>
            <a:r>
              <a:rPr lang="en-US" altLang="zh-CN" smtClean="0"/>
              <a:t>x86</a:t>
            </a:r>
            <a:r>
              <a:rPr lang="zh-CN" altLang="en-US" smtClean="0"/>
              <a:t>如何战胜</a:t>
            </a:r>
            <a:r>
              <a:rPr lang="en-US" altLang="zh-CN" smtClean="0"/>
              <a:t>RISC</a:t>
            </a:r>
            <a:r>
              <a:rPr lang="zh-CN" altLang="en-US" smtClean="0"/>
              <a:t>的？</a:t>
            </a:r>
            <a:endParaRPr lang="zh-CN" altLang="en-US" dirty="0"/>
          </a:p>
        </p:txBody>
      </p:sp>
      <p:sp>
        <p:nvSpPr>
          <p:cNvPr id="3" name="内容占位符 2">
            <a:extLst>
              <a:ext uri="{FF2B5EF4-FFF2-40B4-BE49-F238E27FC236}">
                <a16:creationId xmlns:a16="http://schemas.microsoft.com/office/drawing/2014/main" id="{6603CE2F-DD65-42D7-8D93-F6C533915D5B}"/>
              </a:ext>
            </a:extLst>
          </p:cNvPr>
          <p:cNvSpPr>
            <a:spLocks noGrp="1"/>
          </p:cNvSpPr>
          <p:nvPr>
            <p:ph idx="1"/>
          </p:nvPr>
        </p:nvSpPr>
        <p:spPr>
          <a:xfrm>
            <a:off x="479376" y="1556792"/>
            <a:ext cx="7693140" cy="5112568"/>
          </a:xfrm>
        </p:spPr>
        <p:txBody>
          <a:bodyPr/>
          <a:lstStyle/>
          <a:p>
            <a:r>
              <a:rPr lang="en-US" altLang="zh-CN" sz="3200" dirty="0" smtClean="0"/>
              <a:t>x86</a:t>
            </a:r>
            <a:r>
              <a:rPr lang="zh-CN" altLang="en-US" sz="3200" dirty="0" smtClean="0"/>
              <a:t>是七〇后，</a:t>
            </a:r>
            <a:r>
              <a:rPr lang="en-US" altLang="zh-CN" sz="3200" dirty="0" smtClean="0"/>
              <a:t>RISC</a:t>
            </a:r>
            <a:r>
              <a:rPr lang="zh-CN" altLang="en-US" sz="3200" dirty="0" smtClean="0"/>
              <a:t>是八〇后</a:t>
            </a:r>
            <a:endParaRPr lang="en-US" altLang="zh-CN" sz="3200" dirty="0" smtClean="0"/>
          </a:p>
          <a:p>
            <a:pPr lvl="1"/>
            <a:r>
              <a:rPr lang="en-US" altLang="zh-CN" sz="2800" dirty="0" smtClean="0"/>
              <a:t>x86</a:t>
            </a:r>
            <a:r>
              <a:rPr lang="zh-CN" altLang="en-US" sz="2800" dirty="0" smtClean="0"/>
              <a:t>长据</a:t>
            </a:r>
            <a:r>
              <a:rPr lang="en-US" altLang="zh-CN" sz="2800" dirty="0" smtClean="0"/>
              <a:t>PC</a:t>
            </a:r>
            <a:r>
              <a:rPr lang="zh-CN" altLang="en-US" sz="2800" dirty="0" smtClean="0"/>
              <a:t>市场，</a:t>
            </a:r>
            <a:r>
              <a:rPr lang="en-US" altLang="zh-CN" sz="2800" dirty="0" smtClean="0"/>
              <a:t>RISC</a:t>
            </a:r>
            <a:r>
              <a:rPr lang="zh-CN" altLang="en-US" sz="2800" dirty="0" smtClean="0"/>
              <a:t>在</a:t>
            </a:r>
            <a:r>
              <a:rPr lang="en-US" altLang="zh-CN" sz="2800" dirty="0" smtClean="0"/>
              <a:t>90</a:t>
            </a:r>
            <a:r>
              <a:rPr lang="zh-CN" altLang="en-US" sz="2800" dirty="0" smtClean="0"/>
              <a:t>年代统治服务器市场</a:t>
            </a:r>
            <a:endParaRPr lang="en-US" altLang="zh-CN" sz="2800" dirty="0" smtClean="0"/>
          </a:p>
          <a:p>
            <a:pPr lvl="1"/>
            <a:r>
              <a:rPr lang="zh-CN" altLang="en-US" sz="2800" dirty="0" smtClean="0"/>
              <a:t>新世纪后，</a:t>
            </a:r>
            <a:r>
              <a:rPr lang="en-US" altLang="zh-CN" sz="2800" dirty="0" smtClean="0"/>
              <a:t>x86</a:t>
            </a:r>
            <a:r>
              <a:rPr lang="zh-CN" altLang="en-US" sz="2800" dirty="0" smtClean="0"/>
              <a:t>替代</a:t>
            </a:r>
            <a:r>
              <a:rPr lang="en-US" altLang="zh-CN" sz="2800" dirty="0" smtClean="0"/>
              <a:t>RISC</a:t>
            </a:r>
            <a:r>
              <a:rPr lang="zh-CN" altLang="en-US" sz="2800" dirty="0" smtClean="0"/>
              <a:t>，一统服务器市场</a:t>
            </a:r>
            <a:endParaRPr lang="en-US" altLang="zh-CN" sz="2800" dirty="0" smtClean="0"/>
          </a:p>
          <a:p>
            <a:r>
              <a:rPr lang="zh-CN" altLang="en-US" sz="3200" dirty="0" smtClean="0"/>
              <a:t>两个主要因素</a:t>
            </a:r>
            <a:endParaRPr lang="en-US" altLang="zh-CN" sz="3200" dirty="0" smtClean="0"/>
          </a:p>
          <a:p>
            <a:pPr lvl="1"/>
            <a:r>
              <a:rPr lang="en-US" altLang="zh-CN" sz="2800" dirty="0" smtClean="0"/>
              <a:t>x86</a:t>
            </a:r>
            <a:r>
              <a:rPr lang="zh-CN" altLang="en-US" sz="2800" dirty="0" smtClean="0"/>
              <a:t>的持续改进</a:t>
            </a:r>
            <a:endParaRPr lang="en-US" altLang="zh-CN" sz="2800" dirty="0" smtClean="0"/>
          </a:p>
          <a:p>
            <a:pPr lvl="2"/>
            <a:r>
              <a:rPr lang="zh-CN" altLang="en-US" sz="2400" dirty="0" smtClean="0"/>
              <a:t>吸收了高端</a:t>
            </a:r>
            <a:r>
              <a:rPr lang="en-US" altLang="zh-CN" sz="2400" dirty="0" smtClean="0"/>
              <a:t>RISC</a:t>
            </a:r>
            <a:r>
              <a:rPr lang="zh-CN" altLang="en-US" sz="2400" dirty="0" smtClean="0"/>
              <a:t>的实现技术，性能大幅度提高</a:t>
            </a:r>
            <a:endParaRPr lang="en-US" altLang="zh-CN" sz="2400" dirty="0" smtClean="0"/>
          </a:p>
          <a:p>
            <a:pPr lvl="2"/>
            <a:r>
              <a:rPr lang="zh-CN" altLang="en-US" sz="2400" dirty="0" smtClean="0"/>
              <a:t>根据新应用的需求，不断增加新的功能指令集</a:t>
            </a:r>
            <a:endParaRPr lang="en-US" altLang="zh-CN" sz="2400" dirty="0" smtClean="0"/>
          </a:p>
          <a:p>
            <a:pPr lvl="1"/>
            <a:r>
              <a:rPr lang="zh-CN" altLang="en-US" sz="2800" dirty="0" smtClean="0"/>
              <a:t>出货量大，为竞争和发展提供了动力</a:t>
            </a:r>
            <a:endParaRPr lang="en-US" altLang="zh-CN" sz="2800" dirty="0" smtClean="0"/>
          </a:p>
          <a:p>
            <a:pPr lvl="2"/>
            <a:r>
              <a:rPr lang="en-US" altLang="zh-CN" sz="2400" dirty="0" smtClean="0"/>
              <a:t>PC</a:t>
            </a:r>
            <a:r>
              <a:rPr lang="zh-CN" altLang="en-US" sz="2400" dirty="0" smtClean="0"/>
              <a:t>和服务器采用相同的</a:t>
            </a:r>
            <a:r>
              <a:rPr lang="en-US" altLang="zh-CN" sz="2400" dirty="0" smtClean="0"/>
              <a:t>CPU</a:t>
            </a:r>
            <a:r>
              <a:rPr lang="zh-CN" altLang="en-US" sz="2400" dirty="0" smtClean="0"/>
              <a:t>核心架构</a:t>
            </a:r>
            <a:endParaRPr lang="en-US" altLang="zh-CN" sz="2400" dirty="0" smtClean="0"/>
          </a:p>
          <a:p>
            <a:pPr lvl="2"/>
            <a:r>
              <a:rPr lang="zh-CN" altLang="en-US" sz="2400" dirty="0" smtClean="0"/>
              <a:t>大大分摊了服务器</a:t>
            </a:r>
            <a:r>
              <a:rPr lang="en-US" altLang="zh-CN" sz="2400" dirty="0" smtClean="0"/>
              <a:t>CPU</a:t>
            </a:r>
            <a:r>
              <a:rPr lang="zh-CN" altLang="en-US" sz="2400" dirty="0" smtClean="0"/>
              <a:t>的研发成本</a:t>
            </a:r>
            <a:endParaRPr lang="zh-CN" altLang="en-US" sz="2400" dirty="0"/>
          </a:p>
        </p:txBody>
      </p:sp>
      <p:pic>
        <p:nvPicPr>
          <p:cNvPr id="5" name="图片 4"/>
          <p:cNvPicPr>
            <a:picLocks noChangeAspect="1"/>
          </p:cNvPicPr>
          <p:nvPr/>
        </p:nvPicPr>
        <p:blipFill>
          <a:blip r:embed="rId2"/>
          <a:stretch>
            <a:fillRect/>
          </a:stretch>
        </p:blipFill>
        <p:spPr>
          <a:xfrm>
            <a:off x="8184232" y="701704"/>
            <a:ext cx="3943350" cy="1962150"/>
          </a:xfrm>
          <a:prstGeom prst="rect">
            <a:avLst/>
          </a:prstGeom>
        </p:spPr>
      </p:pic>
      <p:pic>
        <p:nvPicPr>
          <p:cNvPr id="6" name="图片 5"/>
          <p:cNvPicPr>
            <a:picLocks noChangeAspect="1"/>
          </p:cNvPicPr>
          <p:nvPr/>
        </p:nvPicPr>
        <p:blipFill>
          <a:blip r:embed="rId3"/>
          <a:stretch>
            <a:fillRect/>
          </a:stretch>
        </p:blipFill>
        <p:spPr>
          <a:xfrm>
            <a:off x="8158728" y="2708920"/>
            <a:ext cx="3743325" cy="2105025"/>
          </a:xfrm>
          <a:prstGeom prst="rect">
            <a:avLst/>
          </a:prstGeom>
        </p:spPr>
      </p:pic>
      <p:pic>
        <p:nvPicPr>
          <p:cNvPr id="7" name="图片 6"/>
          <p:cNvPicPr>
            <a:picLocks noChangeAspect="1"/>
          </p:cNvPicPr>
          <p:nvPr/>
        </p:nvPicPr>
        <p:blipFill>
          <a:blip r:embed="rId4"/>
          <a:stretch>
            <a:fillRect/>
          </a:stretch>
        </p:blipFill>
        <p:spPr>
          <a:xfrm>
            <a:off x="8175147" y="4744872"/>
            <a:ext cx="3724275" cy="2066925"/>
          </a:xfrm>
          <a:prstGeom prst="rect">
            <a:avLst/>
          </a:prstGeom>
        </p:spPr>
      </p:pic>
    </p:spTree>
    <p:extLst>
      <p:ext uri="{BB962C8B-B14F-4D97-AF65-F5344CB8AC3E}">
        <p14:creationId xmlns:p14="http://schemas.microsoft.com/office/powerpoint/2010/main" val="14742058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为什么会这样？</a:t>
            </a:r>
            <a:endParaRPr kumimoji="1" lang="zh-CN" altLang="en-US" dirty="0"/>
          </a:p>
        </p:txBody>
      </p:sp>
      <p:sp>
        <p:nvSpPr>
          <p:cNvPr id="2" name="内容占位符 1"/>
          <p:cNvSpPr>
            <a:spLocks noGrp="1"/>
          </p:cNvSpPr>
          <p:nvPr>
            <p:ph idx="1"/>
          </p:nvPr>
        </p:nvSpPr>
        <p:spPr/>
        <p:txBody>
          <a:bodyPr/>
          <a:lstStyle/>
          <a:p>
            <a:r>
              <a:rPr lang="zh-CN" altLang="en-US" sz="3200" dirty="0"/>
              <a:t>制约高性能</a:t>
            </a:r>
            <a:r>
              <a:rPr lang="en-US" altLang="zh-CN" sz="3200" dirty="0" smtClean="0"/>
              <a:t>CPU</a:t>
            </a:r>
            <a:r>
              <a:rPr lang="zh-CN" altLang="en-US" sz="3200" dirty="0" smtClean="0"/>
              <a:t>发展的</a:t>
            </a:r>
            <a:r>
              <a:rPr lang="zh-CN" altLang="en-US" sz="3200" dirty="0"/>
              <a:t>两大因素</a:t>
            </a:r>
          </a:p>
          <a:p>
            <a:pPr lvl="1"/>
            <a:r>
              <a:rPr kumimoji="1" lang="zh-CN" altLang="en-US" sz="2800" dirty="0" smtClean="0"/>
              <a:t>已</a:t>
            </a:r>
            <a:r>
              <a:rPr kumimoji="1" lang="zh-CN" altLang="en-US" sz="2800" dirty="0"/>
              <a:t>有的软硬件生态系统</a:t>
            </a:r>
            <a:endParaRPr kumimoji="1" lang="en-US" altLang="zh-CN" sz="2800" dirty="0"/>
          </a:p>
          <a:p>
            <a:pPr lvl="2"/>
            <a:r>
              <a:rPr kumimoji="1" lang="zh-CN" altLang="en-US" sz="2400" dirty="0"/>
              <a:t>存在大量标准或事实标准的接口</a:t>
            </a:r>
            <a:endParaRPr kumimoji="1" lang="en-US" altLang="zh-CN" sz="2400" dirty="0"/>
          </a:p>
          <a:p>
            <a:pPr lvl="2"/>
            <a:r>
              <a:rPr kumimoji="1" lang="zh-CN" altLang="en-US" sz="2400" dirty="0"/>
              <a:t>如指令系统</a:t>
            </a:r>
            <a:r>
              <a:rPr kumimoji="1" lang="zh-CN" altLang="en-US" sz="2400" dirty="0" smtClean="0"/>
              <a:t>结构</a:t>
            </a:r>
            <a:r>
              <a:rPr kumimoji="1" lang="en-US" altLang="zh-CN" sz="2400" dirty="0" smtClean="0"/>
              <a:t>ISA</a:t>
            </a:r>
            <a:r>
              <a:rPr kumimoji="1" lang="zh-CN" altLang="en-US" sz="2400" dirty="0" smtClean="0"/>
              <a:t>：</a:t>
            </a:r>
            <a:r>
              <a:rPr kumimoji="1" lang="zh-CN" altLang="en-US" sz="2400" dirty="0"/>
              <a:t>硬件与汇编程序员的</a:t>
            </a:r>
            <a:r>
              <a:rPr kumimoji="1" lang="zh-CN" altLang="en-US" sz="2400" dirty="0" smtClean="0"/>
              <a:t>接口</a:t>
            </a:r>
            <a:endParaRPr kumimoji="1" lang="en-US" altLang="zh-CN" sz="2400" dirty="0"/>
          </a:p>
          <a:p>
            <a:pPr lvl="1"/>
            <a:r>
              <a:rPr kumimoji="1" lang="zh-CN" altLang="en-US" sz="2800" dirty="0"/>
              <a:t>开发新产品</a:t>
            </a:r>
            <a:r>
              <a:rPr kumimoji="1" lang="zh-CN" altLang="en-US" sz="2800" dirty="0" smtClean="0"/>
              <a:t>的</a:t>
            </a:r>
            <a:r>
              <a:rPr lang="zh-CN" altLang="en-US" sz="2800" dirty="0" smtClean="0"/>
              <a:t>成本逐渐增长</a:t>
            </a:r>
            <a:endParaRPr kumimoji="1" lang="en-US" altLang="zh-CN" sz="2800" dirty="0"/>
          </a:p>
          <a:p>
            <a:pPr lvl="2"/>
            <a:r>
              <a:rPr lang="zh-CN" altLang="en-US" sz="2400" dirty="0" smtClean="0"/>
              <a:t>随着</a:t>
            </a:r>
            <a:r>
              <a:rPr kumimoji="1" lang="zh-CN" altLang="en-US" sz="2400" dirty="0" smtClean="0"/>
              <a:t>工艺</a:t>
            </a:r>
            <a:r>
              <a:rPr lang="zh-CN" altLang="en-US" sz="2400" dirty="0" smtClean="0"/>
              <a:t>的发展</a:t>
            </a:r>
            <a:r>
              <a:rPr kumimoji="1" lang="zh-CN" altLang="en-US" sz="2400" dirty="0" smtClean="0"/>
              <a:t>，</a:t>
            </a:r>
            <a:r>
              <a:rPr kumimoji="1" lang="zh-CN" altLang="en-US" sz="2400" dirty="0"/>
              <a:t>芯片开发</a:t>
            </a:r>
            <a:r>
              <a:rPr kumimoji="1" lang="zh-CN" altLang="en-US" sz="2400" dirty="0" smtClean="0"/>
              <a:t>的</a:t>
            </a:r>
            <a:r>
              <a:rPr kumimoji="1" lang="en-US" altLang="zh-CN" sz="2400" dirty="0" smtClean="0"/>
              <a:t>NRE</a:t>
            </a:r>
            <a:r>
              <a:rPr kumimoji="1" lang="zh-CN" altLang="en-US" sz="2400" dirty="0" smtClean="0"/>
              <a:t>日益增长</a:t>
            </a:r>
            <a:endParaRPr kumimoji="1" lang="en-US" altLang="zh-CN" sz="2400" dirty="0" smtClean="0"/>
          </a:p>
          <a:p>
            <a:r>
              <a:rPr lang="zh-CN" altLang="en-US" sz="3200" dirty="0" smtClean="0"/>
              <a:t>技术因素 </a:t>
            </a:r>
            <a:r>
              <a:rPr lang="en-US" altLang="zh-CN" sz="3200" dirty="0" smtClean="0"/>
              <a:t>vs. </a:t>
            </a:r>
            <a:r>
              <a:rPr lang="zh-CN" altLang="en-US" sz="3200" dirty="0" smtClean="0"/>
              <a:t>经济因素？</a:t>
            </a:r>
            <a:endParaRPr lang="en-US" altLang="zh-CN" sz="3200" dirty="0" smtClean="0"/>
          </a:p>
          <a:p>
            <a:pPr lvl="1"/>
            <a:r>
              <a:rPr kumimoji="1" lang="zh-CN" altLang="en-US" sz="2800" dirty="0" smtClean="0"/>
              <a:t>重新开发软件、开发新硬件，都有巨大成本</a:t>
            </a:r>
            <a:endParaRPr kumimoji="1" lang="en-US" altLang="zh-CN" sz="2800" dirty="0" smtClean="0"/>
          </a:p>
          <a:p>
            <a:pPr lvl="2"/>
            <a:r>
              <a:rPr lang="zh-CN" altLang="en-US" sz="2400" dirty="0"/>
              <a:t>软件重新开发的成本，比开发新硬件的成本还要</a:t>
            </a:r>
            <a:r>
              <a:rPr lang="zh-CN" altLang="en-US" sz="2400" dirty="0" smtClean="0"/>
              <a:t>巨大</a:t>
            </a:r>
            <a:endParaRPr lang="en-US" altLang="zh-CN" sz="2400" dirty="0"/>
          </a:p>
        </p:txBody>
      </p:sp>
    </p:spTree>
    <p:extLst>
      <p:ext uri="{BB962C8B-B14F-4D97-AF65-F5344CB8AC3E}">
        <p14:creationId xmlns:p14="http://schemas.microsoft.com/office/powerpoint/2010/main" val="35586583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Gartner</a:t>
            </a:r>
            <a:r>
              <a:rPr lang="zh-CN" altLang="en-US" dirty="0"/>
              <a:t>的企业软件市场</a:t>
            </a:r>
            <a:r>
              <a:rPr lang="zh-CN" altLang="en-US" dirty="0" smtClean="0"/>
              <a:t>分析</a:t>
            </a:r>
            <a:endParaRPr lang="zh-CN" altLang="en-US" dirty="0"/>
          </a:p>
        </p:txBody>
      </p:sp>
      <p:sp>
        <p:nvSpPr>
          <p:cNvPr id="8" name="内容占位符 7"/>
          <p:cNvSpPr>
            <a:spLocks noGrp="1"/>
          </p:cNvSpPr>
          <p:nvPr>
            <p:ph idx="1"/>
          </p:nvPr>
        </p:nvSpPr>
        <p:spPr/>
        <p:txBody>
          <a:bodyPr/>
          <a:lstStyle/>
          <a:p>
            <a:r>
              <a:rPr lang="zh-CN" altLang="en-US" dirty="0"/>
              <a:t>含企业应用软件、基础设施软件、垂直专用软件</a:t>
            </a:r>
            <a:endParaRPr lang="en-US" altLang="zh-CN" dirty="0"/>
          </a:p>
          <a:p>
            <a:r>
              <a:rPr lang="zh-CN" altLang="en-US" dirty="0"/>
              <a:t>单位：十亿美元 </a:t>
            </a:r>
            <a:r>
              <a:rPr lang="en-US" altLang="zh-CN" dirty="0"/>
              <a:t>(US$B)</a:t>
            </a:r>
            <a:endParaRPr lang="en-US" altLang="zh-CN" dirty="0">
              <a:solidFill>
                <a:srgbClr val="000000"/>
              </a:solidFill>
              <a:ea typeface="宋体" panose="02010600030101010101" pitchFamily="2" charset="-122"/>
            </a:endParaRPr>
          </a:p>
        </p:txBody>
      </p:sp>
      <p:graphicFrame>
        <p:nvGraphicFramePr>
          <p:cNvPr id="7" name="表格 6"/>
          <p:cNvGraphicFramePr>
            <a:graphicFrameLocks noGrp="1"/>
          </p:cNvGraphicFramePr>
          <p:nvPr>
            <p:extLst/>
          </p:nvPr>
        </p:nvGraphicFramePr>
        <p:xfrm>
          <a:off x="1982239" y="2780928"/>
          <a:ext cx="8362235" cy="2637442"/>
        </p:xfrm>
        <a:graphic>
          <a:graphicData uri="http://schemas.openxmlformats.org/drawingml/2006/table">
            <a:tbl>
              <a:tblPr>
                <a:tableStyleId>{5C22544A-7EE6-4342-B048-85BDC9FD1C3A}</a:tableStyleId>
              </a:tblPr>
              <a:tblGrid>
                <a:gridCol w="1737498">
                  <a:extLst>
                    <a:ext uri="{9D8B030D-6E8A-4147-A177-3AD203B41FA5}">
                      <a16:colId xmlns:a16="http://schemas.microsoft.com/office/drawing/2014/main" val="1632058605"/>
                    </a:ext>
                  </a:extLst>
                </a:gridCol>
                <a:gridCol w="864096">
                  <a:extLst>
                    <a:ext uri="{9D8B030D-6E8A-4147-A177-3AD203B41FA5}">
                      <a16:colId xmlns:a16="http://schemas.microsoft.com/office/drawing/2014/main" val="2721388297"/>
                    </a:ext>
                  </a:extLst>
                </a:gridCol>
                <a:gridCol w="648072">
                  <a:extLst>
                    <a:ext uri="{9D8B030D-6E8A-4147-A177-3AD203B41FA5}">
                      <a16:colId xmlns:a16="http://schemas.microsoft.com/office/drawing/2014/main" val="3152985517"/>
                    </a:ext>
                  </a:extLst>
                </a:gridCol>
                <a:gridCol w="720080">
                  <a:extLst>
                    <a:ext uri="{9D8B030D-6E8A-4147-A177-3AD203B41FA5}">
                      <a16:colId xmlns:a16="http://schemas.microsoft.com/office/drawing/2014/main" val="3212359359"/>
                    </a:ext>
                  </a:extLst>
                </a:gridCol>
                <a:gridCol w="576064">
                  <a:extLst>
                    <a:ext uri="{9D8B030D-6E8A-4147-A177-3AD203B41FA5}">
                      <a16:colId xmlns:a16="http://schemas.microsoft.com/office/drawing/2014/main" val="2207044888"/>
                    </a:ext>
                  </a:extLst>
                </a:gridCol>
                <a:gridCol w="648072">
                  <a:extLst>
                    <a:ext uri="{9D8B030D-6E8A-4147-A177-3AD203B41FA5}">
                      <a16:colId xmlns:a16="http://schemas.microsoft.com/office/drawing/2014/main" val="3635162209"/>
                    </a:ext>
                  </a:extLst>
                </a:gridCol>
                <a:gridCol w="648072">
                  <a:extLst>
                    <a:ext uri="{9D8B030D-6E8A-4147-A177-3AD203B41FA5}">
                      <a16:colId xmlns:a16="http://schemas.microsoft.com/office/drawing/2014/main" val="3498524846"/>
                    </a:ext>
                  </a:extLst>
                </a:gridCol>
                <a:gridCol w="648072">
                  <a:extLst>
                    <a:ext uri="{9D8B030D-6E8A-4147-A177-3AD203B41FA5}">
                      <a16:colId xmlns:a16="http://schemas.microsoft.com/office/drawing/2014/main" val="254172016"/>
                    </a:ext>
                  </a:extLst>
                </a:gridCol>
                <a:gridCol w="648072">
                  <a:extLst>
                    <a:ext uri="{9D8B030D-6E8A-4147-A177-3AD203B41FA5}">
                      <a16:colId xmlns:a16="http://schemas.microsoft.com/office/drawing/2014/main" val="2289264856"/>
                    </a:ext>
                  </a:extLst>
                </a:gridCol>
                <a:gridCol w="576064">
                  <a:extLst>
                    <a:ext uri="{9D8B030D-6E8A-4147-A177-3AD203B41FA5}">
                      <a16:colId xmlns:a16="http://schemas.microsoft.com/office/drawing/2014/main" val="2282579018"/>
                    </a:ext>
                  </a:extLst>
                </a:gridCol>
                <a:gridCol w="648073">
                  <a:extLst>
                    <a:ext uri="{9D8B030D-6E8A-4147-A177-3AD203B41FA5}">
                      <a16:colId xmlns:a16="http://schemas.microsoft.com/office/drawing/2014/main" val="1032172671"/>
                    </a:ext>
                  </a:extLst>
                </a:gridCol>
              </a:tblGrid>
              <a:tr h="379519">
                <a:tc>
                  <a:txBody>
                    <a:bodyPr/>
                    <a:lstStyle/>
                    <a:p>
                      <a:pPr algn="ctr" fontAlgn="b"/>
                      <a:r>
                        <a:rPr lang="zh-CN" altLang="en-US" sz="2000" b="0" i="0" u="none" strike="noStrike" dirty="0" smtClean="0">
                          <a:solidFill>
                            <a:srgbClr val="000000"/>
                          </a:solidFill>
                          <a:effectLst/>
                          <a:latin typeface="+mn-lt"/>
                          <a:ea typeface="宋体" panose="02010600030101010101" pitchFamily="2" charset="-122"/>
                        </a:rPr>
                        <a:t>年份</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2009</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2010</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2011</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2012</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2013</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2014</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2015</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2016</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2017</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2018</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1804793551"/>
                  </a:ext>
                </a:extLst>
              </a:tr>
              <a:tr h="752641">
                <a:tc>
                  <a:txBody>
                    <a:bodyPr/>
                    <a:lstStyle/>
                    <a:p>
                      <a:pPr algn="ctr" fontAlgn="b"/>
                      <a:r>
                        <a:rPr lang="en-US" sz="2000" u="none" strike="noStrike" dirty="0" smtClean="0">
                          <a:effectLst/>
                          <a:latin typeface="+mn-lt"/>
                        </a:rPr>
                        <a:t>X86</a:t>
                      </a:r>
                      <a:r>
                        <a:rPr lang="zh-CN" altLang="en-US" sz="2000" u="none" strike="noStrike" dirty="0" smtClean="0">
                          <a:effectLst/>
                          <a:latin typeface="+mn-lt"/>
                        </a:rPr>
                        <a:t>软件的</a:t>
                      </a:r>
                      <a:endParaRPr lang="en-US" altLang="zh-CN" sz="2000" u="none" strike="noStrike" dirty="0" smtClean="0">
                        <a:effectLst/>
                        <a:latin typeface="+mn-lt"/>
                      </a:endParaRPr>
                    </a:p>
                    <a:p>
                      <a:pPr algn="ctr" fontAlgn="b"/>
                      <a:r>
                        <a:rPr lang="zh-CN" altLang="en-US" sz="2000" u="none" strike="noStrike" dirty="0" smtClean="0">
                          <a:effectLst/>
                          <a:latin typeface="+mn-lt"/>
                        </a:rPr>
                        <a:t>市场份额</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60%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65%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70%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75%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78%</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83%</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86%</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90%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92%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95%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1802603597"/>
                  </a:ext>
                </a:extLst>
              </a:tr>
              <a:tr h="752641">
                <a:tc>
                  <a:txBody>
                    <a:bodyPr/>
                    <a:lstStyle/>
                    <a:p>
                      <a:pPr algn="ctr" fontAlgn="b"/>
                      <a:r>
                        <a:rPr lang="en-US" sz="2000" u="none" strike="noStrike" dirty="0" smtClean="0">
                          <a:effectLst/>
                          <a:latin typeface="+mn-lt"/>
                        </a:rPr>
                        <a:t> x86</a:t>
                      </a:r>
                      <a:r>
                        <a:rPr lang="zh-CN" altLang="en-US" sz="2000" u="none" strike="noStrike" dirty="0" smtClean="0">
                          <a:effectLst/>
                          <a:latin typeface="+mn-lt"/>
                        </a:rPr>
                        <a:t>软件的</a:t>
                      </a:r>
                      <a:endParaRPr lang="en-US" altLang="zh-CN" sz="2000" u="none" strike="noStrike" dirty="0" smtClean="0">
                        <a:effectLst/>
                        <a:latin typeface="+mn-lt"/>
                      </a:endParaRPr>
                    </a:p>
                    <a:p>
                      <a:pPr algn="ctr" fontAlgn="b"/>
                      <a:r>
                        <a:rPr lang="zh-CN" altLang="en-US" sz="2000" u="none" strike="noStrike" dirty="0" smtClean="0">
                          <a:effectLst/>
                          <a:latin typeface="+mn-lt"/>
                        </a:rPr>
                        <a:t>营业收入</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184</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214</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248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279</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310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344</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366</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290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339</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393</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3171919564"/>
                  </a:ext>
                </a:extLst>
              </a:tr>
              <a:tr h="752641">
                <a:tc>
                  <a:txBody>
                    <a:bodyPr/>
                    <a:lstStyle/>
                    <a:p>
                      <a:pPr algn="ctr" fontAlgn="b"/>
                      <a:r>
                        <a:rPr lang="en-US" sz="2000" u="none" strike="noStrike" dirty="0" smtClean="0">
                          <a:effectLst/>
                          <a:latin typeface="+mn-lt"/>
                        </a:rPr>
                        <a:t>X86</a:t>
                      </a:r>
                      <a:r>
                        <a:rPr lang="zh-CN" altLang="en-US" sz="2000" u="none" strike="noStrike" dirty="0" smtClean="0">
                          <a:effectLst/>
                          <a:latin typeface="+mn-lt"/>
                        </a:rPr>
                        <a:t>软件的</a:t>
                      </a:r>
                      <a:endParaRPr lang="en-US" altLang="zh-CN" sz="2000" u="none" strike="noStrike" dirty="0" smtClean="0">
                        <a:effectLst/>
                        <a:latin typeface="+mn-lt"/>
                      </a:endParaRPr>
                    </a:p>
                    <a:p>
                      <a:pPr algn="ctr" fontAlgn="b"/>
                      <a:r>
                        <a:rPr lang="zh-CN" altLang="en-US" sz="2000" u="none" strike="noStrike" dirty="0" smtClean="0">
                          <a:effectLst/>
                          <a:latin typeface="+mn-lt"/>
                        </a:rPr>
                        <a:t>研发费用</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28</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37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42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46</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44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51</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59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2100657264"/>
                  </a:ext>
                </a:extLst>
              </a:tr>
            </a:tbl>
          </a:graphicData>
        </a:graphic>
      </p:graphicFrame>
      <p:sp>
        <p:nvSpPr>
          <p:cNvPr id="6" name="文本框 5"/>
          <p:cNvSpPr txBox="1"/>
          <p:nvPr/>
        </p:nvSpPr>
        <p:spPr>
          <a:xfrm>
            <a:off x="1769363" y="5733256"/>
            <a:ext cx="8384026" cy="523220"/>
          </a:xfrm>
          <a:prstGeom prst="rect">
            <a:avLst/>
          </a:prstGeom>
          <a:noFill/>
        </p:spPr>
        <p:txBody>
          <a:bodyPr wrap="none" rtlCol="0">
            <a:spAutoFit/>
          </a:bodyPr>
          <a:lstStyle/>
          <a:p>
            <a:r>
              <a:rPr lang="zh-CN" altLang="en-US" sz="2800" dirty="0">
                <a:solidFill>
                  <a:srgbClr val="0000FF"/>
                </a:solidFill>
                <a:latin typeface="+mn-lt"/>
                <a:ea typeface="+mn-ea"/>
              </a:rPr>
              <a:t>参考：</a:t>
            </a:r>
            <a:r>
              <a:rPr lang="en-US" altLang="zh-CN" sz="2800" dirty="0">
                <a:solidFill>
                  <a:srgbClr val="0000FF"/>
                </a:solidFill>
                <a:latin typeface="+mn-lt"/>
                <a:ea typeface="+mn-ea"/>
              </a:rPr>
              <a:t>IDC</a:t>
            </a:r>
            <a:r>
              <a:rPr lang="zh-CN" altLang="en-US" sz="2800" dirty="0">
                <a:solidFill>
                  <a:srgbClr val="0000FF"/>
                </a:solidFill>
                <a:latin typeface="+mn-lt"/>
                <a:ea typeface="+mn-ea"/>
              </a:rPr>
              <a:t>预估</a:t>
            </a:r>
            <a:r>
              <a:rPr lang="en-US" altLang="zh-CN" sz="2800" dirty="0">
                <a:solidFill>
                  <a:srgbClr val="0000FF"/>
                </a:solidFill>
                <a:latin typeface="+mn-lt"/>
                <a:ea typeface="+mn-ea"/>
              </a:rPr>
              <a:t>2019</a:t>
            </a:r>
            <a:r>
              <a:rPr lang="zh-CN" altLang="en-US" sz="2800" dirty="0">
                <a:solidFill>
                  <a:srgbClr val="0000FF"/>
                </a:solidFill>
                <a:latin typeface="+mn-lt"/>
                <a:ea typeface="+mn-ea"/>
              </a:rPr>
              <a:t>年全球服务器市场总量为</a:t>
            </a:r>
            <a:r>
              <a:rPr lang="en-US" altLang="zh-CN" sz="2800" dirty="0">
                <a:solidFill>
                  <a:srgbClr val="0000FF"/>
                </a:solidFill>
                <a:latin typeface="+mn-lt"/>
                <a:ea typeface="+mn-ea"/>
              </a:rPr>
              <a:t>US$ 80B</a:t>
            </a:r>
            <a:endParaRPr lang="zh-CN" altLang="en-US" sz="2800" dirty="0">
              <a:solidFill>
                <a:srgbClr val="0000FF"/>
              </a:solidFill>
              <a:latin typeface="+mn-lt"/>
              <a:ea typeface="+mn-ea"/>
            </a:endParaRPr>
          </a:p>
        </p:txBody>
      </p:sp>
    </p:spTree>
    <p:extLst>
      <p:ext uri="{BB962C8B-B14F-4D97-AF65-F5344CB8AC3E}">
        <p14:creationId xmlns:p14="http://schemas.microsoft.com/office/powerpoint/2010/main" val="4280976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90</a:t>
            </a:r>
            <a:r>
              <a:rPr lang="zh-CN" altLang="en-US" dirty="0" smtClean="0"/>
              <a:t>年代的超算</a:t>
            </a:r>
            <a:r>
              <a:rPr lang="en-US" altLang="zh-CN" dirty="0" smtClean="0"/>
              <a:t>Startups</a:t>
            </a:r>
            <a:endParaRPr lang="zh-CN" altLang="en-US" dirty="0"/>
          </a:p>
        </p:txBody>
      </p:sp>
      <p:sp>
        <p:nvSpPr>
          <p:cNvPr id="3" name="内容占位符 2"/>
          <p:cNvSpPr>
            <a:spLocks noGrp="1"/>
          </p:cNvSpPr>
          <p:nvPr>
            <p:ph idx="1"/>
          </p:nvPr>
        </p:nvSpPr>
        <p:spPr/>
        <p:txBody>
          <a:bodyPr/>
          <a:lstStyle/>
          <a:p>
            <a:r>
              <a:rPr lang="zh-CN" altLang="en-US" sz="3200" dirty="0" smtClean="0"/>
              <a:t>既设计自己的</a:t>
            </a:r>
            <a:r>
              <a:rPr lang="en-US" altLang="zh-CN" sz="3200" dirty="0" smtClean="0"/>
              <a:t>CPU</a:t>
            </a:r>
            <a:r>
              <a:rPr lang="zh-CN" altLang="en-US" sz="3200" dirty="0" smtClean="0"/>
              <a:t>，又开发</a:t>
            </a:r>
            <a:r>
              <a:rPr lang="en-US" altLang="zh-CN" sz="3200" dirty="0" smtClean="0"/>
              <a:t>MPP</a:t>
            </a:r>
            <a:r>
              <a:rPr lang="zh-CN" altLang="en-US" sz="3200" dirty="0" smtClean="0"/>
              <a:t>超算系统</a:t>
            </a:r>
            <a:endParaRPr lang="en-US" altLang="zh-CN" sz="3200" dirty="0" smtClean="0"/>
          </a:p>
          <a:p>
            <a:pPr lvl="1"/>
            <a:r>
              <a:rPr lang="en-US" altLang="zh-CN" sz="2800" dirty="0" err="1" smtClean="0"/>
              <a:t>nCUBE</a:t>
            </a:r>
            <a:r>
              <a:rPr lang="zh-CN" altLang="en-US" sz="2800" dirty="0" smtClean="0"/>
              <a:t>，</a:t>
            </a:r>
            <a:r>
              <a:rPr lang="en-US" altLang="zh-CN" sz="2800" dirty="0" smtClean="0"/>
              <a:t>Thinking Machines</a:t>
            </a:r>
          </a:p>
          <a:p>
            <a:pPr lvl="1"/>
            <a:r>
              <a:rPr lang="en-US" altLang="zh-CN" sz="2800" dirty="0" err="1"/>
              <a:t>Kandell</a:t>
            </a:r>
            <a:r>
              <a:rPr lang="en-US" altLang="zh-CN" sz="2800" dirty="0"/>
              <a:t> Square </a:t>
            </a:r>
            <a:r>
              <a:rPr lang="en-US" altLang="zh-CN" sz="2800" dirty="0" smtClean="0"/>
              <a:t>Research (KSR)</a:t>
            </a:r>
          </a:p>
          <a:p>
            <a:pPr lvl="1"/>
            <a:r>
              <a:rPr lang="en-US" altLang="zh-CN" sz="2800" dirty="0" err="1" smtClean="0"/>
              <a:t>MasPar</a:t>
            </a:r>
            <a:r>
              <a:rPr lang="en-US" altLang="zh-CN" sz="2800" dirty="0" smtClean="0"/>
              <a:t> Computer Corporation</a:t>
            </a:r>
          </a:p>
          <a:p>
            <a:pPr lvl="1"/>
            <a:r>
              <a:rPr lang="en-US" altLang="zh-CN" sz="2800" dirty="0" err="1" smtClean="0"/>
              <a:t>Meiko</a:t>
            </a:r>
            <a:r>
              <a:rPr lang="en-US" altLang="zh-CN" sz="2800" dirty="0" smtClean="0"/>
              <a:t> Scientific</a:t>
            </a:r>
            <a:r>
              <a:rPr lang="zh-CN" altLang="en-US" sz="2800" dirty="0" smtClean="0"/>
              <a:t>，</a:t>
            </a:r>
            <a:r>
              <a:rPr lang="en-US" altLang="zh-CN" sz="2800" dirty="0" smtClean="0"/>
              <a:t>……</a:t>
            </a:r>
            <a:endParaRPr lang="en-US" altLang="zh-CN" sz="2800" dirty="0"/>
          </a:p>
          <a:p>
            <a:r>
              <a:rPr lang="en-US" altLang="zh-CN" sz="3200" dirty="0" smtClean="0"/>
              <a:t>KSR</a:t>
            </a:r>
            <a:r>
              <a:rPr lang="zh-CN" altLang="en-US" sz="3200" dirty="0" smtClean="0"/>
              <a:t>提出了名为</a:t>
            </a:r>
            <a:r>
              <a:rPr lang="en-US" altLang="zh-CN" sz="3200" dirty="0" err="1" smtClean="0"/>
              <a:t>Allcache</a:t>
            </a:r>
            <a:r>
              <a:rPr lang="zh-CN" altLang="en-US" sz="3200" dirty="0" smtClean="0"/>
              <a:t>的</a:t>
            </a:r>
            <a:r>
              <a:rPr lang="en-US" altLang="zh-CN" sz="3200" dirty="0" smtClean="0"/>
              <a:t>COMA</a:t>
            </a:r>
            <a:r>
              <a:rPr lang="zh-CN" altLang="en-US" sz="3200" dirty="0" smtClean="0"/>
              <a:t>架构</a:t>
            </a:r>
            <a:endParaRPr lang="en-US" altLang="zh-CN" sz="3200" dirty="0" smtClean="0"/>
          </a:p>
          <a:p>
            <a:pPr lvl="1"/>
            <a:r>
              <a:rPr lang="zh-CN" altLang="en-US" sz="2800" dirty="0" smtClean="0"/>
              <a:t>实现了第一个</a:t>
            </a:r>
            <a:r>
              <a:rPr lang="en-US" altLang="zh-CN" sz="2800" dirty="0"/>
              <a:t>c</a:t>
            </a:r>
            <a:r>
              <a:rPr lang="en-US" altLang="zh-CN" sz="2800" dirty="0" smtClean="0"/>
              <a:t>ache-only memory architecture</a:t>
            </a:r>
          </a:p>
          <a:p>
            <a:pPr lvl="1"/>
            <a:r>
              <a:rPr lang="zh-CN" altLang="en-US" sz="2800" dirty="0" smtClean="0"/>
              <a:t>但其</a:t>
            </a:r>
            <a:r>
              <a:rPr lang="en-US" altLang="zh-CN" sz="2800" dirty="0" smtClean="0"/>
              <a:t>CPU</a:t>
            </a:r>
            <a:r>
              <a:rPr lang="zh-CN" altLang="en-US" sz="2800" dirty="0" smtClean="0"/>
              <a:t>只跑</a:t>
            </a:r>
            <a:r>
              <a:rPr lang="en-US" altLang="zh-CN" sz="2800" dirty="0" smtClean="0"/>
              <a:t>20MHz</a:t>
            </a:r>
            <a:r>
              <a:rPr lang="zh-CN" altLang="en-US" sz="2800" dirty="0" smtClean="0"/>
              <a:t>，同期的</a:t>
            </a:r>
            <a:r>
              <a:rPr lang="en-US" altLang="zh-CN" sz="2800" dirty="0" smtClean="0"/>
              <a:t>486</a:t>
            </a:r>
            <a:r>
              <a:rPr lang="zh-CN" altLang="en-US" sz="2800" dirty="0" smtClean="0"/>
              <a:t>已到</a:t>
            </a:r>
            <a:r>
              <a:rPr lang="en-US" altLang="zh-CN" sz="2800" dirty="0" smtClean="0"/>
              <a:t>50MHz</a:t>
            </a:r>
          </a:p>
          <a:p>
            <a:r>
              <a:rPr lang="zh-CN" altLang="en-US" sz="3200" dirty="0" smtClean="0"/>
              <a:t>架构创新敌不过经济规模</a:t>
            </a:r>
            <a:r>
              <a:rPr lang="en-US" altLang="zh-CN" sz="3200" dirty="0" smtClean="0"/>
              <a:t>(</a:t>
            </a:r>
            <a:r>
              <a:rPr lang="zh-CN" altLang="en-US" sz="3200" dirty="0" smtClean="0"/>
              <a:t>律</a:t>
            </a:r>
            <a:r>
              <a:rPr lang="en-US" altLang="zh-CN" sz="3200" dirty="0" smtClean="0"/>
              <a:t>)</a:t>
            </a:r>
            <a:endParaRPr lang="zh-CN" altLang="en-US" sz="3200" dirty="0"/>
          </a:p>
        </p:txBody>
      </p:sp>
    </p:spTree>
    <p:extLst>
      <p:ext uri="{BB962C8B-B14F-4D97-AF65-F5344CB8AC3E}">
        <p14:creationId xmlns:p14="http://schemas.microsoft.com/office/powerpoint/2010/main" val="30674601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经济基础决定上层建筑</a:t>
            </a:r>
            <a:endParaRPr lang="zh-CN" altLang="en-US" dirty="0"/>
          </a:p>
        </p:txBody>
      </p:sp>
      <p:sp>
        <p:nvSpPr>
          <p:cNvPr id="3" name="内容占位符 2"/>
          <p:cNvSpPr>
            <a:spLocks noGrp="1"/>
          </p:cNvSpPr>
          <p:nvPr>
            <p:ph idx="1"/>
          </p:nvPr>
        </p:nvSpPr>
        <p:spPr>
          <a:xfrm>
            <a:off x="838200" y="1556792"/>
            <a:ext cx="10730408" cy="5112568"/>
          </a:xfrm>
        </p:spPr>
        <p:txBody>
          <a:bodyPr/>
          <a:lstStyle/>
          <a:p>
            <a:r>
              <a:rPr lang="en-US" altLang="zh-CN" sz="3200" dirty="0" smtClean="0"/>
              <a:t>Architecture</a:t>
            </a:r>
            <a:r>
              <a:rPr lang="zh-CN" altLang="en-US" sz="3200" dirty="0" smtClean="0"/>
              <a:t>，既译为“建筑”，亦译为“体系结构”</a:t>
            </a:r>
            <a:endParaRPr lang="en-US" altLang="zh-CN" sz="3200" dirty="0" smtClean="0"/>
          </a:p>
          <a:p>
            <a:r>
              <a:rPr lang="zh-CN" altLang="en-US" sz="3200" dirty="0" smtClean="0"/>
              <a:t>技术上看，</a:t>
            </a:r>
            <a:r>
              <a:rPr lang="en-US" altLang="zh-CN" sz="3200" dirty="0" smtClean="0"/>
              <a:t>x86</a:t>
            </a:r>
            <a:r>
              <a:rPr lang="zh-CN" altLang="en-US" sz="3200" dirty="0" smtClean="0"/>
              <a:t>架构有很多问题</a:t>
            </a:r>
            <a:endParaRPr lang="en-US" altLang="zh-CN" sz="3200" dirty="0" smtClean="0"/>
          </a:p>
          <a:p>
            <a:pPr lvl="1"/>
            <a:r>
              <a:rPr lang="zh-CN" altLang="en-US" sz="2800" dirty="0" smtClean="0"/>
              <a:t>采用不定长指令，指令长度从一个字节到十多个字节</a:t>
            </a:r>
            <a:endParaRPr lang="en-US" altLang="zh-CN" sz="2800" dirty="0" smtClean="0"/>
          </a:p>
          <a:p>
            <a:pPr lvl="1"/>
            <a:r>
              <a:rPr lang="zh-CN" altLang="en-US" sz="2800" dirty="0" smtClean="0"/>
              <a:t>不属于通用寄存器结构，寄存器各有各的用途</a:t>
            </a:r>
            <a:endParaRPr lang="en-US" altLang="zh-CN" sz="2800" dirty="0" smtClean="0"/>
          </a:p>
          <a:p>
            <a:pPr lvl="1"/>
            <a:r>
              <a:rPr lang="zh-CN" altLang="en-US" sz="2800" dirty="0" smtClean="0"/>
              <a:t>寄存器数量太少，定点的、浮点的，都少</a:t>
            </a:r>
            <a:endParaRPr lang="en-US" altLang="zh-CN" sz="2800" dirty="0" smtClean="0"/>
          </a:p>
          <a:p>
            <a:pPr lvl="1"/>
            <a:r>
              <a:rPr lang="zh-CN" altLang="en-US" sz="2800" dirty="0" smtClean="0"/>
              <a:t>用</a:t>
            </a:r>
            <a:r>
              <a:rPr lang="en-US" altLang="zh-CN" sz="2800" dirty="0" smtClean="0"/>
              <a:t>FLAGS</a:t>
            </a:r>
            <a:r>
              <a:rPr lang="zh-CN" altLang="en-US" sz="2800" dirty="0" smtClean="0"/>
              <a:t>专用寄存器记录运算的</a:t>
            </a:r>
            <a:r>
              <a:rPr lang="zh-CN" altLang="en-US" sz="2800" dirty="0"/>
              <a:t>进位、奇偶、零、正负等</a:t>
            </a:r>
            <a:r>
              <a:rPr lang="zh-CN" altLang="en-US" sz="2800" dirty="0" smtClean="0"/>
              <a:t>状态</a:t>
            </a:r>
            <a:endParaRPr lang="en-US" altLang="zh-CN" sz="2800" dirty="0" smtClean="0"/>
          </a:p>
          <a:p>
            <a:r>
              <a:rPr lang="zh-CN" altLang="en-US" sz="3200" dirty="0" smtClean="0"/>
              <a:t>微程序设计</a:t>
            </a:r>
            <a:r>
              <a:rPr lang="en-US" altLang="zh-CN" sz="3200" dirty="0" smtClean="0"/>
              <a:t>(microprogramming)</a:t>
            </a:r>
            <a:r>
              <a:rPr lang="zh-CN" altLang="en-US" sz="3200" dirty="0" smtClean="0"/>
              <a:t>技术发挥了关键作用</a:t>
            </a:r>
            <a:endParaRPr lang="en-US" altLang="zh-CN" sz="3200" dirty="0" smtClean="0"/>
          </a:p>
          <a:p>
            <a:pPr lvl="1"/>
            <a:r>
              <a:rPr lang="en-US" altLang="zh-CN" sz="2800" dirty="0" smtClean="0"/>
              <a:t>Intel/AMD</a:t>
            </a:r>
            <a:r>
              <a:rPr lang="zh-CN" altLang="en-US" sz="2800" dirty="0" smtClean="0"/>
              <a:t>的不传之密，微码，可看作是一个</a:t>
            </a:r>
            <a:r>
              <a:rPr lang="en-US" altLang="zh-CN" sz="2800" dirty="0" smtClean="0"/>
              <a:t>RISC</a:t>
            </a:r>
            <a:r>
              <a:rPr lang="zh-CN" altLang="en-US" sz="2800" dirty="0" smtClean="0"/>
              <a:t>指令集</a:t>
            </a:r>
            <a:endParaRPr lang="en-US" altLang="zh-CN" sz="2800" dirty="0" smtClean="0"/>
          </a:p>
          <a:p>
            <a:pPr lvl="1"/>
            <a:r>
              <a:rPr lang="zh-CN" altLang="en-US" sz="2800" dirty="0" smtClean="0"/>
              <a:t>弥补了</a:t>
            </a:r>
            <a:r>
              <a:rPr lang="en-US" altLang="zh-CN" sz="2800" dirty="0" smtClean="0"/>
              <a:t>x86</a:t>
            </a:r>
            <a:r>
              <a:rPr lang="zh-CN" altLang="en-US" sz="2800" dirty="0" smtClean="0"/>
              <a:t>架构在高性能实现方面的缺陷</a:t>
            </a:r>
            <a:endParaRPr lang="zh-CN" altLang="en-US" sz="2800" dirty="0"/>
          </a:p>
        </p:txBody>
      </p:sp>
    </p:spTree>
    <p:extLst>
      <p:ext uri="{BB962C8B-B14F-4D97-AF65-F5344CB8AC3E}">
        <p14:creationId xmlns:p14="http://schemas.microsoft.com/office/powerpoint/2010/main" val="3190754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示例：典型</a:t>
            </a:r>
            <a:r>
              <a:rPr lang="en-US" altLang="zh-CN" dirty="0" smtClean="0"/>
              <a:t>x86</a:t>
            </a:r>
            <a:r>
              <a:rPr lang="zh-CN" altLang="en-US" dirty="0" smtClean="0"/>
              <a:t>处理器微架构</a:t>
            </a:r>
            <a:endParaRPr lang="en-US" dirty="0"/>
          </a:p>
        </p:txBody>
      </p:sp>
      <p:sp>
        <p:nvSpPr>
          <p:cNvPr id="9" name="上箭头标注 8"/>
          <p:cNvSpPr/>
          <p:nvPr/>
        </p:nvSpPr>
        <p:spPr bwMode="auto">
          <a:xfrm>
            <a:off x="4343053" y="5616419"/>
            <a:ext cx="2016224" cy="1196753"/>
          </a:xfrm>
          <a:prstGeom prst="upArrowCallout">
            <a:avLst/>
          </a:prstGeom>
          <a:solidFill>
            <a:srgbClr val="92D050"/>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dirty="0" smtClean="0">
                <a:ln>
                  <a:noFill/>
                </a:ln>
                <a:solidFill>
                  <a:schemeClr val="tx1"/>
                </a:solidFill>
                <a:effectLst/>
                <a:latin typeface="Times New Roman" charset="0"/>
                <a:ea typeface="宋体" charset="0"/>
                <a:cs typeface="宋体" charset="0"/>
              </a:rPr>
              <a:t>72</a:t>
            </a:r>
            <a:r>
              <a:rPr kumimoji="1" lang="zh-CN" altLang="en-US" sz="2400" b="0" i="0" u="none" strike="noStrike" cap="none" normalizeH="0" baseline="0" dirty="0" smtClean="0">
                <a:ln>
                  <a:noFill/>
                </a:ln>
                <a:solidFill>
                  <a:schemeClr val="tx1"/>
                </a:solidFill>
                <a:effectLst/>
                <a:latin typeface="Times New Roman" charset="0"/>
                <a:ea typeface="宋体" charset="0"/>
                <a:cs typeface="宋体" charset="0"/>
              </a:rPr>
              <a:t>位的微指令</a:t>
            </a:r>
            <a:endParaRPr kumimoji="1" lang="en-US" altLang="zh-CN" sz="2400" b="0" i="0" u="none" strike="noStrike" cap="none" normalizeH="0" baseline="0" dirty="0" smtClean="0">
              <a:ln>
                <a:noFill/>
              </a:ln>
              <a:solidFill>
                <a:schemeClr val="tx1"/>
              </a:solidFill>
              <a:effectLst/>
              <a:latin typeface="Times New Roman" charset="0"/>
              <a:ea typeface="宋体" charset="0"/>
              <a:cs typeface="宋体" charset="0"/>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dirty="0" smtClean="0"/>
              <a:t>类似于</a:t>
            </a:r>
            <a:r>
              <a:rPr lang="en-US" altLang="zh-CN" dirty="0" smtClean="0"/>
              <a:t>RISC</a:t>
            </a:r>
            <a:endParaRPr kumimoji="1" lang="en-US" sz="2400" b="0" i="0" u="none" strike="noStrike" cap="none" normalizeH="0" baseline="0" dirty="0">
              <a:ln>
                <a:noFill/>
              </a:ln>
              <a:solidFill>
                <a:schemeClr val="tx1"/>
              </a:solidFill>
              <a:effectLst/>
              <a:latin typeface="Times New Roman" charset="0"/>
              <a:ea typeface="宋体" charset="0"/>
              <a:cs typeface="宋体" charset="0"/>
            </a:endParaRPr>
          </a:p>
        </p:txBody>
      </p:sp>
      <p:sp>
        <p:nvSpPr>
          <p:cNvPr id="10" name="文本框 9"/>
          <p:cNvSpPr txBox="1"/>
          <p:nvPr/>
        </p:nvSpPr>
        <p:spPr>
          <a:xfrm>
            <a:off x="1199456" y="5535323"/>
            <a:ext cx="2736304" cy="1200329"/>
          </a:xfrm>
          <a:prstGeom prst="rect">
            <a:avLst/>
          </a:prstGeom>
          <a:noFill/>
        </p:spPr>
        <p:txBody>
          <a:bodyPr wrap="square" rtlCol="0">
            <a:spAutoFit/>
          </a:bodyPr>
          <a:lstStyle/>
          <a:p>
            <a:r>
              <a:rPr lang="zh-CN" altLang="en-US" dirty="0" smtClean="0"/>
              <a:t>前端把复杂的</a:t>
            </a:r>
            <a:r>
              <a:rPr lang="en-US" altLang="zh-CN" dirty="0" smtClean="0"/>
              <a:t>x86</a:t>
            </a:r>
            <a:r>
              <a:rPr lang="zh-CN" altLang="en-US" dirty="0" smtClean="0"/>
              <a:t>指令翻译成微指令串，即微码</a:t>
            </a:r>
            <a:endParaRPr lang="en-US" dirty="0"/>
          </a:p>
        </p:txBody>
      </p:sp>
      <p:sp>
        <p:nvSpPr>
          <p:cNvPr id="11" name="文本框 10"/>
          <p:cNvSpPr txBox="1"/>
          <p:nvPr/>
        </p:nvSpPr>
        <p:spPr>
          <a:xfrm>
            <a:off x="6816080" y="5859036"/>
            <a:ext cx="3888431" cy="830997"/>
          </a:xfrm>
          <a:prstGeom prst="rect">
            <a:avLst/>
          </a:prstGeom>
          <a:noFill/>
        </p:spPr>
        <p:txBody>
          <a:bodyPr wrap="square" rtlCol="0">
            <a:spAutoFit/>
          </a:bodyPr>
          <a:lstStyle/>
          <a:p>
            <a:r>
              <a:rPr lang="zh-CN" altLang="en-US" dirty="0" smtClean="0"/>
              <a:t>后端的执行和访存部件是</a:t>
            </a:r>
            <a:endParaRPr lang="en-US" altLang="zh-CN" dirty="0" smtClean="0"/>
          </a:p>
          <a:p>
            <a:r>
              <a:rPr lang="zh-CN" altLang="en-US" dirty="0" smtClean="0"/>
              <a:t>纯粹的超标量</a:t>
            </a:r>
            <a:r>
              <a:rPr lang="en-US" altLang="zh-CN" dirty="0" smtClean="0"/>
              <a:t>RISC</a:t>
            </a:r>
            <a:r>
              <a:rPr lang="zh-CN" altLang="en-US" dirty="0" smtClean="0"/>
              <a:t>微架构</a:t>
            </a:r>
            <a:endParaRPr lang="en-US" dirty="0"/>
          </a:p>
        </p:txBody>
      </p:sp>
      <p:pic>
        <p:nvPicPr>
          <p:cNvPr id="2" name="图片 1"/>
          <p:cNvPicPr>
            <a:picLocks noChangeAspect="1"/>
          </p:cNvPicPr>
          <p:nvPr/>
        </p:nvPicPr>
        <p:blipFill>
          <a:blip r:embed="rId3"/>
          <a:stretch>
            <a:fillRect/>
          </a:stretch>
        </p:blipFill>
        <p:spPr>
          <a:xfrm rot="16200000">
            <a:off x="3501369" y="-1188240"/>
            <a:ext cx="4475567" cy="9223407"/>
          </a:xfrm>
          <a:prstGeom prst="rect">
            <a:avLst/>
          </a:prstGeom>
        </p:spPr>
      </p:pic>
    </p:spTree>
    <p:extLst>
      <p:ext uri="{BB962C8B-B14F-4D97-AF65-F5344CB8AC3E}">
        <p14:creationId xmlns:p14="http://schemas.microsoft.com/office/powerpoint/2010/main" val="2327499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计算芯片</a:t>
            </a:r>
            <a:r>
              <a:rPr lang="zh-CN" altLang="en-US" dirty="0"/>
              <a:t>产业模式的螺旋式发展</a:t>
            </a:r>
            <a:endParaRPr lang="en-US" altLang="zh-CN" dirty="0"/>
          </a:p>
        </p:txBody>
      </p:sp>
      <p:sp>
        <p:nvSpPr>
          <p:cNvPr id="3" name="副标题 2"/>
          <p:cNvSpPr>
            <a:spLocks noGrp="1"/>
          </p:cNvSpPr>
          <p:nvPr>
            <p:ph idx="1"/>
          </p:nvPr>
        </p:nvSpPr>
        <p:spPr/>
        <p:txBody>
          <a:bodyPr/>
          <a:lstStyle/>
          <a:p>
            <a:r>
              <a:rPr lang="zh-CN" altLang="en-US" sz="3200" dirty="0" smtClean="0">
                <a:latin typeface="+mn-lt"/>
              </a:rPr>
              <a:t>以前，系统厂商自行开发中央处理器</a:t>
            </a:r>
            <a:endParaRPr lang="en-US" altLang="zh-CN" sz="3200" dirty="0" smtClean="0">
              <a:latin typeface="+mn-lt"/>
            </a:endParaRPr>
          </a:p>
          <a:p>
            <a:pPr lvl="1"/>
            <a:r>
              <a:rPr lang="en-US" altLang="zh-CN" sz="2800" dirty="0" smtClean="0"/>
              <a:t>CPU</a:t>
            </a:r>
            <a:r>
              <a:rPr lang="zh-CN" altLang="en-US" sz="2800" dirty="0" smtClean="0"/>
              <a:t>本身就是计算机系统的最核心内容</a:t>
            </a:r>
            <a:endParaRPr lang="en-US" altLang="zh-CN" sz="2800" dirty="0" smtClean="0"/>
          </a:p>
          <a:p>
            <a:pPr lvl="1"/>
            <a:r>
              <a:rPr lang="en-US" altLang="zh-CN" sz="2800" dirty="0" smtClean="0"/>
              <a:t>VLSI</a:t>
            </a:r>
            <a:r>
              <a:rPr lang="zh-CN" altLang="en-US" sz="2800" dirty="0" smtClean="0"/>
              <a:t>时代曾有：</a:t>
            </a:r>
            <a:r>
              <a:rPr lang="en-US" altLang="zh-CN" sz="2800" dirty="0" smtClean="0"/>
              <a:t>IBM</a:t>
            </a:r>
            <a:r>
              <a:rPr lang="zh-CN" altLang="en-US" sz="2800" dirty="0" smtClean="0"/>
              <a:t>，</a:t>
            </a:r>
            <a:r>
              <a:rPr lang="en-US" altLang="zh-CN" sz="2800" dirty="0" smtClean="0"/>
              <a:t>HP</a:t>
            </a:r>
            <a:r>
              <a:rPr lang="zh-CN" altLang="en-US" sz="2800" dirty="0" smtClean="0"/>
              <a:t>，</a:t>
            </a:r>
            <a:r>
              <a:rPr lang="en-US" altLang="zh-CN" sz="2800" dirty="0" smtClean="0"/>
              <a:t>DEC</a:t>
            </a:r>
            <a:r>
              <a:rPr lang="zh-CN" altLang="en-US" sz="2800" dirty="0" smtClean="0"/>
              <a:t>，</a:t>
            </a:r>
            <a:r>
              <a:rPr lang="en-US" altLang="zh-CN" sz="2800" dirty="0" smtClean="0"/>
              <a:t>SGI</a:t>
            </a:r>
            <a:r>
              <a:rPr lang="zh-CN" altLang="en-US" sz="2800" dirty="0" smtClean="0"/>
              <a:t>，</a:t>
            </a:r>
            <a:r>
              <a:rPr lang="en-US" altLang="zh-CN" sz="2800" dirty="0" smtClean="0"/>
              <a:t>SUN</a:t>
            </a:r>
            <a:r>
              <a:rPr lang="zh-CN" altLang="en-US" sz="2800" dirty="0" smtClean="0"/>
              <a:t>，</a:t>
            </a:r>
            <a:r>
              <a:rPr lang="en-US" altLang="zh-CN" sz="2800" dirty="0" smtClean="0"/>
              <a:t>……</a:t>
            </a:r>
            <a:endParaRPr lang="en-US" altLang="zh-CN" sz="2800" dirty="0" smtClean="0">
              <a:latin typeface="+mn-lt"/>
            </a:endParaRPr>
          </a:p>
          <a:p>
            <a:r>
              <a:rPr lang="zh-CN" altLang="en-US" sz="3200" dirty="0" smtClean="0">
                <a:latin typeface="+mn-lt"/>
              </a:rPr>
              <a:t>后来，系统厂商逐渐退出</a:t>
            </a:r>
            <a:endParaRPr lang="en-US" altLang="zh-CN" sz="3200" dirty="0" smtClean="0">
              <a:latin typeface="+mn-lt"/>
            </a:endParaRPr>
          </a:p>
          <a:p>
            <a:pPr lvl="1"/>
            <a:r>
              <a:rPr lang="zh-CN" altLang="en-US" sz="2800" dirty="0" smtClean="0">
                <a:latin typeface="+mn-lt"/>
              </a:rPr>
              <a:t>独立的计算芯片供应商脱颖而出：</a:t>
            </a:r>
            <a:r>
              <a:rPr lang="en-US" altLang="zh-CN" sz="2800" dirty="0" smtClean="0">
                <a:latin typeface="+mn-lt"/>
              </a:rPr>
              <a:t>Intel</a:t>
            </a:r>
            <a:r>
              <a:rPr lang="zh-CN" altLang="en-US" sz="2800" dirty="0" smtClean="0">
                <a:latin typeface="+mn-lt"/>
              </a:rPr>
              <a:t>，</a:t>
            </a:r>
            <a:r>
              <a:rPr lang="en-US" altLang="zh-CN" sz="2800" dirty="0" smtClean="0"/>
              <a:t>AMD</a:t>
            </a:r>
            <a:r>
              <a:rPr lang="zh-CN" altLang="en-US" sz="2800" dirty="0" smtClean="0"/>
              <a:t>，</a:t>
            </a:r>
            <a:r>
              <a:rPr lang="en-US" altLang="zh-CN" sz="2800" dirty="0" smtClean="0"/>
              <a:t>NVidia</a:t>
            </a:r>
            <a:endParaRPr lang="en-US" altLang="zh-CN" sz="2800" dirty="0" smtClean="0">
              <a:latin typeface="+mn-lt"/>
            </a:endParaRPr>
          </a:p>
          <a:p>
            <a:r>
              <a:rPr lang="zh-CN" altLang="en-US" sz="3200" dirty="0" smtClean="0"/>
              <a:t>现在，系统和</a:t>
            </a:r>
            <a:r>
              <a:rPr lang="zh-CN" altLang="en-US" sz="3200" dirty="0" smtClean="0">
                <a:latin typeface="+mn-lt"/>
              </a:rPr>
              <a:t>平台</a:t>
            </a:r>
            <a:r>
              <a:rPr lang="zh-CN" altLang="en-US" sz="3200" dirty="0">
                <a:latin typeface="+mn-lt"/>
              </a:rPr>
              <a:t>厂商</a:t>
            </a:r>
            <a:r>
              <a:rPr lang="zh-CN" altLang="en-US" sz="3200" dirty="0" smtClean="0">
                <a:latin typeface="+mn-lt"/>
              </a:rPr>
              <a:t>，又开始研发计算芯片了</a:t>
            </a:r>
            <a:endParaRPr lang="en-US" altLang="zh-CN" sz="3200" dirty="0" smtClean="0">
              <a:latin typeface="+mn-lt"/>
            </a:endParaRPr>
          </a:p>
          <a:p>
            <a:pPr lvl="1"/>
            <a:r>
              <a:rPr lang="zh-CN" altLang="en-US" sz="2800" dirty="0" smtClean="0"/>
              <a:t>美国有</a:t>
            </a:r>
            <a:r>
              <a:rPr lang="en-US" altLang="zh-CN" sz="2800" dirty="0" smtClean="0"/>
              <a:t>Apple</a:t>
            </a:r>
            <a:r>
              <a:rPr lang="zh-CN" altLang="en-US" sz="2800" dirty="0" smtClean="0"/>
              <a:t>，</a:t>
            </a:r>
            <a:r>
              <a:rPr lang="en-US" altLang="zh-CN" sz="2800" dirty="0" smtClean="0"/>
              <a:t>Google</a:t>
            </a:r>
            <a:r>
              <a:rPr lang="zh-CN" altLang="en-US" sz="2800" dirty="0" smtClean="0"/>
              <a:t>，</a:t>
            </a:r>
            <a:r>
              <a:rPr lang="en-US" altLang="zh-CN" sz="2800" dirty="0" smtClean="0"/>
              <a:t>Amazon</a:t>
            </a:r>
            <a:r>
              <a:rPr lang="zh-CN" altLang="en-US" sz="2800" dirty="0" smtClean="0"/>
              <a:t>，</a:t>
            </a:r>
            <a:r>
              <a:rPr lang="en-US" altLang="zh-CN" sz="2800" dirty="0" smtClean="0"/>
              <a:t>Microsoft</a:t>
            </a:r>
            <a:r>
              <a:rPr lang="zh-CN" altLang="en-US" sz="2800" dirty="0" smtClean="0"/>
              <a:t>，等等</a:t>
            </a:r>
            <a:endParaRPr lang="en-US" altLang="zh-CN" sz="2800" dirty="0" smtClean="0"/>
          </a:p>
          <a:p>
            <a:pPr lvl="1"/>
            <a:r>
              <a:rPr lang="zh-CN" altLang="en-US" sz="2800" dirty="0" smtClean="0"/>
              <a:t>中国更多：</a:t>
            </a:r>
            <a:r>
              <a:rPr lang="en-US" altLang="zh-CN" sz="2800" dirty="0" smtClean="0"/>
              <a:t>BAT</a:t>
            </a:r>
            <a:r>
              <a:rPr lang="zh-CN" altLang="en-US" sz="2800" dirty="0" smtClean="0"/>
              <a:t>都在搞，</a:t>
            </a:r>
            <a:r>
              <a:rPr lang="en-US" altLang="zh-CN" sz="2800" dirty="0" smtClean="0"/>
              <a:t>TMD</a:t>
            </a:r>
            <a:r>
              <a:rPr lang="zh-CN" altLang="en-US" sz="2800" dirty="0" smtClean="0"/>
              <a:t>跃跃欲试</a:t>
            </a:r>
            <a:endParaRPr lang="en-US" altLang="zh-CN" sz="2800" dirty="0" smtClean="0"/>
          </a:p>
          <a:p>
            <a:pPr lvl="2"/>
            <a:r>
              <a:rPr lang="zh-CN" altLang="en-US" sz="2400" dirty="0" smtClean="0"/>
              <a:t>华为、联想、</a:t>
            </a:r>
            <a:r>
              <a:rPr lang="en-US" altLang="zh-CN" sz="2400" dirty="0" err="1" smtClean="0"/>
              <a:t>Oppo</a:t>
            </a:r>
            <a:r>
              <a:rPr lang="zh-CN" altLang="en-US" sz="2400" dirty="0" smtClean="0"/>
              <a:t>、小米</a:t>
            </a:r>
            <a:endParaRPr lang="en-US" altLang="zh-CN" sz="2400" dirty="0" smtClean="0">
              <a:latin typeface="+mn-lt"/>
            </a:endParaRPr>
          </a:p>
        </p:txBody>
      </p:sp>
    </p:spTree>
    <p:extLst>
      <p:ext uri="{BB962C8B-B14F-4D97-AF65-F5344CB8AC3E}">
        <p14:creationId xmlns:p14="http://schemas.microsoft.com/office/powerpoint/2010/main" val="2789430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云服务提供商做芯片</a:t>
            </a:r>
            <a:endParaRPr lang="zh-CN" altLang="en-US" dirty="0"/>
          </a:p>
        </p:txBody>
      </p:sp>
      <p:sp>
        <p:nvSpPr>
          <p:cNvPr id="3" name="内容占位符 2"/>
          <p:cNvSpPr>
            <a:spLocks noGrp="1"/>
          </p:cNvSpPr>
          <p:nvPr>
            <p:ph idx="1"/>
          </p:nvPr>
        </p:nvSpPr>
        <p:spPr/>
        <p:txBody>
          <a:bodyPr/>
          <a:lstStyle/>
          <a:p>
            <a:r>
              <a:rPr lang="zh-CN" altLang="en-US" sz="3200" dirty="0" smtClean="0"/>
              <a:t>似乎成为一个潮流</a:t>
            </a:r>
            <a:endParaRPr lang="en-US" altLang="zh-CN" sz="3200" dirty="0" smtClean="0"/>
          </a:p>
          <a:p>
            <a:pPr lvl="1"/>
            <a:r>
              <a:rPr lang="en-US" altLang="zh-CN" sz="2800" dirty="0" smtClean="0"/>
              <a:t>Google TPU</a:t>
            </a:r>
            <a:r>
              <a:rPr lang="zh-CN" altLang="en-US" sz="2800" dirty="0" smtClean="0"/>
              <a:t>、</a:t>
            </a:r>
            <a:r>
              <a:rPr lang="en-US" altLang="zh-CN" sz="2800" dirty="0" smtClean="0"/>
              <a:t>AWS</a:t>
            </a:r>
            <a:r>
              <a:rPr lang="zh-CN" altLang="en-US" sz="2800" dirty="0" smtClean="0"/>
              <a:t>的</a:t>
            </a:r>
            <a:r>
              <a:rPr lang="en-US" altLang="zh-CN" sz="2800" dirty="0" smtClean="0"/>
              <a:t>ARM</a:t>
            </a:r>
            <a:r>
              <a:rPr lang="zh-CN" altLang="en-US" sz="2800" dirty="0" smtClean="0"/>
              <a:t>架构数据中心</a:t>
            </a:r>
            <a:r>
              <a:rPr lang="en-US" altLang="zh-CN" sz="2800" dirty="0" smtClean="0"/>
              <a:t>CPU</a:t>
            </a:r>
          </a:p>
          <a:p>
            <a:pPr lvl="1"/>
            <a:r>
              <a:rPr lang="zh-CN" altLang="en-US" sz="2800" dirty="0" smtClean="0"/>
              <a:t>阿里、百度也都在自研芯片</a:t>
            </a:r>
            <a:endParaRPr lang="en-US" altLang="zh-CN" sz="2800" dirty="0" smtClean="0"/>
          </a:p>
          <a:p>
            <a:r>
              <a:rPr lang="zh-CN" altLang="en-US" sz="3200" dirty="0" smtClean="0"/>
              <a:t>自研自用模式是行得通的</a:t>
            </a:r>
            <a:endParaRPr lang="en-US" altLang="zh-CN" sz="3200" dirty="0" smtClean="0"/>
          </a:p>
          <a:p>
            <a:pPr lvl="1"/>
            <a:r>
              <a:rPr lang="zh-CN" altLang="en-US" sz="2800" dirty="0" smtClean="0"/>
              <a:t>企业盈利的基础在于其增值服务，不在硬件</a:t>
            </a:r>
            <a:endParaRPr lang="en-US" altLang="zh-CN" sz="2800" dirty="0" smtClean="0"/>
          </a:p>
          <a:p>
            <a:pPr lvl="2"/>
            <a:r>
              <a:rPr lang="zh-CN" altLang="en-US" sz="2400" dirty="0" smtClean="0"/>
              <a:t>可能较容易负担起芯片研发的费用</a:t>
            </a:r>
            <a:endParaRPr lang="en-US" altLang="zh-CN" sz="2400" dirty="0" smtClean="0"/>
          </a:p>
          <a:p>
            <a:pPr lvl="1"/>
            <a:r>
              <a:rPr lang="zh-CN" altLang="en-US" sz="2800" dirty="0" smtClean="0"/>
              <a:t>企业掌控全栈软硬件，生态移植的困难较小</a:t>
            </a:r>
            <a:endParaRPr lang="en-US" altLang="zh-CN" sz="2800" dirty="0" smtClean="0"/>
          </a:p>
          <a:p>
            <a:r>
              <a:rPr lang="zh-CN" altLang="en-US" sz="3200" dirty="0" smtClean="0"/>
              <a:t>对外提供公有云服务，还有待时日</a:t>
            </a:r>
            <a:endParaRPr lang="en-US" altLang="zh-CN" sz="3200" dirty="0" smtClean="0"/>
          </a:p>
          <a:p>
            <a:pPr lvl="1"/>
            <a:r>
              <a:rPr lang="zh-CN" altLang="en-US" sz="2800" dirty="0" smtClean="0"/>
              <a:t>社会其他部分的</a:t>
            </a:r>
            <a:r>
              <a:rPr lang="en-US" altLang="zh-CN" sz="2800" dirty="0" smtClean="0"/>
              <a:t>IT</a:t>
            </a:r>
            <a:r>
              <a:rPr lang="zh-CN" altLang="en-US" sz="2800" dirty="0" smtClean="0"/>
              <a:t>系统，仍需要独立芯片商</a:t>
            </a:r>
            <a:endParaRPr lang="zh-CN" altLang="en-US" sz="2800" dirty="0"/>
          </a:p>
        </p:txBody>
      </p:sp>
    </p:spTree>
    <p:extLst>
      <p:ext uri="{BB962C8B-B14F-4D97-AF65-F5344CB8AC3E}">
        <p14:creationId xmlns:p14="http://schemas.microsoft.com/office/powerpoint/2010/main" val="1260850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385793" y="1844824"/>
            <a:ext cx="3791744" cy="4359705"/>
          </a:xfrm>
          <a:prstGeom prst="rect">
            <a:avLst/>
          </a:prstGeom>
        </p:spPr>
      </p:pic>
      <p:sp>
        <p:nvSpPr>
          <p:cNvPr id="2" name="标题 1"/>
          <p:cNvSpPr>
            <a:spLocks noGrp="1"/>
          </p:cNvSpPr>
          <p:nvPr>
            <p:ph type="title"/>
          </p:nvPr>
        </p:nvSpPr>
        <p:spPr/>
        <p:txBody>
          <a:bodyPr/>
          <a:lstStyle/>
          <a:p>
            <a:r>
              <a:rPr lang="zh-CN" altLang="en-US" dirty="0" smtClean="0"/>
              <a:t>成功和失败的再分析</a:t>
            </a:r>
            <a:endParaRPr lang="en-US" dirty="0"/>
          </a:p>
        </p:txBody>
      </p:sp>
      <p:sp>
        <p:nvSpPr>
          <p:cNvPr id="3" name="内容占位符 2"/>
          <p:cNvSpPr>
            <a:spLocks noGrp="1"/>
          </p:cNvSpPr>
          <p:nvPr>
            <p:ph idx="1"/>
          </p:nvPr>
        </p:nvSpPr>
        <p:spPr>
          <a:xfrm>
            <a:off x="551384" y="1556792"/>
            <a:ext cx="10802416" cy="5112568"/>
          </a:xfrm>
        </p:spPr>
        <p:txBody>
          <a:bodyPr/>
          <a:lstStyle/>
          <a:p>
            <a:r>
              <a:rPr lang="zh-CN" altLang="en-US" dirty="0" smtClean="0"/>
              <a:t>在自研桌面</a:t>
            </a:r>
            <a:r>
              <a:rPr lang="en-US" altLang="zh-CN" dirty="0" smtClean="0"/>
              <a:t>CPU</a:t>
            </a:r>
            <a:r>
              <a:rPr lang="zh-CN" altLang="en-US" dirty="0" smtClean="0"/>
              <a:t>芯片方面，</a:t>
            </a:r>
            <a:r>
              <a:rPr lang="en-US" altLang="zh-CN" dirty="0" smtClean="0"/>
              <a:t>Apple</a:t>
            </a:r>
            <a:r>
              <a:rPr lang="zh-CN" altLang="en-US" dirty="0" smtClean="0"/>
              <a:t>无疑是成功的</a:t>
            </a:r>
            <a:endParaRPr lang="en-US" altLang="zh-CN" dirty="0" smtClean="0"/>
          </a:p>
          <a:p>
            <a:pPr lvl="1"/>
            <a:r>
              <a:rPr lang="zh-CN" altLang="en-US" dirty="0" smtClean="0"/>
              <a:t>最早联合</a:t>
            </a:r>
            <a:r>
              <a:rPr lang="en-US" altLang="zh-CN" dirty="0" smtClean="0"/>
              <a:t>IBM</a:t>
            </a:r>
            <a:r>
              <a:rPr lang="zh-CN" altLang="en-US" dirty="0" smtClean="0"/>
              <a:t>和</a:t>
            </a:r>
            <a:r>
              <a:rPr lang="en-US" altLang="zh-CN" dirty="0" smtClean="0"/>
              <a:t>Motorola</a:t>
            </a:r>
            <a:r>
              <a:rPr lang="zh-CN" altLang="en-US" dirty="0" smtClean="0"/>
              <a:t>开发</a:t>
            </a:r>
            <a:r>
              <a:rPr lang="en-US" altLang="zh-CN" dirty="0" smtClean="0"/>
              <a:t>PowerPC CPU</a:t>
            </a:r>
          </a:p>
          <a:p>
            <a:pPr lvl="1"/>
            <a:r>
              <a:rPr lang="zh-CN" altLang="en-US" dirty="0" smtClean="0"/>
              <a:t>后来转向采用</a:t>
            </a:r>
            <a:r>
              <a:rPr lang="en-US" altLang="zh-CN" dirty="0" smtClean="0"/>
              <a:t>Intel CPU</a:t>
            </a:r>
            <a:r>
              <a:rPr lang="zh-CN" altLang="en-US" dirty="0" smtClean="0"/>
              <a:t>，近年来自研</a:t>
            </a:r>
            <a:r>
              <a:rPr lang="en-US" altLang="zh-CN" dirty="0" smtClean="0"/>
              <a:t>ARM</a:t>
            </a:r>
            <a:r>
              <a:rPr lang="zh-CN" altLang="en-US" dirty="0" smtClean="0"/>
              <a:t>架构的</a:t>
            </a:r>
            <a:r>
              <a:rPr lang="en-US" altLang="zh-CN" dirty="0" smtClean="0"/>
              <a:t>CPU</a:t>
            </a:r>
            <a:endParaRPr lang="en-US" altLang="zh-CN" dirty="0"/>
          </a:p>
          <a:p>
            <a:pPr lvl="1"/>
            <a:r>
              <a:rPr lang="zh-CN" altLang="en-US" dirty="0" smtClean="0"/>
              <a:t>表面看到的现象：</a:t>
            </a:r>
            <a:r>
              <a:rPr lang="en-US" altLang="zh-CN" dirty="0" smtClean="0"/>
              <a:t>Apple</a:t>
            </a:r>
            <a:r>
              <a:rPr lang="zh-CN" altLang="en-US" dirty="0" smtClean="0"/>
              <a:t>产品比同类产品贵很多</a:t>
            </a:r>
            <a:endParaRPr lang="en-US" altLang="zh-CN" dirty="0" smtClean="0"/>
          </a:p>
          <a:p>
            <a:pPr lvl="2"/>
            <a:r>
              <a:rPr lang="zh-CN" altLang="en-US" dirty="0" smtClean="0"/>
              <a:t>不用公版的</a:t>
            </a:r>
            <a:r>
              <a:rPr lang="en-US" altLang="zh-CN" dirty="0" smtClean="0"/>
              <a:t>ARM</a:t>
            </a:r>
            <a:r>
              <a:rPr lang="zh-CN" altLang="en-US" dirty="0"/>
              <a:t> </a:t>
            </a:r>
            <a:r>
              <a:rPr lang="en-US" altLang="zh-CN" dirty="0" smtClean="0"/>
              <a:t>CPU</a:t>
            </a:r>
            <a:r>
              <a:rPr lang="zh-CN" altLang="en-US" dirty="0" smtClean="0"/>
              <a:t>核，自研的</a:t>
            </a:r>
            <a:r>
              <a:rPr lang="en-US" altLang="zh-CN" dirty="0" smtClean="0"/>
              <a:t>CPU</a:t>
            </a:r>
            <a:r>
              <a:rPr lang="zh-CN" altLang="en-US" dirty="0" smtClean="0"/>
              <a:t>性能高、成本高</a:t>
            </a:r>
            <a:endParaRPr lang="en-US" altLang="zh-CN" dirty="0" smtClean="0"/>
          </a:p>
          <a:p>
            <a:pPr lvl="2"/>
            <a:r>
              <a:rPr lang="zh-CN" altLang="en-US" dirty="0" smtClean="0"/>
              <a:t>配合自研的系统软件，整体达到优化的用户体验</a:t>
            </a:r>
            <a:endParaRPr lang="en-US" altLang="zh-CN" dirty="0" smtClean="0"/>
          </a:p>
          <a:p>
            <a:pPr lvl="2"/>
            <a:r>
              <a:rPr lang="zh-CN" altLang="en-US" dirty="0" smtClean="0"/>
              <a:t>营销体系助力，形成“高大上”，可以卖出高价钱</a:t>
            </a:r>
            <a:endParaRPr lang="en-US" altLang="zh-CN" dirty="0" smtClean="0"/>
          </a:p>
          <a:p>
            <a:r>
              <a:rPr lang="zh-CN" altLang="en-US" dirty="0" smtClean="0"/>
              <a:t>云服务大厂自</a:t>
            </a:r>
            <a:r>
              <a:rPr lang="zh-CN" altLang="en-US" dirty="0"/>
              <a:t>研自用模式是行得通的</a:t>
            </a:r>
            <a:endParaRPr lang="en-US" altLang="zh-CN" dirty="0"/>
          </a:p>
          <a:p>
            <a:pPr lvl="1"/>
            <a:r>
              <a:rPr lang="zh-CN" altLang="en-US" dirty="0"/>
              <a:t>企业盈利的基础在于其增值服务，不在硬件</a:t>
            </a:r>
            <a:endParaRPr lang="en-US" altLang="zh-CN" dirty="0"/>
          </a:p>
          <a:p>
            <a:pPr lvl="2"/>
            <a:r>
              <a:rPr lang="zh-CN" altLang="en-US" dirty="0"/>
              <a:t>可能较容易负担起芯片研发的费用</a:t>
            </a:r>
            <a:endParaRPr lang="en-US" altLang="zh-CN" dirty="0"/>
          </a:p>
          <a:p>
            <a:pPr lvl="1"/>
            <a:r>
              <a:rPr lang="zh-CN" altLang="en-US" dirty="0"/>
              <a:t>企业掌控全栈软硬件，生态移植的困难较小</a:t>
            </a:r>
            <a:endParaRPr lang="en-US" altLang="zh-CN" dirty="0"/>
          </a:p>
          <a:p>
            <a:r>
              <a:rPr lang="zh-CN" altLang="en-US" dirty="0" smtClean="0"/>
              <a:t>失败者往往只看到了“自研芯片”的表面现象</a:t>
            </a:r>
            <a:endParaRPr lang="en-US" altLang="zh-CN" dirty="0" smtClean="0"/>
          </a:p>
          <a:p>
            <a:pPr lvl="1"/>
            <a:r>
              <a:rPr lang="zh-CN" altLang="en-US" dirty="0" smtClean="0"/>
              <a:t>“做芯片”如果只是为了“用芯片”，未必有价值</a:t>
            </a:r>
            <a:endParaRPr lang="en-US" altLang="zh-CN" dirty="0" smtClean="0"/>
          </a:p>
        </p:txBody>
      </p:sp>
    </p:spTree>
    <p:extLst>
      <p:ext uri="{BB962C8B-B14F-4D97-AF65-F5344CB8AC3E}">
        <p14:creationId xmlns:p14="http://schemas.microsoft.com/office/powerpoint/2010/main" val="994368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smtClean="0"/>
              <a:t>为什么会有这样的变化？</a:t>
            </a:r>
            <a:endParaRPr lang="zh-CN" altLang="en-US"/>
          </a:p>
        </p:txBody>
      </p:sp>
      <p:sp>
        <p:nvSpPr>
          <p:cNvPr id="8195" name="Rectangle 3"/>
          <p:cNvSpPr>
            <a:spLocks noGrp="1" noChangeArrowheads="1"/>
          </p:cNvSpPr>
          <p:nvPr>
            <p:ph type="body" idx="1"/>
          </p:nvPr>
        </p:nvSpPr>
        <p:spPr/>
        <p:txBody>
          <a:bodyPr/>
          <a:lstStyle/>
          <a:p>
            <a:r>
              <a:rPr lang="en-US" altLang="zh-CN" dirty="0" smtClean="0"/>
              <a:t>Performance</a:t>
            </a:r>
          </a:p>
          <a:p>
            <a:pPr lvl="1"/>
            <a:r>
              <a:rPr lang="en-US" altLang="zh-CN" dirty="0" smtClean="0"/>
              <a:t>Technology Advances</a:t>
            </a:r>
          </a:p>
          <a:p>
            <a:pPr lvl="2"/>
            <a:r>
              <a:rPr lang="en-US" altLang="zh-CN" dirty="0" smtClean="0"/>
              <a:t>CMOS VLSI dominates older technologies (TTL, ECL)  in cost AND performance</a:t>
            </a:r>
          </a:p>
          <a:p>
            <a:pPr lvl="1"/>
            <a:r>
              <a:rPr lang="en-US" altLang="zh-CN" dirty="0" smtClean="0"/>
              <a:t>Computer architecture advances improves low-end </a:t>
            </a:r>
          </a:p>
          <a:p>
            <a:pPr lvl="2"/>
            <a:r>
              <a:rPr lang="en-US" altLang="zh-CN" dirty="0" smtClean="0"/>
              <a:t>RISC, superscalar, RAID, …</a:t>
            </a:r>
          </a:p>
          <a:p>
            <a:r>
              <a:rPr lang="en-US" altLang="zh-CN" dirty="0" smtClean="0"/>
              <a:t>Price: Lower costs due to </a:t>
            </a:r>
          </a:p>
          <a:p>
            <a:pPr lvl="1"/>
            <a:r>
              <a:rPr lang="en-US" altLang="zh-CN" dirty="0" smtClean="0"/>
              <a:t>Simpler system development</a:t>
            </a:r>
          </a:p>
          <a:p>
            <a:pPr lvl="2"/>
            <a:r>
              <a:rPr lang="en-US" altLang="zh-CN" dirty="0" smtClean="0"/>
              <a:t>CMOS VLSI: smaller systems, fewer components</a:t>
            </a:r>
          </a:p>
          <a:p>
            <a:pPr lvl="1"/>
            <a:r>
              <a:rPr lang="en-US" altLang="zh-CN" dirty="0" smtClean="0"/>
              <a:t>Higher volumes</a:t>
            </a:r>
          </a:p>
          <a:p>
            <a:pPr lvl="2"/>
            <a:r>
              <a:rPr lang="en-US" altLang="zh-CN" dirty="0" smtClean="0"/>
              <a:t>CMOS VLSI : same dev. cost 10,000 vs. 10,000,000 units </a:t>
            </a:r>
          </a:p>
          <a:p>
            <a:pPr lvl="1"/>
            <a:r>
              <a:rPr lang="en-US" altLang="zh-CN" dirty="0" smtClean="0"/>
              <a:t>Lower margins by class of computer, due to fewer services</a:t>
            </a:r>
          </a:p>
          <a:p>
            <a:r>
              <a:rPr lang="en-US" altLang="zh-CN" dirty="0" smtClean="0"/>
              <a:t>Function</a:t>
            </a:r>
          </a:p>
          <a:p>
            <a:pPr lvl="1"/>
            <a:r>
              <a:rPr lang="en-US" altLang="zh-CN" dirty="0" smtClean="0"/>
              <a:t>Rise of networking/local interconnection technology</a:t>
            </a:r>
            <a:endParaRPr lang="en-US" altLang="zh-CN" dirty="0"/>
          </a:p>
        </p:txBody>
      </p:sp>
    </p:spTree>
    <p:extLst>
      <p:ext uri="{BB962C8B-B14F-4D97-AF65-F5344CB8AC3E}">
        <p14:creationId xmlns:p14="http://schemas.microsoft.com/office/powerpoint/2010/main" val="226945024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anim calcmode="lin" valueType="num">
                                      <p:cBhvr additive="base">
                                        <p:cTn id="11" dur="500" fill="hold"/>
                                        <p:tgtEl>
                                          <p:spTgt spid="81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1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 calcmode="lin" valueType="num">
                                      <p:cBhvr additive="base">
                                        <p:cTn id="15" dur="500" fill="hold"/>
                                        <p:tgtEl>
                                          <p:spTgt spid="81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81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anim calcmode="lin" valueType="num">
                                      <p:cBhvr additive="base">
                                        <p:cTn id="19" dur="500" fill="hold"/>
                                        <p:tgtEl>
                                          <p:spTgt spid="81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19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anim calcmode="lin" valueType="num">
                                      <p:cBhvr additive="base">
                                        <p:cTn id="23" dur="500" fill="hold"/>
                                        <p:tgtEl>
                                          <p:spTgt spid="819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81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8195">
                                            <p:txEl>
                                              <p:pRg st="5" end="5"/>
                                            </p:txEl>
                                          </p:spTgt>
                                        </p:tgtEl>
                                        <p:attrNameLst>
                                          <p:attrName>style.visibility</p:attrName>
                                        </p:attrNameLst>
                                      </p:cBhvr>
                                      <p:to>
                                        <p:strVal val="visible"/>
                                      </p:to>
                                    </p:set>
                                    <p:anim calcmode="lin" valueType="num">
                                      <p:cBhvr additive="base">
                                        <p:cTn id="29" dur="500" fill="hold"/>
                                        <p:tgtEl>
                                          <p:spTgt spid="8195">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8195">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8195">
                                            <p:txEl>
                                              <p:pRg st="6" end="6"/>
                                            </p:txEl>
                                          </p:spTgt>
                                        </p:tgtEl>
                                        <p:attrNameLst>
                                          <p:attrName>style.visibility</p:attrName>
                                        </p:attrNameLst>
                                      </p:cBhvr>
                                      <p:to>
                                        <p:strVal val="visible"/>
                                      </p:to>
                                    </p:set>
                                    <p:anim calcmode="lin" valueType="num">
                                      <p:cBhvr additive="base">
                                        <p:cTn id="33" dur="500" fill="hold"/>
                                        <p:tgtEl>
                                          <p:spTgt spid="8195">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8195">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8195">
                                            <p:txEl>
                                              <p:pRg st="7" end="7"/>
                                            </p:txEl>
                                          </p:spTgt>
                                        </p:tgtEl>
                                        <p:attrNameLst>
                                          <p:attrName>style.visibility</p:attrName>
                                        </p:attrNameLst>
                                      </p:cBhvr>
                                      <p:to>
                                        <p:strVal val="visible"/>
                                      </p:to>
                                    </p:set>
                                    <p:anim calcmode="lin" valueType="num">
                                      <p:cBhvr additive="base">
                                        <p:cTn id="37" dur="500" fill="hold"/>
                                        <p:tgtEl>
                                          <p:spTgt spid="8195">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195">
                                            <p:txEl>
                                              <p:pRg st="7" end="7"/>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8195">
                                            <p:txEl>
                                              <p:pRg st="8" end="8"/>
                                            </p:txEl>
                                          </p:spTgt>
                                        </p:tgtEl>
                                        <p:attrNameLst>
                                          <p:attrName>style.visibility</p:attrName>
                                        </p:attrNameLst>
                                      </p:cBhvr>
                                      <p:to>
                                        <p:strVal val="visible"/>
                                      </p:to>
                                    </p:set>
                                    <p:anim calcmode="lin" valueType="num">
                                      <p:cBhvr additive="base">
                                        <p:cTn id="41" dur="500" fill="hold"/>
                                        <p:tgtEl>
                                          <p:spTgt spid="8195">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8195">
                                            <p:txEl>
                                              <p:pRg st="8" end="8"/>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8195">
                                            <p:txEl>
                                              <p:pRg st="9" end="9"/>
                                            </p:txEl>
                                          </p:spTgt>
                                        </p:tgtEl>
                                        <p:attrNameLst>
                                          <p:attrName>style.visibility</p:attrName>
                                        </p:attrNameLst>
                                      </p:cBhvr>
                                      <p:to>
                                        <p:strVal val="visible"/>
                                      </p:to>
                                    </p:set>
                                    <p:anim calcmode="lin" valueType="num">
                                      <p:cBhvr additive="base">
                                        <p:cTn id="45" dur="500" fill="hold"/>
                                        <p:tgtEl>
                                          <p:spTgt spid="8195">
                                            <p:txEl>
                                              <p:pRg st="9" end="9"/>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8195">
                                            <p:txEl>
                                              <p:pRg st="9" end="9"/>
                                            </p:txEl>
                                          </p:spTgt>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8195">
                                            <p:txEl>
                                              <p:pRg st="10" end="10"/>
                                            </p:txEl>
                                          </p:spTgt>
                                        </p:tgtEl>
                                        <p:attrNameLst>
                                          <p:attrName>style.visibility</p:attrName>
                                        </p:attrNameLst>
                                      </p:cBhvr>
                                      <p:to>
                                        <p:strVal val="visible"/>
                                      </p:to>
                                    </p:set>
                                    <p:anim calcmode="lin" valueType="num">
                                      <p:cBhvr additive="base">
                                        <p:cTn id="49" dur="500" fill="hold"/>
                                        <p:tgtEl>
                                          <p:spTgt spid="8195">
                                            <p:txEl>
                                              <p:pRg st="10" end="1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195">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8195">
                                            <p:txEl>
                                              <p:pRg st="11" end="11"/>
                                            </p:txEl>
                                          </p:spTgt>
                                        </p:tgtEl>
                                        <p:attrNameLst>
                                          <p:attrName>style.visibility</p:attrName>
                                        </p:attrNameLst>
                                      </p:cBhvr>
                                      <p:to>
                                        <p:strVal val="visible"/>
                                      </p:to>
                                    </p:set>
                                    <p:anim calcmode="lin" valueType="num">
                                      <p:cBhvr additive="base">
                                        <p:cTn id="55" dur="500" fill="hold"/>
                                        <p:tgtEl>
                                          <p:spTgt spid="8195">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8195">
                                            <p:txEl>
                                              <p:pRg st="11" end="11"/>
                                            </p:txEl>
                                          </p:spTgt>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8195">
                                            <p:txEl>
                                              <p:pRg st="12" end="12"/>
                                            </p:txEl>
                                          </p:spTgt>
                                        </p:tgtEl>
                                        <p:attrNameLst>
                                          <p:attrName>style.visibility</p:attrName>
                                        </p:attrNameLst>
                                      </p:cBhvr>
                                      <p:to>
                                        <p:strVal val="visible"/>
                                      </p:to>
                                    </p:set>
                                    <p:anim calcmode="lin" valueType="num">
                                      <p:cBhvr additive="base">
                                        <p:cTn id="59" dur="500" fill="hold"/>
                                        <p:tgtEl>
                                          <p:spTgt spid="8195">
                                            <p:txEl>
                                              <p:pRg st="12" end="12"/>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8195">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ChangeArrowheads="1"/>
          </p:cNvSpPr>
          <p:nvPr/>
        </p:nvSpPr>
        <p:spPr bwMode="auto">
          <a:xfrm>
            <a:off x="6788150" y="1911350"/>
            <a:ext cx="596900" cy="596900"/>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219"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58900"/>
            <a:ext cx="5930900" cy="5194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0" name="Rectangle 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Technology Trends: </a:t>
            </a:r>
            <a:r>
              <a:rPr lang="en-US" altLang="zh-CN" dirty="0" smtClean="0"/>
              <a:t/>
            </a:r>
            <a:br>
              <a:rPr lang="en-US" altLang="zh-CN" dirty="0" smtClean="0"/>
            </a:br>
            <a:r>
              <a:rPr lang="en-US" altLang="zh-CN" dirty="0" smtClean="0"/>
              <a:t>Microprocessor Capacity (before 2000)</a:t>
            </a:r>
            <a:endParaRPr lang="en-US" altLang="zh-CN" dirty="0"/>
          </a:p>
        </p:txBody>
      </p:sp>
      <p:sp>
        <p:nvSpPr>
          <p:cNvPr id="9221" name="Line 5"/>
          <p:cNvSpPr>
            <a:spLocks noChangeShapeType="1"/>
          </p:cNvSpPr>
          <p:nvPr/>
        </p:nvSpPr>
        <p:spPr bwMode="auto">
          <a:xfrm flipV="1">
            <a:off x="3206750" y="2203450"/>
            <a:ext cx="3949700" cy="3289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Rectangle 6"/>
          <p:cNvSpPr>
            <a:spLocks noChangeArrowheads="1"/>
          </p:cNvSpPr>
          <p:nvPr/>
        </p:nvSpPr>
        <p:spPr bwMode="auto">
          <a:xfrm>
            <a:off x="7396163" y="4302126"/>
            <a:ext cx="2943114" cy="920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CMOS improvements:</a:t>
            </a:r>
          </a:p>
          <a:p>
            <a:pPr>
              <a:buFontTx/>
              <a:buChar char="•"/>
            </a:pPr>
            <a:r>
              <a:rPr lang="en-US" altLang="zh-CN" b="1"/>
              <a:t> Die size: 2X  every 3 yrs</a:t>
            </a:r>
          </a:p>
          <a:p>
            <a:pPr>
              <a:buFontTx/>
              <a:buChar char="•"/>
            </a:pPr>
            <a:r>
              <a:rPr lang="en-US" altLang="zh-CN" b="1"/>
              <a:t> Line width: halve / 7 yrs</a:t>
            </a:r>
          </a:p>
        </p:txBody>
      </p:sp>
      <p:sp>
        <p:nvSpPr>
          <p:cNvPr id="9224" name="Rectangle 8"/>
          <p:cNvSpPr>
            <a:spLocks noChangeArrowheads="1"/>
          </p:cNvSpPr>
          <p:nvPr/>
        </p:nvSpPr>
        <p:spPr bwMode="auto">
          <a:xfrm>
            <a:off x="7472364" y="2435225"/>
            <a:ext cx="2773196" cy="1474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Alpha 21264: 15 million</a:t>
            </a:r>
          </a:p>
          <a:p>
            <a:r>
              <a:rPr lang="en-US" altLang="zh-CN"/>
              <a:t>Pentium Pro: 5.5 million</a:t>
            </a:r>
          </a:p>
          <a:p>
            <a:r>
              <a:rPr lang="en-US" altLang="zh-CN"/>
              <a:t>PowerPC 620: 6.9 million</a:t>
            </a:r>
          </a:p>
          <a:p>
            <a:r>
              <a:rPr lang="en-US" altLang="zh-CN"/>
              <a:t>Alpha 21164: 9.3 million</a:t>
            </a:r>
          </a:p>
          <a:p>
            <a:r>
              <a:rPr lang="en-US" altLang="zh-CN"/>
              <a:t>Sparc Ultra: 5.2 million</a:t>
            </a:r>
          </a:p>
        </p:txBody>
      </p:sp>
      <p:sp>
        <p:nvSpPr>
          <p:cNvPr id="9225" name="Line 9"/>
          <p:cNvSpPr>
            <a:spLocks noChangeShapeType="1"/>
          </p:cNvSpPr>
          <p:nvPr/>
        </p:nvSpPr>
        <p:spPr bwMode="auto">
          <a:xfrm>
            <a:off x="6635750" y="2673350"/>
            <a:ext cx="9017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Line 10"/>
          <p:cNvSpPr>
            <a:spLocks noChangeShapeType="1"/>
          </p:cNvSpPr>
          <p:nvPr/>
        </p:nvSpPr>
        <p:spPr bwMode="auto">
          <a:xfrm flipH="1" flipV="1">
            <a:off x="6623050" y="2813050"/>
            <a:ext cx="927100" cy="317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7" name="Line 11"/>
          <p:cNvSpPr>
            <a:spLocks noChangeShapeType="1"/>
          </p:cNvSpPr>
          <p:nvPr/>
        </p:nvSpPr>
        <p:spPr bwMode="auto">
          <a:xfrm flipH="1" flipV="1">
            <a:off x="7042150" y="2393950"/>
            <a:ext cx="527050" cy="241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Rectangle 12"/>
          <p:cNvSpPr>
            <a:spLocks noChangeArrowheads="1"/>
          </p:cNvSpPr>
          <p:nvPr/>
        </p:nvSpPr>
        <p:spPr bwMode="auto">
          <a:xfrm>
            <a:off x="3890964" y="2682875"/>
            <a:ext cx="15652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Moore’s Law</a:t>
            </a:r>
          </a:p>
        </p:txBody>
      </p:sp>
      <p:sp>
        <p:nvSpPr>
          <p:cNvPr id="9229" name="Rectangle 13"/>
          <p:cNvSpPr>
            <a:spLocks noChangeArrowheads="1"/>
          </p:cNvSpPr>
          <p:nvPr/>
        </p:nvSpPr>
        <p:spPr bwMode="auto">
          <a:xfrm>
            <a:off x="7370764" y="1952625"/>
            <a:ext cx="251831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b="1">
                <a:latin typeface="Comic Sans MS" panose="030F0702030302020204" pitchFamily="66" charset="0"/>
              </a:rPr>
              <a:t>“Graduation Window”</a:t>
            </a:r>
          </a:p>
        </p:txBody>
      </p:sp>
    </p:spTree>
    <p:extLst>
      <p:ext uri="{BB962C8B-B14F-4D97-AF65-F5344CB8AC3E}">
        <p14:creationId xmlns:p14="http://schemas.microsoft.com/office/powerpoint/2010/main" val="570011350"/>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ChangeArrowheads="1"/>
          </p:cNvSpPr>
          <p:nvPr/>
        </p:nvSpPr>
        <p:spPr bwMode="auto">
          <a:xfrm>
            <a:off x="6711950" y="2292350"/>
            <a:ext cx="520700" cy="444500"/>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3"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Memory </a:t>
            </a:r>
            <a:r>
              <a:rPr lang="en-US" altLang="zh-CN" dirty="0" smtClean="0"/>
              <a:t>Capacity before 2000</a:t>
            </a:r>
            <a:r>
              <a:rPr lang="en-US" altLang="zh-CN" dirty="0"/>
              <a:t/>
            </a:r>
            <a:br>
              <a:rPr lang="en-US" altLang="zh-CN" dirty="0"/>
            </a:br>
            <a:r>
              <a:rPr lang="en-US" altLang="zh-CN" sz="3600" dirty="0"/>
              <a:t>(Single Chip </a:t>
            </a:r>
            <a:r>
              <a:rPr lang="en-US" altLang="zh-CN" sz="3600" dirty="0" smtClean="0"/>
              <a:t>DRAM)</a:t>
            </a:r>
            <a:endParaRPr lang="en-US" altLang="zh-CN" dirty="0"/>
          </a:p>
        </p:txBody>
      </p:sp>
      <p:pic>
        <p:nvPicPr>
          <p:cNvPr id="10244"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4" y="1484784"/>
            <a:ext cx="5600700" cy="4597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5" name="Rectangle 5"/>
          <p:cNvSpPr>
            <a:spLocks noChangeArrowheads="1"/>
          </p:cNvSpPr>
          <p:nvPr/>
        </p:nvSpPr>
        <p:spPr bwMode="auto">
          <a:xfrm>
            <a:off x="7392144" y="2764971"/>
            <a:ext cx="3482975" cy="2647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1pPr>
            <a:lvl2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2pPr>
            <a:lvl3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3pPr>
            <a:lvl4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4pPr>
            <a:lvl5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sz="1800" b="1" dirty="0">
                <a:latin typeface="Arial" panose="020B0604020202020204" pitchFamily="34" charset="0"/>
              </a:rPr>
              <a:t>year	       size(Mb)		</a:t>
            </a:r>
            <a:r>
              <a:rPr lang="en-US" altLang="zh-CN" sz="1800" b="1" dirty="0" err="1">
                <a:latin typeface="Arial" panose="020B0604020202020204" pitchFamily="34" charset="0"/>
              </a:rPr>
              <a:t>cyc</a:t>
            </a:r>
            <a:r>
              <a:rPr lang="en-US" altLang="zh-CN" sz="1800" b="1" dirty="0">
                <a:latin typeface="Arial" panose="020B0604020202020204" pitchFamily="34" charset="0"/>
              </a:rPr>
              <a:t> time</a:t>
            </a:r>
          </a:p>
          <a:p>
            <a:pPr>
              <a:lnSpc>
                <a:spcPct val="90000"/>
              </a:lnSpc>
              <a:spcBef>
                <a:spcPct val="30000"/>
              </a:spcBef>
            </a:pPr>
            <a:r>
              <a:rPr lang="en-US" altLang="zh-CN" sz="1800" dirty="0">
                <a:latin typeface="Arial" panose="020B0604020202020204" pitchFamily="34" charset="0"/>
              </a:rPr>
              <a:t>1980	0.0625		250 ns</a:t>
            </a:r>
          </a:p>
          <a:p>
            <a:pPr>
              <a:lnSpc>
                <a:spcPct val="90000"/>
              </a:lnSpc>
              <a:spcBef>
                <a:spcPct val="30000"/>
              </a:spcBef>
            </a:pPr>
            <a:r>
              <a:rPr lang="en-US" altLang="zh-CN" sz="1800" dirty="0">
                <a:latin typeface="Arial" panose="020B0604020202020204" pitchFamily="34" charset="0"/>
              </a:rPr>
              <a:t>1983	0.25		220 ns</a:t>
            </a:r>
          </a:p>
          <a:p>
            <a:pPr>
              <a:lnSpc>
                <a:spcPct val="90000"/>
              </a:lnSpc>
              <a:spcBef>
                <a:spcPct val="30000"/>
              </a:spcBef>
            </a:pPr>
            <a:r>
              <a:rPr lang="en-US" altLang="zh-CN" sz="1800" dirty="0">
                <a:latin typeface="Arial" panose="020B0604020202020204" pitchFamily="34" charset="0"/>
              </a:rPr>
              <a:t>1986	1		190 ns</a:t>
            </a:r>
          </a:p>
          <a:p>
            <a:pPr>
              <a:lnSpc>
                <a:spcPct val="90000"/>
              </a:lnSpc>
              <a:spcBef>
                <a:spcPct val="30000"/>
              </a:spcBef>
            </a:pPr>
            <a:r>
              <a:rPr lang="en-US" altLang="zh-CN" sz="1800" dirty="0">
                <a:latin typeface="Arial" panose="020B0604020202020204" pitchFamily="34" charset="0"/>
              </a:rPr>
              <a:t>1989	4		165 ns</a:t>
            </a:r>
          </a:p>
          <a:p>
            <a:pPr>
              <a:lnSpc>
                <a:spcPct val="90000"/>
              </a:lnSpc>
              <a:spcBef>
                <a:spcPct val="30000"/>
              </a:spcBef>
            </a:pPr>
            <a:r>
              <a:rPr lang="en-US" altLang="zh-CN" sz="1800" dirty="0">
                <a:latin typeface="Arial" panose="020B0604020202020204" pitchFamily="34" charset="0"/>
              </a:rPr>
              <a:t>1992	16		145 ns</a:t>
            </a:r>
          </a:p>
          <a:p>
            <a:pPr>
              <a:lnSpc>
                <a:spcPct val="90000"/>
              </a:lnSpc>
              <a:spcBef>
                <a:spcPct val="30000"/>
              </a:spcBef>
            </a:pPr>
            <a:r>
              <a:rPr lang="en-US" altLang="zh-CN" sz="1800" dirty="0">
                <a:latin typeface="Arial" panose="020B0604020202020204" pitchFamily="34" charset="0"/>
              </a:rPr>
              <a:t>1996	64		120 ns</a:t>
            </a:r>
          </a:p>
          <a:p>
            <a:pPr>
              <a:lnSpc>
                <a:spcPct val="90000"/>
              </a:lnSpc>
              <a:spcBef>
                <a:spcPct val="30000"/>
              </a:spcBef>
            </a:pPr>
            <a:r>
              <a:rPr lang="en-US" altLang="zh-CN" sz="1800" dirty="0">
                <a:latin typeface="Arial" panose="020B0604020202020204" pitchFamily="34" charset="0"/>
              </a:rPr>
              <a:t>2000	256		100 ns</a:t>
            </a:r>
          </a:p>
        </p:txBody>
      </p:sp>
    </p:spTree>
    <p:extLst>
      <p:ext uri="{BB962C8B-B14F-4D97-AF65-F5344CB8AC3E}">
        <p14:creationId xmlns:p14="http://schemas.microsoft.com/office/powerpoint/2010/main" val="4116237354"/>
      </p:ext>
    </p:extLst>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39416" y="473075"/>
            <a:ext cx="9055472"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Technology </a:t>
            </a:r>
            <a:r>
              <a:rPr lang="en-US" altLang="zh-CN" dirty="0" smtClean="0"/>
              <a:t>Trends before 2000 </a:t>
            </a:r>
            <a:br>
              <a:rPr lang="en-US" altLang="zh-CN" dirty="0" smtClean="0"/>
            </a:br>
            <a:r>
              <a:rPr lang="en-US" altLang="zh-CN" dirty="0" smtClean="0"/>
              <a:t>(Summary)</a:t>
            </a:r>
            <a:endParaRPr lang="en-US" altLang="zh-CN" dirty="0"/>
          </a:p>
        </p:txBody>
      </p:sp>
      <p:sp>
        <p:nvSpPr>
          <p:cNvPr id="11267" name="Rectangle 3"/>
          <p:cNvSpPr>
            <a:spLocks noChangeArrowheads="1"/>
          </p:cNvSpPr>
          <p:nvPr/>
        </p:nvSpPr>
        <p:spPr bwMode="auto">
          <a:xfrm>
            <a:off x="2679700" y="2222501"/>
            <a:ext cx="7150100" cy="179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7000"/>
              </a:lnSpc>
              <a:spcBef>
                <a:spcPct val="41000"/>
              </a:spcBef>
            </a:pPr>
            <a:r>
              <a:rPr lang="en-US" altLang="zh-CN" b="1" u="sng">
                <a:latin typeface="Arial" panose="020B0604020202020204" pitchFamily="34" charset="0"/>
              </a:rPr>
              <a:t>		Capacity	Speed (latency)</a:t>
            </a:r>
          </a:p>
          <a:p>
            <a:pPr>
              <a:lnSpc>
                <a:spcPct val="87000"/>
              </a:lnSpc>
              <a:spcBef>
                <a:spcPct val="41000"/>
              </a:spcBef>
            </a:pPr>
            <a:r>
              <a:rPr lang="en-US" altLang="zh-CN" b="1">
                <a:latin typeface="Arial" panose="020B0604020202020204" pitchFamily="34" charset="0"/>
              </a:rPr>
              <a:t>Logic	2x  in  3 years	2x  in 3 years</a:t>
            </a:r>
          </a:p>
          <a:p>
            <a:pPr>
              <a:lnSpc>
                <a:spcPct val="87000"/>
              </a:lnSpc>
              <a:spcBef>
                <a:spcPct val="41000"/>
              </a:spcBef>
            </a:pPr>
            <a:r>
              <a:rPr lang="en-US" altLang="zh-CN" b="1">
                <a:latin typeface="Arial" panose="020B0604020202020204" pitchFamily="34" charset="0"/>
              </a:rPr>
              <a:t>DRAM	4x  in  3 years	2x  in 10 years</a:t>
            </a:r>
          </a:p>
          <a:p>
            <a:pPr>
              <a:lnSpc>
                <a:spcPct val="87000"/>
              </a:lnSpc>
              <a:spcBef>
                <a:spcPct val="41000"/>
              </a:spcBef>
            </a:pPr>
            <a:r>
              <a:rPr lang="en-US" altLang="zh-CN" b="1">
                <a:latin typeface="Arial" panose="020B0604020202020204" pitchFamily="34" charset="0"/>
              </a:rPr>
              <a:t>Disk	4x  in  3 years	2x  in 10 years</a:t>
            </a:r>
          </a:p>
        </p:txBody>
      </p:sp>
    </p:spTree>
    <p:extLst>
      <p:ext uri="{BB962C8B-B14F-4D97-AF65-F5344CB8AC3E}">
        <p14:creationId xmlns:p14="http://schemas.microsoft.com/office/powerpoint/2010/main" val="545601796"/>
      </p:ext>
    </p:extLst>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752600" y="609600"/>
            <a:ext cx="85344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Processor Performance Trends</a:t>
            </a:r>
          </a:p>
        </p:txBody>
      </p:sp>
      <p:sp>
        <p:nvSpPr>
          <p:cNvPr id="12291" name="Line 3"/>
          <p:cNvSpPr>
            <a:spLocks noChangeShapeType="1"/>
          </p:cNvSpPr>
          <p:nvPr/>
        </p:nvSpPr>
        <p:spPr bwMode="auto">
          <a:xfrm flipV="1">
            <a:off x="5727700" y="4406900"/>
            <a:ext cx="1117600" cy="635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2" name="Line 4"/>
          <p:cNvSpPr>
            <a:spLocks noChangeShapeType="1"/>
          </p:cNvSpPr>
          <p:nvPr/>
        </p:nvSpPr>
        <p:spPr bwMode="auto">
          <a:xfrm flipV="1">
            <a:off x="4591050" y="1898650"/>
            <a:ext cx="4089400" cy="1587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3" name="Line 5"/>
          <p:cNvSpPr>
            <a:spLocks noChangeShapeType="1"/>
          </p:cNvSpPr>
          <p:nvPr/>
        </p:nvSpPr>
        <p:spPr bwMode="auto">
          <a:xfrm flipV="1">
            <a:off x="6889750" y="1695450"/>
            <a:ext cx="1257300" cy="2717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4" name="Line 6"/>
          <p:cNvSpPr>
            <a:spLocks noChangeShapeType="1"/>
          </p:cNvSpPr>
          <p:nvPr/>
        </p:nvSpPr>
        <p:spPr bwMode="auto">
          <a:xfrm flipV="1">
            <a:off x="6623050" y="2546350"/>
            <a:ext cx="1968500" cy="774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5" name="Line 7"/>
          <p:cNvSpPr>
            <a:spLocks noChangeShapeType="1"/>
          </p:cNvSpPr>
          <p:nvPr/>
        </p:nvSpPr>
        <p:spPr bwMode="auto">
          <a:xfrm flipV="1">
            <a:off x="3746500" y="3568700"/>
            <a:ext cx="3784600" cy="1701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6" name="Line 8"/>
          <p:cNvSpPr>
            <a:spLocks noChangeShapeType="1"/>
          </p:cNvSpPr>
          <p:nvPr/>
        </p:nvSpPr>
        <p:spPr bwMode="auto">
          <a:xfrm flipV="1">
            <a:off x="6864350" y="2813050"/>
            <a:ext cx="749300" cy="1612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7" name="Line 9"/>
          <p:cNvSpPr>
            <a:spLocks noChangeShapeType="1"/>
          </p:cNvSpPr>
          <p:nvPr/>
        </p:nvSpPr>
        <p:spPr bwMode="auto">
          <a:xfrm flipV="1">
            <a:off x="3771900" y="2895600"/>
            <a:ext cx="3860800" cy="157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8" name="Line 10"/>
          <p:cNvSpPr>
            <a:spLocks noChangeShapeType="1"/>
          </p:cNvSpPr>
          <p:nvPr/>
        </p:nvSpPr>
        <p:spPr bwMode="auto">
          <a:xfrm flipV="1">
            <a:off x="4559300" y="2311400"/>
            <a:ext cx="3060700" cy="1193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9" name="Rectangle 11"/>
          <p:cNvSpPr>
            <a:spLocks noChangeArrowheads="1"/>
          </p:cNvSpPr>
          <p:nvPr/>
        </p:nvSpPr>
        <p:spPr bwMode="auto">
          <a:xfrm>
            <a:off x="6965951" y="4159251"/>
            <a:ext cx="1570943" cy="24519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Microprocessors</a:t>
            </a:r>
          </a:p>
        </p:txBody>
      </p:sp>
      <p:sp>
        <p:nvSpPr>
          <p:cNvPr id="12300" name="Rectangle 12"/>
          <p:cNvSpPr>
            <a:spLocks noChangeArrowheads="1"/>
          </p:cNvSpPr>
          <p:nvPr/>
        </p:nvSpPr>
        <p:spPr bwMode="auto">
          <a:xfrm>
            <a:off x="7550151" y="3676651"/>
            <a:ext cx="1401025" cy="245195"/>
          </a:xfrm>
          <a:prstGeom prst="rect">
            <a:avLst/>
          </a:prstGeom>
          <a:noFill/>
          <a:ln w="12700">
            <a:pattFill prst="pct25">
              <a:fgClr>
                <a:schemeClr val="tx1"/>
              </a:fgClr>
              <a:bgClr>
                <a:schemeClr val="bg1"/>
              </a:bgClr>
            </a:patt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Minicomputers</a:t>
            </a:r>
          </a:p>
        </p:txBody>
      </p:sp>
      <p:sp>
        <p:nvSpPr>
          <p:cNvPr id="12301" name="Rectangle 13"/>
          <p:cNvSpPr>
            <a:spLocks noChangeArrowheads="1"/>
          </p:cNvSpPr>
          <p:nvPr/>
        </p:nvSpPr>
        <p:spPr bwMode="auto">
          <a:xfrm>
            <a:off x="8070850" y="2787651"/>
            <a:ext cx="1123706" cy="245195"/>
          </a:xfrm>
          <a:prstGeom prst="rect">
            <a:avLst/>
          </a:prstGeom>
          <a:noFill/>
          <a:ln w="12700">
            <a:pattFill prst="pct25">
              <a:fgClr>
                <a:schemeClr val="tx1"/>
              </a:fgClr>
              <a:bgClr>
                <a:schemeClr val="bg1"/>
              </a:bgClr>
            </a:patt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Mainframes</a:t>
            </a:r>
          </a:p>
        </p:txBody>
      </p:sp>
      <p:sp>
        <p:nvSpPr>
          <p:cNvPr id="12302" name="Rectangle 14"/>
          <p:cNvSpPr>
            <a:spLocks noChangeArrowheads="1"/>
          </p:cNvSpPr>
          <p:nvPr/>
        </p:nvSpPr>
        <p:spPr bwMode="auto">
          <a:xfrm>
            <a:off x="5518151" y="2330451"/>
            <a:ext cx="1551707" cy="24519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Supercomputers</a:t>
            </a:r>
          </a:p>
        </p:txBody>
      </p:sp>
      <p:sp>
        <p:nvSpPr>
          <p:cNvPr id="12303" name="Rectangle 15"/>
          <p:cNvSpPr>
            <a:spLocks noChangeArrowheads="1"/>
          </p:cNvSpPr>
          <p:nvPr/>
        </p:nvSpPr>
        <p:spPr bwMode="auto">
          <a:xfrm>
            <a:off x="8578850" y="1301750"/>
            <a:ext cx="1320800" cy="13208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4" name="Line 16"/>
          <p:cNvSpPr>
            <a:spLocks noChangeShapeType="1"/>
          </p:cNvSpPr>
          <p:nvPr/>
        </p:nvSpPr>
        <p:spPr bwMode="auto">
          <a:xfrm>
            <a:off x="3582989" y="50180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5" name="Line 17"/>
          <p:cNvSpPr>
            <a:spLocks noChangeShapeType="1"/>
          </p:cNvSpPr>
          <p:nvPr/>
        </p:nvSpPr>
        <p:spPr bwMode="auto">
          <a:xfrm>
            <a:off x="3582989" y="48514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6" name="Line 18"/>
          <p:cNvSpPr>
            <a:spLocks noChangeShapeType="1"/>
          </p:cNvSpPr>
          <p:nvPr/>
        </p:nvSpPr>
        <p:spPr bwMode="auto">
          <a:xfrm>
            <a:off x="3582989" y="47323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7" name="Line 19"/>
          <p:cNvSpPr>
            <a:spLocks noChangeShapeType="1"/>
          </p:cNvSpPr>
          <p:nvPr/>
        </p:nvSpPr>
        <p:spPr bwMode="auto">
          <a:xfrm>
            <a:off x="3582989" y="46624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8" name="Line 20"/>
          <p:cNvSpPr>
            <a:spLocks noChangeShapeType="1"/>
          </p:cNvSpPr>
          <p:nvPr/>
        </p:nvSpPr>
        <p:spPr bwMode="auto">
          <a:xfrm>
            <a:off x="3582989" y="45910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9" name="Line 21"/>
          <p:cNvSpPr>
            <a:spLocks noChangeShapeType="1"/>
          </p:cNvSpPr>
          <p:nvPr/>
        </p:nvSpPr>
        <p:spPr bwMode="auto">
          <a:xfrm>
            <a:off x="3582989" y="45196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0" name="Line 22"/>
          <p:cNvSpPr>
            <a:spLocks noChangeShapeType="1"/>
          </p:cNvSpPr>
          <p:nvPr/>
        </p:nvSpPr>
        <p:spPr bwMode="auto">
          <a:xfrm>
            <a:off x="3582989" y="44719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Line 23"/>
          <p:cNvSpPr>
            <a:spLocks noChangeShapeType="1"/>
          </p:cNvSpPr>
          <p:nvPr/>
        </p:nvSpPr>
        <p:spPr bwMode="auto">
          <a:xfrm>
            <a:off x="3582989" y="442436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2" name="Line 24"/>
          <p:cNvSpPr>
            <a:spLocks noChangeShapeType="1"/>
          </p:cNvSpPr>
          <p:nvPr/>
        </p:nvSpPr>
        <p:spPr bwMode="auto">
          <a:xfrm>
            <a:off x="3582989" y="41163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3" name="Line 25"/>
          <p:cNvSpPr>
            <a:spLocks noChangeShapeType="1"/>
          </p:cNvSpPr>
          <p:nvPr/>
        </p:nvSpPr>
        <p:spPr bwMode="auto">
          <a:xfrm>
            <a:off x="3582989" y="39497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4" name="Line 26"/>
          <p:cNvSpPr>
            <a:spLocks noChangeShapeType="1"/>
          </p:cNvSpPr>
          <p:nvPr/>
        </p:nvSpPr>
        <p:spPr bwMode="auto">
          <a:xfrm>
            <a:off x="3582989" y="38560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5" name="Line 27"/>
          <p:cNvSpPr>
            <a:spLocks noChangeShapeType="1"/>
          </p:cNvSpPr>
          <p:nvPr/>
        </p:nvSpPr>
        <p:spPr bwMode="auto">
          <a:xfrm>
            <a:off x="3582989" y="37607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Line 28"/>
          <p:cNvSpPr>
            <a:spLocks noChangeShapeType="1"/>
          </p:cNvSpPr>
          <p:nvPr/>
        </p:nvSpPr>
        <p:spPr bwMode="auto">
          <a:xfrm>
            <a:off x="3582989" y="36893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7" name="Line 29"/>
          <p:cNvSpPr>
            <a:spLocks noChangeShapeType="1"/>
          </p:cNvSpPr>
          <p:nvPr/>
        </p:nvSpPr>
        <p:spPr bwMode="auto">
          <a:xfrm>
            <a:off x="3582989" y="36179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8" name="Line 30"/>
          <p:cNvSpPr>
            <a:spLocks noChangeShapeType="1"/>
          </p:cNvSpPr>
          <p:nvPr/>
        </p:nvSpPr>
        <p:spPr bwMode="auto">
          <a:xfrm>
            <a:off x="3582989" y="35702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Line 31"/>
          <p:cNvSpPr>
            <a:spLocks noChangeShapeType="1"/>
          </p:cNvSpPr>
          <p:nvPr/>
        </p:nvSpPr>
        <p:spPr bwMode="auto">
          <a:xfrm>
            <a:off x="3582989" y="352266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0" name="Line 32"/>
          <p:cNvSpPr>
            <a:spLocks noChangeShapeType="1"/>
          </p:cNvSpPr>
          <p:nvPr/>
        </p:nvSpPr>
        <p:spPr bwMode="auto">
          <a:xfrm>
            <a:off x="3582989" y="32146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1" name="Line 33"/>
          <p:cNvSpPr>
            <a:spLocks noChangeShapeType="1"/>
          </p:cNvSpPr>
          <p:nvPr/>
        </p:nvSpPr>
        <p:spPr bwMode="auto">
          <a:xfrm>
            <a:off x="3582989" y="30718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2" name="Line 34"/>
          <p:cNvSpPr>
            <a:spLocks noChangeShapeType="1"/>
          </p:cNvSpPr>
          <p:nvPr/>
        </p:nvSpPr>
        <p:spPr bwMode="auto">
          <a:xfrm>
            <a:off x="3582989" y="29543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3" name="Line 35"/>
          <p:cNvSpPr>
            <a:spLocks noChangeShapeType="1"/>
          </p:cNvSpPr>
          <p:nvPr/>
        </p:nvSpPr>
        <p:spPr bwMode="auto">
          <a:xfrm>
            <a:off x="3582989" y="28590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4" name="Line 36"/>
          <p:cNvSpPr>
            <a:spLocks noChangeShapeType="1"/>
          </p:cNvSpPr>
          <p:nvPr/>
        </p:nvSpPr>
        <p:spPr bwMode="auto">
          <a:xfrm>
            <a:off x="3582989" y="27876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5" name="Line 37"/>
          <p:cNvSpPr>
            <a:spLocks noChangeShapeType="1"/>
          </p:cNvSpPr>
          <p:nvPr/>
        </p:nvSpPr>
        <p:spPr bwMode="auto">
          <a:xfrm>
            <a:off x="3582989" y="274002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6" name="Line 38"/>
          <p:cNvSpPr>
            <a:spLocks noChangeShapeType="1"/>
          </p:cNvSpPr>
          <p:nvPr/>
        </p:nvSpPr>
        <p:spPr bwMode="auto">
          <a:xfrm>
            <a:off x="3582989" y="26924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7" name="Line 39"/>
          <p:cNvSpPr>
            <a:spLocks noChangeShapeType="1"/>
          </p:cNvSpPr>
          <p:nvPr/>
        </p:nvSpPr>
        <p:spPr bwMode="auto">
          <a:xfrm>
            <a:off x="3582989" y="264477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8" name="Line 40"/>
          <p:cNvSpPr>
            <a:spLocks noChangeShapeType="1"/>
          </p:cNvSpPr>
          <p:nvPr/>
        </p:nvSpPr>
        <p:spPr bwMode="auto">
          <a:xfrm>
            <a:off x="3582989" y="23368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9" name="Line 41"/>
          <p:cNvSpPr>
            <a:spLocks noChangeShapeType="1"/>
          </p:cNvSpPr>
          <p:nvPr/>
        </p:nvSpPr>
        <p:spPr bwMode="auto">
          <a:xfrm>
            <a:off x="3582989" y="21701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0" name="Line 42"/>
          <p:cNvSpPr>
            <a:spLocks noChangeShapeType="1"/>
          </p:cNvSpPr>
          <p:nvPr/>
        </p:nvSpPr>
        <p:spPr bwMode="auto">
          <a:xfrm>
            <a:off x="3582989" y="20526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1" name="Line 43"/>
          <p:cNvSpPr>
            <a:spLocks noChangeShapeType="1"/>
          </p:cNvSpPr>
          <p:nvPr/>
        </p:nvSpPr>
        <p:spPr bwMode="auto">
          <a:xfrm>
            <a:off x="3582989" y="19812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2" name="Line 44"/>
          <p:cNvSpPr>
            <a:spLocks noChangeShapeType="1"/>
          </p:cNvSpPr>
          <p:nvPr/>
        </p:nvSpPr>
        <p:spPr bwMode="auto">
          <a:xfrm>
            <a:off x="3582989" y="190976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3" name="Line 45"/>
          <p:cNvSpPr>
            <a:spLocks noChangeShapeType="1"/>
          </p:cNvSpPr>
          <p:nvPr/>
        </p:nvSpPr>
        <p:spPr bwMode="auto">
          <a:xfrm>
            <a:off x="3582989" y="183832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4" name="Line 46"/>
          <p:cNvSpPr>
            <a:spLocks noChangeShapeType="1"/>
          </p:cNvSpPr>
          <p:nvPr/>
        </p:nvSpPr>
        <p:spPr bwMode="auto">
          <a:xfrm>
            <a:off x="3582989" y="17907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5" name="Line 47"/>
          <p:cNvSpPr>
            <a:spLocks noChangeShapeType="1"/>
          </p:cNvSpPr>
          <p:nvPr/>
        </p:nvSpPr>
        <p:spPr bwMode="auto">
          <a:xfrm>
            <a:off x="3582989" y="174307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6" name="Line 48"/>
          <p:cNvSpPr>
            <a:spLocks noChangeShapeType="1"/>
          </p:cNvSpPr>
          <p:nvPr/>
        </p:nvSpPr>
        <p:spPr bwMode="auto">
          <a:xfrm>
            <a:off x="3582989" y="43767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7" name="Line 49"/>
          <p:cNvSpPr>
            <a:spLocks noChangeShapeType="1"/>
          </p:cNvSpPr>
          <p:nvPr/>
        </p:nvSpPr>
        <p:spPr bwMode="auto">
          <a:xfrm>
            <a:off x="3582989" y="34988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8" name="Line 50"/>
          <p:cNvSpPr>
            <a:spLocks noChangeShapeType="1"/>
          </p:cNvSpPr>
          <p:nvPr/>
        </p:nvSpPr>
        <p:spPr bwMode="auto">
          <a:xfrm>
            <a:off x="3582989" y="25971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9" name="Line 51"/>
          <p:cNvSpPr>
            <a:spLocks noChangeShapeType="1"/>
          </p:cNvSpPr>
          <p:nvPr/>
        </p:nvSpPr>
        <p:spPr bwMode="auto">
          <a:xfrm>
            <a:off x="3582989" y="16970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0" name="Line 52"/>
          <p:cNvSpPr>
            <a:spLocks noChangeShapeType="1"/>
          </p:cNvSpPr>
          <p:nvPr/>
        </p:nvSpPr>
        <p:spPr bwMode="auto">
          <a:xfrm flipV="1">
            <a:off x="3589338" y="1671638"/>
            <a:ext cx="0" cy="361791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1" name="Line 53"/>
          <p:cNvSpPr>
            <a:spLocks noChangeShapeType="1"/>
          </p:cNvSpPr>
          <p:nvPr/>
        </p:nvSpPr>
        <p:spPr bwMode="auto">
          <a:xfrm>
            <a:off x="3525839" y="5278438"/>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2" name="Line 54"/>
          <p:cNvSpPr>
            <a:spLocks noChangeShapeType="1"/>
          </p:cNvSpPr>
          <p:nvPr/>
        </p:nvSpPr>
        <p:spPr bwMode="auto">
          <a:xfrm>
            <a:off x="3525839" y="4376738"/>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3" name="Line 55"/>
          <p:cNvSpPr>
            <a:spLocks noChangeShapeType="1"/>
          </p:cNvSpPr>
          <p:nvPr/>
        </p:nvSpPr>
        <p:spPr bwMode="auto">
          <a:xfrm>
            <a:off x="3525839" y="3498850"/>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4" name="Line 56"/>
          <p:cNvSpPr>
            <a:spLocks noChangeShapeType="1"/>
          </p:cNvSpPr>
          <p:nvPr/>
        </p:nvSpPr>
        <p:spPr bwMode="auto">
          <a:xfrm>
            <a:off x="3525839" y="2597150"/>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5" name="Line 57"/>
          <p:cNvSpPr>
            <a:spLocks noChangeShapeType="1"/>
          </p:cNvSpPr>
          <p:nvPr/>
        </p:nvSpPr>
        <p:spPr bwMode="auto">
          <a:xfrm>
            <a:off x="3525839" y="1697038"/>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6" name="Line 58"/>
          <p:cNvSpPr>
            <a:spLocks noChangeShapeType="1"/>
          </p:cNvSpPr>
          <p:nvPr/>
        </p:nvSpPr>
        <p:spPr bwMode="auto">
          <a:xfrm>
            <a:off x="3589339" y="5278438"/>
            <a:ext cx="555148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7" name="Line 59"/>
          <p:cNvSpPr>
            <a:spLocks noChangeShapeType="1"/>
          </p:cNvSpPr>
          <p:nvPr/>
        </p:nvSpPr>
        <p:spPr bwMode="auto">
          <a:xfrm flipV="1">
            <a:off x="35893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8" name="Line 60"/>
          <p:cNvSpPr>
            <a:spLocks noChangeShapeType="1"/>
          </p:cNvSpPr>
          <p:nvPr/>
        </p:nvSpPr>
        <p:spPr bwMode="auto">
          <a:xfrm flipV="1">
            <a:off x="37576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9" name="Line 61"/>
          <p:cNvSpPr>
            <a:spLocks noChangeShapeType="1"/>
          </p:cNvSpPr>
          <p:nvPr/>
        </p:nvSpPr>
        <p:spPr bwMode="auto">
          <a:xfrm flipV="1">
            <a:off x="39052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0" name="Line 62"/>
          <p:cNvSpPr>
            <a:spLocks noChangeShapeType="1"/>
          </p:cNvSpPr>
          <p:nvPr/>
        </p:nvSpPr>
        <p:spPr bwMode="auto">
          <a:xfrm flipV="1">
            <a:off x="40751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1" name="Line 63"/>
          <p:cNvSpPr>
            <a:spLocks noChangeShapeType="1"/>
          </p:cNvSpPr>
          <p:nvPr/>
        </p:nvSpPr>
        <p:spPr bwMode="auto">
          <a:xfrm flipV="1">
            <a:off x="42227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2" name="Line 64"/>
          <p:cNvSpPr>
            <a:spLocks noChangeShapeType="1"/>
          </p:cNvSpPr>
          <p:nvPr/>
        </p:nvSpPr>
        <p:spPr bwMode="auto">
          <a:xfrm flipV="1">
            <a:off x="439102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3" name="Line 65"/>
          <p:cNvSpPr>
            <a:spLocks noChangeShapeType="1"/>
          </p:cNvSpPr>
          <p:nvPr/>
        </p:nvSpPr>
        <p:spPr bwMode="auto">
          <a:xfrm flipV="1">
            <a:off x="45386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4" name="Line 66"/>
          <p:cNvSpPr>
            <a:spLocks noChangeShapeType="1"/>
          </p:cNvSpPr>
          <p:nvPr/>
        </p:nvSpPr>
        <p:spPr bwMode="auto">
          <a:xfrm flipV="1">
            <a:off x="47069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5" name="Line 67"/>
          <p:cNvSpPr>
            <a:spLocks noChangeShapeType="1"/>
          </p:cNvSpPr>
          <p:nvPr/>
        </p:nvSpPr>
        <p:spPr bwMode="auto">
          <a:xfrm flipV="1">
            <a:off x="48545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6" name="Line 68"/>
          <p:cNvSpPr>
            <a:spLocks noChangeShapeType="1"/>
          </p:cNvSpPr>
          <p:nvPr/>
        </p:nvSpPr>
        <p:spPr bwMode="auto">
          <a:xfrm flipV="1">
            <a:off x="50244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7" name="Line 69"/>
          <p:cNvSpPr>
            <a:spLocks noChangeShapeType="1"/>
          </p:cNvSpPr>
          <p:nvPr/>
        </p:nvSpPr>
        <p:spPr bwMode="auto">
          <a:xfrm flipV="1">
            <a:off x="51720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8" name="Line 70"/>
          <p:cNvSpPr>
            <a:spLocks noChangeShapeType="1"/>
          </p:cNvSpPr>
          <p:nvPr/>
        </p:nvSpPr>
        <p:spPr bwMode="auto">
          <a:xfrm flipV="1">
            <a:off x="53403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9" name="Line 71"/>
          <p:cNvSpPr>
            <a:spLocks noChangeShapeType="1"/>
          </p:cNvSpPr>
          <p:nvPr/>
        </p:nvSpPr>
        <p:spPr bwMode="auto">
          <a:xfrm flipV="1">
            <a:off x="550862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0" name="Line 72"/>
          <p:cNvSpPr>
            <a:spLocks noChangeShapeType="1"/>
          </p:cNvSpPr>
          <p:nvPr/>
        </p:nvSpPr>
        <p:spPr bwMode="auto">
          <a:xfrm flipV="1">
            <a:off x="56562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1" name="Line 73"/>
          <p:cNvSpPr>
            <a:spLocks noChangeShapeType="1"/>
          </p:cNvSpPr>
          <p:nvPr/>
        </p:nvSpPr>
        <p:spPr bwMode="auto">
          <a:xfrm flipV="1">
            <a:off x="582612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2" name="Line 74"/>
          <p:cNvSpPr>
            <a:spLocks noChangeShapeType="1"/>
          </p:cNvSpPr>
          <p:nvPr/>
        </p:nvSpPr>
        <p:spPr bwMode="auto">
          <a:xfrm flipV="1">
            <a:off x="59737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3" name="Line 75"/>
          <p:cNvSpPr>
            <a:spLocks noChangeShapeType="1"/>
          </p:cNvSpPr>
          <p:nvPr/>
        </p:nvSpPr>
        <p:spPr bwMode="auto">
          <a:xfrm flipV="1">
            <a:off x="61420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4" name="Line 76"/>
          <p:cNvSpPr>
            <a:spLocks noChangeShapeType="1"/>
          </p:cNvSpPr>
          <p:nvPr/>
        </p:nvSpPr>
        <p:spPr bwMode="auto">
          <a:xfrm flipV="1">
            <a:off x="62896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5" name="Line 77"/>
          <p:cNvSpPr>
            <a:spLocks noChangeShapeType="1"/>
          </p:cNvSpPr>
          <p:nvPr/>
        </p:nvSpPr>
        <p:spPr bwMode="auto">
          <a:xfrm flipV="1">
            <a:off x="64579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6" name="Line 78"/>
          <p:cNvSpPr>
            <a:spLocks noChangeShapeType="1"/>
          </p:cNvSpPr>
          <p:nvPr/>
        </p:nvSpPr>
        <p:spPr bwMode="auto">
          <a:xfrm flipV="1">
            <a:off x="66055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7" name="Line 79"/>
          <p:cNvSpPr>
            <a:spLocks noChangeShapeType="1"/>
          </p:cNvSpPr>
          <p:nvPr/>
        </p:nvSpPr>
        <p:spPr bwMode="auto">
          <a:xfrm flipV="1">
            <a:off x="67754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8" name="Line 80"/>
          <p:cNvSpPr>
            <a:spLocks noChangeShapeType="1"/>
          </p:cNvSpPr>
          <p:nvPr/>
        </p:nvSpPr>
        <p:spPr bwMode="auto">
          <a:xfrm flipV="1">
            <a:off x="69230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9" name="Line 81"/>
          <p:cNvSpPr>
            <a:spLocks noChangeShapeType="1"/>
          </p:cNvSpPr>
          <p:nvPr/>
        </p:nvSpPr>
        <p:spPr bwMode="auto">
          <a:xfrm flipV="1">
            <a:off x="70913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0" name="Line 82"/>
          <p:cNvSpPr>
            <a:spLocks noChangeShapeType="1"/>
          </p:cNvSpPr>
          <p:nvPr/>
        </p:nvSpPr>
        <p:spPr bwMode="auto">
          <a:xfrm flipV="1">
            <a:off x="723900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1" name="Line 83"/>
          <p:cNvSpPr>
            <a:spLocks noChangeShapeType="1"/>
          </p:cNvSpPr>
          <p:nvPr/>
        </p:nvSpPr>
        <p:spPr bwMode="auto">
          <a:xfrm flipV="1">
            <a:off x="74072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2" name="Line 84"/>
          <p:cNvSpPr>
            <a:spLocks noChangeShapeType="1"/>
          </p:cNvSpPr>
          <p:nvPr/>
        </p:nvSpPr>
        <p:spPr bwMode="auto">
          <a:xfrm flipV="1">
            <a:off x="75549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3" name="Line 85"/>
          <p:cNvSpPr>
            <a:spLocks noChangeShapeType="1"/>
          </p:cNvSpPr>
          <p:nvPr/>
        </p:nvSpPr>
        <p:spPr bwMode="auto">
          <a:xfrm flipV="1">
            <a:off x="77247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4" name="Line 86"/>
          <p:cNvSpPr>
            <a:spLocks noChangeShapeType="1"/>
          </p:cNvSpPr>
          <p:nvPr/>
        </p:nvSpPr>
        <p:spPr bwMode="auto">
          <a:xfrm flipV="1">
            <a:off x="78930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5" name="Line 87"/>
          <p:cNvSpPr>
            <a:spLocks noChangeShapeType="1"/>
          </p:cNvSpPr>
          <p:nvPr/>
        </p:nvSpPr>
        <p:spPr bwMode="auto">
          <a:xfrm flipV="1">
            <a:off x="80406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6" name="Line 88"/>
          <p:cNvSpPr>
            <a:spLocks noChangeShapeType="1"/>
          </p:cNvSpPr>
          <p:nvPr/>
        </p:nvSpPr>
        <p:spPr bwMode="auto">
          <a:xfrm flipV="1">
            <a:off x="82089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7" name="Line 89"/>
          <p:cNvSpPr>
            <a:spLocks noChangeShapeType="1"/>
          </p:cNvSpPr>
          <p:nvPr/>
        </p:nvSpPr>
        <p:spPr bwMode="auto">
          <a:xfrm flipV="1">
            <a:off x="835660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8" name="Line 90"/>
          <p:cNvSpPr>
            <a:spLocks noChangeShapeType="1"/>
          </p:cNvSpPr>
          <p:nvPr/>
        </p:nvSpPr>
        <p:spPr bwMode="auto">
          <a:xfrm flipV="1">
            <a:off x="85264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9" name="Line 91"/>
          <p:cNvSpPr>
            <a:spLocks noChangeShapeType="1"/>
          </p:cNvSpPr>
          <p:nvPr/>
        </p:nvSpPr>
        <p:spPr bwMode="auto">
          <a:xfrm flipV="1">
            <a:off x="867410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0" name="Line 92"/>
          <p:cNvSpPr>
            <a:spLocks noChangeShapeType="1"/>
          </p:cNvSpPr>
          <p:nvPr/>
        </p:nvSpPr>
        <p:spPr bwMode="auto">
          <a:xfrm flipV="1">
            <a:off x="88423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1" name="Line 93"/>
          <p:cNvSpPr>
            <a:spLocks noChangeShapeType="1"/>
          </p:cNvSpPr>
          <p:nvPr/>
        </p:nvSpPr>
        <p:spPr bwMode="auto">
          <a:xfrm flipV="1">
            <a:off x="89900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2" name="Line 94"/>
          <p:cNvSpPr>
            <a:spLocks noChangeShapeType="1"/>
          </p:cNvSpPr>
          <p:nvPr/>
        </p:nvSpPr>
        <p:spPr bwMode="auto">
          <a:xfrm flipV="1">
            <a:off x="91582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3" name="Line 95"/>
          <p:cNvSpPr>
            <a:spLocks noChangeShapeType="1"/>
          </p:cNvSpPr>
          <p:nvPr/>
        </p:nvSpPr>
        <p:spPr bwMode="auto">
          <a:xfrm flipV="1">
            <a:off x="3589338"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4" name="Line 96"/>
          <p:cNvSpPr>
            <a:spLocks noChangeShapeType="1"/>
          </p:cNvSpPr>
          <p:nvPr/>
        </p:nvSpPr>
        <p:spPr bwMode="auto">
          <a:xfrm flipV="1">
            <a:off x="4391025"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5" name="Line 97"/>
          <p:cNvSpPr>
            <a:spLocks noChangeShapeType="1"/>
          </p:cNvSpPr>
          <p:nvPr/>
        </p:nvSpPr>
        <p:spPr bwMode="auto">
          <a:xfrm flipV="1">
            <a:off x="5172075"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6" name="Line 98"/>
          <p:cNvSpPr>
            <a:spLocks noChangeShapeType="1"/>
          </p:cNvSpPr>
          <p:nvPr/>
        </p:nvSpPr>
        <p:spPr bwMode="auto">
          <a:xfrm flipV="1">
            <a:off x="5973763"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7" name="Line 99"/>
          <p:cNvSpPr>
            <a:spLocks noChangeShapeType="1"/>
          </p:cNvSpPr>
          <p:nvPr/>
        </p:nvSpPr>
        <p:spPr bwMode="auto">
          <a:xfrm flipV="1">
            <a:off x="6775450"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8" name="Line 100"/>
          <p:cNvSpPr>
            <a:spLocks noChangeShapeType="1"/>
          </p:cNvSpPr>
          <p:nvPr/>
        </p:nvSpPr>
        <p:spPr bwMode="auto">
          <a:xfrm flipV="1">
            <a:off x="7554913"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9" name="Line 101"/>
          <p:cNvSpPr>
            <a:spLocks noChangeShapeType="1"/>
          </p:cNvSpPr>
          <p:nvPr/>
        </p:nvSpPr>
        <p:spPr bwMode="auto">
          <a:xfrm flipV="1">
            <a:off x="8356600"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0" name="Line 102"/>
          <p:cNvSpPr>
            <a:spLocks noChangeShapeType="1"/>
          </p:cNvSpPr>
          <p:nvPr/>
        </p:nvSpPr>
        <p:spPr bwMode="auto">
          <a:xfrm flipV="1">
            <a:off x="9158288"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 name="Rectangle 103"/>
          <p:cNvSpPr>
            <a:spLocks noChangeArrowheads="1"/>
          </p:cNvSpPr>
          <p:nvPr/>
        </p:nvSpPr>
        <p:spPr bwMode="auto">
          <a:xfrm>
            <a:off x="3525838" y="1363664"/>
            <a:ext cx="88900" cy="104775"/>
          </a:xfrm>
          <a:prstGeom prst="rect">
            <a:avLst/>
          </a:prstGeom>
          <a:solidFill>
            <a:srgbClr val="000000"/>
          </a:solidFill>
          <a:ln w="254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3" name="Rectangle 105"/>
          <p:cNvSpPr>
            <a:spLocks noChangeArrowheads="1"/>
          </p:cNvSpPr>
          <p:nvPr/>
        </p:nvSpPr>
        <p:spPr bwMode="auto">
          <a:xfrm>
            <a:off x="5995989" y="5976938"/>
            <a:ext cx="698269"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b="1">
                <a:solidFill>
                  <a:srgbClr val="000000"/>
                </a:solidFill>
                <a:latin typeface="Geneva" charset="0"/>
              </a:rPr>
              <a:t>Year</a:t>
            </a:r>
          </a:p>
        </p:txBody>
      </p:sp>
      <p:pic>
        <p:nvPicPr>
          <p:cNvPr id="12394" name="Picture 10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5538" y="2608264"/>
            <a:ext cx="239712" cy="1743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5" name="Rectangle 107"/>
          <p:cNvSpPr>
            <a:spLocks noChangeArrowheads="1"/>
          </p:cNvSpPr>
          <p:nvPr/>
        </p:nvSpPr>
        <p:spPr bwMode="auto">
          <a:xfrm>
            <a:off x="2959100" y="5075238"/>
            <a:ext cx="522580"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0.1</a:t>
            </a:r>
          </a:p>
        </p:txBody>
      </p:sp>
      <p:sp>
        <p:nvSpPr>
          <p:cNvPr id="12396" name="Rectangle 108"/>
          <p:cNvSpPr>
            <a:spLocks noChangeArrowheads="1"/>
          </p:cNvSpPr>
          <p:nvPr/>
        </p:nvSpPr>
        <p:spPr bwMode="auto">
          <a:xfrm>
            <a:off x="3170239" y="4197350"/>
            <a:ext cx="318999"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a:t>
            </a:r>
          </a:p>
        </p:txBody>
      </p:sp>
      <p:sp>
        <p:nvSpPr>
          <p:cNvPr id="12397" name="Rectangle 109"/>
          <p:cNvSpPr>
            <a:spLocks noChangeArrowheads="1"/>
          </p:cNvSpPr>
          <p:nvPr/>
        </p:nvSpPr>
        <p:spPr bwMode="auto">
          <a:xfrm>
            <a:off x="3021013" y="3295650"/>
            <a:ext cx="45525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10</a:t>
            </a:r>
          </a:p>
        </p:txBody>
      </p:sp>
      <p:sp>
        <p:nvSpPr>
          <p:cNvPr id="12398" name="Rectangle 110"/>
          <p:cNvSpPr>
            <a:spLocks noChangeArrowheads="1"/>
          </p:cNvSpPr>
          <p:nvPr/>
        </p:nvSpPr>
        <p:spPr bwMode="auto">
          <a:xfrm>
            <a:off x="2873375" y="2417763"/>
            <a:ext cx="591510"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100</a:t>
            </a:r>
          </a:p>
        </p:txBody>
      </p:sp>
      <p:sp>
        <p:nvSpPr>
          <p:cNvPr id="12399" name="Rectangle 111"/>
          <p:cNvSpPr>
            <a:spLocks noChangeArrowheads="1"/>
          </p:cNvSpPr>
          <p:nvPr/>
        </p:nvSpPr>
        <p:spPr bwMode="auto">
          <a:xfrm>
            <a:off x="2725738" y="15160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1000</a:t>
            </a:r>
          </a:p>
        </p:txBody>
      </p:sp>
      <p:sp>
        <p:nvSpPr>
          <p:cNvPr id="12400" name="Rectangle 112"/>
          <p:cNvSpPr>
            <a:spLocks noChangeArrowheads="1"/>
          </p:cNvSpPr>
          <p:nvPr/>
        </p:nvSpPr>
        <p:spPr bwMode="auto">
          <a:xfrm>
            <a:off x="3190875"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1965</a:t>
            </a:r>
          </a:p>
        </p:txBody>
      </p:sp>
      <p:sp>
        <p:nvSpPr>
          <p:cNvPr id="12401" name="Rectangle 113"/>
          <p:cNvSpPr>
            <a:spLocks noChangeArrowheads="1"/>
          </p:cNvSpPr>
          <p:nvPr/>
        </p:nvSpPr>
        <p:spPr bwMode="auto">
          <a:xfrm>
            <a:off x="3992563"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1970</a:t>
            </a:r>
          </a:p>
        </p:txBody>
      </p:sp>
      <p:sp>
        <p:nvSpPr>
          <p:cNvPr id="12402" name="Rectangle 114"/>
          <p:cNvSpPr>
            <a:spLocks noChangeArrowheads="1"/>
          </p:cNvSpPr>
          <p:nvPr/>
        </p:nvSpPr>
        <p:spPr bwMode="auto">
          <a:xfrm>
            <a:off x="4773613"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1975</a:t>
            </a:r>
          </a:p>
        </p:txBody>
      </p:sp>
      <p:sp>
        <p:nvSpPr>
          <p:cNvPr id="12403" name="Rectangle 115"/>
          <p:cNvSpPr>
            <a:spLocks noChangeArrowheads="1"/>
          </p:cNvSpPr>
          <p:nvPr/>
        </p:nvSpPr>
        <p:spPr bwMode="auto">
          <a:xfrm>
            <a:off x="5575300"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1980</a:t>
            </a:r>
          </a:p>
        </p:txBody>
      </p:sp>
      <p:sp>
        <p:nvSpPr>
          <p:cNvPr id="12404" name="Rectangle 116"/>
          <p:cNvSpPr>
            <a:spLocks noChangeArrowheads="1"/>
          </p:cNvSpPr>
          <p:nvPr/>
        </p:nvSpPr>
        <p:spPr bwMode="auto">
          <a:xfrm>
            <a:off x="6376988"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1985</a:t>
            </a:r>
          </a:p>
        </p:txBody>
      </p:sp>
      <p:sp>
        <p:nvSpPr>
          <p:cNvPr id="12405" name="Rectangle 117"/>
          <p:cNvSpPr>
            <a:spLocks noChangeArrowheads="1"/>
          </p:cNvSpPr>
          <p:nvPr/>
        </p:nvSpPr>
        <p:spPr bwMode="auto">
          <a:xfrm>
            <a:off x="7156450"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1990</a:t>
            </a:r>
          </a:p>
        </p:txBody>
      </p:sp>
      <p:sp>
        <p:nvSpPr>
          <p:cNvPr id="12406" name="Rectangle 118"/>
          <p:cNvSpPr>
            <a:spLocks noChangeArrowheads="1"/>
          </p:cNvSpPr>
          <p:nvPr/>
        </p:nvSpPr>
        <p:spPr bwMode="auto">
          <a:xfrm>
            <a:off x="7958138"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1995</a:t>
            </a:r>
          </a:p>
        </p:txBody>
      </p:sp>
      <p:sp>
        <p:nvSpPr>
          <p:cNvPr id="12407" name="Rectangle 119"/>
          <p:cNvSpPr>
            <a:spLocks noChangeArrowheads="1"/>
          </p:cNvSpPr>
          <p:nvPr/>
        </p:nvSpPr>
        <p:spPr bwMode="auto">
          <a:xfrm>
            <a:off x="8759825"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2000</a:t>
            </a:r>
          </a:p>
        </p:txBody>
      </p:sp>
    </p:spTree>
    <p:extLst>
      <p:ext uri="{BB962C8B-B14F-4D97-AF65-F5344CB8AC3E}">
        <p14:creationId xmlns:p14="http://schemas.microsoft.com/office/powerpoint/2010/main" val="2780927020"/>
      </p:ext>
    </p:extLst>
  </p:cSld>
  <p:clrMapOvr>
    <a:masterClrMapping/>
  </p:clrMapOvr>
  <p:transition>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Processor Performance</a:t>
            </a:r>
            <a:br>
              <a:rPr lang="en-US" altLang="zh-CN" dirty="0"/>
            </a:br>
            <a:r>
              <a:rPr lang="en-US" altLang="zh-CN" dirty="0"/>
              <a:t>(1.35X before, 1.55X </a:t>
            </a:r>
            <a:r>
              <a:rPr lang="en-US" altLang="zh-CN" dirty="0" smtClean="0"/>
              <a:t>@ 2000)</a:t>
            </a:r>
            <a:endParaRPr lang="en-US" altLang="zh-CN" dirty="0"/>
          </a:p>
        </p:txBody>
      </p:sp>
      <p:sp>
        <p:nvSpPr>
          <p:cNvPr id="13316" name="Rectangle 4"/>
          <p:cNvSpPr>
            <a:spLocks noChangeArrowheads="1"/>
          </p:cNvSpPr>
          <p:nvPr/>
        </p:nvSpPr>
        <p:spPr bwMode="auto">
          <a:xfrm>
            <a:off x="4081464" y="2640013"/>
            <a:ext cx="1364157"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0000D4"/>
                </a:solidFill>
              </a:rPr>
              <a:t>1.54X/yr</a:t>
            </a:r>
          </a:p>
        </p:txBody>
      </p:sp>
      <p:sp>
        <p:nvSpPr>
          <p:cNvPr id="13317" name="Line 5"/>
          <p:cNvSpPr>
            <a:spLocks noChangeShapeType="1"/>
          </p:cNvSpPr>
          <p:nvPr/>
        </p:nvSpPr>
        <p:spPr bwMode="auto">
          <a:xfrm>
            <a:off x="5092700" y="3003550"/>
            <a:ext cx="2527300" cy="1257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19" name="Object 7">
            <a:hlinkClick r:id="" action="ppaction://ole?verb=0"/>
          </p:cNvPr>
          <p:cNvGraphicFramePr>
            <a:graphicFrameLocks noGrp="1"/>
          </p:cNvGraphicFramePr>
          <p:nvPr>
            <p:ph type="chart" idx="1"/>
          </p:nvPr>
        </p:nvGraphicFramePr>
        <p:xfrm>
          <a:off x="2209800" y="1676400"/>
          <a:ext cx="7824788" cy="4806950"/>
        </p:xfrm>
        <a:graphic>
          <a:graphicData uri="http://schemas.openxmlformats.org/presentationml/2006/ole">
            <mc:AlternateContent xmlns:mc="http://schemas.openxmlformats.org/markup-compatibility/2006">
              <mc:Choice xmlns:v="urn:schemas-microsoft-com:vml" Requires="v">
                <p:oleObj spid="_x0000_s1083" name="图表" r:id="rId3" imgW="9786914" imgH="6012798" progId="MSGraph.Chart.8">
                  <p:embed followColorScheme="full"/>
                </p:oleObj>
              </mc:Choice>
              <mc:Fallback>
                <p:oleObj name="图表" r:id="rId3" imgW="9786914" imgH="6012798" progId="MSGraph.Chart.8">
                  <p:embed followColorScheme="full"/>
                  <p:pic>
                    <p:nvPicPr>
                      <p:cNvPr id="13319" name="Object 7">
                        <a:hlinkClick r:id="" action="ppaction://ole?verb=0"/>
                      </p:cNvPr>
                      <p:cNvPicPr>
                        <a:picLocks noChangeArrowheads="1"/>
                      </p:cNvPicPr>
                      <p:nvPr/>
                    </p:nvPicPr>
                    <p:blipFill>
                      <a:blip r:embed="rId4"/>
                      <a:srcRect/>
                      <a:stretch>
                        <a:fillRect/>
                      </a:stretch>
                    </p:blipFill>
                    <p:spPr bwMode="auto">
                      <a:xfrm>
                        <a:off x="2209800" y="1676400"/>
                        <a:ext cx="7824788" cy="4806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99957195"/>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Performance Trends</a:t>
            </a:r>
            <a:br>
              <a:rPr lang="en-US" altLang="zh-CN"/>
            </a:br>
            <a:r>
              <a:rPr lang="en-US" altLang="zh-CN"/>
              <a:t>(Summary)</a:t>
            </a:r>
          </a:p>
        </p:txBody>
      </p:sp>
      <p:sp>
        <p:nvSpPr>
          <p:cNvPr id="14339"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Workstation performance (measured in Spec Marks) improves roughly 50% per year </a:t>
            </a:r>
            <a:br>
              <a:rPr lang="en-US" altLang="zh-CN" dirty="0"/>
            </a:br>
            <a:r>
              <a:rPr lang="en-US" altLang="zh-CN" dirty="0"/>
              <a:t>(2X every 18 months)</a:t>
            </a:r>
          </a:p>
          <a:p>
            <a:pPr>
              <a:buFont typeface="Wingdings" panose="05000000000000000000" pitchFamily="2" charset="2"/>
              <a:buNone/>
            </a:pPr>
            <a:endParaRPr lang="en-US" altLang="zh-CN" dirty="0"/>
          </a:p>
          <a:p>
            <a:r>
              <a:rPr lang="en-US" altLang="zh-CN" dirty="0"/>
              <a:t>Improvement in cost performance estimated at 70% per year</a:t>
            </a:r>
          </a:p>
        </p:txBody>
      </p:sp>
    </p:spTree>
    <p:extLst>
      <p:ext uri="{BB962C8B-B14F-4D97-AF65-F5344CB8AC3E}">
        <p14:creationId xmlns:p14="http://schemas.microsoft.com/office/powerpoint/2010/main" val="1960047276"/>
      </p:ext>
    </p:extLst>
  </p:cSld>
  <p:clrMapOvr>
    <a:masterClrMapping/>
  </p:clrMapOvr>
  <p:transition>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en-US" dirty="0"/>
              <a:t>Growth in processor performance </a:t>
            </a:r>
            <a:r>
              <a:rPr lang="en-US" dirty="0" smtClean="0"/>
              <a:t/>
            </a:r>
            <a:br>
              <a:rPr lang="en-US" dirty="0" smtClean="0"/>
            </a:br>
            <a:r>
              <a:rPr lang="en-US" dirty="0" smtClean="0"/>
              <a:t>over </a:t>
            </a:r>
            <a:r>
              <a:rPr lang="en-US" dirty="0"/>
              <a:t>40 years</a:t>
            </a:r>
            <a:endParaRPr lang="en-GB" dirty="0"/>
          </a:p>
        </p:txBody>
      </p:sp>
      <p:pic>
        <p:nvPicPr>
          <p:cNvPr id="13" name="Picture 12"/>
          <p:cNvPicPr>
            <a:picLocks noChangeAspect="1"/>
          </p:cNvPicPr>
          <p:nvPr/>
        </p:nvPicPr>
        <p:blipFill>
          <a:blip r:embed="rId2"/>
          <a:stretch>
            <a:fillRect/>
          </a:stretch>
        </p:blipFill>
        <p:spPr>
          <a:xfrm>
            <a:off x="3215680" y="1700808"/>
            <a:ext cx="8774668" cy="4902127"/>
          </a:xfrm>
          <a:prstGeom prst="rect">
            <a:avLst/>
          </a:prstGeom>
        </p:spPr>
      </p:pic>
      <p:sp>
        <p:nvSpPr>
          <p:cNvPr id="2" name="矩形 1"/>
          <p:cNvSpPr/>
          <p:nvPr/>
        </p:nvSpPr>
        <p:spPr>
          <a:xfrm>
            <a:off x="167680" y="1772816"/>
            <a:ext cx="3048000" cy="4528804"/>
          </a:xfrm>
          <a:prstGeom prst="rect">
            <a:avLst/>
          </a:prstGeom>
        </p:spPr>
        <p:txBody>
          <a:bodyPr wrap="square">
            <a:spAutoFit/>
          </a:bodyPr>
          <a:lstStyle/>
          <a:p>
            <a:pPr marL="171450" lvl="0" indent="-171450" algn="just" defTabSz="449263" eaLnBrk="1">
              <a:lnSpc>
                <a:spcPct val="93000"/>
              </a:lnSpc>
              <a:buClr>
                <a:srgbClr val="000000"/>
              </a:buClr>
              <a:buSzPct val="100000"/>
              <a:buFont typeface="Arial" panose="020B0604020202020204" pitchFamily="34" charset="0"/>
              <a:buChar char="•"/>
            </a:pPr>
            <a:r>
              <a:rPr lang="zh-CN" altLang="en-US" sz="1600" dirty="0">
                <a:solidFill>
                  <a:srgbClr val="0000FF"/>
                </a:solidFill>
                <a:ea typeface="微软雅黑" panose="020B0503020204020204" pitchFamily="34" charset="-122"/>
                <a:cs typeface="Arial" panose="020B0604020202020204" pitchFamily="34" charset="0"/>
              </a:rPr>
              <a:t>以</a:t>
            </a:r>
            <a:r>
              <a:rPr lang="en-US" altLang="en-US" sz="1600" dirty="0">
                <a:solidFill>
                  <a:srgbClr val="0000FF"/>
                </a:solidFill>
                <a:ea typeface="微软雅黑" panose="020B0503020204020204" pitchFamily="34" charset="-122"/>
                <a:cs typeface="Arial" panose="020B0604020202020204" pitchFamily="34" charset="0"/>
              </a:rPr>
              <a:t>VAX 11/780 </a:t>
            </a:r>
            <a:r>
              <a:rPr lang="zh-CN" altLang="en-US" sz="1600" dirty="0">
                <a:solidFill>
                  <a:srgbClr val="0000FF"/>
                </a:solidFill>
                <a:ea typeface="微软雅黑" panose="020B0503020204020204" pitchFamily="34" charset="-122"/>
                <a:cs typeface="Arial" panose="020B0604020202020204" pitchFamily="34" charset="0"/>
              </a:rPr>
              <a:t>的</a:t>
            </a:r>
            <a:r>
              <a:rPr lang="en-US" altLang="en-US" sz="1600" dirty="0" err="1">
                <a:solidFill>
                  <a:srgbClr val="0000FF"/>
                </a:solidFill>
                <a:ea typeface="微软雅黑" panose="020B0503020204020204" pitchFamily="34" charset="-122"/>
                <a:cs typeface="Arial" panose="020B0604020202020204" pitchFamily="34" charset="0"/>
              </a:rPr>
              <a:t>SPECint</a:t>
            </a:r>
            <a:r>
              <a:rPr lang="zh-CN" altLang="en-US" sz="1600" dirty="0">
                <a:solidFill>
                  <a:srgbClr val="0000FF"/>
                </a:solidFill>
                <a:ea typeface="微软雅黑" panose="020B0503020204020204" pitchFamily="34" charset="-122"/>
                <a:cs typeface="Arial" panose="020B0604020202020204" pitchFamily="34" charset="0"/>
              </a:rPr>
              <a:t>性能为基准，测试的是</a:t>
            </a:r>
            <a:r>
              <a:rPr lang="zh-CN" altLang="en-US" sz="1600" dirty="0">
                <a:solidFill>
                  <a:srgbClr val="FF0000"/>
                </a:solidFill>
                <a:ea typeface="微软雅黑" panose="020B0503020204020204" pitchFamily="34" charset="-122"/>
                <a:cs typeface="Arial" panose="020B0604020202020204" pitchFamily="34" charset="0"/>
              </a:rPr>
              <a:t>串行程序</a:t>
            </a:r>
            <a:r>
              <a:rPr lang="zh-CN" altLang="en-US" sz="1600" dirty="0">
                <a:solidFill>
                  <a:srgbClr val="0000FF"/>
                </a:solidFill>
                <a:ea typeface="微软雅黑" panose="020B0503020204020204" pitchFamily="34" charset="-122"/>
                <a:cs typeface="Arial" panose="020B0604020202020204" pitchFamily="34" charset="0"/>
              </a:rPr>
              <a:t>（多核系统里打开了自动并行化选项）</a:t>
            </a:r>
            <a:endParaRPr lang="en-US" altLang="zh-CN"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zh-CN" sz="1600" dirty="0">
                <a:solidFill>
                  <a:srgbClr val="0000FF"/>
                </a:solidFill>
                <a:ea typeface="微软雅黑" panose="020B0503020204020204" pitchFamily="34" charset="-122"/>
                <a:cs typeface="Arial" panose="020B0604020202020204" pitchFamily="34" charset="0"/>
              </a:rPr>
              <a:t>80</a:t>
            </a:r>
            <a:r>
              <a:rPr lang="zh-CN" altLang="en-US" sz="1600" dirty="0">
                <a:solidFill>
                  <a:srgbClr val="0000FF"/>
                </a:solidFill>
                <a:ea typeface="微软雅黑" panose="020B0503020204020204" pitchFamily="34" charset="-122"/>
                <a:cs typeface="Arial" panose="020B0604020202020204" pitchFamily="34" charset="0"/>
              </a:rPr>
              <a:t>年代中期以前，年平均增长</a:t>
            </a:r>
            <a:r>
              <a:rPr lang="en-US" altLang="en-US" sz="1600" dirty="0">
                <a:solidFill>
                  <a:srgbClr val="0000FF"/>
                </a:solidFill>
                <a:ea typeface="微软雅黑" panose="020B0503020204020204" pitchFamily="34" charset="-122"/>
                <a:cs typeface="Arial" panose="020B0604020202020204" pitchFamily="34" charset="0"/>
              </a:rPr>
              <a:t>22%</a:t>
            </a:r>
            <a:r>
              <a:rPr lang="zh-CN" altLang="en-US" sz="1600" dirty="0">
                <a:solidFill>
                  <a:srgbClr val="0000FF"/>
                </a:solidFill>
                <a:ea typeface="微软雅黑" panose="020B0503020204020204" pitchFamily="34" charset="-122"/>
                <a:cs typeface="Arial" panose="020B0604020202020204" pitchFamily="34" charset="0"/>
              </a:rPr>
              <a:t>（</a:t>
            </a:r>
            <a:r>
              <a:rPr lang="en-US" altLang="en-US" sz="1600" dirty="0">
                <a:solidFill>
                  <a:srgbClr val="0000FF"/>
                </a:solidFill>
                <a:ea typeface="微软雅黑" panose="020B0503020204020204" pitchFamily="34" charset="-122"/>
                <a:cs typeface="Arial" panose="020B0604020202020204" pitchFamily="34" charset="0"/>
              </a:rPr>
              <a:t>3.5</a:t>
            </a:r>
            <a:r>
              <a:rPr lang="zh-CN" altLang="en-US" sz="1600" dirty="0">
                <a:solidFill>
                  <a:srgbClr val="0000FF"/>
                </a:solidFill>
                <a:ea typeface="微软雅黑" panose="020B0503020204020204" pitchFamily="34" charset="-122"/>
                <a:cs typeface="Arial" panose="020B0604020202020204" pitchFamily="34" charset="0"/>
              </a:rPr>
              <a:t>年翻一番），主要由工艺技术驱动</a:t>
            </a:r>
            <a:endParaRPr lang="en-US" altLang="zh-CN"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zh-CN" sz="1600" dirty="0">
                <a:solidFill>
                  <a:srgbClr val="0000FF"/>
                </a:solidFill>
                <a:ea typeface="微软雅黑" panose="020B0503020204020204" pitchFamily="34" charset="-122"/>
                <a:cs typeface="Arial" panose="020B0604020202020204" pitchFamily="34" charset="0"/>
              </a:rPr>
              <a:t>86</a:t>
            </a:r>
            <a:r>
              <a:rPr lang="zh-CN" altLang="en-US" sz="1600" dirty="0">
                <a:solidFill>
                  <a:srgbClr val="0000FF"/>
                </a:solidFill>
                <a:ea typeface="微软雅黑" panose="020B0503020204020204" pitchFamily="34" charset="-122"/>
                <a:cs typeface="Arial" panose="020B0604020202020204" pitchFamily="34" charset="0"/>
              </a:rPr>
              <a:t>年后，增长率为</a:t>
            </a:r>
            <a:r>
              <a:rPr lang="en-US" altLang="en-US" sz="1600" dirty="0">
                <a:solidFill>
                  <a:srgbClr val="0000FF"/>
                </a:solidFill>
                <a:ea typeface="微软雅黑" panose="020B0503020204020204" pitchFamily="34" charset="-122"/>
                <a:cs typeface="Arial" panose="020B0604020202020204" pitchFamily="34" charset="0"/>
              </a:rPr>
              <a:t>52%</a:t>
            </a:r>
            <a:r>
              <a:rPr lang="zh-CN" altLang="en-US" sz="1600" dirty="0">
                <a:solidFill>
                  <a:srgbClr val="0000FF"/>
                </a:solidFill>
                <a:ea typeface="微软雅黑" panose="020B0503020204020204" pitchFamily="34" charset="-122"/>
                <a:cs typeface="Arial" panose="020B0604020202020204" pitchFamily="34" charset="0"/>
              </a:rPr>
              <a:t>（约</a:t>
            </a:r>
            <a:r>
              <a:rPr lang="en-US" altLang="zh-CN" sz="1600" dirty="0">
                <a:solidFill>
                  <a:srgbClr val="0000FF"/>
                </a:solidFill>
                <a:ea typeface="微软雅黑" panose="020B0503020204020204" pitchFamily="34" charset="-122"/>
                <a:cs typeface="Arial" panose="020B0604020202020204" pitchFamily="34" charset="0"/>
              </a:rPr>
              <a:t>2</a:t>
            </a:r>
            <a:r>
              <a:rPr lang="zh-CN" altLang="en-US" sz="1600" dirty="0">
                <a:solidFill>
                  <a:srgbClr val="0000FF"/>
                </a:solidFill>
                <a:ea typeface="微软雅黑" panose="020B0503020204020204" pitchFamily="34" charset="-122"/>
                <a:cs typeface="Arial" panose="020B0604020202020204" pitchFamily="34" charset="0"/>
              </a:rPr>
              <a:t>年翻一番），主要由于先进体系结构如</a:t>
            </a:r>
            <a:r>
              <a:rPr lang="en-US" altLang="zh-CN" sz="1600" dirty="0">
                <a:solidFill>
                  <a:srgbClr val="0000FF"/>
                </a:solidFill>
                <a:ea typeface="微软雅黑" panose="020B0503020204020204" pitchFamily="34" charset="-122"/>
                <a:cs typeface="Arial" panose="020B0604020202020204" pitchFamily="34" charset="0"/>
              </a:rPr>
              <a:t>RISC</a:t>
            </a:r>
            <a:r>
              <a:rPr lang="zh-CN" altLang="en-US" sz="1600" dirty="0">
                <a:solidFill>
                  <a:srgbClr val="0000FF"/>
                </a:solidFill>
                <a:ea typeface="微软雅黑" panose="020B0503020204020204" pitchFamily="34" charset="-122"/>
                <a:cs typeface="Arial" panose="020B0604020202020204" pitchFamily="34" charset="0"/>
              </a:rPr>
              <a:t>的采用</a:t>
            </a:r>
            <a:r>
              <a:rPr lang="en-US" altLang="en-US" sz="1600" dirty="0">
                <a:solidFill>
                  <a:srgbClr val="0000FF"/>
                </a:solidFill>
                <a:ea typeface="微软雅黑" panose="020B0503020204020204" pitchFamily="34" charset="-122"/>
                <a:cs typeface="Arial" panose="020B0604020202020204" pitchFamily="34" charset="0"/>
              </a:rPr>
              <a:t> </a:t>
            </a:r>
          </a:p>
          <a:p>
            <a:pPr marL="171450" lvl="0" indent="-171450" algn="just" defTabSz="449263" eaLnBrk="1">
              <a:lnSpc>
                <a:spcPct val="93000"/>
              </a:lnSpc>
              <a:buClr>
                <a:srgbClr val="000000"/>
              </a:buClr>
              <a:buSzPct val="100000"/>
              <a:buFont typeface="Arial" panose="020B0604020202020204" pitchFamily="34" charset="0"/>
              <a:buChar char="•"/>
            </a:pPr>
            <a:r>
              <a:rPr lang="en-US" altLang="en-US" sz="1600" dirty="0">
                <a:solidFill>
                  <a:srgbClr val="0000FF"/>
                </a:solidFill>
                <a:ea typeface="微软雅黑" panose="020B0503020204020204" pitchFamily="34" charset="-122"/>
                <a:cs typeface="Arial" panose="020B0604020202020204" pitchFamily="34" charset="0"/>
              </a:rPr>
              <a:t>2003</a:t>
            </a:r>
            <a:r>
              <a:rPr lang="zh-CN" altLang="en-US" sz="1600" dirty="0">
                <a:solidFill>
                  <a:srgbClr val="0000FF"/>
                </a:solidFill>
                <a:ea typeface="微软雅黑" panose="020B0503020204020204" pitchFamily="34" charset="-122"/>
                <a:cs typeface="Arial" panose="020B0604020202020204" pitchFamily="34" charset="0"/>
              </a:rPr>
              <a:t>开始</a:t>
            </a:r>
            <a:r>
              <a:rPr lang="en-US" altLang="en-US" sz="1600" dirty="0">
                <a:solidFill>
                  <a:srgbClr val="0000FF"/>
                </a:solidFill>
                <a:ea typeface="微软雅黑" panose="020B0503020204020204" pitchFamily="34" charset="-122"/>
                <a:cs typeface="Arial" panose="020B0604020202020204" pitchFamily="34" charset="0"/>
              </a:rPr>
              <a:t>Dennard scaling</a:t>
            </a:r>
            <a:r>
              <a:rPr lang="zh-CN" altLang="en-US" sz="1600" dirty="0">
                <a:solidFill>
                  <a:srgbClr val="0000FF"/>
                </a:solidFill>
                <a:ea typeface="微软雅黑" panose="020B0503020204020204" pitchFamily="34" charset="-122"/>
                <a:cs typeface="Arial" panose="020B0604020202020204" pitchFamily="34" charset="0"/>
              </a:rPr>
              <a:t>失效，加上</a:t>
            </a:r>
            <a:r>
              <a:rPr lang="en-US" altLang="zh-CN" sz="1600" dirty="0">
                <a:solidFill>
                  <a:srgbClr val="0000FF"/>
                </a:solidFill>
                <a:ea typeface="微软雅黑" panose="020B0503020204020204" pitchFamily="34" charset="-122"/>
                <a:cs typeface="Arial" panose="020B0604020202020204" pitchFamily="34" charset="0"/>
              </a:rPr>
              <a:t>ILP</a:t>
            </a:r>
            <a:r>
              <a:rPr lang="zh-CN" altLang="en-US" sz="1600" dirty="0">
                <a:solidFill>
                  <a:srgbClr val="0000FF"/>
                </a:solidFill>
                <a:ea typeface="微软雅黑" panose="020B0503020204020204" pitchFamily="34" charset="-122"/>
                <a:cs typeface="Arial" panose="020B0604020202020204" pitchFamily="34" charset="0"/>
              </a:rPr>
              <a:t>有限，增长率又降至</a:t>
            </a:r>
            <a:r>
              <a:rPr lang="en-US" altLang="en-US" sz="1600" dirty="0">
                <a:solidFill>
                  <a:srgbClr val="0000FF"/>
                </a:solidFill>
                <a:ea typeface="微软雅黑" panose="020B0503020204020204" pitchFamily="34" charset="-122"/>
                <a:cs typeface="Arial" panose="020B0604020202020204" pitchFamily="34" charset="0"/>
              </a:rPr>
              <a:t>23</a:t>
            </a:r>
            <a:r>
              <a:rPr lang="en-US" altLang="zh-CN" sz="1600" dirty="0">
                <a:solidFill>
                  <a:srgbClr val="0000FF"/>
                </a:solidFill>
                <a:ea typeface="微软雅黑" panose="020B0503020204020204" pitchFamily="34" charset="-122"/>
                <a:cs typeface="Arial" panose="020B0604020202020204" pitchFamily="34" charset="0"/>
              </a:rPr>
              <a:t>%</a:t>
            </a:r>
            <a:endParaRPr lang="en-US" altLang="en-US"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en-US" sz="1600" dirty="0">
                <a:solidFill>
                  <a:srgbClr val="0000FF"/>
                </a:solidFill>
                <a:ea typeface="微软雅黑" panose="020B0503020204020204" pitchFamily="34" charset="-122"/>
                <a:cs typeface="Arial" panose="020B0604020202020204" pitchFamily="34" charset="0"/>
              </a:rPr>
              <a:t>2011 to 2015, </a:t>
            </a:r>
            <a:r>
              <a:rPr lang="zh-CN" altLang="en-US" sz="1600" dirty="0">
                <a:solidFill>
                  <a:srgbClr val="0000FF"/>
                </a:solidFill>
                <a:ea typeface="微软雅黑" panose="020B0503020204020204" pitchFamily="34" charset="-122"/>
                <a:cs typeface="Arial" panose="020B0604020202020204" pitchFamily="34" charset="0"/>
              </a:rPr>
              <a:t>增长率降至</a:t>
            </a:r>
            <a:r>
              <a:rPr lang="en-US" altLang="en-US" sz="1600" dirty="0">
                <a:solidFill>
                  <a:srgbClr val="0000FF"/>
                </a:solidFill>
                <a:ea typeface="微软雅黑" panose="020B0503020204020204" pitchFamily="34" charset="-122"/>
                <a:cs typeface="Arial" panose="020B0604020202020204" pitchFamily="34" charset="0"/>
              </a:rPr>
              <a:t>12%, </a:t>
            </a:r>
            <a:r>
              <a:rPr lang="zh-CN" altLang="en-US" sz="1600" dirty="0">
                <a:solidFill>
                  <a:srgbClr val="0000FF"/>
                </a:solidFill>
                <a:ea typeface="微软雅黑" panose="020B0503020204020204" pitchFamily="34" charset="-122"/>
                <a:cs typeface="Arial" panose="020B0604020202020204" pitchFamily="34" charset="0"/>
              </a:rPr>
              <a:t>即使用了多核，</a:t>
            </a:r>
            <a:r>
              <a:rPr lang="en-US" altLang="en-US" sz="1600" dirty="0">
                <a:solidFill>
                  <a:srgbClr val="0000FF"/>
                </a:solidFill>
                <a:ea typeface="微软雅黑" panose="020B0503020204020204" pitchFamily="34" charset="-122"/>
                <a:cs typeface="Arial" panose="020B0604020202020204" pitchFamily="34" charset="0"/>
              </a:rPr>
              <a:t>Amdahl</a:t>
            </a:r>
            <a:r>
              <a:rPr lang="zh-CN" altLang="en-US" sz="1600" dirty="0">
                <a:solidFill>
                  <a:srgbClr val="0000FF"/>
                </a:solidFill>
                <a:ea typeface="微软雅黑" panose="020B0503020204020204" pitchFamily="34" charset="-122"/>
                <a:cs typeface="Arial" panose="020B0604020202020204" pitchFamily="34" charset="0"/>
              </a:rPr>
              <a:t>定律的影响，并行性不够</a:t>
            </a:r>
            <a:endParaRPr lang="en-US" altLang="zh-CN"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en-US" sz="1600" dirty="0">
                <a:solidFill>
                  <a:srgbClr val="0000FF"/>
                </a:solidFill>
                <a:ea typeface="微软雅黑" panose="020B0503020204020204" pitchFamily="34" charset="-122"/>
                <a:cs typeface="Arial" panose="020B0604020202020204" pitchFamily="34" charset="0"/>
              </a:rPr>
              <a:t>2015</a:t>
            </a:r>
            <a:r>
              <a:rPr lang="zh-CN" altLang="en-US" sz="1600" dirty="0">
                <a:solidFill>
                  <a:srgbClr val="0000FF"/>
                </a:solidFill>
                <a:ea typeface="微软雅黑" panose="020B0503020204020204" pitchFamily="34" charset="-122"/>
                <a:cs typeface="Arial" panose="020B0604020202020204" pitchFamily="34" charset="0"/>
              </a:rPr>
              <a:t>后，</a:t>
            </a:r>
            <a:r>
              <a:rPr lang="en-US" altLang="en-US" sz="1600" dirty="0">
                <a:solidFill>
                  <a:srgbClr val="0000FF"/>
                </a:solidFill>
                <a:ea typeface="微软雅黑" panose="020B0503020204020204" pitchFamily="34" charset="-122"/>
                <a:cs typeface="Arial" panose="020B0604020202020204" pitchFamily="34" charset="0"/>
              </a:rPr>
              <a:t>Moore</a:t>
            </a:r>
            <a:r>
              <a:rPr lang="zh-CN" altLang="en-US" sz="1600" dirty="0">
                <a:solidFill>
                  <a:srgbClr val="0000FF"/>
                </a:solidFill>
                <a:ea typeface="微软雅黑" panose="020B0503020204020204" pitchFamily="34" charset="-122"/>
                <a:cs typeface="Arial" panose="020B0604020202020204" pitchFamily="34" charset="0"/>
              </a:rPr>
              <a:t>定律越来越慢，增长率降至</a:t>
            </a:r>
            <a:r>
              <a:rPr lang="en-US" altLang="en-US" sz="1600" dirty="0">
                <a:solidFill>
                  <a:srgbClr val="0000FF"/>
                </a:solidFill>
                <a:ea typeface="微软雅黑" panose="020B0503020204020204" pitchFamily="34" charset="-122"/>
                <a:cs typeface="Arial" panose="020B0604020202020204" pitchFamily="34" charset="0"/>
              </a:rPr>
              <a:t>3.5% </a:t>
            </a:r>
            <a:r>
              <a:rPr lang="zh-CN" altLang="en-US" sz="1600" dirty="0">
                <a:solidFill>
                  <a:srgbClr val="0000FF"/>
                </a:solidFill>
                <a:ea typeface="微软雅黑" panose="020B0503020204020204" pitchFamily="34" charset="-122"/>
                <a:cs typeface="Arial" panose="020B0604020202020204" pitchFamily="34" charset="0"/>
              </a:rPr>
              <a:t>（约</a:t>
            </a:r>
            <a:r>
              <a:rPr lang="en-US" altLang="en-US" sz="1600" dirty="0">
                <a:solidFill>
                  <a:srgbClr val="0000FF"/>
                </a:solidFill>
                <a:ea typeface="微软雅黑" panose="020B0503020204020204" pitchFamily="34" charset="-122"/>
                <a:cs typeface="Arial" panose="020B0604020202020204" pitchFamily="34" charset="0"/>
              </a:rPr>
              <a:t>20</a:t>
            </a:r>
            <a:r>
              <a:rPr lang="zh-CN" altLang="en-US" sz="1600" dirty="0">
                <a:solidFill>
                  <a:srgbClr val="0000FF"/>
                </a:solidFill>
                <a:ea typeface="微软雅黑" panose="020B0503020204020204" pitchFamily="34" charset="-122"/>
                <a:cs typeface="Arial" panose="020B0604020202020204" pitchFamily="34" charset="0"/>
              </a:rPr>
              <a:t>年翻一番）</a:t>
            </a:r>
          </a:p>
        </p:txBody>
      </p:sp>
    </p:spTree>
    <p:extLst>
      <p:ext uri="{BB962C8B-B14F-4D97-AF65-F5344CB8AC3E}">
        <p14:creationId xmlns:p14="http://schemas.microsoft.com/office/powerpoint/2010/main" val="27688463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典型处理器时钟频率的变化</a:t>
            </a:r>
            <a:endParaRPr lang="zh-CN" altLang="en-US" dirty="0"/>
          </a:p>
        </p:txBody>
      </p:sp>
      <p:pic>
        <p:nvPicPr>
          <p:cNvPr id="3" name="图片 2"/>
          <p:cNvPicPr>
            <a:picLocks noChangeAspect="1"/>
          </p:cNvPicPr>
          <p:nvPr/>
        </p:nvPicPr>
        <p:blipFill>
          <a:blip r:embed="rId2"/>
          <a:stretch>
            <a:fillRect/>
          </a:stretch>
        </p:blipFill>
        <p:spPr>
          <a:xfrm>
            <a:off x="3359696" y="1481495"/>
            <a:ext cx="7776864" cy="5291950"/>
          </a:xfrm>
          <a:prstGeom prst="rect">
            <a:avLst/>
          </a:prstGeom>
        </p:spPr>
      </p:pic>
      <p:sp>
        <p:nvSpPr>
          <p:cNvPr id="4" name="矩形 3"/>
          <p:cNvSpPr/>
          <p:nvPr/>
        </p:nvSpPr>
        <p:spPr>
          <a:xfrm>
            <a:off x="263352" y="1772816"/>
            <a:ext cx="3048000" cy="3813352"/>
          </a:xfrm>
          <a:prstGeom prst="rect">
            <a:avLst/>
          </a:prstGeom>
        </p:spPr>
        <p:txBody>
          <a:bodyPr wrap="square">
            <a:spAutoFit/>
          </a:bodyPr>
          <a:lstStyle/>
          <a:p>
            <a:pPr marL="171450" lvl="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对比上一页的性能增长</a:t>
            </a:r>
            <a:endParaRPr lang="en-US" altLang="zh-CN" sz="2000" dirty="0" smtClean="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时钟频率</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主要跟工艺相关</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也跟体系结构有关</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endParaRPr lang="en-US" altLang="zh-CN" sz="2000" dirty="0">
              <a:solidFill>
                <a:srgbClr val="0000FF"/>
              </a:solidFill>
              <a:ea typeface="微软雅黑" panose="020B0503020204020204" pitchFamily="34" charset="-122"/>
              <a:cs typeface="Arial" panose="020B0604020202020204" pitchFamily="34" charset="0"/>
            </a:endParaRPr>
          </a:p>
          <a:p>
            <a:pPr marL="17145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当前处理器的时钟频率</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桌面</a:t>
            </a:r>
            <a:r>
              <a:rPr lang="en-US" altLang="zh-CN" sz="2000" dirty="0" smtClean="0">
                <a:solidFill>
                  <a:srgbClr val="0000FF"/>
                </a:solidFill>
                <a:ea typeface="微软雅黑" panose="020B0503020204020204" pitchFamily="34" charset="-122"/>
                <a:cs typeface="Arial" panose="020B0604020202020204" pitchFamily="34" charset="0"/>
              </a:rPr>
              <a:t>CPU</a:t>
            </a:r>
            <a:r>
              <a:rPr lang="zh-CN" altLang="en-US" sz="2000" dirty="0" smtClean="0">
                <a:solidFill>
                  <a:srgbClr val="0000FF"/>
                </a:solidFill>
                <a:ea typeface="微软雅黑" panose="020B0503020204020204" pitchFamily="34" charset="-122"/>
                <a:cs typeface="Arial" panose="020B0604020202020204" pitchFamily="34" charset="0"/>
              </a:rPr>
              <a:t>最高</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服务器</a:t>
            </a:r>
            <a:r>
              <a:rPr lang="en-US" altLang="zh-CN" sz="2000" dirty="0" smtClean="0">
                <a:solidFill>
                  <a:srgbClr val="0000FF"/>
                </a:solidFill>
                <a:ea typeface="微软雅黑" panose="020B0503020204020204" pitchFamily="34" charset="-122"/>
                <a:cs typeface="Arial" panose="020B0604020202020204" pitchFamily="34" charset="0"/>
              </a:rPr>
              <a:t>CPU</a:t>
            </a:r>
            <a:r>
              <a:rPr lang="zh-CN" altLang="en-US" sz="2000" dirty="0" smtClean="0">
                <a:solidFill>
                  <a:srgbClr val="0000FF"/>
                </a:solidFill>
                <a:ea typeface="微软雅黑" panose="020B0503020204020204" pitchFamily="34" charset="-122"/>
                <a:cs typeface="Arial" panose="020B0604020202020204" pitchFamily="34" charset="0"/>
              </a:rPr>
              <a:t>次高</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en-US" altLang="zh-CN" sz="2000" dirty="0" smtClean="0">
                <a:solidFill>
                  <a:srgbClr val="0000FF"/>
                </a:solidFill>
                <a:ea typeface="微软雅黑" panose="020B0503020204020204" pitchFamily="34" charset="-122"/>
                <a:cs typeface="Arial" panose="020B0604020202020204" pitchFamily="34" charset="0"/>
              </a:rPr>
              <a:t>GPU</a:t>
            </a:r>
            <a:r>
              <a:rPr lang="zh-CN" altLang="en-US" sz="2000" dirty="0" smtClean="0">
                <a:solidFill>
                  <a:srgbClr val="0000FF"/>
                </a:solidFill>
                <a:ea typeface="微软雅黑" panose="020B0503020204020204" pitchFamily="34" charset="-122"/>
                <a:cs typeface="Arial" panose="020B0604020202020204" pitchFamily="34" charset="0"/>
              </a:rPr>
              <a:t>最低</a:t>
            </a:r>
            <a:endParaRPr lang="en-US" altLang="zh-CN" sz="2000" dirty="0" smtClean="0">
              <a:solidFill>
                <a:srgbClr val="0000FF"/>
              </a:solidFill>
              <a:ea typeface="微软雅黑" panose="020B0503020204020204" pitchFamily="34" charset="-122"/>
              <a:cs typeface="Arial" panose="020B0604020202020204" pitchFamily="34" charset="0"/>
            </a:endParaRPr>
          </a:p>
          <a:p>
            <a:pPr marL="171450" indent="-171450" algn="just" defTabSz="449263" eaLnBrk="1">
              <a:lnSpc>
                <a:spcPct val="93000"/>
              </a:lnSpc>
              <a:buClr>
                <a:srgbClr val="000000"/>
              </a:buClr>
              <a:buSzPct val="100000"/>
              <a:buFont typeface="Arial" panose="020B0604020202020204" pitchFamily="34" charset="0"/>
              <a:buChar char="•"/>
            </a:pPr>
            <a:endParaRPr lang="en-US" altLang="zh-CN" sz="2000" dirty="0">
              <a:solidFill>
                <a:srgbClr val="0000FF"/>
              </a:solidFill>
              <a:ea typeface="微软雅黑" panose="020B0503020204020204" pitchFamily="34" charset="-122"/>
              <a:cs typeface="Arial" panose="020B0604020202020204" pitchFamily="34" charset="0"/>
            </a:endParaRPr>
          </a:p>
          <a:p>
            <a:pPr marL="17145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跟算力性能恰恰相反</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性能</a:t>
            </a:r>
            <a:r>
              <a:rPr lang="en-US" altLang="zh-CN" sz="2000" dirty="0" smtClean="0">
                <a:solidFill>
                  <a:srgbClr val="0000FF"/>
                </a:solidFill>
                <a:ea typeface="微软雅黑" panose="020B0503020204020204" pitchFamily="34" charset="-122"/>
                <a:cs typeface="Arial" panose="020B0604020202020204" pitchFamily="34" charset="0"/>
              </a:rPr>
              <a:t>vs.</a:t>
            </a:r>
            <a:r>
              <a:rPr lang="zh-CN" altLang="en-US" sz="2000" dirty="0" smtClean="0">
                <a:solidFill>
                  <a:srgbClr val="0000FF"/>
                </a:solidFill>
                <a:ea typeface="微软雅黑" panose="020B0503020204020204" pitchFamily="34" charset="-122"/>
                <a:cs typeface="Arial" panose="020B0604020202020204" pitchFamily="34" charset="0"/>
              </a:rPr>
              <a:t>应用</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频率</a:t>
            </a:r>
            <a:r>
              <a:rPr lang="en-US" altLang="zh-CN" sz="2000" dirty="0" smtClean="0">
                <a:solidFill>
                  <a:srgbClr val="0000FF"/>
                </a:solidFill>
                <a:ea typeface="微软雅黑" panose="020B0503020204020204" pitchFamily="34" charset="-122"/>
                <a:cs typeface="Arial" panose="020B0604020202020204" pitchFamily="34" charset="0"/>
              </a:rPr>
              <a:t>vs.</a:t>
            </a:r>
            <a:r>
              <a:rPr lang="zh-CN" altLang="en-US" sz="2000" dirty="0" smtClean="0">
                <a:solidFill>
                  <a:srgbClr val="0000FF"/>
                </a:solidFill>
                <a:ea typeface="微软雅黑" panose="020B0503020204020204" pitchFamily="34" charset="-122"/>
                <a:cs typeface="Arial" panose="020B0604020202020204" pitchFamily="34" charset="0"/>
              </a:rPr>
              <a:t>功耗</a:t>
            </a:r>
            <a:endParaRPr lang="zh-CN" altLang="en-US" sz="2000" dirty="0">
              <a:solidFill>
                <a:srgbClr val="0000FF"/>
              </a:solidFill>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578704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Trends in Technology</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400" dirty="0"/>
              <a:t>Integrated circuit technology (Moore’s Law)</a:t>
            </a:r>
          </a:p>
          <a:p>
            <a:pPr lvl="1">
              <a:lnSpc>
                <a:spcPct val="90000"/>
              </a:lnSpc>
            </a:pPr>
            <a:r>
              <a:rPr lang="en-US" sz="2000" dirty="0"/>
              <a:t>Transistor density:  35%/year</a:t>
            </a:r>
          </a:p>
          <a:p>
            <a:pPr lvl="1">
              <a:lnSpc>
                <a:spcPct val="90000"/>
              </a:lnSpc>
            </a:pPr>
            <a:r>
              <a:rPr lang="en-US" sz="2000" dirty="0"/>
              <a:t>Die size:  10-20%/year</a:t>
            </a:r>
          </a:p>
          <a:p>
            <a:pPr lvl="1">
              <a:lnSpc>
                <a:spcPct val="90000"/>
              </a:lnSpc>
            </a:pPr>
            <a:r>
              <a:rPr lang="en-US" sz="2000" dirty="0"/>
              <a:t>Integration overall:  40-55%/year</a:t>
            </a:r>
          </a:p>
          <a:p>
            <a:pPr>
              <a:lnSpc>
                <a:spcPct val="90000"/>
              </a:lnSpc>
            </a:pPr>
            <a:r>
              <a:rPr lang="en-US" sz="2400" dirty="0" smtClean="0"/>
              <a:t>DRAM </a:t>
            </a:r>
            <a:r>
              <a:rPr lang="en-US" sz="2400" dirty="0"/>
              <a:t>capacity:  25-40%/year (slowing)</a:t>
            </a:r>
          </a:p>
          <a:p>
            <a:pPr lvl="1">
              <a:lnSpc>
                <a:spcPct val="90000"/>
              </a:lnSpc>
            </a:pPr>
            <a:r>
              <a:rPr lang="en-US" sz="2000" dirty="0"/>
              <a:t>8 Gb (2014), 16 Gb (2019), possibly no 32 Gb</a:t>
            </a:r>
          </a:p>
          <a:p>
            <a:pPr>
              <a:lnSpc>
                <a:spcPct val="90000"/>
              </a:lnSpc>
            </a:pPr>
            <a:r>
              <a:rPr lang="en-US" sz="2400" dirty="0" smtClean="0"/>
              <a:t>Flash </a:t>
            </a:r>
            <a:r>
              <a:rPr lang="en-US" sz="2400" dirty="0"/>
              <a:t>capacity:  50-60%/year</a:t>
            </a:r>
          </a:p>
          <a:p>
            <a:pPr lvl="1">
              <a:lnSpc>
                <a:spcPct val="90000"/>
              </a:lnSpc>
            </a:pPr>
            <a:r>
              <a:rPr lang="en-US" sz="2000" dirty="0"/>
              <a:t>8-10X cheaper/bit than DRAM</a:t>
            </a:r>
          </a:p>
          <a:p>
            <a:pPr>
              <a:lnSpc>
                <a:spcPct val="90000"/>
              </a:lnSpc>
            </a:pPr>
            <a:r>
              <a:rPr lang="en-US" sz="2400" dirty="0" smtClean="0"/>
              <a:t>Magnetic </a:t>
            </a:r>
            <a:r>
              <a:rPr lang="en-US" sz="2400" dirty="0"/>
              <a:t>disk capacity:  recently slowed to 5%/year</a:t>
            </a:r>
          </a:p>
          <a:p>
            <a:pPr lvl="1">
              <a:lnSpc>
                <a:spcPct val="90000"/>
              </a:lnSpc>
            </a:pPr>
            <a:r>
              <a:rPr lang="en-US" sz="2000" dirty="0"/>
              <a:t>Density increases may no longer be possible, maybe increase from 7 to 9 platters</a:t>
            </a:r>
          </a:p>
          <a:p>
            <a:pPr lvl="1">
              <a:lnSpc>
                <a:spcPct val="90000"/>
              </a:lnSpc>
            </a:pPr>
            <a:r>
              <a:rPr lang="en-US" sz="2000" dirty="0"/>
              <a:t>8-10X cheaper/bit then Flash</a:t>
            </a:r>
          </a:p>
          <a:p>
            <a:pPr lvl="1">
              <a:lnSpc>
                <a:spcPct val="90000"/>
              </a:lnSpc>
            </a:pPr>
            <a:r>
              <a:rPr lang="en-US" sz="2000" dirty="0"/>
              <a:t>200-300X cheaper/bit than DRAM</a:t>
            </a:r>
          </a:p>
        </p:txBody>
      </p:sp>
    </p:spTree>
    <p:extLst>
      <p:ext uri="{BB962C8B-B14F-4D97-AF65-F5344CB8AC3E}">
        <p14:creationId xmlns:p14="http://schemas.microsoft.com/office/powerpoint/2010/main" val="27575277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3352" y="2636912"/>
            <a:ext cx="10515600" cy="903635"/>
          </a:xfrm>
        </p:spPr>
        <p:txBody>
          <a:bodyPr/>
          <a:lstStyle/>
          <a:p>
            <a:r>
              <a:rPr lang="zh-CN" altLang="en-US" dirty="0" smtClean="0"/>
              <a:t>部分典型计算机</a:t>
            </a:r>
            <a:r>
              <a:rPr lang="en-US" altLang="zh-CN" dirty="0" smtClean="0"/>
              <a:t/>
            </a:r>
            <a:br>
              <a:rPr lang="en-US" altLang="zh-CN" dirty="0" smtClean="0"/>
            </a:br>
            <a:r>
              <a:rPr lang="zh-CN" altLang="en-US" dirty="0" smtClean="0"/>
              <a:t>部件的性能指标</a:t>
            </a:r>
            <a:endParaRPr lang="zh-CN" altLang="en-US" dirty="0"/>
          </a:p>
        </p:txBody>
      </p:sp>
      <p:pic>
        <p:nvPicPr>
          <p:cNvPr id="3" name="图片 2"/>
          <p:cNvPicPr>
            <a:picLocks noChangeAspect="1"/>
          </p:cNvPicPr>
          <p:nvPr/>
        </p:nvPicPr>
        <p:blipFill>
          <a:blip r:embed="rId2"/>
          <a:stretch>
            <a:fillRect/>
          </a:stretch>
        </p:blipFill>
        <p:spPr>
          <a:xfrm>
            <a:off x="5087888" y="13566"/>
            <a:ext cx="5832648" cy="6844434"/>
          </a:xfrm>
          <a:prstGeom prst="rect">
            <a:avLst/>
          </a:prstGeom>
        </p:spPr>
      </p:pic>
    </p:spTree>
    <p:extLst>
      <p:ext uri="{BB962C8B-B14F-4D97-AF65-F5344CB8AC3E}">
        <p14:creationId xmlns:p14="http://schemas.microsoft.com/office/powerpoint/2010/main" val="2644250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Transistors and Wires</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smtClean="0"/>
              <a:t>Feature size</a:t>
            </a:r>
          </a:p>
          <a:p>
            <a:pPr lvl="1">
              <a:lnSpc>
                <a:spcPct val="90000"/>
              </a:lnSpc>
            </a:pPr>
            <a:r>
              <a:rPr lang="en-US" dirty="0" smtClean="0"/>
              <a:t>Minimum size of transistor or wire in x or y dimension</a:t>
            </a:r>
          </a:p>
          <a:p>
            <a:pPr lvl="1">
              <a:lnSpc>
                <a:spcPct val="90000"/>
              </a:lnSpc>
            </a:pPr>
            <a:r>
              <a:rPr lang="en-US" dirty="0" smtClean="0"/>
              <a:t>10 microns in 1971 to .011 microns in 2017</a:t>
            </a:r>
          </a:p>
          <a:p>
            <a:pPr lvl="1">
              <a:lnSpc>
                <a:spcPct val="90000"/>
              </a:lnSpc>
            </a:pPr>
            <a:r>
              <a:rPr lang="en-US" dirty="0" smtClean="0"/>
              <a:t>Transistor performance scales linearly</a:t>
            </a:r>
          </a:p>
          <a:p>
            <a:pPr lvl="2">
              <a:lnSpc>
                <a:spcPct val="90000"/>
              </a:lnSpc>
            </a:pPr>
            <a:r>
              <a:rPr lang="en-US" dirty="0" smtClean="0"/>
              <a:t>Wire delay does not improve with feature size!</a:t>
            </a:r>
          </a:p>
          <a:p>
            <a:pPr lvl="1">
              <a:lnSpc>
                <a:spcPct val="90000"/>
              </a:lnSpc>
            </a:pPr>
            <a:r>
              <a:rPr lang="en-US" dirty="0" smtClean="0"/>
              <a:t>Integration density scales </a:t>
            </a:r>
            <a:r>
              <a:rPr lang="en-US" dirty="0" err="1" smtClean="0"/>
              <a:t>quadratical</a:t>
            </a:r>
            <a:r>
              <a:rPr lang="en-US" dirty="0" err="1"/>
              <a:t>l</a:t>
            </a:r>
            <a:r>
              <a:rPr lang="en-US" dirty="0" err="1" smtClean="0"/>
              <a:t>y</a:t>
            </a:r>
            <a:endParaRPr lang="en-US" dirty="0"/>
          </a:p>
          <a:p>
            <a:r>
              <a:rPr lang="en-US" altLang="zh-CN" dirty="0" smtClean="0"/>
              <a:t>Moore’s Law: number of transistors integrated in a single die</a:t>
            </a:r>
          </a:p>
          <a:p>
            <a:pPr lvl="1"/>
            <a:r>
              <a:rPr lang="en-US" dirty="0" smtClean="0"/>
              <a:t>Dennard observed in1974: voltage </a:t>
            </a:r>
            <a:r>
              <a:rPr lang="en-US" dirty="0"/>
              <a:t>and current should be proportional to the linear dimensions of a </a:t>
            </a:r>
            <a:r>
              <a:rPr lang="en-US" dirty="0" smtClean="0"/>
              <a:t>transistor</a:t>
            </a:r>
          </a:p>
          <a:p>
            <a:pPr lvl="1"/>
            <a:r>
              <a:rPr lang="en-US" dirty="0"/>
              <a:t>So, as the size of the transistors shrunk, and the voltage was reduced, circuits could operate at higher frequencies at the same </a:t>
            </a:r>
            <a:r>
              <a:rPr lang="en-US" dirty="0" smtClean="0"/>
              <a:t>power</a:t>
            </a:r>
          </a:p>
          <a:p>
            <a:pPr lvl="1"/>
            <a:r>
              <a:rPr lang="en-US" altLang="zh-CN" dirty="0"/>
              <a:t>Dennard’s </a:t>
            </a:r>
            <a:r>
              <a:rPr lang="en-US" altLang="zh-CN" dirty="0" smtClean="0"/>
              <a:t>scaling ends at 0.13</a:t>
            </a:r>
            <a:r>
              <a:rPr lang="el-GR" altLang="zh-CN" dirty="0" smtClean="0"/>
              <a:t>μ</a:t>
            </a:r>
            <a:r>
              <a:rPr lang="en-US" altLang="zh-CN" dirty="0" smtClean="0"/>
              <a:t>m, stopped </a:t>
            </a:r>
            <a:r>
              <a:rPr lang="en-US" altLang="zh-CN" dirty="0"/>
              <a:t>by threshold voltage</a:t>
            </a:r>
          </a:p>
          <a:p>
            <a:pPr lvl="2"/>
            <a:r>
              <a:rPr lang="en-US" altLang="zh-CN" dirty="0"/>
              <a:t>T</a:t>
            </a:r>
            <a:r>
              <a:rPr lang="en-US" altLang="zh-CN" dirty="0" smtClean="0"/>
              <a:t>wo versions of Pentium 4</a:t>
            </a:r>
            <a:endParaRPr lang="en-US" dirty="0" smtClean="0"/>
          </a:p>
        </p:txBody>
      </p:sp>
    </p:spTree>
    <p:extLst>
      <p:ext uri="{BB962C8B-B14F-4D97-AF65-F5344CB8AC3E}">
        <p14:creationId xmlns:p14="http://schemas.microsoft.com/office/powerpoint/2010/main" val="6656786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From ITRS to IRDS</a:t>
            </a:r>
            <a:r>
              <a:rPr lang="en-US" altLang="zh-CN" baseline="30000" dirty="0" smtClean="0"/>
              <a:t>TM</a:t>
            </a:r>
            <a:endParaRPr lang="zh-CN" altLang="en-US" baseline="30000" dirty="0"/>
          </a:p>
        </p:txBody>
      </p:sp>
      <p:sp>
        <p:nvSpPr>
          <p:cNvPr id="5" name="内容占位符 4"/>
          <p:cNvSpPr>
            <a:spLocks noGrp="1"/>
          </p:cNvSpPr>
          <p:nvPr>
            <p:ph idx="1"/>
          </p:nvPr>
        </p:nvSpPr>
        <p:spPr/>
        <p:txBody>
          <a:bodyPr/>
          <a:lstStyle/>
          <a:p>
            <a:r>
              <a:rPr lang="en-US" altLang="zh-CN" dirty="0" smtClean="0"/>
              <a:t>ITRS: International </a:t>
            </a:r>
            <a:r>
              <a:rPr lang="en-US" altLang="zh-CN" dirty="0"/>
              <a:t>Technology Roadmap for </a:t>
            </a:r>
            <a:r>
              <a:rPr lang="en-US" altLang="zh-CN" dirty="0" smtClean="0"/>
              <a:t>Semiconductors</a:t>
            </a:r>
          </a:p>
          <a:p>
            <a:pPr lvl="1"/>
            <a:r>
              <a:rPr lang="zh-CN" altLang="en-US" dirty="0" smtClean="0"/>
              <a:t>具备先进制程的公司：</a:t>
            </a:r>
            <a:r>
              <a:rPr lang="en-US" altLang="en-US" dirty="0" err="1" smtClean="0"/>
              <a:t>GlobalFoundaries</a:t>
            </a:r>
            <a:r>
              <a:rPr lang="en-US" altLang="en-US" dirty="0"/>
              <a:t>, Intel, Samsung, and TSMC</a:t>
            </a:r>
            <a:endParaRPr lang="en-US" altLang="zh-CN" dirty="0" smtClean="0"/>
          </a:p>
          <a:p>
            <a:r>
              <a:rPr lang="en-US" altLang="zh-CN" dirty="0" smtClean="0"/>
              <a:t>IRDS: </a:t>
            </a:r>
            <a:r>
              <a:rPr lang="en-US" altLang="zh-CN" dirty="0"/>
              <a:t>International Roadmap for Devices and Systems™</a:t>
            </a:r>
          </a:p>
          <a:p>
            <a:pPr lvl="1"/>
            <a:r>
              <a:rPr lang="zh-CN" altLang="en-US" dirty="0" smtClean="0"/>
              <a:t>一个</a:t>
            </a:r>
            <a:r>
              <a:rPr lang="en-US" altLang="zh-CN" dirty="0" smtClean="0"/>
              <a:t>IEEE</a:t>
            </a:r>
            <a:r>
              <a:rPr lang="zh-CN" altLang="en-US" dirty="0" smtClean="0"/>
              <a:t>的下属机构</a:t>
            </a:r>
            <a:endParaRPr lang="zh-CN" altLang="en-US" dirty="0"/>
          </a:p>
        </p:txBody>
      </p:sp>
      <p:sp>
        <p:nvSpPr>
          <p:cNvPr id="3" name="Rectangle 1"/>
          <p:cNvSpPr>
            <a:spLocks noChangeArrowheads="1"/>
          </p:cNvSpPr>
          <p:nvPr/>
        </p:nvSpPr>
        <p:spPr bwMode="auto">
          <a:xfrm>
            <a:off x="7320136" y="6216254"/>
            <a:ext cx="3747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1400" b="1" dirty="0" smtClean="0"/>
              <a:t>Predictions </a:t>
            </a:r>
            <a:r>
              <a:rPr lang="en-US" altLang="en-US" sz="1400" b="1" dirty="0"/>
              <a:t>of logic transistor dimensions from two editions of the ITRS </a:t>
            </a:r>
            <a:r>
              <a:rPr lang="en-US" altLang="en-US" sz="1400" b="1" dirty="0" smtClean="0"/>
              <a:t>report</a:t>
            </a:r>
            <a:endParaRPr lang="en-US" altLang="en-US" sz="1400" dirty="0"/>
          </a:p>
        </p:txBody>
      </p:sp>
      <p:pic>
        <p:nvPicPr>
          <p:cNvPr id="4" name="Picture 2" descr="Z:\WOMAT\Production\Artfinal\0000000038\MKCAD\978-0-12-811905-1\0003165540\XMLLowres\f01-22-9780128119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8832" y="2944495"/>
            <a:ext cx="4406900"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stretch>
            <a:fillRect/>
          </a:stretch>
        </p:blipFill>
        <p:spPr>
          <a:xfrm>
            <a:off x="1847528" y="3284984"/>
            <a:ext cx="5359660" cy="3524603"/>
          </a:xfrm>
          <a:prstGeom prst="rect">
            <a:avLst/>
          </a:prstGeom>
        </p:spPr>
      </p:pic>
    </p:spTree>
    <p:extLst>
      <p:ext uri="{BB962C8B-B14F-4D97-AF65-F5344CB8AC3E}">
        <p14:creationId xmlns:p14="http://schemas.microsoft.com/office/powerpoint/2010/main" val="515000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lstStyle/>
          <a:p>
            <a:r>
              <a:rPr kumimoji="1" lang="zh-CN" altLang="en-US" dirty="0" smtClean="0"/>
              <a:t>半导体工艺与芯片设计成本</a:t>
            </a:r>
            <a:endParaRPr kumimoji="1" lang="zh-CN" altLang="en-US" dirty="0"/>
          </a:p>
        </p:txBody>
      </p:sp>
      <p:sp>
        <p:nvSpPr>
          <p:cNvPr id="3" name="内容占位符 2"/>
          <p:cNvSpPr>
            <a:spLocks noGrp="1"/>
          </p:cNvSpPr>
          <p:nvPr>
            <p:ph idx="1"/>
          </p:nvPr>
        </p:nvSpPr>
        <p:spPr/>
        <p:txBody>
          <a:bodyPr/>
          <a:lstStyle/>
          <a:p>
            <a:r>
              <a:rPr lang="zh-CN" altLang="en-US" sz="3200" dirty="0" smtClean="0"/>
              <a:t>半导体工艺线的建设与开发成本</a:t>
            </a:r>
            <a:endParaRPr lang="en-US" altLang="zh-CN" sz="3200" dirty="0" smtClean="0"/>
          </a:p>
          <a:p>
            <a:pPr lvl="1"/>
            <a:r>
              <a:rPr lang="en-US" altLang="zh-CN" sz="2800" dirty="0" smtClean="0"/>
              <a:t>32/28</a:t>
            </a:r>
            <a:r>
              <a:rPr lang="zh-CN" altLang="en-US" sz="2800" dirty="0" smtClean="0"/>
              <a:t>纳米的工艺开发</a:t>
            </a:r>
            <a:r>
              <a:rPr lang="zh-CN" altLang="en-US" sz="2800" dirty="0"/>
              <a:t>成本是</a:t>
            </a:r>
            <a:r>
              <a:rPr lang="en-US" altLang="zh-CN" sz="2800" dirty="0"/>
              <a:t>12</a:t>
            </a:r>
            <a:r>
              <a:rPr lang="zh-CN" altLang="en-US" sz="2800" dirty="0"/>
              <a:t>亿</a:t>
            </a:r>
            <a:r>
              <a:rPr lang="zh-CN" altLang="en-US" sz="2800" dirty="0" smtClean="0"/>
              <a:t>美元</a:t>
            </a:r>
            <a:endParaRPr lang="en-US" altLang="zh-CN" sz="2800" dirty="0" smtClean="0"/>
          </a:p>
          <a:p>
            <a:pPr lvl="1"/>
            <a:r>
              <a:rPr lang="en-US" altLang="zh-CN" sz="2800" dirty="0" smtClean="0"/>
              <a:t>22</a:t>
            </a:r>
            <a:r>
              <a:rPr lang="en-US" altLang="zh-CN" sz="2800" dirty="0"/>
              <a:t>/20</a:t>
            </a:r>
            <a:r>
              <a:rPr lang="zh-CN" altLang="en-US" sz="2800" dirty="0" smtClean="0"/>
              <a:t>纳米的成本规模将增加</a:t>
            </a:r>
            <a:r>
              <a:rPr lang="en-US" altLang="zh-CN" sz="2800" dirty="0" smtClean="0"/>
              <a:t>30</a:t>
            </a:r>
            <a:r>
              <a:rPr lang="zh-CN" altLang="en-US" sz="2800" dirty="0"/>
              <a:t>亿</a:t>
            </a:r>
            <a:r>
              <a:rPr lang="zh-CN" altLang="en-US" sz="2800" dirty="0" smtClean="0"/>
              <a:t>美元</a:t>
            </a:r>
            <a:endParaRPr lang="en-US" altLang="zh-CN" sz="2800" dirty="0" smtClean="0"/>
          </a:p>
          <a:p>
            <a:pPr lvl="1"/>
            <a:r>
              <a:rPr lang="en-US" altLang="zh-CN" sz="2800" dirty="0" smtClean="0"/>
              <a:t>14</a:t>
            </a:r>
            <a:r>
              <a:rPr lang="zh-CN" altLang="en-US" sz="2800" dirty="0" smtClean="0"/>
              <a:t>纳米的工艺开发成本已达</a:t>
            </a:r>
            <a:r>
              <a:rPr lang="en-US" altLang="zh-CN" sz="2800" dirty="0" smtClean="0"/>
              <a:t>100</a:t>
            </a:r>
            <a:r>
              <a:rPr lang="zh-CN" altLang="en-US" sz="2800" dirty="0" smtClean="0"/>
              <a:t>亿美元</a:t>
            </a:r>
            <a:r>
              <a:rPr lang="zh-CN" altLang="en-US" sz="2800" dirty="0" smtClean="0"/>
              <a:t>？！</a:t>
            </a:r>
            <a:endParaRPr lang="en-US" altLang="zh-CN" sz="2800" dirty="0" smtClean="0"/>
          </a:p>
          <a:p>
            <a:pPr lvl="2"/>
            <a:r>
              <a:rPr lang="zh-CN" altLang="en-US" sz="2400" dirty="0" smtClean="0"/>
              <a:t>台积电</a:t>
            </a:r>
            <a:r>
              <a:rPr lang="en-US" altLang="zh-CN" sz="2400" dirty="0" smtClean="0"/>
              <a:t>3nm</a:t>
            </a:r>
            <a:r>
              <a:rPr lang="zh-CN" altLang="en-US" sz="2400" dirty="0" smtClean="0"/>
              <a:t>生产线的建设成本，高达</a:t>
            </a:r>
            <a:r>
              <a:rPr lang="en-US" altLang="zh-CN" sz="2400" dirty="0" smtClean="0"/>
              <a:t>200</a:t>
            </a:r>
            <a:r>
              <a:rPr lang="zh-CN" altLang="en-US" sz="2400" dirty="0" smtClean="0"/>
              <a:t>亿美元</a:t>
            </a:r>
            <a:endParaRPr lang="en-US" altLang="zh-CN" sz="2400" dirty="0" smtClean="0"/>
          </a:p>
          <a:p>
            <a:r>
              <a:rPr lang="zh-CN" altLang="en-US" sz="3200" dirty="0" smtClean="0"/>
              <a:t>集成电路芯片的设计成本</a:t>
            </a:r>
            <a:endParaRPr lang="en-US" altLang="zh-CN" sz="3200" dirty="0" smtClean="0"/>
          </a:p>
          <a:p>
            <a:pPr lvl="1"/>
            <a:r>
              <a:rPr lang="en-US" altLang="zh-CN" sz="2800" dirty="0" smtClean="0"/>
              <a:t>32</a:t>
            </a:r>
            <a:r>
              <a:rPr lang="zh-CN" altLang="en-US" sz="2800" dirty="0"/>
              <a:t>纳米节点所需的</a:t>
            </a:r>
            <a:r>
              <a:rPr lang="en-US" altLang="zh-CN" sz="2800" dirty="0" smtClean="0"/>
              <a:t>5000</a:t>
            </a:r>
            <a:r>
              <a:rPr lang="zh-CN" altLang="en-US" sz="2800" dirty="0"/>
              <a:t>万至</a:t>
            </a:r>
            <a:r>
              <a:rPr lang="en-US" altLang="zh-CN" sz="2800" dirty="0" smtClean="0"/>
              <a:t>9000</a:t>
            </a:r>
            <a:r>
              <a:rPr lang="zh-CN" altLang="en-US" sz="2800" dirty="0"/>
              <a:t>万</a:t>
            </a:r>
            <a:r>
              <a:rPr lang="zh-CN" altLang="en-US" sz="2800" dirty="0" smtClean="0"/>
              <a:t>美元</a:t>
            </a:r>
            <a:endParaRPr lang="en-US" altLang="zh-CN" sz="2800" dirty="0" smtClean="0"/>
          </a:p>
          <a:p>
            <a:pPr lvl="1"/>
            <a:r>
              <a:rPr lang="zh-CN" altLang="en-US" sz="2800" dirty="0" smtClean="0"/>
              <a:t>在</a:t>
            </a:r>
            <a:r>
              <a:rPr lang="en-US" altLang="zh-CN" sz="2800" dirty="0" smtClean="0"/>
              <a:t>14</a:t>
            </a:r>
            <a:r>
              <a:rPr lang="zh-CN" altLang="en-US" sz="2800" dirty="0" smtClean="0"/>
              <a:t>纳米</a:t>
            </a:r>
            <a:r>
              <a:rPr lang="zh-CN" altLang="en-US" sz="2800" dirty="0" smtClean="0"/>
              <a:t>节点后增加</a:t>
            </a:r>
            <a:r>
              <a:rPr lang="zh-CN" altLang="en-US" sz="2800" dirty="0"/>
              <a:t>至</a:t>
            </a:r>
            <a:r>
              <a:rPr lang="en-US" altLang="zh-CN" sz="2800" dirty="0"/>
              <a:t>1.2</a:t>
            </a:r>
            <a:r>
              <a:rPr lang="zh-CN" altLang="en-US" sz="2800" dirty="0"/>
              <a:t>亿至</a:t>
            </a:r>
            <a:r>
              <a:rPr lang="en-US" altLang="zh-CN" sz="2800" dirty="0"/>
              <a:t>5</a:t>
            </a:r>
            <a:r>
              <a:rPr lang="zh-CN" altLang="en-US" sz="2800" dirty="0"/>
              <a:t>亿</a:t>
            </a:r>
            <a:r>
              <a:rPr lang="zh-CN" altLang="en-US" sz="2800" dirty="0" smtClean="0"/>
              <a:t>美元</a:t>
            </a:r>
            <a:endParaRPr lang="en-US" altLang="zh-CN" sz="2800" dirty="0" smtClean="0"/>
          </a:p>
          <a:p>
            <a:r>
              <a:rPr lang="zh-CN" altLang="en-US" sz="3200" dirty="0" smtClean="0"/>
              <a:t>芯片产品如何收回成本，实现盈利？</a:t>
            </a:r>
            <a:endParaRPr lang="en-US" altLang="zh-CN" sz="3200" dirty="0" smtClean="0"/>
          </a:p>
          <a:p>
            <a:pPr lvl="1"/>
            <a:r>
              <a:rPr lang="zh-CN" altLang="en-US" sz="2800" dirty="0" smtClean="0"/>
              <a:t>量特别大，或者，毛利率</a:t>
            </a:r>
            <a:r>
              <a:rPr lang="zh-CN" altLang="en-US" sz="2800" dirty="0"/>
              <a:t>比较</a:t>
            </a:r>
            <a:r>
              <a:rPr lang="zh-CN" altLang="en-US" sz="2800" dirty="0" smtClean="0"/>
              <a:t>高</a:t>
            </a:r>
            <a:endParaRPr lang="en-US" altLang="zh-CN" sz="2800" dirty="0" smtClean="0"/>
          </a:p>
        </p:txBody>
      </p:sp>
    </p:spTree>
    <p:extLst>
      <p:ext uri="{BB962C8B-B14F-4D97-AF65-F5344CB8AC3E}">
        <p14:creationId xmlns:p14="http://schemas.microsoft.com/office/powerpoint/2010/main" val="11893072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828800" y="304800"/>
            <a:ext cx="937976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Computer Engineering Methodology</a:t>
            </a:r>
          </a:p>
        </p:txBody>
      </p:sp>
      <p:grpSp>
        <p:nvGrpSpPr>
          <p:cNvPr id="32776" name="Group 8"/>
          <p:cNvGrpSpPr>
            <a:grpSpLocks/>
          </p:cNvGrpSpPr>
          <p:nvPr/>
        </p:nvGrpSpPr>
        <p:grpSpPr bwMode="auto">
          <a:xfrm>
            <a:off x="3641725" y="1384300"/>
            <a:ext cx="4865688" cy="5056188"/>
            <a:chOff x="1334" y="872"/>
            <a:chExt cx="3065" cy="3185"/>
          </a:xfrm>
        </p:grpSpPr>
        <p:sp>
          <p:nvSpPr>
            <p:cNvPr id="32771"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775" name="Group 7"/>
            <p:cNvGrpSpPr>
              <a:grpSpLocks/>
            </p:cNvGrpSpPr>
            <p:nvPr/>
          </p:nvGrpSpPr>
          <p:grpSpPr bwMode="auto">
            <a:xfrm>
              <a:off x="1334" y="872"/>
              <a:ext cx="3065" cy="3185"/>
              <a:chOff x="1334" y="872"/>
              <a:chExt cx="3065" cy="3185"/>
            </a:xfrm>
          </p:grpSpPr>
          <p:sp>
            <p:nvSpPr>
              <p:cNvPr id="32772"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3"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4"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2777" name="Rectangle 9"/>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Tree>
    <p:extLst>
      <p:ext uri="{BB962C8B-B14F-4D97-AF65-F5344CB8AC3E}">
        <p14:creationId xmlns:p14="http://schemas.microsoft.com/office/powerpoint/2010/main" val="893636520"/>
      </p:ext>
    </p:extLst>
  </p:cSld>
  <p:clrMapOvr>
    <a:masterClrMapping/>
  </p:clrMapOvr>
  <p:transition>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24" name="Group 8"/>
          <p:cNvGrpSpPr>
            <a:grpSpLocks/>
          </p:cNvGrpSpPr>
          <p:nvPr/>
        </p:nvGrpSpPr>
        <p:grpSpPr bwMode="auto">
          <a:xfrm>
            <a:off x="3641725" y="1384300"/>
            <a:ext cx="4865688" cy="5056188"/>
            <a:chOff x="1334" y="872"/>
            <a:chExt cx="3065" cy="3185"/>
          </a:xfrm>
        </p:grpSpPr>
        <p:sp>
          <p:nvSpPr>
            <p:cNvPr id="34819"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4823" name="Group 7"/>
            <p:cNvGrpSpPr>
              <a:grpSpLocks/>
            </p:cNvGrpSpPr>
            <p:nvPr/>
          </p:nvGrpSpPr>
          <p:grpSpPr bwMode="auto">
            <a:xfrm>
              <a:off x="1334" y="872"/>
              <a:ext cx="3065" cy="3185"/>
              <a:chOff x="1334" y="872"/>
              <a:chExt cx="3065" cy="3185"/>
            </a:xfrm>
          </p:grpSpPr>
          <p:sp>
            <p:nvSpPr>
              <p:cNvPr id="34820"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1"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2"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4825" name="Rectangle 9"/>
          <p:cNvSpPr>
            <a:spLocks noChangeArrowheads="1"/>
          </p:cNvSpPr>
          <p:nvPr/>
        </p:nvSpPr>
        <p:spPr bwMode="auto">
          <a:xfrm>
            <a:off x="4811211" y="1871663"/>
            <a:ext cx="2729916"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Evaluate Existing</a:t>
            </a:r>
          </a:p>
          <a:p>
            <a:pPr algn="ctr"/>
            <a:r>
              <a:rPr lang="en-US" altLang="zh-CN" sz="2400" b="1">
                <a:effectLst>
                  <a:outerShdw blurRad="38100" dist="38100" dir="2700000" algn="tl">
                    <a:srgbClr val="C0C0C0"/>
                  </a:outerShdw>
                </a:effectLst>
              </a:rPr>
              <a:t>Systems for </a:t>
            </a:r>
          </a:p>
          <a:p>
            <a:pPr algn="ctr"/>
            <a:r>
              <a:rPr lang="en-US" altLang="zh-CN" sz="2400" b="1">
                <a:effectLst>
                  <a:outerShdw blurRad="38100" dist="38100" dir="2700000" algn="tl">
                    <a:srgbClr val="C0C0C0"/>
                  </a:outerShdw>
                </a:effectLst>
              </a:rPr>
              <a:t>Bottlenecks</a:t>
            </a:r>
          </a:p>
        </p:txBody>
      </p:sp>
      <p:sp>
        <p:nvSpPr>
          <p:cNvPr id="34826" name="Rectangle 10"/>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
        <p:nvSpPr>
          <p:cNvPr id="34827" name="Rectangle 11"/>
          <p:cNvSpPr>
            <a:spLocks noChangeArrowheads="1"/>
          </p:cNvSpPr>
          <p:nvPr/>
        </p:nvSpPr>
        <p:spPr bwMode="auto">
          <a:xfrm>
            <a:off x="8196264" y="3186113"/>
            <a:ext cx="203260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Benchmarks</a:t>
            </a:r>
          </a:p>
        </p:txBody>
      </p:sp>
      <p:sp>
        <p:nvSpPr>
          <p:cNvPr id="34828" name="Rectangle 12"/>
          <p:cNvSpPr>
            <a:spLocks noChangeArrowheads="1"/>
          </p:cNvSpPr>
          <p:nvPr/>
        </p:nvSpPr>
        <p:spPr bwMode="auto">
          <a:xfrm>
            <a:off x="1828800" y="304800"/>
            <a:ext cx="8534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lvl1pPr algn="ctr">
              <a:defRPr kumimoji="1" sz="4000">
                <a:solidFill>
                  <a:srgbClr val="FF0000"/>
                </a:solidFill>
                <a:latin typeface="Arial" panose="020B0604020202020204" pitchFamily="34" charset="0"/>
                <a:ea typeface="黑体" panose="02010609060101010101" pitchFamily="49" charset="-122"/>
              </a:defRPr>
            </a:lvl1pPr>
            <a:lvl2pPr algn="ctr">
              <a:defRPr kumimoji="1" sz="4000">
                <a:solidFill>
                  <a:srgbClr val="FF0000"/>
                </a:solidFill>
                <a:latin typeface="Arial" panose="020B0604020202020204" pitchFamily="34" charset="0"/>
                <a:ea typeface="黑体" panose="02010609060101010101" pitchFamily="49" charset="-122"/>
              </a:defRPr>
            </a:lvl2pPr>
            <a:lvl3pPr algn="ctr">
              <a:defRPr kumimoji="1" sz="4000">
                <a:solidFill>
                  <a:srgbClr val="FF0000"/>
                </a:solidFill>
                <a:latin typeface="Arial" panose="020B0604020202020204" pitchFamily="34" charset="0"/>
                <a:ea typeface="黑体" panose="02010609060101010101" pitchFamily="49" charset="-122"/>
              </a:defRPr>
            </a:lvl3pPr>
            <a:lvl4pPr algn="ctr">
              <a:defRPr kumimoji="1" sz="4000">
                <a:solidFill>
                  <a:srgbClr val="FF0000"/>
                </a:solidFill>
                <a:latin typeface="Arial" panose="020B0604020202020204" pitchFamily="34" charset="0"/>
                <a:ea typeface="黑体" panose="02010609060101010101" pitchFamily="49" charset="-122"/>
              </a:defRPr>
            </a:lvl4pPr>
            <a:lvl5pPr algn="ctr">
              <a:defRPr kumimoji="1" sz="4000">
                <a:solidFill>
                  <a:srgbClr val="FF0000"/>
                </a:solidFill>
                <a:latin typeface="Arial" panose="020B0604020202020204" pitchFamily="34" charset="0"/>
                <a:ea typeface="黑体" panose="02010609060101010101" pitchFamily="49" charset="-122"/>
              </a:defRPr>
            </a:lvl5pPr>
            <a:lvl6pPr marL="4572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6pPr>
            <a:lvl7pPr marL="9144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7pPr>
            <a:lvl8pPr marL="13716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8pPr>
            <a:lvl9pPr marL="18288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9pPr>
          </a:lstStyle>
          <a:p>
            <a:pPr eaLnBrk="1" hangingPunct="1"/>
            <a:r>
              <a:rPr lang="en-US" altLang="zh-CN"/>
              <a:t>Computer Engineering Methodology</a:t>
            </a:r>
          </a:p>
        </p:txBody>
      </p:sp>
    </p:spTree>
    <p:extLst>
      <p:ext uri="{BB962C8B-B14F-4D97-AF65-F5344CB8AC3E}">
        <p14:creationId xmlns:p14="http://schemas.microsoft.com/office/powerpoint/2010/main" val="3636419800"/>
      </p:ext>
    </p:extLst>
  </p:cSld>
  <p:clrMapOvr>
    <a:masterClrMapping/>
  </p:clrMapOvr>
  <p:transition>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828800" y="361950"/>
            <a:ext cx="923575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Computer Engineering Methodology</a:t>
            </a:r>
          </a:p>
        </p:txBody>
      </p:sp>
      <p:grpSp>
        <p:nvGrpSpPr>
          <p:cNvPr id="36872" name="Group 8"/>
          <p:cNvGrpSpPr>
            <a:grpSpLocks/>
          </p:cNvGrpSpPr>
          <p:nvPr/>
        </p:nvGrpSpPr>
        <p:grpSpPr bwMode="auto">
          <a:xfrm>
            <a:off x="3641725" y="1384300"/>
            <a:ext cx="4865688" cy="5056188"/>
            <a:chOff x="1334" y="872"/>
            <a:chExt cx="3065" cy="3185"/>
          </a:xfrm>
        </p:grpSpPr>
        <p:sp>
          <p:nvSpPr>
            <p:cNvPr id="36867"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6871" name="Group 7"/>
            <p:cNvGrpSpPr>
              <a:grpSpLocks/>
            </p:cNvGrpSpPr>
            <p:nvPr/>
          </p:nvGrpSpPr>
          <p:grpSpPr bwMode="auto">
            <a:xfrm>
              <a:off x="1334" y="872"/>
              <a:ext cx="3065" cy="3185"/>
              <a:chOff x="1334" y="872"/>
              <a:chExt cx="3065" cy="3185"/>
            </a:xfrm>
          </p:grpSpPr>
          <p:sp>
            <p:nvSpPr>
              <p:cNvPr id="36868"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9"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6873" name="Rectangle 9"/>
          <p:cNvSpPr>
            <a:spLocks noChangeArrowheads="1"/>
          </p:cNvSpPr>
          <p:nvPr/>
        </p:nvSpPr>
        <p:spPr bwMode="auto">
          <a:xfrm>
            <a:off x="4811211" y="1871663"/>
            <a:ext cx="2729916"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Evaluate Existing</a:t>
            </a:r>
          </a:p>
          <a:p>
            <a:pPr algn="ctr"/>
            <a:r>
              <a:rPr lang="en-US" altLang="zh-CN" sz="2400" b="1">
                <a:effectLst>
                  <a:outerShdw blurRad="38100" dist="38100" dir="2700000" algn="tl">
                    <a:srgbClr val="C0C0C0"/>
                  </a:outerShdw>
                </a:effectLst>
              </a:rPr>
              <a:t>Systems for </a:t>
            </a:r>
          </a:p>
          <a:p>
            <a:pPr algn="ctr"/>
            <a:r>
              <a:rPr lang="en-US" altLang="zh-CN" sz="2400" b="1">
                <a:effectLst>
                  <a:outerShdw blurRad="38100" dist="38100" dir="2700000" algn="tl">
                    <a:srgbClr val="C0C0C0"/>
                  </a:outerShdw>
                </a:effectLst>
              </a:rPr>
              <a:t>Bottlenecks</a:t>
            </a:r>
          </a:p>
        </p:txBody>
      </p:sp>
      <p:sp>
        <p:nvSpPr>
          <p:cNvPr id="36874" name="Rectangle 10"/>
          <p:cNvSpPr>
            <a:spLocks noChangeArrowheads="1"/>
          </p:cNvSpPr>
          <p:nvPr/>
        </p:nvSpPr>
        <p:spPr bwMode="auto">
          <a:xfrm>
            <a:off x="6412228" y="4538663"/>
            <a:ext cx="2232985"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Simulate New</a:t>
            </a:r>
          </a:p>
          <a:p>
            <a:pPr algn="ctr"/>
            <a:r>
              <a:rPr lang="en-US" altLang="zh-CN" sz="2400" b="1">
                <a:effectLst>
                  <a:outerShdw blurRad="38100" dist="38100" dir="2700000" algn="tl">
                    <a:srgbClr val="C0C0C0"/>
                  </a:outerShdw>
                </a:effectLst>
              </a:rPr>
              <a:t>Designs and</a:t>
            </a:r>
          </a:p>
          <a:p>
            <a:pPr algn="ctr"/>
            <a:r>
              <a:rPr lang="en-US" altLang="zh-CN" sz="2400" b="1">
                <a:effectLst>
                  <a:outerShdw blurRad="38100" dist="38100" dir="2700000" algn="tl">
                    <a:srgbClr val="C0C0C0"/>
                  </a:outerShdw>
                </a:effectLst>
              </a:rPr>
              <a:t>Organizations</a:t>
            </a:r>
          </a:p>
        </p:txBody>
      </p:sp>
      <p:sp>
        <p:nvSpPr>
          <p:cNvPr id="36875" name="Rectangle 11"/>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
        <p:nvSpPr>
          <p:cNvPr id="36876" name="Rectangle 12"/>
          <p:cNvSpPr>
            <a:spLocks noChangeArrowheads="1"/>
          </p:cNvSpPr>
          <p:nvPr/>
        </p:nvSpPr>
        <p:spPr bwMode="auto">
          <a:xfrm>
            <a:off x="8196264" y="3186113"/>
            <a:ext cx="203260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Benchmarks</a:t>
            </a:r>
          </a:p>
        </p:txBody>
      </p:sp>
      <p:sp>
        <p:nvSpPr>
          <p:cNvPr id="36877" name="Rectangle 13"/>
          <p:cNvSpPr>
            <a:spLocks noChangeArrowheads="1"/>
          </p:cNvSpPr>
          <p:nvPr/>
        </p:nvSpPr>
        <p:spPr bwMode="auto">
          <a:xfrm>
            <a:off x="2938464" y="5872163"/>
            <a:ext cx="174971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Workloads</a:t>
            </a:r>
          </a:p>
        </p:txBody>
      </p:sp>
    </p:spTree>
    <p:extLst>
      <p:ext uri="{BB962C8B-B14F-4D97-AF65-F5344CB8AC3E}">
        <p14:creationId xmlns:p14="http://schemas.microsoft.com/office/powerpoint/2010/main" val="291561012"/>
      </p:ext>
    </p:extLst>
  </p:cSld>
  <p:clrMapOvr>
    <a:masterClrMapping/>
  </p:clrMapOvr>
  <p:transition>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05000" y="361950"/>
            <a:ext cx="915955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Computer Engineering Methodology</a:t>
            </a:r>
          </a:p>
        </p:txBody>
      </p:sp>
      <p:grpSp>
        <p:nvGrpSpPr>
          <p:cNvPr id="38920" name="Group 8"/>
          <p:cNvGrpSpPr>
            <a:grpSpLocks/>
          </p:cNvGrpSpPr>
          <p:nvPr/>
        </p:nvGrpSpPr>
        <p:grpSpPr bwMode="auto">
          <a:xfrm>
            <a:off x="3641725" y="1384300"/>
            <a:ext cx="4865688" cy="5056188"/>
            <a:chOff x="1334" y="872"/>
            <a:chExt cx="3065" cy="3185"/>
          </a:xfrm>
        </p:grpSpPr>
        <p:sp>
          <p:nvSpPr>
            <p:cNvPr id="38915"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919" name="Group 7"/>
            <p:cNvGrpSpPr>
              <a:grpSpLocks/>
            </p:cNvGrpSpPr>
            <p:nvPr/>
          </p:nvGrpSpPr>
          <p:grpSpPr bwMode="auto">
            <a:xfrm>
              <a:off x="1334" y="872"/>
              <a:ext cx="3065" cy="3185"/>
              <a:chOff x="1334" y="872"/>
              <a:chExt cx="3065" cy="3185"/>
            </a:xfrm>
          </p:grpSpPr>
          <p:sp>
            <p:nvSpPr>
              <p:cNvPr id="38916"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7"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8"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8921" name="Rectangle 9"/>
          <p:cNvSpPr>
            <a:spLocks noChangeArrowheads="1"/>
          </p:cNvSpPr>
          <p:nvPr/>
        </p:nvSpPr>
        <p:spPr bwMode="auto">
          <a:xfrm>
            <a:off x="4811211" y="1871663"/>
            <a:ext cx="2729916"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Evaluate Existing</a:t>
            </a:r>
          </a:p>
          <a:p>
            <a:pPr algn="ctr"/>
            <a:r>
              <a:rPr lang="en-US" altLang="zh-CN" sz="2400" b="1">
                <a:effectLst>
                  <a:outerShdw blurRad="38100" dist="38100" dir="2700000" algn="tl">
                    <a:srgbClr val="C0C0C0"/>
                  </a:outerShdw>
                </a:effectLst>
              </a:rPr>
              <a:t>Systems for </a:t>
            </a:r>
          </a:p>
          <a:p>
            <a:pPr algn="ctr"/>
            <a:r>
              <a:rPr lang="en-US" altLang="zh-CN" sz="2400" b="1">
                <a:effectLst>
                  <a:outerShdw blurRad="38100" dist="38100" dir="2700000" algn="tl">
                    <a:srgbClr val="C0C0C0"/>
                  </a:outerShdw>
                </a:effectLst>
              </a:rPr>
              <a:t>Bottlenecks</a:t>
            </a:r>
          </a:p>
        </p:txBody>
      </p:sp>
      <p:sp>
        <p:nvSpPr>
          <p:cNvPr id="38922" name="Rectangle 10"/>
          <p:cNvSpPr>
            <a:spLocks noChangeArrowheads="1"/>
          </p:cNvSpPr>
          <p:nvPr/>
        </p:nvSpPr>
        <p:spPr bwMode="auto">
          <a:xfrm>
            <a:off x="6412228" y="4538663"/>
            <a:ext cx="2232985"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Simulate New</a:t>
            </a:r>
          </a:p>
          <a:p>
            <a:pPr algn="ctr"/>
            <a:r>
              <a:rPr lang="en-US" altLang="zh-CN" sz="2400" b="1">
                <a:effectLst>
                  <a:outerShdw blurRad="38100" dist="38100" dir="2700000" algn="tl">
                    <a:srgbClr val="C0C0C0"/>
                  </a:outerShdw>
                </a:effectLst>
              </a:rPr>
              <a:t>Designs and</a:t>
            </a:r>
          </a:p>
          <a:p>
            <a:pPr algn="ctr"/>
            <a:r>
              <a:rPr lang="en-US" altLang="zh-CN" sz="2400" b="1">
                <a:effectLst>
                  <a:outerShdw blurRad="38100" dist="38100" dir="2700000" algn="tl">
                    <a:srgbClr val="C0C0C0"/>
                  </a:outerShdw>
                </a:effectLst>
              </a:rPr>
              <a:t>Organizations</a:t>
            </a:r>
          </a:p>
        </p:txBody>
      </p:sp>
      <p:sp>
        <p:nvSpPr>
          <p:cNvPr id="38923" name="Rectangle 11"/>
          <p:cNvSpPr>
            <a:spLocks noChangeArrowheads="1"/>
          </p:cNvSpPr>
          <p:nvPr/>
        </p:nvSpPr>
        <p:spPr bwMode="auto">
          <a:xfrm>
            <a:off x="2797014" y="4386263"/>
            <a:ext cx="2987998"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Implement Next</a:t>
            </a:r>
          </a:p>
          <a:p>
            <a:pPr algn="ctr"/>
            <a:r>
              <a:rPr lang="en-US" altLang="zh-CN" sz="2400" b="1">
                <a:effectLst>
                  <a:outerShdw blurRad="38100" dist="38100" dir="2700000" algn="tl">
                    <a:srgbClr val="C0C0C0"/>
                  </a:outerShdw>
                </a:effectLst>
              </a:rPr>
              <a:t>Generation System</a:t>
            </a:r>
          </a:p>
        </p:txBody>
      </p:sp>
      <p:sp>
        <p:nvSpPr>
          <p:cNvPr id="38924" name="Rectangle 12"/>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
        <p:nvSpPr>
          <p:cNvPr id="38925" name="Rectangle 13"/>
          <p:cNvSpPr>
            <a:spLocks noChangeArrowheads="1"/>
          </p:cNvSpPr>
          <p:nvPr/>
        </p:nvSpPr>
        <p:spPr bwMode="auto">
          <a:xfrm>
            <a:off x="8196264" y="3186113"/>
            <a:ext cx="203260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Benchmarks</a:t>
            </a:r>
          </a:p>
        </p:txBody>
      </p:sp>
      <p:sp>
        <p:nvSpPr>
          <p:cNvPr id="38926" name="Rectangle 14"/>
          <p:cNvSpPr>
            <a:spLocks noChangeArrowheads="1"/>
          </p:cNvSpPr>
          <p:nvPr/>
        </p:nvSpPr>
        <p:spPr bwMode="auto">
          <a:xfrm>
            <a:off x="2938464" y="5872163"/>
            <a:ext cx="174971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Workloads</a:t>
            </a:r>
          </a:p>
        </p:txBody>
      </p:sp>
      <p:sp>
        <p:nvSpPr>
          <p:cNvPr id="38927" name="Rectangle 15"/>
          <p:cNvSpPr>
            <a:spLocks noChangeArrowheads="1"/>
          </p:cNvSpPr>
          <p:nvPr/>
        </p:nvSpPr>
        <p:spPr bwMode="auto">
          <a:xfrm>
            <a:off x="2100264" y="2081213"/>
            <a:ext cx="2455801"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Implementation</a:t>
            </a:r>
          </a:p>
          <a:p>
            <a:r>
              <a:rPr lang="en-US" altLang="zh-CN" sz="2400" b="1" i="1"/>
              <a:t>Complexity</a:t>
            </a:r>
          </a:p>
        </p:txBody>
      </p:sp>
    </p:spTree>
    <p:extLst>
      <p:ext uri="{BB962C8B-B14F-4D97-AF65-F5344CB8AC3E}">
        <p14:creationId xmlns:p14="http://schemas.microsoft.com/office/powerpoint/2010/main" val="4035705625"/>
      </p:ext>
    </p:extLst>
  </p:cSld>
  <p:clrMapOvr>
    <a:masterClrMapping/>
  </p:clrMapOvr>
  <p:transition>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Current Trends in Architecture</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Cannot continue to leverage Instruction-Level parallelism (ILP)</a:t>
            </a:r>
          </a:p>
          <a:p>
            <a:pPr lvl="1">
              <a:lnSpc>
                <a:spcPct val="90000"/>
              </a:lnSpc>
            </a:pPr>
            <a:r>
              <a:rPr lang="en-US" dirty="0"/>
              <a:t>Single processor performance improvement ended in 2003</a:t>
            </a:r>
          </a:p>
          <a:p>
            <a:pPr lvl="1">
              <a:lnSpc>
                <a:spcPct val="90000"/>
              </a:lnSpc>
            </a:pPr>
            <a:endParaRPr lang="en-US" dirty="0"/>
          </a:p>
          <a:p>
            <a:pPr>
              <a:lnSpc>
                <a:spcPct val="90000"/>
              </a:lnSpc>
            </a:pPr>
            <a:r>
              <a:rPr lang="en-US" dirty="0"/>
              <a:t>New models for performance:</a:t>
            </a:r>
          </a:p>
          <a:p>
            <a:pPr lvl="1">
              <a:lnSpc>
                <a:spcPct val="90000"/>
              </a:lnSpc>
            </a:pPr>
            <a:r>
              <a:rPr lang="en-US" dirty="0"/>
              <a:t>Data-level parallelism (DLP)</a:t>
            </a:r>
          </a:p>
          <a:p>
            <a:pPr lvl="1">
              <a:lnSpc>
                <a:spcPct val="90000"/>
              </a:lnSpc>
            </a:pPr>
            <a:r>
              <a:rPr lang="en-US" dirty="0"/>
              <a:t>Thread-level parallelism (TLP)</a:t>
            </a:r>
          </a:p>
          <a:p>
            <a:pPr lvl="1">
              <a:lnSpc>
                <a:spcPct val="90000"/>
              </a:lnSpc>
            </a:pPr>
            <a:r>
              <a:rPr lang="en-US" dirty="0"/>
              <a:t>Request-level parallelism (RLP)</a:t>
            </a:r>
          </a:p>
          <a:p>
            <a:pPr lvl="1">
              <a:lnSpc>
                <a:spcPct val="90000"/>
              </a:lnSpc>
            </a:pPr>
            <a:endParaRPr lang="en-US" dirty="0"/>
          </a:p>
          <a:p>
            <a:pPr>
              <a:lnSpc>
                <a:spcPct val="90000"/>
              </a:lnSpc>
            </a:pPr>
            <a:r>
              <a:rPr lang="en-US" dirty="0"/>
              <a:t>These require explicit restructuring of the application</a:t>
            </a:r>
            <a:endParaRPr lang="en-US" dirty="0" smtClean="0"/>
          </a:p>
        </p:txBody>
      </p:sp>
    </p:spTree>
    <p:extLst>
      <p:ext uri="{BB962C8B-B14F-4D97-AF65-F5344CB8AC3E}">
        <p14:creationId xmlns:p14="http://schemas.microsoft.com/office/powerpoint/2010/main" val="20446929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Defining Computer Architecture</a:t>
            </a:r>
            <a:endParaRPr lang="en-AU" dirty="0"/>
          </a:p>
        </p:txBody>
      </p:sp>
      <p:sp>
        <p:nvSpPr>
          <p:cNvPr id="242691" name="Rectangle 3"/>
          <p:cNvSpPr>
            <a:spLocks noGrp="1" noChangeArrowheads="1"/>
          </p:cNvSpPr>
          <p:nvPr>
            <p:ph type="body" idx="1"/>
          </p:nvPr>
        </p:nvSpPr>
        <p:spPr/>
        <p:txBody>
          <a:bodyPr/>
          <a:lstStyle/>
          <a:p>
            <a:r>
              <a:rPr lang="en-US" altLang="zh-CN" dirty="0"/>
              <a:t>Architecture (ISA), Organization, Implementation</a:t>
            </a:r>
          </a:p>
          <a:p>
            <a:r>
              <a:rPr lang="en-US" altLang="zh-CN" dirty="0"/>
              <a:t>The structure of a computer that a machine language programmer must understand to write correct (timing independent) programs for that machine (Amdahl 1964) ==&gt; Instruction Set </a:t>
            </a:r>
            <a:r>
              <a:rPr lang="en-US" altLang="zh-CN" dirty="0" smtClean="0"/>
              <a:t>Architecture</a:t>
            </a:r>
            <a:endParaRPr lang="en-US" dirty="0" smtClean="0"/>
          </a:p>
          <a:p>
            <a:r>
              <a:rPr lang="en-US" dirty="0" smtClean="0"/>
              <a:t>“</a:t>
            </a:r>
            <a:r>
              <a:rPr lang="en-US" dirty="0" smtClean="0"/>
              <a:t>Old” view of computer architecture:</a:t>
            </a:r>
          </a:p>
          <a:p>
            <a:pPr lvl="1"/>
            <a:r>
              <a:rPr lang="en-US" dirty="0" smtClean="0"/>
              <a:t>Instruction Set Architecture (ISA) design</a:t>
            </a:r>
          </a:p>
          <a:p>
            <a:pPr lvl="1"/>
            <a:r>
              <a:rPr lang="en-US" dirty="0" smtClean="0"/>
              <a:t>i.e. decisions regarding:</a:t>
            </a:r>
          </a:p>
          <a:p>
            <a:pPr lvl="2"/>
            <a:r>
              <a:rPr lang="en-US" dirty="0" smtClean="0"/>
              <a:t>registers, memory addressing, addressing modes, instruction operands, available operations, control flow instructions, instruction encoding</a:t>
            </a:r>
          </a:p>
          <a:p>
            <a:pPr lvl="2"/>
            <a:endParaRPr lang="en-US" dirty="0" smtClean="0"/>
          </a:p>
        </p:txBody>
      </p:sp>
    </p:spTree>
    <p:extLst>
      <p:ext uri="{BB962C8B-B14F-4D97-AF65-F5344CB8AC3E}">
        <p14:creationId xmlns:p14="http://schemas.microsoft.com/office/powerpoint/2010/main" val="2363351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Instruction Set Architecture</a:t>
            </a:r>
            <a:endParaRPr lang="en-US"/>
          </a:p>
        </p:txBody>
      </p:sp>
      <p:sp>
        <p:nvSpPr>
          <p:cNvPr id="3" name="Content Placeholder 2"/>
          <p:cNvSpPr>
            <a:spLocks noGrp="1"/>
          </p:cNvSpPr>
          <p:nvPr>
            <p:ph idx="1"/>
          </p:nvPr>
        </p:nvSpPr>
        <p:spPr/>
        <p:txBody>
          <a:bodyPr/>
          <a:lstStyle/>
          <a:p>
            <a:r>
              <a:rPr lang="en-US"/>
              <a:t>Memory addressing</a:t>
            </a:r>
          </a:p>
          <a:p>
            <a:pPr lvl="1"/>
            <a:r>
              <a:rPr lang="en-US"/>
              <a:t>RISC-V:  byte addressed, aligned accesses faster</a:t>
            </a:r>
          </a:p>
          <a:p>
            <a:r>
              <a:rPr lang="en-US"/>
              <a:t>Addressing modes</a:t>
            </a:r>
          </a:p>
          <a:p>
            <a:pPr lvl="1"/>
            <a:r>
              <a:rPr lang="en-US"/>
              <a:t>RISC-V:  Register, immediate, displacement (base+offset)</a:t>
            </a:r>
          </a:p>
          <a:p>
            <a:pPr lvl="1"/>
            <a:r>
              <a:rPr lang="en-US"/>
              <a:t>Other examples:  autoincrement, indexed, PC-relative</a:t>
            </a:r>
          </a:p>
          <a:p>
            <a:r>
              <a:rPr lang="en-US"/>
              <a:t>Types and size of operands</a:t>
            </a:r>
          </a:p>
          <a:p>
            <a:pPr lvl="1"/>
            <a:r>
              <a:rPr lang="en-US"/>
              <a:t>RISC-V:  8-bit, 32-bit, 64-bit</a:t>
            </a:r>
          </a:p>
          <a:p>
            <a:pPr lvl="1"/>
            <a:endParaRPr lang="en-US"/>
          </a:p>
        </p:txBody>
      </p:sp>
    </p:spTree>
    <p:extLst>
      <p:ext uri="{BB962C8B-B14F-4D97-AF65-F5344CB8AC3E}">
        <p14:creationId xmlns:p14="http://schemas.microsoft.com/office/powerpoint/2010/main" val="3438997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Instruction Set Architecture</a:t>
            </a:r>
            <a:endParaRPr lang="en-US"/>
          </a:p>
        </p:txBody>
      </p:sp>
      <p:sp>
        <p:nvSpPr>
          <p:cNvPr id="3" name="Content Placeholder 2"/>
          <p:cNvSpPr>
            <a:spLocks noGrp="1"/>
          </p:cNvSpPr>
          <p:nvPr>
            <p:ph idx="1"/>
          </p:nvPr>
        </p:nvSpPr>
        <p:spPr/>
        <p:txBody>
          <a:bodyPr/>
          <a:lstStyle/>
          <a:p>
            <a:r>
              <a:rPr lang="en-US" dirty="0"/>
              <a:t>Operations</a:t>
            </a:r>
          </a:p>
          <a:p>
            <a:pPr lvl="1"/>
            <a:r>
              <a:rPr lang="en-US" dirty="0"/>
              <a:t>RISC-V:  data transfer, arithmetic, logical, control, floating point</a:t>
            </a:r>
          </a:p>
          <a:p>
            <a:pPr lvl="1"/>
            <a:r>
              <a:rPr lang="en-US" dirty="0"/>
              <a:t>See Fig. 1.5 in text</a:t>
            </a:r>
          </a:p>
          <a:p>
            <a:r>
              <a:rPr lang="en-US" dirty="0"/>
              <a:t>Control flow instructions</a:t>
            </a:r>
          </a:p>
          <a:p>
            <a:pPr lvl="1"/>
            <a:r>
              <a:rPr lang="en-US" dirty="0"/>
              <a:t>Use content of registers (RISC-V) vs. status bits (x86, ARMv7, ARMv8)</a:t>
            </a:r>
          </a:p>
          <a:p>
            <a:pPr lvl="1"/>
            <a:r>
              <a:rPr lang="en-US" dirty="0"/>
              <a:t>Return address in register (RISC-V, ARMv7, ARMv8) vs. on stack (x86)</a:t>
            </a:r>
          </a:p>
          <a:p>
            <a:r>
              <a:rPr lang="en-US" dirty="0"/>
              <a:t>Encoding</a:t>
            </a:r>
          </a:p>
          <a:p>
            <a:pPr lvl="1"/>
            <a:r>
              <a:rPr lang="en-US" dirty="0"/>
              <a:t>Fixed (RISC-V, ARMv7/v8 except compact instruction set) vs. variable length (x86)</a:t>
            </a:r>
          </a:p>
        </p:txBody>
      </p:sp>
    </p:spTree>
    <p:extLst>
      <p:ext uri="{BB962C8B-B14F-4D97-AF65-F5344CB8AC3E}">
        <p14:creationId xmlns:p14="http://schemas.microsoft.com/office/powerpoint/2010/main" val="106494304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Defining Computer Architecture</a:t>
            </a:r>
            <a:endParaRPr lang="en-AU" dirty="0"/>
          </a:p>
        </p:txBody>
      </p:sp>
      <p:sp>
        <p:nvSpPr>
          <p:cNvPr id="242691" name="Rectangle 3"/>
          <p:cNvSpPr>
            <a:spLocks noGrp="1" noChangeArrowheads="1"/>
          </p:cNvSpPr>
          <p:nvPr>
            <p:ph type="body" idx="1"/>
          </p:nvPr>
        </p:nvSpPr>
        <p:spPr/>
        <p:txBody>
          <a:bodyPr/>
          <a:lstStyle/>
          <a:p>
            <a:r>
              <a:rPr lang="en-US" dirty="0" smtClean="0"/>
              <a:t>“</a:t>
            </a:r>
            <a:r>
              <a:rPr lang="en-US" dirty="0" smtClean="0"/>
              <a:t>Real” computer architecture:</a:t>
            </a:r>
          </a:p>
          <a:p>
            <a:pPr lvl="1"/>
            <a:r>
              <a:rPr lang="en-US" dirty="0" smtClean="0"/>
              <a:t>Specific requirements of the target machine</a:t>
            </a:r>
          </a:p>
          <a:p>
            <a:pPr lvl="1"/>
            <a:r>
              <a:rPr lang="en-US" dirty="0" smtClean="0"/>
              <a:t>Design to maximize performance within constraints: cost, power, and availability</a:t>
            </a:r>
          </a:p>
          <a:p>
            <a:pPr lvl="1"/>
            <a:r>
              <a:rPr lang="en-US" dirty="0" smtClean="0"/>
              <a:t>Includes ISA, </a:t>
            </a:r>
            <a:r>
              <a:rPr lang="en-US" dirty="0" smtClean="0"/>
              <a:t>microarchitecture, </a:t>
            </a:r>
            <a:r>
              <a:rPr lang="en-US" dirty="0" smtClean="0"/>
              <a:t>and hardware </a:t>
            </a:r>
            <a:r>
              <a:rPr lang="en-US" dirty="0" smtClean="0"/>
              <a:t>implementation</a:t>
            </a:r>
          </a:p>
          <a:p>
            <a:r>
              <a:rPr lang="en-US" altLang="zh-CN" dirty="0"/>
              <a:t>The structure of a computer that a machine language programmer must understand to write a best programs for that machine ==&gt; New definition of Computer </a:t>
            </a:r>
            <a:r>
              <a:rPr lang="en-US" altLang="zh-CN" dirty="0" smtClean="0"/>
              <a:t>Architecture</a:t>
            </a:r>
          </a:p>
          <a:p>
            <a:pPr lvl="1"/>
            <a:r>
              <a:rPr lang="en-US" altLang="zh-CN" dirty="0" smtClean="0"/>
              <a:t>Best: shortest execution time, lowest energy consumption, … …</a:t>
            </a:r>
            <a:endParaRPr lang="en-US" altLang="zh-CN" dirty="0"/>
          </a:p>
          <a:p>
            <a:r>
              <a:rPr lang="en-US" altLang="zh-CN" dirty="0"/>
              <a:t>Architectural Support for Programming Language and Operating </a:t>
            </a:r>
            <a:r>
              <a:rPr lang="en-US" altLang="zh-CN" dirty="0" smtClean="0"/>
              <a:t>Systems</a:t>
            </a:r>
            <a:endParaRPr lang="en-US" altLang="zh-CN" dirty="0"/>
          </a:p>
        </p:txBody>
      </p:sp>
    </p:spTree>
    <p:extLst>
      <p:ext uri="{BB962C8B-B14F-4D97-AF65-F5344CB8AC3E}">
        <p14:creationId xmlns:p14="http://schemas.microsoft.com/office/powerpoint/2010/main" val="9879847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r>
              <a:rPr lang="zh-CN" altLang="en-US" dirty="0" smtClean="0">
                <a:latin typeface="Arial" charset="0"/>
                <a:ea typeface="黑体" charset="0"/>
                <a:cs typeface="黑体" charset="0"/>
              </a:rPr>
              <a:t>体系结构：决定硬件与软件的分工</a:t>
            </a:r>
            <a:endParaRPr lang="zh-CN" altLang="en-US" dirty="0">
              <a:latin typeface="Arial" charset="0"/>
              <a:ea typeface="黑体" charset="0"/>
              <a:cs typeface="黑体" charset="0"/>
            </a:endParaRPr>
          </a:p>
        </p:txBody>
      </p:sp>
      <p:sp>
        <p:nvSpPr>
          <p:cNvPr id="53250" name="Rectangle 3"/>
          <p:cNvSpPr>
            <a:spLocks noGrp="1" noChangeArrowheads="1"/>
          </p:cNvSpPr>
          <p:nvPr>
            <p:ph type="body" idx="1"/>
          </p:nvPr>
        </p:nvSpPr>
        <p:spPr>
          <a:xfrm>
            <a:off x="623392" y="1484784"/>
            <a:ext cx="8178800" cy="4838700"/>
          </a:xfrm>
        </p:spPr>
        <p:txBody>
          <a:bodyPr/>
          <a:lstStyle/>
          <a:p>
            <a:r>
              <a:rPr lang="zh-CN" altLang="en-US" sz="2800" dirty="0">
                <a:latin typeface="Arial" charset="0"/>
                <a:ea typeface="黑体" charset="0"/>
                <a:cs typeface="黑体" charset="0"/>
              </a:rPr>
              <a:t>激进的结构（完全动态</a:t>
            </a:r>
            <a:r>
              <a:rPr lang="zh-CN" altLang="en-US" sz="2800" dirty="0" smtClean="0">
                <a:latin typeface="Arial" charset="0"/>
                <a:ea typeface="黑体" charset="0"/>
                <a:cs typeface="黑体" charset="0"/>
              </a:rPr>
              <a:t>优化，</a:t>
            </a:r>
            <a:r>
              <a:rPr lang="en-US" altLang="zh-CN" dirty="0" smtClean="0">
                <a:latin typeface="Arial" charset="0"/>
                <a:ea typeface="黑体" charset="0"/>
                <a:cs typeface="黑体" charset="0"/>
              </a:rPr>
              <a:t>aggressive CPU</a:t>
            </a:r>
            <a:r>
              <a:rPr lang="zh-CN" altLang="en-US" sz="2800" dirty="0" smtClean="0">
                <a:latin typeface="Arial" charset="0"/>
                <a:ea typeface="黑体" charset="0"/>
                <a:cs typeface="黑体" charset="0"/>
              </a:rPr>
              <a:t>）</a:t>
            </a:r>
            <a:endParaRPr lang="en-US" altLang="zh-CN" sz="2800" dirty="0">
              <a:latin typeface="Arial" charset="0"/>
              <a:ea typeface="黑体" charset="0"/>
              <a:cs typeface="黑体" charset="0"/>
            </a:endParaRPr>
          </a:p>
          <a:p>
            <a:pPr lvl="1"/>
            <a:r>
              <a:rPr lang="zh-CN" altLang="en-US" sz="2400" dirty="0">
                <a:latin typeface="Arial" charset="0"/>
                <a:ea typeface="黑体" charset="0"/>
                <a:cs typeface="黑体" charset="0"/>
              </a:rPr>
              <a:t>硬件试图做充分的动态优化</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如</a:t>
            </a:r>
            <a:r>
              <a:rPr lang="en-US" altLang="zh-CN" sz="2400" dirty="0">
                <a:latin typeface="Arial" charset="0"/>
                <a:ea typeface="黑体" charset="0"/>
                <a:cs typeface="黑体" charset="0"/>
              </a:rPr>
              <a:t>COMA</a:t>
            </a:r>
          </a:p>
          <a:p>
            <a:pPr lvl="1"/>
            <a:r>
              <a:rPr lang="zh-CN" altLang="en-US" sz="2400" dirty="0">
                <a:latin typeface="Arial" charset="0"/>
                <a:ea typeface="黑体" charset="0"/>
                <a:cs typeface="黑体" charset="0"/>
              </a:rPr>
              <a:t>认为软件在动态分析和优化方面能力有限</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导致硬件过分复杂、功耗过高</a:t>
            </a:r>
          </a:p>
          <a:p>
            <a:r>
              <a:rPr lang="zh-CN" altLang="en-US" sz="2800" dirty="0" smtClean="0">
                <a:latin typeface="Arial" charset="0"/>
                <a:ea typeface="黑体" charset="0"/>
                <a:cs typeface="黑体" charset="0"/>
              </a:rPr>
              <a:t>保守的</a:t>
            </a:r>
            <a:r>
              <a:rPr lang="zh-CN" altLang="en-US" sz="2800" dirty="0">
                <a:latin typeface="Arial" charset="0"/>
                <a:ea typeface="黑体" charset="0"/>
                <a:cs typeface="黑体" charset="0"/>
              </a:rPr>
              <a:t>结构（静态</a:t>
            </a:r>
            <a:r>
              <a:rPr lang="zh-CN" altLang="en-US" sz="2800" dirty="0" smtClean="0">
                <a:latin typeface="Arial" charset="0"/>
                <a:ea typeface="黑体" charset="0"/>
                <a:cs typeface="黑体" charset="0"/>
              </a:rPr>
              <a:t>优化，</a:t>
            </a:r>
            <a:r>
              <a:rPr lang="en-US" altLang="zh-CN" sz="2800" dirty="0" smtClean="0">
                <a:latin typeface="Arial" charset="0"/>
                <a:ea typeface="黑体" charset="0"/>
                <a:cs typeface="黑体" charset="0"/>
              </a:rPr>
              <a:t>GPU</a:t>
            </a:r>
            <a:r>
              <a:rPr lang="zh-CN" altLang="en-US" dirty="0">
                <a:latin typeface="Arial" charset="0"/>
                <a:ea typeface="黑体" charset="0"/>
                <a:cs typeface="黑体" charset="0"/>
              </a:rPr>
              <a:t>、</a:t>
            </a:r>
            <a:r>
              <a:rPr lang="en-US" altLang="zh-CN" sz="2800" dirty="0" smtClean="0">
                <a:latin typeface="Arial" charset="0"/>
                <a:ea typeface="黑体" charset="0"/>
                <a:cs typeface="黑体" charset="0"/>
              </a:rPr>
              <a:t>NPU</a:t>
            </a:r>
            <a:r>
              <a:rPr lang="zh-CN" altLang="en-US" sz="2800" dirty="0" smtClean="0">
                <a:latin typeface="Arial" charset="0"/>
                <a:ea typeface="黑体" charset="0"/>
                <a:cs typeface="黑体" charset="0"/>
              </a:rPr>
              <a:t>等）</a:t>
            </a:r>
            <a:endParaRPr lang="en-US" altLang="zh-CN" sz="2800" dirty="0">
              <a:latin typeface="Arial" charset="0"/>
              <a:ea typeface="黑体" charset="0"/>
              <a:cs typeface="黑体" charset="0"/>
            </a:endParaRPr>
          </a:p>
          <a:p>
            <a:pPr lvl="1"/>
            <a:r>
              <a:rPr lang="zh-CN" altLang="en-US" sz="2400" dirty="0">
                <a:latin typeface="Arial" charset="0"/>
                <a:ea typeface="黑体" charset="0"/>
                <a:cs typeface="黑体" charset="0"/>
              </a:rPr>
              <a:t>硬件仅提供必需的设施</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如大量的寄存器</a:t>
            </a:r>
            <a:r>
              <a:rPr lang="en-US" altLang="zh-CN" sz="2400" dirty="0">
                <a:latin typeface="Arial" charset="0"/>
                <a:ea typeface="黑体" charset="0"/>
                <a:cs typeface="黑体" charset="0"/>
              </a:rPr>
              <a:t>/SRAM</a:t>
            </a:r>
          </a:p>
          <a:p>
            <a:pPr lvl="1"/>
            <a:r>
              <a:rPr lang="zh-CN" altLang="en-US" sz="2400" dirty="0">
                <a:latin typeface="Arial" charset="0"/>
                <a:ea typeface="黑体" charset="0"/>
                <a:cs typeface="黑体" charset="0"/>
              </a:rPr>
              <a:t>高性能能否最终达到</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完全依赖软件</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硬件简化、编程不便、性能没有保障</a:t>
            </a:r>
            <a:endParaRPr lang="en-US" altLang="zh-CN" sz="2400" dirty="0">
              <a:latin typeface="Arial" charset="0"/>
              <a:ea typeface="黑体" charset="0"/>
              <a:cs typeface="黑体" charset="0"/>
            </a:endParaRPr>
          </a:p>
          <a:p>
            <a:r>
              <a:rPr lang="zh-CN" altLang="en-US" sz="2800" dirty="0" smtClean="0">
                <a:latin typeface="Arial" charset="0"/>
                <a:ea typeface="黑体" charset="0"/>
                <a:cs typeface="黑体" charset="0"/>
              </a:rPr>
              <a:t>折衷</a:t>
            </a:r>
            <a:r>
              <a:rPr lang="zh-CN" altLang="en-US" sz="2800" dirty="0">
                <a:latin typeface="Arial" charset="0"/>
                <a:ea typeface="黑体" charset="0"/>
                <a:cs typeface="黑体" charset="0"/>
              </a:rPr>
              <a:t>的结构（动静态相结合的</a:t>
            </a:r>
            <a:r>
              <a:rPr lang="zh-CN" altLang="en-US" sz="2800" dirty="0" smtClean="0">
                <a:latin typeface="Arial" charset="0"/>
                <a:ea typeface="黑体" charset="0"/>
                <a:cs typeface="黑体" charset="0"/>
              </a:rPr>
              <a:t>优化</a:t>
            </a:r>
            <a:r>
              <a:rPr lang="zh-CN" altLang="en-US" dirty="0" smtClean="0">
                <a:latin typeface="Arial" charset="0"/>
                <a:ea typeface="黑体" charset="0"/>
                <a:cs typeface="黑体" charset="0"/>
              </a:rPr>
              <a:t>，普通</a:t>
            </a:r>
            <a:r>
              <a:rPr lang="en-US" altLang="zh-CN" dirty="0" smtClean="0">
                <a:latin typeface="Arial" charset="0"/>
                <a:ea typeface="黑体" charset="0"/>
                <a:cs typeface="黑体" charset="0"/>
              </a:rPr>
              <a:t>CPU</a:t>
            </a:r>
            <a:r>
              <a:rPr lang="zh-CN" altLang="en-US" sz="2800" dirty="0" smtClean="0">
                <a:latin typeface="Arial" charset="0"/>
                <a:ea typeface="黑体" charset="0"/>
                <a:cs typeface="黑体" charset="0"/>
              </a:rPr>
              <a:t>）</a:t>
            </a:r>
            <a:endParaRPr lang="en-US" altLang="zh-CN" sz="2800" dirty="0">
              <a:latin typeface="Arial" charset="0"/>
              <a:ea typeface="黑体" charset="0"/>
              <a:cs typeface="黑体" charset="0"/>
            </a:endParaRPr>
          </a:p>
          <a:p>
            <a:pPr lvl="1"/>
            <a:r>
              <a:rPr lang="zh-CN" altLang="en-US" sz="2400" dirty="0">
                <a:latin typeface="Arial" charset="0"/>
                <a:ea typeface="黑体" charset="0"/>
                <a:cs typeface="黑体" charset="0"/>
              </a:rPr>
              <a:t>硬件做一些动态的优化</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如高速缓存</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软件仍有优化的余地</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软硬件协同解决性能和编程方面的问题</a:t>
            </a:r>
            <a:endParaRPr lang="en-US" altLang="zh-CN" sz="2400" dirty="0">
              <a:latin typeface="Arial" charset="0"/>
              <a:ea typeface="黑体" charset="0"/>
              <a:cs typeface="黑体" charset="0"/>
            </a:endParaRPr>
          </a:p>
        </p:txBody>
      </p:sp>
      <p:graphicFrame>
        <p:nvGraphicFramePr>
          <p:cNvPr id="3" name="表格 2"/>
          <p:cNvGraphicFramePr>
            <a:graphicFrameLocks noGrp="1"/>
          </p:cNvGraphicFramePr>
          <p:nvPr>
            <p:extLst/>
          </p:nvPr>
        </p:nvGraphicFramePr>
        <p:xfrm>
          <a:off x="9528696" y="2132856"/>
          <a:ext cx="2174201" cy="3708400"/>
        </p:xfrm>
        <a:graphic>
          <a:graphicData uri="http://schemas.openxmlformats.org/drawingml/2006/table">
            <a:tbl>
              <a:tblPr firstRow="1" bandRow="1">
                <a:tableStyleId>{5C22544A-7EE6-4342-B048-85BDC9FD1C3A}</a:tableStyleId>
              </a:tblPr>
              <a:tblGrid>
                <a:gridCol w="2174201">
                  <a:extLst>
                    <a:ext uri="{9D8B030D-6E8A-4147-A177-3AD203B41FA5}">
                      <a16:colId xmlns:a16="http://schemas.microsoft.com/office/drawing/2014/main" val="3600015144"/>
                    </a:ext>
                  </a:extLst>
                </a:gridCol>
              </a:tblGrid>
              <a:tr h="370840">
                <a:tc>
                  <a:txBody>
                    <a:bodyPr/>
                    <a:lstStyle/>
                    <a:p>
                      <a:pPr algn="ctr"/>
                      <a:r>
                        <a:rPr lang="zh-CN" altLang="en-US" sz="1800" kern="1200" dirty="0" smtClean="0">
                          <a:solidFill>
                            <a:schemeClr val="dk1"/>
                          </a:solidFill>
                          <a:latin typeface="+mn-lt"/>
                          <a:ea typeface="+mn-ea"/>
                          <a:cs typeface="+mn-cs"/>
                        </a:rPr>
                        <a:t>应用软件</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3369270291"/>
                  </a:ext>
                </a:extLst>
              </a:tr>
              <a:tr h="370840">
                <a:tc>
                  <a:txBody>
                    <a:bodyPr/>
                    <a:lstStyle/>
                    <a:p>
                      <a:pPr algn="ctr"/>
                      <a:r>
                        <a:rPr lang="zh-CN" altLang="en-US" dirty="0" smtClean="0"/>
                        <a:t>高级语言</a:t>
                      </a:r>
                      <a:endParaRPr lang="zh-CN" altLang="en-US" dirty="0"/>
                    </a:p>
                  </a:txBody>
                  <a:tcPr/>
                </a:tc>
                <a:extLst>
                  <a:ext uri="{0D108BD9-81ED-4DB2-BD59-A6C34878D82A}">
                    <a16:rowId xmlns:a16="http://schemas.microsoft.com/office/drawing/2014/main" val="1433065923"/>
                  </a:ext>
                </a:extLst>
              </a:tr>
              <a:tr h="370840">
                <a:tc>
                  <a:txBody>
                    <a:bodyPr/>
                    <a:lstStyle/>
                    <a:p>
                      <a:pPr algn="ctr"/>
                      <a:r>
                        <a:rPr lang="zh-CN" altLang="en-US" dirty="0" smtClean="0"/>
                        <a:t>汇编语言层</a:t>
                      </a:r>
                      <a:endParaRPr lang="zh-CN" altLang="en-US" dirty="0"/>
                    </a:p>
                  </a:txBody>
                  <a:tcPr/>
                </a:tc>
                <a:extLst>
                  <a:ext uri="{0D108BD9-81ED-4DB2-BD59-A6C34878D82A}">
                    <a16:rowId xmlns:a16="http://schemas.microsoft.com/office/drawing/2014/main" val="1675979421"/>
                  </a:ext>
                </a:extLst>
              </a:tr>
              <a:tr h="370840">
                <a:tc>
                  <a:txBody>
                    <a:bodyPr/>
                    <a:lstStyle/>
                    <a:p>
                      <a:pPr algn="ctr"/>
                      <a:r>
                        <a:rPr lang="zh-CN" altLang="en-US" dirty="0" smtClean="0"/>
                        <a:t>操作系统层</a:t>
                      </a:r>
                      <a:endParaRPr lang="zh-CN" altLang="en-US" dirty="0"/>
                    </a:p>
                  </a:txBody>
                  <a:tcPr/>
                </a:tc>
                <a:extLst>
                  <a:ext uri="{0D108BD9-81ED-4DB2-BD59-A6C34878D82A}">
                    <a16:rowId xmlns:a16="http://schemas.microsoft.com/office/drawing/2014/main" val="3219273967"/>
                  </a:ext>
                </a:extLst>
              </a:tr>
              <a:tr h="370840">
                <a:tc>
                  <a:txBody>
                    <a:bodyPr/>
                    <a:lstStyle/>
                    <a:p>
                      <a:pPr algn="ctr"/>
                      <a:r>
                        <a:rPr lang="en-US" altLang="zh-CN" dirty="0" smtClean="0"/>
                        <a:t>BIOS</a:t>
                      </a:r>
                      <a:r>
                        <a:rPr lang="zh-CN" altLang="en-US" dirty="0" smtClean="0"/>
                        <a:t>层次</a:t>
                      </a:r>
                      <a:endParaRPr lang="zh-CN" altLang="en-US" dirty="0"/>
                    </a:p>
                  </a:txBody>
                  <a:tcPr/>
                </a:tc>
                <a:extLst>
                  <a:ext uri="{0D108BD9-81ED-4DB2-BD59-A6C34878D82A}">
                    <a16:rowId xmlns:a16="http://schemas.microsoft.com/office/drawing/2014/main" val="4185081234"/>
                  </a:ext>
                </a:extLst>
              </a:tr>
              <a:tr h="370840">
                <a:tc>
                  <a:txBody>
                    <a:bodyPr/>
                    <a:lstStyle/>
                    <a:p>
                      <a:pPr algn="ctr"/>
                      <a:r>
                        <a:rPr lang="zh-CN" altLang="en-US" dirty="0" smtClean="0"/>
                        <a:t>微程序机器 </a:t>
                      </a:r>
                      <a:endParaRPr lang="zh-CN" altLang="en-US" dirty="0"/>
                    </a:p>
                  </a:txBody>
                  <a:tcPr/>
                </a:tc>
                <a:extLst>
                  <a:ext uri="{0D108BD9-81ED-4DB2-BD59-A6C34878D82A}">
                    <a16:rowId xmlns:a16="http://schemas.microsoft.com/office/drawing/2014/main" val="3051347162"/>
                  </a:ext>
                </a:extLst>
              </a:tr>
              <a:tr h="370840">
                <a:tc>
                  <a:txBody>
                    <a:bodyPr/>
                    <a:lstStyle/>
                    <a:p>
                      <a:pPr algn="ctr"/>
                      <a:r>
                        <a:rPr lang="zh-CN" altLang="en-US" dirty="0" smtClean="0"/>
                        <a:t>数据通路控制</a:t>
                      </a:r>
                      <a:endParaRPr lang="zh-CN" altLang="en-US" dirty="0"/>
                    </a:p>
                  </a:txBody>
                  <a:tcPr/>
                </a:tc>
                <a:extLst>
                  <a:ext uri="{0D108BD9-81ED-4DB2-BD59-A6C34878D82A}">
                    <a16:rowId xmlns:a16="http://schemas.microsoft.com/office/drawing/2014/main" val="272664589"/>
                  </a:ext>
                </a:extLst>
              </a:tr>
              <a:tr h="370840">
                <a:tc>
                  <a:txBody>
                    <a:bodyPr/>
                    <a:lstStyle/>
                    <a:p>
                      <a:pPr algn="ctr"/>
                      <a:r>
                        <a:rPr lang="zh-CN" altLang="en-US" dirty="0" smtClean="0"/>
                        <a:t>功能部件</a:t>
                      </a:r>
                      <a:endParaRPr lang="zh-CN" altLang="en-US" dirty="0"/>
                    </a:p>
                  </a:txBody>
                  <a:tcPr/>
                </a:tc>
                <a:extLst>
                  <a:ext uri="{0D108BD9-81ED-4DB2-BD59-A6C34878D82A}">
                    <a16:rowId xmlns:a16="http://schemas.microsoft.com/office/drawing/2014/main" val="742729691"/>
                  </a:ext>
                </a:extLst>
              </a:tr>
              <a:tr h="370840">
                <a:tc>
                  <a:txBody>
                    <a:bodyPr/>
                    <a:lstStyle/>
                    <a:p>
                      <a:pPr algn="ctr"/>
                      <a:r>
                        <a:rPr lang="zh-CN" altLang="en-US" dirty="0" smtClean="0"/>
                        <a:t>门电路、触发器</a:t>
                      </a:r>
                      <a:endParaRPr lang="zh-CN" altLang="en-US" dirty="0"/>
                    </a:p>
                  </a:txBody>
                  <a:tcPr/>
                </a:tc>
                <a:extLst>
                  <a:ext uri="{0D108BD9-81ED-4DB2-BD59-A6C34878D82A}">
                    <a16:rowId xmlns:a16="http://schemas.microsoft.com/office/drawing/2014/main" val="2517200418"/>
                  </a:ext>
                </a:extLst>
              </a:tr>
              <a:tr h="370840">
                <a:tc>
                  <a:txBody>
                    <a:bodyPr/>
                    <a:lstStyle/>
                    <a:p>
                      <a:pPr algn="ctr"/>
                      <a:r>
                        <a:rPr lang="zh-CN" altLang="en-US" dirty="0" smtClean="0"/>
                        <a:t>晶体管和连线</a:t>
                      </a:r>
                      <a:endParaRPr lang="zh-CN" altLang="en-US" dirty="0"/>
                    </a:p>
                  </a:txBody>
                  <a:tcPr/>
                </a:tc>
                <a:extLst>
                  <a:ext uri="{0D108BD9-81ED-4DB2-BD59-A6C34878D82A}">
                    <a16:rowId xmlns:a16="http://schemas.microsoft.com/office/drawing/2014/main" val="52211116"/>
                  </a:ext>
                </a:extLst>
              </a:tr>
            </a:tbl>
          </a:graphicData>
        </a:graphic>
      </p:graphicFrame>
      <p:sp>
        <p:nvSpPr>
          <p:cNvPr id="6" name="上箭头标注 5"/>
          <p:cNvSpPr/>
          <p:nvPr/>
        </p:nvSpPr>
        <p:spPr bwMode="auto">
          <a:xfrm rot="5400000">
            <a:off x="8030131" y="3580780"/>
            <a:ext cx="2082730" cy="914400"/>
          </a:xfrm>
          <a:prstGeom prst="upArrowCallout">
            <a:avLst/>
          </a:prstGeom>
          <a:solidFill>
            <a:srgbClr val="92D050"/>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smtClean="0">
                <a:ln>
                  <a:noFill/>
                </a:ln>
                <a:solidFill>
                  <a:schemeClr val="tx1"/>
                </a:solidFill>
                <a:effectLst/>
                <a:latin typeface="Times New Roman" charset="0"/>
                <a:ea typeface="宋体" charset="0"/>
                <a:cs typeface="宋体" charset="0"/>
              </a:rPr>
              <a:t>指令系统结构 </a:t>
            </a:r>
            <a:endParaRPr kumimoji="1" lang="en-US" sz="2400" b="0" i="0" u="none" strike="noStrike" cap="none" normalizeH="0" baseline="0" dirty="0">
              <a:ln>
                <a:noFill/>
              </a:ln>
              <a:solidFill>
                <a:schemeClr val="tx1"/>
              </a:solidFill>
              <a:effectLst/>
              <a:latin typeface="Times New Roman" charset="0"/>
              <a:ea typeface="宋体" charset="0"/>
              <a:cs typeface="宋体" charset="0"/>
            </a:endParaRPr>
          </a:p>
        </p:txBody>
      </p:sp>
    </p:spTree>
    <p:extLst>
      <p:ext uri="{BB962C8B-B14F-4D97-AF65-F5344CB8AC3E}">
        <p14:creationId xmlns:p14="http://schemas.microsoft.com/office/powerpoint/2010/main" val="1186923919"/>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5360" y="1988840"/>
            <a:ext cx="10515600" cy="2808312"/>
          </a:xfrm>
        </p:spPr>
        <p:txBody>
          <a:bodyPr/>
          <a:lstStyle/>
          <a:p>
            <a:r>
              <a:rPr lang="zh-CN" altLang="en-US" dirty="0" smtClean="0"/>
              <a:t>体系结构</a:t>
            </a:r>
            <a:r>
              <a:rPr lang="en-US" altLang="zh-CN" dirty="0" smtClean="0"/>
              <a:t/>
            </a:r>
            <a:br>
              <a:rPr lang="en-US" altLang="zh-CN" dirty="0" smtClean="0"/>
            </a:br>
            <a:r>
              <a:rPr lang="zh-CN" altLang="en-US" dirty="0" smtClean="0"/>
              <a:t>设计者</a:t>
            </a:r>
            <a:r>
              <a:rPr lang="en-US" altLang="zh-CN" dirty="0" smtClean="0"/>
              <a:t/>
            </a:r>
            <a:br>
              <a:rPr lang="en-US" altLang="zh-CN" dirty="0" smtClean="0"/>
            </a:br>
            <a:r>
              <a:rPr lang="zh-CN" altLang="en-US" dirty="0" smtClean="0"/>
              <a:t>面临的各种</a:t>
            </a:r>
            <a:r>
              <a:rPr lang="en-US" altLang="zh-CN" dirty="0" smtClean="0"/>
              <a:t/>
            </a:r>
            <a:br>
              <a:rPr lang="en-US" altLang="zh-CN" dirty="0" smtClean="0"/>
            </a:br>
            <a:r>
              <a:rPr lang="zh-CN" altLang="en-US" dirty="0" smtClean="0"/>
              <a:t>功能需求</a:t>
            </a:r>
            <a:endParaRPr lang="zh-CN" altLang="en-US" dirty="0"/>
          </a:p>
        </p:txBody>
      </p:sp>
      <p:pic>
        <p:nvPicPr>
          <p:cNvPr id="3" name="Picture 2" descr="Z:\WOMAT\Production\Artfinal\0000000038\MKCAD\978-0-12-811905-1\0003165540\XMLLowres\f01-08-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3712" y="-6446"/>
            <a:ext cx="8064896" cy="684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739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35168" y="703694"/>
            <a:ext cx="8770168"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Measurement and Evaluation</a:t>
            </a:r>
          </a:p>
        </p:txBody>
      </p:sp>
      <p:pic>
        <p:nvPicPr>
          <p:cNvPr id="15363"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9" y="1675245"/>
            <a:ext cx="1841500" cy="1841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4" name="Rectangle 4"/>
          <p:cNvSpPr>
            <a:spLocks noChangeArrowheads="1"/>
          </p:cNvSpPr>
          <p:nvPr/>
        </p:nvSpPr>
        <p:spPr bwMode="auto">
          <a:xfrm>
            <a:off x="3462337" y="1987549"/>
            <a:ext cx="6291263" cy="984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dirty="0"/>
              <a:t>Architecture is an iterative process:</a:t>
            </a:r>
          </a:p>
          <a:p>
            <a:pPr>
              <a:lnSpc>
                <a:spcPct val="85000"/>
              </a:lnSpc>
              <a:buFontTx/>
              <a:buChar char="•"/>
            </a:pPr>
            <a:r>
              <a:rPr lang="en-US" altLang="zh-CN" sz="2400" b="1" dirty="0"/>
              <a:t> Searching the space  of possible designs</a:t>
            </a:r>
          </a:p>
          <a:p>
            <a:pPr>
              <a:lnSpc>
                <a:spcPct val="85000"/>
              </a:lnSpc>
              <a:buFontTx/>
              <a:buChar char="•"/>
            </a:pPr>
            <a:r>
              <a:rPr lang="en-US" altLang="zh-CN" sz="2400" b="1" dirty="0"/>
              <a:t> At all levels of computer systems</a:t>
            </a:r>
          </a:p>
        </p:txBody>
      </p:sp>
      <p:sp>
        <p:nvSpPr>
          <p:cNvPr id="15365" name="Line 5"/>
          <p:cNvSpPr>
            <a:spLocks noChangeShapeType="1"/>
          </p:cNvSpPr>
          <p:nvPr/>
        </p:nvSpPr>
        <p:spPr bwMode="auto">
          <a:xfrm>
            <a:off x="9408368" y="3131860"/>
            <a:ext cx="0" cy="254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Line 6"/>
          <p:cNvSpPr>
            <a:spLocks noChangeShapeType="1"/>
          </p:cNvSpPr>
          <p:nvPr/>
        </p:nvSpPr>
        <p:spPr bwMode="auto">
          <a:xfrm flipH="1">
            <a:off x="9078168" y="3436660"/>
            <a:ext cx="355600" cy="177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Line 7"/>
          <p:cNvSpPr>
            <a:spLocks noChangeShapeType="1"/>
          </p:cNvSpPr>
          <p:nvPr/>
        </p:nvSpPr>
        <p:spPr bwMode="auto">
          <a:xfrm>
            <a:off x="9128968" y="3665260"/>
            <a:ext cx="254000" cy="177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Line 8"/>
          <p:cNvSpPr>
            <a:spLocks noChangeShapeType="1"/>
          </p:cNvSpPr>
          <p:nvPr/>
        </p:nvSpPr>
        <p:spPr bwMode="auto">
          <a:xfrm flipH="1">
            <a:off x="9154368" y="3893860"/>
            <a:ext cx="279400" cy="330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9" name="Line 9"/>
          <p:cNvSpPr>
            <a:spLocks noChangeShapeType="1"/>
          </p:cNvSpPr>
          <p:nvPr/>
        </p:nvSpPr>
        <p:spPr bwMode="auto">
          <a:xfrm>
            <a:off x="9414718" y="3874810"/>
            <a:ext cx="2921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Line 10"/>
          <p:cNvSpPr>
            <a:spLocks noChangeShapeType="1"/>
          </p:cNvSpPr>
          <p:nvPr/>
        </p:nvSpPr>
        <p:spPr bwMode="auto">
          <a:xfrm flipH="1">
            <a:off x="8487618" y="3646210"/>
            <a:ext cx="6223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1" name="Line 11"/>
          <p:cNvSpPr>
            <a:spLocks noChangeShapeType="1"/>
          </p:cNvSpPr>
          <p:nvPr/>
        </p:nvSpPr>
        <p:spPr bwMode="auto">
          <a:xfrm>
            <a:off x="8500318" y="3951010"/>
            <a:ext cx="3683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2" name="Line 12"/>
          <p:cNvSpPr>
            <a:spLocks noChangeShapeType="1"/>
          </p:cNvSpPr>
          <p:nvPr/>
        </p:nvSpPr>
        <p:spPr bwMode="auto">
          <a:xfrm>
            <a:off x="9414718" y="3417610"/>
            <a:ext cx="8255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3" name="Line 13"/>
          <p:cNvSpPr>
            <a:spLocks noChangeShapeType="1"/>
          </p:cNvSpPr>
          <p:nvPr/>
        </p:nvSpPr>
        <p:spPr bwMode="auto">
          <a:xfrm flipH="1">
            <a:off x="10011618" y="3646210"/>
            <a:ext cx="2413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Line 14"/>
          <p:cNvSpPr>
            <a:spLocks noChangeShapeType="1"/>
          </p:cNvSpPr>
          <p:nvPr/>
        </p:nvSpPr>
        <p:spPr bwMode="auto">
          <a:xfrm>
            <a:off x="10252918" y="3646210"/>
            <a:ext cx="4445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Line 15"/>
          <p:cNvSpPr>
            <a:spLocks noChangeShapeType="1"/>
          </p:cNvSpPr>
          <p:nvPr/>
        </p:nvSpPr>
        <p:spPr bwMode="auto">
          <a:xfrm flipH="1">
            <a:off x="8335218" y="3951010"/>
            <a:ext cx="1651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6" name="Oval 16" descr="20%"/>
          <p:cNvSpPr>
            <a:spLocks noChangeArrowheads="1"/>
          </p:cNvSpPr>
          <p:nvPr/>
        </p:nvSpPr>
        <p:spPr bwMode="auto">
          <a:xfrm>
            <a:off x="4502150" y="3892550"/>
            <a:ext cx="1206500" cy="1206500"/>
          </a:xfrm>
          <a:prstGeom prst="ellipse">
            <a:avLst/>
          </a:prstGeom>
          <a:pattFill prst="pct20">
            <a:fgClr>
              <a:schemeClr val="accent1"/>
            </a:fgClr>
            <a:bgClr>
              <a:schemeClr val="bg1"/>
            </a:bgClr>
          </a:patt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15377" name="Oval 17" descr="20%"/>
          <p:cNvSpPr>
            <a:spLocks noChangeArrowheads="1"/>
          </p:cNvSpPr>
          <p:nvPr/>
        </p:nvSpPr>
        <p:spPr bwMode="auto">
          <a:xfrm>
            <a:off x="5797550" y="4273550"/>
            <a:ext cx="749300" cy="749300"/>
          </a:xfrm>
          <a:prstGeom prst="ellipse">
            <a:avLst/>
          </a:prstGeom>
          <a:pattFill prst="pct20">
            <a:fgClr>
              <a:schemeClr val="accent1"/>
            </a:fgClr>
            <a:bgClr>
              <a:schemeClr val="bg1"/>
            </a:bgClr>
          </a:patt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15378" name="Oval 18" descr="20%"/>
          <p:cNvSpPr>
            <a:spLocks noChangeArrowheads="1"/>
          </p:cNvSpPr>
          <p:nvPr/>
        </p:nvSpPr>
        <p:spPr bwMode="auto">
          <a:xfrm>
            <a:off x="6635750" y="4578350"/>
            <a:ext cx="520700" cy="444500"/>
          </a:xfrm>
          <a:prstGeom prst="ellipse">
            <a:avLst/>
          </a:prstGeom>
          <a:pattFill prst="pct20">
            <a:fgClr>
              <a:schemeClr val="accent1"/>
            </a:fgClr>
            <a:bgClr>
              <a:schemeClr val="bg1"/>
            </a:bgClr>
          </a:patt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15379" name="Rectangle 19"/>
          <p:cNvSpPr>
            <a:spLocks noChangeArrowheads="1"/>
          </p:cNvSpPr>
          <p:nvPr/>
        </p:nvSpPr>
        <p:spPr bwMode="auto">
          <a:xfrm>
            <a:off x="2527301" y="3454400"/>
            <a:ext cx="1532471" cy="3984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4000"/>
              </a:lnSpc>
            </a:pPr>
            <a:r>
              <a:rPr lang="en-US" altLang="zh-CN" sz="2400" b="1"/>
              <a:t>Creativity</a:t>
            </a:r>
          </a:p>
        </p:txBody>
      </p:sp>
      <p:sp>
        <p:nvSpPr>
          <p:cNvPr id="15380" name="Line 20"/>
          <p:cNvSpPr>
            <a:spLocks noChangeShapeType="1"/>
          </p:cNvSpPr>
          <p:nvPr/>
        </p:nvSpPr>
        <p:spPr bwMode="auto">
          <a:xfrm>
            <a:off x="4210050" y="3752850"/>
            <a:ext cx="571500" cy="1143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Line 21"/>
          <p:cNvSpPr>
            <a:spLocks noChangeShapeType="1"/>
          </p:cNvSpPr>
          <p:nvPr/>
        </p:nvSpPr>
        <p:spPr bwMode="auto">
          <a:xfrm>
            <a:off x="5791200" y="4895850"/>
            <a:ext cx="0" cy="11049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22"/>
          <p:cNvSpPr>
            <a:spLocks noChangeShapeType="1"/>
          </p:cNvSpPr>
          <p:nvPr/>
        </p:nvSpPr>
        <p:spPr bwMode="auto">
          <a:xfrm>
            <a:off x="6629400" y="4895850"/>
            <a:ext cx="0" cy="8763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3" name="Line 23"/>
          <p:cNvSpPr>
            <a:spLocks noChangeShapeType="1"/>
          </p:cNvSpPr>
          <p:nvPr/>
        </p:nvSpPr>
        <p:spPr bwMode="auto">
          <a:xfrm>
            <a:off x="7239000" y="4895850"/>
            <a:ext cx="0" cy="6477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4" name="AutoShape 24"/>
          <p:cNvSpPr>
            <a:spLocks noChangeArrowheads="1"/>
          </p:cNvSpPr>
          <p:nvPr/>
        </p:nvSpPr>
        <p:spPr bwMode="auto">
          <a:xfrm>
            <a:off x="4743450" y="5200650"/>
            <a:ext cx="2857500" cy="114300"/>
          </a:xfrm>
          <a:prstGeom prst="roundRect">
            <a:avLst>
              <a:gd name="adj" fmla="val 12495"/>
            </a:avLst>
          </a:prstGeom>
          <a:noFill/>
          <a:ln w="38100" cmpd="dbl">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Rectangle 25"/>
          <p:cNvSpPr>
            <a:spLocks noChangeArrowheads="1"/>
          </p:cNvSpPr>
          <p:nvPr/>
        </p:nvSpPr>
        <p:spPr bwMode="auto">
          <a:xfrm>
            <a:off x="7327900" y="5499100"/>
            <a:ext cx="1371600" cy="317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7000"/>
              </a:lnSpc>
            </a:pPr>
            <a:r>
              <a:rPr lang="en-US" altLang="zh-CN" b="1" i="1">
                <a:effectLst>
                  <a:outerShdw blurRad="38100" dist="38100" dir="2700000" algn="tl">
                    <a:srgbClr val="C0C0C0"/>
                  </a:outerShdw>
                </a:effectLst>
              </a:rPr>
              <a:t>Good Ideas</a:t>
            </a:r>
          </a:p>
        </p:txBody>
      </p:sp>
      <p:sp>
        <p:nvSpPr>
          <p:cNvPr id="15386" name="Rectangle 26"/>
          <p:cNvSpPr>
            <a:spLocks noChangeArrowheads="1"/>
          </p:cNvSpPr>
          <p:nvPr/>
        </p:nvSpPr>
        <p:spPr bwMode="auto">
          <a:xfrm>
            <a:off x="6108700" y="5829301"/>
            <a:ext cx="2351606" cy="3726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7000"/>
              </a:lnSpc>
            </a:pPr>
            <a:r>
              <a:rPr lang="en-US" altLang="zh-CN" sz="2400" b="1" dirty="0"/>
              <a:t>Mediocre Ideas</a:t>
            </a:r>
          </a:p>
        </p:txBody>
      </p:sp>
      <p:sp>
        <p:nvSpPr>
          <p:cNvPr id="15387" name="Rectangle 27"/>
          <p:cNvSpPr>
            <a:spLocks noChangeArrowheads="1"/>
          </p:cNvSpPr>
          <p:nvPr/>
        </p:nvSpPr>
        <p:spPr bwMode="auto">
          <a:xfrm>
            <a:off x="3822700" y="6096001"/>
            <a:ext cx="22860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3600" b="1"/>
              <a:t>Bad Ideas</a:t>
            </a:r>
          </a:p>
        </p:txBody>
      </p:sp>
      <p:sp>
        <p:nvSpPr>
          <p:cNvPr id="15388" name="Rectangle 28"/>
          <p:cNvSpPr>
            <a:spLocks noChangeArrowheads="1"/>
          </p:cNvSpPr>
          <p:nvPr/>
        </p:nvSpPr>
        <p:spPr bwMode="auto">
          <a:xfrm>
            <a:off x="4660900" y="4140200"/>
            <a:ext cx="1524000" cy="750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Cost /</a:t>
            </a:r>
          </a:p>
          <a:p>
            <a:pPr>
              <a:lnSpc>
                <a:spcPct val="85000"/>
              </a:lnSpc>
            </a:pPr>
            <a:r>
              <a:rPr lang="en-US" altLang="zh-CN" b="1"/>
              <a:t>Performance</a:t>
            </a:r>
          </a:p>
          <a:p>
            <a:pPr>
              <a:lnSpc>
                <a:spcPct val="85000"/>
              </a:lnSpc>
            </a:pPr>
            <a:r>
              <a:rPr lang="en-US" altLang="zh-CN" b="1"/>
              <a:t>Analysis</a:t>
            </a:r>
          </a:p>
        </p:txBody>
      </p:sp>
    </p:spTree>
    <p:extLst>
      <p:ext uri="{BB962C8B-B14F-4D97-AF65-F5344CB8AC3E}">
        <p14:creationId xmlns:p14="http://schemas.microsoft.com/office/powerpoint/2010/main" val="1643769658"/>
      </p:ext>
    </p:extLst>
  </p:cSld>
  <p:clrMapOvr>
    <a:masterClrMapping/>
  </p:clrMapOvr>
  <p:transition>
    <p:wip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zh-CN" smtClean="0"/>
              <a:t>Measurement Tools</a:t>
            </a:r>
            <a:endParaRPr lang="en-US" altLang="zh-CN"/>
          </a:p>
        </p:txBody>
      </p:sp>
      <p:sp>
        <p:nvSpPr>
          <p:cNvPr id="40963" name="Rectangle 3"/>
          <p:cNvSpPr>
            <a:spLocks noGrp="1" noChangeArrowheads="1"/>
          </p:cNvSpPr>
          <p:nvPr>
            <p:ph type="body" idx="1"/>
          </p:nvPr>
        </p:nvSpPr>
        <p:spPr/>
        <p:txBody>
          <a:bodyPr/>
          <a:lstStyle/>
          <a:p>
            <a:r>
              <a:rPr lang="en-US" altLang="zh-CN" smtClean="0"/>
              <a:t>Benchmarks, Traces, Mixes</a:t>
            </a:r>
          </a:p>
          <a:p>
            <a:r>
              <a:rPr lang="en-US" altLang="zh-CN" smtClean="0"/>
              <a:t>Hardware: Cost, delay, area, power estimation</a:t>
            </a:r>
          </a:p>
          <a:p>
            <a:r>
              <a:rPr lang="en-US" altLang="zh-CN" smtClean="0"/>
              <a:t>Simulation  (many  levels)</a:t>
            </a:r>
          </a:p>
          <a:p>
            <a:pPr lvl="1"/>
            <a:r>
              <a:rPr lang="en-US" altLang="zh-CN" smtClean="0"/>
              <a:t>ISA, RT, Gate, Circuit</a:t>
            </a:r>
          </a:p>
          <a:p>
            <a:r>
              <a:rPr lang="en-US" altLang="zh-CN" smtClean="0"/>
              <a:t>Queuing Theory</a:t>
            </a:r>
          </a:p>
          <a:p>
            <a:r>
              <a:rPr lang="en-US" altLang="zh-CN" smtClean="0"/>
              <a:t>Rules of Thumb</a:t>
            </a:r>
          </a:p>
          <a:p>
            <a:r>
              <a:rPr lang="en-US" altLang="zh-CN" smtClean="0"/>
              <a:t>Fundamental Laws &amp; Principles</a:t>
            </a:r>
            <a:endParaRPr lang="en-US" altLang="zh-CN"/>
          </a:p>
        </p:txBody>
      </p:sp>
    </p:spTree>
    <p:extLst>
      <p:ext uri="{BB962C8B-B14F-4D97-AF65-F5344CB8AC3E}">
        <p14:creationId xmlns:p14="http://schemas.microsoft.com/office/powerpoint/2010/main" val="89355868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6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0" end="0"/>
                                            </p:txEl>
                                          </p:spTgt>
                                        </p:tgtEl>
                                        <p:attrNameLst>
                                          <p:attrName>ppt_c</p:attrName>
                                        </p:attrNameLst>
                                      </p:cBhvr>
                                      <p:to>
                                        <a:schemeClr val="folHlink"/>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6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1" end="1"/>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6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2" end="2"/>
                                            </p:txEl>
                                          </p:spTgt>
                                        </p:tgtEl>
                                        <p:attrNameLst>
                                          <p:attrName>ppt_c</p:attrName>
                                        </p:attrNameLst>
                                      </p:cBhvr>
                                      <p:to>
                                        <a:schemeClr val="folHlink"/>
                                      </p:to>
                                    </p:animClr>
                                  </p:subTnLst>
                                </p:cTn>
                              </p:par>
                              <p:par>
                                <p:cTn id="15" presetID="1" presetClass="entr" presetSubtype="0" fill="hold" grpId="0" nodeType="withEffect">
                                  <p:stCondLst>
                                    <p:cond delay="0"/>
                                  </p:stCondLst>
                                  <p:childTnLst>
                                    <p:set>
                                      <p:cBhvr>
                                        <p:cTn id="16" dur="1" fill="hold">
                                          <p:stCondLst>
                                            <p:cond delay="499"/>
                                          </p:stCondLst>
                                        </p:cTn>
                                        <p:tgtEl>
                                          <p:spTgt spid="4096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3" end="3"/>
                                            </p:txEl>
                                          </p:spTgt>
                                        </p:tgtEl>
                                        <p:attrNameLst>
                                          <p:attrName>ppt_c</p:attrName>
                                        </p:attrNameLst>
                                      </p:cBhvr>
                                      <p:to>
                                        <a:schemeClr val="folHlink"/>
                                      </p:to>
                                    </p:animClr>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096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4" end="4"/>
                                            </p:txEl>
                                          </p:spTgt>
                                        </p:tgtEl>
                                        <p:attrNameLst>
                                          <p:attrName>ppt_c</p:attrName>
                                        </p:attrNameLst>
                                      </p:cBhvr>
                                      <p:to>
                                        <a:schemeClr val="folHlink"/>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4096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5" end="5"/>
                                            </p:txEl>
                                          </p:spTgt>
                                        </p:tgtEl>
                                        <p:attrNameLst>
                                          <p:attrName>ppt_c</p:attrName>
                                        </p:attrNameLst>
                                      </p:cBhvr>
                                      <p:to>
                                        <a:schemeClr val="folHlink"/>
                                      </p:to>
                                    </p:animClr>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096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reeform 2"/>
          <p:cNvSpPr>
            <a:spLocks/>
          </p:cNvSpPr>
          <p:nvPr/>
        </p:nvSpPr>
        <p:spPr bwMode="auto">
          <a:xfrm>
            <a:off x="2209800" y="4038600"/>
            <a:ext cx="3430588" cy="1373188"/>
          </a:xfrm>
          <a:custGeom>
            <a:avLst/>
            <a:gdLst>
              <a:gd name="T0" fmla="*/ 864 w 2161"/>
              <a:gd name="T1" fmla="*/ 0 h 865"/>
              <a:gd name="T2" fmla="*/ 0 w 2161"/>
              <a:gd name="T3" fmla="*/ 864 h 865"/>
              <a:gd name="T4" fmla="*/ 2160 w 2161"/>
              <a:gd name="T5" fmla="*/ 864 h 865"/>
              <a:gd name="T6" fmla="*/ 1296 w 2161"/>
              <a:gd name="T7" fmla="*/ 0 h 865"/>
              <a:gd name="T8" fmla="*/ 864 w 2161"/>
              <a:gd name="T9" fmla="*/ 0 h 865"/>
            </a:gdLst>
            <a:ahLst/>
            <a:cxnLst>
              <a:cxn ang="0">
                <a:pos x="T0" y="T1"/>
              </a:cxn>
              <a:cxn ang="0">
                <a:pos x="T2" y="T3"/>
              </a:cxn>
              <a:cxn ang="0">
                <a:pos x="T4" y="T5"/>
              </a:cxn>
              <a:cxn ang="0">
                <a:pos x="T6" y="T7"/>
              </a:cxn>
              <a:cxn ang="0">
                <a:pos x="T8" y="T9"/>
              </a:cxn>
            </a:cxnLst>
            <a:rect l="0" t="0" r="r" b="b"/>
            <a:pathLst>
              <a:path w="2161" h="865">
                <a:moveTo>
                  <a:pt x="864" y="0"/>
                </a:moveTo>
                <a:lnTo>
                  <a:pt x="0" y="864"/>
                </a:lnTo>
                <a:lnTo>
                  <a:pt x="2160" y="864"/>
                </a:lnTo>
                <a:lnTo>
                  <a:pt x="1296" y="0"/>
                </a:lnTo>
                <a:lnTo>
                  <a:pt x="864" y="0"/>
                </a:lnTo>
              </a:path>
            </a:pathLst>
          </a:custGeom>
          <a:solidFill>
            <a:schemeClr val="bg1"/>
          </a:soli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7"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Metrics of Performance</a:t>
            </a:r>
          </a:p>
        </p:txBody>
      </p:sp>
      <p:sp>
        <p:nvSpPr>
          <p:cNvPr id="52228" name="Freeform 4"/>
          <p:cNvSpPr>
            <a:spLocks/>
          </p:cNvSpPr>
          <p:nvPr/>
        </p:nvSpPr>
        <p:spPr bwMode="auto">
          <a:xfrm>
            <a:off x="2400300" y="1752600"/>
            <a:ext cx="2973388" cy="1982788"/>
          </a:xfrm>
          <a:custGeom>
            <a:avLst/>
            <a:gdLst>
              <a:gd name="T0" fmla="*/ 768 w 1873"/>
              <a:gd name="T1" fmla="*/ 1248 h 1249"/>
              <a:gd name="T2" fmla="*/ 0 w 1873"/>
              <a:gd name="T3" fmla="*/ 0 h 1249"/>
              <a:gd name="T4" fmla="*/ 1872 w 1873"/>
              <a:gd name="T5" fmla="*/ 0 h 1249"/>
              <a:gd name="T6" fmla="*/ 1152 w 1873"/>
              <a:gd name="T7" fmla="*/ 1248 h 1249"/>
              <a:gd name="T8" fmla="*/ 768 w 1873"/>
              <a:gd name="T9" fmla="*/ 1248 h 1249"/>
            </a:gdLst>
            <a:ahLst/>
            <a:cxnLst>
              <a:cxn ang="0">
                <a:pos x="T0" y="T1"/>
              </a:cxn>
              <a:cxn ang="0">
                <a:pos x="T2" y="T3"/>
              </a:cxn>
              <a:cxn ang="0">
                <a:pos x="T4" y="T5"/>
              </a:cxn>
              <a:cxn ang="0">
                <a:pos x="T6" y="T7"/>
              </a:cxn>
              <a:cxn ang="0">
                <a:pos x="T8" y="T9"/>
              </a:cxn>
            </a:cxnLst>
            <a:rect l="0" t="0" r="r" b="b"/>
            <a:pathLst>
              <a:path w="1873" h="1249">
                <a:moveTo>
                  <a:pt x="768" y="1248"/>
                </a:moveTo>
                <a:lnTo>
                  <a:pt x="0" y="0"/>
                </a:lnTo>
                <a:lnTo>
                  <a:pt x="1872" y="0"/>
                </a:lnTo>
                <a:lnTo>
                  <a:pt x="1152" y="1248"/>
                </a:lnTo>
                <a:lnTo>
                  <a:pt x="768" y="1248"/>
                </a:lnTo>
              </a:path>
            </a:pathLst>
          </a:custGeom>
          <a:solidFill>
            <a:schemeClr val="bg1"/>
          </a:soli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9" name="Rectangle 5"/>
          <p:cNvSpPr>
            <a:spLocks noChangeArrowheads="1"/>
          </p:cNvSpPr>
          <p:nvPr/>
        </p:nvSpPr>
        <p:spPr bwMode="auto">
          <a:xfrm>
            <a:off x="3378201" y="3025775"/>
            <a:ext cx="118301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Compiler</a:t>
            </a:r>
          </a:p>
        </p:txBody>
      </p:sp>
      <p:sp>
        <p:nvSpPr>
          <p:cNvPr id="52230" name="Rectangle 6"/>
          <p:cNvSpPr>
            <a:spLocks noChangeArrowheads="1"/>
          </p:cNvSpPr>
          <p:nvPr/>
        </p:nvSpPr>
        <p:spPr bwMode="auto">
          <a:xfrm>
            <a:off x="3090352" y="2339976"/>
            <a:ext cx="1747274"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b="1"/>
              <a:t>Programming </a:t>
            </a:r>
          </a:p>
          <a:p>
            <a:pPr algn="ctr"/>
            <a:r>
              <a:rPr lang="en-US" altLang="zh-CN" b="1"/>
              <a:t>Language</a:t>
            </a:r>
          </a:p>
        </p:txBody>
      </p:sp>
      <p:sp>
        <p:nvSpPr>
          <p:cNvPr id="52231" name="Rectangle 7"/>
          <p:cNvSpPr>
            <a:spLocks noChangeArrowheads="1"/>
          </p:cNvSpPr>
          <p:nvPr/>
        </p:nvSpPr>
        <p:spPr bwMode="auto">
          <a:xfrm>
            <a:off x="3251201" y="1806575"/>
            <a:ext cx="143949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Application</a:t>
            </a:r>
          </a:p>
        </p:txBody>
      </p:sp>
      <p:sp>
        <p:nvSpPr>
          <p:cNvPr id="52232" name="Rectangle 8"/>
          <p:cNvSpPr>
            <a:spLocks noChangeArrowheads="1"/>
          </p:cNvSpPr>
          <p:nvPr/>
        </p:nvSpPr>
        <p:spPr bwMode="auto">
          <a:xfrm>
            <a:off x="3327401" y="4168775"/>
            <a:ext cx="1170193"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Datapath</a:t>
            </a:r>
          </a:p>
        </p:txBody>
      </p:sp>
      <p:sp>
        <p:nvSpPr>
          <p:cNvPr id="52233" name="Rectangle 9"/>
          <p:cNvSpPr>
            <a:spLocks noChangeArrowheads="1"/>
          </p:cNvSpPr>
          <p:nvPr/>
        </p:nvSpPr>
        <p:spPr bwMode="auto">
          <a:xfrm>
            <a:off x="3811589" y="4397375"/>
            <a:ext cx="1003481"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Control</a:t>
            </a:r>
          </a:p>
        </p:txBody>
      </p:sp>
      <p:sp>
        <p:nvSpPr>
          <p:cNvPr id="52234" name="Rectangle 10"/>
          <p:cNvSpPr>
            <a:spLocks noChangeArrowheads="1"/>
          </p:cNvSpPr>
          <p:nvPr/>
        </p:nvSpPr>
        <p:spPr bwMode="auto">
          <a:xfrm>
            <a:off x="2465389" y="5006975"/>
            <a:ext cx="14255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Transistors</a:t>
            </a:r>
          </a:p>
        </p:txBody>
      </p:sp>
      <p:sp>
        <p:nvSpPr>
          <p:cNvPr id="52235" name="Rectangle 11"/>
          <p:cNvSpPr>
            <a:spLocks noChangeArrowheads="1"/>
          </p:cNvSpPr>
          <p:nvPr/>
        </p:nvSpPr>
        <p:spPr bwMode="auto">
          <a:xfrm>
            <a:off x="3836989" y="5006975"/>
            <a:ext cx="8032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Wires</a:t>
            </a:r>
          </a:p>
        </p:txBody>
      </p:sp>
      <p:sp>
        <p:nvSpPr>
          <p:cNvPr id="52236" name="Rectangle 12"/>
          <p:cNvSpPr>
            <a:spLocks noChangeArrowheads="1"/>
          </p:cNvSpPr>
          <p:nvPr/>
        </p:nvSpPr>
        <p:spPr bwMode="auto">
          <a:xfrm>
            <a:off x="4522789" y="5006975"/>
            <a:ext cx="670056"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Pins</a:t>
            </a:r>
          </a:p>
        </p:txBody>
      </p:sp>
      <p:sp>
        <p:nvSpPr>
          <p:cNvPr id="52237" name="Rectangle 13"/>
          <p:cNvSpPr>
            <a:spLocks noChangeArrowheads="1"/>
          </p:cNvSpPr>
          <p:nvPr/>
        </p:nvSpPr>
        <p:spPr bwMode="auto">
          <a:xfrm>
            <a:off x="3587750" y="3816350"/>
            <a:ext cx="596900" cy="1397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8" name="Rectangle 14"/>
          <p:cNvSpPr>
            <a:spLocks noChangeArrowheads="1"/>
          </p:cNvSpPr>
          <p:nvPr/>
        </p:nvSpPr>
        <p:spPr bwMode="auto">
          <a:xfrm>
            <a:off x="3643314" y="3757613"/>
            <a:ext cx="482505"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400" b="1"/>
              <a:t>ISA</a:t>
            </a:r>
          </a:p>
        </p:txBody>
      </p:sp>
      <p:sp>
        <p:nvSpPr>
          <p:cNvPr id="52239" name="Rectangle 15"/>
          <p:cNvSpPr>
            <a:spLocks noChangeArrowheads="1"/>
          </p:cNvSpPr>
          <p:nvPr/>
        </p:nvSpPr>
        <p:spPr bwMode="auto">
          <a:xfrm>
            <a:off x="3033714" y="4702175"/>
            <a:ext cx="179857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Function Units</a:t>
            </a:r>
          </a:p>
        </p:txBody>
      </p:sp>
      <p:sp>
        <p:nvSpPr>
          <p:cNvPr id="52240" name="Line 16"/>
          <p:cNvSpPr>
            <a:spLocks noChangeShapeType="1"/>
          </p:cNvSpPr>
          <p:nvPr/>
        </p:nvSpPr>
        <p:spPr bwMode="auto">
          <a:xfrm>
            <a:off x="4197350" y="3733800"/>
            <a:ext cx="368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1" name="Rectangle 17"/>
          <p:cNvSpPr>
            <a:spLocks noChangeArrowheads="1"/>
          </p:cNvSpPr>
          <p:nvPr/>
        </p:nvSpPr>
        <p:spPr bwMode="auto">
          <a:xfrm>
            <a:off x="4725989" y="3452814"/>
            <a:ext cx="563562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b="1" dirty="0"/>
              <a:t>(millions) of Instructions per second: MIPS</a:t>
            </a:r>
          </a:p>
          <a:p>
            <a:r>
              <a:rPr lang="en-US" altLang="zh-CN" b="1" dirty="0"/>
              <a:t>(millions) of (FP) operations per second: MFLOP/s</a:t>
            </a:r>
          </a:p>
        </p:txBody>
      </p:sp>
      <p:sp>
        <p:nvSpPr>
          <p:cNvPr id="52242" name="Rectangle 18"/>
          <p:cNvSpPr>
            <a:spLocks noChangeArrowheads="1"/>
          </p:cNvSpPr>
          <p:nvPr/>
        </p:nvSpPr>
        <p:spPr bwMode="auto">
          <a:xfrm>
            <a:off x="5929314" y="4930775"/>
            <a:ext cx="351698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Cycles per second (clock rate)</a:t>
            </a:r>
          </a:p>
        </p:txBody>
      </p:sp>
      <p:sp>
        <p:nvSpPr>
          <p:cNvPr id="52243" name="Line 19"/>
          <p:cNvSpPr>
            <a:spLocks noChangeShapeType="1"/>
          </p:cNvSpPr>
          <p:nvPr/>
        </p:nvSpPr>
        <p:spPr bwMode="auto">
          <a:xfrm flipH="1">
            <a:off x="5327650" y="5105400"/>
            <a:ext cx="241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4" name="Rectangle 20"/>
          <p:cNvSpPr>
            <a:spLocks noChangeArrowheads="1"/>
          </p:cNvSpPr>
          <p:nvPr/>
        </p:nvSpPr>
        <p:spPr bwMode="auto">
          <a:xfrm>
            <a:off x="5929314" y="4321175"/>
            <a:ext cx="267060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Megabytes per second</a:t>
            </a:r>
          </a:p>
        </p:txBody>
      </p:sp>
      <p:sp>
        <p:nvSpPr>
          <p:cNvPr id="52245" name="Line 21"/>
          <p:cNvSpPr>
            <a:spLocks noChangeShapeType="1"/>
          </p:cNvSpPr>
          <p:nvPr/>
        </p:nvSpPr>
        <p:spPr bwMode="auto">
          <a:xfrm>
            <a:off x="5187950" y="2133600"/>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6" name="Rectangle 22"/>
          <p:cNvSpPr>
            <a:spLocks noChangeArrowheads="1"/>
          </p:cNvSpPr>
          <p:nvPr/>
        </p:nvSpPr>
        <p:spPr bwMode="auto">
          <a:xfrm>
            <a:off x="5853114" y="1806576"/>
            <a:ext cx="2850205" cy="920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t>Answers per month</a:t>
            </a:r>
          </a:p>
          <a:p>
            <a:r>
              <a:rPr lang="en-US" altLang="zh-CN" b="1" dirty="0"/>
              <a:t>Operations per </a:t>
            </a:r>
            <a:r>
              <a:rPr lang="en-US" altLang="zh-CN" b="1" dirty="0" smtClean="0"/>
              <a:t>second</a:t>
            </a:r>
          </a:p>
          <a:p>
            <a:r>
              <a:rPr lang="en-US" altLang="zh-CN" b="1" dirty="0" smtClean="0"/>
              <a:t>Transactions per minute</a:t>
            </a:r>
            <a:endParaRPr lang="en-US" altLang="zh-CN" b="1" dirty="0"/>
          </a:p>
        </p:txBody>
      </p:sp>
      <p:sp>
        <p:nvSpPr>
          <p:cNvPr id="52247" name="Line 23"/>
          <p:cNvSpPr>
            <a:spLocks noChangeShapeType="1"/>
          </p:cNvSpPr>
          <p:nvPr/>
        </p:nvSpPr>
        <p:spPr bwMode="auto">
          <a:xfrm>
            <a:off x="4806950" y="4572000"/>
            <a:ext cx="368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文本框 1"/>
          <p:cNvSpPr txBox="1"/>
          <p:nvPr/>
        </p:nvSpPr>
        <p:spPr>
          <a:xfrm>
            <a:off x="5448300" y="3025775"/>
            <a:ext cx="2014013" cy="400110"/>
          </a:xfrm>
          <a:prstGeom prst="rect">
            <a:avLst/>
          </a:prstGeom>
          <a:noFill/>
        </p:spPr>
        <p:txBody>
          <a:bodyPr wrap="none" rtlCol="0">
            <a:spAutoFit/>
          </a:bodyPr>
          <a:lstStyle/>
          <a:p>
            <a:r>
              <a:rPr lang="en-US" altLang="zh-CN" sz="2000" dirty="0" smtClean="0">
                <a:solidFill>
                  <a:srgbClr val="0000FF"/>
                </a:solidFill>
              </a:rPr>
              <a:t>Billions, Trillions</a:t>
            </a:r>
            <a:endParaRPr lang="zh-CN" altLang="en-US" sz="2000" dirty="0">
              <a:solidFill>
                <a:srgbClr val="0000FF"/>
              </a:solidFill>
            </a:endParaRPr>
          </a:p>
        </p:txBody>
      </p:sp>
      <p:sp>
        <p:nvSpPr>
          <p:cNvPr id="25" name="文本框 24"/>
          <p:cNvSpPr txBox="1"/>
          <p:nvPr/>
        </p:nvSpPr>
        <p:spPr>
          <a:xfrm>
            <a:off x="8688288" y="4282976"/>
            <a:ext cx="2982035" cy="400110"/>
          </a:xfrm>
          <a:prstGeom prst="rect">
            <a:avLst/>
          </a:prstGeom>
          <a:noFill/>
        </p:spPr>
        <p:txBody>
          <a:bodyPr wrap="none" rtlCol="0">
            <a:spAutoFit/>
          </a:bodyPr>
          <a:lstStyle/>
          <a:p>
            <a:r>
              <a:rPr lang="en-US" altLang="zh-CN" sz="2000" dirty="0" smtClean="0">
                <a:solidFill>
                  <a:srgbClr val="0000FF"/>
                </a:solidFill>
              </a:rPr>
              <a:t>Transactions per second</a:t>
            </a:r>
            <a:endParaRPr lang="zh-CN" altLang="en-US" sz="2000" dirty="0">
              <a:solidFill>
                <a:srgbClr val="0000FF"/>
              </a:solidFill>
            </a:endParaRPr>
          </a:p>
        </p:txBody>
      </p:sp>
    </p:spTree>
    <p:extLst>
      <p:ext uri="{BB962C8B-B14F-4D97-AF65-F5344CB8AC3E}">
        <p14:creationId xmlns:p14="http://schemas.microsoft.com/office/powerpoint/2010/main" val="4134433485"/>
      </p:ext>
    </p:extLst>
  </p:cSld>
  <p:clrMapOvr>
    <a:masterClrMapping/>
  </p:clrMapOvr>
  <p:transition>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Bandwidth and Latency</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Bandwidth or throughput</a:t>
            </a:r>
          </a:p>
          <a:p>
            <a:pPr lvl="1">
              <a:lnSpc>
                <a:spcPct val="90000"/>
              </a:lnSpc>
            </a:pPr>
            <a:r>
              <a:rPr lang="en-US" dirty="0"/>
              <a:t>Total work done in a given time</a:t>
            </a:r>
          </a:p>
          <a:p>
            <a:pPr lvl="1">
              <a:lnSpc>
                <a:spcPct val="90000"/>
              </a:lnSpc>
            </a:pPr>
            <a:r>
              <a:rPr lang="en-US"/>
              <a:t>32,000-40,000X </a:t>
            </a:r>
            <a:r>
              <a:rPr lang="en-US" dirty="0"/>
              <a:t>improvement for processors</a:t>
            </a:r>
          </a:p>
          <a:p>
            <a:pPr lvl="1">
              <a:lnSpc>
                <a:spcPct val="90000"/>
              </a:lnSpc>
            </a:pPr>
            <a:r>
              <a:rPr lang="en-US" dirty="0"/>
              <a:t>300-1200X improvement for memory and disks</a:t>
            </a:r>
          </a:p>
          <a:p>
            <a:pPr lvl="1">
              <a:lnSpc>
                <a:spcPct val="90000"/>
              </a:lnSpc>
            </a:pPr>
            <a:endParaRPr lang="en-US" dirty="0"/>
          </a:p>
          <a:p>
            <a:pPr>
              <a:lnSpc>
                <a:spcPct val="90000"/>
              </a:lnSpc>
            </a:pPr>
            <a:r>
              <a:rPr lang="en-US" dirty="0"/>
              <a:t>Latency or response time</a:t>
            </a:r>
          </a:p>
          <a:p>
            <a:pPr lvl="1">
              <a:lnSpc>
                <a:spcPct val="90000"/>
              </a:lnSpc>
            </a:pPr>
            <a:r>
              <a:rPr lang="en-US" dirty="0"/>
              <a:t>Time between start and completion of an event</a:t>
            </a:r>
          </a:p>
          <a:p>
            <a:pPr lvl="1">
              <a:lnSpc>
                <a:spcPct val="90000"/>
              </a:lnSpc>
            </a:pPr>
            <a:r>
              <a:rPr lang="en-US"/>
              <a:t>50-90X </a:t>
            </a:r>
            <a:r>
              <a:rPr lang="en-US" dirty="0"/>
              <a:t>improvement for processors</a:t>
            </a:r>
          </a:p>
          <a:p>
            <a:pPr lvl="1">
              <a:lnSpc>
                <a:spcPct val="90000"/>
              </a:lnSpc>
            </a:pPr>
            <a:r>
              <a:rPr lang="en-US" dirty="0"/>
              <a:t>6-8X improvement for memory and disks</a:t>
            </a:r>
            <a:endParaRPr lang="en-US" dirty="0" smtClean="0"/>
          </a:p>
        </p:txBody>
      </p:sp>
    </p:spTree>
    <p:extLst>
      <p:ext uri="{BB962C8B-B14F-4D97-AF65-F5344CB8AC3E}">
        <p14:creationId xmlns:p14="http://schemas.microsoft.com/office/powerpoint/2010/main" val="22899849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695400" y="483356"/>
            <a:ext cx="11042649" cy="701675"/>
          </a:xfrm>
        </p:spPr>
        <p:txBody>
          <a:bodyPr/>
          <a:lstStyle/>
          <a:p>
            <a:r>
              <a:rPr lang="en-US" dirty="0" smtClean="0"/>
              <a:t>Bandwidth and Latency</a:t>
            </a:r>
            <a:endParaRPr lang="en-GB" dirty="0"/>
          </a:p>
        </p:txBody>
      </p:sp>
      <p:sp>
        <p:nvSpPr>
          <p:cNvPr id="483336" name="Text Box 8"/>
          <p:cNvSpPr txBox="1">
            <a:spLocks noChangeArrowheads="1"/>
          </p:cNvSpPr>
          <p:nvPr/>
        </p:nvSpPr>
        <p:spPr bwMode="auto">
          <a:xfrm>
            <a:off x="119336" y="6021288"/>
            <a:ext cx="8860118" cy="707886"/>
          </a:xfrm>
          <a:prstGeom prst="rect">
            <a:avLst/>
          </a:prstGeom>
          <a:noFill/>
          <a:ln w="9525" algn="ctr">
            <a:noFill/>
            <a:miter lim="800000"/>
            <a:headEnd/>
            <a:tailEnd/>
          </a:ln>
          <a:effectLst/>
        </p:spPr>
        <p:txBody>
          <a:bodyPr wrap="none">
            <a:spAutoFit/>
          </a:bodyPr>
          <a:lstStyle/>
          <a:p>
            <a:r>
              <a:rPr lang="en-US" sz="2000" dirty="0">
                <a:solidFill>
                  <a:srgbClr val="0000FF"/>
                </a:solidFill>
                <a:latin typeface="Arial" charset="0"/>
              </a:rPr>
              <a:t>Log-log plot of </a:t>
            </a:r>
            <a:r>
              <a:rPr lang="en-US" sz="2000" dirty="0" smtClean="0">
                <a:solidFill>
                  <a:srgbClr val="0000FF"/>
                </a:solidFill>
                <a:latin typeface="Arial" charset="0"/>
              </a:rPr>
              <a:t>bandwidth and </a:t>
            </a:r>
            <a:r>
              <a:rPr lang="en-US" sz="2000" dirty="0">
                <a:solidFill>
                  <a:srgbClr val="0000FF"/>
                </a:solidFill>
                <a:latin typeface="Arial" charset="0"/>
              </a:rPr>
              <a:t>latency </a:t>
            </a:r>
            <a:r>
              <a:rPr lang="en-US" sz="2000" dirty="0" smtClean="0">
                <a:solidFill>
                  <a:srgbClr val="0000FF"/>
                </a:solidFill>
                <a:latin typeface="Arial" charset="0"/>
              </a:rPr>
              <a:t>milestones</a:t>
            </a:r>
            <a:r>
              <a:rPr lang="zh-CN" altLang="en-US" sz="2000" dirty="0" smtClean="0">
                <a:solidFill>
                  <a:srgbClr val="0000FF"/>
                </a:solidFill>
                <a:latin typeface="Arial" charset="0"/>
              </a:rPr>
              <a:t>：</a:t>
            </a:r>
            <a:r>
              <a:rPr lang="en-US" altLang="zh-CN" sz="2000" dirty="0" smtClean="0">
                <a:solidFill>
                  <a:srgbClr val="0000FF"/>
                </a:solidFill>
                <a:latin typeface="Arial" charset="0"/>
              </a:rPr>
              <a:t/>
            </a:r>
            <a:br>
              <a:rPr lang="en-US" altLang="zh-CN" sz="2000" dirty="0" smtClean="0">
                <a:solidFill>
                  <a:srgbClr val="0000FF"/>
                </a:solidFill>
                <a:latin typeface="Arial" charset="0"/>
              </a:rPr>
            </a:br>
            <a:r>
              <a:rPr lang="en-US" altLang="en-US" sz="2000" dirty="0" smtClean="0">
                <a:solidFill>
                  <a:srgbClr val="0000FF"/>
                </a:solidFill>
              </a:rPr>
              <a:t> </a:t>
            </a:r>
            <a:r>
              <a:rPr lang="en-US" altLang="en-US" sz="2000" dirty="0">
                <a:solidFill>
                  <a:srgbClr val="0000FF"/>
                </a:solidFill>
              </a:rPr>
              <a:t>latency improved 8–91 ×, while bandwidth improved about 400–32,000 ×. </a:t>
            </a:r>
            <a:endParaRPr lang="en-GB" sz="2000" dirty="0">
              <a:solidFill>
                <a:srgbClr val="0000FF"/>
              </a:solidFill>
              <a:latin typeface="Arial" charset="0"/>
            </a:endParaRPr>
          </a:p>
        </p:txBody>
      </p:sp>
      <p:pic>
        <p:nvPicPr>
          <p:cNvPr id="3" name="Picture 2"/>
          <p:cNvPicPr>
            <a:picLocks noChangeAspect="1"/>
          </p:cNvPicPr>
          <p:nvPr/>
        </p:nvPicPr>
        <p:blipFill>
          <a:blip r:embed="rId2"/>
          <a:stretch>
            <a:fillRect/>
          </a:stretch>
        </p:blipFill>
        <p:spPr>
          <a:xfrm>
            <a:off x="335360" y="1556792"/>
            <a:ext cx="5066216" cy="4536504"/>
          </a:xfrm>
          <a:prstGeom prst="rect">
            <a:avLst/>
          </a:prstGeom>
        </p:spPr>
      </p:pic>
      <p:sp>
        <p:nvSpPr>
          <p:cNvPr id="5" name="Rectangle 1"/>
          <p:cNvSpPr>
            <a:spLocks noChangeArrowheads="1"/>
          </p:cNvSpPr>
          <p:nvPr/>
        </p:nvSpPr>
        <p:spPr bwMode="auto">
          <a:xfrm>
            <a:off x="7104112" y="5661248"/>
            <a:ext cx="47534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dirty="0" smtClean="0">
                <a:solidFill>
                  <a:srgbClr val="0000FF"/>
                </a:solidFill>
              </a:rPr>
              <a:t>Relative </a:t>
            </a:r>
            <a:r>
              <a:rPr lang="en-US" altLang="en-US" dirty="0">
                <a:solidFill>
                  <a:srgbClr val="0000FF"/>
                </a:solidFill>
              </a:rPr>
              <a:t>bandwidth </a:t>
            </a:r>
            <a:r>
              <a:rPr lang="en-US" altLang="zh-CN" dirty="0" smtClean="0">
                <a:solidFill>
                  <a:srgbClr val="0000FF"/>
                </a:solidFill>
              </a:rPr>
              <a:t>improvement </a:t>
            </a:r>
            <a:r>
              <a:rPr lang="en-US" altLang="en-US" dirty="0" smtClean="0">
                <a:solidFill>
                  <a:srgbClr val="0000FF"/>
                </a:solidFill>
              </a:rPr>
              <a:t>over time</a:t>
            </a:r>
            <a:endParaRPr lang="en-US" altLang="en-US" dirty="0">
              <a:solidFill>
                <a:srgbClr val="0000FF"/>
              </a:solidFill>
            </a:endParaRPr>
          </a:p>
        </p:txBody>
      </p:sp>
      <p:pic>
        <p:nvPicPr>
          <p:cNvPr id="6" name="Picture 2" descr="Z:\WOMAT\Production\Artfinal\0000000038\MKCAD\978-0-12-811905-1\0003165540\XMLLowres\f01-23-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104" y="1844824"/>
            <a:ext cx="4287838"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479558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The Bottom Line: </a:t>
            </a:r>
            <a:br>
              <a:rPr lang="en-US" altLang="zh-CN"/>
            </a:br>
            <a:r>
              <a:rPr lang="en-US" altLang="zh-CN"/>
              <a:t>Performance (and Cost)</a:t>
            </a:r>
          </a:p>
        </p:txBody>
      </p:sp>
      <p:sp>
        <p:nvSpPr>
          <p:cNvPr id="43011" name="Rectangle 3"/>
          <p:cNvSpPr>
            <a:spLocks noChangeArrowheads="1"/>
          </p:cNvSpPr>
          <p:nvPr/>
        </p:nvSpPr>
        <p:spPr bwMode="auto">
          <a:xfrm>
            <a:off x="2209800" y="4648200"/>
            <a:ext cx="8077200"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285750" indent="-285750">
              <a:tabLst>
                <a:tab pos="2286000" algn="l"/>
              </a:tabLst>
              <a:defRPr kumimoji="1" sz="2400">
                <a:solidFill>
                  <a:schemeClr val="tx1"/>
                </a:solidFill>
                <a:latin typeface="Times New Roman" panose="02020603050405020304" pitchFamily="18" charset="0"/>
                <a:ea typeface="宋体" panose="02010600030101010101" pitchFamily="2" charset="-122"/>
              </a:defRPr>
            </a:lvl1pPr>
            <a:lvl2pPr marL="6858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3pPr>
            <a:lvl4pPr marL="15430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4pPr>
            <a:lvl5pPr marL="20002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5pPr>
            <a:lvl6pPr marL="24574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6pPr>
            <a:lvl7pPr marL="29146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7pPr>
            <a:lvl8pPr marL="33718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8pPr>
            <a:lvl9pPr marL="38290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b="1">
                <a:latin typeface="Arial" panose="020B0604020202020204" pitchFamily="34" charset="0"/>
              </a:rPr>
              <a:t>Time to run the task  (ExTime)</a:t>
            </a:r>
            <a:endParaRPr lang="en-US" altLang="zh-CN" sz="2000" b="1">
              <a:latin typeface="Arial" panose="020B0604020202020204" pitchFamily="34" charset="0"/>
            </a:endParaRPr>
          </a:p>
          <a:p>
            <a:pPr lvl="1">
              <a:lnSpc>
                <a:spcPct val="90000"/>
              </a:lnSpc>
              <a:spcBef>
                <a:spcPct val="30000"/>
              </a:spcBef>
              <a:buFontTx/>
              <a:buChar char="–"/>
            </a:pPr>
            <a:r>
              <a:rPr lang="en-US" altLang="zh-CN" sz="1800" b="1">
                <a:latin typeface="Arial" panose="020B0604020202020204" pitchFamily="34" charset="0"/>
              </a:rPr>
              <a:t>Execution time, response time, latency</a:t>
            </a:r>
            <a:endParaRPr lang="en-US" altLang="zh-CN" sz="2000">
              <a:latin typeface="Arial" panose="020B0604020202020204" pitchFamily="34" charset="0"/>
            </a:endParaRPr>
          </a:p>
          <a:p>
            <a:pPr>
              <a:lnSpc>
                <a:spcPct val="90000"/>
              </a:lnSpc>
              <a:spcBef>
                <a:spcPct val="30000"/>
              </a:spcBef>
              <a:buFontTx/>
              <a:buChar char="•"/>
            </a:pPr>
            <a:r>
              <a:rPr lang="en-US" altLang="zh-CN" b="1">
                <a:latin typeface="Arial" panose="020B0604020202020204" pitchFamily="34" charset="0"/>
              </a:rPr>
              <a:t>Tasks per day, hour, week, sec, ns ?(Performance)</a:t>
            </a:r>
          </a:p>
          <a:p>
            <a:pPr lvl="1">
              <a:lnSpc>
                <a:spcPct val="90000"/>
              </a:lnSpc>
              <a:spcBef>
                <a:spcPct val="30000"/>
              </a:spcBef>
              <a:buFontTx/>
              <a:buChar char="–"/>
            </a:pPr>
            <a:r>
              <a:rPr lang="en-US" altLang="zh-CN" sz="1800" b="1">
                <a:latin typeface="Arial" panose="020B0604020202020204" pitchFamily="34" charset="0"/>
              </a:rPr>
              <a:t>Throughput, bandwidth</a:t>
            </a:r>
          </a:p>
        </p:txBody>
      </p:sp>
      <p:sp>
        <p:nvSpPr>
          <p:cNvPr id="43012" name="Rectangle 4"/>
          <p:cNvSpPr>
            <a:spLocks noChangeArrowheads="1"/>
          </p:cNvSpPr>
          <p:nvPr/>
        </p:nvSpPr>
        <p:spPr bwMode="auto">
          <a:xfrm>
            <a:off x="2444750" y="1835150"/>
            <a:ext cx="1435100" cy="5207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Plane</a:t>
            </a:r>
          </a:p>
        </p:txBody>
      </p:sp>
      <p:sp>
        <p:nvSpPr>
          <p:cNvPr id="43013" name="Rectangle 5"/>
          <p:cNvSpPr>
            <a:spLocks noChangeArrowheads="1"/>
          </p:cNvSpPr>
          <p:nvPr/>
        </p:nvSpPr>
        <p:spPr bwMode="auto">
          <a:xfrm>
            <a:off x="2444750" y="2368550"/>
            <a:ext cx="1435100" cy="10541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Boeing 747</a:t>
            </a:r>
          </a:p>
        </p:txBody>
      </p:sp>
      <p:sp>
        <p:nvSpPr>
          <p:cNvPr id="43014" name="Rectangle 6"/>
          <p:cNvSpPr>
            <a:spLocks noChangeArrowheads="1"/>
          </p:cNvSpPr>
          <p:nvPr/>
        </p:nvSpPr>
        <p:spPr bwMode="auto">
          <a:xfrm>
            <a:off x="2444750" y="3435350"/>
            <a:ext cx="1435100" cy="10541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BAD/Sud Concodre</a:t>
            </a:r>
          </a:p>
        </p:txBody>
      </p:sp>
      <p:grpSp>
        <p:nvGrpSpPr>
          <p:cNvPr id="43018" name="Group 10"/>
          <p:cNvGrpSpPr>
            <a:grpSpLocks/>
          </p:cNvGrpSpPr>
          <p:nvPr/>
        </p:nvGrpSpPr>
        <p:grpSpPr bwMode="auto">
          <a:xfrm>
            <a:off x="5340350" y="1835150"/>
            <a:ext cx="1282700" cy="2654300"/>
            <a:chOff x="2404" y="1156"/>
            <a:chExt cx="808" cy="1672"/>
          </a:xfrm>
        </p:grpSpPr>
        <p:sp>
          <p:nvSpPr>
            <p:cNvPr id="43015" name="Rectangle 7"/>
            <p:cNvSpPr>
              <a:spLocks noChangeArrowheads="1"/>
            </p:cNvSpPr>
            <p:nvPr/>
          </p:nvSpPr>
          <p:spPr bwMode="auto">
            <a:xfrm>
              <a:off x="2404" y="1156"/>
              <a:ext cx="808"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Speed</a:t>
              </a:r>
            </a:p>
          </p:txBody>
        </p:sp>
        <p:sp>
          <p:nvSpPr>
            <p:cNvPr id="43016" name="Rectangle 8"/>
            <p:cNvSpPr>
              <a:spLocks noChangeArrowheads="1"/>
            </p:cNvSpPr>
            <p:nvPr/>
          </p:nvSpPr>
          <p:spPr bwMode="auto">
            <a:xfrm>
              <a:off x="2404" y="1492"/>
              <a:ext cx="808"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610 mph</a:t>
              </a:r>
            </a:p>
          </p:txBody>
        </p:sp>
        <p:sp>
          <p:nvSpPr>
            <p:cNvPr id="43017" name="Rectangle 9"/>
            <p:cNvSpPr>
              <a:spLocks noChangeArrowheads="1"/>
            </p:cNvSpPr>
            <p:nvPr/>
          </p:nvSpPr>
          <p:spPr bwMode="auto">
            <a:xfrm>
              <a:off x="2404" y="2164"/>
              <a:ext cx="808"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1350 mph</a:t>
              </a:r>
            </a:p>
          </p:txBody>
        </p:sp>
      </p:grpSp>
      <p:grpSp>
        <p:nvGrpSpPr>
          <p:cNvPr id="43022" name="Group 14"/>
          <p:cNvGrpSpPr>
            <a:grpSpLocks/>
          </p:cNvGrpSpPr>
          <p:nvPr/>
        </p:nvGrpSpPr>
        <p:grpSpPr bwMode="auto">
          <a:xfrm>
            <a:off x="3892550" y="1835150"/>
            <a:ext cx="1435100" cy="2654300"/>
            <a:chOff x="1492" y="1156"/>
            <a:chExt cx="904" cy="1672"/>
          </a:xfrm>
        </p:grpSpPr>
        <p:sp>
          <p:nvSpPr>
            <p:cNvPr id="43019" name="Rectangle 11"/>
            <p:cNvSpPr>
              <a:spLocks noChangeArrowheads="1"/>
            </p:cNvSpPr>
            <p:nvPr/>
          </p:nvSpPr>
          <p:spPr bwMode="auto">
            <a:xfrm>
              <a:off x="1492" y="1156"/>
              <a:ext cx="904"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DC to Paris</a:t>
              </a:r>
            </a:p>
          </p:txBody>
        </p:sp>
        <p:sp>
          <p:nvSpPr>
            <p:cNvPr id="43020" name="Rectangle 12"/>
            <p:cNvSpPr>
              <a:spLocks noChangeArrowheads="1"/>
            </p:cNvSpPr>
            <p:nvPr/>
          </p:nvSpPr>
          <p:spPr bwMode="auto">
            <a:xfrm>
              <a:off x="1492" y="1492"/>
              <a:ext cx="904"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6.5 hours</a:t>
              </a:r>
            </a:p>
          </p:txBody>
        </p:sp>
        <p:sp>
          <p:nvSpPr>
            <p:cNvPr id="43021" name="Rectangle 13"/>
            <p:cNvSpPr>
              <a:spLocks noChangeArrowheads="1"/>
            </p:cNvSpPr>
            <p:nvPr/>
          </p:nvSpPr>
          <p:spPr bwMode="auto">
            <a:xfrm>
              <a:off x="1492" y="2164"/>
              <a:ext cx="904"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3 hours</a:t>
              </a:r>
            </a:p>
          </p:txBody>
        </p:sp>
      </p:grpSp>
      <p:grpSp>
        <p:nvGrpSpPr>
          <p:cNvPr id="43026" name="Group 18"/>
          <p:cNvGrpSpPr>
            <a:grpSpLocks/>
          </p:cNvGrpSpPr>
          <p:nvPr/>
        </p:nvGrpSpPr>
        <p:grpSpPr bwMode="auto">
          <a:xfrm>
            <a:off x="6635750" y="1835150"/>
            <a:ext cx="1587500" cy="2654300"/>
            <a:chOff x="3220" y="1156"/>
            <a:chExt cx="1000" cy="1672"/>
          </a:xfrm>
        </p:grpSpPr>
        <p:sp>
          <p:nvSpPr>
            <p:cNvPr id="43023" name="Rectangle 15"/>
            <p:cNvSpPr>
              <a:spLocks noChangeArrowheads="1"/>
            </p:cNvSpPr>
            <p:nvPr/>
          </p:nvSpPr>
          <p:spPr bwMode="auto">
            <a:xfrm>
              <a:off x="3220" y="1156"/>
              <a:ext cx="1000"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Passengers</a:t>
              </a:r>
            </a:p>
          </p:txBody>
        </p:sp>
        <p:sp>
          <p:nvSpPr>
            <p:cNvPr id="43024" name="Rectangle 16"/>
            <p:cNvSpPr>
              <a:spLocks noChangeArrowheads="1"/>
            </p:cNvSpPr>
            <p:nvPr/>
          </p:nvSpPr>
          <p:spPr bwMode="auto">
            <a:xfrm>
              <a:off x="3220" y="1492"/>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470</a:t>
              </a:r>
            </a:p>
          </p:txBody>
        </p:sp>
        <p:sp>
          <p:nvSpPr>
            <p:cNvPr id="43025" name="Rectangle 17"/>
            <p:cNvSpPr>
              <a:spLocks noChangeArrowheads="1"/>
            </p:cNvSpPr>
            <p:nvPr/>
          </p:nvSpPr>
          <p:spPr bwMode="auto">
            <a:xfrm>
              <a:off x="3220" y="2164"/>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132</a:t>
              </a:r>
            </a:p>
          </p:txBody>
        </p:sp>
      </p:grpSp>
      <p:grpSp>
        <p:nvGrpSpPr>
          <p:cNvPr id="43030" name="Group 22"/>
          <p:cNvGrpSpPr>
            <a:grpSpLocks/>
          </p:cNvGrpSpPr>
          <p:nvPr/>
        </p:nvGrpSpPr>
        <p:grpSpPr bwMode="auto">
          <a:xfrm>
            <a:off x="8235950" y="1835150"/>
            <a:ext cx="1587500" cy="2654300"/>
            <a:chOff x="4228" y="1156"/>
            <a:chExt cx="1000" cy="1672"/>
          </a:xfrm>
        </p:grpSpPr>
        <p:sp>
          <p:nvSpPr>
            <p:cNvPr id="43027" name="Rectangle 19"/>
            <p:cNvSpPr>
              <a:spLocks noChangeArrowheads="1"/>
            </p:cNvSpPr>
            <p:nvPr/>
          </p:nvSpPr>
          <p:spPr bwMode="auto">
            <a:xfrm>
              <a:off x="4228" y="1156"/>
              <a:ext cx="1000"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Throughput (pmph)</a:t>
              </a:r>
            </a:p>
          </p:txBody>
        </p:sp>
        <p:sp>
          <p:nvSpPr>
            <p:cNvPr id="43028" name="Rectangle 20"/>
            <p:cNvSpPr>
              <a:spLocks noChangeArrowheads="1"/>
            </p:cNvSpPr>
            <p:nvPr/>
          </p:nvSpPr>
          <p:spPr bwMode="auto">
            <a:xfrm>
              <a:off x="4228" y="1492"/>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286,700</a:t>
              </a:r>
            </a:p>
          </p:txBody>
        </p:sp>
        <p:sp>
          <p:nvSpPr>
            <p:cNvPr id="43029" name="Rectangle 21"/>
            <p:cNvSpPr>
              <a:spLocks noChangeArrowheads="1"/>
            </p:cNvSpPr>
            <p:nvPr/>
          </p:nvSpPr>
          <p:spPr bwMode="auto">
            <a:xfrm>
              <a:off x="4228" y="2164"/>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178,200</a:t>
              </a:r>
            </a:p>
          </p:txBody>
        </p:sp>
      </p:grpSp>
    </p:spTree>
    <p:extLst>
      <p:ext uri="{BB962C8B-B14F-4D97-AF65-F5344CB8AC3E}">
        <p14:creationId xmlns:p14="http://schemas.microsoft.com/office/powerpoint/2010/main" val="2615231751"/>
      </p:ext>
    </p:extLst>
  </p:cSld>
  <p:clrMapOvr>
    <a:masterClrMapping/>
  </p:clrMapOvr>
  <p:transition>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The Bottom Line: </a:t>
            </a:r>
            <a:br>
              <a:rPr lang="en-US" altLang="zh-CN"/>
            </a:br>
            <a:r>
              <a:rPr lang="en-US" altLang="zh-CN"/>
              <a:t>Performance (and Cost)</a:t>
            </a:r>
          </a:p>
        </p:txBody>
      </p:sp>
      <p:sp>
        <p:nvSpPr>
          <p:cNvPr id="45059" name="Rectangle 3"/>
          <p:cNvSpPr>
            <a:spLocks noChangeArrowheads="1"/>
          </p:cNvSpPr>
          <p:nvPr/>
        </p:nvSpPr>
        <p:spPr bwMode="auto">
          <a:xfrm>
            <a:off x="2438400" y="1981200"/>
            <a:ext cx="7543800" cy="266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285750" indent="-285750">
              <a:tabLst>
                <a:tab pos="2286000" algn="l"/>
              </a:tabLst>
              <a:defRPr kumimoji="1" sz="2400">
                <a:solidFill>
                  <a:schemeClr val="tx1"/>
                </a:solidFill>
                <a:latin typeface="Times New Roman" panose="02020603050405020304" pitchFamily="18" charset="0"/>
                <a:ea typeface="宋体" panose="02010600030101010101" pitchFamily="2" charset="-122"/>
              </a:defRPr>
            </a:lvl1pPr>
            <a:lvl2pPr marL="6858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3pPr>
            <a:lvl4pPr marL="15430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4pPr>
            <a:lvl5pPr marL="20002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5pPr>
            <a:lvl6pPr marL="24574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6pPr>
            <a:lvl7pPr marL="29146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7pPr>
            <a:lvl8pPr marL="33718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8pPr>
            <a:lvl9pPr marL="38290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b="1">
                <a:latin typeface="Arial" panose="020B0604020202020204" pitchFamily="34" charset="0"/>
              </a:rPr>
              <a:t>"X is n times faster than Y"  means</a:t>
            </a:r>
            <a:br>
              <a:rPr lang="en-US" altLang="zh-CN" b="1">
                <a:latin typeface="Arial" panose="020B0604020202020204" pitchFamily="34" charset="0"/>
              </a:rPr>
            </a:br>
            <a:endParaRPr lang="en-US" altLang="zh-CN" b="1">
              <a:latin typeface="Arial" panose="020B0604020202020204" pitchFamily="34" charset="0"/>
            </a:endParaRPr>
          </a:p>
          <a:p>
            <a:pPr>
              <a:lnSpc>
                <a:spcPct val="90000"/>
              </a:lnSpc>
              <a:spcBef>
                <a:spcPct val="30000"/>
              </a:spcBef>
            </a:pPr>
            <a:r>
              <a:rPr lang="en-US" altLang="zh-CN">
                <a:latin typeface="Courier New" panose="02070309020205020404" pitchFamily="49" charset="0"/>
              </a:rPr>
              <a:t>	ExTime(Y)      Performance(X)  </a:t>
            </a:r>
          </a:p>
          <a:p>
            <a:pPr>
              <a:lnSpc>
                <a:spcPct val="90000"/>
              </a:lnSpc>
              <a:spcBef>
                <a:spcPct val="30000"/>
              </a:spcBef>
            </a:pPr>
            <a:r>
              <a:rPr lang="en-US" altLang="zh-CN">
                <a:latin typeface="Courier New" panose="02070309020205020404" pitchFamily="49" charset="0"/>
              </a:rPr>
              <a:t>	---------  =	 ---------------	</a:t>
            </a:r>
          </a:p>
          <a:p>
            <a:pPr>
              <a:lnSpc>
                <a:spcPct val="90000"/>
              </a:lnSpc>
              <a:spcBef>
                <a:spcPct val="30000"/>
              </a:spcBef>
            </a:pPr>
            <a:r>
              <a:rPr lang="en-US" altLang="zh-CN">
                <a:latin typeface="Courier New" panose="02070309020205020404" pitchFamily="49" charset="0"/>
              </a:rPr>
              <a:t>	ExTime(X)      Performance(Y)</a:t>
            </a:r>
            <a:r>
              <a:rPr lang="en-US" altLang="zh-CN" sz="2000">
                <a:latin typeface="Arial" panose="020B0604020202020204" pitchFamily="34" charset="0"/>
              </a:rPr>
              <a:t/>
            </a:r>
            <a:br>
              <a:rPr lang="en-US" altLang="zh-CN" sz="2000">
                <a:latin typeface="Arial" panose="020B0604020202020204" pitchFamily="34" charset="0"/>
              </a:rPr>
            </a:br>
            <a:r>
              <a:rPr lang="en-US" altLang="zh-CN" sz="2000">
                <a:latin typeface="Arial" panose="020B0604020202020204" pitchFamily="34" charset="0"/>
              </a:rPr>
              <a:t/>
            </a:r>
            <a:br>
              <a:rPr lang="en-US" altLang="zh-CN" sz="2000">
                <a:latin typeface="Arial" panose="020B0604020202020204" pitchFamily="34" charset="0"/>
              </a:rPr>
            </a:br>
            <a:endParaRPr lang="en-US" altLang="zh-CN" sz="2000">
              <a:latin typeface="Arial" panose="020B0604020202020204" pitchFamily="34" charset="0"/>
            </a:endParaRPr>
          </a:p>
          <a:p>
            <a:pPr>
              <a:lnSpc>
                <a:spcPct val="90000"/>
              </a:lnSpc>
              <a:spcBef>
                <a:spcPct val="30000"/>
              </a:spcBef>
              <a:buFontTx/>
              <a:buChar char="•"/>
            </a:pPr>
            <a:r>
              <a:rPr lang="en-US" altLang="zh-CN" b="1">
                <a:latin typeface="Arial" panose="020B0604020202020204" pitchFamily="34" charset="0"/>
              </a:rPr>
              <a:t>Speed of Concorde vs. Boeing 747</a:t>
            </a:r>
          </a:p>
          <a:p>
            <a:pPr>
              <a:lnSpc>
                <a:spcPct val="90000"/>
              </a:lnSpc>
              <a:spcBef>
                <a:spcPct val="30000"/>
              </a:spcBef>
            </a:pPr>
            <a:endParaRPr lang="en-US" altLang="zh-CN" b="1">
              <a:latin typeface="Arial" panose="020B0604020202020204" pitchFamily="34" charset="0"/>
            </a:endParaRPr>
          </a:p>
          <a:p>
            <a:pPr>
              <a:lnSpc>
                <a:spcPct val="90000"/>
              </a:lnSpc>
              <a:spcBef>
                <a:spcPct val="30000"/>
              </a:spcBef>
              <a:buFontTx/>
              <a:buChar char="•"/>
            </a:pPr>
            <a:r>
              <a:rPr lang="en-US" altLang="zh-CN" b="1">
                <a:latin typeface="Arial" panose="020B0604020202020204" pitchFamily="34" charset="0"/>
              </a:rPr>
              <a:t>Throughput of Boeing 747 vs. Concorde</a:t>
            </a:r>
            <a:endParaRPr lang="en-US" altLang="zh-CN" sz="2000">
              <a:latin typeface="Arial" panose="020B0604020202020204" pitchFamily="34" charset="0"/>
            </a:endParaRPr>
          </a:p>
          <a:p>
            <a:pPr>
              <a:lnSpc>
                <a:spcPct val="90000"/>
              </a:lnSpc>
              <a:spcBef>
                <a:spcPct val="30000"/>
              </a:spcBef>
            </a:pPr>
            <a:endParaRPr lang="en-US" altLang="zh-CN" sz="2000">
              <a:latin typeface="Arial" panose="020B0604020202020204" pitchFamily="34" charset="0"/>
            </a:endParaRPr>
          </a:p>
          <a:p>
            <a:pPr latinLnBrk="1">
              <a:lnSpc>
                <a:spcPct val="90000"/>
              </a:lnSpc>
              <a:spcBef>
                <a:spcPct val="30000"/>
              </a:spcBef>
            </a:pPr>
            <a:endParaRPr lang="en-US" altLang="zh-CN" sz="2000">
              <a:latin typeface="Arial" panose="020B0604020202020204" pitchFamily="34" charset="0"/>
            </a:endParaRPr>
          </a:p>
        </p:txBody>
      </p:sp>
    </p:spTree>
    <p:extLst>
      <p:ext uri="{BB962C8B-B14F-4D97-AF65-F5344CB8AC3E}">
        <p14:creationId xmlns:p14="http://schemas.microsoft.com/office/powerpoint/2010/main" val="3296250451"/>
      </p:ext>
    </p:extLst>
  </p:cSld>
  <p:clrMapOvr>
    <a:masterClrMapping/>
  </p:clrMapOvr>
  <p:transition>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dirty="0" smtClean="0"/>
              <a:t>Principles of Computer Design</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Take Advantage of Parallelism</a:t>
            </a:r>
          </a:p>
          <a:p>
            <a:pPr lvl="1">
              <a:lnSpc>
                <a:spcPct val="90000"/>
              </a:lnSpc>
            </a:pPr>
            <a:r>
              <a:rPr lang="en-US" dirty="0"/>
              <a:t>e.g. multiple processors, disks, memory banks, pipelining, multiple functional units</a:t>
            </a:r>
          </a:p>
          <a:p>
            <a:pPr>
              <a:lnSpc>
                <a:spcPct val="90000"/>
              </a:lnSpc>
            </a:pPr>
            <a:r>
              <a:rPr lang="en-US" dirty="0" smtClean="0"/>
              <a:t>Principle </a:t>
            </a:r>
            <a:r>
              <a:rPr lang="en-US" dirty="0"/>
              <a:t>of Locality</a:t>
            </a:r>
          </a:p>
          <a:p>
            <a:pPr lvl="1">
              <a:lnSpc>
                <a:spcPct val="90000"/>
              </a:lnSpc>
            </a:pPr>
            <a:r>
              <a:rPr lang="en-US" dirty="0"/>
              <a:t>Reuse of data and instructions</a:t>
            </a:r>
          </a:p>
          <a:p>
            <a:pPr>
              <a:lnSpc>
                <a:spcPct val="90000"/>
              </a:lnSpc>
            </a:pPr>
            <a:r>
              <a:rPr lang="en-US" dirty="0" smtClean="0"/>
              <a:t>Focus </a:t>
            </a:r>
            <a:r>
              <a:rPr lang="en-US" dirty="0"/>
              <a:t>on the Common Case</a:t>
            </a:r>
          </a:p>
          <a:p>
            <a:pPr lvl="1">
              <a:lnSpc>
                <a:spcPct val="90000"/>
              </a:lnSpc>
            </a:pPr>
            <a:r>
              <a:rPr lang="en-US" dirty="0"/>
              <a:t>Amdahl’s </a:t>
            </a:r>
            <a:r>
              <a:rPr lang="en-US" dirty="0" smtClean="0"/>
              <a:t>Law</a:t>
            </a:r>
            <a:r>
              <a:rPr lang="zh-CN" altLang="en-US" dirty="0" smtClean="0"/>
              <a:t>：改进某个部件所产生的效益，取决于该部件的使用频度</a:t>
            </a:r>
            <a:endParaRPr lang="en-US"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eaLnBrk="1" hangingPunct="1"/>
            <a:endParaRPr kumimoji="0" lang="en-US" sz="2400">
              <a:latin typeface="Times New Roman" pitchFamily="18" charset="0"/>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2"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784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339014" y="4725144"/>
            <a:ext cx="8009214" cy="690991"/>
          </a:xfrm>
          <a:prstGeom prst="rect">
            <a:avLst/>
          </a:prstGeom>
          <a:noFill/>
        </p:spPr>
      </p:pic>
      <p:sp>
        <p:nvSpPr>
          <p:cNvPr id="547844"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7843"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423592" y="5560645"/>
            <a:ext cx="5544617" cy="766978"/>
          </a:xfrm>
          <a:prstGeom prst="rect">
            <a:avLst/>
          </a:prstGeom>
          <a:noFill/>
        </p:spPr>
      </p:pic>
    </p:spTree>
    <p:extLst>
      <p:ext uri="{BB962C8B-B14F-4D97-AF65-F5344CB8AC3E}">
        <p14:creationId xmlns:p14="http://schemas.microsoft.com/office/powerpoint/2010/main" val="417253807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362200" y="6096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Amdahl's Law</a:t>
            </a:r>
          </a:p>
        </p:txBody>
      </p:sp>
      <p:sp>
        <p:nvSpPr>
          <p:cNvPr id="47107" name="Rectangle 3"/>
          <p:cNvSpPr>
            <a:spLocks noGrp="1" noChangeArrowheads="1"/>
          </p:cNvSpPr>
          <p:nvPr>
            <p:ph type="body" idx="1"/>
          </p:nvPr>
        </p:nvSpPr>
        <p:spPr>
          <a:xfrm>
            <a:off x="2133600" y="1600200"/>
            <a:ext cx="8153400" cy="48006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en-US" altLang="zh-CN"/>
              <a:t>Speedup due to enhancement E: </a:t>
            </a:r>
          </a:p>
          <a:p>
            <a:pPr>
              <a:buFont typeface="Wingdings" panose="05000000000000000000" pitchFamily="2" charset="2"/>
              <a:buNone/>
            </a:pPr>
            <a:r>
              <a:rPr lang="en-US" altLang="zh-CN" b="1">
                <a:latin typeface="Courier New" panose="02070309020205020404" pitchFamily="49" charset="0"/>
              </a:rPr>
              <a:t>   Speedup(E) = </a:t>
            </a:r>
            <a:endParaRPr lang="en-US" altLang="zh-CN" sz="3600"/>
          </a:p>
          <a:p>
            <a:pPr>
              <a:buFont typeface="Wingdings" panose="05000000000000000000" pitchFamily="2" charset="2"/>
              <a:buNone/>
            </a:pPr>
            <a:r>
              <a:rPr lang="en-US" altLang="zh-CN" sz="2000"/>
              <a:t> </a:t>
            </a:r>
            <a:r>
              <a:rPr lang="en-US" altLang="zh-CN" b="1">
                <a:latin typeface="Courier New" panose="02070309020205020404" pitchFamily="49" charset="0"/>
              </a:rPr>
              <a:t>ExTime</a:t>
            </a:r>
            <a:r>
              <a:rPr lang="en-US" altLang="zh-CN" sz="2400" b="1">
                <a:latin typeface="Courier New" panose="02070309020205020404" pitchFamily="49" charset="0"/>
              </a:rPr>
              <a:t> w/o E      </a:t>
            </a:r>
            <a:r>
              <a:rPr lang="en-US" altLang="zh-CN" b="1">
                <a:latin typeface="Courier New" panose="02070309020205020404" pitchFamily="49" charset="0"/>
              </a:rPr>
              <a:t>Performance</a:t>
            </a:r>
            <a:r>
              <a:rPr lang="en-US" altLang="zh-CN" sz="2400" b="1">
                <a:latin typeface="Courier New" panose="02070309020205020404" pitchFamily="49" charset="0"/>
              </a:rPr>
              <a:t> w/  E</a:t>
            </a:r>
          </a:p>
          <a:p>
            <a:pPr>
              <a:buFont typeface="Wingdings" panose="05000000000000000000" pitchFamily="2" charset="2"/>
              <a:buNone/>
            </a:pPr>
            <a:r>
              <a:rPr lang="en-US" altLang="zh-CN" b="1">
                <a:latin typeface="Courier New" panose="02070309020205020404" pitchFamily="49" charset="0"/>
              </a:rPr>
              <a:t>------------- = -------------------</a:t>
            </a:r>
            <a:endParaRPr lang="en-US" altLang="zh-CN" sz="2400" b="1">
              <a:latin typeface="Courier New" panose="02070309020205020404" pitchFamily="49" charset="0"/>
            </a:endParaRPr>
          </a:p>
          <a:p>
            <a:pPr>
              <a:buFont typeface="Wingdings" panose="05000000000000000000" pitchFamily="2" charset="2"/>
              <a:buNone/>
            </a:pPr>
            <a:r>
              <a:rPr lang="en-US" altLang="zh-CN" b="1">
                <a:latin typeface="Courier New" panose="02070309020205020404" pitchFamily="49" charset="0"/>
              </a:rPr>
              <a:t>ExTime</a:t>
            </a:r>
            <a:r>
              <a:rPr lang="en-US" altLang="zh-CN" sz="2400" b="1">
                <a:latin typeface="Courier New" panose="02070309020205020404" pitchFamily="49" charset="0"/>
              </a:rPr>
              <a:t> w/  E      </a:t>
            </a:r>
            <a:r>
              <a:rPr lang="en-US" altLang="zh-CN" b="1">
                <a:latin typeface="Courier New" panose="02070309020205020404" pitchFamily="49" charset="0"/>
              </a:rPr>
              <a:t>Performance</a:t>
            </a:r>
            <a:r>
              <a:rPr lang="en-US" altLang="zh-CN" sz="2400" b="1">
                <a:latin typeface="Courier New" panose="02070309020205020404" pitchFamily="49" charset="0"/>
              </a:rPr>
              <a:t> w/o E</a:t>
            </a:r>
          </a:p>
          <a:p>
            <a:pPr>
              <a:buFont typeface="Wingdings" panose="05000000000000000000" pitchFamily="2" charset="2"/>
              <a:buNone/>
            </a:pPr>
            <a:endParaRPr lang="en-US" altLang="zh-CN" sz="2400"/>
          </a:p>
          <a:p>
            <a:pPr>
              <a:buFont typeface="Wingdings" panose="05000000000000000000" pitchFamily="2" charset="2"/>
              <a:buNone/>
            </a:pPr>
            <a:endParaRPr lang="en-US" altLang="zh-CN" sz="2400"/>
          </a:p>
          <a:p>
            <a:pPr>
              <a:buFont typeface="Wingdings" panose="05000000000000000000" pitchFamily="2" charset="2"/>
              <a:buNone/>
            </a:pPr>
            <a:r>
              <a:rPr lang="en-US" altLang="zh-CN"/>
              <a:t>Suppose that enhancement E accelerates a fraction F of the task by a factor S, and the remainder of the task is unaffected</a:t>
            </a:r>
          </a:p>
        </p:txBody>
      </p:sp>
      <p:sp>
        <p:nvSpPr>
          <p:cNvPr id="47108" name="Rectangle 4"/>
          <p:cNvSpPr>
            <a:spLocks noChangeArrowheads="1"/>
          </p:cNvSpPr>
          <p:nvPr/>
        </p:nvSpPr>
        <p:spPr bwMode="auto">
          <a:xfrm>
            <a:off x="22860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 name="Rectangle 5"/>
          <p:cNvSpPr>
            <a:spLocks noChangeArrowheads="1"/>
          </p:cNvSpPr>
          <p:nvPr/>
        </p:nvSpPr>
        <p:spPr bwMode="auto">
          <a:xfrm>
            <a:off x="3352800" y="4267200"/>
            <a:ext cx="1358900" cy="3683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 name="Rectangle 6"/>
          <p:cNvSpPr>
            <a:spLocks noChangeArrowheads="1"/>
          </p:cNvSpPr>
          <p:nvPr/>
        </p:nvSpPr>
        <p:spPr bwMode="auto">
          <a:xfrm>
            <a:off x="47244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 name="Rectangle 7"/>
          <p:cNvSpPr>
            <a:spLocks noChangeArrowheads="1"/>
          </p:cNvSpPr>
          <p:nvPr/>
        </p:nvSpPr>
        <p:spPr bwMode="auto">
          <a:xfrm>
            <a:off x="68580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 name="Rectangle 8"/>
          <p:cNvSpPr>
            <a:spLocks noChangeArrowheads="1"/>
          </p:cNvSpPr>
          <p:nvPr/>
        </p:nvSpPr>
        <p:spPr bwMode="auto">
          <a:xfrm>
            <a:off x="7924800" y="4267200"/>
            <a:ext cx="596900" cy="3683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 name="Rectangle 9"/>
          <p:cNvSpPr>
            <a:spLocks noChangeArrowheads="1"/>
          </p:cNvSpPr>
          <p:nvPr/>
        </p:nvSpPr>
        <p:spPr bwMode="auto">
          <a:xfrm>
            <a:off x="85344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 name="Line 10"/>
          <p:cNvSpPr>
            <a:spLocks noChangeShapeType="1"/>
          </p:cNvSpPr>
          <p:nvPr/>
        </p:nvSpPr>
        <p:spPr bwMode="auto">
          <a:xfrm>
            <a:off x="6032500" y="4489450"/>
            <a:ext cx="495300"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136377205"/>
      </p:ext>
    </p:extLst>
  </p:cSld>
  <p:clrMapOvr>
    <a:masterClrMapping/>
  </p:clrMapOvr>
  <p:transition>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Amdahl’s Law</a:t>
            </a:r>
          </a:p>
        </p:txBody>
      </p:sp>
      <p:sp>
        <p:nvSpPr>
          <p:cNvPr id="50179" name="Rectangle 3"/>
          <p:cNvSpPr>
            <a:spLocks noGrp="1" noChangeArrowheads="1"/>
          </p:cNvSpPr>
          <p:nvPr>
            <p:ph type="body" idx="1"/>
          </p:nvPr>
        </p:nvSpPr>
        <p:spPr>
          <a:xfrm>
            <a:off x="2209800" y="1600200"/>
            <a:ext cx="7620000" cy="838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Floating point instructions improved to run 2X; but only 10% of actual instructions are FP</a:t>
            </a:r>
          </a:p>
        </p:txBody>
      </p:sp>
      <p:sp>
        <p:nvSpPr>
          <p:cNvPr id="50180" name="Rectangle 4"/>
          <p:cNvSpPr>
            <a:spLocks noChangeArrowheads="1"/>
          </p:cNvSpPr>
          <p:nvPr/>
        </p:nvSpPr>
        <p:spPr bwMode="auto">
          <a:xfrm>
            <a:off x="2500313" y="4252913"/>
            <a:ext cx="214321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Speedup</a:t>
            </a:r>
            <a:r>
              <a:rPr lang="en-US" altLang="zh-CN" sz="2400" b="1" baseline="-25000"/>
              <a:t>overall</a:t>
            </a:r>
          </a:p>
        </p:txBody>
      </p:sp>
      <p:sp>
        <p:nvSpPr>
          <p:cNvPr id="50181" name="Rectangle 5"/>
          <p:cNvSpPr>
            <a:spLocks noChangeArrowheads="1"/>
          </p:cNvSpPr>
          <p:nvPr/>
        </p:nvSpPr>
        <p:spPr bwMode="auto">
          <a:xfrm>
            <a:off x="4633913" y="4252913"/>
            <a:ext cx="36228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50182" name="Rectangle 6"/>
          <p:cNvSpPr>
            <a:spLocks noChangeArrowheads="1"/>
          </p:cNvSpPr>
          <p:nvPr/>
        </p:nvSpPr>
        <p:spPr bwMode="auto">
          <a:xfrm>
            <a:off x="2195514" y="3414713"/>
            <a:ext cx="1868333"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ExTime</a:t>
            </a:r>
            <a:r>
              <a:rPr lang="en-US" altLang="zh-CN" sz="2400" b="1" baseline="-25000"/>
              <a:t>new</a:t>
            </a:r>
            <a:r>
              <a:rPr lang="en-US" altLang="zh-CN" sz="2000" b="1" baseline="-25000"/>
              <a:t> </a:t>
            </a:r>
            <a:r>
              <a:rPr lang="en-US" altLang="zh-CN" sz="2000" b="1"/>
              <a:t>=</a:t>
            </a:r>
          </a:p>
        </p:txBody>
      </p:sp>
    </p:spTree>
    <p:extLst>
      <p:ext uri="{BB962C8B-B14F-4D97-AF65-F5344CB8AC3E}">
        <p14:creationId xmlns:p14="http://schemas.microsoft.com/office/powerpoint/2010/main" val="398547399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zh-CN" smtClean="0"/>
              <a:t>Amdahl’s Law</a:t>
            </a:r>
            <a:endParaRPr lang="en-US" altLang="zh-CN"/>
          </a:p>
        </p:txBody>
      </p:sp>
      <p:sp>
        <p:nvSpPr>
          <p:cNvPr id="51203" name="Rectangle 3"/>
          <p:cNvSpPr>
            <a:spLocks noGrp="1" noChangeArrowheads="1"/>
          </p:cNvSpPr>
          <p:nvPr>
            <p:ph type="body" idx="1"/>
          </p:nvPr>
        </p:nvSpPr>
        <p:spPr>
          <a:xfrm>
            <a:off x="838200" y="1556792"/>
            <a:ext cx="10515600" cy="4752528"/>
          </a:xfrm>
        </p:spPr>
        <p:txBody>
          <a:bodyPr/>
          <a:lstStyle/>
          <a:p>
            <a:r>
              <a:rPr lang="en-US" altLang="zh-CN" dirty="0" smtClean="0"/>
              <a:t>Floating point instructions improved to run 2X; but only 10% of actual instructions are FP</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Make the most common case Fast!</a:t>
            </a:r>
            <a:endParaRPr lang="en-US" altLang="zh-CN" dirty="0"/>
          </a:p>
        </p:txBody>
      </p:sp>
      <p:sp>
        <p:nvSpPr>
          <p:cNvPr id="51204" name="Rectangle 4"/>
          <p:cNvSpPr>
            <a:spLocks noChangeArrowheads="1"/>
          </p:cNvSpPr>
          <p:nvPr/>
        </p:nvSpPr>
        <p:spPr bwMode="auto">
          <a:xfrm>
            <a:off x="2500313" y="4252913"/>
            <a:ext cx="214321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Speedup</a:t>
            </a:r>
            <a:r>
              <a:rPr lang="en-US" altLang="zh-CN" sz="2400" b="1" baseline="-25000"/>
              <a:t>overall</a:t>
            </a:r>
          </a:p>
        </p:txBody>
      </p:sp>
      <p:sp>
        <p:nvSpPr>
          <p:cNvPr id="51205" name="Rectangle 5"/>
          <p:cNvSpPr>
            <a:spLocks noChangeArrowheads="1"/>
          </p:cNvSpPr>
          <p:nvPr/>
        </p:nvSpPr>
        <p:spPr bwMode="auto">
          <a:xfrm>
            <a:off x="4633913" y="4252913"/>
            <a:ext cx="36228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51206" name="Rectangle 6"/>
          <p:cNvSpPr>
            <a:spLocks noChangeArrowheads="1"/>
          </p:cNvSpPr>
          <p:nvPr/>
        </p:nvSpPr>
        <p:spPr bwMode="auto">
          <a:xfrm>
            <a:off x="6157914" y="41005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1</a:t>
            </a:r>
          </a:p>
        </p:txBody>
      </p:sp>
      <p:sp>
        <p:nvSpPr>
          <p:cNvPr id="51207" name="Line 7"/>
          <p:cNvSpPr>
            <a:spLocks noChangeShapeType="1"/>
          </p:cNvSpPr>
          <p:nvPr/>
        </p:nvSpPr>
        <p:spPr bwMode="auto">
          <a:xfrm>
            <a:off x="5880100" y="4495800"/>
            <a:ext cx="889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08" name="Rectangle 8"/>
          <p:cNvSpPr>
            <a:spLocks noChangeArrowheads="1"/>
          </p:cNvSpPr>
          <p:nvPr/>
        </p:nvSpPr>
        <p:spPr bwMode="auto">
          <a:xfrm>
            <a:off x="5929313" y="4557713"/>
            <a:ext cx="78226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0.95</a:t>
            </a:r>
          </a:p>
        </p:txBody>
      </p:sp>
      <p:sp>
        <p:nvSpPr>
          <p:cNvPr id="51209" name="Rectangle 9"/>
          <p:cNvSpPr>
            <a:spLocks noChangeArrowheads="1"/>
          </p:cNvSpPr>
          <p:nvPr/>
        </p:nvSpPr>
        <p:spPr bwMode="auto">
          <a:xfrm>
            <a:off x="7834313" y="4252913"/>
            <a:ext cx="36228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51210" name="Rectangle 10"/>
          <p:cNvSpPr>
            <a:spLocks noChangeArrowheads="1"/>
          </p:cNvSpPr>
          <p:nvPr/>
        </p:nvSpPr>
        <p:spPr bwMode="auto">
          <a:xfrm>
            <a:off x="8367713" y="4252913"/>
            <a:ext cx="95378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1.053</a:t>
            </a:r>
          </a:p>
        </p:txBody>
      </p:sp>
      <p:sp>
        <p:nvSpPr>
          <p:cNvPr id="51211" name="Rectangle 11"/>
          <p:cNvSpPr>
            <a:spLocks noChangeArrowheads="1"/>
          </p:cNvSpPr>
          <p:nvPr/>
        </p:nvSpPr>
        <p:spPr bwMode="auto">
          <a:xfrm>
            <a:off x="2195514" y="3414713"/>
            <a:ext cx="803034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ExTime</a:t>
            </a:r>
            <a:r>
              <a:rPr lang="en-US" altLang="zh-CN" sz="2400" b="1" baseline="-25000"/>
              <a:t>new</a:t>
            </a:r>
            <a:r>
              <a:rPr lang="en-US" altLang="zh-CN" sz="2000" b="1" baseline="-25000"/>
              <a:t> </a:t>
            </a:r>
            <a:r>
              <a:rPr lang="en-US" altLang="zh-CN" sz="2000" b="1"/>
              <a:t>= </a:t>
            </a:r>
            <a:r>
              <a:rPr lang="en-US" altLang="zh-CN" sz="2400" b="1"/>
              <a:t>ExTime</a:t>
            </a:r>
            <a:r>
              <a:rPr lang="en-US" altLang="zh-CN" sz="2400" b="1" baseline="-25000"/>
              <a:t>old</a:t>
            </a:r>
            <a:r>
              <a:rPr lang="en-US" altLang="zh-CN" sz="2400" b="1"/>
              <a:t> x  (0.9 +  .1/2) = 0.95 x ExTime</a:t>
            </a:r>
            <a:r>
              <a:rPr lang="en-US" altLang="zh-CN" sz="2400" b="1" baseline="-25000"/>
              <a:t>old</a:t>
            </a:r>
          </a:p>
        </p:txBody>
      </p:sp>
    </p:spTree>
    <p:extLst>
      <p:ext uri="{BB962C8B-B14F-4D97-AF65-F5344CB8AC3E}">
        <p14:creationId xmlns:p14="http://schemas.microsoft.com/office/powerpoint/2010/main" val="126993285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dirty="0" smtClean="0"/>
              <a:t>Principles of Computer Design</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The Processor Performance Equation</a:t>
            </a:r>
          </a:p>
          <a:p>
            <a:pPr>
              <a:lnSpc>
                <a:spcPct val="90000"/>
              </a:lnSpc>
              <a:buNone/>
            </a:pPr>
            <a:endParaRPr lang="en-US" sz="2400"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eaLnBrk="1" hangingPunct="1"/>
            <a:endParaRPr kumimoji="0" lang="en-US" sz="2400">
              <a:latin typeface="Times New Roman" pitchFamily="18" charset="0"/>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2"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4"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38"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37"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279576" y="2222004"/>
            <a:ext cx="7560840" cy="360040"/>
          </a:xfrm>
          <a:prstGeom prst="rect">
            <a:avLst/>
          </a:prstGeom>
          <a:noFill/>
        </p:spPr>
      </p:pic>
      <p:sp>
        <p:nvSpPr>
          <p:cNvPr id="551940"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39"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927649" y="2942085"/>
            <a:ext cx="5415355" cy="674365"/>
          </a:xfrm>
          <a:prstGeom prst="rect">
            <a:avLst/>
          </a:prstGeom>
          <a:noFill/>
        </p:spPr>
      </p:pic>
      <p:sp>
        <p:nvSpPr>
          <p:cNvPr id="551942" name="Rectangle 6"/>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41"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431705" y="4022205"/>
            <a:ext cx="4720555" cy="674365"/>
          </a:xfrm>
          <a:prstGeom prst="rect">
            <a:avLst/>
          </a:prstGeom>
          <a:noFill/>
        </p:spPr>
      </p:pic>
      <p:sp>
        <p:nvSpPr>
          <p:cNvPr id="551944" name="Rectangle 8"/>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43" name="Picture 7"/>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207568" y="5030317"/>
            <a:ext cx="7848872" cy="318197"/>
          </a:xfrm>
          <a:prstGeom prst="rect">
            <a:avLst/>
          </a:prstGeom>
          <a:noFill/>
        </p:spPr>
      </p:pic>
      <p:sp>
        <p:nvSpPr>
          <p:cNvPr id="551946" name="Rectangle 10"/>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45" name="Picture 9"/>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2999657" y="5750396"/>
            <a:ext cx="6086061" cy="558924"/>
          </a:xfrm>
          <a:prstGeom prst="rect">
            <a:avLst/>
          </a:prstGeom>
          <a:noFill/>
        </p:spPr>
      </p:pic>
    </p:spTree>
    <p:extLst>
      <p:ext uri="{BB962C8B-B14F-4D97-AF65-F5344CB8AC3E}">
        <p14:creationId xmlns:p14="http://schemas.microsoft.com/office/powerpoint/2010/main" val="222715097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dirty="0" smtClean="0"/>
              <a:t>Principles of Computer Design</a:t>
            </a:r>
            <a:endParaRPr lang="en-AU"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eaLnBrk="1" hangingPunct="1"/>
            <a:endParaRPr kumimoji="0" lang="en-US" sz="2400">
              <a:latin typeface="Times New Roman" pitchFamily="18" charset="0"/>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2"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4"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38"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0"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2" name="Rectangle 6"/>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4" name="Rectangle 8"/>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6" name="Rectangle 10"/>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3986"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3985"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295800" y="2708920"/>
            <a:ext cx="3669966" cy="870198"/>
          </a:xfrm>
          <a:prstGeom prst="rect">
            <a:avLst/>
          </a:prstGeom>
          <a:noFill/>
        </p:spPr>
      </p:pic>
      <p:sp>
        <p:nvSpPr>
          <p:cNvPr id="26" name="Content Placeholder 25"/>
          <p:cNvSpPr>
            <a:spLocks noGrp="1"/>
          </p:cNvSpPr>
          <p:nvPr>
            <p:ph idx="1"/>
          </p:nvPr>
        </p:nvSpPr>
        <p:spPr/>
        <p:txBody>
          <a:bodyPr/>
          <a:lstStyle/>
          <a:p>
            <a:r>
              <a:rPr lang="en-US" dirty="0" smtClean="0"/>
              <a:t>Different instruction types have different CPIs</a:t>
            </a:r>
          </a:p>
          <a:p>
            <a:pPr lvl="1"/>
            <a:r>
              <a:rPr lang="en-US" dirty="0" smtClean="0"/>
              <a:t>Different programs may have different CPIs too</a:t>
            </a:r>
          </a:p>
          <a:p>
            <a:pPr lvl="1"/>
            <a:endParaRPr lang="en-US" dirty="0"/>
          </a:p>
          <a:p>
            <a:pPr lvl="1"/>
            <a:endParaRPr lang="en-US" dirty="0" smtClean="0"/>
          </a:p>
          <a:p>
            <a:pPr lvl="1"/>
            <a:endParaRPr lang="en-US" dirty="0"/>
          </a:p>
          <a:p>
            <a:pPr lvl="1"/>
            <a:endParaRPr lang="en-US" dirty="0" smtClean="0"/>
          </a:p>
          <a:p>
            <a:pPr lvl="1"/>
            <a:endParaRPr lang="en-US" dirty="0"/>
          </a:p>
          <a:p>
            <a:pPr lvl="1"/>
            <a:endParaRPr lang="en-US" dirty="0" smtClean="0"/>
          </a:p>
          <a:p>
            <a:pPr lvl="1"/>
            <a:endParaRPr lang="en-US" dirty="0"/>
          </a:p>
          <a:p>
            <a:pPr lvl="1"/>
            <a:r>
              <a:rPr lang="en-US" dirty="0" smtClean="0"/>
              <a:t>Suppose there are totally </a:t>
            </a:r>
            <a:r>
              <a:rPr lang="en-US" i="1" dirty="0" smtClean="0"/>
              <a:t>n</a:t>
            </a:r>
            <a:r>
              <a:rPr lang="en-US" dirty="0" smtClean="0"/>
              <a:t> instructions in the ISA</a:t>
            </a:r>
            <a:endParaRPr lang="en-US" dirty="0"/>
          </a:p>
        </p:txBody>
      </p:sp>
      <p:sp>
        <p:nvSpPr>
          <p:cNvPr id="553988"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3987"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575721" y="4077073"/>
            <a:ext cx="5091475" cy="845815"/>
          </a:xfrm>
          <a:prstGeom prst="rect">
            <a:avLst/>
          </a:prstGeom>
          <a:noFill/>
        </p:spPr>
      </p:pic>
    </p:spTree>
    <p:extLst>
      <p:ext uri="{BB962C8B-B14F-4D97-AF65-F5344CB8AC3E}">
        <p14:creationId xmlns:p14="http://schemas.microsoft.com/office/powerpoint/2010/main" val="311545345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362200" y="4572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Aspects of CPU Performance</a:t>
            </a:r>
          </a:p>
        </p:txBody>
      </p:sp>
      <p:grpSp>
        <p:nvGrpSpPr>
          <p:cNvPr id="53256" name="Group 8"/>
          <p:cNvGrpSpPr>
            <a:grpSpLocks/>
          </p:cNvGrpSpPr>
          <p:nvPr/>
        </p:nvGrpSpPr>
        <p:grpSpPr bwMode="auto">
          <a:xfrm>
            <a:off x="2279650" y="1620837"/>
            <a:ext cx="7696200" cy="655637"/>
            <a:chOff x="476" y="896"/>
            <a:chExt cx="4848" cy="413"/>
          </a:xfrm>
        </p:grpSpPr>
        <p:sp>
          <p:nvSpPr>
            <p:cNvPr id="53251" name="Rectangle 3"/>
            <p:cNvSpPr>
              <a:spLocks noChangeArrowheads="1"/>
            </p:cNvSpPr>
            <p:nvPr/>
          </p:nvSpPr>
          <p:spPr bwMode="auto">
            <a:xfrm>
              <a:off x="476" y="902"/>
              <a:ext cx="4848" cy="40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63500" tIns="25400" rIns="63500" bIns="25400">
              <a:spAutoFit/>
            </a:bodyPr>
            <a:lstStyle>
              <a:lvl1pPr marL="3429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0000"/>
                </a:spcBef>
              </a:pPr>
              <a:r>
                <a:rPr lang="en-US" altLang="zh-CN" sz="1800" b="1" dirty="0">
                  <a:latin typeface="Arial" panose="020B0604020202020204" pitchFamily="34" charset="0"/>
                </a:rPr>
                <a:t>CPU time	=  Seconds    =   Instructions  x    Cycles     x   Seconds</a:t>
              </a:r>
            </a:p>
            <a:p>
              <a:pPr>
                <a:lnSpc>
                  <a:spcPct val="86000"/>
                </a:lnSpc>
                <a:spcBef>
                  <a:spcPct val="40000"/>
                </a:spcBef>
              </a:pPr>
              <a:r>
                <a:rPr lang="en-US" altLang="zh-CN" sz="1800" b="1" dirty="0">
                  <a:latin typeface="Arial" panose="020B0604020202020204" pitchFamily="34" charset="0"/>
                </a:rPr>
                <a:t>		    Program	    Program          Instruction       Cycle</a:t>
              </a:r>
            </a:p>
          </p:txBody>
        </p:sp>
        <p:sp>
          <p:nvSpPr>
            <p:cNvPr id="53252" name="Line 4"/>
            <p:cNvSpPr>
              <a:spLocks noChangeShapeType="1"/>
            </p:cNvSpPr>
            <p:nvPr/>
          </p:nvSpPr>
          <p:spPr bwMode="auto">
            <a:xfrm>
              <a:off x="1508" y="896"/>
              <a:ext cx="56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3" name="Line 5"/>
            <p:cNvSpPr>
              <a:spLocks noChangeShapeType="1"/>
            </p:cNvSpPr>
            <p:nvPr/>
          </p:nvSpPr>
          <p:spPr bwMode="auto">
            <a:xfrm>
              <a:off x="2540" y="912"/>
              <a:ext cx="7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 name="Line 6"/>
            <p:cNvSpPr>
              <a:spLocks noChangeShapeType="1"/>
            </p:cNvSpPr>
            <p:nvPr/>
          </p:nvSpPr>
          <p:spPr bwMode="auto">
            <a:xfrm>
              <a:off x="3604" y="928"/>
              <a:ext cx="6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5" name="Line 7"/>
            <p:cNvSpPr>
              <a:spLocks noChangeShapeType="1"/>
            </p:cNvSpPr>
            <p:nvPr/>
          </p:nvSpPr>
          <p:spPr bwMode="auto">
            <a:xfrm>
              <a:off x="4528" y="912"/>
              <a:ext cx="5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257" name="Rectangle 9"/>
          <p:cNvSpPr>
            <a:spLocks noGrp="1" noChangeArrowheads="1"/>
          </p:cNvSpPr>
          <p:nvPr>
            <p:ph type="body" idx="1"/>
          </p:nvPr>
        </p:nvSpPr>
        <p:spPr>
          <a:xfrm>
            <a:off x="2438400" y="2561456"/>
            <a:ext cx="7543800" cy="3886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ts val="600"/>
              </a:spcBef>
              <a:buNone/>
              <a:tabLst>
                <a:tab pos="1828800" algn="l"/>
                <a:tab pos="3657600" algn="l"/>
                <a:tab pos="5029200" algn="l"/>
              </a:tabLst>
            </a:pPr>
            <a:r>
              <a:rPr lang="en-US" altLang="zh-CN" sz="2400" dirty="0"/>
              <a:t>		   </a:t>
            </a:r>
            <a:r>
              <a:rPr lang="en-US" altLang="zh-CN" dirty="0" err="1"/>
              <a:t>Inst</a:t>
            </a:r>
            <a:r>
              <a:rPr lang="en-US" altLang="zh-CN" dirty="0"/>
              <a:t> Count   CPI	Clock Rate</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Program	          X	</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Compiler	          X	    (X)</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Inst. Set.	          X	     X</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Organization	     X		  X</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Technology				  X</a:t>
            </a:r>
          </a:p>
        </p:txBody>
      </p:sp>
      <p:sp>
        <p:nvSpPr>
          <p:cNvPr id="53258" name="Line 10"/>
          <p:cNvSpPr>
            <a:spLocks noChangeShapeType="1"/>
          </p:cNvSpPr>
          <p:nvPr/>
        </p:nvSpPr>
        <p:spPr bwMode="auto">
          <a:xfrm flipV="1">
            <a:off x="4655840" y="2850852"/>
            <a:ext cx="0" cy="3746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9" name="Line 11"/>
          <p:cNvSpPr>
            <a:spLocks noChangeShapeType="1"/>
          </p:cNvSpPr>
          <p:nvPr/>
        </p:nvSpPr>
        <p:spPr bwMode="auto">
          <a:xfrm>
            <a:off x="6312024" y="2888952"/>
            <a:ext cx="0" cy="3708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0" name="Line 12"/>
          <p:cNvSpPr>
            <a:spLocks noChangeShapeType="1"/>
          </p:cNvSpPr>
          <p:nvPr/>
        </p:nvSpPr>
        <p:spPr bwMode="auto">
          <a:xfrm>
            <a:off x="7464152" y="2850852"/>
            <a:ext cx="0" cy="3721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1" name="Line 13"/>
          <p:cNvSpPr>
            <a:spLocks noChangeShapeType="1"/>
          </p:cNvSpPr>
          <p:nvPr/>
        </p:nvSpPr>
        <p:spPr bwMode="auto">
          <a:xfrm>
            <a:off x="9626600" y="2681436"/>
            <a:ext cx="0" cy="3771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2" name="Line 14"/>
          <p:cNvSpPr>
            <a:spLocks noChangeShapeType="1"/>
          </p:cNvSpPr>
          <p:nvPr/>
        </p:nvSpPr>
        <p:spPr bwMode="auto">
          <a:xfrm>
            <a:off x="2692400" y="3691086"/>
            <a:ext cx="6902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3" name="Line 15"/>
          <p:cNvSpPr>
            <a:spLocks noChangeShapeType="1"/>
          </p:cNvSpPr>
          <p:nvPr/>
        </p:nvSpPr>
        <p:spPr bwMode="auto">
          <a:xfrm>
            <a:off x="2673350" y="4370536"/>
            <a:ext cx="6921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4" name="Line 16"/>
          <p:cNvSpPr>
            <a:spLocks noChangeShapeType="1"/>
          </p:cNvSpPr>
          <p:nvPr/>
        </p:nvSpPr>
        <p:spPr bwMode="auto">
          <a:xfrm>
            <a:off x="2673350" y="5100786"/>
            <a:ext cx="6921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7"/>
          <p:cNvSpPr>
            <a:spLocks noChangeShapeType="1"/>
          </p:cNvSpPr>
          <p:nvPr/>
        </p:nvSpPr>
        <p:spPr bwMode="auto">
          <a:xfrm>
            <a:off x="2673350" y="5877272"/>
            <a:ext cx="6902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6" name="Line 18"/>
          <p:cNvSpPr>
            <a:spLocks noChangeShapeType="1"/>
          </p:cNvSpPr>
          <p:nvPr/>
        </p:nvSpPr>
        <p:spPr bwMode="auto">
          <a:xfrm>
            <a:off x="2654300" y="6597352"/>
            <a:ext cx="688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7" name="Line 19"/>
          <p:cNvSpPr>
            <a:spLocks noChangeShapeType="1"/>
          </p:cNvSpPr>
          <p:nvPr/>
        </p:nvSpPr>
        <p:spPr bwMode="auto">
          <a:xfrm>
            <a:off x="2654300" y="3094186"/>
            <a:ext cx="69405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5957502"/>
      </p:ext>
    </p:extLst>
  </p:cSld>
  <p:clrMapOvr>
    <a:masterClrMapping/>
  </p:clrMapOvr>
  <p:transition>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286000" y="6096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smtClean="0"/>
              <a:t>Cycles Per Instruction</a:t>
            </a:r>
            <a:endParaRPr lang="en-US" altLang="zh-CN"/>
          </a:p>
        </p:txBody>
      </p:sp>
      <p:sp>
        <p:nvSpPr>
          <p:cNvPr id="54275" name="Rectangle 3"/>
          <p:cNvSpPr>
            <a:spLocks noChangeArrowheads="1"/>
          </p:cNvSpPr>
          <p:nvPr/>
        </p:nvSpPr>
        <p:spPr bwMode="auto">
          <a:xfrm>
            <a:off x="2984501" y="3209701"/>
            <a:ext cx="4137025"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CPU time = CycleTime </a:t>
            </a:r>
            <a:r>
              <a:rPr lang="en-US" altLang="zh-CN"/>
              <a:t>*  </a:t>
            </a:r>
            <a:r>
              <a:rPr lang="en-US" altLang="zh-CN" sz="3600">
                <a:sym typeface="Symbol" panose="05050102010706020507" pitchFamily="18" charset="2"/>
              </a:rPr>
              <a:t></a:t>
            </a:r>
            <a:r>
              <a:rPr lang="en-US" altLang="zh-CN" sz="3600"/>
              <a:t> </a:t>
            </a:r>
            <a:r>
              <a:rPr lang="en-US" altLang="zh-CN" b="1"/>
              <a:t>CPI    *  I</a:t>
            </a:r>
          </a:p>
        </p:txBody>
      </p:sp>
      <p:sp>
        <p:nvSpPr>
          <p:cNvPr id="54276" name="Rectangle 4"/>
          <p:cNvSpPr>
            <a:spLocks noChangeArrowheads="1"/>
          </p:cNvSpPr>
          <p:nvPr/>
        </p:nvSpPr>
        <p:spPr bwMode="auto">
          <a:xfrm>
            <a:off x="5651500" y="3692301"/>
            <a:ext cx="62865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i="1"/>
              <a:t>i  </a:t>
            </a:r>
            <a:r>
              <a:rPr lang="en-US" altLang="zh-CN"/>
              <a:t>= 1</a:t>
            </a:r>
          </a:p>
        </p:txBody>
      </p:sp>
      <p:sp>
        <p:nvSpPr>
          <p:cNvPr id="54277" name="Rectangle 5"/>
          <p:cNvSpPr>
            <a:spLocks noChangeArrowheads="1"/>
          </p:cNvSpPr>
          <p:nvPr/>
        </p:nvSpPr>
        <p:spPr bwMode="auto">
          <a:xfrm>
            <a:off x="5829300" y="2955701"/>
            <a:ext cx="2667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n</a:t>
            </a:r>
          </a:p>
        </p:txBody>
      </p:sp>
      <p:sp>
        <p:nvSpPr>
          <p:cNvPr id="54278" name="Rectangle 6"/>
          <p:cNvSpPr>
            <a:spLocks noChangeArrowheads="1"/>
          </p:cNvSpPr>
          <p:nvPr/>
        </p:nvSpPr>
        <p:spPr bwMode="auto">
          <a:xfrm>
            <a:off x="6477000" y="35145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79" name="Rectangle 7"/>
          <p:cNvSpPr>
            <a:spLocks noChangeArrowheads="1"/>
          </p:cNvSpPr>
          <p:nvPr/>
        </p:nvSpPr>
        <p:spPr bwMode="auto">
          <a:xfrm>
            <a:off x="7010400" y="35145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0" name="Rectangle 8"/>
          <p:cNvSpPr>
            <a:spLocks noChangeArrowheads="1"/>
          </p:cNvSpPr>
          <p:nvPr/>
        </p:nvSpPr>
        <p:spPr bwMode="auto">
          <a:xfrm>
            <a:off x="3136901" y="4886101"/>
            <a:ext cx="5502275"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CPI  = </a:t>
            </a:r>
            <a:r>
              <a:rPr lang="en-US" altLang="zh-CN" sz="3600">
                <a:sym typeface="Symbol" panose="05050102010706020507" pitchFamily="18" charset="2"/>
              </a:rPr>
              <a:t></a:t>
            </a:r>
            <a:r>
              <a:rPr lang="en-US" altLang="zh-CN" sz="3600" b="1"/>
              <a:t> </a:t>
            </a:r>
            <a:r>
              <a:rPr lang="en-US" altLang="zh-CN" b="1"/>
              <a:t>CPI    *    F          where   F    =             I    </a:t>
            </a:r>
          </a:p>
        </p:txBody>
      </p:sp>
      <p:sp>
        <p:nvSpPr>
          <p:cNvPr id="54281" name="Rectangle 9"/>
          <p:cNvSpPr>
            <a:spLocks noChangeArrowheads="1"/>
          </p:cNvSpPr>
          <p:nvPr/>
        </p:nvSpPr>
        <p:spPr bwMode="auto">
          <a:xfrm>
            <a:off x="3822700" y="5368701"/>
            <a:ext cx="64135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  </a:t>
            </a:r>
            <a:r>
              <a:rPr lang="en-US" altLang="zh-CN" b="1"/>
              <a:t>= 1</a:t>
            </a:r>
          </a:p>
        </p:txBody>
      </p:sp>
      <p:sp>
        <p:nvSpPr>
          <p:cNvPr id="54282" name="Rectangle 10"/>
          <p:cNvSpPr>
            <a:spLocks noChangeArrowheads="1"/>
          </p:cNvSpPr>
          <p:nvPr/>
        </p:nvSpPr>
        <p:spPr bwMode="auto">
          <a:xfrm>
            <a:off x="4000500" y="4632101"/>
            <a:ext cx="2667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n</a:t>
            </a:r>
          </a:p>
        </p:txBody>
      </p:sp>
      <p:sp>
        <p:nvSpPr>
          <p:cNvPr id="54283" name="Rectangle 11"/>
          <p:cNvSpPr>
            <a:spLocks noChangeArrowheads="1"/>
          </p:cNvSpPr>
          <p:nvPr/>
        </p:nvSpPr>
        <p:spPr bwMode="auto">
          <a:xfrm>
            <a:off x="46482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4" name="Rectangle 12"/>
          <p:cNvSpPr>
            <a:spLocks noChangeArrowheads="1"/>
          </p:cNvSpPr>
          <p:nvPr/>
        </p:nvSpPr>
        <p:spPr bwMode="auto">
          <a:xfrm>
            <a:off x="54102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5" name="Rectangle 13"/>
          <p:cNvSpPr>
            <a:spLocks noChangeArrowheads="1"/>
          </p:cNvSpPr>
          <p:nvPr/>
        </p:nvSpPr>
        <p:spPr bwMode="auto">
          <a:xfrm>
            <a:off x="70104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6" name="Rectangle 14"/>
          <p:cNvSpPr>
            <a:spLocks noChangeArrowheads="1"/>
          </p:cNvSpPr>
          <p:nvPr/>
        </p:nvSpPr>
        <p:spPr bwMode="auto">
          <a:xfrm>
            <a:off x="83820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7" name="Line 15"/>
          <p:cNvSpPr>
            <a:spLocks noChangeShapeType="1"/>
          </p:cNvSpPr>
          <p:nvPr/>
        </p:nvSpPr>
        <p:spPr bwMode="auto">
          <a:xfrm>
            <a:off x="7931150" y="5419500"/>
            <a:ext cx="1435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8" name="Rectangle 16"/>
          <p:cNvSpPr>
            <a:spLocks noChangeArrowheads="1"/>
          </p:cNvSpPr>
          <p:nvPr/>
        </p:nvSpPr>
        <p:spPr bwMode="auto">
          <a:xfrm>
            <a:off x="7861300" y="5521101"/>
            <a:ext cx="2032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Instruction Count</a:t>
            </a:r>
          </a:p>
        </p:txBody>
      </p:sp>
      <p:sp>
        <p:nvSpPr>
          <p:cNvPr id="54289" name="Rectangle 17"/>
          <p:cNvSpPr>
            <a:spLocks noChangeArrowheads="1"/>
          </p:cNvSpPr>
          <p:nvPr/>
        </p:nvSpPr>
        <p:spPr bwMode="auto">
          <a:xfrm>
            <a:off x="2070101" y="4090763"/>
            <a:ext cx="3325813" cy="361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t>Instruction Frequency</a:t>
            </a:r>
          </a:p>
        </p:txBody>
      </p:sp>
      <p:sp>
        <p:nvSpPr>
          <p:cNvPr id="54290" name="Rectangle 18"/>
          <p:cNvSpPr>
            <a:spLocks noGrp="1" noChangeArrowheads="1"/>
          </p:cNvSpPr>
          <p:nvPr>
            <p:ph type="body" idx="1"/>
          </p:nvPr>
        </p:nvSpPr>
        <p:spPr>
          <a:xfrm>
            <a:off x="2019300" y="6049457"/>
            <a:ext cx="7620000" cy="533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en-US" altLang="zh-CN" dirty="0" smtClean="0"/>
              <a:t>Invest Resources where time is Spent!</a:t>
            </a:r>
            <a:endParaRPr lang="en-US" altLang="zh-CN" dirty="0"/>
          </a:p>
        </p:txBody>
      </p:sp>
      <p:sp>
        <p:nvSpPr>
          <p:cNvPr id="54291" name="Rectangle 19"/>
          <p:cNvSpPr>
            <a:spLocks noChangeArrowheads="1"/>
          </p:cNvSpPr>
          <p:nvPr/>
        </p:nvSpPr>
        <p:spPr bwMode="auto">
          <a:xfrm>
            <a:off x="6742113" y="4828951"/>
            <a:ext cx="182808" cy="7360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en-US" altLang="zh-CN" sz="1400" b="1"/>
          </a:p>
          <a:p>
            <a:endParaRPr lang="en-US" altLang="zh-CN" sz="1400" b="1"/>
          </a:p>
          <a:p>
            <a:pPr latinLnBrk="1"/>
            <a:endParaRPr lang="en-US" altLang="zh-CN" sz="1400" b="1"/>
          </a:p>
        </p:txBody>
      </p:sp>
      <p:sp>
        <p:nvSpPr>
          <p:cNvPr id="54292" name="Rectangle 20"/>
          <p:cNvSpPr>
            <a:spLocks noChangeArrowheads="1"/>
          </p:cNvSpPr>
          <p:nvPr/>
        </p:nvSpPr>
        <p:spPr bwMode="auto">
          <a:xfrm>
            <a:off x="2957514" y="2273076"/>
            <a:ext cx="561022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CPI = (CPU Time * Clock Rate) / Instruction Count </a:t>
            </a:r>
          </a:p>
          <a:p>
            <a:pPr lvl="1"/>
            <a:r>
              <a:rPr lang="en-US" altLang="zh-CN" b="1"/>
              <a:t>=  Cycles / Instruction Count    </a:t>
            </a:r>
          </a:p>
        </p:txBody>
      </p:sp>
      <p:sp>
        <p:nvSpPr>
          <p:cNvPr id="54293" name="Rectangle 21"/>
          <p:cNvSpPr>
            <a:spLocks noChangeArrowheads="1"/>
          </p:cNvSpPr>
          <p:nvPr/>
        </p:nvSpPr>
        <p:spPr bwMode="auto">
          <a:xfrm>
            <a:off x="1890713" y="1671413"/>
            <a:ext cx="4704622"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Average Cycles per Instruction</a:t>
            </a:r>
          </a:p>
        </p:txBody>
      </p:sp>
      <p:sp>
        <p:nvSpPr>
          <p:cNvPr id="3" name="云形标注 2"/>
          <p:cNvSpPr/>
          <p:nvPr/>
        </p:nvSpPr>
        <p:spPr>
          <a:xfrm>
            <a:off x="8947150" y="3209700"/>
            <a:ext cx="2765474" cy="881063"/>
          </a:xfrm>
          <a:prstGeom prst="cloudCallout">
            <a:avLst>
              <a:gd name="adj1" fmla="val -52343"/>
              <a:gd name="adj2" fmla="val 1855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t>RISC</a:t>
            </a:r>
            <a:r>
              <a:rPr lang="zh-CN" altLang="en-US" sz="2400" dirty="0" smtClean="0"/>
              <a:t>的缘起</a:t>
            </a:r>
            <a:endParaRPr lang="zh-CN" altLang="en-US" sz="2400" dirty="0"/>
          </a:p>
        </p:txBody>
      </p:sp>
    </p:spTree>
    <p:extLst>
      <p:ext uri="{BB962C8B-B14F-4D97-AF65-F5344CB8AC3E}">
        <p14:creationId xmlns:p14="http://schemas.microsoft.com/office/powerpoint/2010/main" val="2608200582"/>
      </p:ext>
    </p:extLst>
  </p:cSld>
  <p:clrMapOvr>
    <a:masterClrMapping/>
  </p:clrMapOvr>
  <p:transition>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141539" y="411163"/>
            <a:ext cx="7913687"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Example: Calculating CPI</a:t>
            </a:r>
          </a:p>
        </p:txBody>
      </p:sp>
      <p:sp>
        <p:nvSpPr>
          <p:cNvPr id="56323" name="Line 3"/>
          <p:cNvSpPr>
            <a:spLocks noChangeShapeType="1"/>
          </p:cNvSpPr>
          <p:nvPr/>
        </p:nvSpPr>
        <p:spPr bwMode="auto">
          <a:xfrm flipH="1">
            <a:off x="4184650" y="3968750"/>
            <a:ext cx="2413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Rectangle 4"/>
          <p:cNvSpPr>
            <a:spLocks noChangeArrowheads="1"/>
          </p:cNvSpPr>
          <p:nvPr/>
        </p:nvSpPr>
        <p:spPr bwMode="auto">
          <a:xfrm>
            <a:off x="3594100" y="4241800"/>
            <a:ext cx="1081088" cy="242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Typical Mix</a:t>
            </a:r>
          </a:p>
        </p:txBody>
      </p:sp>
      <p:sp>
        <p:nvSpPr>
          <p:cNvPr id="56325" name="Rectangle 5"/>
          <p:cNvSpPr>
            <a:spLocks noChangeArrowheads="1"/>
          </p:cNvSpPr>
          <p:nvPr/>
        </p:nvSpPr>
        <p:spPr bwMode="auto">
          <a:xfrm>
            <a:off x="2439989" y="1754188"/>
            <a:ext cx="7007225" cy="25638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1pPr>
            <a:lvl2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2pPr>
            <a:lvl3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3pPr>
            <a:lvl4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4pPr>
            <a:lvl5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sz="2000" b="1">
                <a:latin typeface="Arial" panose="020B0604020202020204" pitchFamily="34" charset="0"/>
              </a:rPr>
              <a:t>Base Machine (Reg / Reg)</a:t>
            </a:r>
          </a:p>
          <a:p>
            <a:pPr>
              <a:lnSpc>
                <a:spcPct val="90000"/>
              </a:lnSpc>
              <a:spcBef>
                <a:spcPct val="30000"/>
              </a:spcBef>
            </a:pPr>
            <a:r>
              <a:rPr lang="en-US" altLang="zh-CN" sz="2000" b="1">
                <a:latin typeface="Arial" panose="020B0604020202020204" pitchFamily="34" charset="0"/>
              </a:rPr>
              <a:t>Op	Freq	Cycles	CPI(i)	(% Time)</a:t>
            </a:r>
          </a:p>
          <a:p>
            <a:pPr>
              <a:lnSpc>
                <a:spcPct val="90000"/>
              </a:lnSpc>
              <a:spcBef>
                <a:spcPct val="30000"/>
              </a:spcBef>
            </a:pPr>
            <a:r>
              <a:rPr lang="en-US" altLang="zh-CN" sz="2000" b="1">
                <a:latin typeface="Arial" panose="020B0604020202020204" pitchFamily="34" charset="0"/>
              </a:rPr>
              <a:t>ALU	50%	1	 .5	(33%)</a:t>
            </a:r>
          </a:p>
          <a:p>
            <a:pPr>
              <a:lnSpc>
                <a:spcPct val="90000"/>
              </a:lnSpc>
              <a:spcBef>
                <a:spcPct val="30000"/>
              </a:spcBef>
            </a:pPr>
            <a:r>
              <a:rPr lang="en-US" altLang="zh-CN" sz="2000" b="1">
                <a:latin typeface="Arial" panose="020B0604020202020204" pitchFamily="34" charset="0"/>
              </a:rPr>
              <a:t>Load	20%	2	 .4	(27%)</a:t>
            </a:r>
          </a:p>
          <a:p>
            <a:pPr>
              <a:lnSpc>
                <a:spcPct val="90000"/>
              </a:lnSpc>
              <a:spcBef>
                <a:spcPct val="30000"/>
              </a:spcBef>
            </a:pPr>
            <a:r>
              <a:rPr lang="en-US" altLang="zh-CN" sz="2000" b="1">
                <a:latin typeface="Arial" panose="020B0604020202020204" pitchFamily="34" charset="0"/>
              </a:rPr>
              <a:t>Store	10%	2	 .2	(13%)</a:t>
            </a:r>
          </a:p>
          <a:p>
            <a:pPr>
              <a:lnSpc>
                <a:spcPct val="90000"/>
              </a:lnSpc>
              <a:spcBef>
                <a:spcPct val="30000"/>
              </a:spcBef>
            </a:pPr>
            <a:r>
              <a:rPr lang="en-US" altLang="zh-CN" sz="2000" b="1">
                <a:latin typeface="Arial" panose="020B0604020202020204" pitchFamily="34" charset="0"/>
              </a:rPr>
              <a:t>Branch	20%	2	 .4	(27%)</a:t>
            </a:r>
          </a:p>
          <a:p>
            <a:pPr>
              <a:lnSpc>
                <a:spcPct val="90000"/>
              </a:lnSpc>
              <a:spcBef>
                <a:spcPct val="30000"/>
              </a:spcBef>
            </a:pPr>
            <a:r>
              <a:rPr lang="en-US" altLang="zh-CN" sz="2000" b="1">
                <a:latin typeface="Arial" panose="020B0604020202020204" pitchFamily="34" charset="0"/>
              </a:rPr>
              <a:t> 			1.5</a:t>
            </a:r>
          </a:p>
        </p:txBody>
      </p:sp>
      <p:sp>
        <p:nvSpPr>
          <p:cNvPr id="56326" name="Line 6"/>
          <p:cNvSpPr>
            <a:spLocks noChangeShapeType="1"/>
          </p:cNvSpPr>
          <p:nvPr/>
        </p:nvSpPr>
        <p:spPr bwMode="auto">
          <a:xfrm>
            <a:off x="6254750" y="3962400"/>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7" name="Rectangle 7"/>
          <p:cNvSpPr>
            <a:spLocks noChangeArrowheads="1"/>
          </p:cNvSpPr>
          <p:nvPr/>
        </p:nvSpPr>
        <p:spPr bwMode="auto">
          <a:xfrm>
            <a:off x="4121150" y="2425700"/>
            <a:ext cx="768350" cy="16446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630345822"/>
      </p:ext>
    </p:extLst>
  </p:cSld>
  <p:clrMapOvr>
    <a:masterClrMapping/>
  </p:clrMapOvr>
  <p:transition>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Measuring Performance</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000" dirty="0"/>
              <a:t>Typical performance metrics:</a:t>
            </a:r>
          </a:p>
          <a:p>
            <a:pPr lvl="1">
              <a:lnSpc>
                <a:spcPct val="90000"/>
              </a:lnSpc>
            </a:pPr>
            <a:r>
              <a:rPr lang="en-US" sz="1800" dirty="0"/>
              <a:t>Response time</a:t>
            </a:r>
          </a:p>
          <a:p>
            <a:pPr lvl="1">
              <a:lnSpc>
                <a:spcPct val="90000"/>
              </a:lnSpc>
            </a:pPr>
            <a:r>
              <a:rPr lang="en-US" sz="1800" dirty="0"/>
              <a:t>Throughput</a:t>
            </a:r>
          </a:p>
          <a:p>
            <a:pPr>
              <a:lnSpc>
                <a:spcPct val="90000"/>
              </a:lnSpc>
            </a:pPr>
            <a:r>
              <a:rPr lang="en-US" sz="2000" dirty="0" smtClean="0"/>
              <a:t>Speedup </a:t>
            </a:r>
            <a:r>
              <a:rPr lang="en-US" sz="2000" dirty="0"/>
              <a:t>of X relative to Y</a:t>
            </a:r>
          </a:p>
          <a:p>
            <a:pPr lvl="1">
              <a:lnSpc>
                <a:spcPct val="90000"/>
              </a:lnSpc>
            </a:pPr>
            <a:r>
              <a:rPr lang="en-US" sz="1800" dirty="0"/>
              <a:t>Execution </a:t>
            </a:r>
            <a:r>
              <a:rPr lang="en-US" sz="1800" dirty="0" err="1"/>
              <a:t>time</a:t>
            </a:r>
            <a:r>
              <a:rPr lang="en-US" sz="1800" baseline="-25000" dirty="0" err="1"/>
              <a:t>Y</a:t>
            </a:r>
            <a:r>
              <a:rPr lang="en-US" sz="1800" dirty="0"/>
              <a:t> / Execution </a:t>
            </a:r>
            <a:r>
              <a:rPr lang="en-US" sz="1800" dirty="0" err="1"/>
              <a:t>time</a:t>
            </a:r>
            <a:r>
              <a:rPr lang="en-US" sz="1800" baseline="-25000" dirty="0" err="1"/>
              <a:t>X</a:t>
            </a:r>
            <a:endParaRPr lang="en-US" sz="1800" baseline="-25000" dirty="0"/>
          </a:p>
          <a:p>
            <a:pPr>
              <a:lnSpc>
                <a:spcPct val="90000"/>
              </a:lnSpc>
            </a:pPr>
            <a:r>
              <a:rPr lang="en-US" sz="2000" dirty="0" smtClean="0"/>
              <a:t>Execution </a:t>
            </a:r>
            <a:r>
              <a:rPr lang="en-US" sz="2000" dirty="0"/>
              <a:t>time</a:t>
            </a:r>
          </a:p>
          <a:p>
            <a:pPr lvl="1">
              <a:lnSpc>
                <a:spcPct val="90000"/>
              </a:lnSpc>
            </a:pPr>
            <a:r>
              <a:rPr lang="en-US" sz="1800" dirty="0"/>
              <a:t>Wall clock time:  includes all system overheads</a:t>
            </a:r>
          </a:p>
          <a:p>
            <a:pPr lvl="1">
              <a:lnSpc>
                <a:spcPct val="90000"/>
              </a:lnSpc>
            </a:pPr>
            <a:r>
              <a:rPr lang="en-US" sz="1800" dirty="0"/>
              <a:t>CPU time:  only computation time</a:t>
            </a:r>
          </a:p>
          <a:p>
            <a:pPr>
              <a:lnSpc>
                <a:spcPct val="90000"/>
              </a:lnSpc>
            </a:pPr>
            <a:r>
              <a:rPr lang="en-US" sz="2000" dirty="0" smtClean="0"/>
              <a:t>Benchmarks</a:t>
            </a:r>
            <a:endParaRPr lang="en-US" sz="2000" dirty="0"/>
          </a:p>
          <a:p>
            <a:pPr lvl="1">
              <a:lnSpc>
                <a:spcPct val="90000"/>
              </a:lnSpc>
            </a:pPr>
            <a:r>
              <a:rPr lang="en-US" sz="1800" dirty="0"/>
              <a:t>Kernels (e.g. matrix multiply)</a:t>
            </a:r>
          </a:p>
          <a:p>
            <a:pPr lvl="1">
              <a:lnSpc>
                <a:spcPct val="90000"/>
              </a:lnSpc>
            </a:pPr>
            <a:r>
              <a:rPr lang="en-US" sz="1800" dirty="0"/>
              <a:t>Toy programs (e.g. sorting)</a:t>
            </a:r>
          </a:p>
          <a:p>
            <a:pPr lvl="1">
              <a:lnSpc>
                <a:spcPct val="90000"/>
              </a:lnSpc>
            </a:pPr>
            <a:r>
              <a:rPr lang="en-US" sz="1800" dirty="0"/>
              <a:t>Synthetic benchmarks (e.g. Dhrystone)</a:t>
            </a:r>
          </a:p>
          <a:p>
            <a:pPr lvl="1">
              <a:lnSpc>
                <a:spcPct val="90000"/>
              </a:lnSpc>
            </a:pPr>
            <a:r>
              <a:rPr lang="en-US" sz="1800" dirty="0"/>
              <a:t>Benchmark suites (e.g. SPEC06fp, TPC-C)</a:t>
            </a:r>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宋体" panose="02010600030101010101" pitchFamily="2" charset="-122"/>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70851451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209800" y="533400"/>
            <a:ext cx="8229600"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smtClean="0"/>
              <a:t>SPEC: System Performance Evaluation Cooperative</a:t>
            </a:r>
            <a:endParaRPr lang="en-US" altLang="zh-CN"/>
          </a:p>
        </p:txBody>
      </p:sp>
      <p:sp>
        <p:nvSpPr>
          <p:cNvPr id="58371" name="Rectangle 3"/>
          <p:cNvSpPr>
            <a:spLocks noGrp="1" noChangeArrowheads="1"/>
          </p:cNvSpPr>
          <p:nvPr>
            <p:ph type="body" idx="1"/>
          </p:nvPr>
        </p:nvSpPr>
        <p:spPr>
          <a:xfrm>
            <a:off x="839416" y="1700808"/>
            <a:ext cx="10945216" cy="468052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smtClean="0"/>
              <a:t>First Round 1989</a:t>
            </a:r>
          </a:p>
          <a:p>
            <a:pPr lvl="1">
              <a:spcBef>
                <a:spcPct val="0"/>
              </a:spcBef>
            </a:pPr>
            <a:r>
              <a:rPr lang="en-US" altLang="zh-CN" dirty="0" smtClean="0"/>
              <a:t>10 programs yielding a single number (</a:t>
            </a:r>
            <a:r>
              <a:rPr lang="en-US" altLang="zh-CN" dirty="0" err="1" smtClean="0"/>
              <a:t>SPECmarks</a:t>
            </a:r>
            <a:r>
              <a:rPr lang="en-US" altLang="zh-CN" dirty="0" smtClean="0"/>
              <a:t>)</a:t>
            </a:r>
          </a:p>
          <a:p>
            <a:pPr>
              <a:spcBef>
                <a:spcPct val="0"/>
              </a:spcBef>
            </a:pPr>
            <a:r>
              <a:rPr lang="en-US" altLang="zh-CN" dirty="0" smtClean="0"/>
              <a:t>Second Round 1992</a:t>
            </a:r>
          </a:p>
          <a:p>
            <a:pPr lvl="1">
              <a:spcBef>
                <a:spcPct val="0"/>
              </a:spcBef>
            </a:pPr>
            <a:r>
              <a:rPr lang="en-US" altLang="zh-CN" sz="2000" dirty="0" smtClean="0"/>
              <a:t>SPECInt92 (6 integer programs) and SPECfp92 (14 floating point programs)</a:t>
            </a:r>
          </a:p>
          <a:p>
            <a:pPr lvl="2">
              <a:spcBef>
                <a:spcPct val="0"/>
              </a:spcBef>
            </a:pPr>
            <a:r>
              <a:rPr lang="en-US" altLang="zh-CN" sz="1800" dirty="0" smtClean="0"/>
              <a:t>Compiler Flags unlimited. March 93 of DEC 4000 Model 610:</a:t>
            </a:r>
          </a:p>
          <a:p>
            <a:pPr lvl="1">
              <a:spcBef>
                <a:spcPct val="0"/>
              </a:spcBef>
              <a:buFont typeface="Wingdings" panose="05000000000000000000" pitchFamily="2" charset="2"/>
              <a:buNone/>
            </a:pPr>
            <a:r>
              <a:rPr lang="en-US" altLang="zh-CN" sz="2000" dirty="0" smtClean="0">
                <a:latin typeface="Courier New" panose="02070309020205020404" pitchFamily="49" charset="0"/>
              </a:rPr>
              <a:t>		spice: </a:t>
            </a:r>
            <a:r>
              <a:rPr lang="en-US" altLang="zh-CN" sz="2000" b="1" dirty="0" err="1" smtClean="0">
                <a:latin typeface="Courier New" panose="02070309020205020404" pitchFamily="49" charset="0"/>
              </a:rPr>
              <a:t>unix.c</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def</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sysv,has_bcopy,bcopy</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a,b,c</a:t>
            </a:r>
            <a:r>
              <a:rPr lang="en-US" altLang="zh-CN" sz="2000" b="1" dirty="0" smtClean="0">
                <a:latin typeface="Courier New" panose="02070309020205020404" pitchFamily="49" charset="0"/>
              </a:rPr>
              <a:t>)=		</a:t>
            </a:r>
            <a:r>
              <a:rPr lang="en-US" altLang="zh-CN" sz="2000" b="1" dirty="0" err="1" smtClean="0">
                <a:latin typeface="Courier New" panose="02070309020205020404" pitchFamily="49" charset="0"/>
              </a:rPr>
              <a:t>memcpy</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b,a,c</a:t>
            </a:r>
            <a:r>
              <a:rPr lang="en-US" altLang="zh-CN" sz="2000" b="1" dirty="0" smtClean="0">
                <a:latin typeface="Courier New" panose="02070309020205020404" pitchFamily="49" charset="0"/>
              </a:rPr>
              <a:t>)</a:t>
            </a:r>
            <a:endParaRPr lang="en-US" altLang="zh-CN" sz="2000" dirty="0" smtClean="0">
              <a:latin typeface="Courier New" panose="02070309020205020404" pitchFamily="49" charset="0"/>
            </a:endParaRPr>
          </a:p>
          <a:p>
            <a:pPr lvl="1">
              <a:spcBef>
                <a:spcPct val="0"/>
              </a:spcBef>
              <a:buFont typeface="Wingdings" panose="05000000000000000000" pitchFamily="2" charset="2"/>
              <a:buNone/>
            </a:pPr>
            <a:r>
              <a:rPr lang="en-US" altLang="zh-CN" sz="2000" dirty="0" smtClean="0">
                <a:latin typeface="Courier New" panose="02070309020205020404" pitchFamily="49" charset="0"/>
              </a:rPr>
              <a:t>		wave5: </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ali</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all,dcom</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nat</a:t>
            </a:r>
            <a:r>
              <a:rPr lang="en-US" altLang="zh-CN" sz="2000" b="1" dirty="0" smtClean="0">
                <a:latin typeface="Courier New" panose="02070309020205020404" pitchFamily="49" charset="0"/>
              </a:rPr>
              <a:t>)/ag=a/</a:t>
            </a:r>
            <a:r>
              <a:rPr lang="en-US" altLang="zh-CN" sz="2000" b="1" dirty="0" err="1" smtClean="0">
                <a:latin typeface="Courier New" panose="02070309020205020404" pitchFamily="49" charset="0"/>
              </a:rPr>
              <a:t>ur</a:t>
            </a:r>
            <a:r>
              <a:rPr lang="en-US" altLang="zh-CN" sz="2000" b="1" dirty="0" smtClean="0">
                <a:latin typeface="Courier New" panose="02070309020205020404" pitchFamily="49" charset="0"/>
              </a:rPr>
              <a:t>=4/</a:t>
            </a:r>
            <a:r>
              <a:rPr lang="en-US" altLang="zh-CN" sz="2000" b="1" dirty="0" err="1" smtClean="0">
                <a:latin typeface="Courier New" panose="02070309020205020404" pitchFamily="49" charset="0"/>
              </a:rPr>
              <a:t>ur</a:t>
            </a:r>
            <a:r>
              <a:rPr lang="en-US" altLang="zh-CN" sz="2000" b="1" dirty="0" smtClean="0">
                <a:latin typeface="Courier New" panose="02070309020205020404" pitchFamily="49" charset="0"/>
              </a:rPr>
              <a:t>=200</a:t>
            </a:r>
            <a:endParaRPr lang="en-US" altLang="zh-CN" sz="2000" dirty="0" smtClean="0">
              <a:latin typeface="Courier New" panose="02070309020205020404" pitchFamily="49" charset="0"/>
            </a:endParaRPr>
          </a:p>
          <a:p>
            <a:pPr lvl="1">
              <a:spcBef>
                <a:spcPct val="0"/>
              </a:spcBef>
              <a:buFont typeface="Wingdings" panose="05000000000000000000" pitchFamily="2" charset="2"/>
              <a:buNone/>
            </a:pPr>
            <a:r>
              <a:rPr lang="en-US" altLang="zh-CN" sz="2000" dirty="0" smtClean="0">
                <a:latin typeface="Courier New" panose="02070309020205020404" pitchFamily="49" charset="0"/>
              </a:rPr>
              <a:t>		nasa7: </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norecu</a:t>
            </a:r>
            <a:r>
              <a:rPr lang="en-US" altLang="zh-CN" sz="2000" b="1" dirty="0" smtClean="0">
                <a:latin typeface="Courier New" panose="02070309020205020404" pitchFamily="49" charset="0"/>
              </a:rPr>
              <a:t>/ag=a/</a:t>
            </a:r>
            <a:r>
              <a:rPr lang="en-US" altLang="zh-CN" sz="2000" b="1" dirty="0" err="1" smtClean="0">
                <a:latin typeface="Courier New" panose="02070309020205020404" pitchFamily="49" charset="0"/>
              </a:rPr>
              <a:t>ur</a:t>
            </a:r>
            <a:r>
              <a:rPr lang="en-US" altLang="zh-CN" sz="2000" b="1" dirty="0" smtClean="0">
                <a:latin typeface="Courier New" panose="02070309020205020404" pitchFamily="49" charset="0"/>
              </a:rPr>
              <a:t>=4/ur2=200/</a:t>
            </a:r>
            <a:r>
              <a:rPr lang="en-US" altLang="zh-CN" sz="2000" b="1" dirty="0" err="1" smtClean="0">
                <a:latin typeface="Courier New" panose="02070309020205020404" pitchFamily="49" charset="0"/>
              </a:rPr>
              <a:t>lc</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blas</a:t>
            </a:r>
            <a:endParaRPr lang="en-US" altLang="zh-CN" sz="2000" dirty="0" smtClean="0">
              <a:latin typeface="Courier New" panose="02070309020205020404" pitchFamily="49" charset="0"/>
            </a:endParaRPr>
          </a:p>
          <a:p>
            <a:pPr>
              <a:spcBef>
                <a:spcPct val="0"/>
              </a:spcBef>
            </a:pPr>
            <a:r>
              <a:rPr lang="en-US" altLang="zh-CN" dirty="0" smtClean="0"/>
              <a:t>Third Round 1995</a:t>
            </a:r>
          </a:p>
          <a:p>
            <a:pPr lvl="1">
              <a:spcBef>
                <a:spcPct val="0"/>
              </a:spcBef>
            </a:pPr>
            <a:r>
              <a:rPr lang="en-US" altLang="zh-CN" dirty="0" smtClean="0"/>
              <a:t>new set of programs: SPECint95 (8 integer programs) and SPECfp95 (10 floating point) </a:t>
            </a:r>
          </a:p>
          <a:p>
            <a:pPr lvl="1">
              <a:spcBef>
                <a:spcPct val="0"/>
              </a:spcBef>
            </a:pPr>
            <a:r>
              <a:rPr lang="en-US" altLang="zh-CN" dirty="0" smtClean="0"/>
              <a:t>Benchmarks useful for 3 years</a:t>
            </a:r>
          </a:p>
          <a:p>
            <a:pPr lvl="1">
              <a:spcBef>
                <a:spcPct val="0"/>
              </a:spcBef>
            </a:pPr>
            <a:r>
              <a:rPr lang="en-US" altLang="zh-CN" dirty="0" smtClean="0"/>
              <a:t>Single flag setting for all programs: SPECint_base95, SPECfp_base95 </a:t>
            </a:r>
            <a:endParaRPr lang="en-US" altLang="zh-CN" dirty="0"/>
          </a:p>
        </p:txBody>
      </p:sp>
    </p:spTree>
    <p:extLst>
      <p:ext uri="{BB962C8B-B14F-4D97-AF65-F5344CB8AC3E}">
        <p14:creationId xmlns:p14="http://schemas.microsoft.com/office/powerpoint/2010/main" val="4111958825"/>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 calcmode="lin" valueType="num">
                                      <p:cBhvr additive="base">
                                        <p:cTn id="7" dur="500" fill="hold"/>
                                        <p:tgtEl>
                                          <p:spTgt spid="583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83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anim calcmode="lin" valueType="num">
                                      <p:cBhvr additive="base">
                                        <p:cTn id="11" dur="500" fill="hold"/>
                                        <p:tgtEl>
                                          <p:spTgt spid="5837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8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 calcmode="lin" valueType="num">
                                      <p:cBhvr additive="base">
                                        <p:cTn id="17" dur="500" fill="hold"/>
                                        <p:tgtEl>
                                          <p:spTgt spid="58371">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837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8371">
                                            <p:txEl>
                                              <p:pRg st="3" end="3"/>
                                            </p:txEl>
                                          </p:spTgt>
                                        </p:tgtEl>
                                        <p:attrNameLst>
                                          <p:attrName>style.visibility</p:attrName>
                                        </p:attrNameLst>
                                      </p:cBhvr>
                                      <p:to>
                                        <p:strVal val="visible"/>
                                      </p:to>
                                    </p:set>
                                    <p:anim calcmode="lin" valueType="num">
                                      <p:cBhvr additive="base">
                                        <p:cTn id="21" dur="500" fill="hold"/>
                                        <p:tgtEl>
                                          <p:spTgt spid="5837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8371">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8371">
                                            <p:txEl>
                                              <p:pRg st="4" end="4"/>
                                            </p:txEl>
                                          </p:spTgt>
                                        </p:tgtEl>
                                        <p:attrNameLst>
                                          <p:attrName>style.visibility</p:attrName>
                                        </p:attrNameLst>
                                      </p:cBhvr>
                                      <p:to>
                                        <p:strVal val="visible"/>
                                      </p:to>
                                    </p:set>
                                    <p:anim calcmode="lin" valueType="num">
                                      <p:cBhvr additive="base">
                                        <p:cTn id="25" dur="500" fill="hold"/>
                                        <p:tgtEl>
                                          <p:spTgt spid="5837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837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8371">
                                            <p:txEl>
                                              <p:pRg st="5" end="5"/>
                                            </p:txEl>
                                          </p:spTgt>
                                        </p:tgtEl>
                                        <p:attrNameLst>
                                          <p:attrName>style.visibility</p:attrName>
                                        </p:attrNameLst>
                                      </p:cBhvr>
                                      <p:to>
                                        <p:strVal val="visible"/>
                                      </p:to>
                                    </p:set>
                                    <p:anim calcmode="lin" valueType="num">
                                      <p:cBhvr additive="base">
                                        <p:cTn id="29" dur="500" fill="hold"/>
                                        <p:tgtEl>
                                          <p:spTgt spid="5837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5837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58371">
                                            <p:txEl>
                                              <p:pRg st="6" end="6"/>
                                            </p:txEl>
                                          </p:spTgt>
                                        </p:tgtEl>
                                        <p:attrNameLst>
                                          <p:attrName>style.visibility</p:attrName>
                                        </p:attrNameLst>
                                      </p:cBhvr>
                                      <p:to>
                                        <p:strVal val="visible"/>
                                      </p:to>
                                    </p:set>
                                    <p:anim calcmode="lin" valueType="num">
                                      <p:cBhvr additive="base">
                                        <p:cTn id="33" dur="500" fill="hold"/>
                                        <p:tgtEl>
                                          <p:spTgt spid="5837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58371">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58371">
                                            <p:txEl>
                                              <p:pRg st="7" end="7"/>
                                            </p:txEl>
                                          </p:spTgt>
                                        </p:tgtEl>
                                        <p:attrNameLst>
                                          <p:attrName>style.visibility</p:attrName>
                                        </p:attrNameLst>
                                      </p:cBhvr>
                                      <p:to>
                                        <p:strVal val="visible"/>
                                      </p:to>
                                    </p:set>
                                    <p:anim calcmode="lin" valueType="num">
                                      <p:cBhvr additive="base">
                                        <p:cTn id="37" dur="500" fill="hold"/>
                                        <p:tgtEl>
                                          <p:spTgt spid="58371">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837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8371">
                                            <p:txEl>
                                              <p:pRg st="8" end="8"/>
                                            </p:txEl>
                                          </p:spTgt>
                                        </p:tgtEl>
                                        <p:attrNameLst>
                                          <p:attrName>style.visibility</p:attrName>
                                        </p:attrNameLst>
                                      </p:cBhvr>
                                      <p:to>
                                        <p:strVal val="visible"/>
                                      </p:to>
                                    </p:set>
                                    <p:anim calcmode="lin" valueType="num">
                                      <p:cBhvr additive="base">
                                        <p:cTn id="43" dur="500" fill="hold"/>
                                        <p:tgtEl>
                                          <p:spTgt spid="58371">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8371">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58371">
                                            <p:txEl>
                                              <p:pRg st="9" end="9"/>
                                            </p:txEl>
                                          </p:spTgt>
                                        </p:tgtEl>
                                        <p:attrNameLst>
                                          <p:attrName>style.visibility</p:attrName>
                                        </p:attrNameLst>
                                      </p:cBhvr>
                                      <p:to>
                                        <p:strVal val="visible"/>
                                      </p:to>
                                    </p:set>
                                    <p:anim calcmode="lin" valueType="num">
                                      <p:cBhvr additive="base">
                                        <p:cTn id="47" dur="500" fill="hold"/>
                                        <p:tgtEl>
                                          <p:spTgt spid="58371">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58371">
                                            <p:txEl>
                                              <p:pRg st="9" end="9"/>
                                            </p:txEl>
                                          </p:spTgt>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58371">
                                            <p:txEl>
                                              <p:pRg st="10" end="10"/>
                                            </p:txEl>
                                          </p:spTgt>
                                        </p:tgtEl>
                                        <p:attrNameLst>
                                          <p:attrName>style.visibility</p:attrName>
                                        </p:attrNameLst>
                                      </p:cBhvr>
                                      <p:to>
                                        <p:strVal val="visible"/>
                                      </p:to>
                                    </p:set>
                                    <p:anim calcmode="lin" valueType="num">
                                      <p:cBhvr additive="base">
                                        <p:cTn id="51" dur="500" fill="hold"/>
                                        <p:tgtEl>
                                          <p:spTgt spid="58371">
                                            <p:txEl>
                                              <p:pRg st="10" end="1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58371">
                                            <p:txEl>
                                              <p:pRg st="10" end="10"/>
                                            </p:tx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58371">
                                            <p:txEl>
                                              <p:pRg st="11" end="11"/>
                                            </p:txEl>
                                          </p:spTgt>
                                        </p:tgtEl>
                                        <p:attrNameLst>
                                          <p:attrName>style.visibility</p:attrName>
                                        </p:attrNameLst>
                                      </p:cBhvr>
                                      <p:to>
                                        <p:strVal val="visible"/>
                                      </p:to>
                                    </p:set>
                                    <p:anim calcmode="lin" valueType="num">
                                      <p:cBhvr additive="base">
                                        <p:cTn id="55" dur="500" fill="hold"/>
                                        <p:tgtEl>
                                          <p:spTgt spid="58371">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58371">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2209800" y="533400"/>
            <a:ext cx="8229600"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SPEC: System Performance Evaluation Cooperative</a:t>
            </a:r>
          </a:p>
        </p:txBody>
      </p:sp>
      <p:sp>
        <p:nvSpPr>
          <p:cNvPr id="86019" name="Rectangle 3"/>
          <p:cNvSpPr>
            <a:spLocks noGrp="1" noChangeArrowheads="1"/>
          </p:cNvSpPr>
          <p:nvPr>
            <p:ph type="body" idx="1"/>
          </p:nvPr>
        </p:nvSpPr>
        <p:spPr>
          <a:xfrm>
            <a:off x="1127448" y="1916832"/>
            <a:ext cx="9235752" cy="360766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10000"/>
              </a:spcBef>
            </a:pPr>
            <a:r>
              <a:rPr lang="en-US" altLang="zh-CN" dirty="0"/>
              <a:t>Fourth Round 2000: SPEC CPU2000</a:t>
            </a:r>
          </a:p>
          <a:p>
            <a:pPr lvl="1">
              <a:spcBef>
                <a:spcPct val="10000"/>
              </a:spcBef>
            </a:pPr>
            <a:r>
              <a:rPr lang="en-US" altLang="zh-CN" dirty="0"/>
              <a:t>12 Integer</a:t>
            </a:r>
          </a:p>
          <a:p>
            <a:pPr lvl="1">
              <a:spcBef>
                <a:spcPct val="10000"/>
              </a:spcBef>
            </a:pPr>
            <a:r>
              <a:rPr lang="en-US" altLang="zh-CN" dirty="0"/>
              <a:t>14 Floating Point</a:t>
            </a:r>
          </a:p>
          <a:p>
            <a:pPr lvl="1">
              <a:spcBef>
                <a:spcPct val="10000"/>
              </a:spcBef>
            </a:pPr>
            <a:r>
              <a:rPr lang="en-US" altLang="zh-CN" dirty="0"/>
              <a:t>2 choices on compilation; “aggressive” (SPECint2000,SPECfp2000), “conservative” (SPECint_base2000,SPECfp_base); flags same for all programs, no more than 4 flags, same compiler for conservative, can change for aggressive</a:t>
            </a:r>
          </a:p>
          <a:p>
            <a:pPr lvl="1">
              <a:spcBef>
                <a:spcPct val="10000"/>
              </a:spcBef>
            </a:pPr>
            <a:r>
              <a:rPr lang="en-US" altLang="zh-CN" dirty="0"/>
              <a:t>multiple data sets so that can train compiler if trying to collect data for input to compiler to improve optimization</a:t>
            </a:r>
          </a:p>
        </p:txBody>
      </p:sp>
    </p:spTree>
    <p:extLst>
      <p:ext uri="{BB962C8B-B14F-4D97-AF65-F5344CB8AC3E}">
        <p14:creationId xmlns:p14="http://schemas.microsoft.com/office/powerpoint/2010/main" val="1271691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 calcmode="lin" valueType="num">
                                      <p:cBhvr additive="base">
                                        <p:cTn id="7" dur="500" fill="hold"/>
                                        <p:tgtEl>
                                          <p:spTgt spid="860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01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anim calcmode="lin" valueType="num">
                                      <p:cBhvr additive="base">
                                        <p:cTn id="11" dur="500" fill="hold"/>
                                        <p:tgtEl>
                                          <p:spTgt spid="8601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601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6019">
                                            <p:txEl>
                                              <p:pRg st="2" end="2"/>
                                            </p:txEl>
                                          </p:spTgt>
                                        </p:tgtEl>
                                        <p:attrNameLst>
                                          <p:attrName>style.visibility</p:attrName>
                                        </p:attrNameLst>
                                      </p:cBhvr>
                                      <p:to>
                                        <p:strVal val="visible"/>
                                      </p:to>
                                    </p:set>
                                    <p:anim calcmode="lin" valueType="num">
                                      <p:cBhvr additive="base">
                                        <p:cTn id="15" dur="500" fill="hold"/>
                                        <p:tgtEl>
                                          <p:spTgt spid="8601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8601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86019">
                                            <p:txEl>
                                              <p:pRg st="3" end="3"/>
                                            </p:txEl>
                                          </p:spTgt>
                                        </p:tgtEl>
                                        <p:attrNameLst>
                                          <p:attrName>style.visibility</p:attrName>
                                        </p:attrNameLst>
                                      </p:cBhvr>
                                      <p:to>
                                        <p:strVal val="visible"/>
                                      </p:to>
                                    </p:set>
                                    <p:anim calcmode="lin" valueType="num">
                                      <p:cBhvr additive="base">
                                        <p:cTn id="19" dur="500" fill="hold"/>
                                        <p:tgtEl>
                                          <p:spTgt spid="8601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601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6019">
                                            <p:txEl>
                                              <p:pRg st="4" end="4"/>
                                            </p:txEl>
                                          </p:spTgt>
                                        </p:tgtEl>
                                        <p:attrNameLst>
                                          <p:attrName>style.visibility</p:attrName>
                                        </p:attrNameLst>
                                      </p:cBhvr>
                                      <p:to>
                                        <p:strVal val="visible"/>
                                      </p:to>
                                    </p:set>
                                    <p:anim calcmode="lin" valueType="num">
                                      <p:cBhvr additive="base">
                                        <p:cTn id="23" dur="500" fill="hold"/>
                                        <p:tgtEl>
                                          <p:spTgt spid="86019">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8601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Evolution of SPEC CPU Benchmark</a:t>
            </a:r>
            <a:endParaRPr lang="zh-CN" altLang="en-US" dirty="0"/>
          </a:p>
        </p:txBody>
      </p:sp>
      <p:pic>
        <p:nvPicPr>
          <p:cNvPr id="3" name="图片 2"/>
          <p:cNvPicPr>
            <a:picLocks noChangeAspect="1"/>
          </p:cNvPicPr>
          <p:nvPr/>
        </p:nvPicPr>
        <p:blipFill>
          <a:blip r:embed="rId2"/>
          <a:stretch>
            <a:fillRect/>
          </a:stretch>
        </p:blipFill>
        <p:spPr>
          <a:xfrm>
            <a:off x="4169768" y="1526935"/>
            <a:ext cx="7878031" cy="5331065"/>
          </a:xfrm>
          <a:prstGeom prst="rect">
            <a:avLst/>
          </a:prstGeom>
        </p:spPr>
      </p:pic>
      <p:sp>
        <p:nvSpPr>
          <p:cNvPr id="4" name="Rectangle 1"/>
          <p:cNvSpPr>
            <a:spLocks noChangeArrowheads="1"/>
          </p:cNvSpPr>
          <p:nvPr/>
        </p:nvSpPr>
        <p:spPr bwMode="auto">
          <a:xfrm>
            <a:off x="47328" y="1700808"/>
            <a:ext cx="412244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anose="020B0604020202020204" pitchFamily="34" charset="0"/>
              <a:buChar char="•"/>
            </a:pPr>
            <a:r>
              <a:rPr lang="en-US" altLang="en-US" sz="1600" dirty="0" smtClean="0">
                <a:solidFill>
                  <a:srgbClr val="0000FF"/>
                </a:solidFill>
              </a:rPr>
              <a:t>10 </a:t>
            </a:r>
            <a:r>
              <a:rPr lang="en-US" altLang="en-US" sz="1600" dirty="0">
                <a:solidFill>
                  <a:srgbClr val="0000FF"/>
                </a:solidFill>
              </a:rPr>
              <a:t>SPEC2017 integer </a:t>
            </a:r>
            <a:r>
              <a:rPr lang="en-US" altLang="en-US" sz="1600" dirty="0" smtClean="0">
                <a:solidFill>
                  <a:srgbClr val="0000FF"/>
                </a:solidFill>
              </a:rPr>
              <a:t>programs,</a:t>
            </a:r>
          </a:p>
          <a:p>
            <a:pPr marL="742950" lvl="1" indent="-285750">
              <a:buFont typeface="Arial" panose="020B0604020202020204" pitchFamily="34" charset="0"/>
              <a:buChar char="•"/>
            </a:pPr>
            <a:r>
              <a:rPr lang="en-US" altLang="en-US" sz="1600" dirty="0" smtClean="0">
                <a:solidFill>
                  <a:srgbClr val="0000FF"/>
                </a:solidFill>
              </a:rPr>
              <a:t>5 </a:t>
            </a:r>
            <a:r>
              <a:rPr lang="en-US" altLang="en-US" sz="1600" dirty="0">
                <a:solidFill>
                  <a:srgbClr val="0000FF"/>
                </a:solidFill>
              </a:rPr>
              <a:t>are written in C, 4 in C++., and 1 in </a:t>
            </a:r>
            <a:r>
              <a:rPr lang="en-US" altLang="en-US" sz="1600" dirty="0" smtClean="0">
                <a:solidFill>
                  <a:srgbClr val="0000FF"/>
                </a:solidFill>
              </a:rPr>
              <a:t>Fortran</a:t>
            </a:r>
          </a:p>
          <a:p>
            <a:pPr marL="285750" indent="-285750">
              <a:buFont typeface="Arial" panose="020B0604020202020204" pitchFamily="34" charset="0"/>
              <a:buChar char="•"/>
            </a:pPr>
            <a:r>
              <a:rPr lang="en-US" altLang="zh-CN" sz="1600" dirty="0" smtClean="0">
                <a:solidFill>
                  <a:srgbClr val="0000FF"/>
                </a:solidFill>
              </a:rPr>
              <a:t>13</a:t>
            </a:r>
            <a:r>
              <a:rPr lang="en-US" altLang="en-US" sz="1600" dirty="0" smtClean="0">
                <a:solidFill>
                  <a:srgbClr val="0000FF"/>
                </a:solidFill>
              </a:rPr>
              <a:t> </a:t>
            </a:r>
            <a:r>
              <a:rPr lang="en-US" altLang="en-US" sz="1600" dirty="0">
                <a:solidFill>
                  <a:srgbClr val="0000FF"/>
                </a:solidFill>
              </a:rPr>
              <a:t>floating-point programs,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3 </a:t>
            </a:r>
            <a:r>
              <a:rPr lang="en-US" altLang="en-US" sz="1600" dirty="0">
                <a:solidFill>
                  <a:srgbClr val="0000FF"/>
                </a:solidFill>
              </a:rPr>
              <a:t>in Fortran, 2 in C++, 2 in C, and 6 in mixed C, C++, and Fortran. </a:t>
            </a:r>
            <a:endParaRPr lang="en-US" altLang="en-US" sz="1600" dirty="0" smtClean="0">
              <a:solidFill>
                <a:srgbClr val="0000FF"/>
              </a:solidFill>
            </a:endParaRPr>
          </a:p>
          <a:p>
            <a:pPr marL="285750" indent="-285750">
              <a:buFont typeface="Arial" panose="020B0604020202020204" pitchFamily="34" charset="0"/>
              <a:buChar char="•"/>
            </a:pPr>
            <a:r>
              <a:rPr lang="en-US" altLang="en-US" sz="1600" dirty="0" smtClean="0">
                <a:solidFill>
                  <a:srgbClr val="0000FF"/>
                </a:solidFill>
              </a:rPr>
              <a:t>6</a:t>
            </a:r>
            <a:r>
              <a:rPr lang="zh-CN" altLang="en-US" sz="1600" dirty="0" smtClean="0">
                <a:solidFill>
                  <a:srgbClr val="0000FF"/>
                </a:solidFill>
              </a:rPr>
              <a:t>代基准共</a:t>
            </a:r>
            <a:r>
              <a:rPr lang="en-US" altLang="zh-CN" sz="1600" dirty="0" smtClean="0">
                <a:solidFill>
                  <a:srgbClr val="0000FF"/>
                </a:solidFill>
              </a:rPr>
              <a:t>82</a:t>
            </a:r>
            <a:r>
              <a:rPr lang="zh-CN" altLang="en-US" sz="1600" dirty="0" smtClean="0">
                <a:solidFill>
                  <a:srgbClr val="0000FF"/>
                </a:solidFill>
              </a:rPr>
              <a:t>个程序</a:t>
            </a:r>
            <a:endParaRPr lang="en-US" altLang="zh-CN" sz="1600" dirty="0" smtClean="0">
              <a:solidFill>
                <a:srgbClr val="0000FF"/>
              </a:solidFill>
            </a:endParaRPr>
          </a:p>
          <a:p>
            <a:pPr marL="742950" lvl="1" indent="-285750">
              <a:buFont typeface="Arial" panose="020B0604020202020204" pitchFamily="34" charset="0"/>
              <a:buChar char="•"/>
            </a:pPr>
            <a:r>
              <a:rPr lang="en-US" altLang="en-US" sz="1600" dirty="0" err="1" smtClean="0">
                <a:solidFill>
                  <a:srgbClr val="0000FF"/>
                </a:solidFill>
              </a:rPr>
              <a:t>Gcc</a:t>
            </a:r>
            <a:r>
              <a:rPr lang="en-US" altLang="en-US" sz="1600" dirty="0" smtClean="0">
                <a:solidFill>
                  <a:srgbClr val="0000FF"/>
                </a:solidFill>
              </a:rPr>
              <a:t> </a:t>
            </a:r>
            <a:r>
              <a:rPr lang="en-US" altLang="en-US" sz="1600" dirty="0">
                <a:solidFill>
                  <a:srgbClr val="0000FF"/>
                </a:solidFill>
              </a:rPr>
              <a:t>is the senior citizen of the group.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Only </a:t>
            </a:r>
            <a:r>
              <a:rPr lang="en-US" altLang="en-US" sz="1600" dirty="0">
                <a:solidFill>
                  <a:srgbClr val="0000FF"/>
                </a:solidFill>
              </a:rPr>
              <a:t>3 integer programs and 3 floating-point programs survived three or more generations. </a:t>
            </a:r>
            <a:endParaRPr lang="en-US" altLang="en-US" sz="1600" dirty="0" smtClean="0">
              <a:solidFill>
                <a:srgbClr val="0000FF"/>
              </a:solidFill>
            </a:endParaRPr>
          </a:p>
          <a:p>
            <a:pPr marL="285750" indent="-285750">
              <a:buFont typeface="Arial" panose="020B0604020202020204" pitchFamily="34" charset="0"/>
              <a:buChar char="•"/>
            </a:pPr>
            <a:r>
              <a:rPr lang="en-US" altLang="en-US" sz="1600" dirty="0" smtClean="0">
                <a:solidFill>
                  <a:srgbClr val="0000FF"/>
                </a:solidFill>
              </a:rPr>
              <a:t>Although </a:t>
            </a:r>
            <a:r>
              <a:rPr lang="en-US" altLang="en-US" sz="1600" dirty="0">
                <a:solidFill>
                  <a:srgbClr val="0000FF"/>
                </a:solidFill>
              </a:rPr>
              <a:t>a few are carried over from generation to generation, the version of the program changes and either the input or the size of the benchmark is often expanded to increase its running time and to avoid perturbation in measurement or domination of the execution time by some factor other than CPU time. </a:t>
            </a:r>
          </a:p>
        </p:txBody>
      </p:sp>
      <p:sp>
        <p:nvSpPr>
          <p:cNvPr id="5" name="文本框 4"/>
          <p:cNvSpPr txBox="1"/>
          <p:nvPr/>
        </p:nvSpPr>
        <p:spPr>
          <a:xfrm>
            <a:off x="6115725" y="3501008"/>
            <a:ext cx="1447832" cy="584775"/>
          </a:xfrm>
          <a:prstGeom prst="rect">
            <a:avLst/>
          </a:prstGeom>
          <a:noFill/>
        </p:spPr>
        <p:txBody>
          <a:bodyPr wrap="none" rtlCol="0">
            <a:spAutoFit/>
          </a:bodyPr>
          <a:lstStyle/>
          <a:p>
            <a:r>
              <a:rPr lang="en-US" altLang="zh-CN" sz="1600" dirty="0" smtClean="0">
                <a:solidFill>
                  <a:srgbClr val="0000FF"/>
                </a:solidFill>
              </a:rPr>
              <a:t>Integer</a:t>
            </a:r>
          </a:p>
          <a:p>
            <a:r>
              <a:rPr lang="en-US" altLang="zh-CN" sz="1600" dirty="0" smtClean="0">
                <a:solidFill>
                  <a:srgbClr val="0000FF"/>
                </a:solidFill>
              </a:rPr>
              <a:t>Floating-Point</a:t>
            </a:r>
            <a:endParaRPr lang="zh-CN" altLang="en-US" sz="1600" dirty="0">
              <a:solidFill>
                <a:srgbClr val="0000FF"/>
              </a:solidFill>
            </a:endParaRPr>
          </a:p>
        </p:txBody>
      </p:sp>
    </p:spTree>
    <p:extLst>
      <p:ext uri="{BB962C8B-B14F-4D97-AF65-F5344CB8AC3E}">
        <p14:creationId xmlns:p14="http://schemas.microsoft.com/office/powerpoint/2010/main" val="27805483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其它</a:t>
            </a:r>
            <a:r>
              <a:rPr lang="en-US" altLang="zh-CN" dirty="0" smtClean="0"/>
              <a:t>SPEC</a:t>
            </a:r>
            <a:r>
              <a:rPr lang="zh-CN" altLang="en-US" dirty="0" smtClean="0"/>
              <a:t>基准程序</a:t>
            </a:r>
            <a:endParaRPr lang="zh-CN" altLang="en-US" dirty="0"/>
          </a:p>
        </p:txBody>
      </p:sp>
      <p:pic>
        <p:nvPicPr>
          <p:cNvPr id="3" name="图片 2"/>
          <p:cNvPicPr>
            <a:picLocks noChangeAspect="1"/>
          </p:cNvPicPr>
          <p:nvPr/>
        </p:nvPicPr>
        <p:blipFill>
          <a:blip r:embed="rId2"/>
          <a:stretch>
            <a:fillRect/>
          </a:stretch>
        </p:blipFill>
        <p:spPr>
          <a:xfrm>
            <a:off x="2639616" y="1484784"/>
            <a:ext cx="6557284" cy="5286493"/>
          </a:xfrm>
          <a:prstGeom prst="rect">
            <a:avLst/>
          </a:prstGeom>
        </p:spPr>
      </p:pic>
    </p:spTree>
    <p:extLst>
      <p:ext uri="{BB962C8B-B14F-4D97-AF65-F5344CB8AC3E}">
        <p14:creationId xmlns:p14="http://schemas.microsoft.com/office/powerpoint/2010/main" val="4367866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zh-CN" smtClean="0"/>
              <a:t>How to Summarize Performance</a:t>
            </a:r>
            <a:endParaRPr lang="en-US" altLang="zh-CN"/>
          </a:p>
        </p:txBody>
      </p:sp>
      <p:sp>
        <p:nvSpPr>
          <p:cNvPr id="59395" name="Rectangle 3"/>
          <p:cNvSpPr>
            <a:spLocks noGrp="1" noChangeArrowheads="1"/>
          </p:cNvSpPr>
          <p:nvPr>
            <p:ph type="body" idx="1"/>
          </p:nvPr>
        </p:nvSpPr>
        <p:spPr/>
        <p:txBody>
          <a:bodyPr/>
          <a:lstStyle/>
          <a:p>
            <a:r>
              <a:rPr lang="en-US" altLang="zh-CN" dirty="0" smtClean="0"/>
              <a:t>Arithmetic mean (weighted arithmetic mean) tracks execution time: </a:t>
            </a:r>
            <a:r>
              <a:rPr lang="en-US" altLang="zh-CN" dirty="0" smtClean="0">
                <a:sym typeface="Symbol" panose="05050102010706020507" pitchFamily="18" charset="2"/>
              </a:rPr>
              <a:t></a:t>
            </a:r>
            <a:r>
              <a:rPr lang="en-US" altLang="zh-CN" dirty="0" smtClean="0"/>
              <a:t>(</a:t>
            </a:r>
            <a:r>
              <a:rPr lang="en-US" altLang="zh-CN" dirty="0" err="1" smtClean="0"/>
              <a:t>Ti</a:t>
            </a:r>
            <a:r>
              <a:rPr lang="en-US" altLang="zh-CN" dirty="0" smtClean="0"/>
              <a:t>)/n or </a:t>
            </a:r>
            <a:r>
              <a:rPr lang="en-US" altLang="zh-CN" dirty="0" smtClean="0">
                <a:sym typeface="Symbol" panose="05050102010706020507" pitchFamily="18" charset="2"/>
              </a:rPr>
              <a:t></a:t>
            </a:r>
            <a:r>
              <a:rPr lang="en-US" altLang="zh-CN" dirty="0" smtClean="0"/>
              <a:t>(Wi*</a:t>
            </a:r>
            <a:r>
              <a:rPr lang="en-US" altLang="zh-CN" dirty="0" err="1" smtClean="0"/>
              <a:t>Ti</a:t>
            </a:r>
            <a:r>
              <a:rPr lang="en-US" altLang="zh-CN" dirty="0" smtClean="0"/>
              <a:t>)</a:t>
            </a:r>
          </a:p>
          <a:p>
            <a:r>
              <a:rPr lang="en-US" altLang="zh-CN" dirty="0" smtClean="0"/>
              <a:t>Harmonic mean (weighted harmonic mean) of rates (e.g., MFLOPS) tracks execution time: </a:t>
            </a:r>
            <a:br>
              <a:rPr lang="en-US" altLang="zh-CN" dirty="0" smtClean="0"/>
            </a:br>
            <a:r>
              <a:rPr lang="en-US" altLang="zh-CN" dirty="0" smtClean="0"/>
              <a:t>		n/</a:t>
            </a:r>
            <a:r>
              <a:rPr lang="en-US" altLang="zh-CN" dirty="0" smtClean="0">
                <a:sym typeface="Symbol" panose="05050102010706020507" pitchFamily="18" charset="2"/>
              </a:rPr>
              <a:t></a:t>
            </a:r>
            <a:r>
              <a:rPr lang="en-US" altLang="zh-CN" dirty="0" smtClean="0"/>
              <a:t>(1/</a:t>
            </a:r>
            <a:r>
              <a:rPr lang="en-US" altLang="zh-CN" dirty="0" err="1" smtClean="0"/>
              <a:t>Ri</a:t>
            </a:r>
            <a:r>
              <a:rPr lang="en-US" altLang="zh-CN" dirty="0" smtClean="0"/>
              <a:t>) or n/</a:t>
            </a:r>
            <a:r>
              <a:rPr lang="en-US" altLang="zh-CN" dirty="0" smtClean="0">
                <a:sym typeface="Symbol" panose="05050102010706020507" pitchFamily="18" charset="2"/>
              </a:rPr>
              <a:t></a:t>
            </a:r>
            <a:r>
              <a:rPr lang="en-US" altLang="zh-CN" dirty="0" smtClean="0"/>
              <a:t>(Wi/</a:t>
            </a:r>
            <a:r>
              <a:rPr lang="en-US" altLang="zh-CN" dirty="0" err="1" smtClean="0"/>
              <a:t>Ri</a:t>
            </a:r>
            <a:r>
              <a:rPr lang="en-US" altLang="zh-CN" dirty="0" smtClean="0"/>
              <a:t>)</a:t>
            </a:r>
          </a:p>
          <a:p>
            <a:r>
              <a:rPr lang="en-US" altLang="zh-CN" dirty="0" smtClean="0"/>
              <a:t>Normalized execution time is handy for scaling performance (e.g., X times faster than SPARCstation 10)</a:t>
            </a:r>
          </a:p>
          <a:p>
            <a:r>
              <a:rPr lang="en-US" altLang="zh-CN" dirty="0" smtClean="0"/>
              <a:t>But do not take the arithmetic mean of normalized execution time, use the geometric mean: </a:t>
            </a:r>
            <a:br>
              <a:rPr lang="en-US" altLang="zh-CN" dirty="0" smtClean="0"/>
            </a:br>
            <a:r>
              <a:rPr lang="en-US" altLang="zh-CN" dirty="0" smtClean="0"/>
              <a:t>		( </a:t>
            </a:r>
            <a:r>
              <a:rPr lang="en-US" altLang="zh-CN" dirty="0" smtClean="0">
                <a:sym typeface="Symbol" panose="05050102010706020507" pitchFamily="18" charset="2"/>
              </a:rPr>
              <a:t> </a:t>
            </a:r>
            <a:r>
              <a:rPr lang="en-US" altLang="zh-CN" dirty="0" err="1" smtClean="0">
                <a:sym typeface="Symbol" panose="05050102010706020507" pitchFamily="18" charset="2"/>
              </a:rPr>
              <a:t>Tj</a:t>
            </a:r>
            <a:r>
              <a:rPr lang="en-US" altLang="zh-CN" dirty="0" smtClean="0">
                <a:sym typeface="Symbol" panose="05050102010706020507" pitchFamily="18" charset="2"/>
              </a:rPr>
              <a:t> / </a:t>
            </a:r>
            <a:r>
              <a:rPr lang="en-US" altLang="zh-CN" dirty="0" err="1" smtClean="0">
                <a:sym typeface="Symbol" panose="05050102010706020507" pitchFamily="18" charset="2"/>
              </a:rPr>
              <a:t>Nj</a:t>
            </a:r>
            <a:r>
              <a:rPr lang="en-US" altLang="zh-CN" dirty="0" smtClean="0">
                <a:sym typeface="Symbol" panose="05050102010706020507" pitchFamily="18" charset="2"/>
              </a:rPr>
              <a:t> )</a:t>
            </a:r>
            <a:r>
              <a:rPr lang="en-US" altLang="zh-CN" baseline="30000" dirty="0" smtClean="0">
                <a:sym typeface="Symbol" panose="05050102010706020507" pitchFamily="18" charset="2"/>
              </a:rPr>
              <a:t>1/n</a:t>
            </a:r>
            <a:br>
              <a:rPr lang="en-US" altLang="zh-CN" baseline="30000" dirty="0" smtClean="0">
                <a:sym typeface="Symbol" panose="05050102010706020507" pitchFamily="18" charset="2"/>
              </a:rPr>
            </a:br>
            <a:endParaRPr lang="en-US" altLang="zh-CN" baseline="30000" dirty="0" smtClean="0">
              <a:sym typeface="Symbol" panose="05050102010706020507" pitchFamily="18" charset="2"/>
            </a:endParaRPr>
          </a:p>
          <a:p>
            <a:r>
              <a:rPr lang="zh-CN" altLang="en-US" dirty="0" smtClean="0">
                <a:sym typeface="Symbol" panose="05050102010706020507" pitchFamily="18" charset="2"/>
              </a:rPr>
              <a:t>几何平均值的难点：一个程序算不出结果，总性能就是零！</a:t>
            </a:r>
            <a:endParaRPr lang="en-US" altLang="zh-CN" dirty="0"/>
          </a:p>
        </p:txBody>
      </p:sp>
    </p:spTree>
    <p:extLst>
      <p:ext uri="{BB962C8B-B14F-4D97-AF65-F5344CB8AC3E}">
        <p14:creationId xmlns:p14="http://schemas.microsoft.com/office/powerpoint/2010/main" val="3366465175"/>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9395">
                                            <p:txEl>
                                              <p:pRg st="1" end="1"/>
                                            </p:txEl>
                                          </p:spTgt>
                                        </p:tgtEl>
                                        <p:attrNameLst>
                                          <p:attrName>style.visibility</p:attrName>
                                        </p:attrNameLst>
                                      </p:cBhvr>
                                      <p:to>
                                        <p:strVal val="visible"/>
                                      </p:to>
                                    </p:set>
                                    <p:anim calcmode="lin" valueType="num">
                                      <p:cBhvr additive="base">
                                        <p:cTn id="13" dur="500" fill="hold"/>
                                        <p:tgtEl>
                                          <p:spTgt spid="593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9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9395">
                                            <p:txEl>
                                              <p:pRg st="2" end="2"/>
                                            </p:txEl>
                                          </p:spTgt>
                                        </p:tgtEl>
                                        <p:attrNameLst>
                                          <p:attrName>style.visibility</p:attrName>
                                        </p:attrNameLst>
                                      </p:cBhvr>
                                      <p:to>
                                        <p:strVal val="visible"/>
                                      </p:to>
                                    </p:set>
                                    <p:anim calcmode="lin" valueType="num">
                                      <p:cBhvr additive="base">
                                        <p:cTn id="19" dur="500" fill="hold"/>
                                        <p:tgtEl>
                                          <p:spTgt spid="593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9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9395">
                                            <p:txEl>
                                              <p:pRg st="3" end="3"/>
                                            </p:txEl>
                                          </p:spTgt>
                                        </p:tgtEl>
                                        <p:attrNameLst>
                                          <p:attrName>style.visibility</p:attrName>
                                        </p:attrNameLst>
                                      </p:cBhvr>
                                      <p:to>
                                        <p:strVal val="visible"/>
                                      </p:to>
                                    </p:set>
                                    <p:anim calcmode="lin" valueType="num">
                                      <p:cBhvr additive="base">
                                        <p:cTn id="25" dur="500" fill="hold"/>
                                        <p:tgtEl>
                                          <p:spTgt spid="593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93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9395">
                                            <p:txEl>
                                              <p:pRg st="4" end="4"/>
                                            </p:txEl>
                                          </p:spTgt>
                                        </p:tgtEl>
                                        <p:attrNameLst>
                                          <p:attrName>style.visibility</p:attrName>
                                        </p:attrNameLst>
                                      </p:cBhvr>
                                      <p:to>
                                        <p:strVal val="visible"/>
                                      </p:to>
                                    </p:set>
                                    <p:anim calcmode="lin" valueType="num">
                                      <p:cBhvr additive="base">
                                        <p:cTn id="31" dur="500" fill="hold"/>
                                        <p:tgtEl>
                                          <p:spTgt spid="5939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939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533650" y="4000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SPEC First Round</a:t>
            </a:r>
          </a:p>
        </p:txBody>
      </p:sp>
      <p:sp>
        <p:nvSpPr>
          <p:cNvPr id="61443" name="Rectangle 3"/>
          <p:cNvSpPr>
            <a:spLocks noGrp="1" noChangeArrowheads="1"/>
          </p:cNvSpPr>
          <p:nvPr>
            <p:ph type="body" idx="1"/>
          </p:nvPr>
        </p:nvSpPr>
        <p:spPr>
          <a:xfrm>
            <a:off x="767408" y="1628800"/>
            <a:ext cx="9348142" cy="38957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One program: 99% of time in single line of code</a:t>
            </a:r>
          </a:p>
          <a:p>
            <a:r>
              <a:rPr lang="en-US" altLang="zh-CN" dirty="0"/>
              <a:t>New front-end compiler could improve dramatically</a:t>
            </a:r>
          </a:p>
        </p:txBody>
      </p:sp>
      <p:graphicFrame>
        <p:nvGraphicFramePr>
          <p:cNvPr id="61444" name="Object 4">
            <a:hlinkClick r:id="" action="ppaction://ole?verb=0"/>
          </p:cNvPr>
          <p:cNvGraphicFramePr>
            <a:graphicFrameLocks/>
          </p:cNvGraphicFramePr>
          <p:nvPr/>
        </p:nvGraphicFramePr>
        <p:xfrm>
          <a:off x="3289300" y="2895600"/>
          <a:ext cx="5664200" cy="3511550"/>
        </p:xfrm>
        <a:graphic>
          <a:graphicData uri="http://schemas.openxmlformats.org/presentationml/2006/ole">
            <mc:AlternateContent xmlns:mc="http://schemas.openxmlformats.org/markup-compatibility/2006">
              <mc:Choice xmlns:v="urn:schemas-microsoft-com:vml" Requires="v">
                <p:oleObj spid="_x0000_s2106" name="图表" r:id="rId3" imgW="4257360" imgH="2971800" progId="Excel.Chart.8">
                  <p:embed followColorScheme="full"/>
                </p:oleObj>
              </mc:Choice>
              <mc:Fallback>
                <p:oleObj name="图表" r:id="rId3" imgW="4257360" imgH="2971800" progId="Excel.Chart.8">
                  <p:embed followColorScheme="full"/>
                  <p:pic>
                    <p:nvPicPr>
                      <p:cNvPr id="61444"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9300" y="2895600"/>
                        <a:ext cx="5664200" cy="3511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18187732"/>
      </p:ext>
    </p:extLst>
  </p:cSld>
  <p:clrMapOvr>
    <a:masterClrMapping/>
  </p:clrMapOvr>
  <p:transition>
    <p:pull/>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590800" y="177453"/>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Impact of Means on SPECmark89 for IBM 550</a:t>
            </a:r>
          </a:p>
        </p:txBody>
      </p:sp>
      <p:sp>
        <p:nvSpPr>
          <p:cNvPr id="62467" name="Rectangle 3"/>
          <p:cNvSpPr>
            <a:spLocks noGrp="1" noChangeArrowheads="1"/>
          </p:cNvSpPr>
          <p:nvPr>
            <p:ph type="body" idx="1"/>
          </p:nvPr>
        </p:nvSpPr>
        <p:spPr>
          <a:xfrm>
            <a:off x="2400300" y="1340768"/>
            <a:ext cx="7543800" cy="495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gn="ctr">
              <a:lnSpc>
                <a:spcPct val="85000"/>
              </a:lnSpc>
              <a:buNone/>
              <a:tabLst>
                <a:tab pos="914400" algn="r"/>
                <a:tab pos="2057400" algn="r"/>
                <a:tab pos="2743200" algn="r"/>
                <a:tab pos="3771900" algn="r"/>
                <a:tab pos="4457700" algn="r"/>
                <a:tab pos="5600700" algn="r"/>
                <a:tab pos="6400800" algn="r"/>
                <a:tab pos="7315200" algn="r"/>
              </a:tabLst>
            </a:pPr>
            <a:r>
              <a:rPr lang="en-US" altLang="zh-CN" sz="2400" dirty="0"/>
              <a:t>        </a:t>
            </a:r>
            <a:r>
              <a:rPr lang="en-US" altLang="zh-CN" sz="2000" dirty="0">
                <a:solidFill>
                  <a:schemeClr val="accent1"/>
                </a:solidFill>
              </a:rPr>
              <a:t>Ratio to VAX:		      </a:t>
            </a:r>
            <a:r>
              <a:rPr lang="en-US" altLang="zh-CN" sz="2000" u="sng" dirty="0">
                <a:solidFill>
                  <a:schemeClr val="hlink"/>
                </a:solidFill>
              </a:rPr>
              <a:t>Time</a:t>
            </a:r>
            <a:r>
              <a:rPr lang="en-US" altLang="zh-CN" sz="2000" dirty="0">
                <a:solidFill>
                  <a:schemeClr val="hlink"/>
                </a:solidFill>
              </a:rPr>
              <a:t>:</a:t>
            </a:r>
            <a:r>
              <a:rPr lang="en-US" altLang="zh-CN" sz="2000" dirty="0">
                <a:solidFill>
                  <a:schemeClr val="accent1"/>
                </a:solidFill>
              </a:rPr>
              <a:t>  		</a:t>
            </a:r>
            <a:r>
              <a:rPr lang="en-US" altLang="zh-CN" sz="2000" u="sng" dirty="0">
                <a:solidFill>
                  <a:schemeClr val="hlink"/>
                </a:solidFill>
              </a:rPr>
              <a:t>Weighted Time</a:t>
            </a:r>
            <a:r>
              <a:rPr lang="en-US" altLang="zh-CN" sz="2000" dirty="0">
                <a:solidFill>
                  <a:schemeClr val="hlink"/>
                </a:solidFill>
              </a:rPr>
              <a:t>:</a:t>
            </a:r>
            <a:r>
              <a:rPr lang="en-US" altLang="zh-CN" sz="1600" dirty="0"/>
              <a:t>	</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i="1" dirty="0"/>
              <a:t>Program	Before	After	Before	After	Before	After</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gcc</a:t>
            </a:r>
            <a:r>
              <a:rPr lang="en-US" altLang="zh-CN" sz="2000" dirty="0"/>
              <a:t>		30	29	49	51	8.91	9.22</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t>espresso	35	34	65	67	7.64	7.86</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t>spice		47	47	510	510	5.69	5.69</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doduc</a:t>
            </a:r>
            <a:r>
              <a:rPr lang="en-US" altLang="zh-CN" sz="2000" dirty="0"/>
              <a:t>		46	49	41	38	5.81	5.45</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solidFill>
                  <a:schemeClr val="accent1"/>
                </a:solidFill>
              </a:rPr>
              <a:t>nasa7		78	144	258	140	3.43	1.86</a:t>
            </a:r>
            <a:endParaRPr lang="en-US" altLang="zh-CN" sz="2000" dirty="0"/>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t>li			34	34	183	183	7.86	7.86</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eqntott</a:t>
            </a:r>
            <a:r>
              <a:rPr lang="en-US" altLang="zh-CN" sz="2000" dirty="0"/>
              <a:t>		40	40	28	28	6.68	6.68</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solidFill>
                  <a:schemeClr val="tx1"/>
                </a:solidFill>
              </a:rPr>
              <a:t>matrix300	78	730	58	6	3.43	0.37</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fpppp</a:t>
            </a:r>
            <a:r>
              <a:rPr lang="en-US" altLang="zh-CN" sz="2000" dirty="0"/>
              <a:t>		90	87	34	35	2.97	3.07</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tomcatv</a:t>
            </a:r>
            <a:r>
              <a:rPr lang="en-US" altLang="zh-CN" sz="2000" dirty="0"/>
              <a:t>		33	138	20	19	2.01	1.94</a:t>
            </a:r>
            <a:endParaRPr lang="en-US" altLang="zh-CN" sz="2000" dirty="0">
              <a:solidFill>
                <a:schemeClr val="hlink"/>
              </a:solidFill>
            </a:endParaRP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solidFill>
                  <a:schemeClr val="tx1"/>
                </a:solidFill>
              </a:rPr>
              <a:t>Mean		54	72	124	108	54.42	49.99</a:t>
            </a:r>
            <a:endParaRPr lang="en-US" altLang="zh-CN" sz="2000" dirty="0"/>
          </a:p>
          <a:p>
            <a:pPr algn="r">
              <a:lnSpc>
                <a:spcPct val="85000"/>
              </a:lnSpc>
              <a:spcBef>
                <a:spcPct val="0"/>
              </a:spcBef>
              <a:buNone/>
              <a:tabLst>
                <a:tab pos="914400" algn="r"/>
                <a:tab pos="2057400" algn="r"/>
                <a:tab pos="2743200" algn="r"/>
                <a:tab pos="3771900" algn="r"/>
                <a:tab pos="4457700" algn="r"/>
                <a:tab pos="5600700" algn="r"/>
                <a:tab pos="6400800" algn="r"/>
                <a:tab pos="7315200" algn="r"/>
              </a:tabLst>
            </a:pPr>
            <a:r>
              <a:rPr lang="en-US" altLang="zh-CN" sz="2000" dirty="0"/>
              <a:t> </a:t>
            </a:r>
            <a:r>
              <a:rPr lang="en-US" altLang="zh-CN" sz="2000" dirty="0" smtClean="0"/>
              <a:t> </a:t>
            </a:r>
            <a:r>
              <a:rPr lang="en-US" altLang="zh-CN" sz="2000" i="1" dirty="0">
                <a:solidFill>
                  <a:schemeClr val="accent1"/>
                </a:solidFill>
              </a:rPr>
              <a:t>Geometric	   Arithmetic	    Weighted </a:t>
            </a:r>
            <a:r>
              <a:rPr lang="en-US" altLang="zh-CN" sz="2000" i="1" dirty="0" err="1">
                <a:solidFill>
                  <a:schemeClr val="accent1"/>
                </a:solidFill>
              </a:rPr>
              <a:t>Arith</a:t>
            </a:r>
            <a:r>
              <a:rPr lang="en-US" altLang="zh-CN" sz="2000" dirty="0"/>
              <a:t>	</a:t>
            </a:r>
          </a:p>
          <a:p>
            <a:pPr>
              <a:lnSpc>
                <a:spcPct val="85000"/>
              </a:lnSpc>
              <a:spcBef>
                <a:spcPct val="0"/>
              </a:spcBef>
              <a:buNone/>
              <a:tabLst>
                <a:tab pos="914400" algn="r"/>
                <a:tab pos="2057400" algn="r"/>
                <a:tab pos="2743200" algn="r"/>
                <a:tab pos="3771900" algn="r"/>
                <a:tab pos="4457700" algn="r"/>
                <a:tab pos="5600700" algn="r"/>
                <a:tab pos="6400800" algn="r"/>
                <a:tab pos="7315200" algn="r"/>
              </a:tabLst>
            </a:pPr>
            <a:r>
              <a:rPr lang="en-US" altLang="zh-CN" sz="2000" dirty="0"/>
              <a:t>			</a:t>
            </a:r>
            <a:r>
              <a:rPr lang="en-US" altLang="zh-CN" sz="2000" dirty="0">
                <a:solidFill>
                  <a:schemeClr val="tx1"/>
                </a:solidFill>
              </a:rPr>
              <a:t>Ratio	1.33	Ratio	1.16	Ratio	1.09</a:t>
            </a:r>
          </a:p>
        </p:txBody>
      </p:sp>
    </p:spTree>
    <p:extLst>
      <p:ext uri="{BB962C8B-B14F-4D97-AF65-F5344CB8AC3E}">
        <p14:creationId xmlns:p14="http://schemas.microsoft.com/office/powerpoint/2010/main" val="1563641228"/>
      </p:ext>
    </p:extLst>
  </p:cSld>
  <p:clrMapOvr>
    <a:masterClrMapping/>
  </p:clrMapOvr>
  <p:transition>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SPEC2006Cint execution </a:t>
            </a:r>
            <a:r>
              <a:rPr lang="en-US" altLang="zh-CN" dirty="0" smtClean="0"/>
              <a:t>times</a:t>
            </a:r>
            <a:endParaRPr lang="zh-CN" altLang="en-US" dirty="0"/>
          </a:p>
        </p:txBody>
      </p:sp>
      <p:pic>
        <p:nvPicPr>
          <p:cNvPr id="3" name="图片 2"/>
          <p:cNvPicPr>
            <a:picLocks noChangeAspect="1"/>
          </p:cNvPicPr>
          <p:nvPr/>
        </p:nvPicPr>
        <p:blipFill>
          <a:blip r:embed="rId2"/>
          <a:stretch>
            <a:fillRect/>
          </a:stretch>
        </p:blipFill>
        <p:spPr>
          <a:xfrm>
            <a:off x="2927648" y="1700808"/>
            <a:ext cx="8826811" cy="4956230"/>
          </a:xfrm>
          <a:prstGeom prst="rect">
            <a:avLst/>
          </a:prstGeom>
        </p:spPr>
      </p:pic>
      <p:sp>
        <p:nvSpPr>
          <p:cNvPr id="4" name="矩形 3"/>
          <p:cNvSpPr/>
          <p:nvPr/>
        </p:nvSpPr>
        <p:spPr>
          <a:xfrm>
            <a:off x="263352" y="1916832"/>
            <a:ext cx="2592288" cy="2862322"/>
          </a:xfrm>
          <a:prstGeom prst="rect">
            <a:avLst/>
          </a:prstGeom>
        </p:spPr>
        <p:txBody>
          <a:bodyPr wrap="square">
            <a:spAutoFit/>
          </a:bodyPr>
          <a:lstStyle/>
          <a:p>
            <a:r>
              <a:rPr lang="zh-CN" altLang="en-US" dirty="0" smtClean="0">
                <a:solidFill>
                  <a:srgbClr val="0000FF"/>
                </a:solidFill>
              </a:rPr>
              <a:t>参考机：</a:t>
            </a:r>
            <a:r>
              <a:rPr lang="en-US" altLang="zh-CN" dirty="0" smtClean="0">
                <a:solidFill>
                  <a:srgbClr val="0000FF"/>
                </a:solidFill>
              </a:rPr>
              <a:t>Sun </a:t>
            </a:r>
            <a:r>
              <a:rPr lang="en-US" altLang="zh-CN" dirty="0">
                <a:solidFill>
                  <a:srgbClr val="0000FF"/>
                </a:solidFill>
              </a:rPr>
              <a:t>Ultra </a:t>
            </a:r>
            <a:r>
              <a:rPr lang="en-US" altLang="zh-CN" dirty="0" smtClean="0">
                <a:solidFill>
                  <a:srgbClr val="0000FF"/>
                </a:solidFill>
              </a:rPr>
              <a:t>5</a:t>
            </a:r>
          </a:p>
          <a:p>
            <a:r>
              <a:rPr lang="zh-CN" altLang="en-US" dirty="0" smtClean="0">
                <a:solidFill>
                  <a:srgbClr val="0000FF"/>
                </a:solidFill>
              </a:rPr>
              <a:t>评测机：</a:t>
            </a:r>
            <a:r>
              <a:rPr lang="en-US" altLang="zh-CN" dirty="0" smtClean="0">
                <a:solidFill>
                  <a:srgbClr val="0000FF"/>
                </a:solidFill>
              </a:rPr>
              <a:t>AMD </a:t>
            </a:r>
            <a:r>
              <a:rPr lang="en-US" altLang="zh-CN" dirty="0">
                <a:solidFill>
                  <a:srgbClr val="0000FF"/>
                </a:solidFill>
              </a:rPr>
              <a:t>A10 and Intel Xeon </a:t>
            </a:r>
            <a:r>
              <a:rPr lang="en-US" altLang="zh-CN" dirty="0" smtClean="0">
                <a:solidFill>
                  <a:srgbClr val="0000FF"/>
                </a:solidFill>
              </a:rPr>
              <a:t>E5-2690</a:t>
            </a:r>
          </a:p>
          <a:p>
            <a:endParaRPr lang="en-US" altLang="zh-CN" dirty="0">
              <a:solidFill>
                <a:srgbClr val="0000FF"/>
              </a:solidFill>
            </a:endParaRPr>
          </a:p>
          <a:p>
            <a:endParaRPr lang="en-US" altLang="zh-CN" dirty="0" smtClean="0">
              <a:solidFill>
                <a:srgbClr val="0000FF"/>
              </a:solidFill>
            </a:endParaRPr>
          </a:p>
          <a:p>
            <a:r>
              <a:rPr lang="zh-CN" altLang="en-US" dirty="0" smtClean="0">
                <a:solidFill>
                  <a:srgbClr val="0000FF"/>
                </a:solidFill>
              </a:rPr>
              <a:t>当对比两台机器时，可以直接把它们的执行时间相除，再算出几何平均值</a:t>
            </a:r>
            <a:endParaRPr lang="en-US" altLang="zh-CN" dirty="0" smtClean="0">
              <a:solidFill>
                <a:srgbClr val="0000FF"/>
              </a:solidFill>
            </a:endParaRPr>
          </a:p>
          <a:p>
            <a:pPr lvl="1"/>
            <a:r>
              <a:rPr lang="zh-CN" altLang="en-US" dirty="0" smtClean="0">
                <a:solidFill>
                  <a:srgbClr val="0000FF"/>
                </a:solidFill>
              </a:rPr>
              <a:t>与参考机无关</a:t>
            </a:r>
            <a:endParaRPr lang="en-US" altLang="zh-CN" dirty="0">
              <a:solidFill>
                <a:srgbClr val="0000FF"/>
              </a:solidFill>
            </a:endParaRPr>
          </a:p>
        </p:txBody>
      </p:sp>
    </p:spTree>
    <p:extLst>
      <p:ext uri="{BB962C8B-B14F-4D97-AF65-F5344CB8AC3E}">
        <p14:creationId xmlns:p14="http://schemas.microsoft.com/office/powerpoint/2010/main" val="14125847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Performance Evaluation</a:t>
            </a:r>
          </a:p>
        </p:txBody>
      </p:sp>
      <p:sp>
        <p:nvSpPr>
          <p:cNvPr id="63491" name="Rectangle 3"/>
          <p:cNvSpPr>
            <a:spLocks noGrp="1" noChangeArrowheads="1"/>
          </p:cNvSpPr>
          <p:nvPr>
            <p:ph type="body" idx="1"/>
          </p:nvPr>
        </p:nvSpPr>
        <p:spPr>
          <a:xfrm>
            <a:off x="695400" y="1676400"/>
            <a:ext cx="10945216"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Better or worse, benchmarks shape a field</a:t>
            </a:r>
          </a:p>
          <a:p>
            <a:r>
              <a:rPr lang="en-US" altLang="zh-CN" dirty="0"/>
              <a:t>Good products created when have:</a:t>
            </a:r>
          </a:p>
          <a:p>
            <a:pPr lvl="1"/>
            <a:r>
              <a:rPr lang="en-US" altLang="zh-CN" dirty="0"/>
              <a:t>Good benchmarks</a:t>
            </a:r>
          </a:p>
          <a:p>
            <a:pPr lvl="1"/>
            <a:r>
              <a:rPr lang="en-US" altLang="zh-CN" dirty="0"/>
              <a:t>Good ways to summarize performance</a:t>
            </a:r>
          </a:p>
          <a:p>
            <a:r>
              <a:rPr lang="en-US" altLang="zh-CN" dirty="0"/>
              <a:t>If benchmarks/summary inadequate, then choose between improving product for real programs vs. improving product to get more sales;</a:t>
            </a:r>
            <a:br>
              <a:rPr lang="en-US" altLang="zh-CN" dirty="0"/>
            </a:br>
            <a:r>
              <a:rPr lang="en-US" altLang="zh-CN" dirty="0"/>
              <a:t>Sales almost always wins!</a:t>
            </a:r>
          </a:p>
          <a:p>
            <a:r>
              <a:rPr lang="en-US" altLang="zh-CN" u="sng" dirty="0">
                <a:solidFill>
                  <a:srgbClr val="FF0000"/>
                </a:solidFill>
              </a:rPr>
              <a:t>Execution time is the measure of computer performance!</a:t>
            </a:r>
          </a:p>
        </p:txBody>
      </p:sp>
    </p:spTree>
    <p:extLst>
      <p:ext uri="{BB962C8B-B14F-4D97-AF65-F5344CB8AC3E}">
        <p14:creationId xmlns:p14="http://schemas.microsoft.com/office/powerpoint/2010/main" val="1748831123"/>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3491">
                                            <p:txEl>
                                              <p:pRg st="1" end="1"/>
                                            </p:txEl>
                                          </p:spTgt>
                                        </p:tgtEl>
                                        <p:attrNameLst>
                                          <p:attrName>style.visibility</p:attrName>
                                        </p:attrNameLst>
                                      </p:cBhvr>
                                      <p:to>
                                        <p:strVal val="visible"/>
                                      </p:to>
                                    </p:set>
                                    <p:anim calcmode="lin" valueType="num">
                                      <p:cBhvr additive="base">
                                        <p:cTn id="13" dur="500" fill="hold"/>
                                        <p:tgtEl>
                                          <p:spTgt spid="6349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3491">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63491">
                                            <p:txEl>
                                              <p:pRg st="2" end="2"/>
                                            </p:txEl>
                                          </p:spTgt>
                                        </p:tgtEl>
                                        <p:attrNameLst>
                                          <p:attrName>style.visibility</p:attrName>
                                        </p:attrNameLst>
                                      </p:cBhvr>
                                      <p:to>
                                        <p:strVal val="visible"/>
                                      </p:to>
                                    </p:set>
                                    <p:anim calcmode="lin" valueType="num">
                                      <p:cBhvr additive="base">
                                        <p:cTn id="17" dur="500" fill="hold"/>
                                        <p:tgtEl>
                                          <p:spTgt spid="63491">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349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3491">
                                            <p:txEl>
                                              <p:pRg st="3" end="3"/>
                                            </p:txEl>
                                          </p:spTgt>
                                        </p:tgtEl>
                                        <p:attrNameLst>
                                          <p:attrName>style.visibility</p:attrName>
                                        </p:attrNameLst>
                                      </p:cBhvr>
                                      <p:to>
                                        <p:strVal val="visible"/>
                                      </p:to>
                                    </p:set>
                                    <p:anim calcmode="lin" valueType="num">
                                      <p:cBhvr additive="base">
                                        <p:cTn id="21" dur="500" fill="hold"/>
                                        <p:tgtEl>
                                          <p:spTgt spid="6349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34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63491">
                                            <p:txEl>
                                              <p:pRg st="4" end="4"/>
                                            </p:txEl>
                                          </p:spTgt>
                                        </p:tgtEl>
                                        <p:attrNameLst>
                                          <p:attrName>style.visibility</p:attrName>
                                        </p:attrNameLst>
                                      </p:cBhvr>
                                      <p:to>
                                        <p:strVal val="visible"/>
                                      </p:to>
                                    </p:set>
                                    <p:anim calcmode="lin" valueType="num">
                                      <p:cBhvr additive="base">
                                        <p:cTn id="27" dur="500" fill="hold"/>
                                        <p:tgtEl>
                                          <p:spTgt spid="63491">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34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3491">
                                            <p:txEl>
                                              <p:pRg st="5" end="5"/>
                                            </p:txEl>
                                          </p:spTgt>
                                        </p:tgtEl>
                                        <p:attrNameLst>
                                          <p:attrName>style.visibility</p:attrName>
                                        </p:attrNameLst>
                                      </p:cBhvr>
                                      <p:to>
                                        <p:strVal val="visible"/>
                                      </p:to>
                                    </p:set>
                                    <p:anim calcmode="lin" valueType="num">
                                      <p:cBhvr additive="base">
                                        <p:cTn id="33" dur="500" fill="hold"/>
                                        <p:tgtEl>
                                          <p:spTgt spid="63491">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349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7368" y="365125"/>
            <a:ext cx="11377264" cy="903635"/>
          </a:xfrm>
        </p:spPr>
        <p:txBody>
          <a:bodyPr/>
          <a:lstStyle/>
          <a:p>
            <a:r>
              <a:rPr lang="en-US" altLang="zh-CN" dirty="0" smtClean="0"/>
              <a:t>Gaps between Peak with Real Performance</a:t>
            </a:r>
            <a:endParaRPr lang="zh-CN" altLang="en-US" dirty="0"/>
          </a:p>
        </p:txBody>
      </p:sp>
      <p:sp>
        <p:nvSpPr>
          <p:cNvPr id="3" name="Rectangle 1"/>
          <p:cNvSpPr>
            <a:spLocks noChangeArrowheads="1"/>
          </p:cNvSpPr>
          <p:nvPr/>
        </p:nvSpPr>
        <p:spPr bwMode="auto">
          <a:xfrm>
            <a:off x="695400" y="5288340"/>
            <a:ext cx="1087320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b="1" dirty="0" smtClean="0">
                <a:solidFill>
                  <a:srgbClr val="0000FF"/>
                </a:solidFill>
              </a:rPr>
              <a:t>4 multiprocessors </a:t>
            </a:r>
            <a:r>
              <a:rPr lang="en-US" altLang="en-US" b="1" dirty="0">
                <a:solidFill>
                  <a:srgbClr val="0000FF"/>
                </a:solidFill>
              </a:rPr>
              <a:t>scaled to 64 </a:t>
            </a:r>
            <a:r>
              <a:rPr lang="en-US" altLang="en-US" b="1" dirty="0" smtClean="0">
                <a:solidFill>
                  <a:srgbClr val="0000FF"/>
                </a:solidFill>
              </a:rPr>
              <a:t>processors</a:t>
            </a:r>
          </a:p>
          <a:p>
            <a:pPr marL="285750" indent="-285750">
              <a:buFont typeface="Arial" panose="020B0604020202020204" pitchFamily="34" charset="0"/>
              <a:buChar char="•"/>
            </a:pPr>
            <a:r>
              <a:rPr lang="en-US" altLang="en-US" dirty="0" smtClean="0">
                <a:solidFill>
                  <a:srgbClr val="0000FF"/>
                </a:solidFill>
              </a:rPr>
              <a:t>The </a:t>
            </a:r>
            <a:r>
              <a:rPr lang="en-US" altLang="en-US" dirty="0">
                <a:solidFill>
                  <a:srgbClr val="0000FF"/>
                </a:solidFill>
              </a:rPr>
              <a:t>Earth Simulator and </a:t>
            </a:r>
            <a:r>
              <a:rPr lang="en-US" altLang="en-US" dirty="0" smtClean="0">
                <a:solidFill>
                  <a:srgbClr val="0000FF"/>
                </a:solidFill>
              </a:rPr>
              <a:t>Cray X1 </a:t>
            </a:r>
            <a:r>
              <a:rPr lang="en-US" altLang="en-US" dirty="0">
                <a:solidFill>
                  <a:srgbClr val="0000FF"/>
                </a:solidFill>
              </a:rPr>
              <a:t>are vector </a:t>
            </a:r>
            <a:r>
              <a:rPr lang="en-US" altLang="en-US" dirty="0" smtClean="0">
                <a:solidFill>
                  <a:srgbClr val="0000FF"/>
                </a:solidFill>
              </a:rPr>
              <a:t>processors. Not </a:t>
            </a:r>
            <a:r>
              <a:rPr lang="en-US" altLang="en-US" dirty="0">
                <a:solidFill>
                  <a:srgbClr val="0000FF"/>
                </a:solidFill>
              </a:rPr>
              <a:t>only did they deliver a higher fraction of peak performance, but they also had the highest peak performance and the lowest clock </a:t>
            </a:r>
            <a:r>
              <a:rPr lang="en-US" altLang="en-US" dirty="0" smtClean="0">
                <a:solidFill>
                  <a:srgbClr val="0000FF"/>
                </a:solidFill>
              </a:rPr>
              <a:t>rates</a:t>
            </a:r>
          </a:p>
          <a:p>
            <a:pPr marL="285750" indent="-285750">
              <a:buFont typeface="Arial" panose="020B0604020202020204" pitchFamily="34" charset="0"/>
              <a:buChar char="•"/>
            </a:pPr>
            <a:r>
              <a:rPr lang="en-US" altLang="en-US" dirty="0" smtClean="0">
                <a:solidFill>
                  <a:srgbClr val="0000FF"/>
                </a:solidFill>
              </a:rPr>
              <a:t>Except </a:t>
            </a:r>
            <a:r>
              <a:rPr lang="en-US" altLang="en-US" dirty="0">
                <a:solidFill>
                  <a:srgbClr val="0000FF"/>
                </a:solidFill>
              </a:rPr>
              <a:t>for the </a:t>
            </a:r>
            <a:r>
              <a:rPr lang="en-US" altLang="en-US" dirty="0" err="1">
                <a:solidFill>
                  <a:srgbClr val="0000FF"/>
                </a:solidFill>
              </a:rPr>
              <a:t>Paratec</a:t>
            </a:r>
            <a:r>
              <a:rPr lang="en-US" altLang="en-US" dirty="0">
                <a:solidFill>
                  <a:srgbClr val="0000FF"/>
                </a:solidFill>
              </a:rPr>
              <a:t> program, the Power 4 and Itanium 2 systems delivered between 5% and 10% of their peak. </a:t>
            </a:r>
          </a:p>
        </p:txBody>
      </p:sp>
      <p:pic>
        <p:nvPicPr>
          <p:cNvPr id="4" name="Picture 2" descr="Z:\WOMAT\Production\Artfinal\0000000038\MKCAD\978-0-12-811905-1\0003165540\XMLLowres\f01-24-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7608" y="1545622"/>
            <a:ext cx="6336704" cy="361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7956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2A01463-4A58-4280-8773-BD9B71589B99}"/>
              </a:ext>
            </a:extLst>
          </p:cNvPr>
          <p:cNvSpPr>
            <a:spLocks noGrp="1"/>
          </p:cNvSpPr>
          <p:nvPr>
            <p:ph type="title"/>
          </p:nvPr>
        </p:nvSpPr>
        <p:spPr/>
        <p:txBody>
          <a:bodyPr/>
          <a:lstStyle/>
          <a:p>
            <a:r>
              <a:rPr lang="zh-CN" altLang="en-US" dirty="0"/>
              <a:t>研究与工程的不同方向</a:t>
            </a:r>
          </a:p>
        </p:txBody>
      </p:sp>
      <p:sp>
        <p:nvSpPr>
          <p:cNvPr id="3" name="内容占位符 2">
            <a:extLst>
              <a:ext uri="{FF2B5EF4-FFF2-40B4-BE49-F238E27FC236}">
                <a16:creationId xmlns:a16="http://schemas.microsoft.com/office/drawing/2014/main" id="{5B1D1724-D611-4857-8632-76C0E8065C2F}"/>
              </a:ext>
            </a:extLst>
          </p:cNvPr>
          <p:cNvSpPr>
            <a:spLocks noGrp="1"/>
          </p:cNvSpPr>
          <p:nvPr>
            <p:ph idx="1"/>
          </p:nvPr>
        </p:nvSpPr>
        <p:spPr/>
        <p:txBody>
          <a:bodyPr/>
          <a:lstStyle/>
          <a:p>
            <a:r>
              <a:rPr lang="en-US" altLang="zh-CN" dirty="0"/>
              <a:t>2000</a:t>
            </a:r>
            <a:r>
              <a:rPr lang="zh-CN" altLang="en-US" dirty="0"/>
              <a:t>年以后，提高单核性能已不再是学术界的研究热点</a:t>
            </a:r>
            <a:endParaRPr lang="en-US" altLang="zh-CN" dirty="0"/>
          </a:p>
          <a:p>
            <a:pPr lvl="1"/>
            <a:r>
              <a:rPr lang="en-US" altLang="zh-CN" dirty="0"/>
              <a:t>2005</a:t>
            </a:r>
            <a:r>
              <a:rPr lang="zh-CN" altLang="en-US" dirty="0"/>
              <a:t>年，计算所的</a:t>
            </a:r>
            <a:r>
              <a:rPr lang="en-US" altLang="zh-CN" dirty="0"/>
              <a:t>973</a:t>
            </a:r>
            <a:r>
              <a:rPr lang="zh-CN" altLang="en-US" dirty="0"/>
              <a:t>项目，开始把方向转到众核</a:t>
            </a:r>
            <a:endParaRPr lang="en-US" altLang="zh-CN" dirty="0"/>
          </a:p>
          <a:p>
            <a:r>
              <a:rPr lang="zh-CN" altLang="en-US" dirty="0"/>
              <a:t>但单核性能提高，仍是工程师们的努力方向</a:t>
            </a:r>
          </a:p>
        </p:txBody>
      </p:sp>
      <p:pic>
        <p:nvPicPr>
          <p:cNvPr id="39938" name="图表 1" descr="image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1685" y="3501011"/>
            <a:ext cx="4114557" cy="2870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图表 4" descr="image0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4586" y="3501011"/>
            <a:ext cx="4114557" cy="2870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8670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45E1A88-9B7F-411D-8B26-2ADB124BE3E8}"/>
              </a:ext>
            </a:extLst>
          </p:cNvPr>
          <p:cNvSpPr>
            <a:spLocks noGrp="1"/>
          </p:cNvSpPr>
          <p:nvPr>
            <p:ph type="title"/>
          </p:nvPr>
        </p:nvSpPr>
        <p:spPr/>
        <p:txBody>
          <a:bodyPr/>
          <a:lstStyle/>
          <a:p>
            <a:r>
              <a:rPr lang="zh-CN" altLang="en-US"/>
              <a:t>观察到的一些现象</a:t>
            </a:r>
            <a:endParaRPr lang="zh-CN" altLang="en-US" dirty="0"/>
          </a:p>
        </p:txBody>
      </p:sp>
      <p:sp>
        <p:nvSpPr>
          <p:cNvPr id="2" name="内容占位符 1"/>
          <p:cNvSpPr>
            <a:spLocks noGrp="1"/>
          </p:cNvSpPr>
          <p:nvPr>
            <p:ph idx="1"/>
          </p:nvPr>
        </p:nvSpPr>
        <p:spPr/>
        <p:txBody>
          <a:bodyPr/>
          <a:lstStyle/>
          <a:p>
            <a:r>
              <a:rPr lang="zh-CN" altLang="en-US" dirty="0" smtClean="0"/>
              <a:t>十年之间，</a:t>
            </a:r>
            <a:r>
              <a:rPr lang="zh-CN" altLang="en-US" dirty="0"/>
              <a:t>单核定点性能</a:t>
            </a:r>
            <a:r>
              <a:rPr lang="en-US" altLang="zh-CN" dirty="0"/>
              <a:t>4X</a:t>
            </a:r>
            <a:r>
              <a:rPr lang="zh-CN" altLang="en-US" dirty="0"/>
              <a:t>，单核浮点性能</a:t>
            </a:r>
            <a:r>
              <a:rPr lang="en-US" altLang="zh-CN" dirty="0"/>
              <a:t>7X</a:t>
            </a:r>
          </a:p>
          <a:p>
            <a:pPr lvl="1"/>
            <a:r>
              <a:rPr lang="en-US" altLang="zh-CN" dirty="0"/>
              <a:t>CPU</a:t>
            </a:r>
            <a:r>
              <a:rPr lang="zh-CN" altLang="en-US" dirty="0"/>
              <a:t>的主频没有提高（虽然工艺在不断改进），所以性能的改进主要归功于微架构的改进</a:t>
            </a:r>
            <a:endParaRPr lang="en-US" altLang="zh-CN" dirty="0"/>
          </a:p>
          <a:p>
            <a:r>
              <a:rPr lang="zh-CN" altLang="en-US" dirty="0"/>
              <a:t>有了多核，为什么仍要改进单核？</a:t>
            </a:r>
            <a:endParaRPr lang="en-US" altLang="zh-CN" dirty="0"/>
          </a:p>
          <a:p>
            <a:pPr lvl="1"/>
            <a:r>
              <a:rPr lang="zh-CN" altLang="en-US" dirty="0"/>
              <a:t>发挥多核性能，需要把串行程序改成并行程序</a:t>
            </a:r>
            <a:endParaRPr lang="en-US" altLang="zh-CN" dirty="0"/>
          </a:p>
          <a:p>
            <a:pPr lvl="2"/>
            <a:r>
              <a:rPr lang="zh-CN" altLang="en-US" dirty="0"/>
              <a:t>易改，且效率不打折扣</a:t>
            </a:r>
            <a:endParaRPr lang="en-US" altLang="zh-CN" dirty="0"/>
          </a:p>
          <a:p>
            <a:pPr lvl="2"/>
            <a:r>
              <a:rPr lang="zh-CN" altLang="en-US" dirty="0">
                <a:solidFill>
                  <a:srgbClr val="FF0000"/>
                </a:solidFill>
              </a:rPr>
              <a:t>能改，但效率要</a:t>
            </a:r>
            <a:r>
              <a:rPr lang="zh-CN" altLang="en-US" dirty="0" smtClean="0">
                <a:solidFill>
                  <a:srgbClr val="FF0000"/>
                </a:solidFill>
              </a:rPr>
              <a:t>打折扣，串行程序自动并行化的效果不尽如意</a:t>
            </a:r>
            <a:endParaRPr lang="en-US" altLang="zh-CN" dirty="0">
              <a:solidFill>
                <a:srgbClr val="FF0000"/>
              </a:solidFill>
            </a:endParaRPr>
          </a:p>
          <a:p>
            <a:pPr lvl="2"/>
            <a:r>
              <a:rPr lang="zh-CN" altLang="en-US" dirty="0">
                <a:solidFill>
                  <a:srgbClr val="C00000"/>
                </a:solidFill>
              </a:rPr>
              <a:t>老旧的应用、无源码的应用，基本上改不了</a:t>
            </a:r>
            <a:endParaRPr lang="en-US" altLang="zh-CN" dirty="0">
              <a:solidFill>
                <a:srgbClr val="C00000"/>
              </a:solidFill>
            </a:endParaRPr>
          </a:p>
          <a:p>
            <a:pPr lvl="1"/>
            <a:r>
              <a:rPr lang="zh-CN" altLang="en-US" dirty="0"/>
              <a:t>大量企业关键应用，按</a:t>
            </a:r>
            <a:r>
              <a:rPr lang="en-US" altLang="zh-CN" dirty="0"/>
              <a:t>CPU</a:t>
            </a:r>
            <a:r>
              <a:rPr lang="zh-CN" altLang="en-US" dirty="0"/>
              <a:t>核数计算</a:t>
            </a:r>
            <a:r>
              <a:rPr lang="en-US" altLang="zh-CN" dirty="0"/>
              <a:t>License</a:t>
            </a:r>
            <a:r>
              <a:rPr lang="zh-CN" altLang="en-US" dirty="0"/>
              <a:t>数量</a:t>
            </a:r>
            <a:endParaRPr lang="en-US" altLang="zh-CN" dirty="0"/>
          </a:p>
          <a:p>
            <a:pPr lvl="2"/>
            <a:r>
              <a:rPr lang="zh-CN" altLang="en-US" dirty="0"/>
              <a:t>如</a:t>
            </a:r>
            <a:r>
              <a:rPr lang="en-US" altLang="zh-CN" dirty="0"/>
              <a:t>Oracle</a:t>
            </a:r>
            <a:r>
              <a:rPr lang="zh-CN" altLang="en-US" dirty="0"/>
              <a:t>数据库、</a:t>
            </a:r>
            <a:r>
              <a:rPr lang="en-US" altLang="zh-CN" dirty="0"/>
              <a:t>SAP</a:t>
            </a:r>
            <a:r>
              <a:rPr lang="zh-CN" altLang="en-US" dirty="0"/>
              <a:t>（</a:t>
            </a:r>
            <a:r>
              <a:rPr lang="en-US" altLang="zh-CN" dirty="0"/>
              <a:t>ERP</a:t>
            </a:r>
            <a:r>
              <a:rPr lang="zh-CN" altLang="en-US" dirty="0"/>
              <a:t>软件）、</a:t>
            </a:r>
            <a:r>
              <a:rPr lang="en-US" altLang="zh-CN" dirty="0"/>
              <a:t>EDA</a:t>
            </a:r>
            <a:r>
              <a:rPr lang="zh-CN" altLang="en-US" dirty="0"/>
              <a:t>工具等</a:t>
            </a:r>
            <a:endParaRPr lang="en-US" altLang="zh-CN" dirty="0"/>
          </a:p>
          <a:p>
            <a:pPr lvl="2"/>
            <a:r>
              <a:rPr lang="zh-CN" altLang="en-US" dirty="0"/>
              <a:t>单核性能差一倍</a:t>
            </a:r>
            <a:r>
              <a:rPr lang="zh-CN" altLang="en-US" dirty="0" smtClean="0"/>
              <a:t>，为了达到同样效能，购买</a:t>
            </a:r>
            <a:r>
              <a:rPr lang="en-US" altLang="zh-CN" dirty="0"/>
              <a:t>License</a:t>
            </a:r>
            <a:r>
              <a:rPr lang="zh-CN" altLang="en-US" dirty="0"/>
              <a:t>数量就要翻一番，成本太高</a:t>
            </a:r>
            <a:endParaRPr lang="en-US" altLang="zh-CN" dirty="0"/>
          </a:p>
        </p:txBody>
      </p:sp>
    </p:spTree>
    <p:extLst>
      <p:ext uri="{BB962C8B-B14F-4D97-AF65-F5344CB8AC3E}">
        <p14:creationId xmlns:p14="http://schemas.microsoft.com/office/powerpoint/2010/main" val="33519567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BF3E20-8AAD-48C9-B3AC-B832E6DF6827}"/>
              </a:ext>
            </a:extLst>
          </p:cNvPr>
          <p:cNvSpPr>
            <a:spLocks noGrp="1"/>
          </p:cNvSpPr>
          <p:nvPr>
            <p:ph type="title"/>
          </p:nvPr>
        </p:nvSpPr>
        <p:spPr>
          <a:xfrm>
            <a:off x="695400" y="354360"/>
            <a:ext cx="10658400" cy="914400"/>
          </a:xfrm>
        </p:spPr>
        <p:txBody>
          <a:bodyPr/>
          <a:lstStyle/>
          <a:p>
            <a:r>
              <a:rPr lang="zh-CN" altLang="en-US" dirty="0" smtClean="0"/>
              <a:t>为什么对单核的改进主要在企业中进行？</a:t>
            </a:r>
            <a:endParaRPr lang="zh-CN" altLang="en-US" dirty="0"/>
          </a:p>
        </p:txBody>
      </p:sp>
      <p:sp>
        <p:nvSpPr>
          <p:cNvPr id="3" name="内容占位符 2">
            <a:extLst>
              <a:ext uri="{FF2B5EF4-FFF2-40B4-BE49-F238E27FC236}">
                <a16:creationId xmlns:a16="http://schemas.microsoft.com/office/drawing/2014/main" id="{2AE3F57F-58AD-45FE-9757-AB505CB4C279}"/>
              </a:ext>
            </a:extLst>
          </p:cNvPr>
          <p:cNvSpPr>
            <a:spLocks noGrp="1"/>
          </p:cNvSpPr>
          <p:nvPr>
            <p:ph idx="1"/>
          </p:nvPr>
        </p:nvSpPr>
        <p:spPr/>
        <p:txBody>
          <a:bodyPr/>
          <a:lstStyle/>
          <a:p>
            <a:r>
              <a:rPr lang="zh-CN" altLang="en-US" dirty="0"/>
              <a:t>原理和方法</a:t>
            </a:r>
            <a:r>
              <a:rPr lang="zh-CN" altLang="en-US" dirty="0" smtClean="0"/>
              <a:t>上的创新点相对少一些，不容易写</a:t>
            </a:r>
            <a:r>
              <a:rPr lang="en-US" altLang="zh-CN" dirty="0" smtClean="0"/>
              <a:t>Paper</a:t>
            </a:r>
            <a:endParaRPr lang="en-US" altLang="zh-CN" dirty="0"/>
          </a:p>
          <a:p>
            <a:pPr lvl="1"/>
            <a:r>
              <a:rPr lang="zh-CN" altLang="en-US" dirty="0"/>
              <a:t>多级高速缓存</a:t>
            </a:r>
            <a:endParaRPr lang="en-US" altLang="zh-CN" dirty="0"/>
          </a:p>
          <a:p>
            <a:pPr lvl="1"/>
            <a:r>
              <a:rPr lang="zh-CN" altLang="en-US" dirty="0"/>
              <a:t>动态多发射和乱序执行</a:t>
            </a:r>
            <a:endParaRPr lang="en-US" altLang="zh-CN" dirty="0"/>
          </a:p>
          <a:p>
            <a:pPr lvl="1"/>
            <a:r>
              <a:rPr lang="zh-CN" altLang="en-US" dirty="0"/>
              <a:t>动态分支预测、猜测执行</a:t>
            </a:r>
            <a:endParaRPr lang="en-US" altLang="zh-CN" dirty="0"/>
          </a:p>
          <a:p>
            <a:r>
              <a:rPr lang="zh-CN" altLang="en-US" dirty="0"/>
              <a:t>稳定、精确、可预测的性能模型、方法、工具</a:t>
            </a:r>
            <a:endParaRPr lang="en-US" altLang="zh-CN" dirty="0"/>
          </a:p>
          <a:p>
            <a:pPr lvl="1"/>
            <a:r>
              <a:rPr lang="zh-CN" altLang="en-US" dirty="0"/>
              <a:t>基于大量真实工作负荷的测量和分析（耗时）</a:t>
            </a:r>
            <a:endParaRPr lang="en-US" altLang="zh-CN" dirty="0"/>
          </a:p>
          <a:p>
            <a:pPr lvl="1"/>
            <a:r>
              <a:rPr lang="en-US" altLang="zh-CN" dirty="0"/>
              <a:t>RTL</a:t>
            </a:r>
            <a:r>
              <a:rPr lang="zh-CN" altLang="en-US" dirty="0"/>
              <a:t>级的快速原型装置（昂贵）</a:t>
            </a:r>
            <a:endParaRPr lang="en-US" altLang="zh-CN" dirty="0"/>
          </a:p>
          <a:p>
            <a:r>
              <a:rPr lang="zh-CN" altLang="en-US" dirty="0"/>
              <a:t>一批有经验的微</a:t>
            </a:r>
            <a:r>
              <a:rPr lang="zh-CN" altLang="en-US" dirty="0" smtClean="0"/>
              <a:t>架构、逻辑设计及物理设计工程师</a:t>
            </a:r>
            <a:endParaRPr lang="en-US" altLang="zh-CN" dirty="0"/>
          </a:p>
          <a:p>
            <a:pPr lvl="1"/>
            <a:r>
              <a:rPr lang="zh-CN" altLang="en-US" dirty="0" smtClean="0"/>
              <a:t>大学和科研</a:t>
            </a:r>
            <a:r>
              <a:rPr lang="zh-CN" altLang="en-US" dirty="0"/>
              <a:t>机构的评价标准不同，</a:t>
            </a:r>
            <a:r>
              <a:rPr lang="zh-CN" altLang="en-US" dirty="0" smtClean="0"/>
              <a:t>难以支持</a:t>
            </a:r>
            <a:endParaRPr lang="zh-CN" altLang="en-US" dirty="0"/>
          </a:p>
        </p:txBody>
      </p:sp>
    </p:spTree>
    <p:extLst>
      <p:ext uri="{BB962C8B-B14F-4D97-AF65-F5344CB8AC3E}">
        <p14:creationId xmlns:p14="http://schemas.microsoft.com/office/powerpoint/2010/main" val="10564075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Trends in Cost</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smtClean="0"/>
              <a:t>Cost driven down by learning curve</a:t>
            </a:r>
          </a:p>
          <a:p>
            <a:pPr lvl="1">
              <a:lnSpc>
                <a:spcPct val="90000"/>
              </a:lnSpc>
            </a:pPr>
            <a:r>
              <a:rPr lang="en-US" dirty="0" smtClean="0"/>
              <a:t>Yield </a:t>
            </a:r>
            <a:r>
              <a:rPr lang="en-US" altLang="zh-CN" dirty="0" smtClean="0"/>
              <a:t>improves with time</a:t>
            </a:r>
            <a:endParaRPr lang="en-US" dirty="0" smtClean="0"/>
          </a:p>
          <a:p>
            <a:pPr lvl="1">
              <a:lnSpc>
                <a:spcPct val="90000"/>
              </a:lnSpc>
            </a:pPr>
            <a:endParaRPr lang="en-US" dirty="0" smtClean="0"/>
          </a:p>
          <a:p>
            <a:pPr>
              <a:lnSpc>
                <a:spcPct val="90000"/>
              </a:lnSpc>
            </a:pPr>
            <a:r>
              <a:rPr lang="en-US" dirty="0" smtClean="0"/>
              <a:t>DRAM:  price closely tracks cost</a:t>
            </a:r>
          </a:p>
          <a:p>
            <a:pPr>
              <a:lnSpc>
                <a:spcPct val="90000"/>
              </a:lnSpc>
            </a:pPr>
            <a:endParaRPr lang="en-US" dirty="0" smtClean="0"/>
          </a:p>
          <a:p>
            <a:pPr>
              <a:lnSpc>
                <a:spcPct val="90000"/>
              </a:lnSpc>
            </a:pPr>
            <a:r>
              <a:rPr lang="en-US" dirty="0" smtClean="0"/>
              <a:t>Microprocessors:  price depends on volume</a:t>
            </a:r>
          </a:p>
          <a:p>
            <a:pPr lvl="1">
              <a:lnSpc>
                <a:spcPct val="90000"/>
              </a:lnSpc>
            </a:pPr>
            <a:r>
              <a:rPr lang="en-US" dirty="0" smtClean="0"/>
              <a:t>10% less for each doubling of volume</a:t>
            </a:r>
          </a:p>
        </p:txBody>
      </p:sp>
    </p:spTree>
    <p:extLst>
      <p:ext uri="{BB962C8B-B14F-4D97-AF65-F5344CB8AC3E}">
        <p14:creationId xmlns:p14="http://schemas.microsoft.com/office/powerpoint/2010/main" val="181234078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Wafer</a:t>
            </a:r>
            <a:r>
              <a:rPr lang="zh-CN" altLang="en-US" dirty="0" smtClean="0"/>
              <a:t>和</a:t>
            </a:r>
            <a:r>
              <a:rPr lang="en-US" altLang="zh-CN" dirty="0" smtClean="0"/>
              <a:t>die</a:t>
            </a:r>
            <a:r>
              <a:rPr lang="zh-CN" altLang="en-US" dirty="0" smtClean="0"/>
              <a:t>的例子</a:t>
            </a:r>
            <a:endParaRPr lang="zh-CN" altLang="en-US" dirty="0"/>
          </a:p>
        </p:txBody>
      </p:sp>
      <p:sp>
        <p:nvSpPr>
          <p:cNvPr id="3" name="Rectangle 1"/>
          <p:cNvSpPr>
            <a:spLocks noChangeArrowheads="1"/>
          </p:cNvSpPr>
          <p:nvPr/>
        </p:nvSpPr>
        <p:spPr bwMode="auto">
          <a:xfrm>
            <a:off x="479376" y="1628800"/>
            <a:ext cx="10657184" cy="318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449263" eaLnBrk="1">
              <a:lnSpc>
                <a:spcPct val="93000"/>
              </a:lnSpc>
              <a:buClr>
                <a:srgbClr val="000000"/>
              </a:buClr>
              <a:buSzPct val="100000"/>
              <a:buFont typeface="Times New Roman" panose="02020603050405020304" pitchFamily="18" charset="0"/>
              <a:buNone/>
            </a:pPr>
            <a:r>
              <a:rPr kumimoji="0" lang="en-US" altLang="en-US" sz="2400" b="1" dirty="0" smtClean="0">
                <a:solidFill>
                  <a:srgbClr val="0000FF"/>
                </a:solidFill>
                <a:ea typeface="Microsoft YaHei" panose="020B0503020204020204" pitchFamily="34" charset="-122"/>
              </a:rPr>
              <a:t>This 200 mm diameter wafer of RISC-V dies was designed by </a:t>
            </a:r>
            <a:r>
              <a:rPr kumimoji="0" lang="en-US" altLang="en-US" sz="2400" b="1" dirty="0" err="1" smtClean="0">
                <a:solidFill>
                  <a:srgbClr val="0000FF"/>
                </a:solidFill>
                <a:ea typeface="Microsoft YaHei" panose="020B0503020204020204" pitchFamily="34" charset="-122"/>
              </a:rPr>
              <a:t>SiFive</a:t>
            </a:r>
            <a:endParaRPr kumimoji="0" lang="en-US" altLang="en-US" sz="2400" b="1" dirty="0" smtClean="0">
              <a:solidFill>
                <a:srgbClr val="0000FF"/>
              </a:solidFill>
              <a:ea typeface="Microsoft YaHei" panose="020B0503020204020204" pitchFamily="34" charset="-122"/>
            </a:endParaRP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It has two types of RISC-V dies using an older, larger processing line</a:t>
            </a: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An FE310 die is 2.65 mm × 2.72 mm </a:t>
            </a:r>
          </a:p>
          <a:p>
            <a:pPr marL="342900" indent="-342900" defTabSz="449263" eaLnBrk="1">
              <a:lnSpc>
                <a:spcPct val="93000"/>
              </a:lnSpc>
              <a:buClr>
                <a:srgbClr val="000000"/>
              </a:buClr>
              <a:buSzPct val="100000"/>
              <a:buFont typeface="Arial" panose="020B0604020202020204" pitchFamily="34" charset="0"/>
              <a:buChar char="•"/>
            </a:pPr>
            <a:r>
              <a:rPr kumimoji="0" lang="en-US" altLang="zh-CN" sz="2400" dirty="0" smtClean="0">
                <a:solidFill>
                  <a:srgbClr val="0000FF"/>
                </a:solidFill>
                <a:ea typeface="Microsoft YaHei" panose="020B0503020204020204" pitchFamily="34" charset="-122"/>
              </a:rPr>
              <a:t>A</a:t>
            </a:r>
            <a:r>
              <a:rPr kumimoji="0" lang="en-US" altLang="en-US" sz="2400" dirty="0" smtClean="0">
                <a:solidFill>
                  <a:srgbClr val="0000FF"/>
                </a:solidFill>
                <a:ea typeface="Microsoft YaHei" panose="020B0503020204020204" pitchFamily="34" charset="-122"/>
              </a:rPr>
              <a:t>n </a:t>
            </a:r>
            <a:r>
              <a:rPr kumimoji="0" lang="en-US" altLang="en-US" sz="2400" dirty="0" err="1" smtClean="0">
                <a:solidFill>
                  <a:srgbClr val="0000FF"/>
                </a:solidFill>
                <a:ea typeface="Microsoft YaHei" panose="020B0503020204020204" pitchFamily="34" charset="-122"/>
              </a:rPr>
              <a:t>SiFive</a:t>
            </a:r>
            <a:r>
              <a:rPr kumimoji="0" lang="en-US" altLang="en-US" sz="2400" dirty="0" smtClean="0">
                <a:solidFill>
                  <a:srgbClr val="0000FF"/>
                </a:solidFill>
                <a:ea typeface="Microsoft YaHei" panose="020B0503020204020204" pitchFamily="34" charset="-122"/>
              </a:rPr>
              <a:t> test die that is </a:t>
            </a:r>
            <a:br>
              <a:rPr kumimoji="0" lang="en-US" altLang="en-US" sz="2400" dirty="0" smtClean="0">
                <a:solidFill>
                  <a:srgbClr val="0000FF"/>
                </a:solidFill>
                <a:ea typeface="Microsoft YaHei" panose="020B0503020204020204" pitchFamily="34" charset="-122"/>
              </a:rPr>
            </a:br>
            <a:r>
              <a:rPr kumimoji="0" lang="en-US" altLang="en-US" sz="2400" dirty="0" smtClean="0">
                <a:solidFill>
                  <a:srgbClr val="0000FF"/>
                </a:solidFill>
                <a:ea typeface="Microsoft YaHei" panose="020B0503020204020204" pitchFamily="34" charset="-122"/>
              </a:rPr>
              <a:t>2.89 mm × 2.72 mm.</a:t>
            </a: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The wafer contains </a:t>
            </a:r>
            <a:br>
              <a:rPr kumimoji="0" lang="en-US" altLang="en-US" sz="2400" dirty="0" smtClean="0">
                <a:solidFill>
                  <a:srgbClr val="0000FF"/>
                </a:solidFill>
                <a:ea typeface="Microsoft YaHei" panose="020B0503020204020204" pitchFamily="34" charset="-122"/>
              </a:rPr>
            </a:br>
            <a:r>
              <a:rPr kumimoji="0" lang="en-US" altLang="en-US" sz="2400" dirty="0" smtClean="0">
                <a:solidFill>
                  <a:srgbClr val="0000FF"/>
                </a:solidFill>
                <a:ea typeface="Microsoft YaHei" panose="020B0503020204020204" pitchFamily="34" charset="-122"/>
              </a:rPr>
              <a:t>1846 </a:t>
            </a:r>
            <a:r>
              <a:rPr kumimoji="0" lang="en-US" altLang="zh-CN" sz="2400" dirty="0" smtClean="0">
                <a:solidFill>
                  <a:srgbClr val="0000FF"/>
                </a:solidFill>
                <a:ea typeface="Microsoft YaHei" panose="020B0503020204020204" pitchFamily="34" charset="-122"/>
              </a:rPr>
              <a:t>FE310 dies, </a:t>
            </a:r>
            <a:r>
              <a:rPr kumimoji="0" lang="en-US" altLang="en-US" sz="2400" dirty="0" smtClean="0">
                <a:solidFill>
                  <a:srgbClr val="0000FF"/>
                </a:solidFill>
                <a:ea typeface="Microsoft YaHei" panose="020B0503020204020204" pitchFamily="34" charset="-122"/>
              </a:rPr>
              <a:t>and</a:t>
            </a:r>
            <a:br>
              <a:rPr kumimoji="0" lang="en-US" altLang="en-US" sz="2400" dirty="0" smtClean="0">
                <a:solidFill>
                  <a:srgbClr val="0000FF"/>
                </a:solidFill>
                <a:ea typeface="Microsoft YaHei" panose="020B0503020204020204" pitchFamily="34" charset="-122"/>
              </a:rPr>
            </a:br>
            <a:r>
              <a:rPr kumimoji="0" lang="en-US" altLang="en-US" sz="2400" dirty="0" smtClean="0">
                <a:solidFill>
                  <a:srgbClr val="0000FF"/>
                </a:solidFill>
                <a:ea typeface="Microsoft YaHei" panose="020B0503020204020204" pitchFamily="34" charset="-122"/>
              </a:rPr>
              <a:t>1866 test dies</a:t>
            </a: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totaling 3712 chips</a:t>
            </a:r>
          </a:p>
        </p:txBody>
      </p:sp>
      <p:pic>
        <p:nvPicPr>
          <p:cNvPr id="4" name="Picture 2" descr="Z:\WOMAT\Production\Artfinal\0000000038\MKCAD\978-0-12-811905-1\0003165540\XMLLowres\f01-16-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6040" y="2533695"/>
            <a:ext cx="5566388" cy="4212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62072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body" idx="1"/>
          </p:nvPr>
        </p:nvSpPr>
        <p:spPr>
          <a:xfrm>
            <a:off x="1981200" y="1340768"/>
            <a:ext cx="8324850" cy="53149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buFont typeface="Wingdings" panose="05000000000000000000" pitchFamily="2" charset="2"/>
              <a:buNone/>
            </a:pPr>
            <a:endParaRPr lang="en-US" altLang="zh-CN" sz="2000"/>
          </a:p>
          <a:p>
            <a:pPr>
              <a:buFont typeface="Wingdings" panose="05000000000000000000" pitchFamily="2" charset="2"/>
              <a:buNone/>
            </a:pPr>
            <a:endParaRPr lang="en-US" altLang="zh-CN" sz="2000"/>
          </a:p>
          <a:p>
            <a:pPr>
              <a:buFont typeface="Wingdings" panose="05000000000000000000" pitchFamily="2" charset="2"/>
              <a:buNone/>
            </a:pPr>
            <a:endParaRPr lang="en-US" altLang="zh-CN" sz="2000"/>
          </a:p>
          <a:p>
            <a:pPr>
              <a:buFont typeface="Wingdings" panose="05000000000000000000" pitchFamily="2" charset="2"/>
              <a:buNone/>
            </a:pPr>
            <a:endParaRPr lang="en-US" altLang="zh-CN" sz="2000"/>
          </a:p>
          <a:p>
            <a:pPr>
              <a:buFont typeface="Wingdings" panose="05000000000000000000" pitchFamily="2" charset="2"/>
              <a:buNone/>
            </a:pPr>
            <a:r>
              <a:rPr lang="en-US" altLang="zh-CN" sz="2000"/>
              <a:t>                                    </a:t>
            </a:r>
          </a:p>
        </p:txBody>
      </p:sp>
      <p:sp>
        <p:nvSpPr>
          <p:cNvPr id="87043" name="Rectangle 3"/>
          <p:cNvSpPr>
            <a:spLocks noGrp="1" noChangeArrowheads="1"/>
          </p:cNvSpPr>
          <p:nvPr>
            <p:ph type="title"/>
          </p:nvPr>
        </p:nvSpPr>
        <p:spPr>
          <a:xfrm>
            <a:off x="2362200" y="4572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Integrated Circuits Costs</a:t>
            </a:r>
          </a:p>
        </p:txBody>
      </p:sp>
      <p:sp>
        <p:nvSpPr>
          <p:cNvPr id="87044" name="Rectangle 4"/>
          <p:cNvSpPr>
            <a:spLocks noChangeArrowheads="1"/>
          </p:cNvSpPr>
          <p:nvPr/>
        </p:nvSpPr>
        <p:spPr bwMode="auto">
          <a:xfrm>
            <a:off x="2057401" y="6369968"/>
            <a:ext cx="6469063" cy="4143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1" hangingPunct="1">
              <a:lnSpc>
                <a:spcPct val="85000"/>
              </a:lnSpc>
            </a:pPr>
            <a:r>
              <a:rPr lang="en-US" altLang="zh-CN" sz="2800" b="1">
                <a:solidFill>
                  <a:schemeClr val="hlink"/>
                </a:solidFill>
                <a:latin typeface="Comic Sans MS" panose="030F0702030302020204" pitchFamily="66" charset="0"/>
              </a:rPr>
              <a:t>Die Cost goes roughly with die area</a:t>
            </a:r>
            <a:r>
              <a:rPr lang="en-US" altLang="zh-CN" sz="2800" b="1" baseline="30000">
                <a:solidFill>
                  <a:schemeClr val="hlink"/>
                </a:solidFill>
                <a:latin typeface="Comic Sans MS" panose="030F0702030302020204" pitchFamily="66" charset="0"/>
              </a:rPr>
              <a:t>4</a:t>
            </a:r>
          </a:p>
        </p:txBody>
      </p:sp>
      <p:grpSp>
        <p:nvGrpSpPr>
          <p:cNvPr id="87045" name="Group 5"/>
          <p:cNvGrpSpPr>
            <a:grpSpLocks/>
          </p:cNvGrpSpPr>
          <p:nvPr/>
        </p:nvGrpSpPr>
        <p:grpSpPr bwMode="auto">
          <a:xfrm>
            <a:off x="5035550" y="3861718"/>
            <a:ext cx="1511300" cy="1511300"/>
            <a:chOff x="2212" y="2308"/>
            <a:chExt cx="952" cy="952"/>
          </a:xfrm>
        </p:grpSpPr>
        <p:sp>
          <p:nvSpPr>
            <p:cNvPr id="87046" name="Oval 6"/>
            <p:cNvSpPr>
              <a:spLocks noChangeArrowheads="1"/>
            </p:cNvSpPr>
            <p:nvPr/>
          </p:nvSpPr>
          <p:spPr bwMode="auto">
            <a:xfrm>
              <a:off x="2212"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7" name="Rectangle 7" descr="Light upward diagonal"/>
            <p:cNvSpPr>
              <a:spLocks noChangeArrowheads="1"/>
            </p:cNvSpPr>
            <p:nvPr/>
          </p:nvSpPr>
          <p:spPr bwMode="auto">
            <a:xfrm>
              <a:off x="2596"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8" name="Rectangle 8" descr="Light upward diagonal"/>
            <p:cNvSpPr>
              <a:spLocks noChangeArrowheads="1"/>
            </p:cNvSpPr>
            <p:nvPr/>
          </p:nvSpPr>
          <p:spPr bwMode="auto">
            <a:xfrm>
              <a:off x="2788"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9" name="Rectangle 9"/>
            <p:cNvSpPr>
              <a:spLocks noChangeArrowheads="1"/>
            </p:cNvSpPr>
            <p:nvPr/>
          </p:nvSpPr>
          <p:spPr bwMode="auto">
            <a:xfrm>
              <a:off x="2212" y="2500"/>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0" name="Rectangle 10" descr="Light upward diagonal"/>
            <p:cNvSpPr>
              <a:spLocks noChangeArrowheads="1"/>
            </p:cNvSpPr>
            <p:nvPr/>
          </p:nvSpPr>
          <p:spPr bwMode="auto">
            <a:xfrm>
              <a:off x="2404"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1" name="Rectangle 11"/>
            <p:cNvSpPr>
              <a:spLocks noChangeArrowheads="1"/>
            </p:cNvSpPr>
            <p:nvPr/>
          </p:nvSpPr>
          <p:spPr bwMode="auto">
            <a:xfrm>
              <a:off x="2980" y="2500"/>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2" name="Rectangle 12" descr="Light upward diagonal"/>
            <p:cNvSpPr>
              <a:spLocks noChangeArrowheads="1"/>
            </p:cNvSpPr>
            <p:nvPr/>
          </p:nvSpPr>
          <p:spPr bwMode="auto">
            <a:xfrm>
              <a:off x="2596"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3" name="Rectangle 13" descr="Light upward diagonal"/>
            <p:cNvSpPr>
              <a:spLocks noChangeArrowheads="1"/>
            </p:cNvSpPr>
            <p:nvPr/>
          </p:nvSpPr>
          <p:spPr bwMode="auto">
            <a:xfrm>
              <a:off x="2788"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4" name="Rectangle 14"/>
            <p:cNvSpPr>
              <a:spLocks noChangeArrowheads="1"/>
            </p:cNvSpPr>
            <p:nvPr/>
          </p:nvSpPr>
          <p:spPr bwMode="auto">
            <a:xfrm>
              <a:off x="2212" y="2692"/>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5" name="Rectangle 15" descr="Light upward diagonal"/>
            <p:cNvSpPr>
              <a:spLocks noChangeArrowheads="1"/>
            </p:cNvSpPr>
            <p:nvPr/>
          </p:nvSpPr>
          <p:spPr bwMode="auto">
            <a:xfrm>
              <a:off x="2404"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6" name="Rectangle 16"/>
            <p:cNvSpPr>
              <a:spLocks noChangeArrowheads="1"/>
            </p:cNvSpPr>
            <p:nvPr/>
          </p:nvSpPr>
          <p:spPr bwMode="auto">
            <a:xfrm>
              <a:off x="2980" y="2692"/>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7" name="Rectangle 17" descr="Light upward diagonal"/>
            <p:cNvSpPr>
              <a:spLocks noChangeArrowheads="1"/>
            </p:cNvSpPr>
            <p:nvPr/>
          </p:nvSpPr>
          <p:spPr bwMode="auto">
            <a:xfrm>
              <a:off x="2596"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8" name="Rectangle 18" descr="Light upward diagonal"/>
            <p:cNvSpPr>
              <a:spLocks noChangeArrowheads="1"/>
            </p:cNvSpPr>
            <p:nvPr/>
          </p:nvSpPr>
          <p:spPr bwMode="auto">
            <a:xfrm>
              <a:off x="2788"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9" name="Rectangle 19"/>
            <p:cNvSpPr>
              <a:spLocks noChangeArrowheads="1"/>
            </p:cNvSpPr>
            <p:nvPr/>
          </p:nvSpPr>
          <p:spPr bwMode="auto">
            <a:xfrm>
              <a:off x="2212" y="2884"/>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0" name="Rectangle 20" descr="Light upward diagonal"/>
            <p:cNvSpPr>
              <a:spLocks noChangeArrowheads="1"/>
            </p:cNvSpPr>
            <p:nvPr/>
          </p:nvSpPr>
          <p:spPr bwMode="auto">
            <a:xfrm>
              <a:off x="2404"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1" name="Rectangle 21"/>
            <p:cNvSpPr>
              <a:spLocks noChangeArrowheads="1"/>
            </p:cNvSpPr>
            <p:nvPr/>
          </p:nvSpPr>
          <p:spPr bwMode="auto">
            <a:xfrm>
              <a:off x="2980" y="2884"/>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2" name="Rectangle 22"/>
            <p:cNvSpPr>
              <a:spLocks noChangeArrowheads="1"/>
            </p:cNvSpPr>
            <p:nvPr/>
          </p:nvSpPr>
          <p:spPr bwMode="auto">
            <a:xfrm>
              <a:off x="2596"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3" name="Rectangle 23"/>
            <p:cNvSpPr>
              <a:spLocks noChangeArrowheads="1"/>
            </p:cNvSpPr>
            <p:nvPr/>
          </p:nvSpPr>
          <p:spPr bwMode="auto">
            <a:xfrm>
              <a:off x="2788"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4" name="Rectangle 24"/>
            <p:cNvSpPr>
              <a:spLocks noChangeArrowheads="1"/>
            </p:cNvSpPr>
            <p:nvPr/>
          </p:nvSpPr>
          <p:spPr bwMode="auto">
            <a:xfrm>
              <a:off x="2212"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5" name="Rectangle 25"/>
            <p:cNvSpPr>
              <a:spLocks noChangeArrowheads="1"/>
            </p:cNvSpPr>
            <p:nvPr/>
          </p:nvSpPr>
          <p:spPr bwMode="auto">
            <a:xfrm>
              <a:off x="2404"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6" name="Rectangle 26"/>
            <p:cNvSpPr>
              <a:spLocks noChangeArrowheads="1"/>
            </p:cNvSpPr>
            <p:nvPr/>
          </p:nvSpPr>
          <p:spPr bwMode="auto">
            <a:xfrm>
              <a:off x="2980"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7" name="Rectangle 27"/>
            <p:cNvSpPr>
              <a:spLocks noChangeArrowheads="1"/>
            </p:cNvSpPr>
            <p:nvPr/>
          </p:nvSpPr>
          <p:spPr bwMode="auto">
            <a:xfrm>
              <a:off x="2596"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8" name="Rectangle 28"/>
            <p:cNvSpPr>
              <a:spLocks noChangeArrowheads="1"/>
            </p:cNvSpPr>
            <p:nvPr/>
          </p:nvSpPr>
          <p:spPr bwMode="auto">
            <a:xfrm>
              <a:off x="2788"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9" name="Rectangle 29"/>
            <p:cNvSpPr>
              <a:spLocks noChangeArrowheads="1"/>
            </p:cNvSpPr>
            <p:nvPr/>
          </p:nvSpPr>
          <p:spPr bwMode="auto">
            <a:xfrm>
              <a:off x="2212"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0" name="Rectangle 30"/>
            <p:cNvSpPr>
              <a:spLocks noChangeArrowheads="1"/>
            </p:cNvSpPr>
            <p:nvPr/>
          </p:nvSpPr>
          <p:spPr bwMode="auto">
            <a:xfrm>
              <a:off x="2404"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1" name="Rectangle 31"/>
            <p:cNvSpPr>
              <a:spLocks noChangeArrowheads="1"/>
            </p:cNvSpPr>
            <p:nvPr/>
          </p:nvSpPr>
          <p:spPr bwMode="auto">
            <a:xfrm>
              <a:off x="2980"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72" name="Group 32"/>
          <p:cNvGrpSpPr>
            <a:grpSpLocks/>
          </p:cNvGrpSpPr>
          <p:nvPr/>
        </p:nvGrpSpPr>
        <p:grpSpPr bwMode="auto">
          <a:xfrm>
            <a:off x="3130550" y="3861718"/>
            <a:ext cx="1511300" cy="1511300"/>
            <a:chOff x="1012" y="2308"/>
            <a:chExt cx="952" cy="952"/>
          </a:xfrm>
        </p:grpSpPr>
        <p:sp>
          <p:nvSpPr>
            <p:cNvPr id="87073" name="Oval 33"/>
            <p:cNvSpPr>
              <a:spLocks noChangeArrowheads="1"/>
            </p:cNvSpPr>
            <p:nvPr/>
          </p:nvSpPr>
          <p:spPr bwMode="auto">
            <a:xfrm>
              <a:off x="1012"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4" name="Rectangle 34" descr="Light downward diagonal"/>
            <p:cNvSpPr>
              <a:spLocks noChangeArrowheads="1"/>
            </p:cNvSpPr>
            <p:nvPr/>
          </p:nvSpPr>
          <p:spPr bwMode="auto">
            <a:xfrm>
              <a:off x="1492"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5" name="Rectangle 35"/>
            <p:cNvSpPr>
              <a:spLocks noChangeArrowheads="1"/>
            </p:cNvSpPr>
            <p:nvPr/>
          </p:nvSpPr>
          <p:spPr bwMode="auto">
            <a:xfrm>
              <a:off x="1732" y="278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6" name="Rectangle 36"/>
            <p:cNvSpPr>
              <a:spLocks noChangeArrowheads="1"/>
            </p:cNvSpPr>
            <p:nvPr/>
          </p:nvSpPr>
          <p:spPr bwMode="auto">
            <a:xfrm>
              <a:off x="1012" y="278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7" name="Rectangle 37" descr="Light downward diagonal"/>
            <p:cNvSpPr>
              <a:spLocks noChangeArrowheads="1"/>
            </p:cNvSpPr>
            <p:nvPr/>
          </p:nvSpPr>
          <p:spPr bwMode="auto">
            <a:xfrm>
              <a:off x="1252"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8" name="Rectangle 38"/>
            <p:cNvSpPr>
              <a:spLocks noChangeArrowheads="1"/>
            </p:cNvSpPr>
            <p:nvPr/>
          </p:nvSpPr>
          <p:spPr bwMode="auto">
            <a:xfrm>
              <a:off x="149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9" name="Rectangle 39"/>
            <p:cNvSpPr>
              <a:spLocks noChangeArrowheads="1"/>
            </p:cNvSpPr>
            <p:nvPr/>
          </p:nvSpPr>
          <p:spPr bwMode="auto">
            <a:xfrm>
              <a:off x="173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0" name="Rectangle 40"/>
            <p:cNvSpPr>
              <a:spLocks noChangeArrowheads="1"/>
            </p:cNvSpPr>
            <p:nvPr/>
          </p:nvSpPr>
          <p:spPr bwMode="auto">
            <a:xfrm>
              <a:off x="101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1" name="Rectangle 41"/>
            <p:cNvSpPr>
              <a:spLocks noChangeArrowheads="1"/>
            </p:cNvSpPr>
            <p:nvPr/>
          </p:nvSpPr>
          <p:spPr bwMode="auto">
            <a:xfrm>
              <a:off x="125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2" name="Rectangle 42"/>
            <p:cNvSpPr>
              <a:spLocks noChangeArrowheads="1"/>
            </p:cNvSpPr>
            <p:nvPr/>
          </p:nvSpPr>
          <p:spPr bwMode="auto">
            <a:xfrm>
              <a:off x="149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3" name="Rectangle 43"/>
            <p:cNvSpPr>
              <a:spLocks noChangeArrowheads="1"/>
            </p:cNvSpPr>
            <p:nvPr/>
          </p:nvSpPr>
          <p:spPr bwMode="auto">
            <a:xfrm>
              <a:off x="173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4" name="Rectangle 44"/>
            <p:cNvSpPr>
              <a:spLocks noChangeArrowheads="1"/>
            </p:cNvSpPr>
            <p:nvPr/>
          </p:nvSpPr>
          <p:spPr bwMode="auto">
            <a:xfrm>
              <a:off x="101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5" name="Rectangle 45"/>
            <p:cNvSpPr>
              <a:spLocks noChangeArrowheads="1"/>
            </p:cNvSpPr>
            <p:nvPr/>
          </p:nvSpPr>
          <p:spPr bwMode="auto">
            <a:xfrm>
              <a:off x="125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6" name="Rectangle 46" descr="Light downward diagonal"/>
            <p:cNvSpPr>
              <a:spLocks noChangeArrowheads="1"/>
            </p:cNvSpPr>
            <p:nvPr/>
          </p:nvSpPr>
          <p:spPr bwMode="auto">
            <a:xfrm>
              <a:off x="1492"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7" name="Rectangle 47"/>
            <p:cNvSpPr>
              <a:spLocks noChangeArrowheads="1"/>
            </p:cNvSpPr>
            <p:nvPr/>
          </p:nvSpPr>
          <p:spPr bwMode="auto">
            <a:xfrm>
              <a:off x="1732" y="254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8" name="Rectangle 48"/>
            <p:cNvSpPr>
              <a:spLocks noChangeArrowheads="1"/>
            </p:cNvSpPr>
            <p:nvPr/>
          </p:nvSpPr>
          <p:spPr bwMode="auto">
            <a:xfrm>
              <a:off x="1012" y="254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9" name="Rectangle 49" descr="Light downward diagonal"/>
            <p:cNvSpPr>
              <a:spLocks noChangeArrowheads="1"/>
            </p:cNvSpPr>
            <p:nvPr/>
          </p:nvSpPr>
          <p:spPr bwMode="auto">
            <a:xfrm>
              <a:off x="1252"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90" name="Group 50"/>
          <p:cNvGrpSpPr>
            <a:grpSpLocks/>
          </p:cNvGrpSpPr>
          <p:nvPr/>
        </p:nvGrpSpPr>
        <p:grpSpPr bwMode="auto">
          <a:xfrm>
            <a:off x="6788150" y="3861718"/>
            <a:ext cx="1435100" cy="1511300"/>
            <a:chOff x="3316" y="2308"/>
            <a:chExt cx="904" cy="952"/>
          </a:xfrm>
        </p:grpSpPr>
        <p:sp>
          <p:nvSpPr>
            <p:cNvPr id="87091" name="Oval 51"/>
            <p:cNvSpPr>
              <a:spLocks noChangeArrowheads="1"/>
            </p:cNvSpPr>
            <p:nvPr/>
          </p:nvSpPr>
          <p:spPr bwMode="auto">
            <a:xfrm>
              <a:off x="3316"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2" name="Rectangle 52" descr="Light downward diagonal"/>
            <p:cNvSpPr>
              <a:spLocks noChangeArrowheads="1"/>
            </p:cNvSpPr>
            <p:nvPr/>
          </p:nvSpPr>
          <p:spPr bwMode="auto">
            <a:xfrm>
              <a:off x="3796"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3" name="Rectangle 53" descr="Light downward diagonal"/>
            <p:cNvSpPr>
              <a:spLocks noChangeArrowheads="1"/>
            </p:cNvSpPr>
            <p:nvPr/>
          </p:nvSpPr>
          <p:spPr bwMode="auto">
            <a:xfrm>
              <a:off x="3556"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4" name="Rectangle 54" descr="Light downward diagonal"/>
            <p:cNvSpPr>
              <a:spLocks noChangeArrowheads="1"/>
            </p:cNvSpPr>
            <p:nvPr/>
          </p:nvSpPr>
          <p:spPr bwMode="auto">
            <a:xfrm>
              <a:off x="3796"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5" name="Rectangle 55" descr="Light downward diagonal"/>
            <p:cNvSpPr>
              <a:spLocks noChangeArrowheads="1"/>
            </p:cNvSpPr>
            <p:nvPr/>
          </p:nvSpPr>
          <p:spPr bwMode="auto">
            <a:xfrm>
              <a:off x="3556"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96" name="Group 56"/>
          <p:cNvGrpSpPr>
            <a:grpSpLocks/>
          </p:cNvGrpSpPr>
          <p:nvPr/>
        </p:nvGrpSpPr>
        <p:grpSpPr bwMode="auto">
          <a:xfrm>
            <a:off x="8388350" y="3861718"/>
            <a:ext cx="1435100" cy="1511300"/>
            <a:chOff x="4324" y="2308"/>
            <a:chExt cx="904" cy="952"/>
          </a:xfrm>
        </p:grpSpPr>
        <p:sp>
          <p:nvSpPr>
            <p:cNvPr id="87097" name="Oval 57"/>
            <p:cNvSpPr>
              <a:spLocks noChangeArrowheads="1"/>
            </p:cNvSpPr>
            <p:nvPr/>
          </p:nvSpPr>
          <p:spPr bwMode="auto">
            <a:xfrm>
              <a:off x="4324"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8" name="Rectangle 58" descr="Light upward diagonal"/>
            <p:cNvSpPr>
              <a:spLocks noChangeArrowheads="1"/>
            </p:cNvSpPr>
            <p:nvPr/>
          </p:nvSpPr>
          <p:spPr bwMode="auto">
            <a:xfrm>
              <a:off x="4708"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9" name="Rectangle 59" descr="Light upward diagonal"/>
            <p:cNvSpPr>
              <a:spLocks noChangeArrowheads="1"/>
            </p:cNvSpPr>
            <p:nvPr/>
          </p:nvSpPr>
          <p:spPr bwMode="auto">
            <a:xfrm>
              <a:off x="4900"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0" name="Rectangle 60" descr="Light upward diagonal"/>
            <p:cNvSpPr>
              <a:spLocks noChangeArrowheads="1"/>
            </p:cNvSpPr>
            <p:nvPr/>
          </p:nvSpPr>
          <p:spPr bwMode="auto">
            <a:xfrm>
              <a:off x="4516"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1" name="Rectangle 61" descr="Light upward diagonal"/>
            <p:cNvSpPr>
              <a:spLocks noChangeArrowheads="1"/>
            </p:cNvSpPr>
            <p:nvPr/>
          </p:nvSpPr>
          <p:spPr bwMode="auto">
            <a:xfrm>
              <a:off x="4708"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2" name="Rectangle 62" descr="Light upward diagonal"/>
            <p:cNvSpPr>
              <a:spLocks noChangeArrowheads="1"/>
            </p:cNvSpPr>
            <p:nvPr/>
          </p:nvSpPr>
          <p:spPr bwMode="auto">
            <a:xfrm>
              <a:off x="4900"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3" name="Rectangle 63" descr="Light upward diagonal"/>
            <p:cNvSpPr>
              <a:spLocks noChangeArrowheads="1"/>
            </p:cNvSpPr>
            <p:nvPr/>
          </p:nvSpPr>
          <p:spPr bwMode="auto">
            <a:xfrm>
              <a:off x="4516"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4" name="Rectangle 64" descr="Light upward diagonal"/>
            <p:cNvSpPr>
              <a:spLocks noChangeArrowheads="1"/>
            </p:cNvSpPr>
            <p:nvPr/>
          </p:nvSpPr>
          <p:spPr bwMode="auto">
            <a:xfrm>
              <a:off x="4708"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5" name="Rectangle 65" descr="Light upward diagonal"/>
            <p:cNvSpPr>
              <a:spLocks noChangeArrowheads="1"/>
            </p:cNvSpPr>
            <p:nvPr/>
          </p:nvSpPr>
          <p:spPr bwMode="auto">
            <a:xfrm>
              <a:off x="4900"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6" name="Rectangle 66" descr="Light upward diagonal"/>
            <p:cNvSpPr>
              <a:spLocks noChangeArrowheads="1"/>
            </p:cNvSpPr>
            <p:nvPr/>
          </p:nvSpPr>
          <p:spPr bwMode="auto">
            <a:xfrm>
              <a:off x="4516"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107" name="Group 67"/>
          <p:cNvGrpSpPr>
            <a:grpSpLocks/>
          </p:cNvGrpSpPr>
          <p:nvPr/>
        </p:nvGrpSpPr>
        <p:grpSpPr bwMode="auto">
          <a:xfrm>
            <a:off x="6788150" y="3861718"/>
            <a:ext cx="1435100" cy="1511300"/>
            <a:chOff x="3316" y="2308"/>
            <a:chExt cx="904" cy="952"/>
          </a:xfrm>
        </p:grpSpPr>
        <p:sp>
          <p:nvSpPr>
            <p:cNvPr id="87108" name="Oval 68"/>
            <p:cNvSpPr>
              <a:spLocks noChangeArrowheads="1"/>
            </p:cNvSpPr>
            <p:nvPr/>
          </p:nvSpPr>
          <p:spPr bwMode="auto">
            <a:xfrm>
              <a:off x="3316"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9" name="AutoShape 69"/>
            <p:cNvSpPr>
              <a:spLocks noChangeArrowheads="1"/>
            </p:cNvSpPr>
            <p:nvPr/>
          </p:nvSpPr>
          <p:spPr bwMode="auto">
            <a:xfrm>
              <a:off x="3556" y="293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0" name="AutoShape 70"/>
            <p:cNvSpPr>
              <a:spLocks noChangeArrowheads="1"/>
            </p:cNvSpPr>
            <p:nvPr/>
          </p:nvSpPr>
          <p:spPr bwMode="auto">
            <a:xfrm>
              <a:off x="3700" y="312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1" name="AutoShape 71"/>
            <p:cNvSpPr>
              <a:spLocks noChangeArrowheads="1"/>
            </p:cNvSpPr>
            <p:nvPr/>
          </p:nvSpPr>
          <p:spPr bwMode="auto">
            <a:xfrm>
              <a:off x="3364"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2" name="AutoShape 72"/>
            <p:cNvSpPr>
              <a:spLocks noChangeArrowheads="1"/>
            </p:cNvSpPr>
            <p:nvPr/>
          </p:nvSpPr>
          <p:spPr bwMode="auto">
            <a:xfrm>
              <a:off x="3556" y="2596"/>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3" name="AutoShape 73"/>
            <p:cNvSpPr>
              <a:spLocks noChangeArrowheads="1"/>
            </p:cNvSpPr>
            <p:nvPr/>
          </p:nvSpPr>
          <p:spPr bwMode="auto">
            <a:xfrm>
              <a:off x="3748" y="240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4" name="AutoShape 74"/>
            <p:cNvSpPr>
              <a:spLocks noChangeArrowheads="1"/>
            </p:cNvSpPr>
            <p:nvPr/>
          </p:nvSpPr>
          <p:spPr bwMode="auto">
            <a:xfrm>
              <a:off x="3892" y="269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5" name="AutoShape 75"/>
            <p:cNvSpPr>
              <a:spLocks noChangeArrowheads="1"/>
            </p:cNvSpPr>
            <p:nvPr/>
          </p:nvSpPr>
          <p:spPr bwMode="auto">
            <a:xfrm>
              <a:off x="3796"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116" name="Group 76"/>
          <p:cNvGrpSpPr>
            <a:grpSpLocks/>
          </p:cNvGrpSpPr>
          <p:nvPr/>
        </p:nvGrpSpPr>
        <p:grpSpPr bwMode="auto">
          <a:xfrm>
            <a:off x="8388350" y="3861718"/>
            <a:ext cx="1435100" cy="1511300"/>
            <a:chOff x="4324" y="2308"/>
            <a:chExt cx="904" cy="952"/>
          </a:xfrm>
        </p:grpSpPr>
        <p:sp>
          <p:nvSpPr>
            <p:cNvPr id="87117" name="Oval 77"/>
            <p:cNvSpPr>
              <a:spLocks noChangeArrowheads="1"/>
            </p:cNvSpPr>
            <p:nvPr/>
          </p:nvSpPr>
          <p:spPr bwMode="auto">
            <a:xfrm>
              <a:off x="4324"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8" name="AutoShape 78"/>
            <p:cNvSpPr>
              <a:spLocks noChangeArrowheads="1"/>
            </p:cNvSpPr>
            <p:nvPr/>
          </p:nvSpPr>
          <p:spPr bwMode="auto">
            <a:xfrm>
              <a:off x="4564" y="293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9" name="AutoShape 79"/>
            <p:cNvSpPr>
              <a:spLocks noChangeArrowheads="1"/>
            </p:cNvSpPr>
            <p:nvPr/>
          </p:nvSpPr>
          <p:spPr bwMode="auto">
            <a:xfrm>
              <a:off x="4708" y="312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0" name="AutoShape 80"/>
            <p:cNvSpPr>
              <a:spLocks noChangeArrowheads="1"/>
            </p:cNvSpPr>
            <p:nvPr/>
          </p:nvSpPr>
          <p:spPr bwMode="auto">
            <a:xfrm>
              <a:off x="4372"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1" name="AutoShape 81"/>
            <p:cNvSpPr>
              <a:spLocks noChangeArrowheads="1"/>
            </p:cNvSpPr>
            <p:nvPr/>
          </p:nvSpPr>
          <p:spPr bwMode="auto">
            <a:xfrm>
              <a:off x="4564" y="2596"/>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2" name="AutoShape 82"/>
            <p:cNvSpPr>
              <a:spLocks noChangeArrowheads="1"/>
            </p:cNvSpPr>
            <p:nvPr/>
          </p:nvSpPr>
          <p:spPr bwMode="auto">
            <a:xfrm>
              <a:off x="4756" y="240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3" name="AutoShape 83"/>
            <p:cNvSpPr>
              <a:spLocks noChangeArrowheads="1"/>
            </p:cNvSpPr>
            <p:nvPr/>
          </p:nvSpPr>
          <p:spPr bwMode="auto">
            <a:xfrm>
              <a:off x="4900" y="269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4" name="AutoShape 84"/>
            <p:cNvSpPr>
              <a:spLocks noChangeArrowheads="1"/>
            </p:cNvSpPr>
            <p:nvPr/>
          </p:nvSpPr>
          <p:spPr bwMode="auto">
            <a:xfrm>
              <a:off x="4804"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7125" name="Object 85"/>
          <p:cNvGraphicFramePr>
            <a:graphicFrameLocks noChangeAspect="1"/>
          </p:cNvGraphicFramePr>
          <p:nvPr>
            <p:extLst>
              <p:ext uri="{D42A27DB-BD31-4B8C-83A1-F6EECF244321}">
                <p14:modId xmlns:p14="http://schemas.microsoft.com/office/powerpoint/2010/main" val="901892215"/>
              </p:ext>
            </p:extLst>
          </p:nvPr>
        </p:nvGraphicFramePr>
        <p:xfrm>
          <a:off x="2044700" y="2864769"/>
          <a:ext cx="7545388" cy="722313"/>
        </p:xfrm>
        <a:graphic>
          <a:graphicData uri="http://schemas.openxmlformats.org/presentationml/2006/ole">
            <mc:AlternateContent xmlns:mc="http://schemas.openxmlformats.org/markup-compatibility/2006">
              <mc:Choice xmlns:v="urn:schemas-microsoft-com:vml" Requires="v">
                <p:oleObj spid="_x0000_s3298" name="Equation" r:id="rId3" imgW="7543800" imgH="723600" progId="Equation.3">
                  <p:embed/>
                </p:oleObj>
              </mc:Choice>
              <mc:Fallback>
                <p:oleObj name="Equation" r:id="rId3" imgW="7543800" imgH="723600" progId="Equation.3">
                  <p:embed/>
                  <p:pic>
                    <p:nvPicPr>
                      <p:cNvPr id="87125" name="Object 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700" y="2864769"/>
                        <a:ext cx="7545388"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126" name="Object 86"/>
          <p:cNvGraphicFramePr>
            <a:graphicFrameLocks noChangeAspect="1"/>
          </p:cNvGraphicFramePr>
          <p:nvPr>
            <p:extLst>
              <p:ext uri="{D42A27DB-BD31-4B8C-83A1-F6EECF244321}">
                <p14:modId xmlns:p14="http://schemas.microsoft.com/office/powerpoint/2010/main" val="3045763080"/>
              </p:ext>
            </p:extLst>
          </p:nvPr>
        </p:nvGraphicFramePr>
        <p:xfrm>
          <a:off x="2095500" y="5506368"/>
          <a:ext cx="7037388" cy="749300"/>
        </p:xfrm>
        <a:graphic>
          <a:graphicData uri="http://schemas.openxmlformats.org/presentationml/2006/ole">
            <mc:AlternateContent xmlns:mc="http://schemas.openxmlformats.org/markup-compatibility/2006">
              <mc:Choice xmlns:v="urn:schemas-microsoft-com:vml" Requires="v">
                <p:oleObj spid="_x0000_s3299" name="Equation" r:id="rId5" imgW="7035480" imgH="749160" progId="Equation.3">
                  <p:embed/>
                </p:oleObj>
              </mc:Choice>
              <mc:Fallback>
                <p:oleObj name="Equation" r:id="rId5" imgW="7035480" imgH="749160" progId="Equation.3">
                  <p:embed/>
                  <p:pic>
                    <p:nvPicPr>
                      <p:cNvPr id="87126" name="Object 8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5500" y="5506368"/>
                        <a:ext cx="7037388"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127" name="Object 87"/>
          <p:cNvGraphicFramePr>
            <a:graphicFrameLocks noChangeAspect="1"/>
          </p:cNvGraphicFramePr>
          <p:nvPr>
            <p:extLst>
              <p:ext uri="{D42A27DB-BD31-4B8C-83A1-F6EECF244321}">
                <p14:modId xmlns:p14="http://schemas.microsoft.com/office/powerpoint/2010/main" val="634647891"/>
              </p:ext>
            </p:extLst>
          </p:nvPr>
        </p:nvGraphicFramePr>
        <p:xfrm>
          <a:off x="2057400" y="1493169"/>
          <a:ext cx="5702300" cy="620713"/>
        </p:xfrm>
        <a:graphic>
          <a:graphicData uri="http://schemas.openxmlformats.org/presentationml/2006/ole">
            <mc:AlternateContent xmlns:mc="http://schemas.openxmlformats.org/markup-compatibility/2006">
              <mc:Choice xmlns:v="urn:schemas-microsoft-com:vml" Requires="v">
                <p:oleObj spid="_x0000_s3300" name="Equation" r:id="rId7" imgW="5702040" imgH="622080" progId="Equation.3">
                  <p:embed/>
                </p:oleObj>
              </mc:Choice>
              <mc:Fallback>
                <p:oleObj name="Equation" r:id="rId7" imgW="5702040" imgH="622080" progId="Equation.3">
                  <p:embed/>
                  <p:pic>
                    <p:nvPicPr>
                      <p:cNvPr id="87127" name="Object 8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1493169"/>
                        <a:ext cx="570230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128" name="Object 88"/>
          <p:cNvGraphicFramePr>
            <a:graphicFrameLocks noChangeAspect="1"/>
          </p:cNvGraphicFramePr>
          <p:nvPr>
            <p:extLst>
              <p:ext uri="{D42A27DB-BD31-4B8C-83A1-F6EECF244321}">
                <p14:modId xmlns:p14="http://schemas.microsoft.com/office/powerpoint/2010/main" val="2066965444"/>
              </p:ext>
            </p:extLst>
          </p:nvPr>
        </p:nvGraphicFramePr>
        <p:xfrm>
          <a:off x="2057400" y="2178969"/>
          <a:ext cx="4254500" cy="620713"/>
        </p:xfrm>
        <a:graphic>
          <a:graphicData uri="http://schemas.openxmlformats.org/presentationml/2006/ole">
            <mc:AlternateContent xmlns:mc="http://schemas.openxmlformats.org/markup-compatibility/2006">
              <mc:Choice xmlns:v="urn:schemas-microsoft-com:vml" Requires="v">
                <p:oleObj spid="_x0000_s3301" name="Equation" r:id="rId9" imgW="4254480" imgH="622080" progId="Equation.3">
                  <p:embed/>
                </p:oleObj>
              </mc:Choice>
              <mc:Fallback>
                <p:oleObj name="Equation" r:id="rId9" imgW="4254480" imgH="622080" progId="Equation.3">
                  <p:embed/>
                  <p:pic>
                    <p:nvPicPr>
                      <p:cNvPr id="87128" name="Object 8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7400" y="2178969"/>
                        <a:ext cx="425450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11383079"/>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Integrated Circuit Cost</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Integrated circuit</a:t>
            </a:r>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r>
              <a:rPr lang="en-US" sz="2400" dirty="0" smtClean="0"/>
              <a:t>Bose-Einstein </a:t>
            </a:r>
            <a:r>
              <a:rPr lang="en-US" sz="2400" dirty="0"/>
              <a:t>formula</a:t>
            </a:r>
            <a:r>
              <a:rPr lang="en-US" sz="2400" dirty="0" smtClean="0"/>
              <a:t>:</a:t>
            </a:r>
          </a:p>
          <a:p>
            <a:pPr>
              <a:lnSpc>
                <a:spcPct val="90000"/>
              </a:lnSpc>
            </a:pPr>
            <a:endParaRPr lang="en-US" sz="2400" dirty="0"/>
          </a:p>
          <a:p>
            <a:pPr>
              <a:lnSpc>
                <a:spcPct val="90000"/>
              </a:lnSpc>
            </a:pPr>
            <a:r>
              <a:rPr lang="en-US" sz="2400" dirty="0" smtClean="0"/>
              <a:t>Defects </a:t>
            </a:r>
            <a:r>
              <a:rPr lang="en-US" sz="2400" dirty="0"/>
              <a:t>per unit area = 0.016-0.057 defects per square cm (2010)</a:t>
            </a:r>
          </a:p>
          <a:p>
            <a:pPr>
              <a:lnSpc>
                <a:spcPct val="90000"/>
              </a:lnSpc>
            </a:pPr>
            <a:r>
              <a:rPr lang="en-US" sz="2400" dirty="0"/>
              <a:t>N = process-complexity factor = 11.5-15.5 (40 nm, 2010)</a:t>
            </a:r>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宋体" panose="02010600030101010101" pitchFamily="2" charset="-122"/>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0" name="Picture 8"/>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775521" y="1978870"/>
            <a:ext cx="8496944" cy="510108"/>
          </a:xfrm>
          <a:prstGeom prst="rect">
            <a:avLst/>
          </a:prstGeom>
          <a:noFill/>
        </p:spPr>
      </p:pic>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2" name="Picture 10"/>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775521" y="2624390"/>
            <a:ext cx="3388377" cy="504056"/>
          </a:xfrm>
          <a:prstGeom prst="rect">
            <a:avLst/>
          </a:prstGeom>
          <a:noFill/>
        </p:spPr>
      </p:pic>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4" name="Picture 12"/>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847529" y="3704511"/>
            <a:ext cx="6160758" cy="568449"/>
          </a:xfrm>
          <a:prstGeom prst="rect">
            <a:avLst/>
          </a:prstGeom>
          <a:noFill/>
        </p:spPr>
      </p:pic>
      <p:sp>
        <p:nvSpPr>
          <p:cNvPr id="509967" name="Rectangle 15"/>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6" name="Picture 14"/>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1919536" y="5176868"/>
            <a:ext cx="6768752" cy="294292"/>
          </a:xfrm>
          <a:prstGeom prst="rect">
            <a:avLst/>
          </a:prstGeom>
          <a:noFill/>
        </p:spPr>
      </p:pic>
    </p:spTree>
    <p:extLst>
      <p:ext uri="{BB962C8B-B14F-4D97-AF65-F5344CB8AC3E}">
        <p14:creationId xmlns:p14="http://schemas.microsoft.com/office/powerpoint/2010/main" val="401098965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b="1" dirty="0"/>
              <a:t>Photograph of an Intel </a:t>
            </a:r>
            <a:r>
              <a:rPr lang="en-US" altLang="en-US" b="1" dirty="0" err="1"/>
              <a:t>Skylake</a:t>
            </a:r>
            <a:r>
              <a:rPr lang="en-US" altLang="en-US" b="1" dirty="0"/>
              <a:t> microprocessor die</a:t>
            </a:r>
            <a:endParaRPr lang="zh-CN" altLang="en-US" dirty="0"/>
          </a:p>
        </p:txBody>
      </p:sp>
      <p:pic>
        <p:nvPicPr>
          <p:cNvPr id="4" name="图片 3"/>
          <p:cNvPicPr>
            <a:picLocks noChangeAspect="1"/>
          </p:cNvPicPr>
          <p:nvPr/>
        </p:nvPicPr>
        <p:blipFill>
          <a:blip r:embed="rId2"/>
          <a:stretch>
            <a:fillRect/>
          </a:stretch>
        </p:blipFill>
        <p:spPr>
          <a:xfrm>
            <a:off x="6240016" y="1991109"/>
            <a:ext cx="4925995" cy="3298222"/>
          </a:xfrm>
          <a:prstGeom prst="rect">
            <a:avLst/>
          </a:prstGeom>
        </p:spPr>
      </p:pic>
      <p:pic>
        <p:nvPicPr>
          <p:cNvPr id="3" name="图片 2"/>
          <p:cNvPicPr>
            <a:picLocks noChangeAspect="1"/>
          </p:cNvPicPr>
          <p:nvPr/>
        </p:nvPicPr>
        <p:blipFill>
          <a:blip r:embed="rId3"/>
          <a:stretch>
            <a:fillRect/>
          </a:stretch>
        </p:blipFill>
        <p:spPr>
          <a:xfrm>
            <a:off x="695400" y="1980690"/>
            <a:ext cx="4920917" cy="3298222"/>
          </a:xfrm>
          <a:prstGeom prst="rect">
            <a:avLst/>
          </a:prstGeom>
        </p:spPr>
      </p:pic>
    </p:spTree>
    <p:extLst>
      <p:ext uri="{BB962C8B-B14F-4D97-AF65-F5344CB8AC3E}">
        <p14:creationId xmlns:p14="http://schemas.microsoft.com/office/powerpoint/2010/main" val="39017077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采用先进</a:t>
            </a:r>
            <a:r>
              <a:rPr lang="zh-CN" altLang="en-US" dirty="0" smtClean="0"/>
              <a:t>封装，芯片成本构成更为复杂</a:t>
            </a:r>
            <a:endParaRPr lang="zh-CN" altLang="en-US" dirty="0"/>
          </a:p>
        </p:txBody>
      </p:sp>
      <p:pic>
        <p:nvPicPr>
          <p:cNvPr id="4" name="图片 3"/>
          <p:cNvPicPr>
            <a:picLocks noChangeAspect="1"/>
          </p:cNvPicPr>
          <p:nvPr/>
        </p:nvPicPr>
        <p:blipFill>
          <a:blip r:embed="rId2"/>
          <a:stretch>
            <a:fillRect/>
          </a:stretch>
        </p:blipFill>
        <p:spPr>
          <a:xfrm>
            <a:off x="263352" y="1433854"/>
            <a:ext cx="9900762" cy="2792210"/>
          </a:xfrm>
          <a:prstGeom prst="rect">
            <a:avLst/>
          </a:prstGeom>
        </p:spPr>
      </p:pic>
      <p:pic>
        <p:nvPicPr>
          <p:cNvPr id="5" name="图片 4"/>
          <p:cNvPicPr>
            <a:picLocks noChangeAspect="1"/>
          </p:cNvPicPr>
          <p:nvPr/>
        </p:nvPicPr>
        <p:blipFill>
          <a:blip r:embed="rId3"/>
          <a:stretch>
            <a:fillRect/>
          </a:stretch>
        </p:blipFill>
        <p:spPr>
          <a:xfrm>
            <a:off x="1199456" y="4253880"/>
            <a:ext cx="3600400" cy="2400267"/>
          </a:xfrm>
          <a:prstGeom prst="rect">
            <a:avLst/>
          </a:prstGeom>
        </p:spPr>
      </p:pic>
      <p:pic>
        <p:nvPicPr>
          <p:cNvPr id="6" name="图片 5"/>
          <p:cNvPicPr>
            <a:picLocks noChangeAspect="1"/>
          </p:cNvPicPr>
          <p:nvPr/>
        </p:nvPicPr>
        <p:blipFill>
          <a:blip r:embed="rId4"/>
          <a:stretch>
            <a:fillRect/>
          </a:stretch>
        </p:blipFill>
        <p:spPr>
          <a:xfrm>
            <a:off x="7104112" y="1593478"/>
            <a:ext cx="4832469" cy="5060669"/>
          </a:xfrm>
          <a:prstGeom prst="rect">
            <a:avLst/>
          </a:prstGeom>
        </p:spPr>
      </p:pic>
    </p:spTree>
    <p:extLst>
      <p:ext uri="{BB962C8B-B14F-4D97-AF65-F5344CB8AC3E}">
        <p14:creationId xmlns:p14="http://schemas.microsoft.com/office/powerpoint/2010/main" val="37366964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Real World Examples</a:t>
            </a:r>
          </a:p>
        </p:txBody>
      </p:sp>
      <p:sp>
        <p:nvSpPr>
          <p:cNvPr id="88067" name="Rectangle 3"/>
          <p:cNvSpPr>
            <a:spLocks noGrp="1" noChangeArrowheads="1"/>
          </p:cNvSpPr>
          <p:nvPr>
            <p:ph type="body" idx="1"/>
          </p:nvPr>
        </p:nvSpPr>
        <p:spPr>
          <a:xfrm>
            <a:off x="2057400" y="1371600"/>
            <a:ext cx="8362950" cy="495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114300" lvl="1" indent="0" algn="r">
              <a:buNone/>
              <a:tabLst>
                <a:tab pos="355600" algn="r"/>
                <a:tab pos="914400" algn="r"/>
                <a:tab pos="1885950" algn="r"/>
                <a:tab pos="2571750" algn="r"/>
                <a:tab pos="3486150" algn="r"/>
                <a:tab pos="4400550" algn="r"/>
                <a:tab pos="5143500" algn="r"/>
                <a:tab pos="5886450" algn="r"/>
                <a:tab pos="6629400" algn="r"/>
                <a:tab pos="7772400" algn="r"/>
              </a:tabLst>
            </a:pPr>
            <a:endParaRPr lang="en-US" altLang="zh-CN" sz="2000"/>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Chip		Metal	Line	 Wafer	Defect	Area	Dies/	Yield	Die Cost</a:t>
            </a:r>
            <a:br>
              <a:rPr lang="en-US" altLang="zh-CN" sz="2000"/>
            </a:br>
            <a:r>
              <a:rPr lang="en-US" altLang="zh-CN" sz="2000"/>
              <a:t>                  	layers width cost	        /cm</a:t>
            </a:r>
            <a:r>
              <a:rPr lang="en-US" altLang="zh-CN" sz="2000" baseline="30000"/>
              <a:t>2	   </a:t>
            </a:r>
            <a:r>
              <a:rPr lang="en-US" altLang="zh-CN" sz="2000"/>
              <a:t>mm</a:t>
            </a:r>
            <a:r>
              <a:rPr lang="en-US" altLang="zh-CN" sz="2000" baseline="30000"/>
              <a:t>2	   </a:t>
            </a:r>
            <a:r>
              <a:rPr lang="en-US" altLang="zh-CN" sz="2000"/>
              <a:t>wafer</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386DX		2	0.90	$900 	1.0 	43 	360 	71%	$4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486DX2	3	0.80	$1200 	1.0 	81 	181 	54%	$12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PowerPC 601	4	0.80	$1700 	1.3 	121 	115 	28%	$53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HP PA 7100	3	0.80	$1300 	1.0 	196 	66 	27%	$73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DEC Alpha	3	0.70	$1500 	1.2 	234 	53 	19%	$149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SuperSPARC	3	0.70	$1700 	1.6 	256 	48 	13%	$272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Pentium	3	0.80	$1500 	1.5 	296 	40 	9%	$417 </a:t>
            </a:r>
            <a:endParaRPr lang="en-US" altLang="zh-CN" sz="2400"/>
          </a:p>
          <a:p>
            <a:pPr marL="0" indent="0" algn="ctr">
              <a:buNone/>
              <a:tabLst>
                <a:tab pos="355600" algn="r"/>
                <a:tab pos="914400" algn="r"/>
                <a:tab pos="1885950" algn="r"/>
                <a:tab pos="2571750" algn="r"/>
                <a:tab pos="3486150" algn="r"/>
                <a:tab pos="4400550" algn="r"/>
                <a:tab pos="5143500" algn="r"/>
                <a:tab pos="5886450" algn="r"/>
                <a:tab pos="6629400" algn="r"/>
                <a:tab pos="7772400" algn="r"/>
              </a:tabLst>
            </a:pPr>
            <a:endParaRPr lang="en-US" altLang="zh-CN" sz="1800"/>
          </a:p>
          <a:p>
            <a:pPr marL="114300" lvl="1" indent="0">
              <a:tabLst>
                <a:tab pos="355600" algn="r"/>
                <a:tab pos="914400" algn="r"/>
                <a:tab pos="1885950" algn="r"/>
                <a:tab pos="2571750" algn="r"/>
                <a:tab pos="3486150" algn="r"/>
                <a:tab pos="4400550" algn="r"/>
                <a:tab pos="5143500" algn="r"/>
                <a:tab pos="5886450" algn="r"/>
                <a:tab pos="6629400" algn="r"/>
                <a:tab pos="7772400" algn="r"/>
              </a:tabLst>
            </a:pPr>
            <a:r>
              <a:rPr lang="en-US" altLang="zh-CN" sz="2000"/>
              <a:t> From "Estimating IC Manufacturing Costs,” by Linley Gwennap, </a:t>
            </a:r>
            <a:r>
              <a:rPr lang="en-US" altLang="zh-CN" sz="2000" i="1"/>
              <a:t>Microprocessor Report</a:t>
            </a:r>
            <a:r>
              <a:rPr lang="en-US" altLang="zh-CN" sz="2000"/>
              <a:t>, August 2, 1993, p. 15							</a:t>
            </a:r>
          </a:p>
        </p:txBody>
      </p:sp>
      <p:sp>
        <p:nvSpPr>
          <p:cNvPr id="88068" name="Line 4"/>
          <p:cNvSpPr>
            <a:spLocks noChangeShapeType="1"/>
          </p:cNvSpPr>
          <p:nvPr/>
        </p:nvSpPr>
        <p:spPr bwMode="auto">
          <a:xfrm>
            <a:off x="2209800" y="2438400"/>
            <a:ext cx="78549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387552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39416" y="190500"/>
            <a:ext cx="8837984"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Cost/Performance</a:t>
            </a:r>
            <a:br>
              <a:rPr lang="en-US" altLang="zh-CN" dirty="0" smtClean="0"/>
            </a:br>
            <a:r>
              <a:rPr lang="en-US" altLang="zh-CN" sz="2400" dirty="0" smtClean="0"/>
              <a:t>What is Relationship of Cost to Price?</a:t>
            </a:r>
            <a:endParaRPr lang="en-US" altLang="zh-CN" sz="2400" dirty="0"/>
          </a:p>
        </p:txBody>
      </p:sp>
      <p:sp>
        <p:nvSpPr>
          <p:cNvPr id="89091" name="Rectangle 3"/>
          <p:cNvSpPr>
            <a:spLocks noGrp="1" noChangeArrowheads="1"/>
          </p:cNvSpPr>
          <p:nvPr>
            <p:ph type="body" idx="1"/>
          </p:nvPr>
        </p:nvSpPr>
        <p:spPr>
          <a:xfrm>
            <a:off x="839416" y="1533525"/>
            <a:ext cx="9352334" cy="393382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smtClean="0">
                <a:solidFill>
                  <a:schemeClr val="accent2"/>
                </a:solidFill>
              </a:rPr>
              <a:t>Component Costs</a:t>
            </a:r>
            <a:endParaRPr lang="en-US" altLang="zh-CN" dirty="0" smtClean="0"/>
          </a:p>
          <a:p>
            <a:r>
              <a:rPr lang="en-US" altLang="zh-CN" dirty="0" smtClean="0">
                <a:solidFill>
                  <a:schemeClr val="accent1"/>
                </a:solidFill>
              </a:rPr>
              <a:t>Direct Costs</a:t>
            </a:r>
            <a:r>
              <a:rPr lang="en-US" altLang="zh-CN" dirty="0" smtClean="0"/>
              <a:t> </a:t>
            </a:r>
            <a:r>
              <a:rPr lang="en-US" altLang="zh-CN" sz="2000" dirty="0" smtClean="0"/>
              <a:t>(add 25% to 40%) recurring costs: labor, purchasing, scrap, warranty</a:t>
            </a:r>
          </a:p>
          <a:p>
            <a:r>
              <a:rPr lang="en-US" altLang="zh-CN" dirty="0" smtClean="0">
                <a:solidFill>
                  <a:schemeClr val="hlink"/>
                </a:solidFill>
              </a:rPr>
              <a:t>Gross Margin</a:t>
            </a:r>
            <a:r>
              <a:rPr lang="en-US" altLang="zh-CN" dirty="0" smtClean="0"/>
              <a:t> </a:t>
            </a:r>
            <a:r>
              <a:rPr lang="en-US" altLang="zh-CN" sz="2000" dirty="0" smtClean="0"/>
              <a:t>(add 82% to 186%) nonrecurring costs: </a:t>
            </a:r>
            <a:br>
              <a:rPr lang="en-US" altLang="zh-CN" sz="2000" dirty="0" smtClean="0"/>
            </a:br>
            <a:r>
              <a:rPr lang="en-US" altLang="zh-CN" sz="2000" dirty="0" smtClean="0"/>
              <a:t>R&amp;D, marketing, sales, equipment maintenance, rental, financing cost, pretax profits, taxes</a:t>
            </a:r>
          </a:p>
          <a:p>
            <a:r>
              <a:rPr lang="en-US" altLang="zh-CN" dirty="0" smtClean="0">
                <a:solidFill>
                  <a:srgbClr val="FE9B03"/>
                </a:solidFill>
              </a:rPr>
              <a:t>Average Discount</a:t>
            </a:r>
            <a:r>
              <a:rPr lang="en-US" altLang="zh-CN" dirty="0" smtClean="0"/>
              <a:t> </a:t>
            </a:r>
            <a:r>
              <a:rPr lang="en-US" altLang="zh-CN" sz="2000" dirty="0" smtClean="0"/>
              <a:t>to get List Price (add 33% to 66%): volume discounts and/or retailer markup</a:t>
            </a:r>
            <a:endParaRPr lang="en-US" altLang="zh-CN" sz="2000" dirty="0"/>
          </a:p>
        </p:txBody>
      </p:sp>
      <p:grpSp>
        <p:nvGrpSpPr>
          <p:cNvPr id="89092" name="Group 4"/>
          <p:cNvGrpSpPr>
            <a:grpSpLocks/>
          </p:cNvGrpSpPr>
          <p:nvPr/>
        </p:nvGrpSpPr>
        <p:grpSpPr bwMode="auto">
          <a:xfrm>
            <a:off x="8040216" y="6096843"/>
            <a:ext cx="1393825" cy="644525"/>
            <a:chOff x="2478" y="3610"/>
            <a:chExt cx="878" cy="406"/>
          </a:xfrm>
        </p:grpSpPr>
        <p:sp>
          <p:nvSpPr>
            <p:cNvPr id="89093" name="Rectangle 5"/>
            <p:cNvSpPr>
              <a:spLocks noChangeArrowheads="1"/>
            </p:cNvSpPr>
            <p:nvPr/>
          </p:nvSpPr>
          <p:spPr bwMode="auto">
            <a:xfrm>
              <a:off x="2500" y="3628"/>
              <a:ext cx="856"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4" name="Rectangle 6"/>
            <p:cNvSpPr>
              <a:spLocks noChangeArrowheads="1"/>
            </p:cNvSpPr>
            <p:nvPr/>
          </p:nvSpPr>
          <p:spPr bwMode="auto">
            <a:xfrm>
              <a:off x="2478" y="3610"/>
              <a:ext cx="851" cy="4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b="1">
                  <a:solidFill>
                    <a:schemeClr val="accent2"/>
                  </a:solidFill>
                  <a:latin typeface="Comic Sans MS" panose="030F0702030302020204" pitchFamily="66" charset="0"/>
                </a:rPr>
                <a:t>Component</a:t>
              </a:r>
            </a:p>
            <a:p>
              <a:pPr algn="ctr" eaLnBrk="1" hangingPunct="1"/>
              <a:r>
                <a:rPr lang="en-US" altLang="zh-CN" b="1">
                  <a:solidFill>
                    <a:schemeClr val="accent2"/>
                  </a:solidFill>
                  <a:latin typeface="Comic Sans MS" panose="030F0702030302020204" pitchFamily="66" charset="0"/>
                </a:rPr>
                <a:t>Cost</a:t>
              </a:r>
            </a:p>
          </p:txBody>
        </p:sp>
      </p:grpSp>
      <p:sp>
        <p:nvSpPr>
          <p:cNvPr id="89095" name="Rectangle 7"/>
          <p:cNvSpPr>
            <a:spLocks noChangeArrowheads="1"/>
          </p:cNvSpPr>
          <p:nvPr/>
        </p:nvSpPr>
        <p:spPr bwMode="auto">
          <a:xfrm>
            <a:off x="8075139" y="5896818"/>
            <a:ext cx="1358900" cy="2698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6" name="Rectangle 8"/>
          <p:cNvSpPr>
            <a:spLocks noChangeArrowheads="1"/>
          </p:cNvSpPr>
          <p:nvPr/>
        </p:nvSpPr>
        <p:spPr bwMode="auto">
          <a:xfrm>
            <a:off x="7994178" y="5892056"/>
            <a:ext cx="1520825"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1" hangingPunct="1"/>
            <a:r>
              <a:rPr lang="en-US" altLang="zh-CN" b="1">
                <a:solidFill>
                  <a:schemeClr val="accent1"/>
                </a:solidFill>
                <a:latin typeface="Comic Sans MS" panose="030F0702030302020204" pitchFamily="66" charset="0"/>
              </a:rPr>
              <a:t>Direct Cost</a:t>
            </a:r>
          </a:p>
        </p:txBody>
      </p:sp>
      <p:grpSp>
        <p:nvGrpSpPr>
          <p:cNvPr id="89097" name="Group 9"/>
          <p:cNvGrpSpPr>
            <a:grpSpLocks/>
          </p:cNvGrpSpPr>
          <p:nvPr/>
        </p:nvGrpSpPr>
        <p:grpSpPr bwMode="auto">
          <a:xfrm>
            <a:off x="8075139" y="5215781"/>
            <a:ext cx="1358900" cy="650875"/>
            <a:chOff x="2500" y="3055"/>
            <a:chExt cx="856" cy="410"/>
          </a:xfrm>
        </p:grpSpPr>
        <p:sp>
          <p:nvSpPr>
            <p:cNvPr id="89098" name="Rectangle 10"/>
            <p:cNvSpPr>
              <a:spLocks noChangeArrowheads="1"/>
            </p:cNvSpPr>
            <p:nvPr/>
          </p:nvSpPr>
          <p:spPr bwMode="auto">
            <a:xfrm>
              <a:off x="2500" y="3070"/>
              <a:ext cx="856" cy="39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9" name="Rectangle 11"/>
            <p:cNvSpPr>
              <a:spLocks noChangeArrowheads="1"/>
            </p:cNvSpPr>
            <p:nvPr/>
          </p:nvSpPr>
          <p:spPr bwMode="auto">
            <a:xfrm>
              <a:off x="2610" y="3055"/>
              <a:ext cx="586"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b="1" dirty="0">
                  <a:solidFill>
                    <a:schemeClr val="hlink"/>
                  </a:solidFill>
                  <a:latin typeface="Comic Sans MS" panose="030F0702030302020204" pitchFamily="66" charset="0"/>
                </a:rPr>
                <a:t>Gross</a:t>
              </a:r>
            </a:p>
            <a:p>
              <a:pPr algn="ctr" eaLnBrk="1" hangingPunct="1"/>
              <a:r>
                <a:rPr lang="en-US" altLang="zh-CN" b="1" dirty="0">
                  <a:solidFill>
                    <a:schemeClr val="hlink"/>
                  </a:solidFill>
                  <a:latin typeface="Comic Sans MS" panose="030F0702030302020204" pitchFamily="66" charset="0"/>
                </a:rPr>
                <a:t>Margin</a:t>
              </a:r>
            </a:p>
          </p:txBody>
        </p:sp>
      </p:grpSp>
      <p:grpSp>
        <p:nvGrpSpPr>
          <p:cNvPr id="89100" name="Group 12"/>
          <p:cNvGrpSpPr>
            <a:grpSpLocks/>
          </p:cNvGrpSpPr>
          <p:nvPr/>
        </p:nvGrpSpPr>
        <p:grpSpPr bwMode="auto">
          <a:xfrm>
            <a:off x="8075139" y="4583956"/>
            <a:ext cx="1358900" cy="663575"/>
            <a:chOff x="2500" y="2657"/>
            <a:chExt cx="856" cy="418"/>
          </a:xfrm>
        </p:grpSpPr>
        <p:sp>
          <p:nvSpPr>
            <p:cNvPr id="89101" name="Rectangle 13"/>
            <p:cNvSpPr>
              <a:spLocks noChangeArrowheads="1"/>
            </p:cNvSpPr>
            <p:nvPr/>
          </p:nvSpPr>
          <p:spPr bwMode="auto">
            <a:xfrm>
              <a:off x="2500" y="2671"/>
              <a:ext cx="856" cy="4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2" name="Rectangle 14"/>
            <p:cNvSpPr>
              <a:spLocks noChangeArrowheads="1"/>
            </p:cNvSpPr>
            <p:nvPr/>
          </p:nvSpPr>
          <p:spPr bwMode="auto">
            <a:xfrm>
              <a:off x="2538" y="2657"/>
              <a:ext cx="730"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b="1">
                  <a:solidFill>
                    <a:srgbClr val="FE9B03"/>
                  </a:solidFill>
                  <a:latin typeface="Comic Sans MS" panose="030F0702030302020204" pitchFamily="66" charset="0"/>
                </a:rPr>
                <a:t>Average</a:t>
              </a:r>
            </a:p>
            <a:p>
              <a:pPr algn="ctr" eaLnBrk="1" hangingPunct="1"/>
              <a:r>
                <a:rPr lang="en-US" altLang="zh-CN" b="1">
                  <a:solidFill>
                    <a:srgbClr val="FE9B03"/>
                  </a:solidFill>
                  <a:latin typeface="Comic Sans MS" panose="030F0702030302020204" pitchFamily="66" charset="0"/>
                </a:rPr>
                <a:t>Discount</a:t>
              </a:r>
            </a:p>
          </p:txBody>
        </p:sp>
      </p:grpSp>
      <p:sp>
        <p:nvSpPr>
          <p:cNvPr id="89103" name="Rectangle 15"/>
          <p:cNvSpPr>
            <a:spLocks noChangeArrowheads="1"/>
          </p:cNvSpPr>
          <p:nvPr/>
        </p:nvSpPr>
        <p:spPr bwMode="auto">
          <a:xfrm>
            <a:off x="5436546" y="5106242"/>
            <a:ext cx="215123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b="1">
                <a:latin typeface="Comic Sans MS" panose="030F0702030302020204" pitchFamily="66" charset="0"/>
              </a:rPr>
              <a:t>Avg. Selling Price</a:t>
            </a:r>
          </a:p>
        </p:txBody>
      </p:sp>
      <p:sp>
        <p:nvSpPr>
          <p:cNvPr id="89104" name="Line 16"/>
          <p:cNvSpPr>
            <a:spLocks noChangeShapeType="1"/>
          </p:cNvSpPr>
          <p:nvPr/>
        </p:nvSpPr>
        <p:spPr bwMode="auto">
          <a:xfrm>
            <a:off x="7694139" y="5280867"/>
            <a:ext cx="368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5" name="Rectangle 17"/>
          <p:cNvSpPr>
            <a:spLocks noChangeArrowheads="1"/>
          </p:cNvSpPr>
          <p:nvPr/>
        </p:nvSpPr>
        <p:spPr bwMode="auto">
          <a:xfrm>
            <a:off x="6378103" y="4420442"/>
            <a:ext cx="1240725"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b="1">
                <a:latin typeface="Comic Sans MS" panose="030F0702030302020204" pitchFamily="66" charset="0"/>
              </a:rPr>
              <a:t>List Price</a:t>
            </a:r>
          </a:p>
        </p:txBody>
      </p:sp>
      <p:sp>
        <p:nvSpPr>
          <p:cNvPr id="89106" name="Line 18"/>
          <p:cNvSpPr>
            <a:spLocks noChangeShapeType="1"/>
          </p:cNvSpPr>
          <p:nvPr/>
        </p:nvSpPr>
        <p:spPr bwMode="auto">
          <a:xfrm>
            <a:off x="7694139" y="4595067"/>
            <a:ext cx="368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7" name="Rectangle 19"/>
          <p:cNvSpPr>
            <a:spLocks noChangeArrowheads="1"/>
          </p:cNvSpPr>
          <p:nvPr/>
        </p:nvSpPr>
        <p:spPr bwMode="auto">
          <a:xfrm>
            <a:off x="9426102" y="6180980"/>
            <a:ext cx="201177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15% to 33%</a:t>
            </a:r>
          </a:p>
        </p:txBody>
      </p:sp>
      <p:sp>
        <p:nvSpPr>
          <p:cNvPr id="89108" name="Rectangle 20"/>
          <p:cNvSpPr>
            <a:spLocks noChangeArrowheads="1"/>
          </p:cNvSpPr>
          <p:nvPr/>
        </p:nvSpPr>
        <p:spPr bwMode="auto">
          <a:xfrm>
            <a:off x="9426102" y="5799980"/>
            <a:ext cx="2168864"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  6% to   8%</a:t>
            </a:r>
          </a:p>
        </p:txBody>
      </p:sp>
      <p:sp>
        <p:nvSpPr>
          <p:cNvPr id="89109" name="Rectangle 21"/>
          <p:cNvSpPr>
            <a:spLocks noChangeArrowheads="1"/>
          </p:cNvSpPr>
          <p:nvPr/>
        </p:nvSpPr>
        <p:spPr bwMode="auto">
          <a:xfrm>
            <a:off x="9426102" y="5342780"/>
            <a:ext cx="201177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34% to 39%</a:t>
            </a:r>
          </a:p>
        </p:txBody>
      </p:sp>
      <p:sp>
        <p:nvSpPr>
          <p:cNvPr id="89110" name="Rectangle 22"/>
          <p:cNvSpPr>
            <a:spLocks noChangeArrowheads="1"/>
          </p:cNvSpPr>
          <p:nvPr/>
        </p:nvSpPr>
        <p:spPr bwMode="auto">
          <a:xfrm>
            <a:off x="9426102" y="4656980"/>
            <a:ext cx="201177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25% to 40%</a:t>
            </a:r>
          </a:p>
        </p:txBody>
      </p:sp>
    </p:spTree>
    <p:extLst>
      <p:ext uri="{BB962C8B-B14F-4D97-AF65-F5344CB8AC3E}">
        <p14:creationId xmlns:p14="http://schemas.microsoft.com/office/powerpoint/2010/main" val="239561991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body" idx="1"/>
          </p:nvPr>
        </p:nvSpPr>
        <p:spPr>
          <a:xfrm>
            <a:off x="2286000" y="1772816"/>
            <a:ext cx="7848600" cy="470418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Assume purchase 10,000 units</a:t>
            </a:r>
          </a:p>
        </p:txBody>
      </p:sp>
      <p:sp>
        <p:nvSpPr>
          <p:cNvPr id="90115" name="Rectangle 3"/>
          <p:cNvSpPr>
            <a:spLocks noGrp="1" noChangeArrowheads="1"/>
          </p:cNvSpPr>
          <p:nvPr>
            <p:ph type="title"/>
          </p:nvPr>
        </p:nvSpPr>
        <p:spPr>
          <a:xfrm>
            <a:off x="2362200" y="4572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Chip Prices (August 1993)</a:t>
            </a:r>
          </a:p>
        </p:txBody>
      </p:sp>
      <p:sp>
        <p:nvSpPr>
          <p:cNvPr id="90116" name="Rectangle 4"/>
          <p:cNvSpPr>
            <a:spLocks noChangeArrowheads="1"/>
          </p:cNvSpPr>
          <p:nvPr/>
        </p:nvSpPr>
        <p:spPr bwMode="auto">
          <a:xfrm>
            <a:off x="1981200" y="2767430"/>
            <a:ext cx="8458200" cy="411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1pPr>
            <a:lvl2pPr marL="11430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3pPr>
            <a:lvl4pPr marL="1543050" indent="-17145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4pPr>
            <a:lvl5pPr marL="2000250" indent="-17145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5pPr>
            <a:lvl6pPr marL="24574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6pPr>
            <a:lvl7pPr marL="29146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7pPr>
            <a:lvl8pPr marL="33718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8pPr>
            <a:lvl9pPr marL="38290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9pPr>
          </a:lstStyle>
          <a:p>
            <a:pPr lvl="1" algn="r" eaLnBrk="1" hangingPunct="1">
              <a:lnSpc>
                <a:spcPct val="90000"/>
              </a:lnSpc>
              <a:spcBef>
                <a:spcPct val="30000"/>
              </a:spcBef>
            </a:pPr>
            <a:endParaRPr lang="en-US" altLang="zh-CN" sz="18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Chip	Area	Mfg.	Price	Multi-	Comment</a:t>
            </a:r>
          </a:p>
          <a:p>
            <a:pPr lvl="4" eaLnBrk="1" hangingPunct="1">
              <a:lnSpc>
                <a:spcPct val="90000"/>
              </a:lnSpc>
              <a:spcBef>
                <a:spcPct val="30000"/>
              </a:spcBef>
            </a:pPr>
            <a:r>
              <a:rPr lang="en-US" altLang="zh-CN" sz="1800" b="1" dirty="0">
                <a:latin typeface="Comic Sans MS" panose="030F0702030302020204" pitchFamily="66" charset="0"/>
              </a:rPr>
              <a:t>mm</a:t>
            </a:r>
            <a:r>
              <a:rPr lang="en-US" altLang="zh-CN" sz="2000" b="1" baseline="30000" dirty="0">
                <a:latin typeface="Comic Sans MS" panose="030F0702030302020204" pitchFamily="66" charset="0"/>
              </a:rPr>
              <a:t>2	</a:t>
            </a:r>
            <a:r>
              <a:rPr lang="en-US" altLang="zh-CN" sz="1800" b="1" dirty="0">
                <a:latin typeface="Comic Sans MS" panose="030F0702030302020204" pitchFamily="66" charset="0"/>
              </a:rPr>
              <a:t>cost		plier</a:t>
            </a:r>
            <a:endParaRPr lang="en-US" altLang="zh-CN" sz="20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386DX	43 	$9 	$31 	3.4 	</a:t>
            </a:r>
            <a:r>
              <a:rPr lang="en-US" altLang="zh-CN" b="1" dirty="0">
                <a:effectLst>
                  <a:outerShdw blurRad="38100" dist="38100" dir="2700000" algn="tl">
                    <a:srgbClr val="C0C0C0"/>
                  </a:outerShdw>
                </a:effectLst>
                <a:latin typeface="Comic Sans MS" panose="030F0702030302020204" pitchFamily="66" charset="0"/>
              </a:rPr>
              <a:t>Intense Competition</a:t>
            </a:r>
            <a:endParaRPr lang="en-US" altLang="zh-CN" sz="20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486DX2	81 	$35 	$245 	</a:t>
            </a:r>
            <a:r>
              <a:rPr lang="en-US" altLang="zh-CN" sz="2000" b="1" dirty="0">
                <a:solidFill>
                  <a:schemeClr val="hlink"/>
                </a:solidFill>
                <a:latin typeface="Comic Sans MS" panose="030F0702030302020204" pitchFamily="66" charset="0"/>
              </a:rPr>
              <a:t>7.0</a:t>
            </a:r>
            <a:r>
              <a:rPr lang="en-US" altLang="zh-CN" sz="2000" b="1" dirty="0">
                <a:latin typeface="Comic Sans MS" panose="030F0702030302020204" pitchFamily="66" charset="0"/>
              </a:rPr>
              <a:t> 	</a:t>
            </a:r>
            <a:r>
              <a:rPr lang="en-US" altLang="zh-CN" b="1" dirty="0">
                <a:effectLst>
                  <a:outerShdw blurRad="38100" dist="38100" dir="2700000" algn="tl">
                    <a:srgbClr val="C0C0C0"/>
                  </a:outerShdw>
                </a:effectLst>
                <a:latin typeface="Comic Sans MS" panose="030F0702030302020204" pitchFamily="66" charset="0"/>
              </a:rPr>
              <a:t>No Competition</a:t>
            </a:r>
            <a:endParaRPr lang="en-US" altLang="zh-CN" sz="2000" b="1" dirty="0">
              <a:effectLst>
                <a:outerShdw blurRad="38100" dist="38100" dir="2700000" algn="tl">
                  <a:srgbClr val="C0C0C0"/>
                </a:outerShdw>
              </a:effectLst>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PowerPC 601	121 	$77 	$280 	3.6 	</a:t>
            </a:r>
          </a:p>
          <a:p>
            <a:pPr eaLnBrk="1" hangingPunct="1">
              <a:lnSpc>
                <a:spcPct val="90000"/>
              </a:lnSpc>
              <a:spcBef>
                <a:spcPct val="30000"/>
              </a:spcBef>
            </a:pPr>
            <a:r>
              <a:rPr lang="en-US" altLang="zh-CN" sz="2000" b="1" dirty="0">
                <a:latin typeface="Comic Sans MS" panose="030F0702030302020204" pitchFamily="66" charset="0"/>
              </a:rPr>
              <a:t>DEC Alpha	234 	$202 	$1231 	</a:t>
            </a:r>
            <a:r>
              <a:rPr lang="en-US" altLang="zh-CN" sz="2000" b="1" dirty="0">
                <a:solidFill>
                  <a:schemeClr val="hlink"/>
                </a:solidFill>
                <a:latin typeface="Comic Sans MS" panose="030F0702030302020204" pitchFamily="66" charset="0"/>
              </a:rPr>
              <a:t>6.1</a:t>
            </a:r>
            <a:r>
              <a:rPr lang="en-US" altLang="zh-CN" sz="2000" b="1" dirty="0">
                <a:latin typeface="Comic Sans MS" panose="030F0702030302020204" pitchFamily="66" charset="0"/>
              </a:rPr>
              <a:t> 	</a:t>
            </a:r>
            <a:r>
              <a:rPr lang="en-US" altLang="zh-CN" b="1" dirty="0">
                <a:latin typeface="Comic Sans MS" panose="030F0702030302020204" pitchFamily="66" charset="0"/>
              </a:rPr>
              <a:t>Recoup R&amp;D?</a:t>
            </a:r>
            <a:endParaRPr lang="en-US" altLang="zh-CN" sz="20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Pentium	296 	$473 	$965 	2.0 	</a:t>
            </a:r>
            <a:r>
              <a:rPr lang="en-US" altLang="zh-CN" b="1" dirty="0">
                <a:latin typeface="Comic Sans MS" panose="030F0702030302020204" pitchFamily="66" charset="0"/>
              </a:rPr>
              <a:t>Early in shipments</a:t>
            </a:r>
            <a:endParaRPr lang="en-US" altLang="zh-CN" sz="2000" b="1" dirty="0">
              <a:latin typeface="Comic Sans MS" panose="030F0702030302020204" pitchFamily="66" charset="0"/>
            </a:endParaRPr>
          </a:p>
          <a:p>
            <a:pPr algn="ctr" eaLnBrk="1" hangingPunct="1">
              <a:lnSpc>
                <a:spcPct val="90000"/>
              </a:lnSpc>
              <a:spcBef>
                <a:spcPct val="30000"/>
              </a:spcBef>
            </a:pPr>
            <a:r>
              <a:rPr lang="en-US" altLang="zh-CN" sz="2000" b="1" dirty="0">
                <a:latin typeface="Comic Sans MS" panose="030F0702030302020204" pitchFamily="66" charset="0"/>
              </a:rPr>
              <a:t>								</a:t>
            </a:r>
          </a:p>
        </p:txBody>
      </p:sp>
      <p:sp>
        <p:nvSpPr>
          <p:cNvPr id="90117" name="Line 5"/>
          <p:cNvSpPr>
            <a:spLocks noChangeShapeType="1"/>
          </p:cNvSpPr>
          <p:nvPr/>
        </p:nvSpPr>
        <p:spPr bwMode="auto">
          <a:xfrm>
            <a:off x="2139950" y="2838450"/>
            <a:ext cx="77025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567451052"/>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245745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Summary: Price vs. Cost</a:t>
            </a:r>
          </a:p>
        </p:txBody>
      </p:sp>
      <p:graphicFrame>
        <p:nvGraphicFramePr>
          <p:cNvPr id="91139" name="Object 3">
            <a:hlinkClick r:id="" action="ppaction://ole?verb=0"/>
          </p:cNvPr>
          <p:cNvGraphicFramePr>
            <a:graphicFrameLocks/>
          </p:cNvGraphicFramePr>
          <p:nvPr>
            <p:extLst>
              <p:ext uri="{D42A27DB-BD31-4B8C-83A1-F6EECF244321}">
                <p14:modId xmlns:p14="http://schemas.microsoft.com/office/powerpoint/2010/main" val="2367023691"/>
              </p:ext>
            </p:extLst>
          </p:nvPr>
        </p:nvGraphicFramePr>
        <p:xfrm>
          <a:off x="479376" y="1635968"/>
          <a:ext cx="6400800" cy="2533650"/>
        </p:xfrm>
        <a:graphic>
          <a:graphicData uri="http://schemas.openxmlformats.org/presentationml/2006/ole">
            <mc:AlternateContent xmlns:mc="http://schemas.openxmlformats.org/markup-compatibility/2006">
              <mc:Choice xmlns:v="urn:schemas-microsoft-com:vml" Requires="v">
                <p:oleObj spid="_x0000_s4212" name="图表" r:id="rId3" imgW="6413400" imgH="2781000" progId="Excel.Chart.8">
                  <p:embed followColorScheme="full"/>
                </p:oleObj>
              </mc:Choice>
              <mc:Fallback>
                <p:oleObj name="图表" r:id="rId3" imgW="6413400" imgH="2781000" progId="Excel.Chart.8">
                  <p:embed followColorScheme="full"/>
                  <p:pic>
                    <p:nvPicPr>
                      <p:cNvPr id="91139"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376" y="1635968"/>
                        <a:ext cx="6400800" cy="2533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140" name="Object 4">
            <a:hlinkClick r:id="" action="ppaction://ole?verb=0"/>
          </p:cNvPr>
          <p:cNvGraphicFramePr>
            <a:graphicFrameLocks/>
          </p:cNvGraphicFramePr>
          <p:nvPr>
            <p:extLst>
              <p:ext uri="{D42A27DB-BD31-4B8C-83A1-F6EECF244321}">
                <p14:modId xmlns:p14="http://schemas.microsoft.com/office/powerpoint/2010/main" val="896908888"/>
              </p:ext>
            </p:extLst>
          </p:nvPr>
        </p:nvGraphicFramePr>
        <p:xfrm>
          <a:off x="479376" y="4169618"/>
          <a:ext cx="6375400" cy="2571750"/>
        </p:xfrm>
        <a:graphic>
          <a:graphicData uri="http://schemas.openxmlformats.org/presentationml/2006/ole">
            <mc:AlternateContent xmlns:mc="http://schemas.openxmlformats.org/markup-compatibility/2006">
              <mc:Choice xmlns:v="urn:schemas-microsoft-com:vml" Requires="v">
                <p:oleObj spid="_x0000_s4213" name="图表" r:id="rId5" imgW="6387840" imgH="2806560" progId="Excel.Chart.8">
                  <p:embed followColorScheme="full"/>
                </p:oleObj>
              </mc:Choice>
              <mc:Fallback>
                <p:oleObj name="图表" r:id="rId5" imgW="6387840" imgH="2806560" progId="Excel.Chart.8">
                  <p:embed followColorScheme="full"/>
                  <p:pic>
                    <p:nvPicPr>
                      <p:cNvPr id="91140" name="Object 4">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376" y="4169618"/>
                        <a:ext cx="6375400" cy="2571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39357" y="1916832"/>
            <a:ext cx="4924535" cy="1944216"/>
          </a:xfrm>
          <a:prstGeom prst="rect">
            <a:avLst/>
          </a:prstGeom>
        </p:spPr>
      </p:pic>
      <p:pic>
        <p:nvPicPr>
          <p:cNvPr id="3" name="图片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76608" y="4437112"/>
            <a:ext cx="4887284" cy="1568214"/>
          </a:xfrm>
          <a:prstGeom prst="rect">
            <a:avLst/>
          </a:prstGeom>
        </p:spPr>
      </p:pic>
    </p:spTree>
    <p:extLst>
      <p:ext uri="{BB962C8B-B14F-4D97-AF65-F5344CB8AC3E}">
        <p14:creationId xmlns:p14="http://schemas.microsoft.com/office/powerpoint/2010/main" val="1634383652"/>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三台</a:t>
            </a:r>
            <a:r>
              <a:rPr lang="en-US" altLang="zh-CN" dirty="0" smtClean="0"/>
              <a:t>DELL</a:t>
            </a:r>
            <a:r>
              <a:rPr lang="zh-CN" altLang="en-US" dirty="0" smtClean="0"/>
              <a:t>服务器的性能和价格</a:t>
            </a:r>
            <a:endParaRPr lang="zh-CN" altLang="en-US" dirty="0"/>
          </a:p>
        </p:txBody>
      </p:sp>
      <p:pic>
        <p:nvPicPr>
          <p:cNvPr id="3" name="图片 2"/>
          <p:cNvPicPr>
            <a:picLocks noChangeAspect="1"/>
          </p:cNvPicPr>
          <p:nvPr/>
        </p:nvPicPr>
        <p:blipFill>
          <a:blip r:embed="rId2"/>
          <a:stretch>
            <a:fillRect/>
          </a:stretch>
        </p:blipFill>
        <p:spPr>
          <a:xfrm>
            <a:off x="1055440" y="1484784"/>
            <a:ext cx="10153128" cy="5302692"/>
          </a:xfrm>
          <a:prstGeom prst="rect">
            <a:avLst/>
          </a:prstGeom>
        </p:spPr>
      </p:pic>
    </p:spTree>
    <p:extLst>
      <p:ext uri="{BB962C8B-B14F-4D97-AF65-F5344CB8AC3E}">
        <p14:creationId xmlns:p14="http://schemas.microsoft.com/office/powerpoint/2010/main" val="28885614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三台</a:t>
            </a:r>
            <a:r>
              <a:rPr lang="en-US" altLang="zh-CN" dirty="0" smtClean="0"/>
              <a:t>DELL</a:t>
            </a:r>
            <a:r>
              <a:rPr lang="zh-CN" altLang="en-US" dirty="0" smtClean="0"/>
              <a:t>服务器的性能功耗比</a:t>
            </a:r>
            <a:endParaRPr lang="zh-CN" altLang="en-US" dirty="0"/>
          </a:p>
        </p:txBody>
      </p:sp>
      <p:sp>
        <p:nvSpPr>
          <p:cNvPr id="3" name="Rectangle 1"/>
          <p:cNvSpPr>
            <a:spLocks noChangeArrowheads="1"/>
          </p:cNvSpPr>
          <p:nvPr/>
        </p:nvSpPr>
        <p:spPr bwMode="auto">
          <a:xfrm>
            <a:off x="191344" y="2239416"/>
            <a:ext cx="601266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anose="020B0604020202020204" pitchFamily="34" charset="0"/>
              <a:buChar char="•"/>
            </a:pPr>
            <a:r>
              <a:rPr lang="en-US" altLang="en-US" sz="1600" dirty="0" smtClean="0">
                <a:solidFill>
                  <a:srgbClr val="0000FF"/>
                </a:solidFill>
              </a:rPr>
              <a:t>An </a:t>
            </a:r>
            <a:r>
              <a:rPr lang="en-US" altLang="en-US" sz="1600" dirty="0">
                <a:solidFill>
                  <a:srgbClr val="0000FF"/>
                </a:solidFill>
              </a:rPr>
              <a:t>SSJ run consists of two main phases: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The </a:t>
            </a:r>
            <a:r>
              <a:rPr lang="en-US" altLang="en-US" sz="1600" dirty="0">
                <a:solidFill>
                  <a:srgbClr val="0000FF"/>
                </a:solidFill>
              </a:rPr>
              <a:t>calibration phase is used to determine the maximum throughput that a system is capable of sustaining.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Once </a:t>
            </a:r>
            <a:r>
              <a:rPr lang="en-US" altLang="en-US" sz="1600" dirty="0">
                <a:solidFill>
                  <a:srgbClr val="0000FF"/>
                </a:solidFill>
              </a:rPr>
              <a:t>this calibrated throughput is established, the system runs at a series of target loads.  Each load runs at some percentage of the calibrated throughput.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err="1" smtClean="0">
                <a:solidFill>
                  <a:srgbClr val="0000FF"/>
                </a:solidFill>
              </a:rPr>
              <a:t>Ssj_ops</a:t>
            </a:r>
            <a:r>
              <a:rPr lang="en-US" altLang="en-US" sz="1600" dirty="0">
                <a:solidFill>
                  <a:srgbClr val="0000FF"/>
                </a:solidFill>
              </a:rPr>
              <a:t>: </a:t>
            </a:r>
            <a:r>
              <a:rPr lang="en-US" altLang="en-US" sz="1600" dirty="0" smtClean="0">
                <a:solidFill>
                  <a:srgbClr val="0000FF"/>
                </a:solidFill>
              </a:rPr>
              <a:t>the </a:t>
            </a:r>
            <a:r>
              <a:rPr lang="en-US" altLang="en-US" sz="1600" dirty="0">
                <a:solidFill>
                  <a:srgbClr val="0000FF"/>
                </a:solidFill>
              </a:rPr>
              <a:t>number of operations finished during this measurement interval divided by the number of seconds defined for this interval, showing the throughput (workload operations per second) for this period</a:t>
            </a:r>
            <a:r>
              <a:rPr lang="en-US" altLang="en-US" sz="1600" dirty="0" smtClean="0">
                <a:solidFill>
                  <a:srgbClr val="0000FF"/>
                </a:solidFill>
              </a:rPr>
              <a:t>.</a:t>
            </a:r>
          </a:p>
          <a:p>
            <a:pPr marL="285750" indent="-285750">
              <a:buFont typeface="Arial" panose="020B0604020202020204" pitchFamily="34" charset="0"/>
              <a:buChar char="•"/>
            </a:pPr>
            <a:r>
              <a:rPr lang="en-US" altLang="en-US" sz="1600" dirty="0" err="1" smtClean="0">
                <a:solidFill>
                  <a:srgbClr val="0000FF"/>
                </a:solidFill>
              </a:rPr>
              <a:t>Ssj_ops</a:t>
            </a:r>
            <a:r>
              <a:rPr lang="en-US" altLang="en-US" sz="1600" dirty="0" smtClean="0">
                <a:solidFill>
                  <a:srgbClr val="0000FF"/>
                </a:solidFill>
              </a:rPr>
              <a:t>/watt </a:t>
            </a:r>
            <a:r>
              <a:rPr lang="en-US" altLang="en-US" sz="1600" dirty="0">
                <a:solidFill>
                  <a:srgbClr val="0000FF"/>
                </a:solidFill>
              </a:rPr>
              <a:t>values are on the left axis, with the three columns associated with it, and watts are on the right axis, with the three lines associated with it. The horizontal axis shows the target workload, as it varies from 100% to Active Idle. The single node R630 has the best </a:t>
            </a:r>
            <a:r>
              <a:rPr lang="en-US" altLang="en-US" sz="1600" dirty="0" err="1">
                <a:solidFill>
                  <a:srgbClr val="0000FF"/>
                </a:solidFill>
              </a:rPr>
              <a:t>ssj_ops</a:t>
            </a:r>
            <a:r>
              <a:rPr lang="en-US" altLang="en-US" sz="1600" dirty="0">
                <a:solidFill>
                  <a:srgbClr val="0000FF"/>
                </a:solidFill>
              </a:rPr>
              <a:t>/watt at each workload level, but R730 consumes the lowest power at each level.</a:t>
            </a:r>
          </a:p>
        </p:txBody>
      </p:sp>
      <p:pic>
        <p:nvPicPr>
          <p:cNvPr id="4" name="Picture 2" descr="Z:\WOMAT\Production\Artfinal\0000000038\MKCAD\978-0-12-811905-1\0003165540\XMLLowres\f01-21-9780128119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008" y="2301793"/>
            <a:ext cx="5959450" cy="4295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407368" y="1514016"/>
            <a:ext cx="11305256" cy="646331"/>
          </a:xfrm>
          <a:prstGeom prst="rect">
            <a:avLst/>
          </a:prstGeom>
        </p:spPr>
        <p:txBody>
          <a:bodyPr wrap="square">
            <a:spAutoFit/>
          </a:bodyPr>
          <a:lstStyle/>
          <a:p>
            <a:pPr marL="285750" indent="-285750">
              <a:buFont typeface="Arial" panose="020B0604020202020204" pitchFamily="34" charset="0"/>
              <a:buChar char="•"/>
            </a:pPr>
            <a:r>
              <a:rPr lang="en-US" altLang="en-US" dirty="0">
                <a:solidFill>
                  <a:srgbClr val="0000FF"/>
                </a:solidFill>
              </a:rPr>
              <a:t>SPECpower_ssj2008 is the first industry-standard benchmark for measuring both the performance and the power consumption of </a:t>
            </a:r>
            <a:r>
              <a:rPr lang="en-US" altLang="en-US" dirty="0" smtClean="0">
                <a:solidFill>
                  <a:srgbClr val="0000FF"/>
                </a:solidFill>
              </a:rPr>
              <a:t>servers (SSJ: Server </a:t>
            </a:r>
            <a:r>
              <a:rPr lang="en-US" altLang="en-US" dirty="0">
                <a:solidFill>
                  <a:srgbClr val="0000FF"/>
                </a:solidFill>
              </a:rPr>
              <a:t>Side Java </a:t>
            </a:r>
            <a:r>
              <a:rPr lang="en-US" altLang="en-US" dirty="0" smtClean="0">
                <a:solidFill>
                  <a:srgbClr val="0000FF"/>
                </a:solidFill>
              </a:rPr>
              <a:t>SSJ</a:t>
            </a:r>
            <a:r>
              <a:rPr lang="en-US" altLang="en-US" dirty="0">
                <a:solidFill>
                  <a:srgbClr val="0000FF"/>
                </a:solidFill>
              </a:rPr>
              <a:t>)</a:t>
            </a:r>
            <a:endParaRPr lang="zh-CN" altLang="en-US" dirty="0"/>
          </a:p>
        </p:txBody>
      </p:sp>
    </p:spTree>
    <p:extLst>
      <p:ext uri="{BB962C8B-B14F-4D97-AF65-F5344CB8AC3E}">
        <p14:creationId xmlns:p14="http://schemas.microsoft.com/office/powerpoint/2010/main" val="20642359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Power and Energy</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Problem:  Get power in, get power out</a:t>
            </a:r>
          </a:p>
          <a:p>
            <a:pPr>
              <a:lnSpc>
                <a:spcPct val="90000"/>
              </a:lnSpc>
            </a:pPr>
            <a:endParaRPr lang="en-US" dirty="0"/>
          </a:p>
          <a:p>
            <a:pPr>
              <a:lnSpc>
                <a:spcPct val="90000"/>
              </a:lnSpc>
            </a:pPr>
            <a:r>
              <a:rPr lang="en-US" dirty="0"/>
              <a:t>Thermal Design Power (TDP)</a:t>
            </a:r>
          </a:p>
          <a:p>
            <a:pPr lvl="1">
              <a:lnSpc>
                <a:spcPct val="90000"/>
              </a:lnSpc>
            </a:pPr>
            <a:r>
              <a:rPr lang="en-US" dirty="0"/>
              <a:t>Characterizes sustained power consumption</a:t>
            </a:r>
          </a:p>
          <a:p>
            <a:pPr lvl="1">
              <a:lnSpc>
                <a:spcPct val="90000"/>
              </a:lnSpc>
            </a:pPr>
            <a:r>
              <a:rPr lang="en-US" dirty="0"/>
              <a:t>Used as target for power supply and cooling system</a:t>
            </a:r>
          </a:p>
          <a:p>
            <a:pPr lvl="1">
              <a:lnSpc>
                <a:spcPct val="90000"/>
              </a:lnSpc>
            </a:pPr>
            <a:r>
              <a:rPr lang="en-US" dirty="0"/>
              <a:t>Lower than peak power (1.5X higher), higher than average power consumption</a:t>
            </a:r>
          </a:p>
          <a:p>
            <a:pPr lvl="1">
              <a:lnSpc>
                <a:spcPct val="90000"/>
              </a:lnSpc>
            </a:pPr>
            <a:endParaRPr lang="en-US" dirty="0"/>
          </a:p>
          <a:p>
            <a:pPr>
              <a:lnSpc>
                <a:spcPct val="90000"/>
              </a:lnSpc>
            </a:pPr>
            <a:r>
              <a:rPr lang="en-US" dirty="0"/>
              <a:t>Clock rate can be reduced dynamically to limit power consumption</a:t>
            </a:r>
          </a:p>
          <a:p>
            <a:pPr>
              <a:lnSpc>
                <a:spcPct val="90000"/>
              </a:lnSpc>
            </a:pPr>
            <a:endParaRPr lang="en-US" dirty="0"/>
          </a:p>
          <a:p>
            <a:pPr>
              <a:lnSpc>
                <a:spcPct val="90000"/>
              </a:lnSpc>
            </a:pPr>
            <a:r>
              <a:rPr lang="en-US" dirty="0"/>
              <a:t>Energy per task is often a better measurement</a:t>
            </a:r>
          </a:p>
        </p:txBody>
      </p:sp>
    </p:spTree>
    <p:extLst>
      <p:ext uri="{BB962C8B-B14F-4D97-AF65-F5344CB8AC3E}">
        <p14:creationId xmlns:p14="http://schemas.microsoft.com/office/powerpoint/2010/main" val="328910292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Dynamic Energy and Power</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Dynamic energy</a:t>
            </a:r>
          </a:p>
          <a:p>
            <a:pPr lvl="1">
              <a:lnSpc>
                <a:spcPct val="90000"/>
              </a:lnSpc>
            </a:pPr>
            <a:r>
              <a:rPr lang="en-US" dirty="0"/>
              <a:t>Transistor switch from 0 -&gt; 1 or 1 -&gt; 0</a:t>
            </a:r>
          </a:p>
          <a:p>
            <a:pPr lvl="1">
              <a:lnSpc>
                <a:spcPct val="90000"/>
              </a:lnSpc>
            </a:pPr>
            <a:r>
              <a:rPr lang="en-US" dirty="0"/>
              <a:t>½ x Capacitive load x Voltage</a:t>
            </a:r>
            <a:r>
              <a:rPr lang="en-US" baseline="30000" dirty="0"/>
              <a:t>2</a:t>
            </a:r>
          </a:p>
          <a:p>
            <a:pPr>
              <a:lnSpc>
                <a:spcPct val="90000"/>
              </a:lnSpc>
            </a:pPr>
            <a:endParaRPr lang="en-US" dirty="0" smtClean="0"/>
          </a:p>
          <a:p>
            <a:pPr>
              <a:lnSpc>
                <a:spcPct val="90000"/>
              </a:lnSpc>
            </a:pPr>
            <a:r>
              <a:rPr lang="en-US" dirty="0"/>
              <a:t>Dynamic power</a:t>
            </a:r>
          </a:p>
          <a:p>
            <a:pPr lvl="1">
              <a:lnSpc>
                <a:spcPct val="90000"/>
              </a:lnSpc>
            </a:pPr>
            <a:r>
              <a:rPr lang="en-US" dirty="0"/>
              <a:t>½ x Capacitive load x Voltage</a:t>
            </a:r>
            <a:r>
              <a:rPr lang="en-US" baseline="30000" dirty="0"/>
              <a:t>2</a:t>
            </a:r>
            <a:r>
              <a:rPr lang="en-US" dirty="0"/>
              <a:t> x Frequency switched</a:t>
            </a:r>
          </a:p>
          <a:p>
            <a:pPr lvl="1">
              <a:lnSpc>
                <a:spcPct val="90000"/>
              </a:lnSpc>
            </a:pPr>
            <a:endParaRPr lang="en-US" dirty="0"/>
          </a:p>
          <a:p>
            <a:pPr>
              <a:lnSpc>
                <a:spcPct val="90000"/>
              </a:lnSpc>
            </a:pPr>
            <a:r>
              <a:rPr lang="en-US" dirty="0"/>
              <a:t>Reducing clock rate reduces power, not energy</a:t>
            </a:r>
            <a:endParaRPr lang="en-US" dirty="0" smtClean="0"/>
          </a:p>
        </p:txBody>
      </p:sp>
    </p:spTree>
    <p:extLst>
      <p:ext uri="{BB962C8B-B14F-4D97-AF65-F5344CB8AC3E}">
        <p14:creationId xmlns:p14="http://schemas.microsoft.com/office/powerpoint/2010/main" val="202089522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Power</a:t>
            </a:r>
            <a:endParaRPr lang="en-AU" dirty="0"/>
          </a:p>
        </p:txBody>
      </p:sp>
      <p:sp>
        <p:nvSpPr>
          <p:cNvPr id="242691" name="Rectangle 3"/>
          <p:cNvSpPr>
            <a:spLocks noGrp="1" noChangeArrowheads="1"/>
          </p:cNvSpPr>
          <p:nvPr>
            <p:ph type="body" idx="1"/>
          </p:nvPr>
        </p:nvSpPr>
        <p:spPr>
          <a:xfrm>
            <a:off x="838200" y="1556792"/>
            <a:ext cx="5329808" cy="5112568"/>
          </a:xfrm>
        </p:spPr>
        <p:txBody>
          <a:bodyPr/>
          <a:lstStyle/>
          <a:p>
            <a:r>
              <a:rPr lang="en-US" dirty="0" smtClean="0"/>
              <a:t>Intel 80386 consumed ~ 2 W</a:t>
            </a:r>
          </a:p>
          <a:p>
            <a:r>
              <a:rPr lang="en-US" dirty="0" smtClean="0"/>
              <a:t>3.3 GHz Intel Core i7 consumes 130 W</a:t>
            </a:r>
          </a:p>
          <a:p>
            <a:r>
              <a:rPr lang="en-US" dirty="0" smtClean="0"/>
              <a:t>Heat must be dissipated from 1.5 x 1.5 cm chip</a:t>
            </a:r>
          </a:p>
          <a:p>
            <a:r>
              <a:rPr lang="en-US" dirty="0" smtClean="0"/>
              <a:t>This is the limit of what can be cooled by air</a:t>
            </a:r>
            <a:endParaRPr lang="en-US" dirty="0"/>
          </a:p>
        </p:txBody>
      </p:sp>
      <p:pic>
        <p:nvPicPr>
          <p:cNvPr id="2" name="Picture 1"/>
          <p:cNvPicPr>
            <a:picLocks noChangeAspect="1"/>
          </p:cNvPicPr>
          <p:nvPr/>
        </p:nvPicPr>
        <p:blipFill>
          <a:blip r:embed="rId3"/>
          <a:stretch>
            <a:fillRect/>
          </a:stretch>
        </p:blipFill>
        <p:spPr>
          <a:xfrm>
            <a:off x="6023992" y="2348880"/>
            <a:ext cx="6086348" cy="4238476"/>
          </a:xfrm>
          <a:prstGeom prst="rect">
            <a:avLst/>
          </a:prstGeom>
        </p:spPr>
      </p:pic>
    </p:spTree>
    <p:extLst>
      <p:ext uri="{BB962C8B-B14F-4D97-AF65-F5344CB8AC3E}">
        <p14:creationId xmlns:p14="http://schemas.microsoft.com/office/powerpoint/2010/main" val="417751234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a:t>Techniques for </a:t>
            </a:r>
            <a:r>
              <a:rPr lang="en-US" dirty="0" smtClean="0"/>
              <a:t>Reducing Power</a:t>
            </a:r>
            <a:endParaRPr lang="en-AU" dirty="0"/>
          </a:p>
        </p:txBody>
      </p:sp>
      <p:sp>
        <p:nvSpPr>
          <p:cNvPr id="242691" name="Rectangle 3"/>
          <p:cNvSpPr>
            <a:spLocks noGrp="1" noChangeArrowheads="1"/>
          </p:cNvSpPr>
          <p:nvPr>
            <p:ph type="body" idx="1"/>
          </p:nvPr>
        </p:nvSpPr>
        <p:spPr>
          <a:xfrm>
            <a:off x="551384" y="1556792"/>
            <a:ext cx="11089232" cy="5112568"/>
          </a:xfrm>
        </p:spPr>
        <p:txBody>
          <a:bodyPr/>
          <a:lstStyle/>
          <a:p>
            <a:r>
              <a:rPr lang="en-US" dirty="0" smtClean="0"/>
              <a:t>Do nothing well, or Clock Gating</a:t>
            </a:r>
          </a:p>
          <a:p>
            <a:r>
              <a:rPr lang="en-US" dirty="0" smtClean="0"/>
              <a:t>Dynamic Voltage-Frequency Scaling (DVFS, AVFS)</a:t>
            </a:r>
          </a:p>
          <a:p>
            <a:pPr lvl="1"/>
            <a:r>
              <a:rPr lang="en-US" altLang="en-US" b="1" dirty="0"/>
              <a:t>Energy savings for a server </a:t>
            </a:r>
            <a:r>
              <a:rPr lang="en-US" altLang="en-US" b="1" dirty="0" smtClean="0"/>
              <a:t/>
            </a:r>
            <a:br>
              <a:rPr lang="en-US" altLang="en-US" b="1" dirty="0" smtClean="0"/>
            </a:br>
            <a:r>
              <a:rPr lang="en-US" altLang="en-US" b="1" dirty="0" smtClean="0"/>
              <a:t>using </a:t>
            </a:r>
            <a:r>
              <a:rPr lang="en-US" altLang="en-US" b="1" dirty="0"/>
              <a:t>an AMD Opteron </a:t>
            </a:r>
            <a:r>
              <a:rPr lang="en-US" altLang="en-US" b="1" dirty="0" smtClean="0"/>
              <a:t>CPU, </a:t>
            </a:r>
            <a:br>
              <a:rPr lang="en-US" altLang="en-US" b="1" dirty="0" smtClean="0"/>
            </a:br>
            <a:r>
              <a:rPr lang="en-US" altLang="en-US" b="1" dirty="0" smtClean="0"/>
              <a:t>8 </a:t>
            </a:r>
            <a:r>
              <a:rPr lang="en-US" altLang="en-US" b="1" dirty="0"/>
              <a:t>GB of DRAM, and 1</a:t>
            </a:r>
            <a:r>
              <a:rPr lang="en-US" altLang="en-US" b="1" dirty="0" smtClean="0"/>
              <a:t> </a:t>
            </a:r>
            <a:r>
              <a:rPr lang="en-US" altLang="en-US" b="1" dirty="0"/>
              <a:t>ATA </a:t>
            </a:r>
            <a:r>
              <a:rPr lang="en-US" altLang="en-US" b="1" dirty="0" smtClean="0"/>
              <a:t>disk</a:t>
            </a:r>
          </a:p>
          <a:p>
            <a:pPr lvl="1"/>
            <a:r>
              <a:rPr lang="en-US" altLang="en-US" dirty="0" smtClean="0"/>
              <a:t>At </a:t>
            </a:r>
            <a:r>
              <a:rPr lang="en-US" altLang="en-US" dirty="0"/>
              <a:t>1.8 GHz, the server can </a:t>
            </a:r>
            <a:r>
              <a:rPr lang="en-US" altLang="en-US" dirty="0" smtClean="0"/>
              <a:t>handle</a:t>
            </a:r>
            <a:br>
              <a:rPr lang="en-US" altLang="en-US" dirty="0" smtClean="0"/>
            </a:br>
            <a:r>
              <a:rPr lang="en-US" altLang="en-US" dirty="0" smtClean="0"/>
              <a:t>at </a:t>
            </a:r>
            <a:r>
              <a:rPr lang="en-US" altLang="en-US" dirty="0"/>
              <a:t>most up to two-thirds of the </a:t>
            </a:r>
            <a:r>
              <a:rPr lang="en-US" altLang="en-US" dirty="0" smtClean="0"/>
              <a:t/>
            </a:r>
            <a:br>
              <a:rPr lang="en-US" altLang="en-US" dirty="0" smtClean="0"/>
            </a:br>
            <a:r>
              <a:rPr lang="en-US" altLang="en-US" dirty="0" smtClean="0"/>
              <a:t>workload </a:t>
            </a:r>
            <a:r>
              <a:rPr lang="en-US" altLang="en-US" dirty="0"/>
              <a:t>without causing </a:t>
            </a:r>
            <a:r>
              <a:rPr lang="en-US" altLang="en-US" dirty="0" smtClean="0"/>
              <a:t>service-</a:t>
            </a:r>
            <a:br>
              <a:rPr lang="en-US" altLang="en-US" dirty="0" smtClean="0"/>
            </a:br>
            <a:r>
              <a:rPr lang="en-US" altLang="en-US" dirty="0" smtClean="0"/>
              <a:t>level violations</a:t>
            </a:r>
          </a:p>
          <a:p>
            <a:pPr lvl="1"/>
            <a:r>
              <a:rPr lang="en-US" altLang="en-US" dirty="0" smtClean="0"/>
              <a:t>At </a:t>
            </a:r>
            <a:r>
              <a:rPr lang="en-US" altLang="en-US" dirty="0"/>
              <a:t>1 GHz, it can safely handle only </a:t>
            </a:r>
            <a:r>
              <a:rPr lang="en-US" altLang="en-US" dirty="0" smtClean="0"/>
              <a:t/>
            </a:r>
            <a:br>
              <a:rPr lang="en-US" altLang="en-US" dirty="0" smtClean="0"/>
            </a:br>
            <a:r>
              <a:rPr lang="en-US" altLang="en-US" dirty="0" smtClean="0"/>
              <a:t>one-third </a:t>
            </a:r>
            <a:r>
              <a:rPr lang="en-US" altLang="en-US" dirty="0"/>
              <a:t>of the </a:t>
            </a:r>
            <a:r>
              <a:rPr lang="en-US" altLang="en-US" dirty="0" smtClean="0"/>
              <a:t>workload</a:t>
            </a:r>
            <a:endParaRPr lang="en-US" dirty="0" smtClean="0"/>
          </a:p>
          <a:p>
            <a:r>
              <a:rPr lang="en-US" dirty="0" smtClean="0"/>
              <a:t>Low power state for DRAM, disks</a:t>
            </a:r>
          </a:p>
          <a:p>
            <a:r>
              <a:rPr lang="en-US" dirty="0" smtClean="0"/>
              <a:t>Overclocking </a:t>
            </a:r>
            <a:r>
              <a:rPr lang="en-US" altLang="zh-CN" dirty="0" smtClean="0"/>
              <a:t>some cores (Turbo mode)</a:t>
            </a:r>
            <a:r>
              <a:rPr lang="en-US" dirty="0" smtClean="0"/>
              <a:t>, and turning off other cores</a:t>
            </a:r>
          </a:p>
        </p:txBody>
      </p:sp>
      <p:pic>
        <p:nvPicPr>
          <p:cNvPr id="2" name="Picture 1"/>
          <p:cNvPicPr>
            <a:picLocks noChangeAspect="1"/>
          </p:cNvPicPr>
          <p:nvPr/>
        </p:nvPicPr>
        <p:blipFill>
          <a:blip r:embed="rId3"/>
          <a:stretch>
            <a:fillRect/>
          </a:stretch>
        </p:blipFill>
        <p:spPr>
          <a:xfrm>
            <a:off x="6060504" y="2852936"/>
            <a:ext cx="5940152" cy="2794072"/>
          </a:xfrm>
          <a:prstGeom prst="rect">
            <a:avLst/>
          </a:prstGeom>
        </p:spPr>
      </p:pic>
    </p:spTree>
    <p:extLst>
      <p:ext uri="{BB962C8B-B14F-4D97-AF65-F5344CB8AC3E}">
        <p14:creationId xmlns:p14="http://schemas.microsoft.com/office/powerpoint/2010/main" val="300119907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动态功耗控制带来的性能分析难题</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sz="half" idx="1"/>
              </p:nvPr>
            </p:nvSpPr>
            <p:spPr>
              <a:xfrm>
                <a:off x="551384" y="1628800"/>
                <a:ext cx="5904656" cy="4968552"/>
              </a:xfrm>
            </p:spPr>
            <p:txBody>
              <a:bodyPr/>
              <a:lstStyle/>
              <a:p>
                <a:r>
                  <a:rPr lang="zh-CN" altLang="en-US" dirty="0" smtClean="0"/>
                  <a:t>峰值性能的经典计算方法</a:t>
                </a:r>
                <a:endParaRPr lang="en-US" altLang="zh-CN" dirty="0" smtClean="0"/>
              </a:p>
              <a:p>
                <a:pPr lvl="1"/>
                <a:r>
                  <a:rPr lang="zh-CN" altLang="en-US" dirty="0" smtClean="0"/>
                  <a:t>处理器峰会性能 </a:t>
                </a:r>
                <a:r>
                  <a:rPr lang="en-US" altLang="zh-CN" dirty="0" smtClean="0"/>
                  <a:t>= </a:t>
                </a:r>
                <a:br>
                  <a:rPr lang="en-US" altLang="zh-CN" dirty="0" smtClean="0"/>
                </a:br>
                <a:r>
                  <a:rPr lang="zh-CN" altLang="en-US" dirty="0" smtClean="0"/>
                  <a:t>每核每周期完成运算数量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
                </a:r>
                <a:br>
                  <a:rPr lang="en-US" altLang="zh-CN" dirty="0" smtClean="0"/>
                </a:br>
                <a:r>
                  <a:rPr lang="zh-CN" altLang="en-US" dirty="0" smtClean="0"/>
                  <a:t>核数</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smtClean="0"/>
                  <a:t> 最高工作频率</a:t>
                </a:r>
                <a:endParaRPr lang="en-US" altLang="zh-CN" dirty="0" smtClean="0"/>
              </a:p>
              <a:p>
                <a:r>
                  <a:rPr lang="zh-CN" altLang="en-US" dirty="0" smtClean="0"/>
                  <a:t>遇到的挑战</a:t>
                </a:r>
                <a:endParaRPr lang="en-US" altLang="zh-CN" dirty="0" smtClean="0"/>
              </a:p>
              <a:p>
                <a:pPr lvl="1"/>
                <a:r>
                  <a:rPr lang="zh-CN" altLang="en-US" dirty="0" smtClean="0"/>
                  <a:t>用哪个数据作为最高工作频率</a:t>
                </a:r>
                <a:endParaRPr lang="en-US" altLang="zh-CN" dirty="0" smtClean="0"/>
              </a:p>
              <a:p>
                <a:pPr lvl="1"/>
                <a:r>
                  <a:rPr lang="zh-CN" altLang="en-US" dirty="0" smtClean="0"/>
                  <a:t>如果用</a:t>
                </a:r>
                <a:r>
                  <a:rPr lang="en-US" altLang="zh-CN" dirty="0" smtClean="0"/>
                  <a:t>Base</a:t>
                </a:r>
                <a:r>
                  <a:rPr lang="zh-CN" altLang="en-US" dirty="0" smtClean="0"/>
                  <a:t>，实测性能可能高于</a:t>
                </a:r>
                <a:r>
                  <a:rPr lang="en-US" altLang="zh-CN" dirty="0" smtClean="0"/>
                  <a:t/>
                </a:r>
                <a:br>
                  <a:rPr lang="en-US" altLang="zh-CN" dirty="0" smtClean="0"/>
                </a:br>
                <a:r>
                  <a:rPr lang="zh-CN" altLang="en-US" dirty="0" smtClean="0"/>
                  <a:t>峰值性能</a:t>
                </a:r>
                <a:endParaRPr lang="en-US" altLang="zh-CN" dirty="0" smtClean="0"/>
              </a:p>
              <a:p>
                <a:pPr lvl="1"/>
                <a:r>
                  <a:rPr lang="zh-CN" altLang="en-US" dirty="0" smtClean="0"/>
                  <a:t>如果用</a:t>
                </a:r>
                <a:r>
                  <a:rPr lang="en-US" altLang="zh-CN" dirty="0" smtClean="0"/>
                  <a:t>Turbo</a:t>
                </a:r>
                <a:r>
                  <a:rPr lang="zh-CN" altLang="en-US" dirty="0" smtClean="0"/>
                  <a:t>？</a:t>
                </a:r>
                <a:endParaRPr lang="en-US" altLang="zh-CN" dirty="0" smtClean="0"/>
              </a:p>
              <a:p>
                <a:pPr lvl="2"/>
                <a:r>
                  <a:rPr lang="en-US" altLang="zh-CN" dirty="0" smtClean="0"/>
                  <a:t>Max Turbo</a:t>
                </a:r>
                <a:r>
                  <a:rPr lang="zh-CN" altLang="en-US" dirty="0" smtClean="0"/>
                  <a:t>时，并不是所有核都工作</a:t>
                </a:r>
                <a:endParaRPr lang="en-US" altLang="zh-CN" dirty="0" smtClean="0"/>
              </a:p>
              <a:p>
                <a:pPr lvl="2"/>
                <a:r>
                  <a:rPr lang="en-US" altLang="zh-CN" dirty="0" smtClean="0"/>
                  <a:t>All Core Turbo</a:t>
                </a:r>
                <a:r>
                  <a:rPr lang="zh-CN" altLang="en-US" dirty="0" smtClean="0"/>
                  <a:t>也不能长期工作</a:t>
                </a:r>
                <a:endParaRPr lang="en-US" altLang="zh-CN" dirty="0" smtClean="0"/>
              </a:p>
              <a:p>
                <a:r>
                  <a:rPr lang="en-US" altLang="zh-CN" dirty="0" smtClean="0"/>
                  <a:t>CPU Time</a:t>
                </a:r>
                <a:r>
                  <a:rPr lang="zh-CN" altLang="en-US" dirty="0" smtClean="0"/>
                  <a:t>公式中变化的时钟周期</a:t>
                </a:r>
                <a:endParaRPr lang="zh-CN" altLang="en-US" dirty="0"/>
              </a:p>
            </p:txBody>
          </p:sp>
        </mc:Choice>
        <mc:Fallback xmlns="">
          <p:sp>
            <p:nvSpPr>
              <p:cNvPr id="4" name="内容占位符 3"/>
              <p:cNvSpPr>
                <a:spLocks noGrp="1" noRot="1" noChangeAspect="1" noMove="1" noResize="1" noEditPoints="1" noAdjustHandles="1" noChangeArrowheads="1" noChangeShapeType="1" noTextEdit="1"/>
              </p:cNvSpPr>
              <p:nvPr>
                <p:ph sz="half" idx="1"/>
              </p:nvPr>
            </p:nvSpPr>
            <p:spPr>
              <a:xfrm>
                <a:off x="551384" y="1628800"/>
                <a:ext cx="5904656" cy="4968552"/>
              </a:xfrm>
              <a:blipFill>
                <a:blip r:embed="rId2"/>
                <a:stretch>
                  <a:fillRect l="-1858" t="-2086"/>
                </a:stretch>
              </a:blipFill>
            </p:spPr>
            <p:txBody>
              <a:bodyPr/>
              <a:lstStyle/>
              <a:p>
                <a:r>
                  <a:rPr lang="zh-CN" altLang="en-US">
                    <a:noFill/>
                  </a:rPr>
                  <a:t> </a:t>
                </a:r>
              </a:p>
            </p:txBody>
          </p:sp>
        </mc:Fallback>
      </mc:AlternateContent>
      <p:graphicFrame>
        <p:nvGraphicFramePr>
          <p:cNvPr id="6" name="内容占位符 5"/>
          <p:cNvGraphicFramePr>
            <a:graphicFrameLocks noGrp="1"/>
          </p:cNvGraphicFramePr>
          <p:nvPr>
            <p:ph sz="half" idx="2"/>
            <p:extLst>
              <p:ext uri="{D42A27DB-BD31-4B8C-83A1-F6EECF244321}">
                <p14:modId xmlns:p14="http://schemas.microsoft.com/office/powerpoint/2010/main" val="1202952907"/>
              </p:ext>
            </p:extLst>
          </p:nvPr>
        </p:nvGraphicFramePr>
        <p:xfrm>
          <a:off x="6528048" y="1844824"/>
          <a:ext cx="5181600" cy="3708400"/>
        </p:xfrm>
        <a:graphic>
          <a:graphicData uri="http://schemas.openxmlformats.org/drawingml/2006/table">
            <a:tbl>
              <a:tblPr firstRow="1" bandRow="1">
                <a:tableStyleId>{5C22544A-7EE6-4342-B048-85BDC9FD1C3A}</a:tableStyleId>
              </a:tblPr>
              <a:tblGrid>
                <a:gridCol w="3236168">
                  <a:extLst>
                    <a:ext uri="{9D8B030D-6E8A-4147-A177-3AD203B41FA5}">
                      <a16:colId xmlns:a16="http://schemas.microsoft.com/office/drawing/2014/main" val="776538889"/>
                    </a:ext>
                  </a:extLst>
                </a:gridCol>
                <a:gridCol w="1945432">
                  <a:extLst>
                    <a:ext uri="{9D8B030D-6E8A-4147-A177-3AD203B41FA5}">
                      <a16:colId xmlns:a16="http://schemas.microsoft.com/office/drawing/2014/main" val="3050559559"/>
                    </a:ext>
                  </a:extLst>
                </a:gridCol>
              </a:tblGrid>
              <a:tr h="370840">
                <a:tc gridSpan="2">
                  <a:txBody>
                    <a:bodyPr/>
                    <a:lstStyle/>
                    <a:p>
                      <a:r>
                        <a:rPr lang="en-US" altLang="zh-CN" sz="1800" b="0" i="0" kern="1200" dirty="0" smtClean="0">
                          <a:solidFill>
                            <a:schemeClr val="lt1"/>
                          </a:solidFill>
                          <a:effectLst/>
                          <a:latin typeface="+mn-lt"/>
                          <a:ea typeface="+mn-ea"/>
                          <a:cs typeface="+mn-cs"/>
                        </a:rPr>
                        <a:t>Intel® Xeon® 6 Server Processor Specification</a:t>
                      </a:r>
                      <a:endParaRPr lang="zh-CN" altLang="en-US" dirty="0"/>
                    </a:p>
                  </a:txBody>
                  <a:tcPr/>
                </a:tc>
                <a:tc hMerge="1">
                  <a:txBody>
                    <a:bodyPr/>
                    <a:lstStyle/>
                    <a:p>
                      <a:endParaRPr lang="zh-CN" altLang="en-US" dirty="0"/>
                    </a:p>
                  </a:txBody>
                  <a:tcPr/>
                </a:tc>
                <a:extLst>
                  <a:ext uri="{0D108BD9-81ED-4DB2-BD59-A6C34878D82A}">
                    <a16:rowId xmlns:a16="http://schemas.microsoft.com/office/drawing/2014/main" val="1838209269"/>
                  </a:ext>
                </a:extLst>
              </a:tr>
              <a:tr h="370840">
                <a:tc>
                  <a:txBody>
                    <a:bodyPr/>
                    <a:lstStyle/>
                    <a:p>
                      <a:r>
                        <a:rPr lang="en-US" altLang="zh-CN" sz="1800" b="0" i="0" kern="1200" dirty="0" smtClean="0">
                          <a:solidFill>
                            <a:schemeClr val="dk1"/>
                          </a:solidFill>
                          <a:effectLst/>
                          <a:latin typeface="+mn-lt"/>
                          <a:ea typeface="+mn-ea"/>
                          <a:cs typeface="+mn-cs"/>
                        </a:rPr>
                        <a:t>Total Cores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32</a:t>
                      </a:r>
                      <a:endParaRPr lang="zh-CN" altLang="en-US" dirty="0"/>
                    </a:p>
                  </a:txBody>
                  <a:tcPr/>
                </a:tc>
                <a:extLst>
                  <a:ext uri="{0D108BD9-81ED-4DB2-BD59-A6C34878D82A}">
                    <a16:rowId xmlns:a16="http://schemas.microsoft.com/office/drawing/2014/main" val="329166769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Total Threads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64</a:t>
                      </a:r>
                      <a:endParaRPr lang="zh-CN" altLang="en-US" dirty="0"/>
                    </a:p>
                  </a:txBody>
                  <a:tcPr/>
                </a:tc>
                <a:extLst>
                  <a:ext uri="{0D108BD9-81ED-4DB2-BD59-A6C34878D82A}">
                    <a16:rowId xmlns:a16="http://schemas.microsoft.com/office/drawing/2014/main" val="2719373995"/>
                  </a:ext>
                </a:extLst>
              </a:tr>
              <a:tr h="370840">
                <a:tc>
                  <a:txBody>
                    <a:bodyPr/>
                    <a:lstStyle/>
                    <a:p>
                      <a:r>
                        <a:rPr lang="en-US" altLang="zh-CN" dirty="0" smtClean="0"/>
                        <a:t>Max Turbo Frequency</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4.3 GHz</a:t>
                      </a:r>
                    </a:p>
                  </a:txBody>
                  <a:tcPr/>
                </a:tc>
                <a:extLst>
                  <a:ext uri="{0D108BD9-81ED-4DB2-BD59-A6C34878D82A}">
                    <a16:rowId xmlns:a16="http://schemas.microsoft.com/office/drawing/2014/main" val="1116883900"/>
                  </a:ext>
                </a:extLst>
              </a:tr>
              <a:tr h="370840">
                <a:tc>
                  <a:txBody>
                    <a:bodyPr/>
                    <a:lstStyle/>
                    <a:p>
                      <a:r>
                        <a:rPr lang="en-US" altLang="zh-CN" sz="1800" b="0" i="0" kern="1200" dirty="0" smtClean="0">
                          <a:solidFill>
                            <a:schemeClr val="dk1"/>
                          </a:solidFill>
                          <a:effectLst/>
                          <a:latin typeface="+mn-lt"/>
                          <a:ea typeface="+mn-ea"/>
                          <a:cs typeface="+mn-cs"/>
                        </a:rPr>
                        <a:t>All Core Turbo Frequency</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4.2 GHz</a:t>
                      </a:r>
                    </a:p>
                  </a:txBody>
                  <a:tcPr/>
                </a:tc>
                <a:extLst>
                  <a:ext uri="{0D108BD9-81ED-4DB2-BD59-A6C34878D82A}">
                    <a16:rowId xmlns:a16="http://schemas.microsoft.com/office/drawing/2014/main" val="186560724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Processor Base Frequency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3.8 GHz</a:t>
                      </a:r>
                    </a:p>
                  </a:txBody>
                  <a:tcPr/>
                </a:tc>
                <a:extLst>
                  <a:ext uri="{0D108BD9-81ED-4DB2-BD59-A6C34878D82A}">
                    <a16:rowId xmlns:a16="http://schemas.microsoft.com/office/drawing/2014/main" val="213853704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Cache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144 MB</a:t>
                      </a:r>
                    </a:p>
                  </a:txBody>
                  <a:tcPr/>
                </a:tc>
                <a:extLst>
                  <a:ext uri="{0D108BD9-81ED-4DB2-BD59-A6C34878D82A}">
                    <a16:rowId xmlns:a16="http://schemas.microsoft.com/office/drawing/2014/main" val="34247951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Intel® UPI Speed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24 GT/s</a:t>
                      </a:r>
                    </a:p>
                  </a:txBody>
                  <a:tcPr/>
                </a:tc>
                <a:extLst>
                  <a:ext uri="{0D108BD9-81ED-4DB2-BD59-A6C34878D82A}">
                    <a16:rowId xmlns:a16="http://schemas.microsoft.com/office/drawing/2014/main" val="697384451"/>
                  </a:ext>
                </a:extLst>
              </a:tr>
              <a:tr h="370840">
                <a:tc>
                  <a:txBody>
                    <a:bodyPr/>
                    <a:lstStyle/>
                    <a:p>
                      <a:r>
                        <a:rPr lang="en-US" altLang="zh-CN" sz="1800" b="0" i="0" kern="1200" dirty="0" smtClean="0">
                          <a:solidFill>
                            <a:schemeClr val="dk1"/>
                          </a:solidFill>
                          <a:effectLst/>
                          <a:latin typeface="+mn-lt"/>
                          <a:ea typeface="+mn-ea"/>
                          <a:cs typeface="+mn-cs"/>
                        </a:rPr>
                        <a:t>Max # of UPI Links</a:t>
                      </a:r>
                      <a:endParaRPr lang="zh-CN" altLang="en-US" dirty="0"/>
                    </a:p>
                  </a:txBody>
                  <a:tcPr/>
                </a:tc>
                <a:tc>
                  <a:txBody>
                    <a:bodyPr/>
                    <a:lstStyle/>
                    <a:p>
                      <a:r>
                        <a:rPr lang="en-US" altLang="zh-CN" dirty="0" smtClean="0"/>
                        <a:t>4</a:t>
                      </a:r>
                      <a:endParaRPr lang="zh-CN" altLang="en-US" dirty="0"/>
                    </a:p>
                  </a:txBody>
                  <a:tcPr/>
                </a:tc>
                <a:extLst>
                  <a:ext uri="{0D108BD9-81ED-4DB2-BD59-A6C34878D82A}">
                    <a16:rowId xmlns:a16="http://schemas.microsoft.com/office/drawing/2014/main" val="1667422822"/>
                  </a:ext>
                </a:extLst>
              </a:tr>
              <a:tr h="370840">
                <a:tc>
                  <a:txBody>
                    <a:bodyPr/>
                    <a:lstStyle/>
                    <a:p>
                      <a:r>
                        <a:rPr lang="en-US" altLang="zh-CN" dirty="0" smtClean="0"/>
                        <a:t>TDP</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350 W</a:t>
                      </a:r>
                    </a:p>
                  </a:txBody>
                  <a:tcPr/>
                </a:tc>
                <a:extLst>
                  <a:ext uri="{0D108BD9-81ED-4DB2-BD59-A6C34878D82A}">
                    <a16:rowId xmlns:a16="http://schemas.microsoft.com/office/drawing/2014/main" val="570622182"/>
                  </a:ext>
                </a:extLst>
              </a:tr>
            </a:tbl>
          </a:graphicData>
        </a:graphic>
      </p:graphicFrame>
    </p:spTree>
    <p:extLst>
      <p:ext uri="{BB962C8B-B14F-4D97-AF65-F5344CB8AC3E}">
        <p14:creationId xmlns:p14="http://schemas.microsoft.com/office/powerpoint/2010/main" val="2575293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AMD Zen 5 Server Processors</a:t>
            </a:r>
            <a:endParaRPr lang="zh-CN" altLang="en-US" dirty="0"/>
          </a:p>
        </p:txBody>
      </p:sp>
      <p:pic>
        <p:nvPicPr>
          <p:cNvPr id="3" name="图片 2"/>
          <p:cNvPicPr>
            <a:picLocks noChangeAspect="1"/>
          </p:cNvPicPr>
          <p:nvPr/>
        </p:nvPicPr>
        <p:blipFill>
          <a:blip r:embed="rId2"/>
          <a:stretch>
            <a:fillRect/>
          </a:stretch>
        </p:blipFill>
        <p:spPr>
          <a:xfrm>
            <a:off x="596156" y="1340768"/>
            <a:ext cx="11041520" cy="5517232"/>
          </a:xfrm>
          <a:prstGeom prst="rect">
            <a:avLst/>
          </a:prstGeom>
        </p:spPr>
      </p:pic>
    </p:spTree>
    <p:extLst>
      <p:ext uri="{BB962C8B-B14F-4D97-AF65-F5344CB8AC3E}">
        <p14:creationId xmlns:p14="http://schemas.microsoft.com/office/powerpoint/2010/main" val="24704128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Static Power</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Static power consumption</a:t>
            </a:r>
          </a:p>
          <a:p>
            <a:pPr lvl="1"/>
            <a:r>
              <a:rPr lang="en-US" dirty="0"/>
              <a:t>25-50% of total </a:t>
            </a:r>
            <a:r>
              <a:rPr lang="en-US" dirty="0" smtClean="0"/>
              <a:t>power; </a:t>
            </a:r>
            <a:r>
              <a:rPr lang="en-US" dirty="0"/>
              <a:t>t</a:t>
            </a:r>
            <a:r>
              <a:rPr lang="en-US" altLang="zh-CN" dirty="0" smtClean="0"/>
              <a:t>o </a:t>
            </a:r>
            <a:r>
              <a:rPr lang="en-US" altLang="zh-CN" dirty="0"/>
              <a:t>reduce:  power gating</a:t>
            </a:r>
          </a:p>
          <a:p>
            <a:pPr lvl="1">
              <a:lnSpc>
                <a:spcPct val="90000"/>
              </a:lnSpc>
            </a:pPr>
            <a:r>
              <a:rPr lang="en-US" dirty="0" err="1" smtClean="0"/>
              <a:t>Current</a:t>
            </a:r>
            <a:r>
              <a:rPr lang="en-US" baseline="-25000" dirty="0" err="1" smtClean="0"/>
              <a:t>static</a:t>
            </a:r>
            <a:r>
              <a:rPr lang="en-US" dirty="0" smtClean="0"/>
              <a:t> </a:t>
            </a:r>
            <a:r>
              <a:rPr lang="en-US" dirty="0"/>
              <a:t>x </a:t>
            </a:r>
            <a:r>
              <a:rPr lang="en-US" dirty="0" smtClean="0"/>
              <a:t>Voltage, </a:t>
            </a:r>
            <a:r>
              <a:rPr lang="en-US" altLang="zh-CN" dirty="0" smtClean="0"/>
              <a:t>s</a:t>
            </a:r>
            <a:r>
              <a:rPr lang="en-US" dirty="0" smtClean="0"/>
              <a:t>cales </a:t>
            </a:r>
            <a:r>
              <a:rPr lang="en-US" dirty="0"/>
              <a:t>with number of transistors</a:t>
            </a:r>
          </a:p>
          <a:p>
            <a:r>
              <a:rPr lang="en-US" dirty="0"/>
              <a:t>Comparison of the energy and die area of arithmetic operations and energy cost of accesses to SRAM and </a:t>
            </a:r>
            <a:r>
              <a:rPr lang="en-US" dirty="0" smtClean="0"/>
              <a:t>DRAM</a:t>
            </a:r>
          </a:p>
          <a:p>
            <a:pPr lvl="1"/>
            <a:r>
              <a:rPr lang="en-US" dirty="0" smtClean="0"/>
              <a:t>Area </a:t>
            </a:r>
            <a:r>
              <a:rPr lang="en-US" dirty="0"/>
              <a:t>is for TSMC 45 nm technology node.</a:t>
            </a:r>
          </a:p>
          <a:p>
            <a:endParaRPr lang="en-US" dirty="0" smtClean="0"/>
          </a:p>
        </p:txBody>
      </p:sp>
      <p:pic>
        <p:nvPicPr>
          <p:cNvPr id="2" name="Picture 1"/>
          <p:cNvPicPr>
            <a:picLocks noChangeAspect="1"/>
          </p:cNvPicPr>
          <p:nvPr/>
        </p:nvPicPr>
        <p:blipFill>
          <a:blip r:embed="rId3"/>
          <a:stretch>
            <a:fillRect/>
          </a:stretch>
        </p:blipFill>
        <p:spPr>
          <a:xfrm>
            <a:off x="4943872" y="3717032"/>
            <a:ext cx="6738540" cy="2916259"/>
          </a:xfrm>
          <a:prstGeom prst="rect">
            <a:avLst/>
          </a:prstGeom>
        </p:spPr>
      </p:pic>
    </p:spTree>
    <p:extLst>
      <p:ext uri="{BB962C8B-B14F-4D97-AF65-F5344CB8AC3E}">
        <p14:creationId xmlns:p14="http://schemas.microsoft.com/office/powerpoint/2010/main" val="75551069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Dependability</a:t>
            </a:r>
            <a:endParaRPr lang="en-AU" dirty="0"/>
          </a:p>
        </p:txBody>
      </p:sp>
      <p:sp>
        <p:nvSpPr>
          <p:cNvPr id="242691" name="Rectangle 3"/>
          <p:cNvSpPr>
            <a:spLocks noGrp="1" noChangeArrowheads="1"/>
          </p:cNvSpPr>
          <p:nvPr>
            <p:ph type="body" idx="1"/>
          </p:nvPr>
        </p:nvSpPr>
        <p:spPr>
          <a:xfrm>
            <a:off x="838200" y="2667106"/>
            <a:ext cx="10515600" cy="3786230"/>
          </a:xfrm>
        </p:spPr>
        <p:txBody>
          <a:bodyPr/>
          <a:lstStyle/>
          <a:p>
            <a:pPr>
              <a:lnSpc>
                <a:spcPct val="90000"/>
              </a:lnSpc>
            </a:pPr>
            <a:r>
              <a:rPr lang="en-US" dirty="0"/>
              <a:t>Module reliability</a:t>
            </a:r>
          </a:p>
          <a:p>
            <a:pPr lvl="1">
              <a:lnSpc>
                <a:spcPct val="90000"/>
              </a:lnSpc>
            </a:pPr>
            <a:r>
              <a:rPr lang="en-US" dirty="0"/>
              <a:t>Mean time to failure (MTTF)</a:t>
            </a:r>
          </a:p>
          <a:p>
            <a:pPr lvl="1">
              <a:lnSpc>
                <a:spcPct val="90000"/>
              </a:lnSpc>
            </a:pPr>
            <a:r>
              <a:rPr lang="en-US" dirty="0"/>
              <a:t>Mean time to repair (MTTR)</a:t>
            </a:r>
          </a:p>
          <a:p>
            <a:pPr lvl="1">
              <a:lnSpc>
                <a:spcPct val="90000"/>
              </a:lnSpc>
            </a:pPr>
            <a:r>
              <a:rPr lang="en-US" dirty="0"/>
              <a:t>Mean time between failures (MTBF) = MTTF + MTTR</a:t>
            </a:r>
          </a:p>
          <a:p>
            <a:pPr lvl="1">
              <a:lnSpc>
                <a:spcPct val="90000"/>
              </a:lnSpc>
            </a:pPr>
            <a:r>
              <a:rPr lang="en-US" dirty="0" smtClean="0"/>
              <a:t>Availability </a:t>
            </a:r>
            <a:r>
              <a:rPr lang="en-US" dirty="0"/>
              <a:t>= MTTF / </a:t>
            </a:r>
            <a:r>
              <a:rPr lang="en-US" dirty="0" smtClean="0"/>
              <a:t>MTBF</a:t>
            </a:r>
          </a:p>
          <a:p>
            <a:r>
              <a:rPr lang="en-US" altLang="zh-CN" dirty="0" smtClean="0"/>
              <a:t>Terminology</a:t>
            </a:r>
          </a:p>
          <a:p>
            <a:pPr lvl="1"/>
            <a:r>
              <a:rPr lang="en-US" dirty="0" smtClean="0"/>
              <a:t>Reliability vs. </a:t>
            </a:r>
            <a:r>
              <a:rPr lang="en-US" altLang="zh-CN" dirty="0" smtClean="0"/>
              <a:t>dependability; safety vs. security</a:t>
            </a:r>
          </a:p>
          <a:p>
            <a:pPr lvl="1"/>
            <a:r>
              <a:rPr lang="en-US" dirty="0" smtClean="0"/>
              <a:t>Fault </a:t>
            </a:r>
            <a:r>
              <a:rPr lang="zh-CN" altLang="en-US" dirty="0" smtClean="0"/>
              <a:t>故障</a:t>
            </a:r>
            <a:r>
              <a:rPr lang="en-US" dirty="0" smtClean="0"/>
              <a:t>, </a:t>
            </a:r>
            <a:r>
              <a:rPr lang="en-US" altLang="zh-CN" dirty="0" smtClean="0"/>
              <a:t>error </a:t>
            </a:r>
            <a:r>
              <a:rPr lang="zh-CN" altLang="en-US" dirty="0" smtClean="0"/>
              <a:t>差错</a:t>
            </a:r>
            <a:r>
              <a:rPr lang="en-US" altLang="zh-CN" dirty="0" smtClean="0"/>
              <a:t>, and failure </a:t>
            </a:r>
            <a:r>
              <a:rPr lang="zh-CN" altLang="en-US" dirty="0" smtClean="0"/>
              <a:t>失效</a:t>
            </a:r>
            <a:endParaRPr lang="en-US" altLang="zh-CN" dirty="0" smtClean="0"/>
          </a:p>
          <a:p>
            <a:pPr lvl="1"/>
            <a:r>
              <a:rPr lang="en-US" dirty="0" smtClean="0"/>
              <a:t>Fault-tolerant computing, trusted computing, dependable computing</a:t>
            </a:r>
            <a:endParaRPr lang="en-US"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宋体" panose="02010600030101010101" pitchFamily="2" charset="-122"/>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10" name="组合 9"/>
          <p:cNvGrpSpPr/>
          <p:nvPr/>
        </p:nvGrpSpPr>
        <p:grpSpPr>
          <a:xfrm>
            <a:off x="838200" y="1517943"/>
            <a:ext cx="10642075" cy="1047280"/>
            <a:chOff x="711725" y="4437112"/>
            <a:chExt cx="10642075" cy="1047280"/>
          </a:xfrm>
        </p:grpSpPr>
        <p:cxnSp>
          <p:nvCxnSpPr>
            <p:cNvPr id="3" name="直接箭头连接符 2"/>
            <p:cNvCxnSpPr>
              <a:stCxn id="4" idx="6"/>
            </p:cNvCxnSpPr>
            <p:nvPr/>
          </p:nvCxnSpPr>
          <p:spPr>
            <a:xfrm>
              <a:off x="1105093" y="5013176"/>
              <a:ext cx="1024870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 name="流程图: 接点 3"/>
            <p:cNvSpPr/>
            <p:nvPr/>
          </p:nvSpPr>
          <p:spPr>
            <a:xfrm>
              <a:off x="889069" y="4905164"/>
              <a:ext cx="216024" cy="216024"/>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文本框 5"/>
            <p:cNvSpPr txBox="1"/>
            <p:nvPr/>
          </p:nvSpPr>
          <p:spPr>
            <a:xfrm>
              <a:off x="711725" y="4437112"/>
              <a:ext cx="682751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开始使用                     首次失效   修复                  再次失效   修复 </a:t>
              </a:r>
              <a:endParaRPr kumimoji="1"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cxnSp>
          <p:nvCxnSpPr>
            <p:cNvPr id="8" name="直接连接符 7"/>
            <p:cNvCxnSpPr/>
            <p:nvPr/>
          </p:nvCxnSpPr>
          <p:spPr>
            <a:xfrm>
              <a:off x="3503712" y="4905164"/>
              <a:ext cx="0" cy="2160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233896" y="4905164"/>
              <a:ext cx="0" cy="2160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367808" y="4899036"/>
              <a:ext cx="0" cy="21602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104112" y="4899036"/>
              <a:ext cx="0" cy="21602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781533" y="5115060"/>
              <a:ext cx="6618723"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MTTF                  MTTR            MTBF            MTTR</a:t>
              </a:r>
              <a:endParaRPr kumimoji="1"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Tree>
    <p:extLst>
      <p:ext uri="{BB962C8B-B14F-4D97-AF65-F5344CB8AC3E}">
        <p14:creationId xmlns:p14="http://schemas.microsoft.com/office/powerpoint/2010/main" val="98792765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系统不可靠带来的影响</a:t>
            </a:r>
            <a:endParaRPr lang="zh-CN" altLang="en-US" dirty="0"/>
          </a:p>
        </p:txBody>
      </p:sp>
      <p:sp>
        <p:nvSpPr>
          <p:cNvPr id="3" name="Rectangle 1"/>
          <p:cNvSpPr>
            <a:spLocks noChangeArrowheads="1"/>
          </p:cNvSpPr>
          <p:nvPr/>
        </p:nvSpPr>
        <p:spPr bwMode="auto">
          <a:xfrm>
            <a:off x="983432" y="5085184"/>
            <a:ext cx="1008112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b="1" dirty="0">
                <a:solidFill>
                  <a:srgbClr val="0000FF"/>
                </a:solidFill>
              </a:rPr>
              <a:t>Figure 1.3 Costs rounded to nearest $100,000 of an unavailable system are shown by analyzing the cost of downtime (in terms of immediately lost revenue), assuming three different levels of availability, and that downtime is distributed uniformly. </a:t>
            </a:r>
            <a:r>
              <a:rPr lang="en-US" altLang="en-US" dirty="0">
                <a:solidFill>
                  <a:srgbClr val="0000FF"/>
                </a:solidFill>
              </a:rPr>
              <a:t>These data are from </a:t>
            </a:r>
            <a:r>
              <a:rPr lang="en-US" altLang="en-US" dirty="0" err="1">
                <a:solidFill>
                  <a:srgbClr val="0000FF"/>
                </a:solidFill>
              </a:rPr>
              <a:t>Landstrom</a:t>
            </a:r>
            <a:r>
              <a:rPr lang="en-US" altLang="en-US" dirty="0">
                <a:solidFill>
                  <a:srgbClr val="0000FF"/>
                </a:solidFill>
              </a:rPr>
              <a:t> (2014) and were collected and analyzed by Contingency Planning Research.</a:t>
            </a:r>
          </a:p>
        </p:txBody>
      </p:sp>
      <p:pic>
        <p:nvPicPr>
          <p:cNvPr id="4" name="Picture 2" descr="Z:\WOMAT\Production\Artfinal\0000000038\MKCAD\978-0-12-811905-1\0003165540\XMLLowres\f01-03-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3963" y="1523842"/>
            <a:ext cx="9552557" cy="3237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83315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767408" y="361950"/>
            <a:ext cx="885284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Summary</a:t>
            </a:r>
            <a:endParaRPr lang="en-US" altLang="zh-CN" dirty="0"/>
          </a:p>
        </p:txBody>
      </p:sp>
      <p:sp>
        <p:nvSpPr>
          <p:cNvPr id="78851" name="Rectangle 3"/>
          <p:cNvSpPr>
            <a:spLocks noGrp="1" noChangeArrowheads="1"/>
          </p:cNvSpPr>
          <p:nvPr>
            <p:ph type="body" idx="1"/>
          </p:nvPr>
        </p:nvSpPr>
        <p:spPr>
          <a:xfrm>
            <a:off x="790913" y="1628800"/>
            <a:ext cx="10332640" cy="474302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Amdahl’s Law:</a:t>
            </a:r>
          </a:p>
          <a:p>
            <a:pPr>
              <a:buFont typeface="Wingdings" panose="05000000000000000000" pitchFamily="2" charset="2"/>
              <a:buNone/>
            </a:pPr>
            <a:endParaRPr lang="en-US" altLang="zh-CN" dirty="0"/>
          </a:p>
          <a:p>
            <a:r>
              <a:rPr lang="en-US" altLang="zh-CN" dirty="0"/>
              <a:t>CPI Law:</a:t>
            </a:r>
          </a:p>
          <a:p>
            <a:pPr>
              <a:buFont typeface="Wingdings" panose="05000000000000000000" pitchFamily="2" charset="2"/>
              <a:buNone/>
            </a:pPr>
            <a:endParaRPr lang="en-US" altLang="zh-CN" dirty="0"/>
          </a:p>
          <a:p>
            <a:pPr>
              <a:buFont typeface="Wingdings" panose="05000000000000000000" pitchFamily="2" charset="2"/>
              <a:buNone/>
            </a:pPr>
            <a:endParaRPr lang="en-US" altLang="zh-CN" dirty="0"/>
          </a:p>
          <a:p>
            <a:r>
              <a:rPr lang="en-US" altLang="zh-CN" sz="2400" dirty="0"/>
              <a:t>Execution time is the real measure of computer performance!</a:t>
            </a:r>
          </a:p>
          <a:p>
            <a:r>
              <a:rPr lang="en-US" altLang="zh-CN" sz="2400" dirty="0"/>
              <a:t>Good products created when have:</a:t>
            </a:r>
          </a:p>
          <a:p>
            <a:pPr lvl="1"/>
            <a:r>
              <a:rPr lang="en-US" altLang="zh-CN" sz="2000" dirty="0"/>
              <a:t>Good benchmarks, good ways to summarize </a:t>
            </a:r>
            <a:r>
              <a:rPr lang="en-US" altLang="zh-CN" sz="2000" dirty="0" smtClean="0"/>
              <a:t>performance</a:t>
            </a:r>
          </a:p>
          <a:p>
            <a:pPr lvl="1"/>
            <a:endParaRPr lang="en-US" altLang="zh-CN" sz="2000" dirty="0"/>
          </a:p>
          <a:p>
            <a:pPr>
              <a:lnSpc>
                <a:spcPct val="85000"/>
              </a:lnSpc>
              <a:spcBef>
                <a:spcPct val="0"/>
              </a:spcBef>
            </a:pPr>
            <a:r>
              <a:rPr lang="en-US" altLang="zh-CN" sz="2400" dirty="0"/>
              <a:t>Die Cost goes roughly with die </a:t>
            </a:r>
            <a:r>
              <a:rPr lang="en-US" altLang="zh-CN" sz="2400" dirty="0" smtClean="0"/>
              <a:t>area</a:t>
            </a:r>
            <a:r>
              <a:rPr lang="en-US" altLang="zh-CN" sz="2400" baseline="30000" dirty="0" smtClean="0"/>
              <a:t>4</a:t>
            </a:r>
            <a:endParaRPr lang="en-US" altLang="zh-CN" sz="2400" baseline="30000" dirty="0"/>
          </a:p>
        </p:txBody>
      </p:sp>
      <p:grpSp>
        <p:nvGrpSpPr>
          <p:cNvPr id="78861" name="Group 13"/>
          <p:cNvGrpSpPr>
            <a:grpSpLocks/>
          </p:cNvGrpSpPr>
          <p:nvPr/>
        </p:nvGrpSpPr>
        <p:grpSpPr bwMode="auto">
          <a:xfrm>
            <a:off x="2005013" y="1879601"/>
            <a:ext cx="8505824" cy="1387475"/>
            <a:chOff x="303" y="1184"/>
            <a:chExt cx="5358" cy="874"/>
          </a:xfrm>
        </p:grpSpPr>
        <p:sp>
          <p:nvSpPr>
            <p:cNvPr id="78852" name="Rectangle 4"/>
            <p:cNvSpPr>
              <a:spLocks noChangeArrowheads="1"/>
            </p:cNvSpPr>
            <p:nvPr/>
          </p:nvSpPr>
          <p:spPr bwMode="auto">
            <a:xfrm>
              <a:off x="303" y="1424"/>
              <a:ext cx="1331"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Speedup</a:t>
              </a:r>
              <a:r>
                <a:rPr lang="en-US" altLang="zh-CN" sz="2000" b="1" baseline="-25000"/>
                <a:t>overall   </a:t>
              </a:r>
              <a:r>
                <a:rPr lang="en-US" altLang="zh-CN" sz="2000" b="1"/>
                <a:t>=</a:t>
              </a:r>
            </a:p>
          </p:txBody>
        </p:sp>
        <p:sp>
          <p:nvSpPr>
            <p:cNvPr id="78853" name="Rectangle 5"/>
            <p:cNvSpPr>
              <a:spLocks noChangeArrowheads="1"/>
            </p:cNvSpPr>
            <p:nvPr/>
          </p:nvSpPr>
          <p:spPr bwMode="auto">
            <a:xfrm>
              <a:off x="1647" y="1302"/>
              <a:ext cx="896" cy="55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85000"/>
                </a:lnSpc>
              </a:pPr>
              <a:r>
                <a:rPr lang="en-US" altLang="zh-CN" sz="2000" b="1"/>
                <a:t>ExTime</a:t>
              </a:r>
              <a:r>
                <a:rPr lang="en-US" altLang="zh-CN" sz="2000" b="1" baseline="-25000"/>
                <a:t>old</a:t>
              </a:r>
              <a:endParaRPr lang="en-US" altLang="zh-CN" sz="2000" b="1"/>
            </a:p>
            <a:p>
              <a:pPr>
                <a:lnSpc>
                  <a:spcPct val="85000"/>
                </a:lnSpc>
              </a:pPr>
              <a:endParaRPr lang="en-US" altLang="zh-CN" sz="2000" b="1"/>
            </a:p>
            <a:p>
              <a:pPr>
                <a:lnSpc>
                  <a:spcPct val="85000"/>
                </a:lnSpc>
              </a:pPr>
              <a:r>
                <a:rPr lang="en-US" altLang="zh-CN" sz="2000" b="1"/>
                <a:t>ExTime</a:t>
              </a:r>
              <a:r>
                <a:rPr lang="en-US" altLang="zh-CN" sz="2000" b="1" baseline="-25000"/>
                <a:t>new</a:t>
              </a:r>
            </a:p>
          </p:txBody>
        </p:sp>
        <p:sp>
          <p:nvSpPr>
            <p:cNvPr id="78854" name="Line 6"/>
            <p:cNvSpPr>
              <a:spLocks noChangeShapeType="1"/>
            </p:cNvSpPr>
            <p:nvPr/>
          </p:nvSpPr>
          <p:spPr bwMode="auto">
            <a:xfrm>
              <a:off x="1712" y="1548"/>
              <a:ext cx="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5" name="Rectangle 7"/>
            <p:cNvSpPr>
              <a:spLocks noChangeArrowheads="1"/>
            </p:cNvSpPr>
            <p:nvPr/>
          </p:nvSpPr>
          <p:spPr bwMode="auto">
            <a:xfrm>
              <a:off x="2511" y="1424"/>
              <a:ext cx="209"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a:t>
              </a:r>
            </a:p>
          </p:txBody>
        </p:sp>
        <p:sp>
          <p:nvSpPr>
            <p:cNvPr id="78856" name="Rectangle 8"/>
            <p:cNvSpPr>
              <a:spLocks noChangeArrowheads="1"/>
            </p:cNvSpPr>
            <p:nvPr/>
          </p:nvSpPr>
          <p:spPr bwMode="auto">
            <a:xfrm>
              <a:off x="3855" y="1184"/>
              <a:ext cx="205"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1</a:t>
              </a:r>
            </a:p>
          </p:txBody>
        </p:sp>
        <p:sp>
          <p:nvSpPr>
            <p:cNvPr id="78857" name="Line 9"/>
            <p:cNvSpPr>
              <a:spLocks noChangeShapeType="1"/>
            </p:cNvSpPr>
            <p:nvPr/>
          </p:nvSpPr>
          <p:spPr bwMode="auto">
            <a:xfrm>
              <a:off x="2720" y="1452"/>
              <a:ext cx="28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8" name="Rectangle 10"/>
            <p:cNvSpPr>
              <a:spLocks noChangeArrowheads="1"/>
            </p:cNvSpPr>
            <p:nvPr/>
          </p:nvSpPr>
          <p:spPr bwMode="auto">
            <a:xfrm>
              <a:off x="2703" y="1520"/>
              <a:ext cx="2958"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(1 - Fraction</a:t>
              </a:r>
              <a:r>
                <a:rPr lang="en-US" altLang="zh-CN" sz="2000" b="1" baseline="-25000"/>
                <a:t>enhanced</a:t>
              </a:r>
              <a:r>
                <a:rPr lang="en-US" altLang="zh-CN" sz="2000" b="1"/>
                <a:t>) +  Fraction</a:t>
              </a:r>
              <a:r>
                <a:rPr lang="en-US" altLang="zh-CN" sz="2000" b="1" baseline="-25000"/>
                <a:t>enhanced</a:t>
              </a:r>
            </a:p>
          </p:txBody>
        </p:sp>
        <p:sp>
          <p:nvSpPr>
            <p:cNvPr id="78859" name="Rectangle 11"/>
            <p:cNvSpPr>
              <a:spLocks noChangeArrowheads="1"/>
            </p:cNvSpPr>
            <p:nvPr/>
          </p:nvSpPr>
          <p:spPr bwMode="auto">
            <a:xfrm>
              <a:off x="4335" y="1808"/>
              <a:ext cx="1300"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Speedup</a:t>
              </a:r>
              <a:r>
                <a:rPr lang="en-US" altLang="zh-CN" sz="2000" b="1" baseline="-25000"/>
                <a:t>enhanced</a:t>
              </a:r>
            </a:p>
          </p:txBody>
        </p:sp>
        <p:sp>
          <p:nvSpPr>
            <p:cNvPr id="78860" name="Line 12"/>
            <p:cNvSpPr>
              <a:spLocks noChangeShapeType="1"/>
            </p:cNvSpPr>
            <p:nvPr/>
          </p:nvSpPr>
          <p:spPr bwMode="auto">
            <a:xfrm>
              <a:off x="4352" y="1788"/>
              <a:ext cx="118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8867" name="Group 19"/>
          <p:cNvGrpSpPr>
            <a:grpSpLocks/>
          </p:cNvGrpSpPr>
          <p:nvPr/>
        </p:nvGrpSpPr>
        <p:grpSpPr bwMode="auto">
          <a:xfrm>
            <a:off x="2355850" y="3498851"/>
            <a:ext cx="7696200" cy="646113"/>
            <a:chOff x="524" y="2204"/>
            <a:chExt cx="4848" cy="407"/>
          </a:xfrm>
        </p:grpSpPr>
        <p:sp>
          <p:nvSpPr>
            <p:cNvPr id="78862" name="Rectangle 14"/>
            <p:cNvSpPr>
              <a:spLocks noChangeArrowheads="1"/>
            </p:cNvSpPr>
            <p:nvPr/>
          </p:nvSpPr>
          <p:spPr bwMode="auto">
            <a:xfrm>
              <a:off x="524" y="2204"/>
              <a:ext cx="4848" cy="40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63500" tIns="25400" rIns="63500" bIns="25400">
              <a:spAutoFit/>
            </a:bodyPr>
            <a:lstStyle>
              <a:lvl1pPr marL="3429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0000"/>
                </a:spcBef>
              </a:pPr>
              <a:r>
                <a:rPr lang="en-US" altLang="zh-CN" sz="1800" b="1">
                  <a:latin typeface="Arial" panose="020B0604020202020204" pitchFamily="34" charset="0"/>
                </a:rPr>
                <a:t>CPU time	=  Seconds    =   Instructions  x    Cycles     x   Seconds</a:t>
              </a:r>
            </a:p>
            <a:p>
              <a:pPr>
                <a:lnSpc>
                  <a:spcPct val="86000"/>
                </a:lnSpc>
                <a:spcBef>
                  <a:spcPct val="40000"/>
                </a:spcBef>
              </a:pPr>
              <a:r>
                <a:rPr lang="en-US" altLang="zh-CN" sz="1800" b="1">
                  <a:latin typeface="Arial" panose="020B0604020202020204" pitchFamily="34" charset="0"/>
                </a:rPr>
                <a:t>		    Program	    Program          Instruction       Cycle</a:t>
              </a:r>
            </a:p>
          </p:txBody>
        </p:sp>
        <p:sp>
          <p:nvSpPr>
            <p:cNvPr id="78863" name="Line 15"/>
            <p:cNvSpPr>
              <a:spLocks noChangeShapeType="1"/>
            </p:cNvSpPr>
            <p:nvPr/>
          </p:nvSpPr>
          <p:spPr bwMode="auto">
            <a:xfrm>
              <a:off x="1556" y="2384"/>
              <a:ext cx="56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4" name="Line 16"/>
            <p:cNvSpPr>
              <a:spLocks noChangeShapeType="1"/>
            </p:cNvSpPr>
            <p:nvPr/>
          </p:nvSpPr>
          <p:spPr bwMode="auto">
            <a:xfrm>
              <a:off x="2588" y="2400"/>
              <a:ext cx="7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5" name="Line 17"/>
            <p:cNvSpPr>
              <a:spLocks noChangeShapeType="1"/>
            </p:cNvSpPr>
            <p:nvPr/>
          </p:nvSpPr>
          <p:spPr bwMode="auto">
            <a:xfrm>
              <a:off x="3652" y="2416"/>
              <a:ext cx="6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6" name="Line 18"/>
            <p:cNvSpPr>
              <a:spLocks noChangeShapeType="1"/>
            </p:cNvSpPr>
            <p:nvPr/>
          </p:nvSpPr>
          <p:spPr bwMode="auto">
            <a:xfrm>
              <a:off x="4576" y="2400"/>
              <a:ext cx="5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591358882"/>
      </p:ext>
    </p:extLst>
  </p:cSld>
  <p:clrMapOvr>
    <a:masterClrMapping/>
  </p:clrMapOvr>
  <p:transition>
    <p:wipe/>
  </p:transition>
  <p:timing>
    <p:tnLst>
      <p:par>
        <p:cTn id="1" dur="indefinite" restart="never" nodeType="tmRoot"/>
      </p:par>
    </p:tnLst>
  </p:timing>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DC corporate">
    <a:dk1>
      <a:sysClr val="windowText" lastClr="000000"/>
    </a:dk1>
    <a:lt1>
      <a:sysClr val="window" lastClr="FFFFFF"/>
    </a:lt1>
    <a:dk2>
      <a:srgbClr val="004B85"/>
    </a:dk2>
    <a:lt2>
      <a:srgbClr val="6CAEDF"/>
    </a:lt2>
    <a:accent1>
      <a:srgbClr val="004B85"/>
    </a:accent1>
    <a:accent2>
      <a:srgbClr val="6CAEDF"/>
    </a:accent2>
    <a:accent3>
      <a:srgbClr val="D8D8D8"/>
    </a:accent3>
    <a:accent4>
      <a:srgbClr val="FAAB53"/>
    </a:accent4>
    <a:accent5>
      <a:srgbClr val="A5A5A5"/>
    </a:accent5>
    <a:accent6>
      <a:srgbClr val="595959"/>
    </a:accent6>
    <a:hlink>
      <a:srgbClr val="005699"/>
    </a:hlink>
    <a:folHlink>
      <a:srgbClr val="1C9CFF"/>
    </a:folHlink>
  </a:clrScheme>
  <a:fontScheme name="Custom 1">
    <a:majorFont>
      <a:latin typeface="Candara"/>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模板</Template>
  <TotalTime>3950</TotalTime>
  <Words>6011</Words>
  <Application>Microsoft Office PowerPoint</Application>
  <PresentationFormat>宽屏</PresentationFormat>
  <Paragraphs>1127</Paragraphs>
  <Slides>102</Slides>
  <Notes>33</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102</vt:i4>
      </vt:variant>
    </vt:vector>
  </HeadingPairs>
  <TitlesOfParts>
    <vt:vector size="122" baseType="lpstr">
      <vt:lpstr>Geneva</vt:lpstr>
      <vt:lpstr>等线</vt:lpstr>
      <vt:lpstr>等线 Light</vt:lpstr>
      <vt:lpstr>黑体</vt:lpstr>
      <vt:lpstr>宋体</vt:lpstr>
      <vt:lpstr>微软雅黑</vt:lpstr>
      <vt:lpstr>微软雅黑</vt:lpstr>
      <vt:lpstr>Arial</vt:lpstr>
      <vt:lpstr>Calibri</vt:lpstr>
      <vt:lpstr>Calibri Light</vt:lpstr>
      <vt:lpstr>Cambria Math</vt:lpstr>
      <vt:lpstr>Comic Sans MS</vt:lpstr>
      <vt:lpstr>Courier New</vt:lpstr>
      <vt:lpstr>Symbol</vt:lpstr>
      <vt:lpstr>Times New Roman</vt:lpstr>
      <vt:lpstr>Wingdings</vt:lpstr>
      <vt:lpstr>ca</vt:lpstr>
      <vt:lpstr>Drawing</vt:lpstr>
      <vt:lpstr>图表</vt:lpstr>
      <vt:lpstr>Equation</vt:lpstr>
      <vt:lpstr>计算机系统设计导论</vt:lpstr>
      <vt:lpstr>Classes of Computers （外形、尺寸）</vt:lpstr>
      <vt:lpstr>五类计算系统的主要特征</vt:lpstr>
      <vt:lpstr>Flynn’s Taxonomy （学术、体系结构）</vt:lpstr>
      <vt:lpstr>Computer Technology (celebrating 80 years)</vt:lpstr>
      <vt:lpstr>Parallelism</vt:lpstr>
      <vt:lpstr>计算模式的变化</vt:lpstr>
      <vt:lpstr>食物链的例子：生物界</vt:lpstr>
      <vt:lpstr>1988 Computer Food Chain</vt:lpstr>
      <vt:lpstr>1998 Computer Food Chain</vt:lpstr>
      <vt:lpstr>现实世界中的例子：微处理器的成功</vt:lpstr>
      <vt:lpstr>微处理器出现后，计算平台的发展</vt:lpstr>
      <vt:lpstr>计算平台上CPU架构的三分天下</vt:lpstr>
      <vt:lpstr>计算机架构的“分久必合”</vt:lpstr>
      <vt:lpstr>主要ISA的发展演变</vt:lpstr>
      <vt:lpstr>关键业务领域里，RISC/EPIC的份额 也在被x86服务器逐步蚕食</vt:lpstr>
      <vt:lpstr>x86如何战胜RISC的？</vt:lpstr>
      <vt:lpstr>为什么会这样？</vt:lpstr>
      <vt:lpstr>Gartner的企业软件市场分析</vt:lpstr>
      <vt:lpstr>90年代的超算Startups</vt:lpstr>
      <vt:lpstr>经济基础决定上层建筑</vt:lpstr>
      <vt:lpstr>示例：典型x86处理器微架构</vt:lpstr>
      <vt:lpstr>计算芯片产业模式的螺旋式发展</vt:lpstr>
      <vt:lpstr>云服务提供商做芯片</vt:lpstr>
      <vt:lpstr>成功和失败的再分析</vt:lpstr>
      <vt:lpstr>为什么会有这样的变化？</vt:lpstr>
      <vt:lpstr>Technology Trends:  Microprocessor Capacity (before 2000)</vt:lpstr>
      <vt:lpstr>Memory Capacity before 2000 (Single Chip DRAM)</vt:lpstr>
      <vt:lpstr>Technology Trends before 2000  (Summary)</vt:lpstr>
      <vt:lpstr>Processor Performance Trends</vt:lpstr>
      <vt:lpstr>Processor Performance (1.35X before, 1.55X @ 2000)</vt:lpstr>
      <vt:lpstr>Performance Trends (Summary)</vt:lpstr>
      <vt:lpstr>Growth in processor performance  over 40 years</vt:lpstr>
      <vt:lpstr>典型处理器时钟频率的变化</vt:lpstr>
      <vt:lpstr>Trends in Technology</vt:lpstr>
      <vt:lpstr>部分典型计算机 部件的性能指标</vt:lpstr>
      <vt:lpstr>Transistors and Wires</vt:lpstr>
      <vt:lpstr>From ITRS to IRDSTM</vt:lpstr>
      <vt:lpstr>半导体工艺与芯片设计成本</vt:lpstr>
      <vt:lpstr>Computer Engineering Methodology</vt:lpstr>
      <vt:lpstr>PowerPoint 演示文稿</vt:lpstr>
      <vt:lpstr>Computer Engineering Methodology</vt:lpstr>
      <vt:lpstr>Computer Engineering Methodology</vt:lpstr>
      <vt:lpstr>Current Trends in Architecture</vt:lpstr>
      <vt:lpstr>Defining Computer Architecture</vt:lpstr>
      <vt:lpstr>Instruction Set Architecture</vt:lpstr>
      <vt:lpstr>Instruction Set Architecture</vt:lpstr>
      <vt:lpstr>Defining Computer Architecture</vt:lpstr>
      <vt:lpstr>体系结构：决定硬件与软件的分工</vt:lpstr>
      <vt:lpstr>体系结构 设计者 面临的各种 功能需求</vt:lpstr>
      <vt:lpstr>Measurement and Evaluation</vt:lpstr>
      <vt:lpstr>Measurement Tools</vt:lpstr>
      <vt:lpstr>Metrics of Performance</vt:lpstr>
      <vt:lpstr>Bandwidth and Latency</vt:lpstr>
      <vt:lpstr>Bandwidth and Latency</vt:lpstr>
      <vt:lpstr>The Bottom Line:  Performance (and Cost)</vt:lpstr>
      <vt:lpstr>The Bottom Line:  Performance (and Cost)</vt:lpstr>
      <vt:lpstr>Principles of Computer Design</vt:lpstr>
      <vt:lpstr>Amdahl's Law</vt:lpstr>
      <vt:lpstr>Amdahl’s Law</vt:lpstr>
      <vt:lpstr>Amdahl’s Law</vt:lpstr>
      <vt:lpstr>Principles of Computer Design</vt:lpstr>
      <vt:lpstr>Principles of Computer Design</vt:lpstr>
      <vt:lpstr>Aspects of CPU Performance</vt:lpstr>
      <vt:lpstr>Cycles Per Instruction</vt:lpstr>
      <vt:lpstr>Example: Calculating CPI</vt:lpstr>
      <vt:lpstr>Measuring Performance</vt:lpstr>
      <vt:lpstr>SPEC: System Performance Evaluation Cooperative</vt:lpstr>
      <vt:lpstr>SPEC: System Performance Evaluation Cooperative</vt:lpstr>
      <vt:lpstr>Evolution of SPEC CPU Benchmark</vt:lpstr>
      <vt:lpstr>其它SPEC基准程序</vt:lpstr>
      <vt:lpstr>How to Summarize Performance</vt:lpstr>
      <vt:lpstr>SPEC First Round</vt:lpstr>
      <vt:lpstr>Impact of Means on SPECmark89 for IBM 550</vt:lpstr>
      <vt:lpstr>SPEC2006Cint execution times</vt:lpstr>
      <vt:lpstr>Performance Evaluation</vt:lpstr>
      <vt:lpstr>Gaps between Peak with Real Performance</vt:lpstr>
      <vt:lpstr>研究与工程的不同方向</vt:lpstr>
      <vt:lpstr>观察到的一些现象</vt:lpstr>
      <vt:lpstr>为什么对单核的改进主要在企业中进行？</vt:lpstr>
      <vt:lpstr>Trends in Cost</vt:lpstr>
      <vt:lpstr>Wafer和die的例子</vt:lpstr>
      <vt:lpstr>Integrated Circuits Costs</vt:lpstr>
      <vt:lpstr>Integrated Circuit Cost</vt:lpstr>
      <vt:lpstr>Photograph of an Intel Skylake microprocessor die</vt:lpstr>
      <vt:lpstr>采用先进封装，芯片成本构成更为复杂</vt:lpstr>
      <vt:lpstr>Real World Examples</vt:lpstr>
      <vt:lpstr>Cost/Performance What is Relationship of Cost to Price?</vt:lpstr>
      <vt:lpstr>Chip Prices (August 1993)</vt:lpstr>
      <vt:lpstr>Summary: Price vs. Cost</vt:lpstr>
      <vt:lpstr>三台DELL服务器的性能和价格</vt:lpstr>
      <vt:lpstr>三台DELL服务器的性能功耗比</vt:lpstr>
      <vt:lpstr>Power and Energy</vt:lpstr>
      <vt:lpstr>Dynamic Energy and Power</vt:lpstr>
      <vt:lpstr>Power</vt:lpstr>
      <vt:lpstr>Techniques for Reducing Power</vt:lpstr>
      <vt:lpstr>动态功耗控制带来的性能分析难题</vt:lpstr>
      <vt:lpstr>AMD Zen 5 Server Processors</vt:lpstr>
      <vt:lpstr>Static Power</vt:lpstr>
      <vt:lpstr>Dependability</vt:lpstr>
      <vt:lpstr>系统不可靠带来的影响</vt:lpstr>
      <vt:lpstr>Summary</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计算机系统的性能和价格</dc:title>
  <dc:creator>Siat</dc:creator>
  <cp:lastModifiedBy>Zhimin Tang</cp:lastModifiedBy>
  <cp:revision>80</cp:revision>
  <dcterms:created xsi:type="dcterms:W3CDTF">2025-08-05T05:28:08Z</dcterms:created>
  <dcterms:modified xsi:type="dcterms:W3CDTF">2025-09-14T03:41:10Z</dcterms:modified>
</cp:coreProperties>
</file>