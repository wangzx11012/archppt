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38"/>
  </p:notesMasterIdLst>
  <p:handoutMasterIdLst>
    <p:handoutMasterId r:id="rId139"/>
  </p:handoutMasterIdLst>
  <p:sldIdLst>
    <p:sldId id="313" r:id="rId2"/>
    <p:sldId id="314" r:id="rId3"/>
    <p:sldId id="266" r:id="rId4"/>
    <p:sldId id="315" r:id="rId5"/>
    <p:sldId id="556" r:id="rId6"/>
    <p:sldId id="317" r:id="rId7"/>
    <p:sldId id="553" r:id="rId8"/>
    <p:sldId id="318" r:id="rId9"/>
    <p:sldId id="319" r:id="rId10"/>
    <p:sldId id="532" r:id="rId11"/>
    <p:sldId id="269" r:id="rId12"/>
    <p:sldId id="527" r:id="rId13"/>
    <p:sldId id="277" r:id="rId14"/>
    <p:sldId id="530" r:id="rId15"/>
    <p:sldId id="531" r:id="rId16"/>
    <p:sldId id="279" r:id="rId17"/>
    <p:sldId id="533" r:id="rId18"/>
    <p:sldId id="535" r:id="rId19"/>
    <p:sldId id="539" r:id="rId20"/>
    <p:sldId id="282" r:id="rId21"/>
    <p:sldId id="280" r:id="rId22"/>
    <p:sldId id="281" r:id="rId23"/>
    <p:sldId id="283" r:id="rId24"/>
    <p:sldId id="284" r:id="rId25"/>
    <p:sldId id="285" r:id="rId26"/>
    <p:sldId id="583" r:id="rId27"/>
    <p:sldId id="286" r:id="rId28"/>
    <p:sldId id="542" r:id="rId29"/>
    <p:sldId id="543" r:id="rId30"/>
    <p:sldId id="545" r:id="rId31"/>
    <p:sldId id="546" r:id="rId32"/>
    <p:sldId id="554" r:id="rId33"/>
    <p:sldId id="547" r:id="rId34"/>
    <p:sldId id="548" r:id="rId35"/>
    <p:sldId id="288" r:id="rId36"/>
    <p:sldId id="549" r:id="rId37"/>
    <p:sldId id="551" r:id="rId38"/>
    <p:sldId id="444" r:id="rId39"/>
    <p:sldId id="445" r:id="rId40"/>
    <p:sldId id="446" r:id="rId41"/>
    <p:sldId id="447" r:id="rId42"/>
    <p:sldId id="448" r:id="rId43"/>
    <p:sldId id="449" r:id="rId44"/>
    <p:sldId id="450" r:id="rId45"/>
    <p:sldId id="451" r:id="rId46"/>
    <p:sldId id="452" r:id="rId47"/>
    <p:sldId id="453" r:id="rId48"/>
    <p:sldId id="454" r:id="rId49"/>
    <p:sldId id="455" r:id="rId50"/>
    <p:sldId id="557" r:id="rId51"/>
    <p:sldId id="456" r:id="rId52"/>
    <p:sldId id="457" r:id="rId53"/>
    <p:sldId id="558" r:id="rId54"/>
    <p:sldId id="458" r:id="rId55"/>
    <p:sldId id="460" r:id="rId56"/>
    <p:sldId id="564" r:id="rId57"/>
    <p:sldId id="565" r:id="rId58"/>
    <p:sldId id="461" r:id="rId59"/>
    <p:sldId id="566" r:id="rId60"/>
    <p:sldId id="567" r:id="rId61"/>
    <p:sldId id="462" r:id="rId62"/>
    <p:sldId id="463" r:id="rId63"/>
    <p:sldId id="465" r:id="rId64"/>
    <p:sldId id="568" r:id="rId65"/>
    <p:sldId id="468" r:id="rId66"/>
    <p:sldId id="469" r:id="rId67"/>
    <p:sldId id="470" r:id="rId68"/>
    <p:sldId id="471" r:id="rId69"/>
    <p:sldId id="472" r:id="rId70"/>
    <p:sldId id="473" r:id="rId71"/>
    <p:sldId id="571" r:id="rId72"/>
    <p:sldId id="474" r:id="rId73"/>
    <p:sldId id="475" r:id="rId74"/>
    <p:sldId id="476" r:id="rId75"/>
    <p:sldId id="559" r:id="rId76"/>
    <p:sldId id="560" r:id="rId77"/>
    <p:sldId id="477" r:id="rId78"/>
    <p:sldId id="478" r:id="rId79"/>
    <p:sldId id="561" r:id="rId80"/>
    <p:sldId id="577" r:id="rId81"/>
    <p:sldId id="578" r:id="rId82"/>
    <p:sldId id="479" r:id="rId83"/>
    <p:sldId id="480" r:id="rId84"/>
    <p:sldId id="481" r:id="rId85"/>
    <p:sldId id="575" r:id="rId86"/>
    <p:sldId id="482" r:id="rId87"/>
    <p:sldId id="483" r:id="rId88"/>
    <p:sldId id="484" r:id="rId89"/>
    <p:sldId id="485" r:id="rId90"/>
    <p:sldId id="486" r:id="rId91"/>
    <p:sldId id="487" r:id="rId92"/>
    <p:sldId id="574" r:id="rId93"/>
    <p:sldId id="488" r:id="rId94"/>
    <p:sldId id="489" r:id="rId95"/>
    <p:sldId id="490" r:id="rId96"/>
    <p:sldId id="491" r:id="rId97"/>
    <p:sldId id="492" r:id="rId98"/>
    <p:sldId id="494" r:id="rId99"/>
    <p:sldId id="495" r:id="rId100"/>
    <p:sldId id="496" r:id="rId101"/>
    <p:sldId id="497" r:id="rId102"/>
    <p:sldId id="582" r:id="rId103"/>
    <p:sldId id="498" r:id="rId104"/>
    <p:sldId id="499" r:id="rId105"/>
    <p:sldId id="587" r:id="rId106"/>
    <p:sldId id="580" r:id="rId107"/>
    <p:sldId id="501" r:id="rId108"/>
    <p:sldId id="502" r:id="rId109"/>
    <p:sldId id="562" r:id="rId110"/>
    <p:sldId id="503" r:id="rId111"/>
    <p:sldId id="504" r:id="rId112"/>
    <p:sldId id="505" r:id="rId113"/>
    <p:sldId id="506" r:id="rId114"/>
    <p:sldId id="507" r:id="rId115"/>
    <p:sldId id="586" r:id="rId116"/>
    <p:sldId id="508" r:id="rId117"/>
    <p:sldId id="509" r:id="rId118"/>
    <p:sldId id="510" r:id="rId119"/>
    <p:sldId id="511" r:id="rId120"/>
    <p:sldId id="512" r:id="rId121"/>
    <p:sldId id="513" r:id="rId122"/>
    <p:sldId id="585" r:id="rId123"/>
    <p:sldId id="514" r:id="rId124"/>
    <p:sldId id="515" r:id="rId125"/>
    <p:sldId id="579" r:id="rId126"/>
    <p:sldId id="293" r:id="rId127"/>
    <p:sldId id="516" r:id="rId128"/>
    <p:sldId id="517" r:id="rId129"/>
    <p:sldId id="518" r:id="rId130"/>
    <p:sldId id="294" r:id="rId131"/>
    <p:sldId id="303" r:id="rId132"/>
    <p:sldId id="304" r:id="rId133"/>
    <p:sldId id="570" r:id="rId134"/>
    <p:sldId id="305" r:id="rId135"/>
    <p:sldId id="588" r:id="rId136"/>
    <p:sldId id="306" r:id="rId137"/>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0592" autoAdjust="0"/>
  </p:normalViewPr>
  <p:slideViewPr>
    <p:cSldViewPr>
      <p:cViewPr varScale="1">
        <p:scale>
          <a:sx n="84" d="100"/>
          <a:sy n="84" d="100"/>
        </p:scale>
        <p:origin x="566" y="72"/>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5418"/>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5" Type="http://schemas.openxmlformats.org/officeDocument/2006/relationships/image" Target="../media/image31.wmf"/><Relationship Id="rId4"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E6B2AD-278E-4B73-9948-EE203F912D05}" type="slidenum">
              <a:rPr lang="en-US" altLang="zh-CN"/>
              <a:pPr/>
              <a:t>2</a:t>
            </a:fld>
            <a:endParaRPr lang="en-US" altLang="zh-CN"/>
          </a:p>
        </p:txBody>
      </p:sp>
      <p:sp>
        <p:nvSpPr>
          <p:cNvPr id="4098"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zh-CN" dirty="0"/>
          </a:p>
          <a:p>
            <a:r>
              <a:rPr lang="en-US" altLang="zh-CN" dirty="0"/>
              <a:t>Y-axis is performance</a:t>
            </a:r>
          </a:p>
          <a:p>
            <a:r>
              <a:rPr lang="en-US" altLang="zh-CN" dirty="0"/>
              <a:t>X-axis is time</a:t>
            </a:r>
          </a:p>
          <a:p>
            <a:r>
              <a:rPr lang="en-US" altLang="zh-CN" dirty="0"/>
              <a:t>Latency</a:t>
            </a:r>
          </a:p>
          <a:p>
            <a:r>
              <a:rPr lang="en-US" altLang="zh-CN" dirty="0" err="1"/>
              <a:t>Clich</a:t>
            </a:r>
            <a:r>
              <a:rPr lang="en-US" altLang="zh-CN" dirty="0"/>
              <a:t>? </a:t>
            </a:r>
          </a:p>
          <a:p>
            <a:r>
              <a:rPr lang="en-US" altLang="zh-CN" dirty="0"/>
              <a:t>Not e that x86 </a:t>
            </a:r>
            <a:r>
              <a:rPr lang="en-US" altLang="zh-CN" dirty="0" err="1"/>
              <a:t>didn</a:t>
            </a:r>
            <a:r>
              <a:rPr lang="zh-CN" altLang="en-US" dirty="0"/>
              <a:t>抰 </a:t>
            </a:r>
            <a:r>
              <a:rPr lang="en-US" altLang="zh-CN" dirty="0"/>
              <a:t>have cache on chip until 1989</a:t>
            </a:r>
          </a:p>
        </p:txBody>
      </p:sp>
      <p:sp>
        <p:nvSpPr>
          <p:cNvPr id="4099"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167375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1A72EC6-03E2-4D61-A0EB-E6D7003922C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218646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EBB333-D979-42F9-94C7-E1CBEFC64095}" type="slidenum">
              <a:rPr lang="en-US" altLang="zh-CN"/>
              <a:pPr/>
              <a:t>4</a:t>
            </a:fld>
            <a:endParaRPr lang="en-US" altLang="zh-CN"/>
          </a:p>
        </p:txBody>
      </p:sp>
      <p:sp>
        <p:nvSpPr>
          <p:cNvPr id="7170" name="Rectangle 2"/>
          <p:cNvSpPr>
            <a:spLocks noGrp="1" noChangeArrowheads="1"/>
          </p:cNvSpPr>
          <p:nvPr>
            <p:ph type="body" idx="1"/>
          </p:nvPr>
        </p:nvSpPr>
        <p:spPr>
          <a:xfrm>
            <a:off x="1254125" y="4343400"/>
            <a:ext cx="4278313" cy="4114800"/>
          </a:xfrm>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zh-CN" altLang="zh-CN"/>
          </a:p>
        </p:txBody>
      </p:sp>
      <p:sp>
        <p:nvSpPr>
          <p:cNvPr id="7171"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219109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B0EFAE-16B7-4582-BE26-A56E9904AD5E}" type="slidenum">
              <a:rPr lang="en-US" altLang="zh-CN"/>
              <a:pPr/>
              <a:t>6</a:t>
            </a:fld>
            <a:endParaRPr lang="en-US" altLang="zh-CN"/>
          </a:p>
        </p:txBody>
      </p:sp>
      <p:sp>
        <p:nvSpPr>
          <p:cNvPr id="61442"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0" tIns="44446" rIns="90480" bIns="44446"/>
          <a:lstStyle/>
          <a:p>
            <a:r>
              <a:rPr lang="zh-CN" altLang="zh-CN"/>
              <a:t>1/3 </a:t>
            </a:r>
            <a:r>
              <a:rPr lang="en-US" altLang="zh-CN"/>
              <a:t>to 2/3s of area of processor</a:t>
            </a:r>
          </a:p>
          <a:p>
            <a:r>
              <a:rPr lang="en-US" altLang="zh-CN"/>
              <a:t>386 had 0; successor PPro has second die!</a:t>
            </a:r>
          </a:p>
        </p:txBody>
      </p:sp>
      <p:sp>
        <p:nvSpPr>
          <p:cNvPr id="61443" name="Rectangle 3"/>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223996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22497C-EC8B-4A3A-9703-FA4854745E69}" type="slidenum">
              <a:rPr lang="en-US" altLang="zh-CN"/>
              <a:pPr/>
              <a:t>8</a:t>
            </a:fld>
            <a:endParaRPr lang="en-US" altLang="zh-CN"/>
          </a:p>
        </p:txBody>
      </p:sp>
      <p:sp>
        <p:nvSpPr>
          <p:cNvPr id="9218" name="Rectangle 2"/>
          <p:cNvSpPr>
            <a:spLocks noGrp="1" noChangeArrowheads="1"/>
          </p:cNvSpPr>
          <p:nvPr>
            <p:ph type="body" idx="1"/>
          </p:nvPr>
        </p:nvSpPr>
        <p:spPr>
          <a:xfrm>
            <a:off x="1254125" y="4343400"/>
            <a:ext cx="427831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zh-CN"/>
              <a:t>The principle of locality states that programs access a relatively small portion of the address space at  any instant of time.</a:t>
            </a:r>
          </a:p>
          <a:p>
            <a:r>
              <a:rPr lang="en-US" altLang="zh-CN"/>
              <a:t>This is kind of like in real life, we all have a lot of friends.  But at any given time most of us can  only  keep in touch with a small group of them.</a:t>
            </a:r>
          </a:p>
          <a:p>
            <a:r>
              <a:rPr lang="en-US" altLang="zh-CN"/>
              <a:t>There are two different types of locality: Temporal and Spatial. Temporal locality is the locality in time  which says if an item is referenced, it  will tend to be referenced again soon.</a:t>
            </a:r>
          </a:p>
          <a:p>
            <a:r>
              <a:rPr lang="en-US" altLang="zh-CN"/>
              <a:t>This is like saying if you just talk to one of your friends, it is likely that you will talk to him or her again soon.</a:t>
            </a:r>
          </a:p>
          <a:p>
            <a:r>
              <a:rPr lang="en-US" altLang="zh-CN"/>
              <a:t>This makes sense. For example, if you just have lunch with a friend, you may say, let</a:t>
            </a:r>
            <a:r>
              <a:rPr lang="zh-CN" altLang="en-US"/>
              <a:t>抯 </a:t>
            </a:r>
            <a:r>
              <a:rPr lang="en-US" altLang="zh-CN"/>
              <a:t>go to the ball game this Sunday.  So you will talk to him again soon.</a:t>
            </a:r>
          </a:p>
          <a:p>
            <a:r>
              <a:rPr lang="en-US" altLang="zh-CN"/>
              <a:t>Spatial locality is the locality in space.  It says if an item is referenced, items whose addresses are close by tend to be referenced soon.</a:t>
            </a:r>
          </a:p>
          <a:p>
            <a:r>
              <a:rPr lang="en-US" altLang="zh-CN"/>
              <a:t>Once again, using our analogy.  We can usually divide our friends into groups.  Like friends from high school, friends from work, friends from home.</a:t>
            </a:r>
          </a:p>
          <a:p>
            <a:r>
              <a:rPr lang="en-US" altLang="zh-CN"/>
              <a:t>Let</a:t>
            </a:r>
            <a:r>
              <a:rPr lang="zh-CN" altLang="en-US"/>
              <a:t>抯 </a:t>
            </a:r>
            <a:r>
              <a:rPr lang="en-US" altLang="zh-CN"/>
              <a:t>say you just talk to one of your friends from high school and she may say something like: </a:t>
            </a:r>
            <a:r>
              <a:rPr lang="zh-CN" altLang="en-US"/>
              <a:t>揝</a:t>
            </a:r>
            <a:r>
              <a:rPr lang="en-US" altLang="zh-CN"/>
              <a:t>o did you hear so and so just won the lottery.</a:t>
            </a:r>
          </a:p>
          <a:p>
            <a:r>
              <a:rPr lang="en-US" altLang="zh-CN"/>
              <a:t>You probably will say NO, I better give him a call and find out more.</a:t>
            </a:r>
          </a:p>
          <a:p>
            <a:r>
              <a:rPr lang="en-US" altLang="zh-CN"/>
              <a:t>So this is an example of spatial locality.  You just talked to a friend from your high school days.  As a result, you end up talking to another high school friend.  Or at least in this case, you hope he still remember you are his friend.</a:t>
            </a:r>
          </a:p>
          <a:p>
            <a:endParaRPr lang="en-US" altLang="zh-CN"/>
          </a:p>
          <a:p>
            <a:r>
              <a:rPr lang="en-US" altLang="zh-CN"/>
              <a:t>+3 = 10 min. (X:50)</a:t>
            </a:r>
          </a:p>
        </p:txBody>
      </p:sp>
      <p:sp>
        <p:nvSpPr>
          <p:cNvPr id="9219"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110564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C87320-39A1-4B4E-9A84-C4438324AB20}" type="slidenum">
              <a:rPr lang="en-US" altLang="zh-CN"/>
              <a:pPr/>
              <a:t>9</a:t>
            </a:fld>
            <a:endParaRPr lang="en-US" altLang="zh-CN"/>
          </a:p>
        </p:txBody>
      </p:sp>
      <p:sp>
        <p:nvSpPr>
          <p:cNvPr id="11266" name="Rectangle 2"/>
          <p:cNvSpPr>
            <a:spLocks noGrp="1" noChangeArrowheads="1"/>
          </p:cNvSpPr>
          <p:nvPr>
            <p:ph type="body" idx="1"/>
          </p:nvPr>
        </p:nvSpPr>
        <p:spPr>
          <a:xfrm>
            <a:off x="1254125" y="4343400"/>
            <a:ext cx="427831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zh-CN" dirty="0"/>
              <a:t>A HIT is when the data the processor wants to access is found in the upper level (</a:t>
            </a:r>
            <a:r>
              <a:rPr lang="en-US" altLang="zh-CN" dirty="0" err="1"/>
              <a:t>Blk</a:t>
            </a:r>
            <a:r>
              <a:rPr lang="en-US" altLang="zh-CN" dirty="0"/>
              <a:t> X).</a:t>
            </a:r>
          </a:p>
          <a:p>
            <a:r>
              <a:rPr lang="en-US" altLang="zh-CN" dirty="0"/>
              <a:t>The fraction of the memory access that are HIT is defined as HIT rate.</a:t>
            </a:r>
          </a:p>
          <a:p>
            <a:r>
              <a:rPr lang="en-US" altLang="zh-CN" dirty="0"/>
              <a:t>HIT Time is the time to access the Upper Level where the data is found (X).  It consists of:</a:t>
            </a:r>
          </a:p>
          <a:p>
            <a:r>
              <a:rPr lang="en-US" altLang="zh-CN" dirty="0"/>
              <a:t>(a) Time to access this level.</a:t>
            </a:r>
          </a:p>
          <a:p>
            <a:r>
              <a:rPr lang="en-US" altLang="zh-CN" dirty="0"/>
              <a:t>(b) AND the time to determine if this is a Hit or Miss.</a:t>
            </a:r>
          </a:p>
          <a:p>
            <a:r>
              <a:rPr lang="en-US" altLang="zh-CN" dirty="0"/>
              <a:t>If the data the processor wants cannot be found in the Upper level.  Then we have a miss and we need to retrieve the data (</a:t>
            </a:r>
            <a:r>
              <a:rPr lang="en-US" altLang="zh-CN" dirty="0" err="1"/>
              <a:t>Blk</a:t>
            </a:r>
            <a:r>
              <a:rPr lang="en-US" altLang="zh-CN" dirty="0"/>
              <a:t> Y) from the lower level.</a:t>
            </a:r>
          </a:p>
          <a:p>
            <a:r>
              <a:rPr lang="en-US" altLang="zh-CN" dirty="0"/>
              <a:t>By definition (definition of Hit: Fraction), the miss rate is just 1 minus the hit rate.</a:t>
            </a:r>
          </a:p>
          <a:p>
            <a:r>
              <a:rPr lang="en-US" altLang="zh-CN" dirty="0"/>
              <a:t>This miss penalty also consists of two parts:</a:t>
            </a:r>
          </a:p>
          <a:p>
            <a:r>
              <a:rPr lang="en-US" altLang="zh-CN" dirty="0"/>
              <a:t>(a) The time it takes to replace a block (</a:t>
            </a:r>
            <a:r>
              <a:rPr lang="en-US" altLang="zh-CN" dirty="0" err="1"/>
              <a:t>Blk</a:t>
            </a:r>
            <a:r>
              <a:rPr lang="en-US" altLang="zh-CN" dirty="0"/>
              <a:t> Y to </a:t>
            </a:r>
            <a:r>
              <a:rPr lang="en-US" altLang="zh-CN" dirty="0" err="1"/>
              <a:t>BlkX</a:t>
            </a:r>
            <a:r>
              <a:rPr lang="en-US" altLang="zh-CN" dirty="0"/>
              <a:t>) in the upper level.</a:t>
            </a:r>
          </a:p>
          <a:p>
            <a:r>
              <a:rPr lang="en-US" altLang="zh-CN" dirty="0"/>
              <a:t>(b) And then the time it takes to deliver this new block to the processor.</a:t>
            </a:r>
          </a:p>
          <a:p>
            <a:r>
              <a:rPr lang="en-US" altLang="zh-CN" dirty="0"/>
              <a:t>It is very important that your Hit Time to be much </a:t>
            </a:r>
            <a:r>
              <a:rPr lang="en-US" altLang="zh-CN" dirty="0" err="1"/>
              <a:t>much</a:t>
            </a:r>
            <a:r>
              <a:rPr lang="en-US" altLang="zh-CN" dirty="0"/>
              <a:t> smaller than your miss penalty.  Otherwise, there will be no reason to build a memory hierarchy.</a:t>
            </a:r>
          </a:p>
          <a:p>
            <a:endParaRPr lang="en-US" altLang="zh-CN" dirty="0"/>
          </a:p>
          <a:p>
            <a:r>
              <a:rPr lang="en-US" altLang="zh-CN" dirty="0"/>
              <a:t>+2 = 14 min. (X:54)</a:t>
            </a:r>
          </a:p>
          <a:p>
            <a:endParaRPr lang="en-US" altLang="zh-CN" dirty="0"/>
          </a:p>
        </p:txBody>
      </p:sp>
      <p:sp>
        <p:nvSpPr>
          <p:cNvPr id="11267"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238197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339531D-FA34-4A31-AD47-EFE34C577A6E}"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285367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23A4930D-B15F-4BEB-9319-4946B80ED7AD}"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5040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9589F08-0363-4088-8210-EF791861DF51}"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089134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803176D-6F42-4A01-B291-BCCE1F21A6A9}"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557924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C4270C9D-B501-4679-8C5F-CA47EAFAC225}"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41667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B80D0A4F-BDE4-4DF1-B3A1-5933C85DB83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25817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174A3812-CFA5-49D8-BE6D-C02B383E75DF}"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027934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928D714-5924-44A4-97DB-57B359F900ED}"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875829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2FFB6FC-4CE7-47CB-B806-B20872655C18}"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776752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body" idx="1"/>
          </p:nvPr>
        </p:nvSpPr>
        <p:spPr>
          <a:ln/>
        </p:spPr>
        <p:txBody>
          <a:bodyPr lIns="90488" tIns="44450" rIns="90488" bIns="44450"/>
          <a:lstStyle/>
          <a:p>
            <a:endParaRPr lang="zh-CN" altLang="zh-CN"/>
          </a:p>
        </p:txBody>
      </p:sp>
      <p:sp>
        <p:nvSpPr>
          <p:cNvPr id="665603" name="Rectangle 3"/>
          <p:cNvSpPr>
            <a:spLocks noGrp="1" noRot="1" noChangeAspect="1" noChangeArrowheads="1" noTextEdit="1"/>
          </p:cNvSpPr>
          <p:nvPr>
            <p:ph type="sldImg"/>
          </p:nvPr>
        </p:nvSpPr>
        <p:spPr>
          <a:xfrm>
            <a:off x="1176338" y="696913"/>
            <a:ext cx="4640262" cy="3479800"/>
          </a:xfrm>
          <a:ln cap="flat"/>
        </p:spPr>
      </p:sp>
    </p:spTree>
    <p:extLst>
      <p:ext uri="{BB962C8B-B14F-4D97-AF65-F5344CB8AC3E}">
        <p14:creationId xmlns:p14="http://schemas.microsoft.com/office/powerpoint/2010/main" val="1620519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EE342EB-44C8-4DA2-B03B-9BF0AB3C2F63}"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207490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51D143-087A-493B-A725-9C2D4E0E941E}" type="slidenum">
              <a:rPr lang="en-US" altLang="zh-CN"/>
              <a:pPr/>
              <a:t>40</a:t>
            </a:fld>
            <a:endParaRPr lang="en-US" altLang="zh-CN"/>
          </a:p>
        </p:txBody>
      </p:sp>
      <p:sp>
        <p:nvSpPr>
          <p:cNvPr id="14338" name="Rectangle 2"/>
          <p:cNvSpPr>
            <a:spLocks noGrp="1" noChangeArrowheads="1"/>
          </p:cNvSpPr>
          <p:nvPr>
            <p:ph type="body" idx="1"/>
          </p:nvPr>
        </p:nvSpPr>
        <p:spPr>
          <a:xfrm>
            <a:off x="1252538" y="4343400"/>
            <a:ext cx="4279900"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88900" tIns="44450" rIns="88900" bIns="44450"/>
          <a:lstStyle/>
          <a:p>
            <a:pPr defTabSz="877888"/>
            <a:r>
              <a:rPr lang="en-US" altLang="zh-CN" sz="1100"/>
              <a:t>Let</a:t>
            </a:r>
            <a:r>
              <a:rPr lang="zh-CN" altLang="en-US" sz="1100"/>
              <a:t>抯 </a:t>
            </a:r>
            <a:r>
              <a:rPr lang="en-US" altLang="zh-CN" sz="1100"/>
              <a:t>look at the simplest cache one can build.  A direct mapped cache that only has 4 bytes.</a:t>
            </a:r>
          </a:p>
          <a:p>
            <a:pPr defTabSz="877888"/>
            <a:r>
              <a:rPr lang="en-US" altLang="zh-CN" sz="1100"/>
              <a:t>In this direct mapped cache with only 4 bytes, location 0 of the cache can be occupied by data form memory location 0, 4, 8, C, ... and so on.</a:t>
            </a:r>
          </a:p>
          <a:p>
            <a:pPr defTabSz="877888"/>
            <a:r>
              <a:rPr lang="en-US" altLang="zh-CN" sz="1100"/>
              <a:t>While location 1 of the cache can be occupied by data from memory location 1, 5, 9, ... etc.</a:t>
            </a:r>
          </a:p>
          <a:p>
            <a:pPr defTabSz="877888"/>
            <a:r>
              <a:rPr lang="en-US" altLang="zh-CN" sz="1100"/>
              <a:t>So in general, the cache location where a memory location can map to  is uniquely determined by the 2 least significant bits of the address (Cache Index).</a:t>
            </a:r>
          </a:p>
          <a:p>
            <a:pPr defTabSz="877888"/>
            <a:r>
              <a:rPr lang="en-US" altLang="zh-CN" sz="1100"/>
              <a:t>For example here, any memory location whose two least significant bits of the address are 0s can  go to cache location zero.</a:t>
            </a:r>
          </a:p>
          <a:p>
            <a:pPr defTabSz="877888"/>
            <a:r>
              <a:rPr lang="en-US" altLang="zh-CN" sz="1100"/>
              <a:t>With so many memory locations to chose from, which one should we place in the cache?</a:t>
            </a:r>
          </a:p>
          <a:p>
            <a:pPr defTabSz="877888"/>
            <a:r>
              <a:rPr lang="en-US" altLang="zh-CN" sz="1100"/>
              <a:t>Of course, the one we have read or write  most recently because by the principle of temporal locality, the one we just touch is most  likely to be the one we will need again soon.</a:t>
            </a:r>
          </a:p>
          <a:p>
            <a:pPr defTabSz="877888"/>
            <a:r>
              <a:rPr lang="en-US" altLang="zh-CN" sz="1100"/>
              <a:t>Of all the possible memory locations that can be placed in cache Location 0, how can we tell which one is in the cache?</a:t>
            </a:r>
          </a:p>
          <a:p>
            <a:pPr defTabSz="877888"/>
            <a:endParaRPr lang="en-US" altLang="zh-CN" sz="1100"/>
          </a:p>
          <a:p>
            <a:pPr defTabSz="877888"/>
            <a:r>
              <a:rPr lang="en-US" altLang="zh-CN" sz="1100"/>
              <a:t>+2 = 22 min. (Y:02)</a:t>
            </a:r>
          </a:p>
        </p:txBody>
      </p:sp>
      <p:sp>
        <p:nvSpPr>
          <p:cNvPr id="14339"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612955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6B786-6561-4B0A-BE04-5C1D044E356C}" type="slidenum">
              <a:rPr lang="en-US" altLang="zh-CN"/>
              <a:pPr/>
              <a:t>41</a:t>
            </a:fld>
            <a:endParaRPr lang="en-US" altLang="zh-CN"/>
          </a:p>
        </p:txBody>
      </p:sp>
      <p:sp>
        <p:nvSpPr>
          <p:cNvPr id="16386" name="Rectangle 2"/>
          <p:cNvSpPr>
            <a:spLocks noGrp="1" noChangeArrowheads="1"/>
          </p:cNvSpPr>
          <p:nvPr>
            <p:ph type="body" idx="1"/>
          </p:nvPr>
        </p:nvSpPr>
        <p:spPr>
          <a:xfrm>
            <a:off x="1252538" y="4343400"/>
            <a:ext cx="4279900"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88900" tIns="44450" rIns="88900" bIns="44450"/>
          <a:lstStyle/>
          <a:p>
            <a:pPr defTabSz="877888"/>
            <a:r>
              <a:rPr lang="en-US" altLang="zh-CN" sz="1100"/>
              <a:t>Let</a:t>
            </a:r>
            <a:r>
              <a:rPr lang="zh-CN" altLang="en-US" sz="1100"/>
              <a:t>抯 </a:t>
            </a:r>
            <a:r>
              <a:rPr lang="en-US" altLang="zh-CN" sz="1100"/>
              <a:t>use a specific example with realistic numbers: assume we have a 1 KB direct mapped cache with block size equals to 32 bytes.</a:t>
            </a:r>
          </a:p>
          <a:p>
            <a:pPr defTabSz="877888"/>
            <a:r>
              <a:rPr lang="en-US" altLang="zh-CN" sz="1100"/>
              <a:t>In other words, each block associated with the cache tag will have 32 bytes in it (Row 1).</a:t>
            </a:r>
          </a:p>
          <a:p>
            <a:pPr defTabSz="877888"/>
            <a:r>
              <a:rPr lang="en-US" altLang="zh-CN" sz="1100"/>
              <a:t>With Block Size equals to 32 bytes, the 5 least significant bits of the address will be used as byte select within the cache block.</a:t>
            </a:r>
          </a:p>
          <a:p>
            <a:pPr defTabSz="877888"/>
            <a:r>
              <a:rPr lang="en-US" altLang="zh-CN" sz="1100"/>
              <a:t>Since the cache size is 1K byte, the upper 32 minus 10 bits, or 22 bits of the address will be stored as cache tag.</a:t>
            </a:r>
          </a:p>
          <a:p>
            <a:pPr defTabSz="877888"/>
            <a:r>
              <a:rPr lang="en-US" altLang="zh-CN" sz="1100"/>
              <a:t>The rest of the address bits in the middle, that is bit 5 through 9, will be used as Cache Index to select the proper cache entry.</a:t>
            </a:r>
          </a:p>
          <a:p>
            <a:pPr defTabSz="877888"/>
            <a:endParaRPr lang="en-US" altLang="zh-CN" sz="1100"/>
          </a:p>
          <a:p>
            <a:pPr defTabSz="877888"/>
            <a:r>
              <a:rPr lang="en-US" altLang="zh-CN" sz="1100"/>
              <a:t>+2 = 30 min. (Y:10)</a:t>
            </a:r>
          </a:p>
        </p:txBody>
      </p:sp>
      <p:sp>
        <p:nvSpPr>
          <p:cNvPr id="16387"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921465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CED027-5C4B-479D-8A07-DAEE61B53526}" type="slidenum">
              <a:rPr lang="en-US" altLang="zh-CN"/>
              <a:pPr/>
              <a:t>42</a:t>
            </a:fld>
            <a:endParaRPr lang="en-US" altLang="zh-CN"/>
          </a:p>
        </p:txBody>
      </p:sp>
      <p:sp>
        <p:nvSpPr>
          <p:cNvPr id="18434" name="Rectangle 2"/>
          <p:cNvSpPr>
            <a:spLocks noGrp="1" noChangeArrowheads="1"/>
          </p:cNvSpPr>
          <p:nvPr>
            <p:ph type="body" idx="1"/>
          </p:nvPr>
        </p:nvSpPr>
        <p:spPr>
          <a:xfrm>
            <a:off x="1252538" y="4343400"/>
            <a:ext cx="4279900"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88900" tIns="44450" rIns="88900" bIns="44450"/>
          <a:lstStyle/>
          <a:p>
            <a:pPr defTabSz="877888"/>
            <a:r>
              <a:rPr lang="en-US" altLang="zh-CN" sz="1100"/>
              <a:t>This is called a 2-way set associative cache because there are two cache entries for each cache index.  Essentially, you have two direct mapped cache works in parallel.</a:t>
            </a:r>
          </a:p>
          <a:p>
            <a:pPr defTabSz="877888"/>
            <a:r>
              <a:rPr lang="en-US" altLang="zh-CN" sz="1100"/>
              <a:t>This is how it works: the cache index selects a set from the cache. The two tags in the set are compared in parallel with the upper bits of the memory address.</a:t>
            </a:r>
          </a:p>
          <a:p>
            <a:pPr defTabSz="877888"/>
            <a:r>
              <a:rPr lang="en-US" altLang="zh-CN" sz="1100"/>
              <a:t>If neither tag matches the incoming address tag, we have a cache miss.</a:t>
            </a:r>
          </a:p>
          <a:p>
            <a:pPr defTabSz="877888"/>
            <a:r>
              <a:rPr lang="en-US" altLang="zh-CN" sz="1100"/>
              <a:t>Otherwise, we have a cache hit and we will select the data on the side where the tag matches occur.</a:t>
            </a:r>
          </a:p>
          <a:p>
            <a:pPr defTabSz="877888"/>
            <a:r>
              <a:rPr lang="en-US" altLang="zh-CN" sz="1100"/>
              <a:t>This is simple enough.  What is its disadvantages?</a:t>
            </a:r>
          </a:p>
          <a:p>
            <a:pPr defTabSz="877888"/>
            <a:endParaRPr lang="en-US" altLang="zh-CN" sz="1100"/>
          </a:p>
          <a:p>
            <a:pPr defTabSz="877888"/>
            <a:r>
              <a:rPr lang="en-US" altLang="zh-CN" sz="1100"/>
              <a:t>+1 = 36 min. (Y:16)</a:t>
            </a:r>
          </a:p>
          <a:p>
            <a:pPr defTabSz="877888"/>
            <a:endParaRPr lang="en-US" altLang="zh-CN" sz="1100"/>
          </a:p>
        </p:txBody>
      </p:sp>
      <p:sp>
        <p:nvSpPr>
          <p:cNvPr id="18435"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172408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47D5C6-40E6-4C24-BA0E-B62D4FC2DA8E}" type="slidenum">
              <a:rPr lang="en-US" altLang="zh-CN"/>
              <a:pPr/>
              <a:t>43</a:t>
            </a:fld>
            <a:endParaRPr lang="en-US" altLang="zh-CN"/>
          </a:p>
        </p:txBody>
      </p:sp>
      <p:sp>
        <p:nvSpPr>
          <p:cNvPr id="20482" name="Rectangle 2"/>
          <p:cNvSpPr>
            <a:spLocks noGrp="1" noChangeArrowheads="1"/>
          </p:cNvSpPr>
          <p:nvPr>
            <p:ph type="body" idx="1"/>
          </p:nvPr>
        </p:nvSpPr>
        <p:spPr>
          <a:xfrm>
            <a:off x="1252538" y="4343400"/>
            <a:ext cx="4279900"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88900" tIns="44450" rIns="88900" bIns="44450"/>
          <a:lstStyle/>
          <a:p>
            <a:pPr defTabSz="877888"/>
            <a:r>
              <a:rPr lang="en-US" altLang="zh-CN" sz="1100"/>
              <a:t>First of all, a N-way set associative cache will need N comparators instead of just one comparator (use the right side of the diagram for direct mapped cache).</a:t>
            </a:r>
          </a:p>
          <a:p>
            <a:pPr defTabSz="877888"/>
            <a:r>
              <a:rPr lang="en-US" altLang="zh-CN" sz="1100"/>
              <a:t>A N-way set associative cache will also be slower than a direct mapped cache because of this extra multiplexer delay.</a:t>
            </a:r>
          </a:p>
          <a:p>
            <a:pPr defTabSz="877888"/>
            <a:r>
              <a:rPr lang="en-US" altLang="zh-CN" sz="1100"/>
              <a:t>Finally, for a N-way set associative cache, the data will be available AFTER the hit/miss signal becomes valid because the hit/mis is needed to control the data MUX.</a:t>
            </a:r>
          </a:p>
          <a:p>
            <a:pPr defTabSz="877888"/>
            <a:r>
              <a:rPr lang="en-US" altLang="zh-CN" sz="1100"/>
              <a:t>For a direct mapped cache, that is everything before the MUX on the right or left side, the cache block will be available BEFORE the hit/miss signal (AND gate output) because the data does not have to go through the comparator.</a:t>
            </a:r>
          </a:p>
          <a:p>
            <a:pPr defTabSz="877888"/>
            <a:r>
              <a:rPr lang="en-US" altLang="zh-CN" sz="1100"/>
              <a:t>This can be an important consideration because the processor can now go ahead and use the data  without  knowing if it is a Hit or Miss.  Just assume it is a hit.</a:t>
            </a:r>
          </a:p>
          <a:p>
            <a:pPr defTabSz="877888"/>
            <a:r>
              <a:rPr lang="en-US" altLang="zh-CN" sz="1100"/>
              <a:t>Since cache hit rate is in the upper 90% range, you will be ahead of the game 90% of the time and for those 10% of the time that you  are wrong,  just make sure you can recover.</a:t>
            </a:r>
          </a:p>
          <a:p>
            <a:pPr defTabSz="877888"/>
            <a:r>
              <a:rPr lang="en-US" altLang="zh-CN" sz="1100"/>
              <a:t>You cannot play this speculation game with a N-way set-associatvie cache because as I said earlier, the data will not be available to you until the hit/miss signal is valid.</a:t>
            </a:r>
          </a:p>
          <a:p>
            <a:pPr defTabSz="877888"/>
            <a:endParaRPr lang="en-US" altLang="zh-CN" sz="1100"/>
          </a:p>
          <a:p>
            <a:pPr defTabSz="877888"/>
            <a:r>
              <a:rPr lang="en-US" altLang="zh-CN" sz="1100"/>
              <a:t>+2 = 38 min. (Y:18)</a:t>
            </a:r>
          </a:p>
          <a:p>
            <a:pPr defTabSz="877888"/>
            <a:endParaRPr lang="en-US" altLang="zh-CN" sz="1100"/>
          </a:p>
        </p:txBody>
      </p:sp>
      <p:sp>
        <p:nvSpPr>
          <p:cNvPr id="20483"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9585467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45</a:t>
            </a:fld>
            <a:endParaRPr lang="en-US" altLang="zh-CN"/>
          </a:p>
        </p:txBody>
      </p:sp>
    </p:spTree>
    <p:extLst>
      <p:ext uri="{BB962C8B-B14F-4D97-AF65-F5344CB8AC3E}">
        <p14:creationId xmlns:p14="http://schemas.microsoft.com/office/powerpoint/2010/main" val="20509220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6C4887-0B01-41B7-BCA3-56A829EB6E5E}" type="slidenum">
              <a:rPr lang="en-US" altLang="zh-CN"/>
              <a:pPr/>
              <a:t>49</a:t>
            </a:fld>
            <a:endParaRPr lang="en-US" altLang="zh-CN"/>
          </a:p>
        </p:txBody>
      </p:sp>
      <p:sp>
        <p:nvSpPr>
          <p:cNvPr id="27650" name="Rectangle 2"/>
          <p:cNvSpPr>
            <a:spLocks noGrp="1" noChangeArrowheads="1"/>
          </p:cNvSpPr>
          <p:nvPr>
            <p:ph type="body" idx="1"/>
          </p:nvPr>
        </p:nvSpPr>
        <p:spPr>
          <a:xfrm>
            <a:off x="1252538" y="4343400"/>
            <a:ext cx="4279900"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88900" tIns="44450" rIns="88900" bIns="44450"/>
          <a:lstStyle/>
          <a:p>
            <a:pPr defTabSz="877888"/>
            <a:r>
              <a:rPr lang="en-US" altLang="zh-CN" sz="1100" dirty="0"/>
              <a:t>You are right, memory is too slow.  We really didn't writ e to the memory directly.  We are writing to a write buffer.</a:t>
            </a:r>
          </a:p>
          <a:p>
            <a:pPr defTabSz="877888"/>
            <a:r>
              <a:rPr lang="en-US" altLang="zh-CN" sz="1100" dirty="0"/>
              <a:t>Once the data is written into the write buffer and assuming a cache hit, the CPU is done with the write. The memory controller will then move the write buffer</a:t>
            </a:r>
            <a:r>
              <a:rPr lang="zh-CN" altLang="en-US" sz="1100" dirty="0"/>
              <a:t>抯 </a:t>
            </a:r>
            <a:r>
              <a:rPr lang="en-US" altLang="zh-CN" sz="1100" dirty="0"/>
              <a:t>contents to the real memory  behind the scene.</a:t>
            </a:r>
          </a:p>
          <a:p>
            <a:pPr defTabSz="877888"/>
            <a:r>
              <a:rPr lang="en-US" altLang="zh-CN" sz="1100" dirty="0"/>
              <a:t>The write buffer works as long as the frequency of store is not too high.  Notice here, I am referring to the frequency with respect to time, not with respect to number of instructions.</a:t>
            </a:r>
          </a:p>
          <a:p>
            <a:pPr defTabSz="877888"/>
            <a:r>
              <a:rPr lang="en-US" altLang="zh-CN" sz="1100" dirty="0"/>
              <a:t>Remember the DRAM cycle time we talked about last time.  It sets the upper limit on how frequent you can write to the main memory.</a:t>
            </a:r>
          </a:p>
          <a:p>
            <a:pPr defTabSz="877888"/>
            <a:r>
              <a:rPr lang="en-US" altLang="zh-CN" sz="1100" dirty="0"/>
              <a:t>If the store are too close together or the CPU time is so much faster than the DRAM cycle time, you can end up overflowing the write buffer and the CPU must stop and wait.</a:t>
            </a:r>
          </a:p>
          <a:p>
            <a:pPr defTabSz="877888"/>
            <a:endParaRPr lang="en-US" altLang="zh-CN" sz="1100" dirty="0"/>
          </a:p>
          <a:p>
            <a:pPr defTabSz="877888"/>
            <a:r>
              <a:rPr lang="en-US" altLang="zh-CN" sz="1100" dirty="0"/>
              <a:t>+2 = 60 min. (Y:40)</a:t>
            </a:r>
          </a:p>
        </p:txBody>
      </p:sp>
      <p:sp>
        <p:nvSpPr>
          <p:cNvPr id="27651"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1055460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50</a:t>
            </a:fld>
            <a:endParaRPr lang="en-US" altLang="zh-CN"/>
          </a:p>
        </p:txBody>
      </p:sp>
    </p:spTree>
    <p:extLst>
      <p:ext uri="{BB962C8B-B14F-4D97-AF65-F5344CB8AC3E}">
        <p14:creationId xmlns:p14="http://schemas.microsoft.com/office/powerpoint/2010/main" val="2214771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F989C6-B4D4-4D7F-AD08-1A81197DD546}" type="slidenum">
              <a:rPr lang="en-US" altLang="zh-CN"/>
              <a:pPr/>
              <a:t>55</a:t>
            </a:fld>
            <a:endParaRPr lang="en-US" altLang="zh-CN"/>
          </a:p>
        </p:txBody>
      </p:sp>
      <p:sp>
        <p:nvSpPr>
          <p:cNvPr id="36866" name="Rectangle 2"/>
          <p:cNvSpPr>
            <a:spLocks noGrp="1" noChangeArrowheads="1"/>
          </p:cNvSpPr>
          <p:nvPr>
            <p:ph type="body" idx="1"/>
          </p:nvPr>
        </p:nvSpPr>
        <p:spPr>
          <a:xfrm>
            <a:off x="1254125" y="4343400"/>
            <a:ext cx="4278313" cy="4114800"/>
          </a:xfrm>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zh-CN" altLang="zh-CN"/>
          </a:p>
        </p:txBody>
      </p:sp>
      <p:sp>
        <p:nvSpPr>
          <p:cNvPr id="36867"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8998279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928DD3-F604-4AF4-ADC1-9959CF3D926D}" type="slidenum">
              <a:rPr lang="en-US" altLang="zh-CN"/>
              <a:pPr/>
              <a:t>58</a:t>
            </a:fld>
            <a:endParaRPr lang="en-US" altLang="zh-CN"/>
          </a:p>
        </p:txBody>
      </p:sp>
      <p:sp>
        <p:nvSpPr>
          <p:cNvPr id="38914" name="Rectangle 2"/>
          <p:cNvSpPr>
            <a:spLocks noGrp="1" noChangeArrowheads="1"/>
          </p:cNvSpPr>
          <p:nvPr>
            <p:ph type="body" idx="1"/>
          </p:nvPr>
        </p:nvSpPr>
        <p:spPr>
          <a:xfrm>
            <a:off x="1254125" y="4343400"/>
            <a:ext cx="4278313" cy="4114800"/>
          </a:xfrm>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zh-CN" altLang="zh-CN"/>
          </a:p>
        </p:txBody>
      </p:sp>
      <p:sp>
        <p:nvSpPr>
          <p:cNvPr id="38915"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9414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6C8F79-F762-43D6-BB1B-79F0C7071377}" type="slidenum">
              <a:rPr lang="en-US" altLang="zh-CN"/>
              <a:pPr/>
              <a:t>61</a:t>
            </a:fld>
            <a:endParaRPr lang="en-US" altLang="zh-CN"/>
          </a:p>
        </p:txBody>
      </p:sp>
      <p:sp>
        <p:nvSpPr>
          <p:cNvPr id="40962" name="Rectangle 2"/>
          <p:cNvSpPr>
            <a:spLocks noGrp="1" noChangeArrowheads="1"/>
          </p:cNvSpPr>
          <p:nvPr>
            <p:ph type="body" idx="1"/>
          </p:nvPr>
        </p:nvSpPr>
        <p:spPr>
          <a:xfrm>
            <a:off x="1254125" y="4343400"/>
            <a:ext cx="4278313" cy="4114800"/>
          </a:xfrm>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zh-CN" altLang="zh-CN"/>
          </a:p>
        </p:txBody>
      </p:sp>
      <p:sp>
        <p:nvSpPr>
          <p:cNvPr id="40963"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167322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62</a:t>
            </a:fld>
            <a:endParaRPr lang="en-US" altLang="zh-CN"/>
          </a:p>
        </p:txBody>
      </p:sp>
    </p:spTree>
    <p:extLst>
      <p:ext uri="{BB962C8B-B14F-4D97-AF65-F5344CB8AC3E}">
        <p14:creationId xmlns:p14="http://schemas.microsoft.com/office/powerpoint/2010/main" val="30056283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C082FA-F7F7-44B2-9AA1-6B13B070DF82}" type="slidenum">
              <a:rPr lang="en-US" altLang="zh-CN"/>
              <a:pPr/>
              <a:t>65</a:t>
            </a:fld>
            <a:endParaRPr lang="en-US" altLang="zh-CN"/>
          </a:p>
        </p:txBody>
      </p:sp>
      <p:sp>
        <p:nvSpPr>
          <p:cNvPr id="51202"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zh-CN" dirty="0"/>
          </a:p>
          <a:p>
            <a:r>
              <a:rPr lang="en-US" altLang="zh-CN" dirty="0"/>
              <a:t>No fancy replacement policy is needed for the direct mapped cache. </a:t>
            </a:r>
          </a:p>
          <a:p>
            <a:r>
              <a:rPr lang="en-US" altLang="zh-CN" dirty="0"/>
              <a:t>As a matter of fact, that is what cause direct mapped trouble to begin with: only one place to go in the cache--causes conflict misses.</a:t>
            </a:r>
          </a:p>
          <a:p>
            <a:endParaRPr lang="en-US" altLang="zh-CN" dirty="0"/>
          </a:p>
          <a:p>
            <a:r>
              <a:rPr lang="en-US" altLang="zh-CN" dirty="0"/>
              <a:t>No fancy replacement policy is needed for the direct mapped cache. </a:t>
            </a:r>
          </a:p>
          <a:p>
            <a:r>
              <a:rPr lang="en-US" altLang="zh-CN" dirty="0"/>
              <a:t>As a matter of fact, that is what cause direct mapped trouble to begin with: only one place to go in the cache--causes conflict misses.</a:t>
            </a:r>
          </a:p>
          <a:p>
            <a:endParaRPr lang="en-US" altLang="zh-CN" dirty="0"/>
          </a:p>
          <a:p>
            <a:r>
              <a:rPr lang="en-US" altLang="zh-CN" dirty="0"/>
              <a:t>Besides working at Sun, I also teach people how to fly whenever I have time.</a:t>
            </a:r>
          </a:p>
          <a:p>
            <a:r>
              <a:rPr lang="en-US" altLang="zh-CN" dirty="0"/>
              <a:t>Statistic have shown that if a pilot crashed after an engine failure, he or she is more likely to get killed in a multi-engine light airplane than a single engine airplane.</a:t>
            </a:r>
          </a:p>
          <a:p>
            <a:r>
              <a:rPr lang="en-US" altLang="zh-CN" dirty="0"/>
              <a:t>The joke among us flight instructors is that: sure, when the engine quit in a single engine stops, you have one option: sooner or later, you land.  Probably sooner.</a:t>
            </a:r>
          </a:p>
          <a:p>
            <a:r>
              <a:rPr lang="en-US" altLang="zh-CN" dirty="0"/>
              <a:t>But in a multi-engine airplane with one engine stops, you have a lot of options.  It is the need to make a decision that kills those people.</a:t>
            </a:r>
          </a:p>
          <a:p>
            <a:endParaRPr lang="en-US" altLang="zh-CN" dirty="0"/>
          </a:p>
        </p:txBody>
      </p:sp>
      <p:sp>
        <p:nvSpPr>
          <p:cNvPr id="51203"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1924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E86C44-DC3D-4FC5-BE92-401F25A82991}" type="slidenum">
              <a:rPr lang="en-US" altLang="zh-CN"/>
              <a:pPr/>
              <a:t>66</a:t>
            </a:fld>
            <a:endParaRPr lang="en-US" altLang="zh-CN"/>
          </a:p>
        </p:txBody>
      </p:sp>
      <p:sp>
        <p:nvSpPr>
          <p:cNvPr id="53250" name="Rectangle 2"/>
          <p:cNvSpPr>
            <a:spLocks noGrp="1" noChangeArrowheads="1"/>
          </p:cNvSpPr>
          <p:nvPr>
            <p:ph type="body" idx="1"/>
          </p:nvPr>
        </p:nvSpPr>
        <p:spPr>
          <a:xfrm>
            <a:off x="1254125" y="4343400"/>
            <a:ext cx="427831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zh-CN" dirty="0" smtClean="0"/>
              <a:t>Let’s do </a:t>
            </a:r>
            <a:r>
              <a:rPr lang="en-US" altLang="zh-CN" dirty="0"/>
              <a:t>a short review of what you learned last time.</a:t>
            </a:r>
          </a:p>
          <a:p>
            <a:r>
              <a:rPr lang="en-US" altLang="zh-CN" dirty="0"/>
              <a:t>Virtual memory was originally invented as another level of memory hierarchy such that </a:t>
            </a:r>
            <a:r>
              <a:rPr lang="en-US" altLang="zh-CN" dirty="0" err="1"/>
              <a:t>programers</a:t>
            </a:r>
            <a:r>
              <a:rPr lang="en-US" altLang="zh-CN" dirty="0"/>
              <a:t>, faced with main memory much smaller than their programs, do not have to manage the loading and unloading portions of their program in and out of memory.</a:t>
            </a:r>
          </a:p>
          <a:p>
            <a:r>
              <a:rPr lang="en-US" altLang="zh-CN" dirty="0"/>
              <a:t>It was a controversial proposal at that time because very few </a:t>
            </a:r>
            <a:r>
              <a:rPr lang="en-US" altLang="zh-CN" dirty="0" err="1"/>
              <a:t>programers</a:t>
            </a:r>
            <a:r>
              <a:rPr lang="en-US" altLang="zh-CN" dirty="0"/>
              <a:t> believed software can manage the limited amount of memory resource as well as human.</a:t>
            </a:r>
          </a:p>
          <a:p>
            <a:r>
              <a:rPr lang="en-US" altLang="zh-CN" dirty="0"/>
              <a:t>This all changed as DRAM size grows exponentially in the last few decades.</a:t>
            </a:r>
          </a:p>
          <a:p>
            <a:r>
              <a:rPr lang="en-US" altLang="zh-CN" dirty="0"/>
              <a:t>Nowadays, the main function of virtual memory is to allow multiple processes to share the same main memory so we don</a:t>
            </a:r>
            <a:r>
              <a:rPr lang="zh-CN" altLang="en-US" dirty="0"/>
              <a:t>抰 </a:t>
            </a:r>
            <a:r>
              <a:rPr lang="en-US" altLang="zh-CN" dirty="0"/>
              <a:t>have to swap all the non-active processes to disk.</a:t>
            </a:r>
          </a:p>
          <a:p>
            <a:r>
              <a:rPr lang="en-US" altLang="zh-CN" dirty="0"/>
              <a:t>Consequently, the most important function of virtual memory these days is to provide memory protection.</a:t>
            </a:r>
          </a:p>
          <a:p>
            <a:r>
              <a:rPr lang="en-US" altLang="zh-CN" dirty="0"/>
              <a:t>The most common technique, but we like to emphasis not the only technique, to translate virtual memory address to physical memory address is to use a page table.</a:t>
            </a:r>
          </a:p>
          <a:p>
            <a:r>
              <a:rPr lang="en-US" altLang="zh-CN" dirty="0"/>
              <a:t>TLB, or translation lookaside buffer, is one of the most popular hardware techniques to reduce address translation time.</a:t>
            </a:r>
          </a:p>
          <a:p>
            <a:r>
              <a:rPr lang="en-US" altLang="zh-CN" dirty="0"/>
              <a:t>Since TLB is so effective in reducing the address translation time, what this means is that TLB misses will have a significant negative impact on processor performance.</a:t>
            </a:r>
          </a:p>
          <a:p>
            <a:endParaRPr lang="en-US" altLang="zh-CN" dirty="0"/>
          </a:p>
          <a:p>
            <a:r>
              <a:rPr lang="en-US" altLang="zh-CN" dirty="0"/>
              <a:t>+3 = 3 min. (X:43)</a:t>
            </a:r>
          </a:p>
        </p:txBody>
      </p:sp>
      <p:sp>
        <p:nvSpPr>
          <p:cNvPr id="53251"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7273203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30B8EB-B7D5-4621-B464-9C736A38C389}" type="slidenum">
              <a:rPr lang="en-US" altLang="zh-CN"/>
              <a:pPr/>
              <a:t>67</a:t>
            </a:fld>
            <a:endParaRPr lang="en-US" altLang="zh-CN"/>
          </a:p>
        </p:txBody>
      </p:sp>
      <p:sp>
        <p:nvSpPr>
          <p:cNvPr id="55298" name="Rectangle 2"/>
          <p:cNvSpPr>
            <a:spLocks noGrp="1" noChangeArrowheads="1"/>
          </p:cNvSpPr>
          <p:nvPr>
            <p:ph type="body" idx="1"/>
          </p:nvPr>
        </p:nvSpPr>
        <p:spPr>
          <a:xfrm>
            <a:off x="1254125" y="4343400"/>
            <a:ext cx="427831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zh-CN" dirty="0"/>
              <a:t>Let</a:t>
            </a:r>
            <a:r>
              <a:rPr lang="zh-CN" altLang="en-US" dirty="0"/>
              <a:t>抯 </a:t>
            </a:r>
            <a:r>
              <a:rPr lang="en-US" altLang="zh-CN" dirty="0"/>
              <a:t>do a short review of what you learned last time.</a:t>
            </a:r>
          </a:p>
          <a:p>
            <a:r>
              <a:rPr lang="en-US" altLang="zh-CN" dirty="0"/>
              <a:t>Virtual memory was originally invented as another level of memory hierarchy such that </a:t>
            </a:r>
            <a:r>
              <a:rPr lang="en-US" altLang="zh-CN" dirty="0" err="1"/>
              <a:t>programers</a:t>
            </a:r>
            <a:r>
              <a:rPr lang="en-US" altLang="zh-CN" dirty="0"/>
              <a:t>, faced with main memory much smaller than their programs, do not have to manage the loading and unloading portions of their program in and out of memory.</a:t>
            </a:r>
          </a:p>
          <a:p>
            <a:r>
              <a:rPr lang="en-US" altLang="zh-CN" dirty="0"/>
              <a:t>It was a controversial proposal at that time because very few </a:t>
            </a:r>
            <a:r>
              <a:rPr lang="en-US" altLang="zh-CN" dirty="0" err="1"/>
              <a:t>programers</a:t>
            </a:r>
            <a:r>
              <a:rPr lang="en-US" altLang="zh-CN" dirty="0"/>
              <a:t> believed software can manage the limited amount of memory resource as well as human.</a:t>
            </a:r>
          </a:p>
          <a:p>
            <a:r>
              <a:rPr lang="en-US" altLang="zh-CN" dirty="0"/>
              <a:t>This all changed as DRAM size grows exponentially in the last few decades.</a:t>
            </a:r>
          </a:p>
          <a:p>
            <a:r>
              <a:rPr lang="en-US" altLang="zh-CN" dirty="0"/>
              <a:t>Nowadays, the main function of virtual memory is to allow multiple processes to share the same main memory so we don</a:t>
            </a:r>
            <a:r>
              <a:rPr lang="zh-CN" altLang="en-US" dirty="0"/>
              <a:t>抰 </a:t>
            </a:r>
            <a:r>
              <a:rPr lang="en-US" altLang="zh-CN" dirty="0"/>
              <a:t>have to swap all the non-active processes to disk.</a:t>
            </a:r>
          </a:p>
          <a:p>
            <a:r>
              <a:rPr lang="en-US" altLang="zh-CN" dirty="0"/>
              <a:t>Consequently, the most important function of virtual memory these days is to provide memory protection.</a:t>
            </a:r>
          </a:p>
          <a:p>
            <a:r>
              <a:rPr lang="en-US" altLang="zh-CN" dirty="0"/>
              <a:t>The most common technique, but we like to emphasis not the only technique, to translate virtual memory address to physical memory address is to use a page table.</a:t>
            </a:r>
          </a:p>
          <a:p>
            <a:r>
              <a:rPr lang="en-US" altLang="zh-CN" dirty="0"/>
              <a:t>TLB, or translation lookaside buffer, is one of the most popular hardware techniques to reduce address translation time.</a:t>
            </a:r>
          </a:p>
          <a:p>
            <a:r>
              <a:rPr lang="en-US" altLang="zh-CN" dirty="0"/>
              <a:t>Since TLB is so effective in reducing the address translation time, what this means is that TLB misses will have a significant negative impact on processor performance.</a:t>
            </a:r>
          </a:p>
          <a:p>
            <a:endParaRPr lang="en-US" altLang="zh-CN" dirty="0"/>
          </a:p>
          <a:p>
            <a:r>
              <a:rPr lang="en-US" altLang="zh-CN" dirty="0"/>
              <a:t>+3 = 3 min. (X:43)</a:t>
            </a:r>
          </a:p>
        </p:txBody>
      </p:sp>
      <p:sp>
        <p:nvSpPr>
          <p:cNvPr id="55299" name="Rectangle 3"/>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279464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body" idx="1"/>
          </p:nvPr>
        </p:nvSpPr>
        <p:spPr>
          <a:noFill/>
          <a:ln/>
        </p:spPr>
        <p:txBody>
          <a:bodyPr lIns="92017" rIns="92017"/>
          <a:lstStyle/>
          <a:p>
            <a:r>
              <a:rPr lang="en-US" altLang="zh-CN"/>
              <a:t>Intuitive Model by Mark Hill</a:t>
            </a:r>
          </a:p>
          <a:p>
            <a:endParaRPr lang="zh-CN" altLang="zh-CN"/>
          </a:p>
        </p:txBody>
      </p:sp>
      <p:sp>
        <p:nvSpPr>
          <p:cNvPr id="58061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0687379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body" idx="1"/>
          </p:nvPr>
        </p:nvSpPr>
        <p:spPr>
          <a:noFill/>
          <a:ln/>
        </p:spPr>
        <p:txBody>
          <a:bodyPr lIns="92017" rIns="92017"/>
          <a:lstStyle/>
          <a:p>
            <a:r>
              <a:rPr lang="en-US" altLang="zh-CN"/>
              <a:t>Ask which affected?</a:t>
            </a:r>
          </a:p>
          <a:p>
            <a:r>
              <a:rPr lang="en-US" altLang="zh-CN"/>
              <a:t/>
            </a:r>
            <a:br>
              <a:rPr lang="en-US" altLang="zh-CN"/>
            </a:br>
            <a:r>
              <a:rPr lang="en-US" altLang="zh-CN"/>
              <a:t>Block size</a:t>
            </a:r>
          </a:p>
          <a:p>
            <a:r>
              <a:rPr lang="en-US" altLang="zh-CN"/>
              <a:t>1) Compulsory</a:t>
            </a:r>
          </a:p>
          <a:p>
            <a:r>
              <a:rPr lang="en-US" altLang="zh-CN"/>
              <a:t>2) More subtle, will change mapping</a:t>
            </a:r>
          </a:p>
          <a:p>
            <a:endParaRPr lang="en-US" altLang="zh-CN"/>
          </a:p>
          <a:p>
            <a:endParaRPr lang="zh-CN" altLang="zh-CN"/>
          </a:p>
        </p:txBody>
      </p:sp>
      <p:sp>
        <p:nvSpPr>
          <p:cNvPr id="58573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5383973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941795F-4311-492E-839E-ED8E52AE8AFE}"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80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7917695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04A17DF9-94FA-4B52-AF7B-0882844E5767}"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81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689695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A2533EC-9608-4E95-B2D3-90C34D35FA2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85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912162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7C490BBB-9878-466C-85DE-C93A07BC8DE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7288417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105</a:t>
            </a:fld>
            <a:endParaRPr lang="en-US" altLang="zh-CN"/>
          </a:p>
        </p:txBody>
      </p:sp>
    </p:spTree>
    <p:extLst>
      <p:ext uri="{BB962C8B-B14F-4D97-AF65-F5344CB8AC3E}">
        <p14:creationId xmlns:p14="http://schemas.microsoft.com/office/powerpoint/2010/main" val="4234608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218C96C-A268-4A7F-875E-F29323DFF3B8}"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106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8977217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115</a:t>
            </a:fld>
            <a:endParaRPr lang="en-US" altLang="zh-CN"/>
          </a:p>
        </p:txBody>
      </p:sp>
    </p:spTree>
    <p:extLst>
      <p:ext uri="{BB962C8B-B14F-4D97-AF65-F5344CB8AC3E}">
        <p14:creationId xmlns:p14="http://schemas.microsoft.com/office/powerpoint/2010/main" val="30842076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3392849-FB21-4505-8961-47A20793CC7E}"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0239621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82A41E7A-92F9-4800-A13C-F76FA207A723}"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126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6796365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body" idx="1"/>
          </p:nvPr>
        </p:nvSpPr>
        <p:spPr>
          <a:noFill/>
          <a:ln/>
        </p:spPr>
        <p:txBody>
          <a:bodyPr/>
          <a:lstStyle/>
          <a:p>
            <a:r>
              <a:rPr lang="en-US" altLang="zh-CN"/>
              <a:t>Answer is 3 stages between branch and new instruction fetch and 2 stages between load and use (even though if looked at red insertions that it would be 3 for load and 2 for branch)</a:t>
            </a:r>
          </a:p>
          <a:p>
            <a:r>
              <a:rPr lang="en-US" altLang="zh-CN"/>
              <a:t>Reasons:</a:t>
            </a:r>
          </a:p>
          <a:p>
            <a:r>
              <a:rPr lang="en-US" altLang="zh-CN"/>
              <a:t>1) Load: TC just does tag check, data available after DS; thus supply the data &amp; forward it, restarting the pipeline on a data cache miss</a:t>
            </a:r>
          </a:p>
          <a:p>
            <a:r>
              <a:rPr lang="en-US" altLang="zh-CN"/>
              <a:t>2) EX phase does the address calculation even though just added one phase; presumed reason is that since want fast clockc cycle don’t want to sitck RF phase with reading regisers AND testing for zero, so just moved it back on phase</a:t>
            </a:r>
          </a:p>
        </p:txBody>
      </p:sp>
      <p:sp>
        <p:nvSpPr>
          <p:cNvPr id="68813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8775365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body" idx="1"/>
          </p:nvPr>
        </p:nvSpPr>
        <p:spPr>
          <a:noFill/>
          <a:ln/>
        </p:spPr>
        <p:txBody>
          <a:bodyPr/>
          <a:lstStyle/>
          <a:p>
            <a:r>
              <a:rPr lang="en-US" altLang="zh-CN"/>
              <a:t>Integer programs, major delay is branch stalls</a:t>
            </a:r>
          </a:p>
          <a:p>
            <a:endParaRPr lang="en-US" altLang="zh-CN"/>
          </a:p>
          <a:p>
            <a:r>
              <a:rPr lang="en-US" altLang="zh-CN"/>
              <a:t>FP its structural stalls</a:t>
            </a:r>
          </a:p>
        </p:txBody>
      </p:sp>
      <p:sp>
        <p:nvSpPr>
          <p:cNvPr id="69120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2976185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759BB51C-A1FD-43DE-AEAF-AD2B58AA388F}"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130</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584736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8A3F281-E933-4E6C-A3D1-39F4647C70C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131</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0167103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8A3F281-E933-4E6C-A3D1-39F4647C70C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8544950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8A3F281-E933-4E6C-A3D1-39F4647C70C0}"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9456949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127F39E-B6E1-44D2-B88F-A1CFB74F583A}" type="datetime3">
              <a:rPr lang="en-US" smtClean="0"/>
              <a:t>13 October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136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92378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447800"/>
            <a:ext cx="5350933" cy="46101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联机映像占位符 3"/>
          <p:cNvSpPr>
            <a:spLocks noGrp="1"/>
          </p:cNvSpPr>
          <p:nvPr>
            <p:ph type="clipArt" sz="half" idx="2"/>
          </p:nvPr>
        </p:nvSpPr>
        <p:spPr>
          <a:xfrm>
            <a:off x="6163734" y="1447800"/>
            <a:ext cx="5350933" cy="4610100"/>
          </a:xfrm>
        </p:spPr>
        <p:txBody>
          <a:bodyPr/>
          <a:lstStyle/>
          <a:p>
            <a:endParaRPr lang="zh-CN" altLang="en-US"/>
          </a:p>
        </p:txBody>
      </p:sp>
    </p:spTree>
    <p:extLst>
      <p:ext uri="{BB962C8B-B14F-4D97-AF65-F5344CB8AC3E}">
        <p14:creationId xmlns:p14="http://schemas.microsoft.com/office/powerpoint/2010/main" val="1061938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Copyright © 2019, Elsevier Inc. All rights Reserved</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9"/>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 id="2147483725" r:id="rId7"/>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2.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3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8.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30.wmf"/></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0.w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51.wmf"/></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52.wm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2.wm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63.wmf"/><Relationship Id="rId4" Type="http://schemas.openxmlformats.org/officeDocument/2006/relationships/oleObject" Target="../embeddings/oleObject11.bin"/></Relationships>
</file>

<file path=ppt/slides/_rels/slide13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t>存储器的</a:t>
            </a:r>
            <a:r>
              <a:rPr lang="zh-CN" altLang="en-US" dirty="0" smtClean="0"/>
              <a:t>层次结构</a:t>
            </a:r>
            <a:endParaRPr lang="zh-CN" altLang="en-US" dirty="0"/>
          </a:p>
        </p:txBody>
      </p:sp>
      <p:sp>
        <p:nvSpPr>
          <p:cNvPr id="2051" name="Rectangle 3"/>
          <p:cNvSpPr>
            <a:spLocks noGrp="1" noChangeArrowheads="1"/>
          </p:cNvSpPr>
          <p:nvPr>
            <p:ph type="subTitle" idx="1"/>
          </p:nvPr>
        </p:nvSpPr>
        <p:spPr/>
        <p:txBody>
          <a:bodyPr/>
          <a:lstStyle/>
          <a:p>
            <a:r>
              <a:rPr lang="zh-CN" altLang="en-US" sz="3200" dirty="0" smtClean="0"/>
              <a:t>存储器层次的基本概念</a:t>
            </a:r>
            <a:endParaRPr lang="en-US" altLang="zh-CN" sz="3200" dirty="0" smtClean="0"/>
          </a:p>
          <a:p>
            <a:r>
              <a:rPr lang="en-US" altLang="zh-CN" sz="3200" dirty="0" smtClean="0"/>
              <a:t>DRAM</a:t>
            </a:r>
            <a:r>
              <a:rPr lang="zh-CN" altLang="en-US" sz="3200" dirty="0" smtClean="0"/>
              <a:t>芯片的持续发展</a:t>
            </a:r>
            <a:endParaRPr lang="en-US" altLang="zh-CN" sz="3200" dirty="0" smtClean="0"/>
          </a:p>
          <a:p>
            <a:r>
              <a:rPr lang="zh-CN" altLang="en-US" sz="3200" dirty="0" smtClean="0"/>
              <a:t>主存储器组织结构</a:t>
            </a:r>
            <a:endParaRPr lang="en-US" altLang="zh-CN" sz="3200" dirty="0" smtClean="0"/>
          </a:p>
          <a:p>
            <a:r>
              <a:rPr lang="zh-CN" altLang="en-US" sz="3200" dirty="0"/>
              <a:t>高速缓存</a:t>
            </a:r>
            <a:endParaRPr lang="en-US" altLang="zh-CN" sz="3200" dirty="0"/>
          </a:p>
          <a:p>
            <a:r>
              <a:rPr lang="zh-CN" altLang="en-US" sz="3200" dirty="0"/>
              <a:t>虚拟存储器</a:t>
            </a:r>
            <a:endParaRPr lang="zh-CN" altLang="zh-CN" sz="3200" dirty="0"/>
          </a:p>
          <a:p>
            <a:r>
              <a:rPr lang="zh-CN" altLang="en-US" sz="3200" dirty="0" smtClean="0"/>
              <a:t>高速缓存的性能优化</a:t>
            </a:r>
            <a:endParaRPr lang="en-US" altLang="zh-CN" sz="3200" dirty="0" smtClean="0"/>
          </a:p>
        </p:txBody>
      </p:sp>
    </p:spTree>
    <p:extLst>
      <p:ext uri="{BB962C8B-B14F-4D97-AF65-F5344CB8AC3E}">
        <p14:creationId xmlns:p14="http://schemas.microsoft.com/office/powerpoint/2010/main" val="13966750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en-US" sz="4000" dirty="0" smtClean="0"/>
              <a:t>存储器层次结构的缘起</a:t>
            </a:r>
            <a:endParaRPr lang="en-US" altLang="zh-CN" sz="4000" dirty="0"/>
          </a:p>
        </p:txBody>
      </p:sp>
      <p:pic>
        <p:nvPicPr>
          <p:cNvPr id="2" name="图片 1"/>
          <p:cNvPicPr>
            <a:picLocks noChangeAspect="1"/>
          </p:cNvPicPr>
          <p:nvPr/>
        </p:nvPicPr>
        <p:blipFill>
          <a:blip r:embed="rId3"/>
          <a:stretch>
            <a:fillRect/>
          </a:stretch>
        </p:blipFill>
        <p:spPr>
          <a:xfrm>
            <a:off x="409837" y="1556792"/>
            <a:ext cx="10266855" cy="5148136"/>
          </a:xfrm>
          <a:prstGeom prst="rect">
            <a:avLst/>
          </a:prstGeom>
        </p:spPr>
      </p:pic>
      <p:sp>
        <p:nvSpPr>
          <p:cNvPr id="3" name="文本框 2"/>
          <p:cNvSpPr txBox="1"/>
          <p:nvPr/>
        </p:nvSpPr>
        <p:spPr>
          <a:xfrm>
            <a:off x="10676692" y="3140968"/>
            <a:ext cx="677108" cy="1323439"/>
          </a:xfrm>
          <a:prstGeom prst="rect">
            <a:avLst/>
          </a:prstGeom>
          <a:noFill/>
        </p:spPr>
        <p:txBody>
          <a:bodyPr vert="eaVert" wrap="none" rtlCol="0">
            <a:spAutoFit/>
          </a:bodyPr>
          <a:lstStyle/>
          <a:p>
            <a:r>
              <a:rPr lang="zh-CN" altLang="en-US" sz="3200" dirty="0" smtClean="0">
                <a:solidFill>
                  <a:srgbClr val="0000FF"/>
                </a:solidFill>
                <a:latin typeface="微软雅黑" panose="020B0503020204020204" pitchFamily="34" charset="-122"/>
                <a:ea typeface="微软雅黑" panose="020B0503020204020204" pitchFamily="34" charset="-122"/>
              </a:rPr>
              <a:t>剪刀差</a:t>
            </a:r>
            <a:endParaRPr lang="zh-CN" altLang="en-US" sz="32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7412582"/>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838200" y="365125"/>
            <a:ext cx="5066456" cy="831627"/>
          </a:xfrm>
        </p:spPr>
        <p:txBody>
          <a:bodyPr/>
          <a:lstStyle/>
          <a:p>
            <a:r>
              <a:rPr lang="en-US" dirty="0" smtClean="0"/>
              <a:t>Introduction</a:t>
            </a:r>
            <a:endParaRPr lang="en-AU" dirty="0"/>
          </a:p>
        </p:txBody>
      </p:sp>
      <p:sp>
        <p:nvSpPr>
          <p:cNvPr id="242691" name="Rectangle 3"/>
          <p:cNvSpPr>
            <a:spLocks noGrp="1" noChangeArrowheads="1"/>
          </p:cNvSpPr>
          <p:nvPr>
            <p:ph type="body" idx="1"/>
          </p:nvPr>
        </p:nvSpPr>
        <p:spPr>
          <a:xfrm>
            <a:off x="335360" y="1484784"/>
            <a:ext cx="11459176" cy="3380730"/>
          </a:xfrm>
        </p:spPr>
        <p:txBody>
          <a:bodyPr/>
          <a:lstStyle/>
          <a:p>
            <a:pPr>
              <a:lnSpc>
                <a:spcPct val="90000"/>
              </a:lnSpc>
            </a:pPr>
            <a:r>
              <a:rPr lang="en-US" sz="2400" dirty="0" smtClean="0"/>
              <a:t>Objective: programmers </a:t>
            </a:r>
            <a:r>
              <a:rPr lang="en-US" sz="2400" dirty="0"/>
              <a:t>want unlimited amounts of memory with low latency</a:t>
            </a:r>
          </a:p>
          <a:p>
            <a:pPr marL="228600" lvl="1">
              <a:spcBef>
                <a:spcPts val="1000"/>
              </a:spcBef>
            </a:pPr>
            <a:r>
              <a:rPr lang="en-US" altLang="zh-CN" sz="2400" dirty="0" smtClean="0"/>
              <a:t>CFS: </a:t>
            </a:r>
            <a:r>
              <a:rPr lang="en-US" altLang="zh-CN" dirty="0"/>
              <a:t>Gives the allusion of a </a:t>
            </a:r>
            <a:r>
              <a:rPr lang="en-US" altLang="zh-CN" dirty="0" smtClean="0"/>
              <a:t>large</a:t>
            </a:r>
            <a:r>
              <a:rPr lang="en-US" altLang="zh-CN" dirty="0"/>
              <a:t>, fast memory being </a:t>
            </a:r>
            <a:r>
              <a:rPr lang="en-US" altLang="zh-CN" dirty="0" smtClean="0"/>
              <a:t>presented </a:t>
            </a:r>
            <a:r>
              <a:rPr lang="en-US" altLang="zh-CN" dirty="0"/>
              <a:t>to the processor</a:t>
            </a:r>
          </a:p>
          <a:p>
            <a:pPr marL="228600" lvl="1">
              <a:spcBef>
                <a:spcPts val="1000"/>
              </a:spcBef>
            </a:pPr>
            <a:r>
              <a:rPr lang="en-US" altLang="zh-CN" dirty="0"/>
              <a:t>Obstacle: fast memory technology is more expensive per bit than slower memory</a:t>
            </a:r>
          </a:p>
          <a:p>
            <a:r>
              <a:rPr lang="en-US" sz="2400" dirty="0" smtClean="0"/>
              <a:t>Strategy: organize </a:t>
            </a:r>
            <a:r>
              <a:rPr lang="en-US" sz="2400" dirty="0"/>
              <a:t>memory system into a hierarchy</a:t>
            </a:r>
          </a:p>
          <a:p>
            <a:pPr lvl="1">
              <a:lnSpc>
                <a:spcPct val="90000"/>
              </a:lnSpc>
            </a:pPr>
            <a:r>
              <a:rPr lang="en-US" sz="2000" dirty="0"/>
              <a:t>Entire addressable memory space available in largest, slowest </a:t>
            </a:r>
            <a:r>
              <a:rPr lang="en-US" sz="2000" dirty="0" smtClean="0"/>
              <a:t>&amp; cheapest memory</a:t>
            </a:r>
            <a:endParaRPr lang="en-US" sz="2000" dirty="0"/>
          </a:p>
          <a:p>
            <a:pPr lvl="1">
              <a:lnSpc>
                <a:spcPct val="90000"/>
              </a:lnSpc>
            </a:pPr>
            <a:r>
              <a:rPr lang="en-US" sz="2000" dirty="0"/>
              <a:t>Incrementally smaller and faster memories, each containing a subset of the </a:t>
            </a:r>
            <a:r>
              <a:rPr lang="en-US" sz="2000" dirty="0" smtClean="0"/>
              <a:t/>
            </a:r>
            <a:br>
              <a:rPr lang="en-US" sz="2000" dirty="0" smtClean="0"/>
            </a:br>
            <a:r>
              <a:rPr lang="en-US" sz="2000" dirty="0" smtClean="0"/>
              <a:t>memory </a:t>
            </a:r>
            <a:r>
              <a:rPr lang="en-US" sz="2000" dirty="0"/>
              <a:t>below it, proceed in steps up toward the processor</a:t>
            </a:r>
          </a:p>
          <a:p>
            <a:r>
              <a:rPr lang="en-US" altLang="zh-CN" sz="2400" dirty="0"/>
              <a:t>Action </a:t>
            </a:r>
            <a:r>
              <a:rPr lang="en-US" altLang="zh-CN" sz="2400" dirty="0" smtClean="0"/>
              <a:t>Items</a:t>
            </a:r>
            <a:endParaRPr lang="en-US" altLang="zh-CN" sz="2400" dirty="0"/>
          </a:p>
          <a:p>
            <a:pPr lvl="1"/>
            <a:r>
              <a:rPr lang="en-US" sz="2000" dirty="0" smtClean="0"/>
              <a:t>How to ensures nearly </a:t>
            </a:r>
            <a:r>
              <a:rPr lang="en-US" sz="2000" dirty="0"/>
              <a:t>all </a:t>
            </a:r>
            <a:r>
              <a:rPr lang="en-US" sz="2000" dirty="0" smtClean="0"/>
              <a:t/>
            </a:r>
            <a:br>
              <a:rPr lang="en-US" sz="2000" dirty="0" smtClean="0"/>
            </a:br>
            <a:r>
              <a:rPr lang="en-US" sz="2000" dirty="0" smtClean="0"/>
              <a:t>references be </a:t>
            </a:r>
            <a:r>
              <a:rPr lang="en-US" sz="2000" dirty="0"/>
              <a:t>found in </a:t>
            </a:r>
            <a:r>
              <a:rPr lang="en-US" sz="2000" dirty="0" smtClean="0"/>
              <a:t/>
            </a:r>
            <a:br>
              <a:rPr lang="en-US" sz="2000" dirty="0" smtClean="0"/>
            </a:br>
            <a:r>
              <a:rPr lang="en-US" sz="2000" dirty="0" smtClean="0"/>
              <a:t>smaller and faster memories</a:t>
            </a:r>
          </a:p>
          <a:p>
            <a:pPr lvl="1"/>
            <a:r>
              <a:rPr lang="en-US" sz="2000" dirty="0" smtClean="0"/>
              <a:t>Fully utilize &amp; exploit</a:t>
            </a:r>
            <a:br>
              <a:rPr lang="en-US" sz="2000" dirty="0" smtClean="0"/>
            </a:br>
            <a:r>
              <a:rPr lang="en-US" sz="2800" dirty="0" smtClean="0">
                <a:solidFill>
                  <a:srgbClr val="FF0000"/>
                </a:solidFill>
              </a:rPr>
              <a:t>locality</a:t>
            </a:r>
            <a:r>
              <a:rPr lang="en-US" sz="2800" dirty="0" smtClean="0"/>
              <a:t>!</a:t>
            </a:r>
            <a:endParaRPr lang="en-US" sz="2000" dirty="0"/>
          </a:p>
        </p:txBody>
      </p:sp>
      <p:sp>
        <p:nvSpPr>
          <p:cNvPr id="6" name="Rectangle 4"/>
          <p:cNvSpPr>
            <a:spLocks noChangeArrowheads="1"/>
          </p:cNvSpPr>
          <p:nvPr/>
        </p:nvSpPr>
        <p:spPr bwMode="auto">
          <a:xfrm>
            <a:off x="4558456" y="4542234"/>
            <a:ext cx="2032000" cy="736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5244256" y="4775598"/>
            <a:ext cx="91211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Control</a:t>
            </a:r>
          </a:p>
        </p:txBody>
      </p:sp>
      <p:sp>
        <p:nvSpPr>
          <p:cNvPr id="8" name="Rectangle 6"/>
          <p:cNvSpPr>
            <a:spLocks noChangeArrowheads="1"/>
          </p:cNvSpPr>
          <p:nvPr/>
        </p:nvSpPr>
        <p:spPr bwMode="auto">
          <a:xfrm>
            <a:off x="4558456" y="5532834"/>
            <a:ext cx="1422400" cy="1117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7"/>
          <p:cNvSpPr>
            <a:spLocks noChangeArrowheads="1"/>
          </p:cNvSpPr>
          <p:nvPr/>
        </p:nvSpPr>
        <p:spPr bwMode="auto">
          <a:xfrm>
            <a:off x="4607668" y="5801123"/>
            <a:ext cx="1059586"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Datapath</a:t>
            </a:r>
          </a:p>
        </p:txBody>
      </p:sp>
      <p:sp>
        <p:nvSpPr>
          <p:cNvPr id="10" name="Rectangle 8"/>
          <p:cNvSpPr>
            <a:spLocks noChangeArrowheads="1"/>
          </p:cNvSpPr>
          <p:nvPr/>
        </p:nvSpPr>
        <p:spPr bwMode="auto">
          <a:xfrm>
            <a:off x="9663856" y="4161234"/>
            <a:ext cx="1117600" cy="2641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9"/>
          <p:cNvSpPr>
            <a:spLocks noChangeArrowheads="1"/>
          </p:cNvSpPr>
          <p:nvPr/>
        </p:nvSpPr>
        <p:spPr bwMode="auto">
          <a:xfrm>
            <a:off x="9614487" y="5013722"/>
            <a:ext cx="1229504" cy="10746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dirty="0"/>
              <a:t>Secondary</a:t>
            </a:r>
          </a:p>
          <a:p>
            <a:pPr algn="ctr" eaLnBrk="0" hangingPunct="0"/>
            <a:r>
              <a:rPr lang="en-US" altLang="zh-CN" sz="1600" b="1" dirty="0"/>
              <a:t>Storage</a:t>
            </a:r>
          </a:p>
          <a:p>
            <a:pPr algn="ctr" eaLnBrk="0" hangingPunct="0"/>
            <a:r>
              <a:rPr lang="en-US" altLang="zh-CN" sz="1600" b="1" dirty="0" smtClean="0"/>
              <a:t>(HDD &amp;</a:t>
            </a:r>
          </a:p>
          <a:p>
            <a:pPr algn="ctr" eaLnBrk="0" hangingPunct="0"/>
            <a:r>
              <a:rPr lang="en-US" altLang="zh-CN" sz="1600" b="1" dirty="0" smtClean="0"/>
              <a:t>SSD)</a:t>
            </a:r>
            <a:endParaRPr lang="en-US" altLang="zh-CN" sz="1600" b="1" dirty="0"/>
          </a:p>
        </p:txBody>
      </p:sp>
      <p:sp>
        <p:nvSpPr>
          <p:cNvPr id="12" name="Rectangle 10"/>
          <p:cNvSpPr>
            <a:spLocks noChangeArrowheads="1"/>
          </p:cNvSpPr>
          <p:nvPr/>
        </p:nvSpPr>
        <p:spPr bwMode="auto">
          <a:xfrm>
            <a:off x="4406056" y="4161234"/>
            <a:ext cx="2565400" cy="2641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11"/>
          <p:cNvSpPr>
            <a:spLocks noChangeArrowheads="1"/>
          </p:cNvSpPr>
          <p:nvPr/>
        </p:nvSpPr>
        <p:spPr bwMode="auto">
          <a:xfrm>
            <a:off x="5369669" y="4148535"/>
            <a:ext cx="1184621"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Processor</a:t>
            </a:r>
          </a:p>
        </p:txBody>
      </p:sp>
      <p:sp>
        <p:nvSpPr>
          <p:cNvPr id="14" name="Line 12"/>
          <p:cNvSpPr>
            <a:spLocks noChangeShapeType="1"/>
          </p:cNvSpPr>
          <p:nvPr/>
        </p:nvSpPr>
        <p:spPr bwMode="auto">
          <a:xfrm flipV="1">
            <a:off x="6000932" y="3608784"/>
            <a:ext cx="4863074" cy="19454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p:nvSpPr>
        <p:spPr bwMode="auto">
          <a:xfrm>
            <a:off x="5980856" y="6663133"/>
            <a:ext cx="3683000" cy="152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14"/>
          <p:cNvSpPr>
            <a:spLocks noChangeArrowheads="1"/>
          </p:cNvSpPr>
          <p:nvPr/>
        </p:nvSpPr>
        <p:spPr bwMode="auto">
          <a:xfrm>
            <a:off x="5549056" y="5609034"/>
            <a:ext cx="355600" cy="965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Rectangle 15"/>
          <p:cNvSpPr>
            <a:spLocks noChangeArrowheads="1"/>
          </p:cNvSpPr>
          <p:nvPr/>
        </p:nvSpPr>
        <p:spPr bwMode="auto">
          <a:xfrm rot="5400000">
            <a:off x="5235225" y="5923792"/>
            <a:ext cx="111729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dirty="0"/>
              <a:t>Registers</a:t>
            </a:r>
          </a:p>
        </p:txBody>
      </p:sp>
      <p:sp>
        <p:nvSpPr>
          <p:cNvPr id="18" name="Rectangle 16"/>
          <p:cNvSpPr>
            <a:spLocks noChangeArrowheads="1"/>
          </p:cNvSpPr>
          <p:nvPr/>
        </p:nvSpPr>
        <p:spPr bwMode="auto">
          <a:xfrm>
            <a:off x="6158656" y="5609034"/>
            <a:ext cx="660400" cy="965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Rectangle 17"/>
          <p:cNvSpPr>
            <a:spLocks noChangeArrowheads="1"/>
          </p:cNvSpPr>
          <p:nvPr/>
        </p:nvSpPr>
        <p:spPr bwMode="auto">
          <a:xfrm>
            <a:off x="7301656" y="5151834"/>
            <a:ext cx="889000" cy="1498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Rectangle 18"/>
          <p:cNvSpPr>
            <a:spLocks noChangeArrowheads="1"/>
          </p:cNvSpPr>
          <p:nvPr/>
        </p:nvSpPr>
        <p:spPr bwMode="auto">
          <a:xfrm>
            <a:off x="8368456" y="4770834"/>
            <a:ext cx="1041400" cy="1879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Rectangle 19"/>
          <p:cNvSpPr>
            <a:spLocks noChangeArrowheads="1"/>
          </p:cNvSpPr>
          <p:nvPr/>
        </p:nvSpPr>
        <p:spPr bwMode="auto">
          <a:xfrm>
            <a:off x="8416153" y="5394722"/>
            <a:ext cx="969818"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a:t>Main</a:t>
            </a:r>
          </a:p>
          <a:p>
            <a:pPr algn="ctr" eaLnBrk="0" hangingPunct="0"/>
            <a:r>
              <a:rPr lang="en-US" altLang="zh-CN" sz="1600" b="1"/>
              <a:t>Memory</a:t>
            </a:r>
          </a:p>
          <a:p>
            <a:pPr algn="ctr" eaLnBrk="0" hangingPunct="0"/>
            <a:r>
              <a:rPr lang="en-US" altLang="zh-CN" sz="1600" b="1"/>
              <a:t>(DRAM)</a:t>
            </a:r>
          </a:p>
        </p:txBody>
      </p:sp>
      <p:sp>
        <p:nvSpPr>
          <p:cNvPr id="22" name="Rectangle 20"/>
          <p:cNvSpPr>
            <a:spLocks noChangeArrowheads="1"/>
          </p:cNvSpPr>
          <p:nvPr/>
        </p:nvSpPr>
        <p:spPr bwMode="auto">
          <a:xfrm>
            <a:off x="7273380" y="5394723"/>
            <a:ext cx="923331" cy="10746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dirty="0" smtClean="0"/>
              <a:t>Off-</a:t>
            </a:r>
          </a:p>
          <a:p>
            <a:pPr algn="ctr" eaLnBrk="0" hangingPunct="0"/>
            <a:r>
              <a:rPr lang="en-US" altLang="zh-CN" sz="1600" b="1" dirty="0" smtClean="0"/>
              <a:t>Chip</a:t>
            </a:r>
          </a:p>
          <a:p>
            <a:pPr algn="ctr" eaLnBrk="0" hangingPunct="0"/>
            <a:r>
              <a:rPr lang="en-US" altLang="zh-CN" sz="1600" b="1" dirty="0" smtClean="0"/>
              <a:t>Cache</a:t>
            </a:r>
            <a:endParaRPr lang="en-US" altLang="zh-CN" sz="1600" b="1" dirty="0"/>
          </a:p>
          <a:p>
            <a:pPr algn="ctr" eaLnBrk="0" hangingPunct="0"/>
            <a:r>
              <a:rPr lang="en-US" altLang="zh-CN" sz="1600" b="1" dirty="0"/>
              <a:t>(SRAM)</a:t>
            </a:r>
          </a:p>
        </p:txBody>
      </p:sp>
      <p:sp>
        <p:nvSpPr>
          <p:cNvPr id="23" name="Rectangle 21"/>
          <p:cNvSpPr>
            <a:spLocks noChangeArrowheads="1"/>
          </p:cNvSpPr>
          <p:nvPr/>
        </p:nvSpPr>
        <p:spPr bwMode="auto">
          <a:xfrm rot="5400000">
            <a:off x="5980026" y="5771956"/>
            <a:ext cx="992260"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dirty="0"/>
              <a:t>On-Chip</a:t>
            </a:r>
          </a:p>
          <a:p>
            <a:pPr algn="ctr" eaLnBrk="0" hangingPunct="0"/>
            <a:r>
              <a:rPr lang="en-US" altLang="zh-CN" sz="1600" b="1" dirty="0"/>
              <a:t>Cache</a:t>
            </a:r>
          </a:p>
        </p:txBody>
      </p:sp>
      <p:sp>
        <p:nvSpPr>
          <p:cNvPr id="24" name="Rectangle 32"/>
          <p:cNvSpPr>
            <a:spLocks noChangeArrowheads="1"/>
          </p:cNvSpPr>
          <p:nvPr/>
        </p:nvSpPr>
        <p:spPr bwMode="auto">
          <a:xfrm>
            <a:off x="10883056" y="3627834"/>
            <a:ext cx="1117600" cy="3175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Rectangle 33"/>
          <p:cNvSpPr>
            <a:spLocks noChangeArrowheads="1"/>
          </p:cNvSpPr>
          <p:nvPr/>
        </p:nvSpPr>
        <p:spPr bwMode="auto">
          <a:xfrm>
            <a:off x="10953095" y="4861322"/>
            <a:ext cx="945773" cy="10746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dirty="0"/>
              <a:t>Tertiary</a:t>
            </a:r>
          </a:p>
          <a:p>
            <a:pPr algn="ctr" eaLnBrk="0" hangingPunct="0"/>
            <a:r>
              <a:rPr lang="en-US" altLang="zh-CN" sz="1600" b="1" dirty="0"/>
              <a:t>Storage</a:t>
            </a:r>
          </a:p>
          <a:p>
            <a:pPr algn="ctr" eaLnBrk="0" hangingPunct="0"/>
            <a:r>
              <a:rPr lang="en-US" altLang="zh-CN" sz="1600" b="1" dirty="0"/>
              <a:t>(Disk</a:t>
            </a:r>
            <a:r>
              <a:rPr lang="en-US" altLang="zh-CN" sz="1600" b="1" dirty="0" smtClean="0"/>
              <a:t>/</a:t>
            </a:r>
          </a:p>
          <a:p>
            <a:pPr algn="ctr" eaLnBrk="0" hangingPunct="0"/>
            <a:r>
              <a:rPr lang="en-US" altLang="zh-CN" sz="1600" b="1" dirty="0" smtClean="0"/>
              <a:t>Tape</a:t>
            </a:r>
            <a:r>
              <a:rPr lang="en-US" altLang="zh-CN" sz="1600" b="1" dirty="0"/>
              <a:t>)</a:t>
            </a:r>
          </a:p>
        </p:txBody>
      </p:sp>
      <p:sp>
        <p:nvSpPr>
          <p:cNvPr id="2" name="文本框 1"/>
          <p:cNvSpPr txBox="1"/>
          <p:nvPr/>
        </p:nvSpPr>
        <p:spPr>
          <a:xfrm>
            <a:off x="6587923" y="5194667"/>
            <a:ext cx="1082348" cy="400110"/>
          </a:xfrm>
          <a:prstGeom prst="rect">
            <a:avLst/>
          </a:prstGeom>
          <a:noFill/>
        </p:spPr>
        <p:txBody>
          <a:bodyPr wrap="none" rtlCol="0">
            <a:spAutoFit/>
          </a:bodyPr>
          <a:lstStyle/>
          <a:p>
            <a:r>
              <a:rPr lang="en-US" altLang="zh-CN" sz="2000" dirty="0" smtClean="0">
                <a:solidFill>
                  <a:srgbClr val="FF0000"/>
                </a:solidFill>
              </a:rPr>
              <a:t>Latency</a:t>
            </a:r>
            <a:endParaRPr lang="zh-CN" altLang="en-US" sz="2000" dirty="0">
              <a:solidFill>
                <a:srgbClr val="FF0000"/>
              </a:solidFill>
            </a:endParaRPr>
          </a:p>
        </p:txBody>
      </p:sp>
      <p:sp>
        <p:nvSpPr>
          <p:cNvPr id="27" name="文本框 26"/>
          <p:cNvSpPr txBox="1"/>
          <p:nvPr/>
        </p:nvSpPr>
        <p:spPr>
          <a:xfrm>
            <a:off x="8197300" y="4413587"/>
            <a:ext cx="1383712" cy="400110"/>
          </a:xfrm>
          <a:prstGeom prst="rect">
            <a:avLst/>
          </a:prstGeom>
          <a:noFill/>
        </p:spPr>
        <p:txBody>
          <a:bodyPr wrap="none" rtlCol="0">
            <a:spAutoFit/>
          </a:bodyPr>
          <a:lstStyle/>
          <a:p>
            <a:r>
              <a:rPr lang="en-US" altLang="zh-CN" sz="2000" dirty="0" smtClean="0">
                <a:solidFill>
                  <a:srgbClr val="FF0000"/>
                </a:solidFill>
              </a:rPr>
              <a:t>Bandwidth</a:t>
            </a:r>
            <a:endParaRPr lang="zh-CN" altLang="en-US" sz="2000" dirty="0">
              <a:solidFill>
                <a:srgbClr val="FF0000"/>
              </a:solidFill>
            </a:endParaRPr>
          </a:p>
        </p:txBody>
      </p:sp>
      <p:sp>
        <p:nvSpPr>
          <p:cNvPr id="28" name="文本框 27"/>
          <p:cNvSpPr txBox="1"/>
          <p:nvPr/>
        </p:nvSpPr>
        <p:spPr>
          <a:xfrm>
            <a:off x="10176291" y="3781702"/>
            <a:ext cx="1183337" cy="400110"/>
          </a:xfrm>
          <a:prstGeom prst="rect">
            <a:avLst/>
          </a:prstGeom>
          <a:noFill/>
        </p:spPr>
        <p:txBody>
          <a:bodyPr wrap="none" rtlCol="0">
            <a:spAutoFit/>
          </a:bodyPr>
          <a:lstStyle/>
          <a:p>
            <a:r>
              <a:rPr lang="en-US" altLang="zh-CN" sz="2000" dirty="0" smtClean="0">
                <a:solidFill>
                  <a:srgbClr val="FF0000"/>
                </a:solidFill>
              </a:rPr>
              <a:t>Capacity</a:t>
            </a:r>
            <a:endParaRPr lang="zh-CN" altLang="en-US" sz="2000" dirty="0">
              <a:solidFill>
                <a:srgbClr val="FF0000"/>
              </a:solidFill>
            </a:endParaRPr>
          </a:p>
        </p:txBody>
      </p:sp>
      <p:sp>
        <p:nvSpPr>
          <p:cNvPr id="3" name="矩形 2"/>
          <p:cNvSpPr/>
          <p:nvPr/>
        </p:nvSpPr>
        <p:spPr>
          <a:xfrm>
            <a:off x="8904935" y="388582"/>
            <a:ext cx="2379177" cy="707886"/>
          </a:xfrm>
          <a:prstGeom prst="rect">
            <a:avLst/>
          </a:prstGeom>
        </p:spPr>
        <p:txBody>
          <a:bodyPr wrap="none">
            <a:spAutoFit/>
          </a:bodyPr>
          <a:lstStyle/>
          <a:p>
            <a:r>
              <a:rPr lang="en-US" altLang="zh-CN" sz="4000" dirty="0">
                <a:solidFill>
                  <a:srgbClr val="7030A0"/>
                </a:solidFill>
              </a:rPr>
              <a:t>(OCOSA)</a:t>
            </a:r>
            <a:endParaRPr lang="zh-CN" altLang="en-US" sz="4000" dirty="0">
              <a:solidFill>
                <a:srgbClr val="7030A0"/>
              </a:solidFill>
            </a:endParaRPr>
          </a:p>
        </p:txBody>
      </p:sp>
    </p:spTree>
    <p:extLst>
      <p:ext uri="{BB962C8B-B14F-4D97-AF65-F5344CB8AC3E}">
        <p14:creationId xmlns:p14="http://schemas.microsoft.com/office/powerpoint/2010/main" val="2709901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26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26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269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269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269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2691">
                                            <p:txEl>
                                              <p:pRg st="6" end="6"/>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42691">
                                            <p:txEl>
                                              <p:pRg st="7" end="7"/>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42691">
                                            <p:txEl>
                                              <p:pRg st="8" end="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P spid="12" grpId="0" animBg="1"/>
      <p:bldP spid="13" grpId="0"/>
      <p:bldP spid="14" grpId="0" animBg="1"/>
      <p:bldP spid="15" grpId="0" animBg="1"/>
      <p:bldP spid="16" grpId="0" animBg="1"/>
      <p:bldP spid="17" grpId="0"/>
      <p:bldP spid="18" grpId="0" animBg="1"/>
      <p:bldP spid="19" grpId="0" animBg="1"/>
      <p:bldP spid="20" grpId="0" animBg="1"/>
      <p:bldP spid="21" grpId="0"/>
      <p:bldP spid="22" grpId="0"/>
      <p:bldP spid="23" grpId="0"/>
      <p:bldP spid="24" grpId="0" animBg="1"/>
      <p:bldP spid="25" grpId="0"/>
      <p:bldP spid="2" grpId="0"/>
      <p:bldP spid="27" grpId="0"/>
      <p:bldP spid="28"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9416" y="764704"/>
            <a:ext cx="10515600" cy="831627"/>
          </a:xfrm>
        </p:spPr>
        <p:txBody>
          <a:bodyPr/>
          <a:lstStyle/>
          <a:p>
            <a:r>
              <a:rPr lang="en-US" altLang="zh-CN" dirty="0" smtClean="0"/>
              <a:t>Levels of the </a:t>
            </a:r>
            <a:br>
              <a:rPr lang="en-US" altLang="zh-CN" dirty="0" smtClean="0"/>
            </a:br>
            <a:r>
              <a:rPr lang="en-US" altLang="zh-CN" dirty="0" smtClean="0"/>
              <a:t>Memory </a:t>
            </a:r>
            <a:br>
              <a:rPr lang="en-US" altLang="zh-CN" dirty="0" smtClean="0"/>
            </a:br>
            <a:r>
              <a:rPr lang="en-US" altLang="zh-CN" dirty="0" smtClean="0"/>
              <a:t>Hierarchy</a:t>
            </a:r>
            <a:endParaRPr lang="en-US" altLang="zh-CN" dirty="0"/>
          </a:p>
        </p:txBody>
      </p:sp>
      <p:sp>
        <p:nvSpPr>
          <p:cNvPr id="5" name="内容占位符 4"/>
          <p:cNvSpPr>
            <a:spLocks noGrp="1"/>
          </p:cNvSpPr>
          <p:nvPr>
            <p:ph idx="1"/>
          </p:nvPr>
        </p:nvSpPr>
        <p:spPr>
          <a:xfrm>
            <a:off x="551487" y="2492896"/>
            <a:ext cx="10515600" cy="3600400"/>
          </a:xfrm>
        </p:spPr>
        <p:txBody>
          <a:bodyPr/>
          <a:lstStyle/>
          <a:p>
            <a:r>
              <a:rPr lang="en-US" altLang="zh-CN" dirty="0" smtClean="0"/>
              <a:t>Personal Mobile Device</a:t>
            </a:r>
          </a:p>
          <a:p>
            <a:pPr lvl="1"/>
            <a:r>
              <a:rPr lang="en-US" altLang="zh-CN" dirty="0" smtClean="0"/>
              <a:t>Smart Phone, Pad</a:t>
            </a:r>
          </a:p>
          <a:p>
            <a:pPr lvl="1"/>
            <a:endParaRPr lang="en-US" altLang="zh-CN" dirty="0"/>
          </a:p>
          <a:p>
            <a:r>
              <a:rPr lang="en-US" altLang="zh-CN" dirty="0" smtClean="0"/>
              <a:t>Personal Computer</a:t>
            </a:r>
          </a:p>
          <a:p>
            <a:pPr lvl="1"/>
            <a:r>
              <a:rPr lang="en-US" altLang="zh-CN" dirty="0" smtClean="0"/>
              <a:t>Laptop, Desktop</a:t>
            </a:r>
          </a:p>
          <a:p>
            <a:pPr lvl="1"/>
            <a:endParaRPr lang="en-US" altLang="zh-CN" dirty="0"/>
          </a:p>
          <a:p>
            <a:r>
              <a:rPr lang="en-US" altLang="zh-CN" dirty="0" smtClean="0"/>
              <a:t>Server</a:t>
            </a:r>
            <a:endParaRPr lang="zh-CN" altLang="en-US" dirty="0"/>
          </a:p>
        </p:txBody>
      </p:sp>
      <p:pic>
        <p:nvPicPr>
          <p:cNvPr id="2" name="图片 1"/>
          <p:cNvPicPr>
            <a:picLocks noChangeAspect="1"/>
          </p:cNvPicPr>
          <p:nvPr/>
        </p:nvPicPr>
        <p:blipFill>
          <a:blip r:embed="rId3"/>
          <a:stretch>
            <a:fillRect/>
          </a:stretch>
        </p:blipFill>
        <p:spPr>
          <a:xfrm>
            <a:off x="4799856" y="50174"/>
            <a:ext cx="6267231" cy="6797629"/>
          </a:xfrm>
          <a:prstGeom prst="rect">
            <a:avLst/>
          </a:prstGeom>
        </p:spPr>
      </p:pic>
    </p:spTree>
    <p:extLst>
      <p:ext uri="{BB962C8B-B14F-4D97-AF65-F5344CB8AC3E}">
        <p14:creationId xmlns:p14="http://schemas.microsoft.com/office/powerpoint/2010/main" val="66287717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en-US" dirty="0"/>
              <a:t>The typical levels in the hierarchy </a:t>
            </a:r>
            <a:r>
              <a:rPr lang="en-US" altLang="en-US" dirty="0" smtClean="0"/>
              <a:t>for </a:t>
            </a:r>
            <a:r>
              <a:rPr lang="en-US" altLang="zh-CN" dirty="0" smtClean="0"/>
              <a:t>Desktops</a:t>
            </a:r>
            <a:endParaRPr lang="zh-CN" altLang="en-US" dirty="0"/>
          </a:p>
        </p:txBody>
      </p:sp>
      <p:pic>
        <p:nvPicPr>
          <p:cNvPr id="5" name="图片 4"/>
          <p:cNvPicPr>
            <a:picLocks noChangeAspect="1"/>
          </p:cNvPicPr>
          <p:nvPr/>
        </p:nvPicPr>
        <p:blipFill>
          <a:blip r:embed="rId2"/>
          <a:stretch>
            <a:fillRect/>
          </a:stretch>
        </p:blipFill>
        <p:spPr>
          <a:xfrm>
            <a:off x="335360" y="1988840"/>
            <a:ext cx="11427437" cy="3944884"/>
          </a:xfrm>
          <a:prstGeom prst="rect">
            <a:avLst/>
          </a:prstGeom>
        </p:spPr>
      </p:pic>
    </p:spTree>
    <p:extLst>
      <p:ext uri="{BB962C8B-B14F-4D97-AF65-F5344CB8AC3E}">
        <p14:creationId xmlns:p14="http://schemas.microsoft.com/office/powerpoint/2010/main" val="38445375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855640" y="188640"/>
            <a:ext cx="660558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Processor-Memory Performance Gap “Tax”</a:t>
            </a:r>
          </a:p>
        </p:txBody>
      </p:sp>
      <p:sp>
        <p:nvSpPr>
          <p:cNvPr id="60419" name="Rectangle 3"/>
          <p:cNvSpPr>
            <a:spLocks noGrp="1" noChangeArrowheads="1"/>
          </p:cNvSpPr>
          <p:nvPr>
            <p:ph type="body" idx="1"/>
          </p:nvPr>
        </p:nvSpPr>
        <p:spPr>
          <a:xfrm>
            <a:off x="335360" y="1676400"/>
            <a:ext cx="11233248"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4457700" algn="ctr"/>
                <a:tab pos="6457950" algn="ctr"/>
              </a:tabLst>
            </a:pPr>
            <a:r>
              <a:rPr lang="zh-CN" altLang="zh-CN" dirty="0"/>
              <a:t>    </a:t>
            </a:r>
            <a:r>
              <a:rPr lang="en-US" altLang="zh-CN" dirty="0"/>
              <a:t>Processor 	% Area 	%Transistors </a:t>
            </a:r>
          </a:p>
          <a:p>
            <a:pPr>
              <a:buNone/>
              <a:tabLst>
                <a:tab pos="4457700" algn="ctr"/>
                <a:tab pos="6457950" algn="ctr"/>
              </a:tabLst>
            </a:pPr>
            <a:r>
              <a:rPr lang="en-US" altLang="zh-CN" dirty="0"/>
              <a:t>		(­</a:t>
            </a:r>
            <a:r>
              <a:rPr lang="en-US" altLang="zh-CN" dirty="0">
                <a:solidFill>
                  <a:srgbClr val="FF0000"/>
                </a:solidFill>
              </a:rPr>
              <a:t>cost</a:t>
            </a:r>
            <a:r>
              <a:rPr lang="en-US" altLang="zh-CN" dirty="0"/>
              <a:t>)	(­</a:t>
            </a:r>
            <a:r>
              <a:rPr lang="en-US" altLang="zh-CN" dirty="0">
                <a:solidFill>
                  <a:srgbClr val="FF0000"/>
                </a:solidFill>
              </a:rPr>
              <a:t>power</a:t>
            </a:r>
            <a:r>
              <a:rPr lang="en-US" altLang="zh-CN" dirty="0"/>
              <a:t>)</a:t>
            </a:r>
          </a:p>
          <a:p>
            <a:pPr>
              <a:tabLst>
                <a:tab pos="4457700" algn="ctr"/>
                <a:tab pos="6457950" algn="ctr"/>
              </a:tabLst>
            </a:pPr>
            <a:r>
              <a:rPr lang="en-US" altLang="zh-CN" dirty="0"/>
              <a:t>Alpha 21164	37%	77%</a:t>
            </a:r>
          </a:p>
          <a:p>
            <a:pPr>
              <a:tabLst>
                <a:tab pos="4457700" algn="ctr"/>
                <a:tab pos="6457950" algn="ctr"/>
              </a:tabLst>
            </a:pPr>
            <a:r>
              <a:rPr lang="en-US" altLang="zh-CN" dirty="0" err="1"/>
              <a:t>StrongArm</a:t>
            </a:r>
            <a:r>
              <a:rPr lang="en-US" altLang="zh-CN" dirty="0"/>
              <a:t> SA110	61%	94%</a:t>
            </a:r>
          </a:p>
          <a:p>
            <a:pPr>
              <a:tabLst>
                <a:tab pos="4457700" algn="ctr"/>
                <a:tab pos="6457950" algn="ctr"/>
              </a:tabLst>
            </a:pPr>
            <a:r>
              <a:rPr lang="en-US" altLang="zh-CN" dirty="0"/>
              <a:t>Pentium Pro	64%	88%</a:t>
            </a:r>
          </a:p>
          <a:p>
            <a:pPr lvl="1">
              <a:tabLst>
                <a:tab pos="4457700" algn="ctr"/>
                <a:tab pos="6457950" algn="ctr"/>
              </a:tabLst>
            </a:pPr>
            <a:r>
              <a:rPr lang="en-US" altLang="zh-CN" dirty="0"/>
              <a:t>2 dies per package: </a:t>
            </a:r>
            <a:r>
              <a:rPr lang="en-US" altLang="zh-CN" dirty="0" err="1"/>
              <a:t>Proc</a:t>
            </a:r>
            <a:r>
              <a:rPr lang="en-US" altLang="zh-CN" dirty="0"/>
              <a:t>/I$/D$ + L2</a:t>
            </a:r>
            <a:r>
              <a:rPr lang="en-US" altLang="zh-CN" dirty="0" smtClean="0"/>
              <a:t>$</a:t>
            </a:r>
          </a:p>
          <a:p>
            <a:pPr lvl="1">
              <a:tabLst>
                <a:tab pos="4457700" algn="ctr"/>
                <a:tab pos="6457950" algn="ctr"/>
              </a:tabLst>
            </a:pPr>
            <a:endParaRPr lang="en-US" altLang="zh-CN" dirty="0"/>
          </a:p>
          <a:p>
            <a:pPr>
              <a:tabLst>
                <a:tab pos="4457700" algn="ctr"/>
                <a:tab pos="6457950" algn="ctr"/>
              </a:tabLst>
            </a:pPr>
            <a:r>
              <a:rPr lang="en-US" altLang="zh-CN" dirty="0"/>
              <a:t>Caches have no inherent value, </a:t>
            </a:r>
            <a:r>
              <a:rPr lang="en-US" altLang="zh-CN" dirty="0" smtClean="0"/>
              <a:t/>
            </a:r>
            <a:br>
              <a:rPr lang="en-US" altLang="zh-CN" dirty="0" smtClean="0"/>
            </a:br>
            <a:r>
              <a:rPr lang="en-US" altLang="zh-CN" dirty="0" smtClean="0"/>
              <a:t>only </a:t>
            </a:r>
            <a:r>
              <a:rPr lang="en-US" altLang="zh-CN" dirty="0"/>
              <a:t>try to close performance gap</a:t>
            </a:r>
          </a:p>
        </p:txBody>
      </p:sp>
      <p:pic>
        <p:nvPicPr>
          <p:cNvPr id="2" name="图片 1"/>
          <p:cNvPicPr>
            <a:picLocks noChangeAspect="1"/>
          </p:cNvPicPr>
          <p:nvPr/>
        </p:nvPicPr>
        <p:blipFill>
          <a:blip r:embed="rId3"/>
          <a:stretch>
            <a:fillRect/>
          </a:stretch>
        </p:blipFill>
        <p:spPr>
          <a:xfrm>
            <a:off x="7824192" y="3068960"/>
            <a:ext cx="4174998" cy="3581128"/>
          </a:xfrm>
          <a:prstGeom prst="rect">
            <a:avLst/>
          </a:prstGeom>
        </p:spPr>
      </p:pic>
    </p:spTree>
    <p:extLst>
      <p:ext uri="{BB962C8B-B14F-4D97-AF65-F5344CB8AC3E}">
        <p14:creationId xmlns:p14="http://schemas.microsoft.com/office/powerpoint/2010/main" val="17327878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0419">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CPU Core of Zen 5</a:t>
            </a:r>
            <a:endParaRPr lang="zh-CN" altLang="en-US" dirty="0"/>
          </a:p>
        </p:txBody>
      </p:sp>
      <p:pic>
        <p:nvPicPr>
          <p:cNvPr id="4" name="图片 3"/>
          <p:cNvPicPr>
            <a:picLocks noChangeAspect="1"/>
          </p:cNvPicPr>
          <p:nvPr/>
        </p:nvPicPr>
        <p:blipFill>
          <a:blip r:embed="rId2"/>
          <a:stretch>
            <a:fillRect/>
          </a:stretch>
        </p:blipFill>
        <p:spPr>
          <a:xfrm>
            <a:off x="1019436" y="1556792"/>
            <a:ext cx="10153128" cy="5059698"/>
          </a:xfrm>
          <a:prstGeom prst="rect">
            <a:avLst/>
          </a:prstGeom>
        </p:spPr>
      </p:pic>
    </p:spTree>
    <p:extLst>
      <p:ext uri="{BB962C8B-B14F-4D97-AF65-F5344CB8AC3E}">
        <p14:creationId xmlns:p14="http://schemas.microsoft.com/office/powerpoint/2010/main" val="30317620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smtClean="0"/>
              <a:t>The Principle of Locality</a:t>
            </a:r>
            <a:endParaRPr lang="en-US" altLang="zh-CN"/>
          </a:p>
        </p:txBody>
      </p:sp>
      <p:sp>
        <p:nvSpPr>
          <p:cNvPr id="8195" name="Rectangle 3"/>
          <p:cNvSpPr>
            <a:spLocks noGrp="1" noChangeArrowheads="1"/>
          </p:cNvSpPr>
          <p:nvPr>
            <p:ph type="body" idx="1"/>
          </p:nvPr>
        </p:nvSpPr>
        <p:spPr/>
        <p:txBody>
          <a:bodyPr/>
          <a:lstStyle/>
          <a:p>
            <a:r>
              <a:rPr lang="en-US" altLang="zh-CN" dirty="0" smtClean="0"/>
              <a:t>The Principle of Locality:</a:t>
            </a:r>
          </a:p>
          <a:p>
            <a:pPr lvl="1"/>
            <a:r>
              <a:rPr lang="en-US" altLang="zh-CN" dirty="0" smtClean="0"/>
              <a:t>Program access a relatively small portion of the address space at any instant of time</a:t>
            </a:r>
          </a:p>
          <a:p>
            <a:r>
              <a:rPr lang="en-US" altLang="zh-CN" dirty="0" smtClean="0"/>
              <a:t>Two Different Types of Locality:</a:t>
            </a:r>
          </a:p>
          <a:p>
            <a:pPr lvl="1"/>
            <a:r>
              <a:rPr lang="en-US" altLang="zh-CN" dirty="0" smtClean="0"/>
              <a:t>Temporal Locality (Locality in Time): If an item is referenced, it will tend to be referenced again soon (e.g., loops, reuse)</a:t>
            </a:r>
          </a:p>
          <a:p>
            <a:pPr lvl="1"/>
            <a:r>
              <a:rPr lang="en-US" altLang="zh-CN" dirty="0" smtClean="0"/>
              <a:t>Spatial Locality (Locality in Space): If an item is referenced, items whose addresses are close by tend to be referenced soon </a:t>
            </a:r>
            <a:br>
              <a:rPr lang="en-US" altLang="zh-CN" dirty="0" smtClean="0"/>
            </a:br>
            <a:r>
              <a:rPr lang="en-US" altLang="zh-CN" dirty="0" smtClean="0"/>
              <a:t>(e.g., straight-line code, array access)</a:t>
            </a:r>
          </a:p>
          <a:p>
            <a:r>
              <a:rPr lang="en-US" altLang="zh-CN" dirty="0" smtClean="0"/>
              <a:t>Last 40 years, HW relied on locality for speed</a:t>
            </a:r>
            <a:endParaRPr lang="en-US" altLang="zh-CN" dirty="0"/>
          </a:p>
        </p:txBody>
      </p:sp>
    </p:spTree>
    <p:extLst>
      <p:ext uri="{BB962C8B-B14F-4D97-AF65-F5344CB8AC3E}">
        <p14:creationId xmlns:p14="http://schemas.microsoft.com/office/powerpoint/2010/main" val="3122769794"/>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smtClean="0"/>
              <a:t>Memory Hierarchy: Terminology</a:t>
            </a:r>
            <a:endParaRPr lang="en-US" altLang="zh-CN"/>
          </a:p>
        </p:txBody>
      </p:sp>
      <p:sp>
        <p:nvSpPr>
          <p:cNvPr id="10243" name="Rectangle 3"/>
          <p:cNvSpPr>
            <a:spLocks noGrp="1" noChangeArrowheads="1"/>
          </p:cNvSpPr>
          <p:nvPr>
            <p:ph type="body" idx="1"/>
          </p:nvPr>
        </p:nvSpPr>
        <p:spPr/>
        <p:txBody>
          <a:bodyPr/>
          <a:lstStyle/>
          <a:p>
            <a:r>
              <a:rPr lang="en-US" altLang="zh-CN" sz="2400" dirty="0" smtClean="0"/>
              <a:t>Hit: data appears in some block in the upper level (example: Block X) </a:t>
            </a:r>
          </a:p>
          <a:p>
            <a:pPr lvl="1"/>
            <a:r>
              <a:rPr lang="en-US" altLang="zh-CN" sz="2000" dirty="0" smtClean="0"/>
              <a:t>Hit Rate: the fraction of memory access found in the upper level</a:t>
            </a:r>
          </a:p>
          <a:p>
            <a:pPr lvl="1"/>
            <a:r>
              <a:rPr lang="en-US" altLang="zh-CN" sz="2000" dirty="0" smtClean="0"/>
              <a:t>Hit Time: Time to access the upper level which consists of</a:t>
            </a:r>
          </a:p>
          <a:p>
            <a:pPr lvl="2"/>
            <a:r>
              <a:rPr lang="en-US" altLang="zh-CN" sz="1800" dirty="0" smtClean="0"/>
              <a:t>RAM access time + Time to determine hit/miss</a:t>
            </a:r>
          </a:p>
          <a:p>
            <a:r>
              <a:rPr lang="en-US" altLang="zh-CN" sz="2400" dirty="0" smtClean="0"/>
              <a:t>Miss: data needs to be retrieve from a block in the lower level (Block Y)</a:t>
            </a:r>
          </a:p>
          <a:p>
            <a:pPr lvl="1"/>
            <a:r>
              <a:rPr lang="en-US" altLang="zh-CN" sz="2000" dirty="0" smtClean="0"/>
              <a:t>Miss Rate  = 1 - (Hit Rate)</a:t>
            </a:r>
          </a:p>
          <a:p>
            <a:pPr lvl="1"/>
            <a:r>
              <a:rPr lang="en-US" altLang="zh-CN" sz="2000" dirty="0" smtClean="0"/>
              <a:t>Miss Penalty: Time to replace a block in the upper level  </a:t>
            </a:r>
            <a:r>
              <a:rPr lang="en-US" altLang="zh-CN" dirty="0" smtClean="0"/>
              <a:t>+ </a:t>
            </a:r>
            <a:r>
              <a:rPr lang="en-US" altLang="zh-CN" sz="2000" dirty="0" smtClean="0"/>
              <a:t>Time to deliver the block the processor</a:t>
            </a:r>
          </a:p>
          <a:p>
            <a:pPr lvl="1"/>
            <a:r>
              <a:rPr lang="en-US" altLang="zh-CN" sz="2000" dirty="0" smtClean="0"/>
              <a:t>Miss Time: Hit Time + Miss Penalty</a:t>
            </a:r>
            <a:endParaRPr lang="en-US" altLang="zh-CN" sz="1800" dirty="0" smtClean="0"/>
          </a:p>
          <a:p>
            <a:r>
              <a:rPr lang="en-US" altLang="zh-CN" sz="2400" dirty="0" smtClean="0"/>
              <a:t>Hit Time &lt;&lt; Miss Penalty </a:t>
            </a:r>
          </a:p>
          <a:p>
            <a:pPr lvl="1"/>
            <a:r>
              <a:rPr lang="en-US" altLang="zh-CN" sz="2000" dirty="0" smtClean="0"/>
              <a:t>(500 instructions on Alpha 21264!)</a:t>
            </a:r>
            <a:endParaRPr lang="en-US" altLang="zh-CN" sz="2000" dirty="0"/>
          </a:p>
        </p:txBody>
      </p:sp>
      <p:sp>
        <p:nvSpPr>
          <p:cNvPr id="10244" name="Rectangle 4"/>
          <p:cNvSpPr>
            <a:spLocks noChangeArrowheads="1"/>
          </p:cNvSpPr>
          <p:nvPr/>
        </p:nvSpPr>
        <p:spPr bwMode="auto">
          <a:xfrm>
            <a:off x="7879779" y="4737720"/>
            <a:ext cx="1270000" cy="1422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5" name="Rectangle 5"/>
          <p:cNvSpPr>
            <a:spLocks noChangeArrowheads="1"/>
          </p:cNvSpPr>
          <p:nvPr/>
        </p:nvSpPr>
        <p:spPr bwMode="auto">
          <a:xfrm>
            <a:off x="10089579" y="4509120"/>
            <a:ext cx="1193800" cy="18796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6" name="Rectangle 6"/>
          <p:cNvSpPr>
            <a:spLocks noChangeArrowheads="1"/>
          </p:cNvSpPr>
          <p:nvPr/>
        </p:nvSpPr>
        <p:spPr bwMode="auto">
          <a:xfrm>
            <a:off x="10035335" y="4523409"/>
            <a:ext cx="136896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dirty="0"/>
              <a:t>Lower Level</a:t>
            </a:r>
          </a:p>
          <a:p>
            <a:pPr algn="ctr" eaLnBrk="0" hangingPunct="0"/>
            <a:r>
              <a:rPr lang="en-US" altLang="zh-CN" sz="1600" b="1" dirty="0"/>
              <a:t>Memory</a:t>
            </a:r>
          </a:p>
        </p:txBody>
      </p:sp>
      <p:sp>
        <p:nvSpPr>
          <p:cNvPr id="10247" name="Rectangle 7"/>
          <p:cNvSpPr>
            <a:spLocks noChangeArrowheads="1"/>
          </p:cNvSpPr>
          <p:nvPr/>
        </p:nvSpPr>
        <p:spPr bwMode="auto">
          <a:xfrm>
            <a:off x="7826390" y="4752009"/>
            <a:ext cx="1356142"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zh-CN" sz="1600" b="1"/>
              <a:t>Upper Level</a:t>
            </a:r>
          </a:p>
          <a:p>
            <a:pPr algn="ctr" eaLnBrk="0" hangingPunct="0"/>
            <a:r>
              <a:rPr lang="en-US" altLang="zh-CN" sz="1600" b="1"/>
              <a:t>Memory</a:t>
            </a:r>
          </a:p>
        </p:txBody>
      </p:sp>
      <p:sp>
        <p:nvSpPr>
          <p:cNvPr id="10248" name="Line 8"/>
          <p:cNvSpPr>
            <a:spLocks noChangeShapeType="1"/>
          </p:cNvSpPr>
          <p:nvPr/>
        </p:nvSpPr>
        <p:spPr bwMode="auto">
          <a:xfrm flipH="1">
            <a:off x="6025579" y="5106020"/>
            <a:ext cx="1854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9" name="Rectangle 9"/>
          <p:cNvSpPr>
            <a:spLocks noChangeArrowheads="1"/>
          </p:cNvSpPr>
          <p:nvPr/>
        </p:nvSpPr>
        <p:spPr bwMode="auto">
          <a:xfrm>
            <a:off x="6404993" y="4801221"/>
            <a:ext cx="147713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To Processor</a:t>
            </a:r>
          </a:p>
        </p:txBody>
      </p:sp>
      <p:sp>
        <p:nvSpPr>
          <p:cNvPr id="10250" name="Line 10"/>
          <p:cNvSpPr>
            <a:spLocks noChangeShapeType="1"/>
          </p:cNvSpPr>
          <p:nvPr/>
        </p:nvSpPr>
        <p:spPr bwMode="auto">
          <a:xfrm>
            <a:off x="6050979" y="5868020"/>
            <a:ext cx="180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1" name="Rectangle 11"/>
          <p:cNvSpPr>
            <a:spLocks noChangeArrowheads="1"/>
          </p:cNvSpPr>
          <p:nvPr/>
        </p:nvSpPr>
        <p:spPr bwMode="auto">
          <a:xfrm>
            <a:off x="6023992" y="5563221"/>
            <a:ext cx="175529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From Processor</a:t>
            </a:r>
          </a:p>
        </p:txBody>
      </p:sp>
      <p:sp>
        <p:nvSpPr>
          <p:cNvPr id="10252" name="Line 12"/>
          <p:cNvSpPr>
            <a:spLocks noChangeShapeType="1"/>
          </p:cNvSpPr>
          <p:nvPr/>
        </p:nvSpPr>
        <p:spPr bwMode="auto">
          <a:xfrm>
            <a:off x="9175179" y="5410820"/>
            <a:ext cx="8890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3" name="Rectangle 13"/>
          <p:cNvSpPr>
            <a:spLocks noChangeArrowheads="1"/>
          </p:cNvSpPr>
          <p:nvPr/>
        </p:nvSpPr>
        <p:spPr bwMode="auto">
          <a:xfrm>
            <a:off x="8330629" y="5645770"/>
            <a:ext cx="368300" cy="3683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4" name="Rectangle 14"/>
          <p:cNvSpPr>
            <a:spLocks noChangeArrowheads="1"/>
          </p:cNvSpPr>
          <p:nvPr/>
        </p:nvSpPr>
        <p:spPr bwMode="auto">
          <a:xfrm>
            <a:off x="8233792" y="5358433"/>
            <a:ext cx="60273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Blk X</a:t>
            </a:r>
          </a:p>
        </p:txBody>
      </p:sp>
      <p:sp>
        <p:nvSpPr>
          <p:cNvPr id="10255" name="Rectangle 15"/>
          <p:cNvSpPr>
            <a:spLocks noChangeArrowheads="1"/>
          </p:cNvSpPr>
          <p:nvPr/>
        </p:nvSpPr>
        <p:spPr bwMode="auto">
          <a:xfrm>
            <a:off x="10540429" y="5950570"/>
            <a:ext cx="3683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Rectangle 16"/>
          <p:cNvSpPr>
            <a:spLocks noChangeArrowheads="1"/>
          </p:cNvSpPr>
          <p:nvPr/>
        </p:nvSpPr>
        <p:spPr bwMode="auto">
          <a:xfrm>
            <a:off x="10443592" y="5663233"/>
            <a:ext cx="59946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Blk Y</a:t>
            </a:r>
          </a:p>
        </p:txBody>
      </p:sp>
    </p:spTree>
    <p:extLst>
      <p:ext uri="{BB962C8B-B14F-4D97-AF65-F5344CB8AC3E}">
        <p14:creationId xmlns:p14="http://schemas.microsoft.com/office/powerpoint/2010/main" val="134956550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a:lstStyle/>
          <a:p>
            <a:r>
              <a:rPr lang="en-US" altLang="zh-CN" dirty="0" smtClean="0"/>
              <a:t>Cache Impact to Computer Performance</a:t>
            </a:r>
            <a:endParaRPr lang="en-US" altLang="zh-CN" dirty="0"/>
          </a:p>
        </p:txBody>
      </p:sp>
      <p:sp>
        <p:nvSpPr>
          <p:cNvPr id="746499" name="Rectangle 3"/>
          <p:cNvSpPr>
            <a:spLocks noGrp="1" noChangeArrowheads="1"/>
          </p:cNvSpPr>
          <p:nvPr>
            <p:ph type="body" idx="1"/>
          </p:nvPr>
        </p:nvSpPr>
        <p:spPr>
          <a:xfrm>
            <a:off x="551384" y="1556792"/>
            <a:ext cx="10515600" cy="5112568"/>
          </a:xfrm>
        </p:spPr>
        <p:txBody>
          <a:bodyPr/>
          <a:lstStyle/>
          <a:p>
            <a:r>
              <a:rPr lang="zh-CN" altLang="zh-CN" dirty="0" smtClean="0"/>
              <a:t>1960-1985: </a:t>
            </a:r>
            <a:r>
              <a:rPr lang="en-US" altLang="zh-CN" dirty="0" smtClean="0"/>
              <a:t>Speed = ƒ(no. operations)</a:t>
            </a:r>
          </a:p>
          <a:p>
            <a:r>
              <a:rPr lang="en-US" altLang="zh-CN" dirty="0" smtClean="0"/>
              <a:t>After 1990</a:t>
            </a:r>
          </a:p>
          <a:p>
            <a:pPr lvl="1"/>
            <a:r>
              <a:rPr lang="en-US" altLang="zh-CN" dirty="0" smtClean="0"/>
              <a:t>Pipelined Execution &amp; Fast Clock Rate</a:t>
            </a:r>
          </a:p>
          <a:p>
            <a:pPr lvl="1"/>
            <a:r>
              <a:rPr lang="en-US" altLang="zh-CN" dirty="0" smtClean="0"/>
              <a:t>Out-of-Order execution</a:t>
            </a:r>
          </a:p>
          <a:p>
            <a:pPr lvl="1"/>
            <a:r>
              <a:rPr lang="en-US" altLang="zh-CN" dirty="0" smtClean="0"/>
              <a:t>Superscalar Instruction Issue</a:t>
            </a:r>
          </a:p>
          <a:p>
            <a:r>
              <a:rPr lang="en-US" altLang="zh-CN" dirty="0" smtClean="0"/>
              <a:t>Now: Speed = </a:t>
            </a:r>
            <a:br>
              <a:rPr lang="en-US" altLang="zh-CN" dirty="0" smtClean="0"/>
            </a:br>
            <a:r>
              <a:rPr lang="en-US" altLang="zh-CN" dirty="0" smtClean="0"/>
              <a:t>ƒ(# of non-cached memory accesses)</a:t>
            </a:r>
          </a:p>
          <a:p>
            <a:r>
              <a:rPr lang="en-US" altLang="zh-CN" dirty="0" smtClean="0"/>
              <a:t>What does this mean for</a:t>
            </a:r>
          </a:p>
          <a:p>
            <a:pPr lvl="1"/>
            <a:r>
              <a:rPr lang="en-US" altLang="zh-CN" dirty="0" smtClean="0"/>
              <a:t>Compilers? Operating Systems? Algorithms? </a:t>
            </a:r>
            <a:br>
              <a:rPr lang="en-US" altLang="zh-CN" dirty="0" smtClean="0"/>
            </a:br>
            <a:r>
              <a:rPr lang="en-US" altLang="zh-CN" dirty="0" smtClean="0"/>
              <a:t>Data Structures?</a:t>
            </a:r>
            <a:endParaRPr lang="en-US" altLang="zh-CN" dirty="0"/>
          </a:p>
        </p:txBody>
      </p:sp>
      <p:pic>
        <p:nvPicPr>
          <p:cNvPr id="746500"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096" y="1772816"/>
            <a:ext cx="4871864" cy="31683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32981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Memory Hierarchy Design</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3200" dirty="0"/>
              <a:t>Memory hierarchy design becomes more crucial with recent multi-core </a:t>
            </a:r>
            <a:r>
              <a:rPr lang="en-US" sz="3200" dirty="0" smtClean="0"/>
              <a:t>processors</a:t>
            </a:r>
            <a:endParaRPr lang="en-US" sz="3200" dirty="0"/>
          </a:p>
          <a:p>
            <a:r>
              <a:rPr lang="en-US" sz="3200" dirty="0"/>
              <a:t>Aggregate peak bandwidth grows with # cores:</a:t>
            </a:r>
          </a:p>
          <a:p>
            <a:pPr lvl="1"/>
            <a:r>
              <a:rPr lang="en-US" sz="2800" dirty="0"/>
              <a:t>Intel Core i7 can generate two references per core per clock</a:t>
            </a:r>
          </a:p>
          <a:p>
            <a:pPr lvl="1"/>
            <a:r>
              <a:rPr lang="en-US" sz="2800" dirty="0"/>
              <a:t>Four cores and 3.2 GHz clock</a:t>
            </a:r>
          </a:p>
          <a:p>
            <a:pPr lvl="2"/>
            <a:r>
              <a:rPr lang="en-US" sz="2200" dirty="0" smtClean="0"/>
              <a:t>25.6 billion 64-bit data references/second +</a:t>
            </a:r>
          </a:p>
          <a:p>
            <a:pPr lvl="2"/>
            <a:r>
              <a:rPr lang="en-US" sz="2200" dirty="0" smtClean="0"/>
              <a:t>12.8 billion 128-bit instruction references/second = 409.6 GB/s!</a:t>
            </a:r>
          </a:p>
          <a:p>
            <a:pPr lvl="1"/>
            <a:r>
              <a:rPr lang="en-US" sz="2800" dirty="0" smtClean="0"/>
              <a:t>DRAM bandwidth is only 8% of this (34.1 GB/s)</a:t>
            </a:r>
          </a:p>
          <a:p>
            <a:pPr lvl="1"/>
            <a:r>
              <a:rPr lang="en-US" sz="2800" dirty="0" smtClean="0"/>
              <a:t>Requires:</a:t>
            </a:r>
          </a:p>
          <a:p>
            <a:pPr lvl="2"/>
            <a:r>
              <a:rPr lang="en-US" sz="2200" dirty="0" smtClean="0"/>
              <a:t>Multi-port, pipelined caches</a:t>
            </a:r>
          </a:p>
          <a:p>
            <a:pPr lvl="2"/>
            <a:r>
              <a:rPr lang="en-US" sz="2200" dirty="0" smtClean="0"/>
              <a:t>Two levels of cache per core</a:t>
            </a:r>
          </a:p>
          <a:p>
            <a:pPr lvl="2"/>
            <a:r>
              <a:rPr lang="en-US" sz="2200" dirty="0" smtClean="0"/>
              <a:t>Shared third-level cache on chip</a:t>
            </a:r>
          </a:p>
        </p:txBody>
      </p:sp>
    </p:spTree>
    <p:extLst>
      <p:ext uri="{BB962C8B-B14F-4D97-AF65-F5344CB8AC3E}">
        <p14:creationId xmlns:p14="http://schemas.microsoft.com/office/powerpoint/2010/main" val="3226574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0244" name="Rectangle 4"/>
          <p:cNvSpPr>
            <a:spLocks noGrp="1" noChangeArrowheads="1"/>
          </p:cNvSpPr>
          <p:nvPr>
            <p:ph type="title"/>
          </p:nvPr>
        </p:nvSpPr>
        <p:spPr/>
        <p:txBody>
          <a:bodyPr/>
          <a:lstStyle/>
          <a:p>
            <a:r>
              <a:rPr lang="en-US" altLang="zh-CN" dirty="0" smtClean="0"/>
              <a:t>Main Memory Deep Background</a:t>
            </a:r>
            <a:endParaRPr lang="en-US" altLang="zh-CN" dirty="0"/>
          </a:p>
        </p:txBody>
      </p:sp>
      <p:sp>
        <p:nvSpPr>
          <p:cNvPr id="650245" name="Rectangle 5"/>
          <p:cNvSpPr>
            <a:spLocks noGrp="1" noChangeArrowheads="1"/>
          </p:cNvSpPr>
          <p:nvPr>
            <p:ph type="body" idx="1"/>
          </p:nvPr>
        </p:nvSpPr>
        <p:spPr/>
        <p:txBody>
          <a:bodyPr/>
          <a:lstStyle/>
          <a:p>
            <a:r>
              <a:rPr lang="en-US" altLang="zh-CN" dirty="0"/>
              <a:t>Random Access Memory (vs. Serial Access Memory</a:t>
            </a:r>
            <a:r>
              <a:rPr lang="en-US" altLang="zh-CN" dirty="0" smtClean="0"/>
              <a:t>)</a:t>
            </a:r>
          </a:p>
          <a:p>
            <a:pPr lvl="1"/>
            <a:r>
              <a:rPr lang="en-US" altLang="zh-CN" dirty="0" smtClean="0"/>
              <a:t>Random: access time is location independent</a:t>
            </a:r>
            <a:endParaRPr lang="en-US" altLang="zh-CN" dirty="0"/>
          </a:p>
          <a:p>
            <a:r>
              <a:rPr lang="zh-CN" altLang="en-US" dirty="0" smtClean="0"/>
              <a:t>早期计算机里用作主存的部件</a:t>
            </a:r>
            <a:endParaRPr lang="en-US" altLang="zh-CN" dirty="0" smtClean="0"/>
          </a:p>
          <a:p>
            <a:pPr lvl="1"/>
            <a:r>
              <a:rPr lang="zh-CN" altLang="en-US" dirty="0" smtClean="0"/>
              <a:t>水银延迟线、示波管、磁鼓</a:t>
            </a:r>
            <a:endParaRPr lang="en-US" altLang="zh-CN" dirty="0" smtClean="0"/>
          </a:p>
          <a:p>
            <a:r>
              <a:rPr lang="en-US" altLang="zh-CN" dirty="0" smtClean="0"/>
              <a:t>Magnetic Core </a:t>
            </a:r>
            <a:r>
              <a:rPr lang="zh-CN" altLang="en-US" dirty="0" smtClean="0"/>
              <a:t>（磁心）</a:t>
            </a:r>
            <a:endParaRPr lang="en-US" altLang="zh-CN" dirty="0" smtClean="0"/>
          </a:p>
          <a:p>
            <a:pPr lvl="1"/>
            <a:r>
              <a:rPr lang="zh-CN" altLang="zh-CN" dirty="0" smtClean="0"/>
              <a:t>“</a:t>
            </a:r>
            <a:r>
              <a:rPr lang="en-US" altLang="zh-CN" dirty="0" smtClean="0"/>
              <a:t>Out-of-Core”, “In-Core,” “Core Dump”?</a:t>
            </a:r>
          </a:p>
          <a:p>
            <a:pPr lvl="1"/>
            <a:r>
              <a:rPr lang="en-US" altLang="zh-CN" dirty="0" smtClean="0"/>
              <a:t>“Core memory”?</a:t>
            </a:r>
          </a:p>
          <a:p>
            <a:pPr lvl="1"/>
            <a:r>
              <a:rPr lang="en-US" altLang="zh-CN" dirty="0" smtClean="0"/>
              <a:t>Non-volatile, magnetic</a:t>
            </a:r>
          </a:p>
          <a:p>
            <a:pPr lvl="1"/>
            <a:r>
              <a:rPr lang="en-US" altLang="zh-CN" dirty="0" smtClean="0"/>
              <a:t>Access time 750 ns, cycle time 1500-3000 ns</a:t>
            </a:r>
          </a:p>
          <a:p>
            <a:r>
              <a:rPr lang="zh-CN" altLang="en-US" dirty="0" smtClean="0"/>
              <a:t>半导体存储器</a:t>
            </a:r>
            <a:endParaRPr lang="en-US" altLang="zh-CN" dirty="0"/>
          </a:p>
        </p:txBody>
      </p:sp>
    </p:spTree>
    <p:extLst>
      <p:ext uri="{BB962C8B-B14F-4D97-AF65-F5344CB8AC3E}">
        <p14:creationId xmlns:p14="http://schemas.microsoft.com/office/powerpoint/2010/main" val="21310187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50245">
                                            <p:txEl>
                                              <p:pRg st="0" end="0"/>
                                            </p:txEl>
                                          </p:spTgt>
                                        </p:tgtEl>
                                        <p:attrNameLst>
                                          <p:attrName>style.visibility</p:attrName>
                                        </p:attrNameLst>
                                      </p:cBhvr>
                                      <p:to>
                                        <p:strVal val="visible"/>
                                      </p:to>
                                    </p:set>
                                    <p:anim calcmode="lin" valueType="num">
                                      <p:cBhvr additive="base">
                                        <p:cTn id="7" dur="500" fill="hold"/>
                                        <p:tgtEl>
                                          <p:spTgt spid="65024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5024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50245">
                                            <p:txEl>
                                              <p:pRg st="1" end="1"/>
                                            </p:txEl>
                                          </p:spTgt>
                                        </p:tgtEl>
                                        <p:attrNameLst>
                                          <p:attrName>style.visibility</p:attrName>
                                        </p:attrNameLst>
                                      </p:cBhvr>
                                      <p:to>
                                        <p:strVal val="visible"/>
                                      </p:to>
                                    </p:set>
                                    <p:anim calcmode="lin" valueType="num">
                                      <p:cBhvr additive="base">
                                        <p:cTn id="11" dur="500" fill="hold"/>
                                        <p:tgtEl>
                                          <p:spTgt spid="65024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5024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50245">
                                            <p:txEl>
                                              <p:pRg st="2" end="2"/>
                                            </p:txEl>
                                          </p:spTgt>
                                        </p:tgtEl>
                                        <p:attrNameLst>
                                          <p:attrName>style.visibility</p:attrName>
                                        </p:attrNameLst>
                                      </p:cBhvr>
                                      <p:to>
                                        <p:strVal val="visible"/>
                                      </p:to>
                                    </p:set>
                                    <p:anim calcmode="lin" valueType="num">
                                      <p:cBhvr additive="base">
                                        <p:cTn id="17" dur="500" fill="hold"/>
                                        <p:tgtEl>
                                          <p:spTgt spid="650245">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5024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50245">
                                            <p:txEl>
                                              <p:pRg st="3" end="3"/>
                                            </p:txEl>
                                          </p:spTgt>
                                        </p:tgtEl>
                                        <p:attrNameLst>
                                          <p:attrName>style.visibility</p:attrName>
                                        </p:attrNameLst>
                                      </p:cBhvr>
                                      <p:to>
                                        <p:strVal val="visible"/>
                                      </p:to>
                                    </p:set>
                                    <p:anim calcmode="lin" valueType="num">
                                      <p:cBhvr additive="base">
                                        <p:cTn id="21" dur="500" fill="hold"/>
                                        <p:tgtEl>
                                          <p:spTgt spid="65024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5024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50245">
                                            <p:txEl>
                                              <p:pRg st="4" end="4"/>
                                            </p:txEl>
                                          </p:spTgt>
                                        </p:tgtEl>
                                        <p:attrNameLst>
                                          <p:attrName>style.visibility</p:attrName>
                                        </p:attrNameLst>
                                      </p:cBhvr>
                                      <p:to>
                                        <p:strVal val="visible"/>
                                      </p:to>
                                    </p:set>
                                    <p:anim calcmode="lin" valueType="num">
                                      <p:cBhvr additive="base">
                                        <p:cTn id="27" dur="500" fill="hold"/>
                                        <p:tgtEl>
                                          <p:spTgt spid="65024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5024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50245">
                                            <p:txEl>
                                              <p:pRg st="5" end="5"/>
                                            </p:txEl>
                                          </p:spTgt>
                                        </p:tgtEl>
                                        <p:attrNameLst>
                                          <p:attrName>style.visibility</p:attrName>
                                        </p:attrNameLst>
                                      </p:cBhvr>
                                      <p:to>
                                        <p:strVal val="visible"/>
                                      </p:to>
                                    </p:set>
                                    <p:anim calcmode="lin" valueType="num">
                                      <p:cBhvr additive="base">
                                        <p:cTn id="31" dur="500" fill="hold"/>
                                        <p:tgtEl>
                                          <p:spTgt spid="650245">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50245">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50245">
                                            <p:txEl>
                                              <p:pRg st="6" end="6"/>
                                            </p:txEl>
                                          </p:spTgt>
                                        </p:tgtEl>
                                        <p:attrNameLst>
                                          <p:attrName>style.visibility</p:attrName>
                                        </p:attrNameLst>
                                      </p:cBhvr>
                                      <p:to>
                                        <p:strVal val="visible"/>
                                      </p:to>
                                    </p:set>
                                    <p:anim calcmode="lin" valueType="num">
                                      <p:cBhvr additive="base">
                                        <p:cTn id="35" dur="500" fill="hold"/>
                                        <p:tgtEl>
                                          <p:spTgt spid="650245">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50245">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50245">
                                            <p:txEl>
                                              <p:pRg st="7" end="7"/>
                                            </p:txEl>
                                          </p:spTgt>
                                        </p:tgtEl>
                                        <p:attrNameLst>
                                          <p:attrName>style.visibility</p:attrName>
                                        </p:attrNameLst>
                                      </p:cBhvr>
                                      <p:to>
                                        <p:strVal val="visible"/>
                                      </p:to>
                                    </p:set>
                                    <p:anim calcmode="lin" valueType="num">
                                      <p:cBhvr additive="base">
                                        <p:cTn id="39" dur="500" fill="hold"/>
                                        <p:tgtEl>
                                          <p:spTgt spid="650245">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50245">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650245">
                                            <p:txEl>
                                              <p:pRg st="8" end="8"/>
                                            </p:txEl>
                                          </p:spTgt>
                                        </p:tgtEl>
                                        <p:attrNameLst>
                                          <p:attrName>style.visibility</p:attrName>
                                        </p:attrNameLst>
                                      </p:cBhvr>
                                      <p:to>
                                        <p:strVal val="visible"/>
                                      </p:to>
                                    </p:set>
                                    <p:anim calcmode="lin" valueType="num">
                                      <p:cBhvr additive="base">
                                        <p:cTn id="43" dur="500" fill="hold"/>
                                        <p:tgtEl>
                                          <p:spTgt spid="650245">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5024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650245">
                                            <p:txEl>
                                              <p:pRg st="9" end="9"/>
                                            </p:txEl>
                                          </p:spTgt>
                                        </p:tgtEl>
                                        <p:attrNameLst>
                                          <p:attrName>style.visibility</p:attrName>
                                        </p:attrNameLst>
                                      </p:cBhvr>
                                      <p:to>
                                        <p:strVal val="visible"/>
                                      </p:to>
                                    </p:set>
                                    <p:anim calcmode="lin" valueType="num">
                                      <p:cBhvr additive="base">
                                        <p:cTn id="49" dur="500" fill="hold"/>
                                        <p:tgtEl>
                                          <p:spTgt spid="650245">
                                            <p:txEl>
                                              <p:pRg st="9" end="9"/>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65024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Memory Technology</a:t>
            </a:r>
            <a:endParaRPr lang="en-AU" dirty="0"/>
          </a:p>
        </p:txBody>
      </p:sp>
      <p:sp>
        <p:nvSpPr>
          <p:cNvPr id="242691" name="Rectangle 3"/>
          <p:cNvSpPr>
            <a:spLocks noGrp="1" noChangeArrowheads="1"/>
          </p:cNvSpPr>
          <p:nvPr>
            <p:ph type="body" idx="1"/>
          </p:nvPr>
        </p:nvSpPr>
        <p:spPr>
          <a:xfrm>
            <a:off x="838200" y="1556792"/>
            <a:ext cx="7529476" cy="5112568"/>
          </a:xfrm>
        </p:spPr>
        <p:txBody>
          <a:bodyPr/>
          <a:lstStyle/>
          <a:p>
            <a:r>
              <a:rPr lang="en-US" dirty="0" smtClean="0"/>
              <a:t>SRAM has </a:t>
            </a:r>
            <a:r>
              <a:rPr lang="en-US" dirty="0"/>
              <a:t>low latency, use for cache</a:t>
            </a:r>
            <a:endParaRPr lang="en-US" dirty="0" smtClean="0"/>
          </a:p>
          <a:p>
            <a:pPr lvl="1"/>
            <a:r>
              <a:rPr lang="en-US" dirty="0" smtClean="0"/>
              <a:t>Requires low power to retain bit</a:t>
            </a:r>
          </a:p>
          <a:p>
            <a:pPr lvl="1"/>
            <a:r>
              <a:rPr lang="en-US" dirty="0" smtClean="0"/>
              <a:t>Requires 6 transistors/bit</a:t>
            </a:r>
          </a:p>
          <a:p>
            <a:pPr lvl="1"/>
            <a:endParaRPr lang="en-US" dirty="0" smtClean="0"/>
          </a:p>
          <a:p>
            <a:r>
              <a:rPr lang="en-US" dirty="0" smtClean="0"/>
              <a:t>DRAM has high density, use for main mem.</a:t>
            </a:r>
          </a:p>
          <a:p>
            <a:pPr lvl="1"/>
            <a:r>
              <a:rPr lang="en-US" dirty="0" smtClean="0"/>
              <a:t>Must be re-written after being read</a:t>
            </a:r>
          </a:p>
          <a:p>
            <a:pPr lvl="1"/>
            <a:r>
              <a:rPr lang="en-US" dirty="0" smtClean="0"/>
              <a:t>Must also be periodically refreshed</a:t>
            </a:r>
          </a:p>
          <a:p>
            <a:pPr lvl="2"/>
            <a:r>
              <a:rPr lang="en-US" dirty="0" smtClean="0"/>
              <a:t>Every ~ 64 </a:t>
            </a:r>
            <a:r>
              <a:rPr lang="en-US" dirty="0" err="1" smtClean="0"/>
              <a:t>ms</a:t>
            </a:r>
            <a:r>
              <a:rPr lang="en-US" dirty="0" smtClean="0"/>
              <a:t> (roughly 5% of time)</a:t>
            </a:r>
          </a:p>
          <a:p>
            <a:pPr lvl="2"/>
            <a:r>
              <a:rPr lang="en-US" dirty="0" smtClean="0"/>
              <a:t>Each row can be refreshed simultaneously</a:t>
            </a:r>
          </a:p>
          <a:p>
            <a:pPr lvl="1"/>
            <a:r>
              <a:rPr lang="en-US" dirty="0" smtClean="0"/>
              <a:t>One transistor/bit</a:t>
            </a:r>
          </a:p>
          <a:p>
            <a:pPr lvl="1"/>
            <a:r>
              <a:rPr lang="en-US" dirty="0" smtClean="0"/>
              <a:t>Address lines are multiplexed:</a:t>
            </a:r>
          </a:p>
          <a:p>
            <a:pPr lvl="2"/>
            <a:r>
              <a:rPr lang="en-US" dirty="0" smtClean="0"/>
              <a:t>Upper half of address:  row access strobe (RAS)</a:t>
            </a:r>
          </a:p>
          <a:p>
            <a:pPr lvl="2"/>
            <a:r>
              <a:rPr lang="en-US" dirty="0" smtClean="0"/>
              <a:t>Lower half of address:  column access strobe (CAS)</a:t>
            </a:r>
          </a:p>
          <a:p>
            <a:pPr lvl="2"/>
            <a:endParaRPr lang="en-US" dirty="0"/>
          </a:p>
        </p:txBody>
      </p:sp>
      <p:pic>
        <p:nvPicPr>
          <p:cNvPr id="4" name="图片 3"/>
          <p:cNvPicPr>
            <a:picLocks noChangeAspect="1"/>
          </p:cNvPicPr>
          <p:nvPr/>
        </p:nvPicPr>
        <p:blipFill>
          <a:blip r:embed="rId3"/>
          <a:stretch>
            <a:fillRect/>
          </a:stretch>
        </p:blipFill>
        <p:spPr>
          <a:xfrm>
            <a:off x="8538037" y="227781"/>
            <a:ext cx="3350360" cy="3057203"/>
          </a:xfrm>
          <a:prstGeom prst="rect">
            <a:avLst/>
          </a:prstGeom>
        </p:spPr>
      </p:pic>
      <p:pic>
        <p:nvPicPr>
          <p:cNvPr id="8" name="图片 7"/>
          <p:cNvPicPr>
            <a:picLocks noChangeAspect="1"/>
          </p:cNvPicPr>
          <p:nvPr/>
        </p:nvPicPr>
        <p:blipFill>
          <a:blip r:embed="rId4"/>
          <a:stretch>
            <a:fillRect/>
          </a:stretch>
        </p:blipFill>
        <p:spPr>
          <a:xfrm>
            <a:off x="8400256" y="3353298"/>
            <a:ext cx="3369225" cy="3343427"/>
          </a:xfrm>
          <a:prstGeom prst="rect">
            <a:avLst/>
          </a:prstGeom>
        </p:spPr>
      </p:pic>
    </p:spTree>
    <p:extLst>
      <p:ext uri="{BB962C8B-B14F-4D97-AF65-F5344CB8AC3E}">
        <p14:creationId xmlns:p14="http://schemas.microsoft.com/office/powerpoint/2010/main" val="41659314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a:xfrm>
            <a:off x="623392" y="210808"/>
            <a:ext cx="9951865"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DRAM logical </a:t>
            </a:r>
            <a:r>
              <a:rPr lang="en-US" altLang="zh-CN" dirty="0" smtClean="0"/>
              <a:t>organization (4 </a:t>
            </a:r>
            <a:r>
              <a:rPr lang="en-US" altLang="zh-CN" dirty="0"/>
              <a:t>Mbit)</a:t>
            </a:r>
          </a:p>
        </p:txBody>
      </p:sp>
      <p:sp>
        <p:nvSpPr>
          <p:cNvPr id="654339" name="Rectangle 3"/>
          <p:cNvSpPr>
            <a:spLocks noGrp="1" noChangeArrowheads="1"/>
          </p:cNvSpPr>
          <p:nvPr>
            <p:ph type="body" sz="half" idx="1"/>
          </p:nvPr>
        </p:nvSpPr>
        <p:spPr>
          <a:xfrm>
            <a:off x="2247900" y="5854700"/>
            <a:ext cx="8267700" cy="4699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tabLst>
                <a:tab pos="2349500" algn="l"/>
                <a:tab pos="5029200" algn="l"/>
              </a:tabLst>
            </a:pPr>
            <a:r>
              <a:rPr lang="en-US" altLang="zh-CN"/>
              <a:t>Square root of bits per RAS/CAS</a:t>
            </a:r>
          </a:p>
        </p:txBody>
      </p:sp>
      <p:sp>
        <p:nvSpPr>
          <p:cNvPr id="654342" name="Rectangle 6"/>
          <p:cNvSpPr>
            <a:spLocks noChangeArrowheads="1"/>
          </p:cNvSpPr>
          <p:nvPr/>
        </p:nvSpPr>
        <p:spPr bwMode="auto">
          <a:xfrm>
            <a:off x="5995988" y="1609725"/>
            <a:ext cx="246862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dirty="0">
                <a:solidFill>
                  <a:srgbClr val="000000"/>
                </a:solidFill>
                <a:latin typeface="Times" panose="02020603050405020304" pitchFamily="18" charset="0"/>
              </a:rPr>
              <a:t>Column Decoder</a:t>
            </a:r>
          </a:p>
        </p:txBody>
      </p:sp>
      <p:sp>
        <p:nvSpPr>
          <p:cNvPr id="654343" name="Rectangle 7"/>
          <p:cNvSpPr>
            <a:spLocks noChangeArrowheads="1"/>
          </p:cNvSpPr>
          <p:nvPr/>
        </p:nvSpPr>
        <p:spPr bwMode="auto">
          <a:xfrm>
            <a:off x="5868988" y="2374900"/>
            <a:ext cx="104355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Sense </a:t>
            </a:r>
          </a:p>
        </p:txBody>
      </p:sp>
      <p:sp>
        <p:nvSpPr>
          <p:cNvPr id="654344" name="Rectangle 8"/>
          <p:cNvSpPr>
            <a:spLocks noChangeArrowheads="1"/>
          </p:cNvSpPr>
          <p:nvPr/>
        </p:nvSpPr>
        <p:spPr bwMode="auto">
          <a:xfrm>
            <a:off x="6689725" y="2374900"/>
            <a:ext cx="184986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Amps &amp; I/O</a:t>
            </a:r>
          </a:p>
        </p:txBody>
      </p:sp>
      <p:sp>
        <p:nvSpPr>
          <p:cNvPr id="654345" name="Rectangle 9"/>
          <p:cNvSpPr>
            <a:spLocks noChangeArrowheads="1"/>
          </p:cNvSpPr>
          <p:nvPr/>
        </p:nvSpPr>
        <p:spPr bwMode="auto">
          <a:xfrm>
            <a:off x="5867400" y="3690938"/>
            <a:ext cx="1413850"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Memory </a:t>
            </a:r>
          </a:p>
        </p:txBody>
      </p:sp>
      <p:sp>
        <p:nvSpPr>
          <p:cNvPr id="654346" name="Rectangle 10"/>
          <p:cNvSpPr>
            <a:spLocks noChangeArrowheads="1"/>
          </p:cNvSpPr>
          <p:nvPr/>
        </p:nvSpPr>
        <p:spPr bwMode="auto">
          <a:xfrm>
            <a:off x="7086601" y="3690938"/>
            <a:ext cx="958597"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Array</a:t>
            </a:r>
          </a:p>
        </p:txBody>
      </p:sp>
      <p:sp>
        <p:nvSpPr>
          <p:cNvPr id="654347" name="Rectangle 11"/>
          <p:cNvSpPr>
            <a:spLocks noChangeArrowheads="1"/>
          </p:cNvSpPr>
          <p:nvPr/>
        </p:nvSpPr>
        <p:spPr bwMode="auto">
          <a:xfrm>
            <a:off x="5953126" y="4121150"/>
            <a:ext cx="2237793"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600">
                <a:solidFill>
                  <a:srgbClr val="000000"/>
                </a:solidFill>
                <a:latin typeface="Times" panose="02020603050405020304" pitchFamily="18" charset="0"/>
              </a:rPr>
              <a:t>(2,048 </a:t>
            </a:r>
            <a:r>
              <a:rPr lang="en-US" altLang="zh-CN" sz="2600">
                <a:solidFill>
                  <a:srgbClr val="000000"/>
                </a:solidFill>
                <a:latin typeface="Times" panose="02020603050405020304" pitchFamily="18" charset="0"/>
              </a:rPr>
              <a:t>x 2,048)</a:t>
            </a:r>
          </a:p>
        </p:txBody>
      </p:sp>
      <p:sp>
        <p:nvSpPr>
          <p:cNvPr id="654348" name="Rectangle 12"/>
          <p:cNvSpPr>
            <a:spLocks noChangeArrowheads="1"/>
          </p:cNvSpPr>
          <p:nvPr/>
        </p:nvSpPr>
        <p:spPr bwMode="auto">
          <a:xfrm>
            <a:off x="1676401" y="3786188"/>
            <a:ext cx="1330493"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A0…A1</a:t>
            </a:r>
          </a:p>
        </p:txBody>
      </p:sp>
      <p:sp>
        <p:nvSpPr>
          <p:cNvPr id="654349" name="Rectangle 13"/>
          <p:cNvSpPr>
            <a:spLocks noChangeArrowheads="1"/>
          </p:cNvSpPr>
          <p:nvPr/>
        </p:nvSpPr>
        <p:spPr bwMode="auto">
          <a:xfrm>
            <a:off x="2819400" y="3786188"/>
            <a:ext cx="34945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600">
                <a:solidFill>
                  <a:srgbClr val="000000"/>
                </a:solidFill>
                <a:latin typeface="Times" panose="02020603050405020304" pitchFamily="18" charset="0"/>
              </a:rPr>
              <a:t>0</a:t>
            </a:r>
          </a:p>
        </p:txBody>
      </p:sp>
      <p:sp>
        <p:nvSpPr>
          <p:cNvPr id="654350" name="Rectangle 14"/>
          <p:cNvSpPr>
            <a:spLocks noChangeArrowheads="1"/>
          </p:cNvSpPr>
          <p:nvPr/>
        </p:nvSpPr>
        <p:spPr bwMode="auto">
          <a:xfrm>
            <a:off x="5876926" y="2911475"/>
            <a:ext cx="2716213" cy="268763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51" name="Rectangle 15"/>
          <p:cNvSpPr>
            <a:spLocks noChangeArrowheads="1"/>
          </p:cNvSpPr>
          <p:nvPr/>
        </p:nvSpPr>
        <p:spPr bwMode="auto">
          <a:xfrm>
            <a:off x="5876926" y="2432051"/>
            <a:ext cx="2716213" cy="441325"/>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52" name="Rectangle 16"/>
          <p:cNvSpPr>
            <a:spLocks noChangeArrowheads="1"/>
          </p:cNvSpPr>
          <p:nvPr/>
        </p:nvSpPr>
        <p:spPr bwMode="auto">
          <a:xfrm>
            <a:off x="5853113" y="1619250"/>
            <a:ext cx="2716212" cy="43973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53" name="Rectangle 17"/>
          <p:cNvSpPr>
            <a:spLocks noChangeArrowheads="1"/>
          </p:cNvSpPr>
          <p:nvPr/>
        </p:nvSpPr>
        <p:spPr bwMode="auto">
          <a:xfrm>
            <a:off x="6985000" y="1944688"/>
            <a:ext cx="516168"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600">
                <a:solidFill>
                  <a:srgbClr val="000000"/>
                </a:solidFill>
                <a:latin typeface="Times" panose="02020603050405020304" pitchFamily="18" charset="0"/>
              </a:rPr>
              <a:t>…</a:t>
            </a:r>
          </a:p>
        </p:txBody>
      </p:sp>
      <p:sp>
        <p:nvSpPr>
          <p:cNvPr id="654355" name="Rectangle 19"/>
          <p:cNvSpPr>
            <a:spLocks noChangeArrowheads="1"/>
          </p:cNvSpPr>
          <p:nvPr/>
        </p:nvSpPr>
        <p:spPr bwMode="auto">
          <a:xfrm>
            <a:off x="5038726" y="2911475"/>
            <a:ext cx="441325" cy="271303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54356"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32426" y="4070351"/>
            <a:ext cx="347663" cy="322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4358" name="Rectangle 22"/>
          <p:cNvSpPr>
            <a:spLocks noChangeArrowheads="1"/>
          </p:cNvSpPr>
          <p:nvPr/>
        </p:nvSpPr>
        <p:spPr bwMode="auto">
          <a:xfrm>
            <a:off x="3744914" y="2935289"/>
            <a:ext cx="441325" cy="2713037"/>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59" name="Rectangle 23"/>
          <p:cNvSpPr>
            <a:spLocks noChangeArrowheads="1"/>
          </p:cNvSpPr>
          <p:nvPr/>
        </p:nvSpPr>
        <p:spPr bwMode="auto">
          <a:xfrm>
            <a:off x="4235451" y="4237039"/>
            <a:ext cx="11113" cy="60325"/>
          </a:xfrm>
          <a:prstGeom prst="rect">
            <a:avLst/>
          </a:prstGeom>
          <a:solidFill>
            <a:srgbClr val="0000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0" name="Rectangle 24"/>
          <p:cNvSpPr>
            <a:spLocks noChangeArrowheads="1"/>
          </p:cNvSpPr>
          <p:nvPr/>
        </p:nvSpPr>
        <p:spPr bwMode="auto">
          <a:xfrm>
            <a:off x="4522789" y="4237039"/>
            <a:ext cx="34925" cy="60325"/>
          </a:xfrm>
          <a:prstGeom prst="rect">
            <a:avLst/>
          </a:prstGeom>
          <a:solidFill>
            <a:srgbClr val="0000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1" name="Rectangle 25"/>
          <p:cNvSpPr>
            <a:spLocks noChangeArrowheads="1"/>
          </p:cNvSpPr>
          <p:nvPr/>
        </p:nvSpPr>
        <p:spPr bwMode="auto">
          <a:xfrm>
            <a:off x="4259264" y="4237038"/>
            <a:ext cx="769937" cy="184150"/>
          </a:xfrm>
          <a:prstGeom prst="rect">
            <a:avLst/>
          </a:prstGeom>
          <a:solidFill>
            <a:srgbClr val="0000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2" name="Rectangle 26"/>
          <p:cNvSpPr>
            <a:spLocks noChangeArrowheads="1"/>
          </p:cNvSpPr>
          <p:nvPr/>
        </p:nvSpPr>
        <p:spPr bwMode="auto">
          <a:xfrm>
            <a:off x="4403725" y="4237038"/>
            <a:ext cx="58738" cy="36512"/>
          </a:xfrm>
          <a:prstGeom prst="rect">
            <a:avLst/>
          </a:prstGeom>
          <a:solidFill>
            <a:srgbClr val="0000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3" name="Rectangle 27"/>
          <p:cNvSpPr>
            <a:spLocks noChangeArrowheads="1"/>
          </p:cNvSpPr>
          <p:nvPr/>
        </p:nvSpPr>
        <p:spPr bwMode="auto">
          <a:xfrm>
            <a:off x="4403725" y="1797050"/>
            <a:ext cx="58738" cy="2427288"/>
          </a:xfrm>
          <a:prstGeom prst="rect">
            <a:avLst/>
          </a:prstGeom>
          <a:solidFill>
            <a:srgbClr val="0000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4" name="Rectangle 28"/>
          <p:cNvSpPr>
            <a:spLocks noChangeArrowheads="1"/>
          </p:cNvSpPr>
          <p:nvPr/>
        </p:nvSpPr>
        <p:spPr bwMode="auto">
          <a:xfrm>
            <a:off x="4427538" y="1797050"/>
            <a:ext cx="1439862" cy="95250"/>
          </a:xfrm>
          <a:prstGeom prst="rect">
            <a:avLst/>
          </a:prstGeom>
          <a:solidFill>
            <a:srgbClr val="0000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5" name="Rectangle 29"/>
          <p:cNvSpPr>
            <a:spLocks noChangeArrowheads="1"/>
          </p:cNvSpPr>
          <p:nvPr/>
        </p:nvSpPr>
        <p:spPr bwMode="auto">
          <a:xfrm>
            <a:off x="4554538" y="2422525"/>
            <a:ext cx="34945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600">
                <a:solidFill>
                  <a:srgbClr val="000000"/>
                </a:solidFill>
                <a:latin typeface="Times" panose="02020603050405020304" pitchFamily="18" charset="0"/>
              </a:rPr>
              <a:t>1</a:t>
            </a:r>
          </a:p>
        </p:txBody>
      </p:sp>
      <p:sp>
        <p:nvSpPr>
          <p:cNvPr id="654366" name="Rectangle 30"/>
          <p:cNvSpPr>
            <a:spLocks noChangeArrowheads="1"/>
          </p:cNvSpPr>
          <p:nvPr/>
        </p:nvSpPr>
        <p:spPr bwMode="auto">
          <a:xfrm>
            <a:off x="4710113" y="2422525"/>
            <a:ext cx="34945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600">
                <a:solidFill>
                  <a:srgbClr val="000000"/>
                </a:solidFill>
                <a:latin typeface="Times" panose="02020603050405020304" pitchFamily="18" charset="0"/>
              </a:rPr>
              <a:t>1</a:t>
            </a:r>
          </a:p>
        </p:txBody>
      </p:sp>
      <p:sp>
        <p:nvSpPr>
          <p:cNvPr id="654367" name="Rectangle 31"/>
          <p:cNvSpPr>
            <a:spLocks noChangeArrowheads="1"/>
          </p:cNvSpPr>
          <p:nvPr/>
        </p:nvSpPr>
        <p:spPr bwMode="auto">
          <a:xfrm>
            <a:off x="9158289" y="1809750"/>
            <a:ext cx="441325" cy="1206500"/>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8" name="Rectangle 32"/>
          <p:cNvSpPr>
            <a:spLocks noChangeArrowheads="1"/>
          </p:cNvSpPr>
          <p:nvPr/>
        </p:nvSpPr>
        <p:spPr bwMode="auto">
          <a:xfrm>
            <a:off x="2941638" y="4237039"/>
            <a:ext cx="11112" cy="60325"/>
          </a:xfrm>
          <a:prstGeom prst="rect">
            <a:avLst/>
          </a:prstGeom>
          <a:solidFill>
            <a:srgbClr val="000000"/>
          </a:solidFill>
          <a:ln>
            <a:noFill/>
          </a:ln>
          <a:effectLst/>
          <a:extLst>
            <a:ext uri="{91240B29-F687-4F45-9708-019B960494DF}">
              <a14:hiddenLine xmlns:a14="http://schemas.microsoft.com/office/drawing/2010/main" w="1270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69" name="Rectangle 33"/>
          <p:cNvSpPr>
            <a:spLocks noChangeArrowheads="1"/>
          </p:cNvSpPr>
          <p:nvPr/>
        </p:nvSpPr>
        <p:spPr bwMode="auto">
          <a:xfrm>
            <a:off x="3252789" y="4237039"/>
            <a:ext cx="34925" cy="60325"/>
          </a:xfrm>
          <a:prstGeom prst="rect">
            <a:avLst/>
          </a:prstGeom>
          <a:solidFill>
            <a:srgbClr val="000000"/>
          </a:solidFill>
          <a:ln>
            <a:noFill/>
          </a:ln>
          <a:effectLst/>
          <a:extLst>
            <a:ext uri="{91240B29-F687-4F45-9708-019B960494DF}">
              <a14:hiddenLine xmlns:a14="http://schemas.microsoft.com/office/drawing/2010/main" w="1270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70" name="Rectangle 34"/>
          <p:cNvSpPr>
            <a:spLocks noChangeArrowheads="1"/>
          </p:cNvSpPr>
          <p:nvPr/>
        </p:nvSpPr>
        <p:spPr bwMode="auto">
          <a:xfrm>
            <a:off x="2965450" y="4237039"/>
            <a:ext cx="768350" cy="168275"/>
          </a:xfrm>
          <a:prstGeom prst="rect">
            <a:avLst/>
          </a:prstGeom>
          <a:solidFill>
            <a:srgbClr val="000000"/>
          </a:solidFill>
          <a:ln>
            <a:noFill/>
          </a:ln>
          <a:effectLst/>
          <a:extLst>
            <a:ext uri="{91240B29-F687-4F45-9708-019B960494DF}">
              <a14:hiddenLine xmlns:a14="http://schemas.microsoft.com/office/drawing/2010/main" w="1270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71" name="Rectangle 35"/>
          <p:cNvSpPr>
            <a:spLocks noChangeArrowheads="1"/>
          </p:cNvSpPr>
          <p:nvPr/>
        </p:nvSpPr>
        <p:spPr bwMode="auto">
          <a:xfrm>
            <a:off x="10152063" y="2327275"/>
            <a:ext cx="423194"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D</a:t>
            </a:r>
          </a:p>
        </p:txBody>
      </p:sp>
      <p:sp>
        <p:nvSpPr>
          <p:cNvPr id="654372" name="Rectangle 36"/>
          <p:cNvSpPr>
            <a:spLocks noChangeArrowheads="1"/>
          </p:cNvSpPr>
          <p:nvPr/>
        </p:nvSpPr>
        <p:spPr bwMode="auto">
          <a:xfrm>
            <a:off x="10120313" y="3667125"/>
            <a:ext cx="423194"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Q</a:t>
            </a:r>
          </a:p>
        </p:txBody>
      </p:sp>
      <p:sp>
        <p:nvSpPr>
          <p:cNvPr id="654373" name="Rectangle 37"/>
          <p:cNvSpPr>
            <a:spLocks noChangeArrowheads="1"/>
          </p:cNvSpPr>
          <p:nvPr/>
        </p:nvSpPr>
        <p:spPr bwMode="auto">
          <a:xfrm>
            <a:off x="5905500" y="4959350"/>
            <a:ext cx="496932"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W</a:t>
            </a:r>
          </a:p>
        </p:txBody>
      </p:sp>
      <p:sp>
        <p:nvSpPr>
          <p:cNvPr id="654374" name="Rectangle 38"/>
          <p:cNvSpPr>
            <a:spLocks noChangeArrowheads="1"/>
          </p:cNvSpPr>
          <p:nvPr/>
        </p:nvSpPr>
        <p:spPr bwMode="auto">
          <a:xfrm>
            <a:off x="6194426" y="4959350"/>
            <a:ext cx="1320875"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a:solidFill>
                  <a:srgbClr val="000000"/>
                </a:solidFill>
                <a:latin typeface="Times" panose="02020603050405020304" pitchFamily="18" charset="0"/>
              </a:rPr>
              <a:t>ord Line</a:t>
            </a:r>
          </a:p>
        </p:txBody>
      </p:sp>
      <p:sp>
        <p:nvSpPr>
          <p:cNvPr id="654376" name="Rectangle 40"/>
          <p:cNvSpPr>
            <a:spLocks noChangeArrowheads="1"/>
          </p:cNvSpPr>
          <p:nvPr/>
        </p:nvSpPr>
        <p:spPr bwMode="auto">
          <a:xfrm>
            <a:off x="7389813" y="4649127"/>
            <a:ext cx="1284007"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dirty="0">
                <a:solidFill>
                  <a:srgbClr val="000000"/>
                </a:solidFill>
                <a:latin typeface="Times" panose="02020603050405020304" pitchFamily="18" charset="0"/>
              </a:rPr>
              <a:t>Storage </a:t>
            </a:r>
          </a:p>
        </p:txBody>
      </p:sp>
      <p:sp>
        <p:nvSpPr>
          <p:cNvPr id="654377" name="Rectangle 41"/>
          <p:cNvSpPr>
            <a:spLocks noChangeArrowheads="1"/>
          </p:cNvSpPr>
          <p:nvPr/>
        </p:nvSpPr>
        <p:spPr bwMode="auto">
          <a:xfrm>
            <a:off x="7480353" y="4891729"/>
            <a:ext cx="738986" cy="4898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600" dirty="0">
                <a:solidFill>
                  <a:srgbClr val="000000"/>
                </a:solidFill>
                <a:latin typeface="Times" panose="02020603050405020304" pitchFamily="18" charset="0"/>
              </a:rPr>
              <a:t>Cell</a:t>
            </a:r>
          </a:p>
        </p:txBody>
      </p:sp>
      <p:sp>
        <p:nvSpPr>
          <p:cNvPr id="654378" name="Rectangle 42"/>
          <p:cNvSpPr>
            <a:spLocks noChangeArrowheads="1"/>
          </p:cNvSpPr>
          <p:nvPr/>
        </p:nvSpPr>
        <p:spPr bwMode="auto">
          <a:xfrm>
            <a:off x="9158288" y="3101975"/>
            <a:ext cx="417512" cy="127793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79" name="Rectangle 43"/>
          <p:cNvSpPr>
            <a:spLocks noChangeArrowheads="1"/>
          </p:cNvSpPr>
          <p:nvPr/>
        </p:nvSpPr>
        <p:spPr bwMode="auto">
          <a:xfrm>
            <a:off x="8083550" y="5187950"/>
            <a:ext cx="215900" cy="215900"/>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80" name="Line 44"/>
          <p:cNvSpPr>
            <a:spLocks noChangeShapeType="1"/>
          </p:cNvSpPr>
          <p:nvPr/>
        </p:nvSpPr>
        <p:spPr bwMode="auto">
          <a:xfrm>
            <a:off x="5949950" y="5410200"/>
            <a:ext cx="2654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81" name="Line 45"/>
          <p:cNvSpPr>
            <a:spLocks noChangeShapeType="1"/>
          </p:cNvSpPr>
          <p:nvPr/>
        </p:nvSpPr>
        <p:spPr bwMode="auto">
          <a:xfrm>
            <a:off x="8305800" y="2901950"/>
            <a:ext cx="0" cy="2730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82" name="Line 46"/>
          <p:cNvSpPr>
            <a:spLocks noChangeShapeType="1"/>
          </p:cNvSpPr>
          <p:nvPr/>
        </p:nvSpPr>
        <p:spPr bwMode="auto">
          <a:xfrm>
            <a:off x="9683750" y="2571750"/>
            <a:ext cx="482600" cy="0"/>
          </a:xfrm>
          <a:prstGeom prst="line">
            <a:avLst/>
          </a:prstGeom>
          <a:noFill/>
          <a:ln w="508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83" name="Line 47"/>
          <p:cNvSpPr>
            <a:spLocks noChangeShapeType="1"/>
          </p:cNvSpPr>
          <p:nvPr/>
        </p:nvSpPr>
        <p:spPr bwMode="auto">
          <a:xfrm>
            <a:off x="9645650" y="3867150"/>
            <a:ext cx="482600" cy="0"/>
          </a:xfrm>
          <a:prstGeom prst="line">
            <a:avLst/>
          </a:prstGeom>
          <a:noFill/>
          <a:ln w="508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文本框 3"/>
          <p:cNvSpPr txBox="1"/>
          <p:nvPr/>
        </p:nvSpPr>
        <p:spPr>
          <a:xfrm rot="16200000">
            <a:off x="2843875" y="4110452"/>
            <a:ext cx="2214902" cy="461665"/>
          </a:xfrm>
          <a:prstGeom prst="rect">
            <a:avLst/>
          </a:prstGeom>
          <a:noFill/>
        </p:spPr>
        <p:txBody>
          <a:bodyPr wrap="none" rtlCol="0">
            <a:spAutoFit/>
          </a:bodyPr>
          <a:lstStyle/>
          <a:p>
            <a:r>
              <a:rPr lang="en-US" altLang="zh-CN" sz="2400" dirty="0" smtClean="0"/>
              <a:t>Address Buffer</a:t>
            </a:r>
            <a:endParaRPr lang="zh-CN" altLang="en-US" sz="2400" dirty="0"/>
          </a:p>
        </p:txBody>
      </p:sp>
      <p:sp>
        <p:nvSpPr>
          <p:cNvPr id="51" name="文本框 50"/>
          <p:cNvSpPr txBox="1"/>
          <p:nvPr/>
        </p:nvSpPr>
        <p:spPr>
          <a:xfrm rot="16200000">
            <a:off x="4190115" y="4050721"/>
            <a:ext cx="2052165" cy="461665"/>
          </a:xfrm>
          <a:prstGeom prst="rect">
            <a:avLst/>
          </a:prstGeom>
          <a:noFill/>
        </p:spPr>
        <p:txBody>
          <a:bodyPr wrap="none" rtlCol="0">
            <a:spAutoFit/>
          </a:bodyPr>
          <a:lstStyle/>
          <a:p>
            <a:r>
              <a:rPr lang="en-US" altLang="zh-CN" sz="2400" dirty="0" smtClean="0"/>
              <a:t>Row Decoder</a:t>
            </a:r>
            <a:endParaRPr lang="zh-CN" altLang="en-US" sz="2400" dirty="0"/>
          </a:p>
        </p:txBody>
      </p:sp>
      <p:sp>
        <p:nvSpPr>
          <p:cNvPr id="52" name="文本框 51"/>
          <p:cNvSpPr txBox="1"/>
          <p:nvPr/>
        </p:nvSpPr>
        <p:spPr>
          <a:xfrm rot="16200000">
            <a:off x="7544691" y="3242484"/>
            <a:ext cx="1212191" cy="461665"/>
          </a:xfrm>
          <a:prstGeom prst="rect">
            <a:avLst/>
          </a:prstGeom>
          <a:noFill/>
        </p:spPr>
        <p:txBody>
          <a:bodyPr wrap="none" rtlCol="0">
            <a:spAutoFit/>
          </a:bodyPr>
          <a:lstStyle/>
          <a:p>
            <a:r>
              <a:rPr lang="en-US" altLang="zh-CN" sz="2400" dirty="0" smtClean="0"/>
              <a:t>Bit Line</a:t>
            </a:r>
            <a:endParaRPr lang="zh-CN" altLang="en-US" sz="2400" dirty="0"/>
          </a:p>
        </p:txBody>
      </p:sp>
      <p:sp>
        <p:nvSpPr>
          <p:cNvPr id="53" name="文本框 52"/>
          <p:cNvSpPr txBox="1"/>
          <p:nvPr/>
        </p:nvSpPr>
        <p:spPr>
          <a:xfrm rot="16200000">
            <a:off x="8664836" y="3510111"/>
            <a:ext cx="1415772" cy="461665"/>
          </a:xfrm>
          <a:prstGeom prst="rect">
            <a:avLst/>
          </a:prstGeom>
          <a:noFill/>
        </p:spPr>
        <p:txBody>
          <a:bodyPr wrap="none" rtlCol="0">
            <a:spAutoFit/>
          </a:bodyPr>
          <a:lstStyle/>
          <a:p>
            <a:r>
              <a:rPr lang="en-US" altLang="zh-CN" sz="2400" dirty="0" smtClean="0"/>
              <a:t>Data Out</a:t>
            </a:r>
            <a:endParaRPr lang="zh-CN" altLang="en-US" sz="2400" dirty="0"/>
          </a:p>
        </p:txBody>
      </p:sp>
      <p:sp>
        <p:nvSpPr>
          <p:cNvPr id="54" name="文本框 53"/>
          <p:cNvSpPr txBox="1"/>
          <p:nvPr/>
        </p:nvSpPr>
        <p:spPr>
          <a:xfrm rot="16200000">
            <a:off x="8771432" y="2182167"/>
            <a:ext cx="1176925" cy="461665"/>
          </a:xfrm>
          <a:prstGeom prst="rect">
            <a:avLst/>
          </a:prstGeom>
          <a:noFill/>
        </p:spPr>
        <p:txBody>
          <a:bodyPr wrap="none" rtlCol="0">
            <a:spAutoFit/>
          </a:bodyPr>
          <a:lstStyle/>
          <a:p>
            <a:r>
              <a:rPr lang="en-US" altLang="zh-CN" sz="2400" dirty="0" smtClean="0"/>
              <a:t>Data In</a:t>
            </a:r>
            <a:endParaRPr lang="zh-CN" altLang="en-US" sz="2400" dirty="0"/>
          </a:p>
        </p:txBody>
      </p:sp>
    </p:spTree>
    <p:extLst>
      <p:ext uri="{BB962C8B-B14F-4D97-AF65-F5344CB8AC3E}">
        <p14:creationId xmlns:p14="http://schemas.microsoft.com/office/powerpoint/2010/main" val="1233044271"/>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p:txBody>
          <a:bodyPr/>
          <a:lstStyle/>
          <a:p>
            <a:r>
              <a:rPr lang="en-US" altLang="zh-CN" dirty="0" smtClean="0"/>
              <a:t>Weakness of DRAM</a:t>
            </a:r>
            <a:endParaRPr lang="en-US" altLang="zh-CN" dirty="0"/>
          </a:p>
        </p:txBody>
      </p:sp>
      <p:sp>
        <p:nvSpPr>
          <p:cNvPr id="745475" name="Rectangle 3"/>
          <p:cNvSpPr>
            <a:spLocks noGrp="1" noChangeArrowheads="1"/>
          </p:cNvSpPr>
          <p:nvPr>
            <p:ph type="body" idx="1"/>
          </p:nvPr>
        </p:nvSpPr>
        <p:spPr/>
        <p:txBody>
          <a:bodyPr/>
          <a:lstStyle/>
          <a:p>
            <a:r>
              <a:rPr lang="en-US" altLang="zh-CN" dirty="0" smtClean="0"/>
              <a:t>By it’s nature, DRAM isn’t built for speed</a:t>
            </a:r>
          </a:p>
          <a:p>
            <a:pPr lvl="1"/>
            <a:r>
              <a:rPr lang="en-US" altLang="zh-CN" dirty="0" smtClean="0"/>
              <a:t>Response times dependent on capacitive circuit properties which get worse as density increases</a:t>
            </a:r>
          </a:p>
          <a:p>
            <a:r>
              <a:rPr lang="en-US" altLang="zh-CN" dirty="0" smtClean="0"/>
              <a:t>DRAM process isn’t easy to integrate into CMOS process</a:t>
            </a:r>
          </a:p>
          <a:p>
            <a:pPr lvl="1"/>
            <a:r>
              <a:rPr lang="en-US" altLang="zh-CN" dirty="0" smtClean="0"/>
              <a:t>DRAM is off chip </a:t>
            </a:r>
          </a:p>
          <a:p>
            <a:pPr lvl="1"/>
            <a:r>
              <a:rPr lang="en-US" altLang="zh-CN" dirty="0" smtClean="0"/>
              <a:t>Connectors, wires, etc. introduce slowness</a:t>
            </a:r>
          </a:p>
          <a:p>
            <a:pPr lvl="1"/>
            <a:r>
              <a:rPr lang="en-US" altLang="zh-CN" dirty="0" smtClean="0"/>
              <a:t>IRAM efforts looking to integrating the two</a:t>
            </a:r>
          </a:p>
          <a:p>
            <a:r>
              <a:rPr lang="en-US" altLang="zh-CN" dirty="0" smtClean="0"/>
              <a:t>Memory Architectures are designed to minimize impact of DRAM latency</a:t>
            </a:r>
          </a:p>
          <a:p>
            <a:pPr lvl="1"/>
            <a:r>
              <a:rPr lang="en-US" altLang="zh-CN" dirty="0" smtClean="0"/>
              <a:t>Low Level: Memory chips</a:t>
            </a:r>
          </a:p>
          <a:p>
            <a:pPr lvl="1"/>
            <a:r>
              <a:rPr lang="en-US" altLang="zh-CN" dirty="0" smtClean="0"/>
              <a:t>High Level: memory system designs</a:t>
            </a:r>
          </a:p>
        </p:txBody>
      </p:sp>
    </p:spTree>
    <p:extLst>
      <p:ext uri="{BB962C8B-B14F-4D97-AF65-F5344CB8AC3E}">
        <p14:creationId xmlns:p14="http://schemas.microsoft.com/office/powerpoint/2010/main" val="258865255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Memory Technology</a:t>
            </a:r>
            <a:endParaRPr lang="en-AU" dirty="0"/>
          </a:p>
        </p:txBody>
      </p:sp>
      <p:sp>
        <p:nvSpPr>
          <p:cNvPr id="242691" name="Rectangle 3"/>
          <p:cNvSpPr>
            <a:spLocks noGrp="1" noChangeArrowheads="1"/>
          </p:cNvSpPr>
          <p:nvPr>
            <p:ph type="body" idx="1"/>
          </p:nvPr>
        </p:nvSpPr>
        <p:spPr/>
        <p:txBody>
          <a:bodyPr/>
          <a:lstStyle/>
          <a:p>
            <a:r>
              <a:rPr lang="en-US" dirty="0" smtClean="0"/>
              <a:t>Amdahl’s hope for a balanced computer </a:t>
            </a:r>
          </a:p>
          <a:p>
            <a:pPr lvl="1"/>
            <a:r>
              <a:rPr lang="en-US" dirty="0" smtClean="0"/>
              <a:t>Memory capacity should grow linearly with processor speed</a:t>
            </a:r>
          </a:p>
          <a:p>
            <a:pPr lvl="1"/>
            <a:r>
              <a:rPr lang="en-US" dirty="0" smtClean="0"/>
              <a:t>Unfortunately, memory capacity and speed has not kept pace with processors</a:t>
            </a:r>
          </a:p>
          <a:p>
            <a:pPr lvl="1"/>
            <a:endParaRPr lang="en-US" dirty="0" smtClean="0"/>
          </a:p>
          <a:p>
            <a:r>
              <a:rPr lang="en-US" dirty="0" smtClean="0"/>
              <a:t>Some optimizations to DRAM chips</a:t>
            </a:r>
          </a:p>
          <a:p>
            <a:pPr lvl="1"/>
            <a:r>
              <a:rPr lang="en-US" dirty="0" smtClean="0"/>
              <a:t>Multiple accesses to same row</a:t>
            </a:r>
          </a:p>
          <a:p>
            <a:pPr lvl="1"/>
            <a:r>
              <a:rPr lang="en-US" dirty="0" smtClean="0"/>
              <a:t>Synchronous DRAM</a:t>
            </a:r>
          </a:p>
          <a:p>
            <a:pPr lvl="2"/>
            <a:r>
              <a:rPr lang="en-US" dirty="0" smtClean="0"/>
              <a:t>Added clock to DRAM interface</a:t>
            </a:r>
          </a:p>
          <a:p>
            <a:pPr lvl="2"/>
            <a:r>
              <a:rPr lang="en-US" dirty="0" smtClean="0"/>
              <a:t>Burst mode with critical word first</a:t>
            </a:r>
          </a:p>
          <a:p>
            <a:pPr lvl="1"/>
            <a:r>
              <a:rPr lang="en-US" dirty="0" smtClean="0"/>
              <a:t>Wider interfaces</a:t>
            </a:r>
          </a:p>
          <a:p>
            <a:pPr lvl="1"/>
            <a:r>
              <a:rPr lang="en-US" dirty="0" smtClean="0"/>
              <a:t>Double data rate (DDR)</a:t>
            </a:r>
          </a:p>
          <a:p>
            <a:pPr lvl="1"/>
            <a:r>
              <a:rPr lang="en-US" dirty="0" smtClean="0"/>
              <a:t>Multiple banks on each DRAM device</a:t>
            </a:r>
            <a:endParaRPr lang="en-US" dirty="0"/>
          </a:p>
        </p:txBody>
      </p:sp>
    </p:spTree>
    <p:extLst>
      <p:ext uri="{BB962C8B-B14F-4D97-AF65-F5344CB8AC3E}">
        <p14:creationId xmlns:p14="http://schemas.microsoft.com/office/powerpoint/2010/main" val="1273526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DRAM </a:t>
            </a:r>
            <a:r>
              <a:rPr lang="en-US" altLang="zh-CN" dirty="0" smtClean="0"/>
              <a:t>Performance Indexes</a:t>
            </a:r>
            <a:endParaRPr lang="en-US" altLang="zh-CN" dirty="0"/>
          </a:p>
        </p:txBody>
      </p:sp>
      <p:sp>
        <p:nvSpPr>
          <p:cNvPr id="657411" name="Rectangle 3"/>
          <p:cNvSpPr>
            <a:spLocks noGrp="1" noChangeArrowheads="1"/>
          </p:cNvSpPr>
          <p:nvPr>
            <p:ph type="body" idx="1"/>
          </p:nvPr>
        </p:nvSpPr>
        <p:spPr>
          <a:xfrm>
            <a:off x="407368" y="1556792"/>
            <a:ext cx="11593288" cy="511256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A 60 ns (</a:t>
            </a:r>
            <a:r>
              <a:rPr lang="en-US" altLang="zh-CN" dirty="0" err="1">
                <a:solidFill>
                  <a:schemeClr val="hlink"/>
                </a:solidFill>
              </a:rPr>
              <a:t>t</a:t>
            </a:r>
            <a:r>
              <a:rPr lang="en-US" altLang="zh-CN" baseline="-25000" dirty="0" err="1">
                <a:solidFill>
                  <a:schemeClr val="hlink"/>
                </a:solidFill>
              </a:rPr>
              <a:t>RAC</a:t>
            </a:r>
            <a:r>
              <a:rPr lang="en-US" altLang="zh-CN" dirty="0"/>
              <a:t>) DRAM can </a:t>
            </a:r>
          </a:p>
          <a:p>
            <a:pPr lvl="1"/>
            <a:r>
              <a:rPr lang="en-US" altLang="zh-CN" dirty="0"/>
              <a:t>perform a row access only every 110 ns (</a:t>
            </a:r>
            <a:r>
              <a:rPr lang="en-US" altLang="zh-CN" dirty="0" err="1">
                <a:solidFill>
                  <a:schemeClr val="hlink"/>
                </a:solidFill>
              </a:rPr>
              <a:t>t</a:t>
            </a:r>
            <a:r>
              <a:rPr lang="en-US" altLang="zh-CN" baseline="-25000" dirty="0" err="1">
                <a:solidFill>
                  <a:schemeClr val="hlink"/>
                </a:solidFill>
              </a:rPr>
              <a:t>RC</a:t>
            </a:r>
            <a:r>
              <a:rPr lang="en-US" altLang="zh-CN" dirty="0"/>
              <a:t>) </a:t>
            </a:r>
          </a:p>
          <a:p>
            <a:pPr lvl="1"/>
            <a:r>
              <a:rPr lang="en-US" altLang="zh-CN" dirty="0"/>
              <a:t>perform column access (</a:t>
            </a:r>
            <a:r>
              <a:rPr lang="en-US" altLang="zh-CN" dirty="0" err="1">
                <a:solidFill>
                  <a:schemeClr val="hlink"/>
                </a:solidFill>
              </a:rPr>
              <a:t>t</a:t>
            </a:r>
            <a:r>
              <a:rPr lang="en-US" altLang="zh-CN" baseline="-25000" dirty="0" err="1">
                <a:solidFill>
                  <a:schemeClr val="hlink"/>
                </a:solidFill>
              </a:rPr>
              <a:t>CAC</a:t>
            </a:r>
            <a:r>
              <a:rPr lang="en-US" altLang="zh-CN" dirty="0"/>
              <a:t>) in 15 ns, but time between column accesses is at least 35 ns (</a:t>
            </a:r>
            <a:r>
              <a:rPr lang="en-US" altLang="zh-CN" dirty="0" err="1">
                <a:solidFill>
                  <a:schemeClr val="hlink"/>
                </a:solidFill>
              </a:rPr>
              <a:t>t</a:t>
            </a:r>
            <a:r>
              <a:rPr lang="en-US" altLang="zh-CN" baseline="-25000" dirty="0" err="1">
                <a:solidFill>
                  <a:schemeClr val="hlink"/>
                </a:solidFill>
              </a:rPr>
              <a:t>PC</a:t>
            </a:r>
            <a:r>
              <a:rPr lang="en-US" altLang="zh-CN" dirty="0"/>
              <a:t>). </a:t>
            </a:r>
          </a:p>
          <a:p>
            <a:pPr lvl="2"/>
            <a:r>
              <a:rPr lang="en-US" altLang="zh-CN" sz="2400" dirty="0"/>
              <a:t>In practice, external address delays and turning around buses make it 40 to 50 ns</a:t>
            </a:r>
          </a:p>
          <a:p>
            <a:pPr lvl="1"/>
            <a:r>
              <a:rPr lang="en-US" altLang="zh-CN" dirty="0"/>
              <a:t>These times do not include the time to drive the addresses off the microprocessor nor the memory controller overhead</a:t>
            </a:r>
            <a:r>
              <a:rPr lang="en-US" altLang="zh-CN" dirty="0" smtClean="0"/>
              <a:t>!</a:t>
            </a:r>
          </a:p>
          <a:p>
            <a:r>
              <a:rPr lang="en-US" altLang="zh-CN" dirty="0" smtClean="0"/>
              <a:t>Defined by JEDEC Solid State Technology Association</a:t>
            </a:r>
          </a:p>
          <a:p>
            <a:pPr lvl="1"/>
            <a:r>
              <a:rPr lang="en-US" altLang="zh-CN" dirty="0" smtClean="0"/>
              <a:t>Joint Electronic Device Engineering Council</a:t>
            </a:r>
          </a:p>
          <a:p>
            <a:pPr lvl="1"/>
            <a:r>
              <a:rPr lang="en-US" altLang="zh-CN" dirty="0"/>
              <a:t>Rely on increasing no. of computers &amp; memory per computer (60% market)</a:t>
            </a:r>
          </a:p>
          <a:p>
            <a:pPr lvl="1"/>
            <a:r>
              <a:rPr lang="en-US" altLang="zh-CN" dirty="0" smtClean="0"/>
              <a:t>Commodity</a:t>
            </a:r>
            <a:r>
              <a:rPr lang="en-US" altLang="zh-CN" dirty="0"/>
              <a:t>, second source industry =&gt; high volume, low profit, conservative</a:t>
            </a:r>
          </a:p>
          <a:p>
            <a:pPr lvl="1"/>
            <a:r>
              <a:rPr lang="en-US" altLang="zh-CN" dirty="0" smtClean="0"/>
              <a:t>SIMM </a:t>
            </a:r>
            <a:r>
              <a:rPr lang="en-US" altLang="zh-CN" dirty="0"/>
              <a:t>or DIMM is replaceable unit =&gt; computers use any generation DRAM</a:t>
            </a:r>
          </a:p>
          <a:p>
            <a:pPr lvl="2"/>
            <a:endParaRPr lang="en-US" altLang="zh-CN" dirty="0" smtClean="0"/>
          </a:p>
        </p:txBody>
      </p:sp>
    </p:spTree>
    <p:extLst>
      <p:ext uri="{BB962C8B-B14F-4D97-AF65-F5344CB8AC3E}">
        <p14:creationId xmlns:p14="http://schemas.microsoft.com/office/powerpoint/2010/main" val="171757352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8674" name="Rectangle 1026"/>
          <p:cNvSpPr>
            <a:spLocks noGrp="1" noChangeArrowheads="1"/>
          </p:cNvSpPr>
          <p:nvPr>
            <p:ph type="title"/>
          </p:nvPr>
        </p:nvSpPr>
        <p:spPr/>
        <p:txBody>
          <a:bodyPr/>
          <a:lstStyle/>
          <a:p>
            <a:r>
              <a:rPr lang="en-US" altLang="zh-CN" dirty="0" smtClean="0"/>
              <a:t>Fast Memory Systems: DRAM specific</a:t>
            </a:r>
            <a:endParaRPr lang="en-US" altLang="zh-CN" dirty="0"/>
          </a:p>
        </p:txBody>
      </p:sp>
      <p:sp>
        <p:nvSpPr>
          <p:cNvPr id="668675" name="Rectangle 1027"/>
          <p:cNvSpPr>
            <a:spLocks noGrp="1" noChangeArrowheads="1"/>
          </p:cNvSpPr>
          <p:nvPr>
            <p:ph type="body" idx="1"/>
          </p:nvPr>
        </p:nvSpPr>
        <p:spPr>
          <a:xfrm>
            <a:off x="407368" y="1556792"/>
            <a:ext cx="10946432" cy="5112568"/>
          </a:xfrm>
        </p:spPr>
        <p:txBody>
          <a:bodyPr/>
          <a:lstStyle/>
          <a:p>
            <a:r>
              <a:rPr lang="en-US" altLang="zh-CN" dirty="0" smtClean="0"/>
              <a:t>Page mode: </a:t>
            </a:r>
            <a:r>
              <a:rPr lang="en-US" altLang="zh-CN" dirty="0"/>
              <a:t>All bits on the same ROW (Spatial Locality)</a:t>
            </a:r>
          </a:p>
          <a:p>
            <a:pPr lvl="1"/>
            <a:r>
              <a:rPr lang="en-US" altLang="zh-CN" dirty="0"/>
              <a:t>Don’t need to wait for </a:t>
            </a:r>
            <a:r>
              <a:rPr lang="en-US" altLang="zh-CN" dirty="0" err="1"/>
              <a:t>wordline</a:t>
            </a:r>
            <a:r>
              <a:rPr lang="en-US" altLang="zh-CN" dirty="0"/>
              <a:t> to recharge</a:t>
            </a:r>
          </a:p>
          <a:p>
            <a:pPr lvl="1"/>
            <a:r>
              <a:rPr lang="en-US" altLang="zh-CN" dirty="0"/>
              <a:t>Toggle CAS with new column address</a:t>
            </a:r>
          </a:p>
          <a:p>
            <a:r>
              <a:rPr lang="en-US" altLang="zh-CN" dirty="0"/>
              <a:t>Overlap Data output w/ CAS toggle</a:t>
            </a:r>
          </a:p>
          <a:p>
            <a:pPr lvl="1"/>
            <a:r>
              <a:rPr lang="en-US" altLang="zh-CN" dirty="0" smtClean="0"/>
              <a:t>Extended Data Out (EDO): 30% faster in page mode</a:t>
            </a:r>
          </a:p>
          <a:p>
            <a:r>
              <a:rPr lang="en-US" altLang="zh-CN" dirty="0" smtClean="0"/>
              <a:t>Synchronous DRAM: Has </a:t>
            </a:r>
            <a:r>
              <a:rPr lang="en-US" altLang="zh-CN" dirty="0"/>
              <a:t>a clock </a:t>
            </a:r>
            <a:r>
              <a:rPr lang="en-US" altLang="zh-CN" dirty="0" smtClean="0"/>
              <a:t>input</a:t>
            </a:r>
            <a:endParaRPr lang="en-US" altLang="zh-CN" dirty="0"/>
          </a:p>
          <a:p>
            <a:pPr lvl="1"/>
            <a:r>
              <a:rPr lang="en-US" altLang="zh-CN" dirty="0"/>
              <a:t>Data output is in bursts w/ each element clocked</a:t>
            </a:r>
          </a:p>
          <a:p>
            <a:pPr lvl="1"/>
            <a:r>
              <a:rPr lang="en-US" altLang="zh-CN" dirty="0"/>
              <a:t>Flavors: SDRAM, </a:t>
            </a:r>
            <a:r>
              <a:rPr lang="en-US" altLang="zh-CN" dirty="0" smtClean="0"/>
              <a:t>DDR (</a:t>
            </a:r>
            <a:r>
              <a:rPr lang="en-US" altLang="zh-CN" dirty="0"/>
              <a:t>D</a:t>
            </a:r>
            <a:r>
              <a:rPr lang="en-US" altLang="zh-CN" dirty="0" smtClean="0"/>
              <a:t>ouble </a:t>
            </a:r>
            <a:r>
              <a:rPr lang="en-US" altLang="zh-CN" dirty="0"/>
              <a:t>D</a:t>
            </a:r>
            <a:r>
              <a:rPr lang="en-US" altLang="zh-CN" dirty="0" smtClean="0"/>
              <a:t>ata Rate)</a:t>
            </a:r>
            <a:endParaRPr lang="en-US" altLang="zh-CN" dirty="0"/>
          </a:p>
          <a:p>
            <a:endParaRPr lang="en-US" altLang="zh-CN" dirty="0" smtClean="0"/>
          </a:p>
          <a:p>
            <a:r>
              <a:rPr lang="en-US" altLang="zh-CN" dirty="0" smtClean="0"/>
              <a:t>Niche memory or main memory?</a:t>
            </a:r>
          </a:p>
          <a:p>
            <a:pPr lvl="1"/>
            <a:r>
              <a:rPr lang="en-US" altLang="zh-CN" dirty="0" smtClean="0"/>
              <a:t>e.g., Video RAM for frame buffers, DRAM + fast serial output</a:t>
            </a:r>
            <a:endParaRPr lang="en-US" altLang="zh-CN" dirty="0"/>
          </a:p>
        </p:txBody>
      </p:sp>
    </p:spTree>
    <p:extLst>
      <p:ext uri="{BB962C8B-B14F-4D97-AF65-F5344CB8AC3E}">
        <p14:creationId xmlns:p14="http://schemas.microsoft.com/office/powerpoint/2010/main" val="41285565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8675">
                                            <p:txEl>
                                              <p:pRg st="0" end="0"/>
                                            </p:txEl>
                                          </p:spTgt>
                                        </p:tgtEl>
                                        <p:attrNameLst>
                                          <p:attrName>style.visibility</p:attrName>
                                        </p:attrNameLst>
                                      </p:cBhvr>
                                      <p:to>
                                        <p:strVal val="visible"/>
                                      </p:to>
                                    </p:set>
                                    <p:anim calcmode="lin" valueType="num">
                                      <p:cBhvr additive="base">
                                        <p:cTn id="7" dur="500" fill="hold"/>
                                        <p:tgtEl>
                                          <p:spTgt spid="66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686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68675">
                                            <p:txEl>
                                              <p:pRg st="1" end="1"/>
                                            </p:txEl>
                                          </p:spTgt>
                                        </p:tgtEl>
                                        <p:attrNameLst>
                                          <p:attrName>style.visibility</p:attrName>
                                        </p:attrNameLst>
                                      </p:cBhvr>
                                      <p:to>
                                        <p:strVal val="visible"/>
                                      </p:to>
                                    </p:set>
                                    <p:anim calcmode="lin" valueType="num">
                                      <p:cBhvr additive="base">
                                        <p:cTn id="11" dur="500" fill="hold"/>
                                        <p:tgtEl>
                                          <p:spTgt spid="66867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6867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68675">
                                            <p:txEl>
                                              <p:pRg st="2" end="2"/>
                                            </p:txEl>
                                          </p:spTgt>
                                        </p:tgtEl>
                                        <p:attrNameLst>
                                          <p:attrName>style.visibility</p:attrName>
                                        </p:attrNameLst>
                                      </p:cBhvr>
                                      <p:to>
                                        <p:strVal val="visible"/>
                                      </p:to>
                                    </p:set>
                                    <p:anim calcmode="lin" valueType="num">
                                      <p:cBhvr additive="base">
                                        <p:cTn id="15" dur="500" fill="hold"/>
                                        <p:tgtEl>
                                          <p:spTgt spid="66867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6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668675">
                                            <p:txEl>
                                              <p:pRg st="3" end="3"/>
                                            </p:txEl>
                                          </p:spTgt>
                                        </p:tgtEl>
                                        <p:attrNameLst>
                                          <p:attrName>style.visibility</p:attrName>
                                        </p:attrNameLst>
                                      </p:cBhvr>
                                      <p:to>
                                        <p:strVal val="visible"/>
                                      </p:to>
                                    </p:set>
                                    <p:anim calcmode="lin" valueType="num">
                                      <p:cBhvr additive="base">
                                        <p:cTn id="21" dur="500" fill="hold"/>
                                        <p:tgtEl>
                                          <p:spTgt spid="66867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68675">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68675">
                                            <p:txEl>
                                              <p:pRg st="4" end="4"/>
                                            </p:txEl>
                                          </p:spTgt>
                                        </p:tgtEl>
                                        <p:attrNameLst>
                                          <p:attrName>style.visibility</p:attrName>
                                        </p:attrNameLst>
                                      </p:cBhvr>
                                      <p:to>
                                        <p:strVal val="visible"/>
                                      </p:to>
                                    </p:set>
                                    <p:anim calcmode="lin" valueType="num">
                                      <p:cBhvr additive="base">
                                        <p:cTn id="25" dur="500" fill="hold"/>
                                        <p:tgtEl>
                                          <p:spTgt spid="66867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6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68675">
                                            <p:txEl>
                                              <p:pRg st="5" end="5"/>
                                            </p:txEl>
                                          </p:spTgt>
                                        </p:tgtEl>
                                        <p:attrNameLst>
                                          <p:attrName>style.visibility</p:attrName>
                                        </p:attrNameLst>
                                      </p:cBhvr>
                                      <p:to>
                                        <p:strVal val="visible"/>
                                      </p:to>
                                    </p:set>
                                    <p:anim calcmode="lin" valueType="num">
                                      <p:cBhvr additive="base">
                                        <p:cTn id="31" dur="500" fill="hold"/>
                                        <p:tgtEl>
                                          <p:spTgt spid="668675">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68675">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68675">
                                            <p:txEl>
                                              <p:pRg st="6" end="6"/>
                                            </p:txEl>
                                          </p:spTgt>
                                        </p:tgtEl>
                                        <p:attrNameLst>
                                          <p:attrName>style.visibility</p:attrName>
                                        </p:attrNameLst>
                                      </p:cBhvr>
                                      <p:to>
                                        <p:strVal val="visible"/>
                                      </p:to>
                                    </p:set>
                                    <p:anim calcmode="lin" valueType="num">
                                      <p:cBhvr additive="base">
                                        <p:cTn id="35" dur="500" fill="hold"/>
                                        <p:tgtEl>
                                          <p:spTgt spid="668675">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68675">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68675">
                                            <p:txEl>
                                              <p:pRg st="7" end="7"/>
                                            </p:txEl>
                                          </p:spTgt>
                                        </p:tgtEl>
                                        <p:attrNameLst>
                                          <p:attrName>style.visibility</p:attrName>
                                        </p:attrNameLst>
                                      </p:cBhvr>
                                      <p:to>
                                        <p:strVal val="visible"/>
                                      </p:to>
                                    </p:set>
                                    <p:anim calcmode="lin" valueType="num">
                                      <p:cBhvr additive="base">
                                        <p:cTn id="39" dur="500" fill="hold"/>
                                        <p:tgtEl>
                                          <p:spTgt spid="668675">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6867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668675">
                                            <p:txEl>
                                              <p:pRg st="9" end="9"/>
                                            </p:txEl>
                                          </p:spTgt>
                                        </p:tgtEl>
                                        <p:attrNameLst>
                                          <p:attrName>style.visibility</p:attrName>
                                        </p:attrNameLst>
                                      </p:cBhvr>
                                      <p:to>
                                        <p:strVal val="visible"/>
                                      </p:to>
                                    </p:set>
                                    <p:anim calcmode="lin" valueType="num">
                                      <p:cBhvr additive="base">
                                        <p:cTn id="45" dur="500" fill="hold"/>
                                        <p:tgtEl>
                                          <p:spTgt spid="668675">
                                            <p:txEl>
                                              <p:pRg st="9" end="9"/>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668675">
                                            <p:txEl>
                                              <p:pRg st="9" end="9"/>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668675">
                                            <p:txEl>
                                              <p:pRg st="10" end="10"/>
                                            </p:txEl>
                                          </p:spTgt>
                                        </p:tgtEl>
                                        <p:attrNameLst>
                                          <p:attrName>style.visibility</p:attrName>
                                        </p:attrNameLst>
                                      </p:cBhvr>
                                      <p:to>
                                        <p:strVal val="visible"/>
                                      </p:to>
                                    </p:set>
                                    <p:anim calcmode="lin" valueType="num">
                                      <p:cBhvr additive="base">
                                        <p:cTn id="49" dur="500" fill="hold"/>
                                        <p:tgtEl>
                                          <p:spTgt spid="668675">
                                            <p:txEl>
                                              <p:pRg st="10" end="1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668675">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5"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p:txBody>
          <a:bodyPr/>
          <a:lstStyle/>
          <a:p>
            <a:r>
              <a:rPr lang="en-US" altLang="zh-CN" dirty="0" smtClean="0"/>
              <a:t>RAMBUS (RDRAM)</a:t>
            </a:r>
            <a:endParaRPr lang="en-US" altLang="zh-CN" dirty="0"/>
          </a:p>
        </p:txBody>
      </p:sp>
      <p:sp>
        <p:nvSpPr>
          <p:cNvPr id="750595" name="Rectangle 3"/>
          <p:cNvSpPr>
            <a:spLocks noGrp="1" noChangeArrowheads="1"/>
          </p:cNvSpPr>
          <p:nvPr>
            <p:ph type="body" idx="1"/>
          </p:nvPr>
        </p:nvSpPr>
        <p:spPr/>
        <p:txBody>
          <a:bodyPr/>
          <a:lstStyle/>
          <a:p>
            <a:r>
              <a:rPr lang="en-US" altLang="zh-CN" dirty="0"/>
              <a:t>RAMBUS: startup company; reinvent DRAM interface</a:t>
            </a:r>
          </a:p>
          <a:p>
            <a:pPr lvl="1"/>
            <a:r>
              <a:rPr lang="en-US" altLang="zh-CN" dirty="0"/>
              <a:t>Each Chip a module vs. slice of memory, Short bus between CPU and chips</a:t>
            </a:r>
          </a:p>
          <a:p>
            <a:pPr lvl="1"/>
            <a:r>
              <a:rPr lang="en-US" altLang="zh-CN" dirty="0"/>
              <a:t>Does own refresh; Variable amount of data returned</a:t>
            </a:r>
          </a:p>
          <a:p>
            <a:pPr lvl="1"/>
            <a:r>
              <a:rPr lang="en-US" altLang="zh-CN" dirty="0"/>
              <a:t>1 byte / 2 ns (500 MB/s per chip); 20% increase in DRAM area</a:t>
            </a:r>
          </a:p>
        </p:txBody>
      </p:sp>
      <p:pic>
        <p:nvPicPr>
          <p:cNvPr id="750596" name="Picture 4" descr="RAMBUSorg"/>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456040" y="3647377"/>
            <a:ext cx="4572000" cy="2235200"/>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50597" name="Picture 5" descr="Rambus-DRAM"/>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1271464" y="3573016"/>
            <a:ext cx="4572000" cy="2817812"/>
          </a:xfr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50598" name="Text Box 6"/>
          <p:cNvSpPr txBox="1">
            <a:spLocks noChangeArrowheads="1"/>
          </p:cNvSpPr>
          <p:nvPr/>
        </p:nvSpPr>
        <p:spPr bwMode="auto">
          <a:xfrm>
            <a:off x="2286000" y="6302647"/>
            <a:ext cx="30480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RAMBUS Bank </a:t>
            </a:r>
          </a:p>
        </p:txBody>
      </p:sp>
      <p:sp>
        <p:nvSpPr>
          <p:cNvPr id="750599" name="Text Box 7"/>
          <p:cNvSpPr txBox="1">
            <a:spLocks noChangeArrowheads="1"/>
          </p:cNvSpPr>
          <p:nvPr/>
        </p:nvSpPr>
        <p:spPr bwMode="auto">
          <a:xfrm>
            <a:off x="7010400" y="5867401"/>
            <a:ext cx="30480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RDRAM Memory System</a:t>
            </a:r>
          </a:p>
        </p:txBody>
      </p:sp>
    </p:spTree>
    <p:extLst>
      <p:ext uri="{BB962C8B-B14F-4D97-AF65-F5344CB8AC3E}">
        <p14:creationId xmlns:p14="http://schemas.microsoft.com/office/powerpoint/2010/main" val="413897711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DDR and GDDR Memory</a:t>
            </a:r>
            <a:endParaRPr lang="en-AU" dirty="0"/>
          </a:p>
        </p:txBody>
      </p:sp>
      <p:sp>
        <p:nvSpPr>
          <p:cNvPr id="242691" name="Rectangle 3"/>
          <p:cNvSpPr>
            <a:spLocks noGrp="1" noChangeArrowheads="1"/>
          </p:cNvSpPr>
          <p:nvPr>
            <p:ph type="body" idx="1"/>
          </p:nvPr>
        </p:nvSpPr>
        <p:spPr/>
        <p:txBody>
          <a:bodyPr/>
          <a:lstStyle/>
          <a:p>
            <a:r>
              <a:rPr lang="en-US" dirty="0" smtClean="0"/>
              <a:t>DDR, Double Data Rate</a:t>
            </a:r>
          </a:p>
          <a:p>
            <a:pPr lvl="1"/>
            <a:r>
              <a:rPr lang="en-US" dirty="0" smtClean="0"/>
              <a:t>DDR2</a:t>
            </a:r>
          </a:p>
          <a:p>
            <a:pPr lvl="2"/>
            <a:r>
              <a:rPr lang="en-US" dirty="0" smtClean="0"/>
              <a:t>Lower power (2.5 V -&gt; 1.8 V)</a:t>
            </a:r>
          </a:p>
          <a:p>
            <a:pPr lvl="2"/>
            <a:r>
              <a:rPr lang="en-US" dirty="0" smtClean="0"/>
              <a:t>Higher clock rates (266 MHz, 333 MHz, 400 MHz)</a:t>
            </a:r>
          </a:p>
          <a:p>
            <a:pPr lvl="1"/>
            <a:r>
              <a:rPr lang="en-US" dirty="0" smtClean="0"/>
              <a:t>DDR3</a:t>
            </a:r>
          </a:p>
          <a:p>
            <a:pPr lvl="2"/>
            <a:r>
              <a:rPr lang="en-US" dirty="0" smtClean="0"/>
              <a:t>1.5 V, 800 MHz3</a:t>
            </a:r>
          </a:p>
          <a:p>
            <a:pPr lvl="1"/>
            <a:r>
              <a:rPr lang="en-US" dirty="0" smtClean="0"/>
              <a:t>DDR4</a:t>
            </a:r>
          </a:p>
          <a:p>
            <a:pPr lvl="2"/>
            <a:r>
              <a:rPr lang="en-US" dirty="0" smtClean="0"/>
              <a:t>1.2 V, 1600 MHz</a:t>
            </a:r>
          </a:p>
          <a:p>
            <a:pPr lvl="1"/>
            <a:r>
              <a:rPr lang="en-US" dirty="0" smtClean="0"/>
              <a:t>DDR5</a:t>
            </a:r>
          </a:p>
          <a:p>
            <a:pPr lvl="2"/>
            <a:r>
              <a:rPr lang="en-US" dirty="0" smtClean="0"/>
              <a:t>1.1V,  3200MHz, 2 access channels</a:t>
            </a:r>
          </a:p>
          <a:p>
            <a:pPr lvl="2"/>
            <a:endParaRPr lang="en-US" dirty="0" smtClean="0"/>
          </a:p>
          <a:p>
            <a:r>
              <a:rPr lang="en-US" dirty="0" smtClean="0"/>
              <a:t>GDDR5/6 is graphics memory based on DDR3/4</a:t>
            </a:r>
            <a:endParaRPr lang="en-US" dirty="0"/>
          </a:p>
        </p:txBody>
      </p:sp>
    </p:spTree>
    <p:extLst>
      <p:ext uri="{BB962C8B-B14F-4D97-AF65-F5344CB8AC3E}">
        <p14:creationId xmlns:p14="http://schemas.microsoft.com/office/powerpoint/2010/main" val="28121821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a:t>Capacity and access times for </a:t>
            </a:r>
            <a:r>
              <a:rPr lang="en-US" dirty="0" smtClean="0"/>
              <a:t>DDR</a:t>
            </a:r>
            <a:endParaRPr lang="en-AU" dirty="0"/>
          </a:p>
        </p:txBody>
      </p:sp>
      <p:sp>
        <p:nvSpPr>
          <p:cNvPr id="3" name="内容占位符 2"/>
          <p:cNvSpPr>
            <a:spLocks noGrp="1"/>
          </p:cNvSpPr>
          <p:nvPr>
            <p:ph idx="1"/>
          </p:nvPr>
        </p:nvSpPr>
        <p:spPr>
          <a:xfrm>
            <a:off x="838200" y="5013176"/>
            <a:ext cx="10515600" cy="1656184"/>
          </a:xfrm>
        </p:spPr>
        <p:txBody>
          <a:bodyPr/>
          <a:lstStyle/>
          <a:p>
            <a:r>
              <a:rPr lang="en-US" altLang="zh-CN" sz="2400" dirty="0"/>
              <a:t>Access time is for a random memory word and assumes a new row must be opened. If the row is in a different bank, we assume the bank is </a:t>
            </a:r>
            <a:r>
              <a:rPr lang="en-US" altLang="zh-CN" sz="2400" dirty="0" err="1"/>
              <a:t>precharged</a:t>
            </a:r>
            <a:r>
              <a:rPr lang="en-US" altLang="zh-CN" sz="2400" dirty="0"/>
              <a:t>; if the row is not open, then a </a:t>
            </a:r>
            <a:r>
              <a:rPr lang="en-US" altLang="zh-CN" sz="2400" dirty="0" err="1"/>
              <a:t>precharge</a:t>
            </a:r>
            <a:r>
              <a:rPr lang="en-US" altLang="zh-CN" sz="2400" dirty="0"/>
              <a:t> is required, and the access time is longer. As the number of banks has increased, the ability to hide the </a:t>
            </a:r>
            <a:r>
              <a:rPr lang="en-US" altLang="zh-CN" sz="2400" dirty="0" err="1"/>
              <a:t>precharge</a:t>
            </a:r>
            <a:r>
              <a:rPr lang="en-US" altLang="zh-CN" sz="2400" dirty="0"/>
              <a:t> time has also increased. </a:t>
            </a:r>
            <a:endParaRPr lang="zh-CN" altLang="en-US" sz="2400" dirty="0"/>
          </a:p>
        </p:txBody>
      </p:sp>
      <p:pic>
        <p:nvPicPr>
          <p:cNvPr id="4" name="图片 3"/>
          <p:cNvPicPr>
            <a:picLocks noChangeAspect="1"/>
          </p:cNvPicPr>
          <p:nvPr/>
        </p:nvPicPr>
        <p:blipFill>
          <a:blip r:embed="rId3"/>
          <a:stretch>
            <a:fillRect/>
          </a:stretch>
        </p:blipFill>
        <p:spPr>
          <a:xfrm>
            <a:off x="623392" y="1628800"/>
            <a:ext cx="11203552" cy="3168352"/>
          </a:xfrm>
          <a:prstGeom prst="rect">
            <a:avLst/>
          </a:prstGeom>
        </p:spPr>
      </p:pic>
    </p:spTree>
    <p:extLst>
      <p:ext uri="{BB962C8B-B14F-4D97-AF65-F5344CB8AC3E}">
        <p14:creationId xmlns:p14="http://schemas.microsoft.com/office/powerpoint/2010/main" val="33219924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a:t>Clock rates, bandwidth, and names of DDR DRAMS and DIMMs </a:t>
            </a:r>
            <a:r>
              <a:rPr lang="en-US" altLang="zh-CN" dirty="0" smtClean="0"/>
              <a:t>in 2016</a:t>
            </a:r>
            <a:endParaRPr lang="en-AU" dirty="0"/>
          </a:p>
        </p:txBody>
      </p:sp>
      <p:sp>
        <p:nvSpPr>
          <p:cNvPr id="4" name="内容占位符 3"/>
          <p:cNvSpPr>
            <a:spLocks noGrp="1"/>
          </p:cNvSpPr>
          <p:nvPr>
            <p:ph idx="1"/>
          </p:nvPr>
        </p:nvSpPr>
        <p:spPr>
          <a:xfrm>
            <a:off x="623392" y="5445224"/>
            <a:ext cx="11017224" cy="1224136"/>
          </a:xfrm>
        </p:spPr>
        <p:txBody>
          <a:bodyPr/>
          <a:lstStyle/>
          <a:p>
            <a:r>
              <a:rPr lang="en-US" altLang="zh-CN" sz="2400" dirty="0"/>
              <a:t>Note the numerical relationship between the columns. The third column is twice the second, and the fourth uses the number from the third column in the name of the DRAM chip. The fifth column is eight times the third column, and a rounded version of this number is used in the name of the </a:t>
            </a:r>
            <a:r>
              <a:rPr lang="en-US" altLang="zh-CN" sz="2400" dirty="0" smtClean="0"/>
              <a:t>DIMM</a:t>
            </a:r>
            <a:endParaRPr lang="en-US" altLang="zh-CN" sz="2400" dirty="0"/>
          </a:p>
          <a:p>
            <a:endParaRPr lang="zh-CN" altLang="en-US" sz="2400" dirty="0"/>
          </a:p>
        </p:txBody>
      </p:sp>
      <p:pic>
        <p:nvPicPr>
          <p:cNvPr id="2" name="图片 1"/>
          <p:cNvPicPr>
            <a:picLocks noChangeAspect="1"/>
          </p:cNvPicPr>
          <p:nvPr/>
        </p:nvPicPr>
        <p:blipFill>
          <a:blip r:embed="rId3"/>
          <a:stretch>
            <a:fillRect/>
          </a:stretch>
        </p:blipFill>
        <p:spPr>
          <a:xfrm>
            <a:off x="828256" y="1484784"/>
            <a:ext cx="10423318" cy="3888432"/>
          </a:xfrm>
          <a:prstGeom prst="rect">
            <a:avLst/>
          </a:prstGeom>
        </p:spPr>
      </p:pic>
    </p:spTree>
    <p:extLst>
      <p:ext uri="{BB962C8B-B14F-4D97-AF65-F5344CB8AC3E}">
        <p14:creationId xmlns:p14="http://schemas.microsoft.com/office/powerpoint/2010/main" val="29364897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Memory Optimizations</a:t>
            </a:r>
            <a:endParaRPr lang="en-AU" dirty="0"/>
          </a:p>
        </p:txBody>
      </p:sp>
      <p:sp>
        <p:nvSpPr>
          <p:cNvPr id="242691" name="Rectangle 3"/>
          <p:cNvSpPr>
            <a:spLocks noGrp="1" noChangeArrowheads="1"/>
          </p:cNvSpPr>
          <p:nvPr>
            <p:ph type="body" idx="1"/>
          </p:nvPr>
        </p:nvSpPr>
        <p:spPr/>
        <p:txBody>
          <a:bodyPr/>
          <a:lstStyle/>
          <a:p>
            <a:r>
              <a:rPr lang="en-US" sz="3200" dirty="0" smtClean="0"/>
              <a:t>Reducing power in SDRAMs:</a:t>
            </a:r>
          </a:p>
          <a:p>
            <a:pPr lvl="1"/>
            <a:r>
              <a:rPr lang="en-US" sz="2800" dirty="0" smtClean="0"/>
              <a:t>Lower voltage</a:t>
            </a:r>
          </a:p>
          <a:p>
            <a:pPr lvl="1"/>
            <a:r>
              <a:rPr lang="en-US" sz="2800" dirty="0" smtClean="0"/>
              <a:t>Low power mode (ignores clock, continues to refresh)</a:t>
            </a:r>
          </a:p>
          <a:p>
            <a:r>
              <a:rPr lang="en-US" sz="3200" dirty="0" smtClean="0"/>
              <a:t>LPDDR5</a:t>
            </a:r>
          </a:p>
          <a:p>
            <a:pPr lvl="1"/>
            <a:r>
              <a:rPr lang="en-US" dirty="0" smtClean="0"/>
              <a:t>0.5-1.05V</a:t>
            </a:r>
          </a:p>
          <a:p>
            <a:r>
              <a:rPr lang="en-US" sz="3200" dirty="0" smtClean="0"/>
              <a:t>Graphics memory:</a:t>
            </a:r>
          </a:p>
          <a:p>
            <a:pPr lvl="1"/>
            <a:r>
              <a:rPr lang="en-US" sz="2800" dirty="0" smtClean="0"/>
              <a:t>Achieve 2-5 X bandwidth per DRAM vs. DDR3</a:t>
            </a:r>
          </a:p>
          <a:p>
            <a:pPr lvl="2"/>
            <a:r>
              <a:rPr lang="en-US" sz="2400" dirty="0" smtClean="0"/>
              <a:t>Wider interfaces (32 vs. 16 bit)</a:t>
            </a:r>
          </a:p>
          <a:p>
            <a:pPr lvl="2"/>
            <a:r>
              <a:rPr lang="en-US" sz="2400" dirty="0" smtClean="0"/>
              <a:t>Higher clock rate</a:t>
            </a:r>
          </a:p>
          <a:p>
            <a:pPr lvl="2"/>
            <a:r>
              <a:rPr lang="en-US" sz="2200" dirty="0" smtClean="0"/>
              <a:t>Possible because they are attached via soldering instead of socketed DIMM modules</a:t>
            </a:r>
            <a:endParaRPr lang="en-US" sz="2200" dirty="0"/>
          </a:p>
        </p:txBody>
      </p:sp>
    </p:spTree>
    <p:extLst>
      <p:ext uri="{BB962C8B-B14F-4D97-AF65-F5344CB8AC3E}">
        <p14:creationId xmlns:p14="http://schemas.microsoft.com/office/powerpoint/2010/main" val="10694610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Memory Power Consumption</a:t>
            </a:r>
            <a:endParaRPr lang="en-AU" dirty="0"/>
          </a:p>
        </p:txBody>
      </p:sp>
      <p:sp>
        <p:nvSpPr>
          <p:cNvPr id="3" name="内容占位符 2"/>
          <p:cNvSpPr>
            <a:spLocks noGrp="1"/>
          </p:cNvSpPr>
          <p:nvPr>
            <p:ph idx="1"/>
          </p:nvPr>
        </p:nvSpPr>
        <p:spPr/>
        <p:txBody>
          <a:bodyPr/>
          <a:lstStyle/>
          <a:p>
            <a:r>
              <a:rPr lang="en-US" altLang="zh-CN" dirty="0"/>
              <a:t>Power consumption for Micron 1.5V 2GB </a:t>
            </a:r>
            <a:r>
              <a:rPr lang="en-US" altLang="zh-CN" dirty="0" smtClean="0"/>
              <a:t>DDR3-1066</a:t>
            </a:r>
          </a:p>
          <a:p>
            <a:pPr lvl="1"/>
            <a:r>
              <a:rPr lang="en-US" altLang="zh-CN" dirty="0" smtClean="0"/>
              <a:t>In typical mode, DRAM </a:t>
            </a:r>
            <a:r>
              <a:rPr lang="en-US" altLang="zh-CN" dirty="0"/>
              <a:t>is active 30% of the time for reads and 15% for </a:t>
            </a:r>
            <a:r>
              <a:rPr lang="en-US" altLang="zh-CN" dirty="0" smtClean="0"/>
              <a:t>writes</a:t>
            </a:r>
            <a:endParaRPr lang="en-US" altLang="zh-CN" dirty="0"/>
          </a:p>
          <a:p>
            <a:endParaRPr lang="zh-CN" altLang="en-US" dirty="0"/>
          </a:p>
        </p:txBody>
      </p:sp>
      <p:pic>
        <p:nvPicPr>
          <p:cNvPr id="4" name="图片 3"/>
          <p:cNvPicPr>
            <a:picLocks noChangeAspect="1"/>
          </p:cNvPicPr>
          <p:nvPr/>
        </p:nvPicPr>
        <p:blipFill>
          <a:blip r:embed="rId3"/>
          <a:stretch>
            <a:fillRect/>
          </a:stretch>
        </p:blipFill>
        <p:spPr>
          <a:xfrm>
            <a:off x="2567607" y="2420888"/>
            <a:ext cx="8667843" cy="4392488"/>
          </a:xfrm>
          <a:prstGeom prst="rect">
            <a:avLst/>
          </a:prstGeom>
        </p:spPr>
      </p:pic>
    </p:spTree>
    <p:extLst>
      <p:ext uri="{BB962C8B-B14F-4D97-AF65-F5344CB8AC3E}">
        <p14:creationId xmlns:p14="http://schemas.microsoft.com/office/powerpoint/2010/main" val="20148830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Stacked/Embedded DRAMs</a:t>
            </a:r>
            <a:endParaRPr lang="en-US"/>
          </a:p>
        </p:txBody>
      </p:sp>
      <p:sp>
        <p:nvSpPr>
          <p:cNvPr id="3" name="Content Placeholder 2"/>
          <p:cNvSpPr>
            <a:spLocks noGrp="1"/>
          </p:cNvSpPr>
          <p:nvPr>
            <p:ph idx="1"/>
          </p:nvPr>
        </p:nvSpPr>
        <p:spPr>
          <a:xfrm>
            <a:off x="838200" y="1556792"/>
            <a:ext cx="10946432" cy="5112568"/>
          </a:xfrm>
        </p:spPr>
        <p:txBody>
          <a:bodyPr/>
          <a:lstStyle/>
          <a:p>
            <a:r>
              <a:rPr lang="en-US" dirty="0" smtClean="0"/>
              <a:t>Stacked DRAMs in same package as processor</a:t>
            </a:r>
          </a:p>
          <a:p>
            <a:pPr lvl="1"/>
            <a:r>
              <a:rPr lang="en-US" dirty="0" smtClean="0"/>
              <a:t>High Bandwidth Memory (HBM)</a:t>
            </a:r>
          </a:p>
          <a:p>
            <a:r>
              <a:rPr lang="en-US" dirty="0"/>
              <a:t>3D stacking </a:t>
            </a:r>
            <a:r>
              <a:rPr lang="en-US" dirty="0" smtClean="0"/>
              <a:t>faces </a:t>
            </a:r>
            <a:r>
              <a:rPr lang="en-US" dirty="0"/>
              <a:t>heat management challenges due to the </a:t>
            </a:r>
            <a:r>
              <a:rPr lang="en-US" dirty="0" err="1"/>
              <a:t>x</a:t>
            </a:r>
            <a:r>
              <a:rPr lang="en-US" dirty="0" err="1" smtClean="0"/>
              <a:t>PU</a:t>
            </a:r>
            <a:endParaRPr lang="en-US" dirty="0"/>
          </a:p>
        </p:txBody>
      </p:sp>
      <p:pic>
        <p:nvPicPr>
          <p:cNvPr id="6" name="Picture 2" descr="Z:\WOMAT\Production\Artfinal\0000000038\MKCAD\978-0-12-811905-1\0003165541\XMLLowres\f02-07-9780128119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879" y="2940696"/>
            <a:ext cx="10588403" cy="3656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3873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HBM</a:t>
            </a:r>
            <a:r>
              <a:rPr lang="zh-CN" altLang="en-US" dirty="0" smtClean="0"/>
              <a:t>的发展</a:t>
            </a:r>
            <a:endParaRPr lang="zh-CN" altLang="en-US" dirty="0"/>
          </a:p>
        </p:txBody>
      </p:sp>
      <p:graphicFrame>
        <p:nvGraphicFramePr>
          <p:cNvPr id="4" name="内容占位符 3"/>
          <p:cNvGraphicFramePr>
            <a:graphicFrameLocks noGrp="1"/>
          </p:cNvGraphicFramePr>
          <p:nvPr>
            <p:ph sz="half" idx="1"/>
            <p:extLst>
              <p:ext uri="{D42A27DB-BD31-4B8C-83A1-F6EECF244321}">
                <p14:modId xmlns:p14="http://schemas.microsoft.com/office/powerpoint/2010/main" val="3456229730"/>
              </p:ext>
            </p:extLst>
          </p:nvPr>
        </p:nvGraphicFramePr>
        <p:xfrm>
          <a:off x="479376" y="1562213"/>
          <a:ext cx="8928991" cy="3017520"/>
        </p:xfrm>
        <a:graphic>
          <a:graphicData uri="http://schemas.openxmlformats.org/drawingml/2006/table">
            <a:tbl>
              <a:tblPr firstRow="1" bandRow="1">
                <a:tableStyleId>{5C22544A-7EE6-4342-B048-85BDC9FD1C3A}</a:tableStyleId>
              </a:tblPr>
              <a:tblGrid>
                <a:gridCol w="1835332">
                  <a:extLst>
                    <a:ext uri="{9D8B030D-6E8A-4147-A177-3AD203B41FA5}">
                      <a16:colId xmlns:a16="http://schemas.microsoft.com/office/drawing/2014/main" val="901884931"/>
                    </a:ext>
                  </a:extLst>
                </a:gridCol>
                <a:gridCol w="1140999">
                  <a:extLst>
                    <a:ext uri="{9D8B030D-6E8A-4147-A177-3AD203B41FA5}">
                      <a16:colId xmlns:a16="http://schemas.microsoft.com/office/drawing/2014/main" val="3899677736"/>
                    </a:ext>
                  </a:extLst>
                </a:gridCol>
                <a:gridCol w="1488165">
                  <a:extLst>
                    <a:ext uri="{9D8B030D-6E8A-4147-A177-3AD203B41FA5}">
                      <a16:colId xmlns:a16="http://schemas.microsoft.com/office/drawing/2014/main" val="2633197411"/>
                    </a:ext>
                  </a:extLst>
                </a:gridCol>
                <a:gridCol w="1488165">
                  <a:extLst>
                    <a:ext uri="{9D8B030D-6E8A-4147-A177-3AD203B41FA5}">
                      <a16:colId xmlns:a16="http://schemas.microsoft.com/office/drawing/2014/main" val="156449592"/>
                    </a:ext>
                  </a:extLst>
                </a:gridCol>
                <a:gridCol w="1488165">
                  <a:extLst>
                    <a:ext uri="{9D8B030D-6E8A-4147-A177-3AD203B41FA5}">
                      <a16:colId xmlns:a16="http://schemas.microsoft.com/office/drawing/2014/main" val="1348533009"/>
                    </a:ext>
                  </a:extLst>
                </a:gridCol>
                <a:gridCol w="1488165">
                  <a:extLst>
                    <a:ext uri="{9D8B030D-6E8A-4147-A177-3AD203B41FA5}">
                      <a16:colId xmlns:a16="http://schemas.microsoft.com/office/drawing/2014/main" val="2889558123"/>
                    </a:ext>
                  </a:extLst>
                </a:gridCol>
              </a:tblGrid>
              <a:tr h="370840">
                <a:tc>
                  <a:txBody>
                    <a:bodyPr/>
                    <a:lstStyle/>
                    <a:p>
                      <a:pPr algn="ctr"/>
                      <a:r>
                        <a:rPr lang="zh-CN" altLang="en-US" sz="2800" dirty="0" smtClean="0"/>
                        <a:t>类别</a:t>
                      </a:r>
                      <a:endParaRPr lang="zh-CN" altLang="en-US" sz="2800" dirty="0"/>
                    </a:p>
                  </a:txBody>
                  <a:tcPr marL="43859" marR="43859"/>
                </a:tc>
                <a:tc>
                  <a:txBody>
                    <a:bodyPr/>
                    <a:lstStyle/>
                    <a:p>
                      <a:pPr algn="ctr"/>
                      <a:r>
                        <a:rPr lang="en-US" altLang="zh-CN" sz="2800" dirty="0" smtClean="0"/>
                        <a:t>HBM1</a:t>
                      </a:r>
                      <a:endParaRPr lang="zh-CN" altLang="en-US" sz="2800" dirty="0"/>
                    </a:p>
                  </a:txBody>
                  <a:tcPr marL="43859" marR="43859"/>
                </a:tc>
                <a:tc>
                  <a:txBody>
                    <a:bodyPr/>
                    <a:lstStyle/>
                    <a:p>
                      <a:pPr algn="ctr"/>
                      <a:r>
                        <a:rPr lang="en-US" altLang="zh-CN" sz="2800" dirty="0" smtClean="0"/>
                        <a:t>HBM2</a:t>
                      </a:r>
                      <a:endParaRPr lang="zh-CN" altLang="en-US" sz="2800" dirty="0"/>
                    </a:p>
                  </a:txBody>
                  <a:tcPr marL="43859" marR="43859"/>
                </a:tc>
                <a:tc>
                  <a:txBody>
                    <a:bodyPr/>
                    <a:lstStyle/>
                    <a:p>
                      <a:pPr algn="ctr"/>
                      <a:r>
                        <a:rPr lang="en-US" altLang="zh-CN" sz="2800" dirty="0" smtClean="0"/>
                        <a:t>HBM2E</a:t>
                      </a:r>
                      <a:endParaRPr lang="zh-CN" altLang="en-US" sz="2800" dirty="0"/>
                    </a:p>
                  </a:txBody>
                  <a:tcPr marL="43859" marR="43859"/>
                </a:tc>
                <a:tc>
                  <a:txBody>
                    <a:bodyPr/>
                    <a:lstStyle/>
                    <a:p>
                      <a:pPr algn="ctr"/>
                      <a:r>
                        <a:rPr lang="en-US" altLang="zh-CN" sz="2800" dirty="0" smtClean="0"/>
                        <a:t>HBM3</a:t>
                      </a:r>
                      <a:endParaRPr lang="zh-CN" altLang="en-US" sz="2800" dirty="0"/>
                    </a:p>
                  </a:txBody>
                  <a:tcPr marL="43859" marR="43859"/>
                </a:tc>
                <a:tc>
                  <a:txBody>
                    <a:bodyPr/>
                    <a:lstStyle/>
                    <a:p>
                      <a:pPr algn="ctr"/>
                      <a:r>
                        <a:rPr lang="en-US" altLang="zh-CN" sz="2800" dirty="0" smtClean="0"/>
                        <a:t>HBM3E</a:t>
                      </a:r>
                      <a:endParaRPr lang="zh-CN" altLang="en-US" sz="2800" dirty="0"/>
                    </a:p>
                  </a:txBody>
                  <a:tcPr marL="43859" marR="43859"/>
                </a:tc>
                <a:extLst>
                  <a:ext uri="{0D108BD9-81ED-4DB2-BD59-A6C34878D82A}">
                    <a16:rowId xmlns:a16="http://schemas.microsoft.com/office/drawing/2014/main" val="1330630947"/>
                  </a:ext>
                </a:extLst>
              </a:tr>
              <a:tr h="370840">
                <a:tc>
                  <a:txBody>
                    <a:bodyPr/>
                    <a:lstStyle/>
                    <a:p>
                      <a:pPr algn="ctr"/>
                      <a:r>
                        <a:rPr lang="zh-CN" altLang="en-US" sz="2800" dirty="0" smtClean="0"/>
                        <a:t>带宽</a:t>
                      </a:r>
                      <a:r>
                        <a:rPr lang="en-US" altLang="zh-CN" sz="2800" dirty="0" smtClean="0"/>
                        <a:t>(GB/s)</a:t>
                      </a:r>
                      <a:endParaRPr lang="zh-CN" altLang="en-US" sz="2800" dirty="0"/>
                    </a:p>
                  </a:txBody>
                  <a:tcPr marL="43859" marR="43859"/>
                </a:tc>
                <a:tc>
                  <a:txBody>
                    <a:bodyPr/>
                    <a:lstStyle/>
                    <a:p>
                      <a:pPr algn="ctr"/>
                      <a:r>
                        <a:rPr lang="en-US" altLang="zh-CN" sz="2800" dirty="0" smtClean="0"/>
                        <a:t>128</a:t>
                      </a:r>
                      <a:endParaRPr lang="zh-CN" altLang="en-US" sz="2800" dirty="0"/>
                    </a:p>
                  </a:txBody>
                  <a:tcPr marL="43859" marR="43859"/>
                </a:tc>
                <a:tc>
                  <a:txBody>
                    <a:bodyPr/>
                    <a:lstStyle/>
                    <a:p>
                      <a:pPr algn="ctr"/>
                      <a:r>
                        <a:rPr lang="en-US" altLang="zh-CN" sz="2800" dirty="0" smtClean="0"/>
                        <a:t>307</a:t>
                      </a:r>
                      <a:endParaRPr lang="zh-CN" altLang="en-US" sz="2800" dirty="0"/>
                    </a:p>
                  </a:txBody>
                  <a:tcPr marL="43859" marR="43859"/>
                </a:tc>
                <a:tc>
                  <a:txBody>
                    <a:bodyPr/>
                    <a:lstStyle/>
                    <a:p>
                      <a:pPr algn="ctr"/>
                      <a:r>
                        <a:rPr lang="en-US" altLang="zh-CN" sz="2800" dirty="0" smtClean="0"/>
                        <a:t>460</a:t>
                      </a:r>
                      <a:endParaRPr lang="zh-CN" altLang="en-US" sz="2800" dirty="0"/>
                    </a:p>
                  </a:txBody>
                  <a:tcPr marL="43859" marR="43859"/>
                </a:tc>
                <a:tc>
                  <a:txBody>
                    <a:bodyPr/>
                    <a:lstStyle/>
                    <a:p>
                      <a:pPr algn="ctr"/>
                      <a:r>
                        <a:rPr lang="en-US" altLang="zh-CN" sz="2800" dirty="0" smtClean="0"/>
                        <a:t>819</a:t>
                      </a:r>
                      <a:endParaRPr lang="zh-CN" altLang="en-US" sz="2800" dirty="0"/>
                    </a:p>
                  </a:txBody>
                  <a:tcPr marL="43859" marR="43859"/>
                </a:tc>
                <a:tc>
                  <a:txBody>
                    <a:bodyPr/>
                    <a:lstStyle/>
                    <a:p>
                      <a:pPr algn="ctr"/>
                      <a:r>
                        <a:rPr lang="en-US" altLang="zh-CN" sz="2800" dirty="0" smtClean="0"/>
                        <a:t>1225</a:t>
                      </a:r>
                      <a:endParaRPr lang="zh-CN" altLang="en-US" sz="2800" dirty="0"/>
                    </a:p>
                  </a:txBody>
                  <a:tcPr marL="43859" marR="43859"/>
                </a:tc>
                <a:extLst>
                  <a:ext uri="{0D108BD9-81ED-4DB2-BD59-A6C34878D82A}">
                    <a16:rowId xmlns:a16="http://schemas.microsoft.com/office/drawing/2014/main" val="4172827382"/>
                  </a:ext>
                </a:extLst>
              </a:tr>
              <a:tr h="370840">
                <a:tc>
                  <a:txBody>
                    <a:bodyPr/>
                    <a:lstStyle/>
                    <a:p>
                      <a:pPr algn="ctr"/>
                      <a:r>
                        <a:rPr lang="zh-CN" altLang="en-US" sz="2800" dirty="0" smtClean="0"/>
                        <a:t>堆叠层数</a:t>
                      </a:r>
                      <a:endParaRPr lang="zh-CN" altLang="en-US" sz="2800" dirty="0"/>
                    </a:p>
                  </a:txBody>
                  <a:tcPr marL="43859" marR="43859"/>
                </a:tc>
                <a:tc>
                  <a:txBody>
                    <a:bodyPr/>
                    <a:lstStyle/>
                    <a:p>
                      <a:pPr algn="ctr"/>
                      <a:r>
                        <a:rPr lang="en-US" altLang="zh-CN" sz="2800" dirty="0" smtClean="0"/>
                        <a:t>4</a:t>
                      </a:r>
                      <a:endParaRPr lang="zh-CN" altLang="en-US" sz="2800" dirty="0"/>
                    </a:p>
                  </a:txBody>
                  <a:tcPr marL="43859" marR="43859"/>
                </a:tc>
                <a:tc>
                  <a:txBody>
                    <a:bodyPr/>
                    <a:lstStyle/>
                    <a:p>
                      <a:pPr algn="ctr"/>
                      <a:r>
                        <a:rPr lang="en-US" altLang="zh-CN" sz="2800" dirty="0" smtClean="0"/>
                        <a:t>4/8</a:t>
                      </a:r>
                      <a:endParaRPr lang="zh-CN" altLang="en-US" sz="2800" dirty="0"/>
                    </a:p>
                  </a:txBody>
                  <a:tcPr marL="43859" marR="43859"/>
                </a:tc>
                <a:tc>
                  <a:txBody>
                    <a:bodyPr/>
                    <a:lstStyle/>
                    <a:p>
                      <a:pPr algn="ctr"/>
                      <a:r>
                        <a:rPr lang="en-US" altLang="zh-CN" sz="2800" dirty="0" smtClean="0"/>
                        <a:t>4/8</a:t>
                      </a:r>
                      <a:endParaRPr lang="zh-CN" altLang="en-US" sz="2800" dirty="0"/>
                    </a:p>
                  </a:txBody>
                  <a:tcPr marL="43859" marR="43859"/>
                </a:tc>
                <a:tc>
                  <a:txBody>
                    <a:bodyPr/>
                    <a:lstStyle/>
                    <a:p>
                      <a:pPr algn="ctr"/>
                      <a:r>
                        <a:rPr lang="en-US" altLang="zh-CN" sz="2800" dirty="0" smtClean="0"/>
                        <a:t>8/12</a:t>
                      </a:r>
                      <a:endParaRPr lang="zh-CN" altLang="en-US" sz="2800" dirty="0"/>
                    </a:p>
                  </a:txBody>
                  <a:tcPr marL="43859" marR="43859"/>
                </a:tc>
                <a:tc>
                  <a:txBody>
                    <a:bodyPr/>
                    <a:lstStyle/>
                    <a:p>
                      <a:pPr algn="ctr"/>
                      <a:r>
                        <a:rPr lang="en-US" altLang="zh-CN" sz="2800" dirty="0" smtClean="0"/>
                        <a:t>8/12</a:t>
                      </a:r>
                      <a:endParaRPr lang="zh-CN" altLang="en-US" sz="2800" dirty="0"/>
                    </a:p>
                  </a:txBody>
                  <a:tcPr marL="43859" marR="43859"/>
                </a:tc>
                <a:extLst>
                  <a:ext uri="{0D108BD9-81ED-4DB2-BD59-A6C34878D82A}">
                    <a16:rowId xmlns:a16="http://schemas.microsoft.com/office/drawing/2014/main" val="598179925"/>
                  </a:ext>
                </a:extLst>
              </a:tr>
              <a:tr h="370840">
                <a:tc>
                  <a:txBody>
                    <a:bodyPr/>
                    <a:lstStyle/>
                    <a:p>
                      <a:pPr algn="ctr"/>
                      <a:r>
                        <a:rPr lang="zh-CN" altLang="en-US" sz="2800" dirty="0" smtClean="0"/>
                        <a:t>容量</a:t>
                      </a:r>
                      <a:r>
                        <a:rPr lang="en-US" altLang="zh-CN" sz="2800" dirty="0" smtClean="0"/>
                        <a:t>(GB)</a:t>
                      </a:r>
                      <a:endParaRPr lang="zh-CN" altLang="en-US" sz="2800" dirty="0"/>
                    </a:p>
                  </a:txBody>
                  <a:tcPr marL="43859" marR="43859"/>
                </a:tc>
                <a:tc>
                  <a:txBody>
                    <a:bodyPr/>
                    <a:lstStyle/>
                    <a:p>
                      <a:pPr algn="ctr"/>
                      <a:r>
                        <a:rPr lang="en-US" altLang="zh-CN" sz="2800" dirty="0" smtClean="0"/>
                        <a:t>1</a:t>
                      </a:r>
                      <a:endParaRPr lang="zh-CN" altLang="en-US" sz="2800" dirty="0"/>
                    </a:p>
                  </a:txBody>
                  <a:tcPr marL="43859" marR="43859"/>
                </a:tc>
                <a:tc>
                  <a:txBody>
                    <a:bodyPr/>
                    <a:lstStyle/>
                    <a:p>
                      <a:pPr algn="ctr"/>
                      <a:r>
                        <a:rPr lang="en-US" altLang="zh-CN" sz="2800" dirty="0" smtClean="0"/>
                        <a:t>4/8</a:t>
                      </a:r>
                      <a:endParaRPr lang="zh-CN" altLang="en-US" sz="2800" dirty="0"/>
                    </a:p>
                  </a:txBody>
                  <a:tcPr marL="43859" marR="43859"/>
                </a:tc>
                <a:tc>
                  <a:txBody>
                    <a:bodyPr/>
                    <a:lstStyle/>
                    <a:p>
                      <a:pPr algn="ctr"/>
                      <a:r>
                        <a:rPr lang="en-US" altLang="zh-CN" sz="2800" dirty="0" smtClean="0"/>
                        <a:t>8/16</a:t>
                      </a:r>
                      <a:endParaRPr lang="zh-CN" altLang="en-US" sz="2800" dirty="0"/>
                    </a:p>
                  </a:txBody>
                  <a:tcPr marL="43859" marR="43859"/>
                </a:tc>
                <a:tc>
                  <a:txBody>
                    <a:bodyPr/>
                    <a:lstStyle/>
                    <a:p>
                      <a:pPr algn="ctr"/>
                      <a:r>
                        <a:rPr lang="en-US" altLang="zh-CN" sz="2800" dirty="0" smtClean="0"/>
                        <a:t>16/24</a:t>
                      </a:r>
                      <a:endParaRPr lang="zh-CN" altLang="en-US" sz="2800" dirty="0"/>
                    </a:p>
                  </a:txBody>
                  <a:tcPr marL="43859" marR="43859"/>
                </a:tc>
                <a:tc>
                  <a:txBody>
                    <a:bodyPr/>
                    <a:lstStyle/>
                    <a:p>
                      <a:pPr algn="ctr"/>
                      <a:r>
                        <a:rPr lang="en-US" altLang="zh-CN" sz="2800" dirty="0" smtClean="0"/>
                        <a:t>24/36</a:t>
                      </a:r>
                      <a:endParaRPr lang="zh-CN" altLang="en-US" sz="2800" dirty="0"/>
                    </a:p>
                  </a:txBody>
                  <a:tcPr marL="43859" marR="43859"/>
                </a:tc>
                <a:extLst>
                  <a:ext uri="{0D108BD9-81ED-4DB2-BD59-A6C34878D82A}">
                    <a16:rowId xmlns:a16="http://schemas.microsoft.com/office/drawing/2014/main" val="733369228"/>
                  </a:ext>
                </a:extLst>
              </a:tr>
              <a:tr h="370840">
                <a:tc>
                  <a:txBody>
                    <a:bodyPr/>
                    <a:lstStyle/>
                    <a:p>
                      <a:pPr algn="ctr"/>
                      <a:r>
                        <a:rPr lang="en-US" altLang="zh-CN" sz="2800" dirty="0" smtClean="0"/>
                        <a:t>IO</a:t>
                      </a:r>
                      <a:r>
                        <a:rPr lang="zh-CN" altLang="en-US" sz="2800" dirty="0" smtClean="0"/>
                        <a:t>速率</a:t>
                      </a:r>
                      <a:r>
                        <a:rPr lang="en-US" altLang="zh-CN" sz="2800" dirty="0" smtClean="0"/>
                        <a:t>(</a:t>
                      </a:r>
                      <a:r>
                        <a:rPr lang="en-US" altLang="zh-CN" sz="2800" dirty="0" err="1" smtClean="0"/>
                        <a:t>Gbps</a:t>
                      </a:r>
                      <a:r>
                        <a:rPr lang="en-US" altLang="zh-CN" sz="2800" dirty="0" smtClean="0"/>
                        <a:t>)</a:t>
                      </a:r>
                      <a:endParaRPr lang="zh-CN" altLang="en-US" sz="2800" dirty="0"/>
                    </a:p>
                  </a:txBody>
                  <a:tcPr marL="43859" marR="43859"/>
                </a:tc>
                <a:tc>
                  <a:txBody>
                    <a:bodyPr/>
                    <a:lstStyle/>
                    <a:p>
                      <a:pPr algn="ctr"/>
                      <a:r>
                        <a:rPr lang="en-US" altLang="zh-CN" sz="2800" dirty="0" smtClean="0"/>
                        <a:t>1</a:t>
                      </a:r>
                      <a:endParaRPr lang="zh-CN" altLang="en-US" sz="2800" dirty="0"/>
                    </a:p>
                  </a:txBody>
                  <a:tcPr marL="43859" marR="43859"/>
                </a:tc>
                <a:tc>
                  <a:txBody>
                    <a:bodyPr/>
                    <a:lstStyle/>
                    <a:p>
                      <a:pPr algn="ctr"/>
                      <a:r>
                        <a:rPr lang="en-US" altLang="zh-CN" sz="2800" dirty="0" smtClean="0"/>
                        <a:t>2.4</a:t>
                      </a:r>
                      <a:endParaRPr lang="zh-CN" altLang="en-US" sz="2800" dirty="0"/>
                    </a:p>
                  </a:txBody>
                  <a:tcPr marL="43859" marR="43859"/>
                </a:tc>
                <a:tc>
                  <a:txBody>
                    <a:bodyPr/>
                    <a:lstStyle/>
                    <a:p>
                      <a:pPr algn="ctr"/>
                      <a:r>
                        <a:rPr lang="en-US" altLang="zh-CN" sz="2800" dirty="0" smtClean="0"/>
                        <a:t>3.6</a:t>
                      </a:r>
                      <a:endParaRPr lang="zh-CN" altLang="en-US" sz="2800" dirty="0"/>
                    </a:p>
                  </a:txBody>
                  <a:tcPr marL="43859" marR="43859"/>
                </a:tc>
                <a:tc>
                  <a:txBody>
                    <a:bodyPr/>
                    <a:lstStyle/>
                    <a:p>
                      <a:pPr algn="ctr"/>
                      <a:r>
                        <a:rPr lang="en-US" altLang="zh-CN" sz="2800" dirty="0" smtClean="0"/>
                        <a:t>6.4</a:t>
                      </a:r>
                      <a:endParaRPr lang="zh-CN" altLang="en-US" sz="2800" dirty="0"/>
                    </a:p>
                  </a:txBody>
                  <a:tcPr marL="43859" marR="43859"/>
                </a:tc>
                <a:tc>
                  <a:txBody>
                    <a:bodyPr/>
                    <a:lstStyle/>
                    <a:p>
                      <a:pPr algn="ctr"/>
                      <a:r>
                        <a:rPr lang="en-US" altLang="zh-CN" sz="2800" dirty="0" smtClean="0"/>
                        <a:t>8</a:t>
                      </a:r>
                      <a:endParaRPr lang="zh-CN" altLang="en-US" sz="2800" dirty="0"/>
                    </a:p>
                  </a:txBody>
                  <a:tcPr marL="43859" marR="43859"/>
                </a:tc>
                <a:extLst>
                  <a:ext uri="{0D108BD9-81ED-4DB2-BD59-A6C34878D82A}">
                    <a16:rowId xmlns:a16="http://schemas.microsoft.com/office/drawing/2014/main" val="1862401855"/>
                  </a:ext>
                </a:extLst>
              </a:tr>
            </a:tbl>
          </a:graphicData>
        </a:graphic>
      </p:graphicFrame>
      <p:sp>
        <p:nvSpPr>
          <p:cNvPr id="6" name="内容占位符 5"/>
          <p:cNvSpPr>
            <a:spLocks noGrp="1"/>
          </p:cNvSpPr>
          <p:nvPr>
            <p:ph sz="half" idx="2"/>
          </p:nvPr>
        </p:nvSpPr>
        <p:spPr>
          <a:xfrm>
            <a:off x="1055440" y="4869160"/>
            <a:ext cx="6120680" cy="1728192"/>
          </a:xfrm>
        </p:spPr>
        <p:txBody>
          <a:bodyPr/>
          <a:lstStyle/>
          <a:p>
            <a:r>
              <a:rPr lang="zh-CN" altLang="en-US" dirty="0" smtClean="0"/>
              <a:t>主要供应商与</a:t>
            </a:r>
            <a:r>
              <a:rPr lang="en-US" altLang="zh-CN" dirty="0" smtClean="0"/>
              <a:t>GDDR</a:t>
            </a:r>
            <a:r>
              <a:rPr lang="zh-CN" altLang="en-US" dirty="0" smtClean="0"/>
              <a:t>相同</a:t>
            </a:r>
            <a:endParaRPr lang="en-US" altLang="zh-CN" dirty="0" smtClean="0"/>
          </a:p>
          <a:p>
            <a:pPr lvl="1"/>
            <a:r>
              <a:rPr lang="zh-CN" altLang="en-US" dirty="0" smtClean="0"/>
              <a:t>海力士、三星</a:t>
            </a:r>
            <a:endParaRPr lang="en-US" altLang="zh-CN" dirty="0" smtClean="0"/>
          </a:p>
          <a:p>
            <a:pPr lvl="1"/>
            <a:r>
              <a:rPr lang="zh-CN" altLang="en-US" dirty="0"/>
              <a:t>美</a:t>
            </a:r>
            <a:r>
              <a:rPr lang="zh-CN" altLang="en-US" dirty="0" smtClean="0"/>
              <a:t>光之前主要和</a:t>
            </a:r>
            <a:r>
              <a:rPr lang="en-US" altLang="zh-CN" dirty="0" smtClean="0"/>
              <a:t>Intel</a:t>
            </a:r>
            <a:r>
              <a:rPr lang="zh-CN" altLang="en-US" dirty="0" smtClean="0"/>
              <a:t>一起搞</a:t>
            </a:r>
            <a:r>
              <a:rPr lang="en-US" altLang="zh-CN" dirty="0" smtClean="0"/>
              <a:t>HMC</a:t>
            </a:r>
          </a:p>
          <a:p>
            <a:pPr lvl="2"/>
            <a:r>
              <a:rPr lang="zh-CN" altLang="en-US" dirty="0" smtClean="0"/>
              <a:t>最近刚加入</a:t>
            </a:r>
            <a:r>
              <a:rPr lang="en-US" altLang="zh-CN" dirty="0" smtClean="0"/>
              <a:t>HBM</a:t>
            </a:r>
            <a:r>
              <a:rPr lang="zh-CN" altLang="en-US" dirty="0" smtClean="0"/>
              <a:t>阵营</a:t>
            </a:r>
            <a:endParaRPr lang="en-US" altLang="zh-CN" dirty="0" smtClean="0"/>
          </a:p>
        </p:txBody>
      </p:sp>
      <p:pic>
        <p:nvPicPr>
          <p:cNvPr id="7" name="图片 6"/>
          <p:cNvPicPr>
            <a:picLocks noChangeAspect="1"/>
          </p:cNvPicPr>
          <p:nvPr/>
        </p:nvPicPr>
        <p:blipFill>
          <a:blip r:embed="rId2"/>
          <a:stretch>
            <a:fillRect/>
          </a:stretch>
        </p:blipFill>
        <p:spPr>
          <a:xfrm>
            <a:off x="9588772" y="2278885"/>
            <a:ext cx="2574956" cy="1584176"/>
          </a:xfrm>
          <a:prstGeom prst="rect">
            <a:avLst/>
          </a:prstGeom>
        </p:spPr>
      </p:pic>
      <p:pic>
        <p:nvPicPr>
          <p:cNvPr id="3" name="图片 2"/>
          <p:cNvPicPr>
            <a:picLocks noChangeAspect="1"/>
          </p:cNvPicPr>
          <p:nvPr/>
        </p:nvPicPr>
        <p:blipFill>
          <a:blip r:embed="rId3"/>
          <a:stretch>
            <a:fillRect/>
          </a:stretch>
        </p:blipFill>
        <p:spPr>
          <a:xfrm>
            <a:off x="7742212" y="4034544"/>
            <a:ext cx="4330452" cy="2823455"/>
          </a:xfrm>
          <a:prstGeom prst="rect">
            <a:avLst/>
          </a:prstGeom>
        </p:spPr>
      </p:pic>
    </p:spTree>
    <p:extLst>
      <p:ext uri="{BB962C8B-B14F-4D97-AF65-F5344CB8AC3E}">
        <p14:creationId xmlns:p14="http://schemas.microsoft.com/office/powerpoint/2010/main" val="16596743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Flash Memory</a:t>
            </a:r>
            <a:endParaRPr lang="en-AU" dirty="0"/>
          </a:p>
        </p:txBody>
      </p:sp>
      <p:sp>
        <p:nvSpPr>
          <p:cNvPr id="242691" name="Rectangle 3"/>
          <p:cNvSpPr>
            <a:spLocks noGrp="1" noChangeArrowheads="1"/>
          </p:cNvSpPr>
          <p:nvPr>
            <p:ph type="body" idx="1"/>
          </p:nvPr>
        </p:nvSpPr>
        <p:spPr/>
        <p:txBody>
          <a:bodyPr/>
          <a:lstStyle/>
          <a:p>
            <a:r>
              <a:rPr lang="en-US" dirty="0" smtClean="0"/>
              <a:t>Type of EEPROM: </a:t>
            </a:r>
            <a:r>
              <a:rPr lang="en-US" altLang="zh-CN" dirty="0" smtClean="0"/>
              <a:t>Nonvolatile</a:t>
            </a:r>
            <a:r>
              <a:rPr lang="en-US" altLang="zh-CN" dirty="0"/>
              <a:t>, can use as little as zero power</a:t>
            </a:r>
          </a:p>
          <a:p>
            <a:r>
              <a:rPr lang="en-US" dirty="0" smtClean="0"/>
              <a:t>Types:  NAND (denser) and NOR (faster)</a:t>
            </a:r>
          </a:p>
          <a:p>
            <a:pPr lvl="1"/>
            <a:r>
              <a:rPr lang="en-US" altLang="zh-CN" dirty="0" smtClean="0"/>
              <a:t>Must </a:t>
            </a:r>
            <a:r>
              <a:rPr lang="en-US" altLang="zh-CN" dirty="0"/>
              <a:t>be erased (in blocks) before being overwritten</a:t>
            </a:r>
          </a:p>
          <a:p>
            <a:pPr lvl="1"/>
            <a:r>
              <a:rPr lang="en-US" altLang="zh-CN" dirty="0" smtClean="0"/>
              <a:t>Limited </a:t>
            </a:r>
            <a:r>
              <a:rPr lang="en-US" altLang="zh-CN" dirty="0"/>
              <a:t>number of write cycles (~100,000)</a:t>
            </a:r>
          </a:p>
          <a:p>
            <a:endParaRPr lang="en-US" altLang="zh-CN" dirty="0"/>
          </a:p>
          <a:p>
            <a:r>
              <a:rPr lang="en-US" altLang="zh-CN" dirty="0" smtClean="0"/>
              <a:t>Phase-Change/</a:t>
            </a:r>
            <a:r>
              <a:rPr lang="en-US" altLang="zh-CN" dirty="0" err="1" smtClean="0"/>
              <a:t>Memrister</a:t>
            </a:r>
            <a:r>
              <a:rPr lang="en-US" altLang="zh-CN" dirty="0" smtClean="0"/>
              <a:t> </a:t>
            </a:r>
            <a:r>
              <a:rPr lang="en-US" altLang="zh-CN" dirty="0"/>
              <a:t>Memory</a:t>
            </a:r>
          </a:p>
          <a:p>
            <a:pPr lvl="1"/>
            <a:r>
              <a:rPr lang="en-US" altLang="zh-CN" dirty="0"/>
              <a:t>Possibly 10X improvement in write performance and 2X improvement in read performance</a:t>
            </a:r>
          </a:p>
          <a:p>
            <a:pPr lvl="1"/>
            <a:r>
              <a:rPr lang="en-US" dirty="0" smtClean="0"/>
              <a:t>Intel/Micron </a:t>
            </a:r>
            <a:r>
              <a:rPr lang="en-US" dirty="0" err="1" smtClean="0"/>
              <a:t>Xpoint</a:t>
            </a:r>
            <a:r>
              <a:rPr lang="en-US" dirty="0" smtClean="0"/>
              <a:t> memory chips based on PCM</a:t>
            </a:r>
          </a:p>
          <a:p>
            <a:endParaRPr lang="en-US" dirty="0"/>
          </a:p>
          <a:p>
            <a:r>
              <a:rPr lang="en-US" dirty="0" smtClean="0"/>
              <a:t>Hybrid memory system, how to manage?</a:t>
            </a:r>
          </a:p>
        </p:txBody>
      </p:sp>
    </p:spTree>
    <p:extLst>
      <p:ext uri="{BB962C8B-B14F-4D97-AF65-F5344CB8AC3E}">
        <p14:creationId xmlns:p14="http://schemas.microsoft.com/office/powerpoint/2010/main" val="2242033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Main Memory Organizations</a:t>
            </a:r>
          </a:p>
        </p:txBody>
      </p:sp>
      <p:sp>
        <p:nvSpPr>
          <p:cNvPr id="660483" name="Rectangle 3"/>
          <p:cNvSpPr>
            <a:spLocks noGrp="1" noChangeArrowheads="1"/>
          </p:cNvSpPr>
          <p:nvPr>
            <p:ph type="body" idx="1"/>
          </p:nvPr>
        </p:nvSpPr>
        <p:spPr>
          <a:xfrm>
            <a:off x="551384" y="1772816"/>
            <a:ext cx="9811816" cy="378978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i="1" dirty="0">
                <a:solidFill>
                  <a:srgbClr val="FF0000"/>
                </a:solidFill>
              </a:rPr>
              <a:t>Simple</a:t>
            </a:r>
            <a:r>
              <a:rPr lang="en-US" altLang="zh-CN" dirty="0"/>
              <a:t>: </a:t>
            </a:r>
          </a:p>
          <a:p>
            <a:pPr lvl="1"/>
            <a:r>
              <a:rPr lang="en-US" altLang="zh-CN" dirty="0"/>
              <a:t>CPU, Cache, Bus, </a:t>
            </a:r>
            <a:br>
              <a:rPr lang="en-US" altLang="zh-CN" dirty="0"/>
            </a:br>
            <a:r>
              <a:rPr lang="en-US" altLang="zh-CN" dirty="0"/>
              <a:t>Memory same width </a:t>
            </a:r>
            <a:br>
              <a:rPr lang="en-US" altLang="zh-CN" dirty="0"/>
            </a:br>
            <a:r>
              <a:rPr lang="en-US" altLang="zh-CN" dirty="0"/>
              <a:t>(32 or 64 bits)</a:t>
            </a:r>
          </a:p>
          <a:p>
            <a:r>
              <a:rPr lang="en-US" altLang="zh-CN" i="1" dirty="0">
                <a:solidFill>
                  <a:srgbClr val="FF0000"/>
                </a:solidFill>
              </a:rPr>
              <a:t>Wide</a:t>
            </a:r>
            <a:r>
              <a:rPr lang="en-US" altLang="zh-CN" dirty="0"/>
              <a:t>: </a:t>
            </a:r>
          </a:p>
          <a:p>
            <a:pPr lvl="1"/>
            <a:r>
              <a:rPr lang="en-US" altLang="zh-CN" dirty="0"/>
              <a:t>CPU/Mux 1 word; </a:t>
            </a:r>
            <a:br>
              <a:rPr lang="en-US" altLang="zh-CN" dirty="0"/>
            </a:br>
            <a:r>
              <a:rPr lang="en-US" altLang="zh-CN" dirty="0"/>
              <a:t>Mux/Cache, Bus, </a:t>
            </a:r>
            <a:br>
              <a:rPr lang="en-US" altLang="zh-CN" dirty="0"/>
            </a:br>
            <a:r>
              <a:rPr lang="en-US" altLang="zh-CN" dirty="0"/>
              <a:t>Memory N words </a:t>
            </a:r>
            <a:br>
              <a:rPr lang="en-US" altLang="zh-CN" dirty="0"/>
            </a:br>
            <a:r>
              <a:rPr lang="en-US" altLang="zh-CN" dirty="0"/>
              <a:t>(Alpha: 64 bits &amp; 256 </a:t>
            </a:r>
            <a:br>
              <a:rPr lang="en-US" altLang="zh-CN" dirty="0"/>
            </a:br>
            <a:r>
              <a:rPr lang="en-US" altLang="zh-CN" dirty="0"/>
              <a:t>bits; </a:t>
            </a:r>
            <a:r>
              <a:rPr lang="en-US" altLang="zh-CN" dirty="0" err="1"/>
              <a:t>UtraSPARC</a:t>
            </a:r>
            <a:r>
              <a:rPr lang="en-US" altLang="zh-CN" dirty="0"/>
              <a:t> 512)</a:t>
            </a:r>
          </a:p>
          <a:p>
            <a:r>
              <a:rPr lang="en-US" altLang="zh-CN" i="1" dirty="0">
                <a:solidFill>
                  <a:srgbClr val="FF0000"/>
                </a:solidFill>
              </a:rPr>
              <a:t>Interleaved</a:t>
            </a:r>
            <a:r>
              <a:rPr lang="en-US" altLang="zh-CN" dirty="0"/>
              <a:t>: </a:t>
            </a:r>
          </a:p>
          <a:p>
            <a:pPr lvl="1"/>
            <a:r>
              <a:rPr lang="en-US" altLang="zh-CN" dirty="0"/>
              <a:t>CPU, Cache, Bus 1 word: Memory N Modules</a:t>
            </a:r>
            <a:br>
              <a:rPr lang="en-US" altLang="zh-CN" dirty="0"/>
            </a:br>
            <a:r>
              <a:rPr lang="en-US" altLang="zh-CN" dirty="0"/>
              <a:t>(4 Modules); example is </a:t>
            </a:r>
            <a:r>
              <a:rPr lang="en-US" altLang="zh-CN" i="1" dirty="0"/>
              <a:t>word interleaved</a:t>
            </a:r>
          </a:p>
        </p:txBody>
      </p:sp>
      <p:pic>
        <p:nvPicPr>
          <p:cNvPr id="2" name="图片 1"/>
          <p:cNvPicPr>
            <a:picLocks noChangeAspect="1"/>
          </p:cNvPicPr>
          <p:nvPr/>
        </p:nvPicPr>
        <p:blipFill>
          <a:blip r:embed="rId2"/>
          <a:stretch>
            <a:fillRect/>
          </a:stretch>
        </p:blipFill>
        <p:spPr>
          <a:xfrm>
            <a:off x="5159896" y="1556792"/>
            <a:ext cx="6759442" cy="4463116"/>
          </a:xfrm>
          <a:prstGeom prst="rect">
            <a:avLst/>
          </a:prstGeom>
        </p:spPr>
      </p:pic>
    </p:spTree>
    <p:extLst>
      <p:ext uri="{BB962C8B-B14F-4D97-AF65-F5344CB8AC3E}">
        <p14:creationId xmlns:p14="http://schemas.microsoft.com/office/powerpoint/2010/main" val="346404020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Main Memory Performance</a:t>
            </a:r>
          </a:p>
        </p:txBody>
      </p:sp>
      <p:sp>
        <p:nvSpPr>
          <p:cNvPr id="661507" name="Rectangle 3"/>
          <p:cNvSpPr>
            <a:spLocks noGrp="1" noChangeArrowheads="1"/>
          </p:cNvSpPr>
          <p:nvPr>
            <p:ph type="body" idx="1"/>
          </p:nvPr>
        </p:nvSpPr>
        <p:spPr>
          <a:xfrm>
            <a:off x="1154968" y="1556792"/>
            <a:ext cx="9246790" cy="39296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90000"/>
              </a:lnSpc>
              <a:spcBef>
                <a:spcPct val="0"/>
              </a:spcBef>
            </a:pPr>
            <a:r>
              <a:rPr lang="en-US" altLang="zh-CN" dirty="0"/>
              <a:t>Timing model (word size is 32 bits)</a:t>
            </a:r>
          </a:p>
          <a:p>
            <a:pPr lvl="1">
              <a:lnSpc>
                <a:spcPct val="90000"/>
              </a:lnSpc>
              <a:spcBef>
                <a:spcPct val="0"/>
              </a:spcBef>
            </a:pPr>
            <a:r>
              <a:rPr lang="en-US" altLang="zh-CN" dirty="0"/>
              <a:t>1 to send address, </a:t>
            </a:r>
          </a:p>
          <a:p>
            <a:pPr lvl="1">
              <a:lnSpc>
                <a:spcPct val="90000"/>
              </a:lnSpc>
              <a:spcBef>
                <a:spcPct val="0"/>
              </a:spcBef>
            </a:pPr>
            <a:r>
              <a:rPr lang="en-US" altLang="zh-CN" dirty="0"/>
              <a:t>6 access time, 1 to send data</a:t>
            </a:r>
          </a:p>
          <a:p>
            <a:pPr lvl="1">
              <a:lnSpc>
                <a:spcPct val="90000"/>
              </a:lnSpc>
              <a:spcBef>
                <a:spcPct val="0"/>
              </a:spcBef>
            </a:pPr>
            <a:r>
              <a:rPr lang="en-US" altLang="zh-CN" dirty="0"/>
              <a:t>Cache Block is 4 words</a:t>
            </a:r>
          </a:p>
          <a:p>
            <a:pPr>
              <a:lnSpc>
                <a:spcPct val="90000"/>
              </a:lnSpc>
              <a:spcBef>
                <a:spcPct val="0"/>
              </a:spcBef>
            </a:pPr>
            <a:r>
              <a:rPr lang="en-US" altLang="zh-CN" i="1" dirty="0">
                <a:solidFill>
                  <a:srgbClr val="FF0000"/>
                </a:solidFill>
              </a:rPr>
              <a:t>Simple </a:t>
            </a:r>
            <a:r>
              <a:rPr lang="en-US" altLang="zh-CN" i="1" dirty="0" smtClean="0">
                <a:solidFill>
                  <a:srgbClr val="FF0000"/>
                </a:solidFill>
              </a:rPr>
              <a:t>Memory Performance</a:t>
            </a:r>
            <a:r>
              <a:rPr lang="en-US" altLang="zh-CN" dirty="0" smtClean="0"/>
              <a:t>        </a:t>
            </a:r>
            <a:r>
              <a:rPr lang="en-US" altLang="zh-CN" dirty="0"/>
              <a:t>= 4 x (1+6+1) = 32</a:t>
            </a:r>
          </a:p>
          <a:p>
            <a:pPr>
              <a:lnSpc>
                <a:spcPct val="90000"/>
              </a:lnSpc>
              <a:spcBef>
                <a:spcPct val="0"/>
              </a:spcBef>
            </a:pPr>
            <a:r>
              <a:rPr lang="en-US" altLang="zh-CN" i="1" dirty="0">
                <a:solidFill>
                  <a:srgbClr val="FF0000"/>
                </a:solidFill>
              </a:rPr>
              <a:t>Wide </a:t>
            </a:r>
            <a:r>
              <a:rPr lang="en-US" altLang="zh-CN" i="1" dirty="0" smtClean="0">
                <a:solidFill>
                  <a:srgbClr val="FF0000"/>
                </a:solidFill>
              </a:rPr>
              <a:t>Memory Performance</a:t>
            </a:r>
            <a:r>
              <a:rPr lang="en-US" altLang="zh-CN" dirty="0" smtClean="0"/>
              <a:t>            </a:t>
            </a:r>
            <a:r>
              <a:rPr lang="en-US" altLang="zh-CN" dirty="0"/>
              <a:t>= 1 + 6 + 1 = 8</a:t>
            </a:r>
          </a:p>
          <a:p>
            <a:pPr>
              <a:lnSpc>
                <a:spcPct val="90000"/>
              </a:lnSpc>
              <a:spcBef>
                <a:spcPct val="0"/>
              </a:spcBef>
            </a:pPr>
            <a:r>
              <a:rPr lang="en-US" altLang="zh-CN" i="1" dirty="0">
                <a:solidFill>
                  <a:srgbClr val="FF0000"/>
                </a:solidFill>
              </a:rPr>
              <a:t>Interleaved </a:t>
            </a:r>
            <a:r>
              <a:rPr lang="en-US" altLang="zh-CN" i="1" dirty="0" smtClean="0">
                <a:solidFill>
                  <a:srgbClr val="FF0000"/>
                </a:solidFill>
              </a:rPr>
              <a:t>Memory Performance</a:t>
            </a:r>
            <a:r>
              <a:rPr lang="en-US" altLang="zh-CN" dirty="0" smtClean="0"/>
              <a:t> </a:t>
            </a:r>
            <a:r>
              <a:rPr lang="en-US" altLang="zh-CN" dirty="0"/>
              <a:t>= 1 + 6 + 4x1  = 11</a:t>
            </a:r>
          </a:p>
        </p:txBody>
      </p:sp>
      <p:pic>
        <p:nvPicPr>
          <p:cNvPr id="2" name="图片 1"/>
          <p:cNvPicPr>
            <a:picLocks noChangeAspect="1"/>
          </p:cNvPicPr>
          <p:nvPr/>
        </p:nvPicPr>
        <p:blipFill>
          <a:blip r:embed="rId2"/>
          <a:stretch>
            <a:fillRect/>
          </a:stretch>
        </p:blipFill>
        <p:spPr>
          <a:xfrm>
            <a:off x="838200" y="4653136"/>
            <a:ext cx="10423001" cy="2031504"/>
          </a:xfrm>
          <a:prstGeom prst="rect">
            <a:avLst/>
          </a:prstGeom>
        </p:spPr>
      </p:pic>
    </p:spTree>
    <p:extLst>
      <p:ext uri="{BB962C8B-B14F-4D97-AF65-F5344CB8AC3E}">
        <p14:creationId xmlns:p14="http://schemas.microsoft.com/office/powerpoint/2010/main" val="2376010035"/>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3554" name="Rectangle 2"/>
          <p:cNvSpPr>
            <a:spLocks noGrp="1" noChangeArrowheads="1"/>
          </p:cNvSpPr>
          <p:nvPr>
            <p:ph type="title"/>
          </p:nvPr>
        </p:nvSpPr>
        <p:spPr/>
        <p:txBody>
          <a:bodyPr/>
          <a:lstStyle/>
          <a:p>
            <a:r>
              <a:rPr lang="en-US" altLang="zh-CN" smtClean="0"/>
              <a:t>Independent Memory Banks</a:t>
            </a:r>
            <a:endParaRPr lang="en-US" altLang="zh-CN"/>
          </a:p>
        </p:txBody>
      </p:sp>
      <p:sp>
        <p:nvSpPr>
          <p:cNvPr id="663555" name="Rectangle 3"/>
          <p:cNvSpPr>
            <a:spLocks noGrp="1" noChangeArrowheads="1"/>
          </p:cNvSpPr>
          <p:nvPr>
            <p:ph type="body" idx="1"/>
          </p:nvPr>
        </p:nvSpPr>
        <p:spPr/>
        <p:txBody>
          <a:bodyPr/>
          <a:lstStyle/>
          <a:p>
            <a:r>
              <a:rPr lang="en-US" altLang="zh-CN" dirty="0" smtClean="0"/>
              <a:t>Multiple memory </a:t>
            </a:r>
            <a:r>
              <a:rPr lang="en-US" altLang="zh-CN" dirty="0"/>
              <a:t>banks for independent accesses vs. faster sequential accesses for Multiprocessor &amp; I/O</a:t>
            </a:r>
          </a:p>
          <a:p>
            <a:pPr lvl="1"/>
            <a:r>
              <a:rPr lang="en-US" altLang="zh-CN" dirty="0"/>
              <a:t>CPU with Hit under n Misses, Non-blocking Cache</a:t>
            </a:r>
          </a:p>
          <a:p>
            <a:r>
              <a:rPr lang="en-US" altLang="zh-CN" dirty="0" smtClean="0"/>
              <a:t>How </a:t>
            </a:r>
            <a:r>
              <a:rPr lang="en-US" altLang="zh-CN" dirty="0" smtClean="0"/>
              <a:t>many banks?</a:t>
            </a:r>
          </a:p>
          <a:p>
            <a:r>
              <a:rPr lang="en-US" altLang="zh-CN" dirty="0" smtClean="0"/>
              <a:t>Number banks </a:t>
            </a:r>
            <a:r>
              <a:rPr lang="en-US" altLang="zh-CN" dirty="0" smtClean="0">
                <a:sym typeface="Symbol" panose="05050102010706020507" pitchFamily="18" charset="2"/>
              </a:rPr>
              <a:t>&gt;=</a:t>
            </a:r>
            <a:r>
              <a:rPr lang="en-US" altLang="zh-CN" dirty="0" smtClean="0"/>
              <a:t> number clocks to access word in bank</a:t>
            </a:r>
          </a:p>
          <a:p>
            <a:pPr lvl="1"/>
            <a:r>
              <a:rPr lang="en-US" altLang="zh-CN" dirty="0" smtClean="0"/>
              <a:t>For sequential accesses, otherwise will return to original bank before it has next word ready</a:t>
            </a:r>
          </a:p>
          <a:p>
            <a:pPr lvl="1"/>
            <a:r>
              <a:rPr lang="en-US" altLang="zh-CN" dirty="0" smtClean="0"/>
              <a:t>(like in vector case)</a:t>
            </a:r>
          </a:p>
          <a:p>
            <a:r>
              <a:rPr lang="en-US" altLang="zh-CN" dirty="0" smtClean="0"/>
              <a:t>Increasing DRAM =&gt; fewer chips =&gt; harder to have banks</a:t>
            </a:r>
            <a:endParaRPr lang="en-US" altLang="zh-CN" dirty="0"/>
          </a:p>
        </p:txBody>
      </p:sp>
    </p:spTree>
    <p:extLst>
      <p:ext uri="{BB962C8B-B14F-4D97-AF65-F5344CB8AC3E}">
        <p14:creationId xmlns:p14="http://schemas.microsoft.com/office/powerpoint/2010/main" val="40427109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3555">
                                            <p:txEl>
                                              <p:pRg st="0" end="0"/>
                                            </p:txEl>
                                          </p:spTgt>
                                        </p:tgtEl>
                                        <p:attrNameLst>
                                          <p:attrName>style.visibility</p:attrName>
                                        </p:attrNameLst>
                                      </p:cBhvr>
                                      <p:to>
                                        <p:strVal val="visible"/>
                                      </p:to>
                                    </p:set>
                                    <p:anim calcmode="lin" valueType="num">
                                      <p:cBhvr additive="base">
                                        <p:cTn id="7" dur="500" fill="hold"/>
                                        <p:tgtEl>
                                          <p:spTgt spid="6635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6355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63555">
                                            <p:txEl>
                                              <p:pRg st="1" end="1"/>
                                            </p:txEl>
                                          </p:spTgt>
                                        </p:tgtEl>
                                        <p:attrNameLst>
                                          <p:attrName>style.visibility</p:attrName>
                                        </p:attrNameLst>
                                      </p:cBhvr>
                                      <p:to>
                                        <p:strVal val="visible"/>
                                      </p:to>
                                    </p:set>
                                    <p:anim calcmode="lin" valueType="num">
                                      <p:cBhvr additive="base">
                                        <p:cTn id="11" dur="500" fill="hold"/>
                                        <p:tgtEl>
                                          <p:spTgt spid="66355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63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63555">
                                            <p:txEl>
                                              <p:pRg st="2" end="2"/>
                                            </p:txEl>
                                          </p:spTgt>
                                        </p:tgtEl>
                                        <p:attrNameLst>
                                          <p:attrName>style.visibility</p:attrName>
                                        </p:attrNameLst>
                                      </p:cBhvr>
                                      <p:to>
                                        <p:strVal val="visible"/>
                                      </p:to>
                                    </p:set>
                                    <p:anim calcmode="lin" valueType="num">
                                      <p:cBhvr additive="base">
                                        <p:cTn id="17" dur="500" fill="hold"/>
                                        <p:tgtEl>
                                          <p:spTgt spid="663555">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635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63555">
                                            <p:txEl>
                                              <p:pRg st="3" end="3"/>
                                            </p:txEl>
                                          </p:spTgt>
                                        </p:tgtEl>
                                        <p:attrNameLst>
                                          <p:attrName>style.visibility</p:attrName>
                                        </p:attrNameLst>
                                      </p:cBhvr>
                                      <p:to>
                                        <p:strVal val="visible"/>
                                      </p:to>
                                    </p:set>
                                    <p:anim calcmode="lin" valueType="num">
                                      <p:cBhvr additive="base">
                                        <p:cTn id="23" dur="500" fill="hold"/>
                                        <p:tgtEl>
                                          <p:spTgt spid="663555">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6355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663555">
                                            <p:txEl>
                                              <p:pRg st="4" end="4"/>
                                            </p:txEl>
                                          </p:spTgt>
                                        </p:tgtEl>
                                        <p:attrNameLst>
                                          <p:attrName>style.visibility</p:attrName>
                                        </p:attrNameLst>
                                      </p:cBhvr>
                                      <p:to>
                                        <p:strVal val="visible"/>
                                      </p:to>
                                    </p:set>
                                    <p:anim calcmode="lin" valueType="num">
                                      <p:cBhvr additive="base">
                                        <p:cTn id="27" dur="500" fill="hold"/>
                                        <p:tgtEl>
                                          <p:spTgt spid="66355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6355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63555">
                                            <p:txEl>
                                              <p:pRg st="5" end="5"/>
                                            </p:txEl>
                                          </p:spTgt>
                                        </p:tgtEl>
                                        <p:attrNameLst>
                                          <p:attrName>style.visibility</p:attrName>
                                        </p:attrNameLst>
                                      </p:cBhvr>
                                      <p:to>
                                        <p:strVal val="visible"/>
                                      </p:to>
                                    </p:set>
                                    <p:anim calcmode="lin" valueType="num">
                                      <p:cBhvr additive="base">
                                        <p:cTn id="31" dur="500" fill="hold"/>
                                        <p:tgtEl>
                                          <p:spTgt spid="663555">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635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63555">
                                            <p:txEl>
                                              <p:pRg st="6" end="6"/>
                                            </p:txEl>
                                          </p:spTgt>
                                        </p:tgtEl>
                                        <p:attrNameLst>
                                          <p:attrName>style.visibility</p:attrName>
                                        </p:attrNameLst>
                                      </p:cBhvr>
                                      <p:to>
                                        <p:strVal val="visible"/>
                                      </p:to>
                                    </p:set>
                                    <p:anim calcmode="lin" valueType="num">
                                      <p:cBhvr additive="base">
                                        <p:cTn id="37" dur="500" fill="hold"/>
                                        <p:tgtEl>
                                          <p:spTgt spid="663555">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6355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5"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a:xfrm>
            <a:off x="2460625" y="395288"/>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DRAMs per PC over Time</a:t>
            </a:r>
          </a:p>
        </p:txBody>
      </p:sp>
      <p:sp>
        <p:nvSpPr>
          <p:cNvPr id="664579" name="Rectangle 3"/>
          <p:cNvSpPr>
            <a:spLocks noChangeArrowheads="1"/>
          </p:cNvSpPr>
          <p:nvPr/>
        </p:nvSpPr>
        <p:spPr bwMode="auto">
          <a:xfrm rot="16200000">
            <a:off x="609446" y="4109882"/>
            <a:ext cx="331501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400"/>
              <a:t>Minimum Memory Size</a:t>
            </a:r>
          </a:p>
        </p:txBody>
      </p:sp>
      <p:sp>
        <p:nvSpPr>
          <p:cNvPr id="664580" name="Rectangle 4"/>
          <p:cNvSpPr>
            <a:spLocks noChangeArrowheads="1"/>
          </p:cNvSpPr>
          <p:nvPr/>
        </p:nvSpPr>
        <p:spPr bwMode="auto">
          <a:xfrm>
            <a:off x="5170488" y="1371600"/>
            <a:ext cx="269945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400"/>
              <a:t>DRAM Generation</a:t>
            </a:r>
          </a:p>
        </p:txBody>
      </p:sp>
      <p:sp>
        <p:nvSpPr>
          <p:cNvPr id="664581" name="Rectangle 5"/>
          <p:cNvSpPr>
            <a:spLocks noChangeArrowheads="1"/>
          </p:cNvSpPr>
          <p:nvPr/>
        </p:nvSpPr>
        <p:spPr bwMode="auto">
          <a:xfrm>
            <a:off x="3581401" y="1676400"/>
            <a:ext cx="6646051"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1pPr>
            <a:lvl2pPr algn="l">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2pPr>
            <a:lvl3pPr algn="l">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3pPr>
            <a:lvl4pPr algn="l">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4pPr>
            <a:lvl5pPr algn="l">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5pPr>
            <a:lvl6pPr eaLnBrk="0" fontAlgn="base" hangingPunct="0">
              <a:spcBef>
                <a:spcPct val="0"/>
              </a:spcBef>
              <a:spcAft>
                <a:spcPct val="0"/>
              </a:spcAft>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6pPr>
            <a:lvl7pPr eaLnBrk="0" fontAlgn="base" hangingPunct="0">
              <a:spcBef>
                <a:spcPct val="0"/>
              </a:spcBef>
              <a:spcAft>
                <a:spcPct val="0"/>
              </a:spcAft>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7pPr>
            <a:lvl8pPr eaLnBrk="0" fontAlgn="base" hangingPunct="0">
              <a:spcBef>
                <a:spcPct val="0"/>
              </a:spcBef>
              <a:spcAft>
                <a:spcPct val="0"/>
              </a:spcAft>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8pPr>
            <a:lvl9pPr eaLnBrk="0" fontAlgn="base" hangingPunct="0">
              <a:spcBef>
                <a:spcPct val="0"/>
              </a:spcBef>
              <a:spcAft>
                <a:spcPct val="0"/>
              </a:spcAft>
              <a:tabLst>
                <a:tab pos="1371600" algn="ctr"/>
                <a:tab pos="2514600" algn="ctr"/>
                <a:tab pos="3657600" algn="ctr"/>
                <a:tab pos="4800600" algn="ctr"/>
                <a:tab pos="5943600" algn="ctr"/>
              </a:tabLst>
              <a:defRPr sz="2400">
                <a:solidFill>
                  <a:schemeClr val="tx1"/>
                </a:solidFill>
                <a:latin typeface="Times" panose="02020603050405020304" pitchFamily="18" charset="0"/>
                <a:ea typeface="宋体" panose="02010600030101010101" pitchFamily="2" charset="-122"/>
              </a:defRPr>
            </a:lvl9pPr>
          </a:lstStyle>
          <a:p>
            <a:r>
              <a:rPr lang="zh-CN" altLang="zh-CN">
                <a:latin typeface="Arial" panose="020B0604020202020204" pitchFamily="34" charset="0"/>
              </a:rPr>
              <a:t>‘86	 ‘89	 ‘92	‘96	‘99	‘02 </a:t>
            </a:r>
          </a:p>
          <a:p>
            <a:r>
              <a:rPr lang="zh-CN" altLang="zh-CN">
                <a:latin typeface="Arial" panose="020B0604020202020204" pitchFamily="34" charset="0"/>
              </a:rPr>
              <a:t>1 </a:t>
            </a:r>
            <a:r>
              <a:rPr lang="en-US" altLang="zh-CN">
                <a:latin typeface="Arial" panose="020B0604020202020204" pitchFamily="34" charset="0"/>
              </a:rPr>
              <a:t>Mb	 4 Mb	 16 Mb	 64 Mb	 256 Mb	1 Gb	</a:t>
            </a:r>
          </a:p>
        </p:txBody>
      </p:sp>
      <p:sp>
        <p:nvSpPr>
          <p:cNvPr id="664582" name="Rectangle 6"/>
          <p:cNvSpPr>
            <a:spLocks noChangeArrowheads="1"/>
          </p:cNvSpPr>
          <p:nvPr/>
        </p:nvSpPr>
        <p:spPr bwMode="auto">
          <a:xfrm>
            <a:off x="2313592" y="2528889"/>
            <a:ext cx="1243996" cy="3783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a:r>
              <a:rPr lang="zh-CN" altLang="zh-CN" sz="2400" dirty="0"/>
              <a:t>4 </a:t>
            </a:r>
            <a:r>
              <a:rPr lang="en-US" altLang="zh-CN" sz="2400" dirty="0"/>
              <a:t>MB</a:t>
            </a:r>
          </a:p>
          <a:p>
            <a:pPr algn="r"/>
            <a:endParaRPr lang="en-US" altLang="zh-CN" sz="1200" dirty="0"/>
          </a:p>
          <a:p>
            <a:pPr algn="r"/>
            <a:r>
              <a:rPr lang="en-US" altLang="zh-CN" sz="2400" dirty="0"/>
              <a:t>8 MB</a:t>
            </a:r>
          </a:p>
          <a:p>
            <a:pPr algn="r"/>
            <a:endParaRPr lang="en-US" altLang="zh-CN" sz="1200" dirty="0"/>
          </a:p>
          <a:p>
            <a:pPr algn="r"/>
            <a:r>
              <a:rPr lang="en-US" altLang="zh-CN" sz="2400" dirty="0"/>
              <a:t>16 MB</a:t>
            </a:r>
          </a:p>
          <a:p>
            <a:pPr algn="r"/>
            <a:endParaRPr lang="en-US" altLang="zh-CN" sz="1200" dirty="0"/>
          </a:p>
          <a:p>
            <a:pPr algn="r"/>
            <a:r>
              <a:rPr lang="en-US" altLang="zh-CN" sz="2400" dirty="0"/>
              <a:t>32 MB</a:t>
            </a:r>
          </a:p>
          <a:p>
            <a:pPr algn="r"/>
            <a:endParaRPr lang="en-US" altLang="zh-CN" sz="1200" dirty="0"/>
          </a:p>
          <a:p>
            <a:pPr algn="r"/>
            <a:r>
              <a:rPr lang="en-US" altLang="zh-CN" sz="2400" dirty="0"/>
              <a:t>64 MB</a:t>
            </a:r>
          </a:p>
          <a:p>
            <a:pPr algn="r"/>
            <a:endParaRPr lang="en-US" altLang="zh-CN" sz="1200" dirty="0"/>
          </a:p>
          <a:p>
            <a:pPr algn="r"/>
            <a:r>
              <a:rPr lang="en-US" altLang="zh-CN" sz="2400" dirty="0"/>
              <a:t>128 MB</a:t>
            </a:r>
          </a:p>
          <a:p>
            <a:pPr algn="r"/>
            <a:endParaRPr lang="en-US" altLang="zh-CN" sz="1200" dirty="0"/>
          </a:p>
          <a:p>
            <a:pPr algn="r"/>
            <a:r>
              <a:rPr lang="en-US" altLang="zh-CN" sz="2400" dirty="0"/>
              <a:t>256 MB</a:t>
            </a:r>
          </a:p>
        </p:txBody>
      </p:sp>
      <p:grpSp>
        <p:nvGrpSpPr>
          <p:cNvPr id="664583" name="Group 7"/>
          <p:cNvGrpSpPr>
            <a:grpSpLocks/>
          </p:cNvGrpSpPr>
          <p:nvPr/>
        </p:nvGrpSpPr>
        <p:grpSpPr bwMode="auto">
          <a:xfrm>
            <a:off x="3860800" y="2438403"/>
            <a:ext cx="1233488" cy="458788"/>
            <a:chOff x="1506" y="1671"/>
            <a:chExt cx="777" cy="289"/>
          </a:xfrm>
        </p:grpSpPr>
        <p:sp>
          <p:nvSpPr>
            <p:cNvPr id="664584" name="Rectangle 8"/>
            <p:cNvSpPr>
              <a:spLocks noChangeArrowheads="1"/>
            </p:cNvSpPr>
            <p:nvPr/>
          </p:nvSpPr>
          <p:spPr bwMode="auto">
            <a:xfrm>
              <a:off x="1506" y="167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32</a:t>
              </a:r>
            </a:p>
          </p:txBody>
        </p:sp>
        <p:sp>
          <p:nvSpPr>
            <p:cNvPr id="664585" name="Line 9"/>
            <p:cNvSpPr>
              <a:spLocks noChangeShapeType="1"/>
            </p:cNvSpPr>
            <p:nvPr/>
          </p:nvSpPr>
          <p:spPr bwMode="auto">
            <a:xfrm>
              <a:off x="1780" y="1824"/>
              <a:ext cx="24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586" name="Rectangle 10"/>
            <p:cNvSpPr>
              <a:spLocks noChangeArrowheads="1"/>
            </p:cNvSpPr>
            <p:nvPr/>
          </p:nvSpPr>
          <p:spPr bwMode="auto">
            <a:xfrm>
              <a:off x="2060" y="1671"/>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8</a:t>
              </a:r>
            </a:p>
          </p:txBody>
        </p:sp>
      </p:grpSp>
      <p:sp>
        <p:nvSpPr>
          <p:cNvPr id="664587" name="Rectangle 11"/>
          <p:cNvSpPr>
            <a:spLocks noChangeArrowheads="1"/>
          </p:cNvSpPr>
          <p:nvPr/>
        </p:nvSpPr>
        <p:spPr bwMode="auto">
          <a:xfrm>
            <a:off x="5216525" y="2952750"/>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16</a:t>
            </a:r>
          </a:p>
        </p:txBody>
      </p:sp>
      <p:sp>
        <p:nvSpPr>
          <p:cNvPr id="664588" name="Line 12"/>
          <p:cNvSpPr>
            <a:spLocks noChangeShapeType="1"/>
          </p:cNvSpPr>
          <p:nvPr/>
        </p:nvSpPr>
        <p:spPr bwMode="auto">
          <a:xfrm>
            <a:off x="5653088" y="3195638"/>
            <a:ext cx="5969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589" name="Rectangle 13"/>
          <p:cNvSpPr>
            <a:spLocks noChangeArrowheads="1"/>
          </p:cNvSpPr>
          <p:nvPr/>
        </p:nvSpPr>
        <p:spPr bwMode="auto">
          <a:xfrm>
            <a:off x="6300789" y="2952750"/>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4</a:t>
            </a:r>
          </a:p>
        </p:txBody>
      </p:sp>
      <p:grpSp>
        <p:nvGrpSpPr>
          <p:cNvPr id="664590" name="Group 14"/>
          <p:cNvGrpSpPr>
            <a:grpSpLocks/>
          </p:cNvGrpSpPr>
          <p:nvPr/>
        </p:nvGrpSpPr>
        <p:grpSpPr bwMode="auto">
          <a:xfrm>
            <a:off x="6434138" y="3429004"/>
            <a:ext cx="1370012" cy="458788"/>
            <a:chOff x="3127" y="2295"/>
            <a:chExt cx="863" cy="289"/>
          </a:xfrm>
        </p:grpSpPr>
        <p:sp>
          <p:nvSpPr>
            <p:cNvPr id="664591" name="Rectangle 15"/>
            <p:cNvSpPr>
              <a:spLocks noChangeArrowheads="1"/>
            </p:cNvSpPr>
            <p:nvPr/>
          </p:nvSpPr>
          <p:spPr bwMode="auto">
            <a:xfrm>
              <a:off x="3127" y="2295"/>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8</a:t>
              </a:r>
            </a:p>
          </p:txBody>
        </p:sp>
        <p:sp>
          <p:nvSpPr>
            <p:cNvPr id="664592" name="Line 16"/>
            <p:cNvSpPr>
              <a:spLocks noChangeShapeType="1"/>
            </p:cNvSpPr>
            <p:nvPr/>
          </p:nvSpPr>
          <p:spPr bwMode="auto">
            <a:xfrm>
              <a:off x="3359" y="2448"/>
              <a:ext cx="37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593" name="Rectangle 17"/>
            <p:cNvSpPr>
              <a:spLocks noChangeArrowheads="1"/>
            </p:cNvSpPr>
            <p:nvPr/>
          </p:nvSpPr>
          <p:spPr bwMode="auto">
            <a:xfrm>
              <a:off x="3767" y="2295"/>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2</a:t>
              </a:r>
            </a:p>
          </p:txBody>
        </p:sp>
      </p:grpSp>
      <p:grpSp>
        <p:nvGrpSpPr>
          <p:cNvPr id="664594" name="Group 18"/>
          <p:cNvGrpSpPr>
            <a:grpSpLocks/>
          </p:cNvGrpSpPr>
          <p:nvPr/>
        </p:nvGrpSpPr>
        <p:grpSpPr bwMode="auto">
          <a:xfrm>
            <a:off x="7488238" y="4000505"/>
            <a:ext cx="1370012" cy="458788"/>
            <a:chOff x="3791" y="2655"/>
            <a:chExt cx="863" cy="289"/>
          </a:xfrm>
        </p:grpSpPr>
        <p:sp>
          <p:nvSpPr>
            <p:cNvPr id="664595" name="Rectangle 19"/>
            <p:cNvSpPr>
              <a:spLocks noChangeArrowheads="1"/>
            </p:cNvSpPr>
            <p:nvPr/>
          </p:nvSpPr>
          <p:spPr bwMode="auto">
            <a:xfrm>
              <a:off x="3791" y="2655"/>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4</a:t>
              </a:r>
            </a:p>
          </p:txBody>
        </p:sp>
        <p:sp>
          <p:nvSpPr>
            <p:cNvPr id="664596" name="Line 20"/>
            <p:cNvSpPr>
              <a:spLocks noChangeShapeType="1"/>
            </p:cNvSpPr>
            <p:nvPr/>
          </p:nvSpPr>
          <p:spPr bwMode="auto">
            <a:xfrm>
              <a:off x="4023" y="2808"/>
              <a:ext cx="37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597" name="Rectangle 21"/>
            <p:cNvSpPr>
              <a:spLocks noChangeArrowheads="1"/>
            </p:cNvSpPr>
            <p:nvPr/>
          </p:nvSpPr>
          <p:spPr bwMode="auto">
            <a:xfrm>
              <a:off x="4431" y="2655"/>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solidFill>
                    <a:srgbClr val="FC0128"/>
                  </a:solidFill>
                </a:rPr>
                <a:t>1</a:t>
              </a:r>
            </a:p>
          </p:txBody>
        </p:sp>
      </p:grpSp>
      <p:grpSp>
        <p:nvGrpSpPr>
          <p:cNvPr id="664598" name="Group 22"/>
          <p:cNvGrpSpPr>
            <a:grpSpLocks/>
          </p:cNvGrpSpPr>
          <p:nvPr/>
        </p:nvGrpSpPr>
        <p:grpSpPr bwMode="auto">
          <a:xfrm>
            <a:off x="7488238" y="4533905"/>
            <a:ext cx="1370012" cy="458788"/>
            <a:chOff x="3791" y="2991"/>
            <a:chExt cx="863" cy="289"/>
          </a:xfrm>
        </p:grpSpPr>
        <p:sp>
          <p:nvSpPr>
            <p:cNvPr id="664599" name="Rectangle 23"/>
            <p:cNvSpPr>
              <a:spLocks noChangeArrowheads="1"/>
            </p:cNvSpPr>
            <p:nvPr/>
          </p:nvSpPr>
          <p:spPr bwMode="auto">
            <a:xfrm>
              <a:off x="3791" y="2991"/>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8</a:t>
              </a:r>
            </a:p>
          </p:txBody>
        </p:sp>
        <p:sp>
          <p:nvSpPr>
            <p:cNvPr id="664600" name="Line 24"/>
            <p:cNvSpPr>
              <a:spLocks noChangeShapeType="1"/>
            </p:cNvSpPr>
            <p:nvPr/>
          </p:nvSpPr>
          <p:spPr bwMode="auto">
            <a:xfrm>
              <a:off x="4023" y="3144"/>
              <a:ext cx="37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601" name="Rectangle 25"/>
            <p:cNvSpPr>
              <a:spLocks noChangeArrowheads="1"/>
            </p:cNvSpPr>
            <p:nvPr/>
          </p:nvSpPr>
          <p:spPr bwMode="auto">
            <a:xfrm>
              <a:off x="4431" y="2991"/>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2</a:t>
              </a:r>
            </a:p>
          </p:txBody>
        </p:sp>
      </p:grpSp>
      <p:grpSp>
        <p:nvGrpSpPr>
          <p:cNvPr id="664602" name="Group 26"/>
          <p:cNvGrpSpPr>
            <a:grpSpLocks/>
          </p:cNvGrpSpPr>
          <p:nvPr/>
        </p:nvGrpSpPr>
        <p:grpSpPr bwMode="auto">
          <a:xfrm>
            <a:off x="8770938" y="5181606"/>
            <a:ext cx="1370012" cy="458788"/>
            <a:chOff x="4599" y="3399"/>
            <a:chExt cx="863" cy="289"/>
          </a:xfrm>
        </p:grpSpPr>
        <p:sp>
          <p:nvSpPr>
            <p:cNvPr id="664603" name="Rectangle 27"/>
            <p:cNvSpPr>
              <a:spLocks noChangeArrowheads="1"/>
            </p:cNvSpPr>
            <p:nvPr/>
          </p:nvSpPr>
          <p:spPr bwMode="auto">
            <a:xfrm>
              <a:off x="4599" y="3399"/>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4</a:t>
              </a:r>
            </a:p>
          </p:txBody>
        </p:sp>
        <p:sp>
          <p:nvSpPr>
            <p:cNvPr id="664604" name="Line 28"/>
            <p:cNvSpPr>
              <a:spLocks noChangeShapeType="1"/>
            </p:cNvSpPr>
            <p:nvPr/>
          </p:nvSpPr>
          <p:spPr bwMode="auto">
            <a:xfrm>
              <a:off x="4831" y="3552"/>
              <a:ext cx="37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605" name="Rectangle 29"/>
            <p:cNvSpPr>
              <a:spLocks noChangeArrowheads="1"/>
            </p:cNvSpPr>
            <p:nvPr/>
          </p:nvSpPr>
          <p:spPr bwMode="auto">
            <a:xfrm>
              <a:off x="5239" y="3399"/>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solidFill>
                    <a:srgbClr val="FC0128"/>
                  </a:solidFill>
                </a:rPr>
                <a:t>1</a:t>
              </a:r>
            </a:p>
          </p:txBody>
        </p:sp>
      </p:grpSp>
      <p:grpSp>
        <p:nvGrpSpPr>
          <p:cNvPr id="664606" name="Group 30"/>
          <p:cNvGrpSpPr>
            <a:grpSpLocks/>
          </p:cNvGrpSpPr>
          <p:nvPr/>
        </p:nvGrpSpPr>
        <p:grpSpPr bwMode="auto">
          <a:xfrm>
            <a:off x="8770938" y="5715006"/>
            <a:ext cx="1370012" cy="458788"/>
            <a:chOff x="4599" y="3735"/>
            <a:chExt cx="863" cy="289"/>
          </a:xfrm>
        </p:grpSpPr>
        <p:sp>
          <p:nvSpPr>
            <p:cNvPr id="664607" name="Rectangle 31"/>
            <p:cNvSpPr>
              <a:spLocks noChangeArrowheads="1"/>
            </p:cNvSpPr>
            <p:nvPr/>
          </p:nvSpPr>
          <p:spPr bwMode="auto">
            <a:xfrm>
              <a:off x="4599" y="3735"/>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8</a:t>
              </a:r>
            </a:p>
          </p:txBody>
        </p:sp>
        <p:sp>
          <p:nvSpPr>
            <p:cNvPr id="664608" name="Line 32"/>
            <p:cNvSpPr>
              <a:spLocks noChangeShapeType="1"/>
            </p:cNvSpPr>
            <p:nvPr/>
          </p:nvSpPr>
          <p:spPr bwMode="auto">
            <a:xfrm>
              <a:off x="4831" y="3888"/>
              <a:ext cx="37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609" name="Rectangle 33"/>
            <p:cNvSpPr>
              <a:spLocks noChangeArrowheads="1"/>
            </p:cNvSpPr>
            <p:nvPr/>
          </p:nvSpPr>
          <p:spPr bwMode="auto">
            <a:xfrm>
              <a:off x="5239" y="3735"/>
              <a:ext cx="223"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zh-CN" altLang="zh-CN" sz="2400"/>
                <a:t>2</a:t>
              </a:r>
            </a:p>
          </p:txBody>
        </p:sp>
      </p:grpSp>
    </p:spTree>
    <p:extLst>
      <p:ext uri="{BB962C8B-B14F-4D97-AF65-F5344CB8AC3E}">
        <p14:creationId xmlns:p14="http://schemas.microsoft.com/office/powerpoint/2010/main" val="361712118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Internal Organization of DRAM</a:t>
            </a:r>
            <a:endParaRPr lang="en-US"/>
          </a:p>
        </p:txBody>
      </p:sp>
      <p:sp>
        <p:nvSpPr>
          <p:cNvPr id="3" name="内容占位符 2"/>
          <p:cNvSpPr>
            <a:spLocks noGrp="1"/>
          </p:cNvSpPr>
          <p:nvPr>
            <p:ph idx="1"/>
          </p:nvPr>
        </p:nvSpPr>
        <p:spPr/>
        <p:txBody>
          <a:bodyPr/>
          <a:lstStyle/>
          <a:p>
            <a:r>
              <a:rPr lang="en-US" altLang="zh-CN" sz="2400" dirty="0"/>
              <a:t>Modern DRAMs are organized in banks, up to 16 for DDR4. </a:t>
            </a:r>
            <a:r>
              <a:rPr lang="en-US" altLang="zh-CN" sz="2400" dirty="0" smtClean="0"/>
              <a:t>Sending </a:t>
            </a:r>
            <a:r>
              <a:rPr lang="en-US" altLang="zh-CN" sz="2400" dirty="0"/>
              <a:t>an ACT (Activate) command opens a bank and a row and loads the row into a row buffer. When the row is in the buffer, it can be transferred by successive column addresses </a:t>
            </a:r>
            <a:r>
              <a:rPr lang="en-US" altLang="zh-CN" sz="2400" dirty="0" smtClean="0"/>
              <a:t>The </a:t>
            </a:r>
            <a:r>
              <a:rPr lang="en-US" altLang="zh-CN" sz="2400" dirty="0" err="1"/>
              <a:t>Precharge</a:t>
            </a:r>
            <a:r>
              <a:rPr lang="en-US" altLang="zh-CN" sz="2400" dirty="0"/>
              <a:t> commend (PRE) closes the bank and row and readies it for a new access. </a:t>
            </a:r>
            <a:endParaRPr lang="zh-CN" altLang="en-US" sz="2400" dirty="0"/>
          </a:p>
        </p:txBody>
      </p:sp>
      <p:pic>
        <p:nvPicPr>
          <p:cNvPr id="4" name="图片 3"/>
          <p:cNvPicPr>
            <a:picLocks noChangeAspect="1"/>
          </p:cNvPicPr>
          <p:nvPr/>
        </p:nvPicPr>
        <p:blipFill>
          <a:blip r:embed="rId2"/>
          <a:stretch>
            <a:fillRect/>
          </a:stretch>
        </p:blipFill>
        <p:spPr>
          <a:xfrm>
            <a:off x="1512015" y="3501008"/>
            <a:ext cx="9167970" cy="3258616"/>
          </a:xfrm>
          <a:prstGeom prst="rect">
            <a:avLst/>
          </a:prstGeom>
        </p:spPr>
      </p:pic>
    </p:spTree>
    <p:extLst>
      <p:ext uri="{BB962C8B-B14F-4D97-AF65-F5344CB8AC3E}">
        <p14:creationId xmlns:p14="http://schemas.microsoft.com/office/powerpoint/2010/main" val="209667488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a:xfrm>
            <a:off x="2476500" y="1333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Avoiding Bank Conflicts</a:t>
            </a:r>
          </a:p>
        </p:txBody>
      </p:sp>
      <p:sp>
        <p:nvSpPr>
          <p:cNvPr id="666627" name="Rectangle 3"/>
          <p:cNvSpPr>
            <a:spLocks noGrp="1" noChangeArrowheads="1"/>
          </p:cNvSpPr>
          <p:nvPr>
            <p:ph type="body" idx="1"/>
          </p:nvPr>
        </p:nvSpPr>
        <p:spPr>
          <a:xfrm>
            <a:off x="335360" y="1628800"/>
            <a:ext cx="11521280" cy="38385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smtClean="0"/>
              <a:t>Even </a:t>
            </a:r>
            <a:r>
              <a:rPr lang="en-US" altLang="zh-CN" dirty="0"/>
              <a:t>with 128 banks, since 512 is multiple of 128, conflict on word </a:t>
            </a:r>
            <a:r>
              <a:rPr lang="en-US" altLang="zh-CN" dirty="0" smtClean="0"/>
              <a:t>accesses:  </a:t>
            </a:r>
            <a:r>
              <a:rPr lang="en-US" altLang="zh-CN" dirty="0" smtClean="0">
                <a:solidFill>
                  <a:srgbClr val="FF0000"/>
                </a:solidFill>
              </a:rPr>
              <a:t># of banks accessed = # of banks / GCD(stride, # of banks</a:t>
            </a:r>
            <a:r>
              <a:rPr lang="en-US" altLang="zh-CN" dirty="0">
                <a:solidFill>
                  <a:srgbClr val="FF0000"/>
                </a:solidFill>
              </a:rPr>
              <a:t>)</a:t>
            </a:r>
            <a:endParaRPr lang="en-US" altLang="zh-CN" dirty="0">
              <a:solidFill>
                <a:srgbClr val="FF0000"/>
              </a:solidFill>
              <a:latin typeface="Courier New" panose="02070309020205020404" pitchFamily="49" charset="0"/>
            </a:endParaRPr>
          </a:p>
          <a:p>
            <a:pPr>
              <a:lnSpc>
                <a:spcPct val="80000"/>
              </a:lnSpc>
              <a:spcBef>
                <a:spcPct val="0"/>
              </a:spcBef>
              <a:buFont typeface="Wingdings" panose="05000000000000000000" pitchFamily="2" charset="2"/>
              <a:buNone/>
            </a:pPr>
            <a:r>
              <a:rPr lang="en-US" altLang="zh-CN" dirty="0">
                <a:latin typeface="Courier New" panose="02070309020205020404" pitchFamily="49" charset="0"/>
              </a:rPr>
              <a:t>	</a:t>
            </a:r>
            <a:r>
              <a:rPr lang="en-US" altLang="zh-CN" b="1" dirty="0" err="1">
                <a:latin typeface="Courier New" panose="02070309020205020404" pitchFamily="49" charset="0"/>
              </a:rPr>
              <a:t>int</a:t>
            </a:r>
            <a:r>
              <a:rPr lang="en-US" altLang="zh-CN" b="1" dirty="0">
                <a:latin typeface="Courier New" panose="02070309020205020404" pitchFamily="49" charset="0"/>
              </a:rPr>
              <a:t> x[256][512];</a:t>
            </a:r>
          </a:p>
          <a:p>
            <a:pPr>
              <a:lnSpc>
                <a:spcPct val="80000"/>
              </a:lnSpc>
              <a:spcBef>
                <a:spcPct val="0"/>
              </a:spcBef>
              <a:buFont typeface="Wingdings" panose="05000000000000000000" pitchFamily="2" charset="2"/>
              <a:buNone/>
            </a:pPr>
            <a:r>
              <a:rPr lang="en-US" altLang="zh-CN" b="1" dirty="0">
                <a:latin typeface="Courier New" panose="02070309020205020404" pitchFamily="49" charset="0"/>
              </a:rPr>
              <a:t>		for (j = 0; j &lt; 512; j = j+1)</a:t>
            </a:r>
          </a:p>
          <a:p>
            <a:pPr>
              <a:lnSpc>
                <a:spcPct val="80000"/>
              </a:lnSpc>
              <a:spcBef>
                <a:spcPct val="0"/>
              </a:spcBef>
              <a:buFont typeface="Wingdings" panose="05000000000000000000" pitchFamily="2" charset="2"/>
              <a:buNone/>
            </a:pPr>
            <a:r>
              <a:rPr lang="en-US" altLang="zh-CN" b="1" dirty="0">
                <a:latin typeface="Courier New" panose="02070309020205020404" pitchFamily="49" charset="0"/>
              </a:rPr>
              <a:t>			for (</a:t>
            </a:r>
            <a:r>
              <a:rPr lang="en-US" altLang="zh-CN" b="1" dirty="0" err="1">
                <a:latin typeface="Courier New" panose="02070309020205020404" pitchFamily="49" charset="0"/>
              </a:rPr>
              <a:t>i</a:t>
            </a:r>
            <a:r>
              <a:rPr lang="en-US" altLang="zh-CN" b="1" dirty="0">
                <a:latin typeface="Courier New" panose="02070309020205020404" pitchFamily="49" charset="0"/>
              </a:rPr>
              <a:t> = 0; </a:t>
            </a:r>
            <a:r>
              <a:rPr lang="en-US" altLang="zh-CN" b="1" dirty="0" err="1">
                <a:latin typeface="Courier New" panose="02070309020205020404" pitchFamily="49" charset="0"/>
              </a:rPr>
              <a:t>i</a:t>
            </a:r>
            <a:r>
              <a:rPr lang="en-US" altLang="zh-CN" b="1" dirty="0">
                <a:latin typeface="Courier New" panose="02070309020205020404" pitchFamily="49" charset="0"/>
              </a:rPr>
              <a:t> &lt; 256; </a:t>
            </a:r>
            <a:r>
              <a:rPr lang="en-US" altLang="zh-CN" b="1" dirty="0" err="1">
                <a:latin typeface="Courier New" panose="02070309020205020404" pitchFamily="49" charset="0"/>
              </a:rPr>
              <a:t>i</a:t>
            </a:r>
            <a:r>
              <a:rPr lang="en-US" altLang="zh-CN" b="1" dirty="0">
                <a:latin typeface="Courier New" panose="02070309020205020404" pitchFamily="49" charset="0"/>
              </a:rPr>
              <a:t> = i+1)</a:t>
            </a:r>
          </a:p>
          <a:p>
            <a:pPr>
              <a:lnSpc>
                <a:spcPct val="80000"/>
              </a:lnSpc>
              <a:spcBef>
                <a:spcPct val="0"/>
              </a:spcBef>
              <a:buFont typeface="Wingdings" panose="05000000000000000000" pitchFamily="2" charset="2"/>
              <a:buNone/>
            </a:pPr>
            <a:r>
              <a:rPr lang="en-US" altLang="zh-CN" b="1" dirty="0">
                <a:latin typeface="Courier New" panose="02070309020205020404" pitchFamily="49" charset="0"/>
              </a:rPr>
              <a:t>				x[</a:t>
            </a:r>
            <a:r>
              <a:rPr lang="en-US" altLang="zh-CN" b="1" dirty="0" err="1">
                <a:latin typeface="Courier New" panose="02070309020205020404" pitchFamily="49" charset="0"/>
              </a:rPr>
              <a:t>i</a:t>
            </a:r>
            <a:r>
              <a:rPr lang="en-US" altLang="zh-CN" b="1" dirty="0">
                <a:latin typeface="Courier New" panose="02070309020205020404" pitchFamily="49" charset="0"/>
              </a:rPr>
              <a:t>][j] = 2 * x[</a:t>
            </a:r>
            <a:r>
              <a:rPr lang="en-US" altLang="zh-CN" b="1" dirty="0" err="1">
                <a:latin typeface="Courier New" panose="02070309020205020404" pitchFamily="49" charset="0"/>
              </a:rPr>
              <a:t>i</a:t>
            </a:r>
            <a:r>
              <a:rPr lang="en-US" altLang="zh-CN" b="1" dirty="0">
                <a:latin typeface="Courier New" panose="02070309020205020404" pitchFamily="49" charset="0"/>
              </a:rPr>
              <a:t>][j];</a:t>
            </a:r>
            <a:endParaRPr lang="en-US" altLang="zh-CN" sz="2000" b="1" dirty="0"/>
          </a:p>
          <a:p>
            <a:pPr>
              <a:lnSpc>
                <a:spcPct val="90000"/>
              </a:lnSpc>
              <a:spcBef>
                <a:spcPct val="0"/>
              </a:spcBef>
            </a:pPr>
            <a:r>
              <a:rPr lang="en-US" altLang="zh-CN" dirty="0" smtClean="0"/>
              <a:t>SW</a:t>
            </a:r>
            <a:r>
              <a:rPr lang="en-US" altLang="zh-CN" dirty="0"/>
              <a:t>: loop interchange or declaring array not power of 2 (“array padding”)</a:t>
            </a:r>
          </a:p>
          <a:p>
            <a:pPr>
              <a:lnSpc>
                <a:spcPct val="90000"/>
              </a:lnSpc>
              <a:spcBef>
                <a:spcPct val="0"/>
              </a:spcBef>
            </a:pPr>
            <a:r>
              <a:rPr lang="en-US" altLang="zh-CN" dirty="0"/>
              <a:t>HW: Prime number of banks</a:t>
            </a:r>
          </a:p>
          <a:p>
            <a:pPr lvl="1">
              <a:lnSpc>
                <a:spcPct val="90000"/>
              </a:lnSpc>
              <a:spcBef>
                <a:spcPct val="0"/>
              </a:spcBef>
            </a:pPr>
            <a:r>
              <a:rPr lang="en-US" altLang="zh-CN" dirty="0"/>
              <a:t>bank number =  address %</a:t>
            </a:r>
            <a:r>
              <a:rPr lang="en-US" altLang="zh-CN" dirty="0" smtClean="0"/>
              <a:t> </a:t>
            </a:r>
            <a:r>
              <a:rPr lang="en-US" altLang="zh-CN" dirty="0"/>
              <a:t>number of banks</a:t>
            </a:r>
          </a:p>
          <a:p>
            <a:pPr lvl="1">
              <a:lnSpc>
                <a:spcPct val="90000"/>
              </a:lnSpc>
              <a:spcBef>
                <a:spcPct val="0"/>
              </a:spcBef>
            </a:pPr>
            <a:r>
              <a:rPr lang="en-US" altLang="zh-CN" dirty="0"/>
              <a:t>address within bank = address / number of words in </a:t>
            </a:r>
            <a:r>
              <a:rPr lang="en-US" altLang="zh-CN" dirty="0" smtClean="0"/>
              <a:t>bank (seq. interleave)</a:t>
            </a:r>
            <a:endParaRPr lang="en-US" altLang="zh-CN" dirty="0"/>
          </a:p>
          <a:p>
            <a:pPr lvl="1">
              <a:lnSpc>
                <a:spcPct val="90000"/>
              </a:lnSpc>
              <a:spcBef>
                <a:spcPct val="0"/>
              </a:spcBef>
            </a:pPr>
            <a:r>
              <a:rPr lang="en-US" altLang="zh-CN" dirty="0"/>
              <a:t>modulo &amp; divide per memory access with prime no. banks?</a:t>
            </a:r>
          </a:p>
          <a:p>
            <a:pPr lvl="1">
              <a:lnSpc>
                <a:spcPct val="90000"/>
              </a:lnSpc>
              <a:spcBef>
                <a:spcPct val="0"/>
              </a:spcBef>
            </a:pPr>
            <a:r>
              <a:rPr lang="en-US" altLang="zh-CN" dirty="0"/>
              <a:t>address within bank = address %</a:t>
            </a:r>
            <a:r>
              <a:rPr lang="en-US" altLang="zh-CN" dirty="0" smtClean="0"/>
              <a:t> </a:t>
            </a:r>
            <a:r>
              <a:rPr lang="en-US" altLang="zh-CN" dirty="0"/>
              <a:t>number words in </a:t>
            </a:r>
            <a:r>
              <a:rPr lang="en-US" altLang="zh-CN" dirty="0" smtClean="0"/>
              <a:t>bank (modulo interleave)</a:t>
            </a:r>
            <a:endParaRPr lang="en-US" altLang="zh-CN" dirty="0"/>
          </a:p>
          <a:p>
            <a:pPr lvl="1">
              <a:lnSpc>
                <a:spcPct val="90000"/>
              </a:lnSpc>
              <a:spcBef>
                <a:spcPct val="0"/>
              </a:spcBef>
            </a:pPr>
            <a:r>
              <a:rPr lang="en-US" altLang="zh-CN" dirty="0"/>
              <a:t>bank number? easy if 2</a:t>
            </a:r>
            <a:r>
              <a:rPr lang="en-US" altLang="zh-CN" baseline="30000" dirty="0"/>
              <a:t>N</a:t>
            </a:r>
            <a:r>
              <a:rPr lang="en-US" altLang="zh-CN" dirty="0"/>
              <a:t> words per bank</a:t>
            </a:r>
          </a:p>
        </p:txBody>
      </p:sp>
    </p:spTree>
    <p:extLst>
      <p:ext uri="{BB962C8B-B14F-4D97-AF65-F5344CB8AC3E}">
        <p14:creationId xmlns:p14="http://schemas.microsoft.com/office/powerpoint/2010/main" val="28008660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6627">
                                            <p:txEl>
                                              <p:pRg st="0" end="0"/>
                                            </p:txEl>
                                          </p:spTgt>
                                        </p:tgtEl>
                                        <p:attrNameLst>
                                          <p:attrName>style.visibility</p:attrName>
                                        </p:attrNameLst>
                                      </p:cBhvr>
                                      <p:to>
                                        <p:strVal val="visible"/>
                                      </p:to>
                                    </p:set>
                                    <p:anim calcmode="lin" valueType="num">
                                      <p:cBhvr additive="base">
                                        <p:cTn id="7" dur="500" fill="hold"/>
                                        <p:tgtEl>
                                          <p:spTgt spid="666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6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66627">
                                            <p:txEl>
                                              <p:pRg st="1" end="1"/>
                                            </p:txEl>
                                          </p:spTgt>
                                        </p:tgtEl>
                                        <p:attrNameLst>
                                          <p:attrName>style.visibility</p:attrName>
                                        </p:attrNameLst>
                                      </p:cBhvr>
                                      <p:to>
                                        <p:strVal val="visible"/>
                                      </p:to>
                                    </p:set>
                                    <p:anim calcmode="lin" valueType="num">
                                      <p:cBhvr additive="base">
                                        <p:cTn id="13" dur="500" fill="hold"/>
                                        <p:tgtEl>
                                          <p:spTgt spid="666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66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66627">
                                            <p:txEl>
                                              <p:pRg st="2" end="2"/>
                                            </p:txEl>
                                          </p:spTgt>
                                        </p:tgtEl>
                                        <p:attrNameLst>
                                          <p:attrName>style.visibility</p:attrName>
                                        </p:attrNameLst>
                                      </p:cBhvr>
                                      <p:to>
                                        <p:strVal val="visible"/>
                                      </p:to>
                                    </p:set>
                                    <p:anim calcmode="lin" valueType="num">
                                      <p:cBhvr additive="base">
                                        <p:cTn id="19" dur="500" fill="hold"/>
                                        <p:tgtEl>
                                          <p:spTgt spid="666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66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66627">
                                            <p:txEl>
                                              <p:pRg st="3" end="3"/>
                                            </p:txEl>
                                          </p:spTgt>
                                        </p:tgtEl>
                                        <p:attrNameLst>
                                          <p:attrName>style.visibility</p:attrName>
                                        </p:attrNameLst>
                                      </p:cBhvr>
                                      <p:to>
                                        <p:strVal val="visible"/>
                                      </p:to>
                                    </p:set>
                                    <p:anim calcmode="lin" valueType="num">
                                      <p:cBhvr additive="base">
                                        <p:cTn id="25" dur="500" fill="hold"/>
                                        <p:tgtEl>
                                          <p:spTgt spid="6666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66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66627">
                                            <p:txEl>
                                              <p:pRg st="4" end="4"/>
                                            </p:txEl>
                                          </p:spTgt>
                                        </p:tgtEl>
                                        <p:attrNameLst>
                                          <p:attrName>style.visibility</p:attrName>
                                        </p:attrNameLst>
                                      </p:cBhvr>
                                      <p:to>
                                        <p:strVal val="visible"/>
                                      </p:to>
                                    </p:set>
                                    <p:anim calcmode="lin" valueType="num">
                                      <p:cBhvr additive="base">
                                        <p:cTn id="31" dur="500" fill="hold"/>
                                        <p:tgtEl>
                                          <p:spTgt spid="6666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666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66627">
                                            <p:txEl>
                                              <p:pRg st="5" end="5"/>
                                            </p:txEl>
                                          </p:spTgt>
                                        </p:tgtEl>
                                        <p:attrNameLst>
                                          <p:attrName>style.visibility</p:attrName>
                                        </p:attrNameLst>
                                      </p:cBhvr>
                                      <p:to>
                                        <p:strVal val="visible"/>
                                      </p:to>
                                    </p:set>
                                    <p:anim calcmode="lin" valueType="num">
                                      <p:cBhvr additive="base">
                                        <p:cTn id="37" dur="500" fill="hold"/>
                                        <p:tgtEl>
                                          <p:spTgt spid="66662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6662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66627">
                                            <p:txEl>
                                              <p:pRg st="6" end="6"/>
                                            </p:txEl>
                                          </p:spTgt>
                                        </p:tgtEl>
                                        <p:attrNameLst>
                                          <p:attrName>style.visibility</p:attrName>
                                        </p:attrNameLst>
                                      </p:cBhvr>
                                      <p:to>
                                        <p:strVal val="visible"/>
                                      </p:to>
                                    </p:set>
                                    <p:anim calcmode="lin" valueType="num">
                                      <p:cBhvr additive="base">
                                        <p:cTn id="43" dur="500" fill="hold"/>
                                        <p:tgtEl>
                                          <p:spTgt spid="66662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66627">
                                            <p:txEl>
                                              <p:pRg st="6" end="6"/>
                                            </p:txEl>
                                          </p:spTgt>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666627">
                                            <p:txEl>
                                              <p:pRg st="7" end="7"/>
                                            </p:txEl>
                                          </p:spTgt>
                                        </p:tgtEl>
                                        <p:attrNameLst>
                                          <p:attrName>style.visibility</p:attrName>
                                        </p:attrNameLst>
                                      </p:cBhvr>
                                      <p:to>
                                        <p:strVal val="visible"/>
                                      </p:to>
                                    </p:set>
                                    <p:anim calcmode="lin" valueType="num">
                                      <p:cBhvr additive="base">
                                        <p:cTn id="47" dur="500" fill="hold"/>
                                        <p:tgtEl>
                                          <p:spTgt spid="666627">
                                            <p:txEl>
                                              <p:pRg st="7" end="7"/>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666627">
                                            <p:txEl>
                                              <p:pRg st="7" end="7"/>
                                            </p:txEl>
                                          </p:spTgt>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666627">
                                            <p:txEl>
                                              <p:pRg st="8" end="8"/>
                                            </p:txEl>
                                          </p:spTgt>
                                        </p:tgtEl>
                                        <p:attrNameLst>
                                          <p:attrName>style.visibility</p:attrName>
                                        </p:attrNameLst>
                                      </p:cBhvr>
                                      <p:to>
                                        <p:strVal val="visible"/>
                                      </p:to>
                                    </p:set>
                                    <p:anim calcmode="lin" valueType="num">
                                      <p:cBhvr additive="base">
                                        <p:cTn id="51" dur="500" fill="hold"/>
                                        <p:tgtEl>
                                          <p:spTgt spid="666627">
                                            <p:txEl>
                                              <p:pRg st="8" end="8"/>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666627">
                                            <p:txEl>
                                              <p:pRg st="8" end="8"/>
                                            </p:txEl>
                                          </p:spTgt>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666627">
                                            <p:txEl>
                                              <p:pRg st="9" end="9"/>
                                            </p:txEl>
                                          </p:spTgt>
                                        </p:tgtEl>
                                        <p:attrNameLst>
                                          <p:attrName>style.visibility</p:attrName>
                                        </p:attrNameLst>
                                      </p:cBhvr>
                                      <p:to>
                                        <p:strVal val="visible"/>
                                      </p:to>
                                    </p:set>
                                    <p:anim calcmode="lin" valueType="num">
                                      <p:cBhvr additive="base">
                                        <p:cTn id="55" dur="500" fill="hold"/>
                                        <p:tgtEl>
                                          <p:spTgt spid="666627">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66627">
                                            <p:txEl>
                                              <p:pRg st="9" end="9"/>
                                            </p:txEl>
                                          </p:spTgt>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666627">
                                            <p:txEl>
                                              <p:pRg st="10" end="10"/>
                                            </p:txEl>
                                          </p:spTgt>
                                        </p:tgtEl>
                                        <p:attrNameLst>
                                          <p:attrName>style.visibility</p:attrName>
                                        </p:attrNameLst>
                                      </p:cBhvr>
                                      <p:to>
                                        <p:strVal val="visible"/>
                                      </p:to>
                                    </p:set>
                                    <p:anim calcmode="lin" valueType="num">
                                      <p:cBhvr additive="base">
                                        <p:cTn id="59" dur="500" fill="hold"/>
                                        <p:tgtEl>
                                          <p:spTgt spid="666627">
                                            <p:txEl>
                                              <p:pRg st="10" end="10"/>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666627">
                                            <p:txEl>
                                              <p:pRg st="10" end="10"/>
                                            </p:txEl>
                                          </p:spTgt>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666627">
                                            <p:txEl>
                                              <p:pRg st="11" end="11"/>
                                            </p:txEl>
                                          </p:spTgt>
                                        </p:tgtEl>
                                        <p:attrNameLst>
                                          <p:attrName>style.visibility</p:attrName>
                                        </p:attrNameLst>
                                      </p:cBhvr>
                                      <p:to>
                                        <p:strVal val="visible"/>
                                      </p:to>
                                    </p:set>
                                    <p:anim calcmode="lin" valueType="num">
                                      <p:cBhvr additive="base">
                                        <p:cTn id="63" dur="500" fill="hold"/>
                                        <p:tgtEl>
                                          <p:spTgt spid="666627">
                                            <p:txEl>
                                              <p:pRg st="11" end="11"/>
                                            </p:txEl>
                                          </p:spTgt>
                                        </p:tgtEl>
                                        <p:attrNameLst>
                                          <p:attrName>ppt_x</p:attrName>
                                        </p:attrNameLst>
                                      </p:cBhvr>
                                      <p:tavLst>
                                        <p:tav tm="0">
                                          <p:val>
                                            <p:strVal val="0-#ppt_w/2"/>
                                          </p:val>
                                        </p:tav>
                                        <p:tav tm="100000">
                                          <p:val>
                                            <p:strVal val="#ppt_x"/>
                                          </p:val>
                                        </p:tav>
                                      </p:tavLst>
                                    </p:anim>
                                    <p:anim calcmode="lin" valueType="num">
                                      <p:cBhvr additive="base">
                                        <p:cTn id="64" dur="500" fill="hold"/>
                                        <p:tgtEl>
                                          <p:spTgt spid="666627">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body" idx="1"/>
          </p:nvPr>
        </p:nvSpPr>
        <p:spPr>
          <a:xfrm>
            <a:off x="407368" y="1040837"/>
            <a:ext cx="11161240" cy="26860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a:t>Chinese Remainder Theorem</a:t>
            </a:r>
            <a:r>
              <a:rPr lang="en-US" altLang="zh-CN" sz="2000" dirty="0"/>
              <a:t>	</a:t>
            </a:r>
            <a:br>
              <a:rPr lang="en-US" altLang="zh-CN" sz="2000" dirty="0"/>
            </a:br>
            <a:r>
              <a:rPr lang="en-US" altLang="zh-CN" sz="2000" dirty="0"/>
              <a:t>As long as two sets of integers </a:t>
            </a:r>
            <a:r>
              <a:rPr lang="en-US" altLang="zh-CN" sz="2000" dirty="0" err="1"/>
              <a:t>ai</a:t>
            </a:r>
            <a:r>
              <a:rPr lang="en-US" altLang="zh-CN" sz="2000" dirty="0"/>
              <a:t> and bi follow these rules</a:t>
            </a:r>
          </a:p>
          <a:p>
            <a:pPr>
              <a:spcBef>
                <a:spcPct val="0"/>
              </a:spcBef>
              <a:buFont typeface="Wingdings" panose="05000000000000000000" pitchFamily="2" charset="2"/>
              <a:buNone/>
            </a:pPr>
            <a:r>
              <a:rPr lang="en-US" altLang="zh-CN" sz="2000" dirty="0"/>
              <a:t> 	</a:t>
            </a:r>
            <a:br>
              <a:rPr lang="en-US" altLang="zh-CN" sz="2000" dirty="0"/>
            </a:br>
            <a:r>
              <a:rPr lang="en-US" altLang="zh-CN" sz="2000" dirty="0"/>
              <a:t>and that </a:t>
            </a:r>
            <a:r>
              <a:rPr lang="en-US" altLang="zh-CN" sz="2000" dirty="0" err="1"/>
              <a:t>ai</a:t>
            </a:r>
            <a:r>
              <a:rPr lang="en-US" altLang="zh-CN" sz="2000" dirty="0"/>
              <a:t> and </a:t>
            </a:r>
            <a:r>
              <a:rPr lang="en-US" altLang="zh-CN" sz="2000" dirty="0" err="1"/>
              <a:t>aj</a:t>
            </a:r>
            <a:r>
              <a:rPr lang="en-US" altLang="zh-CN" sz="2000" dirty="0"/>
              <a:t> are co-prime if </a:t>
            </a:r>
            <a:r>
              <a:rPr lang="en-US" altLang="zh-CN" sz="2000" dirty="0" err="1"/>
              <a:t>i</a:t>
            </a:r>
            <a:r>
              <a:rPr lang="en-US" altLang="zh-CN" sz="2000" dirty="0"/>
              <a:t> </a:t>
            </a:r>
            <a:r>
              <a:rPr lang="en-US" altLang="zh-CN" sz="2000" dirty="0">
                <a:sym typeface="Symbol" panose="05050102010706020507" pitchFamily="18" charset="2"/>
              </a:rPr>
              <a:t></a:t>
            </a:r>
            <a:r>
              <a:rPr lang="en-US" altLang="zh-CN" sz="2000" dirty="0"/>
              <a:t> j, then the integer x has only one solution (unambiguous mapping):</a:t>
            </a:r>
          </a:p>
          <a:p>
            <a:pPr lvl="1">
              <a:spcBef>
                <a:spcPct val="0"/>
              </a:spcBef>
            </a:pPr>
            <a:r>
              <a:rPr lang="en-US" altLang="zh-CN" dirty="0"/>
              <a:t>bank number = b</a:t>
            </a:r>
            <a:r>
              <a:rPr lang="en-US" altLang="zh-CN" baseline="-25000" dirty="0"/>
              <a:t>0</a:t>
            </a:r>
            <a:r>
              <a:rPr lang="en-US" altLang="zh-CN" dirty="0"/>
              <a:t>, number of banks = a</a:t>
            </a:r>
            <a:r>
              <a:rPr lang="en-US" altLang="zh-CN" baseline="-25000" dirty="0"/>
              <a:t>0</a:t>
            </a:r>
            <a:r>
              <a:rPr lang="en-US" altLang="zh-CN" dirty="0"/>
              <a:t> (= 3 in example)</a:t>
            </a:r>
          </a:p>
          <a:p>
            <a:pPr lvl="1">
              <a:spcBef>
                <a:spcPct val="0"/>
              </a:spcBef>
            </a:pPr>
            <a:r>
              <a:rPr lang="en-US" altLang="zh-CN" dirty="0"/>
              <a:t>address within bank = b</a:t>
            </a:r>
            <a:r>
              <a:rPr lang="en-US" altLang="zh-CN" baseline="-25000" dirty="0"/>
              <a:t>1</a:t>
            </a:r>
            <a:r>
              <a:rPr lang="en-US" altLang="zh-CN" dirty="0"/>
              <a:t>, number of words in bank = a</a:t>
            </a:r>
            <a:r>
              <a:rPr lang="en-US" altLang="zh-CN" baseline="-25000" dirty="0"/>
              <a:t>1</a:t>
            </a:r>
            <a:br>
              <a:rPr lang="en-US" altLang="zh-CN" baseline="-25000" dirty="0"/>
            </a:br>
            <a:r>
              <a:rPr lang="en-US" altLang="zh-CN" dirty="0"/>
              <a:t> (= 8 in example)</a:t>
            </a:r>
          </a:p>
          <a:p>
            <a:pPr lvl="1">
              <a:spcBef>
                <a:spcPct val="0"/>
              </a:spcBef>
            </a:pPr>
            <a:r>
              <a:rPr lang="en-US" altLang="zh-CN" dirty="0"/>
              <a:t>N word address 0 to N-1, prime no. banks, words power of 2</a:t>
            </a:r>
          </a:p>
        </p:txBody>
      </p:sp>
      <p:graphicFrame>
        <p:nvGraphicFramePr>
          <p:cNvPr id="667651" name="Object 3">
            <a:hlinkClick r:id="" action="ppaction://ole?verb=0"/>
          </p:cNvPr>
          <p:cNvGraphicFramePr>
            <a:graphicFrameLocks/>
          </p:cNvGraphicFramePr>
          <p:nvPr/>
        </p:nvGraphicFramePr>
        <p:xfrm>
          <a:off x="2679700" y="1676400"/>
          <a:ext cx="6540500" cy="279400"/>
        </p:xfrm>
        <a:graphic>
          <a:graphicData uri="http://schemas.openxmlformats.org/presentationml/2006/ole">
            <mc:AlternateContent xmlns:mc="http://schemas.openxmlformats.org/markup-compatibility/2006">
              <mc:Choice xmlns:v="urn:schemas-microsoft-com:vml" Requires="v">
                <p:oleObj spid="_x0000_s14395" name="公式" r:id="rId3" imgW="4286160" imgH="218880" progId="Equation.3">
                  <p:embed/>
                </p:oleObj>
              </mc:Choice>
              <mc:Fallback>
                <p:oleObj name="公式" r:id="rId3" imgW="4286160" imgH="218880" progId="Equation.3">
                  <p:embed/>
                  <p:pic>
                    <p:nvPicPr>
                      <p:cNvPr id="667651"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700" y="1676400"/>
                        <a:ext cx="6540500" cy="27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7652" name="Rectangle 4"/>
          <p:cNvSpPr>
            <a:spLocks noGrp="1" noChangeArrowheads="1"/>
          </p:cNvSpPr>
          <p:nvPr>
            <p:ph type="title"/>
          </p:nvPr>
        </p:nvSpPr>
        <p:spPr>
          <a:xfrm>
            <a:off x="2495550" y="95250"/>
            <a:ext cx="7162800" cy="8953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Fast Bank Number</a:t>
            </a:r>
          </a:p>
        </p:txBody>
      </p:sp>
      <p:sp>
        <p:nvSpPr>
          <p:cNvPr id="667653" name="Rectangle 5"/>
          <p:cNvSpPr>
            <a:spLocks noChangeArrowheads="1"/>
          </p:cNvSpPr>
          <p:nvPr/>
        </p:nvSpPr>
        <p:spPr bwMode="auto">
          <a:xfrm>
            <a:off x="1885950" y="3962400"/>
            <a:ext cx="7639050" cy="26860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lgn="l">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1pPr>
            <a:lvl2pPr marL="685800" indent="-228600" algn="l">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2pPr>
            <a:lvl3pPr marL="1143000" indent="-228600" algn="l">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3pPr>
            <a:lvl4pPr marL="1543050" indent="-171450" algn="l">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4pPr>
            <a:lvl5pPr marL="2000250" indent="-171450" algn="l">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5pPr>
            <a:lvl6pPr marL="2457450" indent="-171450" eaLnBrk="0" fontAlgn="base" hangingPunct="0">
              <a:spcBef>
                <a:spcPct val="0"/>
              </a:spcBef>
              <a:spcAft>
                <a:spcPct val="0"/>
              </a:spcAft>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6pPr>
            <a:lvl7pPr marL="2914650" indent="-171450" eaLnBrk="0" fontAlgn="base" hangingPunct="0">
              <a:spcBef>
                <a:spcPct val="0"/>
              </a:spcBef>
              <a:spcAft>
                <a:spcPct val="0"/>
              </a:spcAft>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7pPr>
            <a:lvl8pPr marL="3371850" indent="-171450" eaLnBrk="0" fontAlgn="base" hangingPunct="0">
              <a:spcBef>
                <a:spcPct val="0"/>
              </a:spcBef>
              <a:spcAft>
                <a:spcPct val="0"/>
              </a:spcAft>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8pPr>
            <a:lvl9pPr marL="3829050" indent="-171450" eaLnBrk="0" fontAlgn="base" hangingPunct="0">
              <a:spcBef>
                <a:spcPct val="0"/>
              </a:spcBef>
              <a:spcAft>
                <a:spcPct val="0"/>
              </a:spcAft>
              <a:tabLst>
                <a:tab pos="1828800" algn="r"/>
                <a:tab pos="2743200" algn="r"/>
                <a:tab pos="3657600" algn="r"/>
                <a:tab pos="4572000" algn="r"/>
                <a:tab pos="5543550" algn="r"/>
                <a:tab pos="6400800" algn="r"/>
                <a:tab pos="7315200" algn="r"/>
              </a:tabLst>
              <a:defRPr sz="2400">
                <a:solidFill>
                  <a:schemeClr val="tx1"/>
                </a:solidFill>
                <a:latin typeface="Times" panose="02020603050405020304" pitchFamily="18" charset="0"/>
                <a:ea typeface="宋体" panose="02010600030101010101" pitchFamily="2" charset="-122"/>
              </a:defRPr>
            </a:lvl9pPr>
          </a:lstStyle>
          <a:p>
            <a:pPr>
              <a:lnSpc>
                <a:spcPct val="90000"/>
              </a:lnSpc>
              <a:spcBef>
                <a:spcPct val="30000"/>
              </a:spcBef>
            </a:pPr>
            <a:r>
              <a:rPr lang="zh-CN" altLang="zh-CN" sz="1800">
                <a:latin typeface="Arial" panose="020B0604020202020204" pitchFamily="34" charset="0"/>
              </a:rPr>
              <a:t> 			</a:t>
            </a:r>
            <a:r>
              <a:rPr lang="en-US" altLang="zh-CN" sz="1800">
                <a:solidFill>
                  <a:schemeClr val="accent1"/>
                </a:solidFill>
                <a:latin typeface="Arial" panose="020B0604020202020204" pitchFamily="34" charset="0"/>
              </a:rPr>
              <a:t>Seq. Interleaved	</a:t>
            </a:r>
            <a:r>
              <a:rPr lang="en-US" altLang="zh-CN" sz="1800">
                <a:latin typeface="Arial" panose="020B0604020202020204" pitchFamily="34" charset="0"/>
              </a:rPr>
              <a:t>	          </a:t>
            </a:r>
            <a:r>
              <a:rPr lang="en-US" altLang="zh-CN" sz="1800">
                <a:solidFill>
                  <a:schemeClr val="accent1"/>
                </a:solidFill>
                <a:latin typeface="Arial" panose="020B0604020202020204" pitchFamily="34" charset="0"/>
              </a:rPr>
              <a:t>Modulo Interleaved</a:t>
            </a:r>
            <a:r>
              <a:rPr lang="en-US" altLang="zh-CN" sz="1800">
                <a:latin typeface="Arial" panose="020B0604020202020204" pitchFamily="34" charset="0"/>
              </a:rPr>
              <a:t>	</a:t>
            </a:r>
          </a:p>
          <a:p>
            <a:pPr>
              <a:lnSpc>
                <a:spcPct val="90000"/>
              </a:lnSpc>
              <a:spcBef>
                <a:spcPct val="30000"/>
              </a:spcBef>
            </a:pPr>
            <a:r>
              <a:rPr lang="en-US" altLang="zh-CN" sz="1800">
                <a:solidFill>
                  <a:schemeClr val="accent2"/>
                </a:solidFill>
                <a:latin typeface="Arial" panose="020B0604020202020204" pitchFamily="34" charset="0"/>
              </a:rPr>
              <a:t>Bank Number:		0	1	2	0	1	2</a:t>
            </a:r>
            <a:r>
              <a:rPr lang="en-US" altLang="zh-CN" sz="1800">
                <a:latin typeface="Arial" panose="020B0604020202020204" pitchFamily="34" charset="0"/>
              </a:rPr>
              <a:t>	</a:t>
            </a:r>
            <a:r>
              <a:rPr lang="en-US" altLang="zh-CN" sz="1800">
                <a:solidFill>
                  <a:srgbClr val="FE9B03"/>
                </a:solidFill>
                <a:latin typeface="Arial" panose="020B0604020202020204" pitchFamily="34" charset="0"/>
              </a:rPr>
              <a:t>Address 						       within Bank: 	</a:t>
            </a:r>
            <a:r>
              <a:rPr lang="en-US" altLang="zh-CN" sz="1800" i="1">
                <a:solidFill>
                  <a:srgbClr val="FE9B03"/>
                </a:solidFill>
                <a:latin typeface="Arial" panose="020B0604020202020204" pitchFamily="34" charset="0"/>
              </a:rPr>
              <a:t>0</a:t>
            </a:r>
            <a:r>
              <a:rPr lang="en-US" altLang="zh-CN" sz="1800">
                <a:latin typeface="Arial" panose="020B0604020202020204" pitchFamily="34" charset="0"/>
              </a:rPr>
              <a:t>	0	1	2	0	16	8	</a:t>
            </a:r>
            <a:r>
              <a:rPr lang="en-US" altLang="zh-CN" sz="1800" i="1">
                <a:solidFill>
                  <a:srgbClr val="FE9B03"/>
                </a:solidFill>
                <a:latin typeface="Arial" panose="020B0604020202020204" pitchFamily="34" charset="0"/>
              </a:rPr>
              <a:t>1	</a:t>
            </a:r>
            <a:r>
              <a:rPr lang="en-US" altLang="zh-CN" sz="1800">
                <a:latin typeface="Arial" panose="020B0604020202020204" pitchFamily="34" charset="0"/>
              </a:rPr>
              <a:t>3	4	5	9	1	17</a:t>
            </a:r>
            <a:br>
              <a:rPr lang="en-US" altLang="zh-CN" sz="1800">
                <a:latin typeface="Arial" panose="020B0604020202020204" pitchFamily="34" charset="0"/>
              </a:rPr>
            </a:br>
            <a:r>
              <a:rPr lang="en-US" altLang="zh-CN" sz="1800">
                <a:latin typeface="Arial" panose="020B0604020202020204" pitchFamily="34" charset="0"/>
              </a:rPr>
              <a:t>	</a:t>
            </a:r>
            <a:r>
              <a:rPr lang="en-US" altLang="zh-CN" sz="1800" i="1">
                <a:solidFill>
                  <a:srgbClr val="FE9B03"/>
                </a:solidFill>
                <a:latin typeface="Arial" panose="020B0604020202020204" pitchFamily="34" charset="0"/>
              </a:rPr>
              <a:t>2</a:t>
            </a:r>
            <a:r>
              <a:rPr lang="en-US" altLang="zh-CN" sz="1800">
                <a:latin typeface="Arial" panose="020B0604020202020204" pitchFamily="34" charset="0"/>
              </a:rPr>
              <a:t>	6	7	8	18	10	2	</a:t>
            </a:r>
            <a:r>
              <a:rPr lang="en-US" altLang="zh-CN" sz="1800" i="1">
                <a:solidFill>
                  <a:srgbClr val="FE9B03"/>
                </a:solidFill>
                <a:latin typeface="Arial" panose="020B0604020202020204" pitchFamily="34" charset="0"/>
              </a:rPr>
              <a:t>3	</a:t>
            </a:r>
            <a:r>
              <a:rPr lang="en-US" altLang="zh-CN" sz="1800">
                <a:latin typeface="Arial" panose="020B0604020202020204" pitchFamily="34" charset="0"/>
              </a:rPr>
              <a:t>9	10	11	3	19	11	</a:t>
            </a:r>
            <a:r>
              <a:rPr lang="en-US" altLang="zh-CN" sz="1800" i="1">
                <a:solidFill>
                  <a:srgbClr val="FE9B03"/>
                </a:solidFill>
                <a:latin typeface="Arial" panose="020B0604020202020204" pitchFamily="34" charset="0"/>
              </a:rPr>
              <a:t>4</a:t>
            </a:r>
            <a:r>
              <a:rPr lang="en-US" altLang="zh-CN" sz="1800">
                <a:latin typeface="Arial" panose="020B0604020202020204" pitchFamily="34" charset="0"/>
              </a:rPr>
              <a:t>	12	13	14	12	4	20	</a:t>
            </a:r>
            <a:r>
              <a:rPr lang="en-US" altLang="zh-CN" sz="1800" i="1">
                <a:solidFill>
                  <a:srgbClr val="FE9B03"/>
                </a:solidFill>
                <a:latin typeface="Arial" panose="020B0604020202020204" pitchFamily="34" charset="0"/>
              </a:rPr>
              <a:t>5</a:t>
            </a:r>
            <a:r>
              <a:rPr lang="en-US" altLang="zh-CN" sz="1800">
                <a:latin typeface="Arial" panose="020B0604020202020204" pitchFamily="34" charset="0"/>
              </a:rPr>
              <a:t>	15	16	17	21	13	5	</a:t>
            </a:r>
            <a:r>
              <a:rPr lang="en-US" altLang="zh-CN" sz="1800" i="1">
                <a:solidFill>
                  <a:srgbClr val="FE9B03"/>
                </a:solidFill>
                <a:latin typeface="Arial" panose="020B0604020202020204" pitchFamily="34" charset="0"/>
              </a:rPr>
              <a:t>6</a:t>
            </a:r>
            <a:r>
              <a:rPr lang="en-US" altLang="zh-CN" sz="1800">
                <a:latin typeface="Arial" panose="020B0604020202020204" pitchFamily="34" charset="0"/>
              </a:rPr>
              <a:t>	18	19	20	6	22	14	</a:t>
            </a:r>
            <a:r>
              <a:rPr lang="en-US" altLang="zh-CN" sz="1800" i="1">
                <a:solidFill>
                  <a:srgbClr val="FE9B03"/>
                </a:solidFill>
                <a:latin typeface="Arial" panose="020B0604020202020204" pitchFamily="34" charset="0"/>
              </a:rPr>
              <a:t>7</a:t>
            </a:r>
            <a:r>
              <a:rPr lang="en-US" altLang="zh-CN" sz="1800">
                <a:latin typeface="Arial" panose="020B0604020202020204" pitchFamily="34" charset="0"/>
              </a:rPr>
              <a:t>	21	22	23	15	7	23</a:t>
            </a:r>
          </a:p>
          <a:p>
            <a:pPr latinLnBrk="1">
              <a:lnSpc>
                <a:spcPct val="90000"/>
              </a:lnSpc>
              <a:spcBef>
                <a:spcPct val="30000"/>
              </a:spcBef>
            </a:pPr>
            <a:endParaRPr lang="zh-CN" altLang="zh-CN" sz="1800">
              <a:latin typeface="Arial" panose="020B0604020202020204" pitchFamily="34" charset="0"/>
            </a:endParaRPr>
          </a:p>
        </p:txBody>
      </p:sp>
      <p:sp>
        <p:nvSpPr>
          <p:cNvPr id="667656" name="Oval 8"/>
          <p:cNvSpPr>
            <a:spLocks noChangeArrowheads="1"/>
          </p:cNvSpPr>
          <p:nvPr/>
        </p:nvSpPr>
        <p:spPr bwMode="auto">
          <a:xfrm>
            <a:off x="9080500" y="6070600"/>
            <a:ext cx="279400" cy="27940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657" name="Oval 9"/>
          <p:cNvSpPr>
            <a:spLocks noChangeArrowheads="1"/>
          </p:cNvSpPr>
          <p:nvPr/>
        </p:nvSpPr>
        <p:spPr bwMode="auto">
          <a:xfrm>
            <a:off x="6318250" y="5060950"/>
            <a:ext cx="279400" cy="27940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28371391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Memory Dependability</a:t>
            </a:r>
            <a:endParaRPr lang="en-AU" dirty="0"/>
          </a:p>
        </p:txBody>
      </p:sp>
      <p:sp>
        <p:nvSpPr>
          <p:cNvPr id="242691" name="Rectangle 3"/>
          <p:cNvSpPr>
            <a:spLocks noGrp="1" noChangeArrowheads="1"/>
          </p:cNvSpPr>
          <p:nvPr>
            <p:ph type="body" idx="1"/>
          </p:nvPr>
        </p:nvSpPr>
        <p:spPr/>
        <p:txBody>
          <a:bodyPr/>
          <a:lstStyle/>
          <a:p>
            <a:pPr>
              <a:lnSpc>
                <a:spcPct val="80000"/>
              </a:lnSpc>
            </a:pPr>
            <a:r>
              <a:rPr lang="en-US" altLang="zh-CN" dirty="0"/>
              <a:t>Motivation:</a:t>
            </a:r>
          </a:p>
          <a:p>
            <a:pPr lvl="1">
              <a:lnSpc>
                <a:spcPct val="80000"/>
              </a:lnSpc>
            </a:pPr>
            <a:r>
              <a:rPr lang="en-US" altLang="zh-CN" dirty="0"/>
              <a:t>Failures/time </a:t>
            </a:r>
            <a:r>
              <a:rPr lang="en-US" altLang="zh-CN" i="1" dirty="0"/>
              <a:t>proportional </a:t>
            </a:r>
            <a:r>
              <a:rPr lang="en-US" altLang="zh-CN" dirty="0"/>
              <a:t>to number of bits!</a:t>
            </a:r>
          </a:p>
          <a:p>
            <a:pPr lvl="1">
              <a:lnSpc>
                <a:spcPct val="80000"/>
              </a:lnSpc>
            </a:pPr>
            <a:r>
              <a:rPr lang="en-US" altLang="zh-CN" dirty="0"/>
              <a:t>As DRAM cells shrink, more </a:t>
            </a:r>
            <a:r>
              <a:rPr lang="en-US" altLang="zh-CN" dirty="0" smtClean="0"/>
              <a:t>vulnerable to </a:t>
            </a:r>
            <a:r>
              <a:rPr lang="en-US" altLang="zh-CN" dirty="0"/>
              <a:t>cosmic rays</a:t>
            </a:r>
          </a:p>
          <a:p>
            <a:r>
              <a:rPr lang="en-US" altLang="zh-CN" dirty="0" smtClean="0"/>
              <a:t>Hard errors (permanent faults)</a:t>
            </a:r>
            <a:endParaRPr lang="en-US" altLang="zh-CN" dirty="0"/>
          </a:p>
          <a:p>
            <a:pPr lvl="1"/>
            <a:r>
              <a:rPr lang="en-US" altLang="zh-CN" dirty="0"/>
              <a:t>Use spare </a:t>
            </a:r>
            <a:r>
              <a:rPr lang="en-US" altLang="zh-CN" dirty="0" smtClean="0"/>
              <a:t>rows inside the chip </a:t>
            </a:r>
            <a:r>
              <a:rPr lang="en-US" altLang="zh-CN" dirty="0"/>
              <a:t>to replace defective </a:t>
            </a:r>
            <a:r>
              <a:rPr lang="en-US" altLang="zh-CN" dirty="0" smtClean="0"/>
              <a:t>rows</a:t>
            </a:r>
          </a:p>
          <a:p>
            <a:pPr lvl="1"/>
            <a:r>
              <a:rPr lang="en-US" altLang="zh-CN" dirty="0" smtClean="0"/>
              <a:t>Caused due to manufacturing, repaired during testing phase</a:t>
            </a:r>
            <a:endParaRPr lang="en-US" altLang="zh-CN" dirty="0"/>
          </a:p>
          <a:p>
            <a:r>
              <a:rPr lang="en-US" dirty="0" smtClean="0"/>
              <a:t>Soft or dynamic errors (</a:t>
            </a:r>
            <a:r>
              <a:rPr lang="en-US" altLang="zh-CN" dirty="0"/>
              <a:t>transient </a:t>
            </a:r>
            <a:r>
              <a:rPr lang="en-US" altLang="zh-CN" dirty="0" smtClean="0"/>
              <a:t>faults</a:t>
            </a:r>
            <a:r>
              <a:rPr lang="en-US" dirty="0" smtClean="0"/>
              <a:t>)</a:t>
            </a:r>
          </a:p>
          <a:p>
            <a:pPr lvl="1"/>
            <a:r>
              <a:rPr lang="en-US" dirty="0" smtClean="0"/>
              <a:t>Detected and fixed by error correcting codes (ECC) in runtime</a:t>
            </a:r>
          </a:p>
          <a:p>
            <a:r>
              <a:rPr lang="en-US" dirty="0" smtClean="0"/>
              <a:t>Parity check works for instruction cache since read-only</a:t>
            </a:r>
          </a:p>
          <a:p>
            <a:pPr lvl="1"/>
            <a:r>
              <a:rPr lang="en-US" altLang="zh-CN" dirty="0"/>
              <a:t>One </a:t>
            </a:r>
            <a:r>
              <a:rPr lang="en-US" altLang="zh-CN" dirty="0" smtClean="0"/>
              <a:t>parity bit </a:t>
            </a:r>
            <a:r>
              <a:rPr lang="en-US" altLang="zh-CN" dirty="0"/>
              <a:t>per 8 data bits is a typical </a:t>
            </a:r>
            <a:r>
              <a:rPr lang="en-US" altLang="zh-CN" dirty="0" smtClean="0"/>
              <a:t>ratio</a:t>
            </a:r>
          </a:p>
          <a:p>
            <a:pPr lvl="1"/>
            <a:r>
              <a:rPr lang="en-US" dirty="0"/>
              <a:t>In case multi-bit </a:t>
            </a:r>
            <a:r>
              <a:rPr lang="en-US" dirty="0" smtClean="0"/>
              <a:t>errors in longer bit strings</a:t>
            </a:r>
            <a:endParaRPr lang="en-US" dirty="0"/>
          </a:p>
        </p:txBody>
      </p:sp>
    </p:spTree>
    <p:extLst>
      <p:ext uri="{BB962C8B-B14F-4D97-AF65-F5344CB8AC3E}">
        <p14:creationId xmlns:p14="http://schemas.microsoft.com/office/powerpoint/2010/main" val="80819578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1026"/>
          <p:cNvSpPr>
            <a:spLocks noGrp="1" noChangeArrowheads="1"/>
          </p:cNvSpPr>
          <p:nvPr>
            <p:ph type="title"/>
          </p:nvPr>
        </p:nvSpPr>
        <p:spPr/>
        <p:txBody>
          <a:bodyPr/>
          <a:lstStyle/>
          <a:p>
            <a:r>
              <a:rPr lang="en-US" altLang="zh-CN" smtClean="0"/>
              <a:t>Need for Error Correction!</a:t>
            </a:r>
            <a:endParaRPr lang="en-US" altLang="zh-CN"/>
          </a:p>
        </p:txBody>
      </p:sp>
      <p:sp>
        <p:nvSpPr>
          <p:cNvPr id="731139" name="Rectangle 1027"/>
          <p:cNvSpPr>
            <a:spLocks noGrp="1" noChangeArrowheads="1"/>
          </p:cNvSpPr>
          <p:nvPr>
            <p:ph type="body" idx="1"/>
          </p:nvPr>
        </p:nvSpPr>
        <p:spPr/>
        <p:txBody>
          <a:bodyPr/>
          <a:lstStyle/>
          <a:p>
            <a:r>
              <a:rPr lang="en-US" altLang="zh-CN" dirty="0" smtClean="0"/>
              <a:t>Basic idea: add redundancy through more parity bits</a:t>
            </a:r>
          </a:p>
          <a:p>
            <a:pPr lvl="1"/>
            <a:r>
              <a:rPr lang="en-US" altLang="zh-CN" dirty="0" smtClean="0"/>
              <a:t>Simple but wasteful version:</a:t>
            </a:r>
          </a:p>
          <a:p>
            <a:pPr lvl="2"/>
            <a:r>
              <a:rPr lang="en-US" altLang="zh-CN" dirty="0" smtClean="0"/>
              <a:t>Keep three copies of everything, vote to find right value</a:t>
            </a:r>
          </a:p>
          <a:p>
            <a:pPr lvl="2"/>
            <a:r>
              <a:rPr lang="en-US" altLang="zh-CN" dirty="0" smtClean="0"/>
              <a:t>200% overhead, so not good! </a:t>
            </a:r>
          </a:p>
          <a:p>
            <a:pPr lvl="1"/>
            <a:r>
              <a:rPr lang="en-US" altLang="zh-CN" dirty="0" smtClean="0"/>
              <a:t>Common configuration: Random error correction</a:t>
            </a:r>
          </a:p>
          <a:p>
            <a:pPr lvl="2"/>
            <a:r>
              <a:rPr lang="en-US" altLang="zh-CN" dirty="0" smtClean="0"/>
              <a:t>SEC-DED (single error correct, double error detect)</a:t>
            </a:r>
          </a:p>
          <a:p>
            <a:pPr lvl="2"/>
            <a:r>
              <a:rPr lang="en-US" altLang="zh-CN" dirty="0" smtClean="0"/>
              <a:t>One example: 64 data bits + 8 parity bits (11% overhead)</a:t>
            </a:r>
          </a:p>
          <a:p>
            <a:pPr lvl="2"/>
            <a:r>
              <a:rPr lang="en-US" altLang="zh-CN" dirty="0" smtClean="0"/>
              <a:t>Papers up on reading list from last term tell you how to do these types of codes</a:t>
            </a:r>
          </a:p>
          <a:p>
            <a:pPr lvl="1"/>
            <a:r>
              <a:rPr lang="en-US" altLang="zh-CN" dirty="0" smtClean="0"/>
              <a:t>Really want to handle failures of physical components as well</a:t>
            </a:r>
          </a:p>
          <a:p>
            <a:pPr lvl="2"/>
            <a:r>
              <a:rPr lang="en-US" altLang="zh-CN" dirty="0" smtClean="0"/>
              <a:t>Organization is multiple DRAMs/DIMM, multiple DIMMs</a:t>
            </a:r>
          </a:p>
          <a:p>
            <a:pPr lvl="2"/>
            <a:r>
              <a:rPr lang="en-US" altLang="zh-CN" dirty="0" smtClean="0"/>
              <a:t>Want to recover from failed DRAM and failed SIMM!</a:t>
            </a:r>
          </a:p>
          <a:p>
            <a:pPr lvl="2"/>
            <a:r>
              <a:rPr lang="en-US" altLang="zh-CN" dirty="0" smtClean="0"/>
              <a:t>Requires more redundancy to do this</a:t>
            </a:r>
          </a:p>
          <a:p>
            <a:pPr lvl="2"/>
            <a:r>
              <a:rPr lang="en-US" altLang="zh-CN" dirty="0" smtClean="0"/>
              <a:t>All major vendors thinking about this in high-end machines</a:t>
            </a:r>
          </a:p>
          <a:p>
            <a:r>
              <a:rPr lang="en-US" altLang="zh-CN" dirty="0" err="1"/>
              <a:t>Chipkill</a:t>
            </a:r>
            <a:r>
              <a:rPr lang="en-US" altLang="zh-CN" dirty="0"/>
              <a:t>:  a RAID-like error recovery technique</a:t>
            </a:r>
          </a:p>
          <a:p>
            <a:pPr marL="0" indent="0">
              <a:buNone/>
            </a:pPr>
            <a:endParaRPr lang="en-US" altLang="zh-CN" dirty="0"/>
          </a:p>
        </p:txBody>
      </p:sp>
    </p:spTree>
    <p:extLst>
      <p:ext uri="{BB962C8B-B14F-4D97-AF65-F5344CB8AC3E}">
        <p14:creationId xmlns:p14="http://schemas.microsoft.com/office/powerpoint/2010/main" val="430057693"/>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Main Memory Summary</a:t>
            </a:r>
          </a:p>
        </p:txBody>
      </p:sp>
      <p:sp>
        <p:nvSpPr>
          <p:cNvPr id="672771" name="Rectangle 3"/>
          <p:cNvSpPr>
            <a:spLocks noGrp="1" noChangeArrowheads="1"/>
          </p:cNvSpPr>
          <p:nvPr>
            <p:ph type="body" idx="1"/>
          </p:nvPr>
        </p:nvSpPr>
        <p:spPr>
          <a:xfrm>
            <a:off x="2305050" y="1885950"/>
            <a:ext cx="805815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Wider Memory</a:t>
            </a:r>
          </a:p>
          <a:p>
            <a:r>
              <a:rPr lang="en-US" altLang="zh-CN" dirty="0"/>
              <a:t>Interleaved Memory: for sequential or independent accesses</a:t>
            </a:r>
          </a:p>
          <a:p>
            <a:r>
              <a:rPr lang="en-US" altLang="zh-CN" dirty="0"/>
              <a:t>Avoiding bank conflicts: SW &amp; HW</a:t>
            </a:r>
          </a:p>
          <a:p>
            <a:r>
              <a:rPr lang="en-US" altLang="zh-CN" dirty="0"/>
              <a:t>DRAM specific optimizations: page mode &amp; Specialty DRAM</a:t>
            </a:r>
          </a:p>
          <a:p>
            <a:r>
              <a:rPr lang="en-US" altLang="zh-CN" dirty="0"/>
              <a:t>Need Error correction</a:t>
            </a:r>
          </a:p>
          <a:p>
            <a:endParaRPr lang="zh-CN" altLang="zh-CN" dirty="0"/>
          </a:p>
        </p:txBody>
      </p:sp>
    </p:spTree>
    <p:extLst>
      <p:ext uri="{BB962C8B-B14F-4D97-AF65-F5344CB8AC3E}">
        <p14:creationId xmlns:p14="http://schemas.microsoft.com/office/powerpoint/2010/main" val="28646167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2771">
                                            <p:txEl>
                                              <p:pRg st="0" end="0"/>
                                            </p:txEl>
                                          </p:spTgt>
                                        </p:tgtEl>
                                        <p:attrNameLst>
                                          <p:attrName>style.visibility</p:attrName>
                                        </p:attrNameLst>
                                      </p:cBhvr>
                                      <p:to>
                                        <p:strVal val="visible"/>
                                      </p:to>
                                    </p:set>
                                    <p:anim calcmode="lin" valueType="num">
                                      <p:cBhvr additive="base">
                                        <p:cTn id="7" dur="500" fill="hold"/>
                                        <p:tgtEl>
                                          <p:spTgt spid="6727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72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72771">
                                            <p:txEl>
                                              <p:pRg st="1" end="1"/>
                                            </p:txEl>
                                          </p:spTgt>
                                        </p:tgtEl>
                                        <p:attrNameLst>
                                          <p:attrName>style.visibility</p:attrName>
                                        </p:attrNameLst>
                                      </p:cBhvr>
                                      <p:to>
                                        <p:strVal val="visible"/>
                                      </p:to>
                                    </p:set>
                                    <p:anim calcmode="lin" valueType="num">
                                      <p:cBhvr additive="base">
                                        <p:cTn id="13" dur="500" fill="hold"/>
                                        <p:tgtEl>
                                          <p:spTgt spid="6727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72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72771">
                                            <p:txEl>
                                              <p:pRg st="2" end="2"/>
                                            </p:txEl>
                                          </p:spTgt>
                                        </p:tgtEl>
                                        <p:attrNameLst>
                                          <p:attrName>style.visibility</p:attrName>
                                        </p:attrNameLst>
                                      </p:cBhvr>
                                      <p:to>
                                        <p:strVal val="visible"/>
                                      </p:to>
                                    </p:set>
                                    <p:anim calcmode="lin" valueType="num">
                                      <p:cBhvr additive="base">
                                        <p:cTn id="19" dur="500" fill="hold"/>
                                        <p:tgtEl>
                                          <p:spTgt spid="67277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7277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72771">
                                            <p:txEl>
                                              <p:pRg st="3" end="3"/>
                                            </p:txEl>
                                          </p:spTgt>
                                        </p:tgtEl>
                                        <p:attrNameLst>
                                          <p:attrName>style.visibility</p:attrName>
                                        </p:attrNameLst>
                                      </p:cBhvr>
                                      <p:to>
                                        <p:strVal val="visible"/>
                                      </p:to>
                                    </p:set>
                                    <p:anim calcmode="lin" valueType="num">
                                      <p:cBhvr additive="base">
                                        <p:cTn id="25" dur="500" fill="hold"/>
                                        <p:tgtEl>
                                          <p:spTgt spid="67277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727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72771">
                                            <p:txEl>
                                              <p:pRg st="4" end="4"/>
                                            </p:txEl>
                                          </p:spTgt>
                                        </p:tgtEl>
                                        <p:attrNameLst>
                                          <p:attrName>style.visibility</p:attrName>
                                        </p:attrNameLst>
                                      </p:cBhvr>
                                      <p:to>
                                        <p:strVal val="visible"/>
                                      </p:to>
                                    </p:set>
                                    <p:anim calcmode="lin" valueType="num">
                                      <p:cBhvr additive="base">
                                        <p:cTn id="31" dur="500" fill="hold"/>
                                        <p:tgtEl>
                                          <p:spTgt spid="67277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7277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1"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zh-CN" smtClean="0"/>
              <a:t>What is a cache?</a:t>
            </a:r>
            <a:endParaRPr lang="en-US" altLang="zh-CN"/>
          </a:p>
        </p:txBody>
      </p:sp>
      <p:sp>
        <p:nvSpPr>
          <p:cNvPr id="62467" name="Rectangle 3"/>
          <p:cNvSpPr>
            <a:spLocks noGrp="1" noChangeArrowheads="1"/>
          </p:cNvSpPr>
          <p:nvPr>
            <p:ph type="body" idx="1"/>
          </p:nvPr>
        </p:nvSpPr>
        <p:spPr/>
        <p:txBody>
          <a:bodyPr/>
          <a:lstStyle/>
          <a:p>
            <a:r>
              <a:rPr lang="en-US" altLang="zh-CN" dirty="0" smtClean="0"/>
              <a:t>Small, fast storage used to improve average access time to slow memory</a:t>
            </a:r>
          </a:p>
          <a:p>
            <a:r>
              <a:rPr lang="en-US" altLang="zh-CN" dirty="0" smtClean="0"/>
              <a:t>Exploits </a:t>
            </a:r>
            <a:r>
              <a:rPr lang="en-US" altLang="zh-CN" dirty="0" err="1" smtClean="0"/>
              <a:t>spacial</a:t>
            </a:r>
            <a:r>
              <a:rPr lang="en-US" altLang="zh-CN" dirty="0" smtClean="0"/>
              <a:t> and temporal locality</a:t>
            </a:r>
          </a:p>
          <a:p>
            <a:r>
              <a:rPr lang="en-US" altLang="zh-CN" dirty="0" smtClean="0"/>
              <a:t>In computer architecture, almost everything is a cache!</a:t>
            </a:r>
          </a:p>
          <a:p>
            <a:pPr lvl="1"/>
            <a:r>
              <a:rPr lang="en-US" altLang="zh-CN" dirty="0" smtClean="0"/>
              <a:t>Registers a cache on variables</a:t>
            </a:r>
          </a:p>
          <a:p>
            <a:pPr lvl="1"/>
            <a:r>
              <a:rPr lang="en-US" altLang="zh-CN" dirty="0" smtClean="0"/>
              <a:t>First-level cache a cache on second-level cache</a:t>
            </a:r>
          </a:p>
          <a:p>
            <a:pPr lvl="1"/>
            <a:r>
              <a:rPr lang="en-US" altLang="zh-CN" dirty="0" smtClean="0"/>
              <a:t>Second-level cache a cache on memory</a:t>
            </a:r>
          </a:p>
          <a:p>
            <a:pPr lvl="1"/>
            <a:r>
              <a:rPr lang="en-US" altLang="zh-CN" dirty="0" smtClean="0"/>
              <a:t>Memory a cache on disk (virtual memory)</a:t>
            </a:r>
          </a:p>
          <a:p>
            <a:pPr lvl="1"/>
            <a:r>
              <a:rPr lang="en-US" altLang="zh-CN" dirty="0" smtClean="0"/>
              <a:t>TLB a cache on page table</a:t>
            </a:r>
          </a:p>
          <a:p>
            <a:pPr lvl="1"/>
            <a:r>
              <a:rPr lang="en-US" altLang="zh-CN" dirty="0" smtClean="0"/>
              <a:t>Branch-prediction a cache on prediction information?</a:t>
            </a:r>
            <a:endParaRPr lang="en-US" altLang="zh-CN" dirty="0"/>
          </a:p>
        </p:txBody>
      </p:sp>
    </p:spTree>
    <p:extLst>
      <p:ext uri="{BB962C8B-B14F-4D97-AF65-F5344CB8AC3E}">
        <p14:creationId xmlns:p14="http://schemas.microsoft.com/office/powerpoint/2010/main" val="1454549849"/>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Cache Measures</a:t>
            </a:r>
          </a:p>
        </p:txBody>
      </p:sp>
      <p:sp>
        <p:nvSpPr>
          <p:cNvPr id="12291" name="Rectangle 3"/>
          <p:cNvSpPr>
            <a:spLocks noGrp="1" noChangeArrowheads="1"/>
          </p:cNvSpPr>
          <p:nvPr>
            <p:ph type="body" idx="1"/>
          </p:nvPr>
        </p:nvSpPr>
        <p:spPr>
          <a:xfrm>
            <a:off x="838200" y="1556792"/>
            <a:ext cx="11018440" cy="511256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i="1" dirty="0">
                <a:solidFill>
                  <a:schemeClr val="hlink"/>
                </a:solidFill>
              </a:rPr>
              <a:t>Hit rate</a:t>
            </a:r>
            <a:r>
              <a:rPr lang="en-US" altLang="zh-CN" dirty="0"/>
              <a:t>: fraction found in that level</a:t>
            </a:r>
          </a:p>
          <a:p>
            <a:pPr lvl="1"/>
            <a:r>
              <a:rPr lang="en-US" altLang="zh-CN" dirty="0"/>
              <a:t>So high that usually talk about </a:t>
            </a:r>
            <a:r>
              <a:rPr lang="en-US" altLang="zh-CN" sz="2800" i="1" dirty="0">
                <a:solidFill>
                  <a:schemeClr val="hlink"/>
                </a:solidFill>
              </a:rPr>
              <a:t>Miss rate</a:t>
            </a:r>
            <a:endParaRPr lang="en-US" altLang="zh-CN" dirty="0"/>
          </a:p>
          <a:p>
            <a:pPr lvl="1"/>
            <a:r>
              <a:rPr lang="en-US" altLang="zh-CN" dirty="0"/>
              <a:t>Miss rate fallacy: as MIPS to CPU performance, </a:t>
            </a:r>
            <a:br>
              <a:rPr lang="en-US" altLang="zh-CN" dirty="0"/>
            </a:br>
            <a:r>
              <a:rPr lang="en-US" altLang="zh-CN" dirty="0"/>
              <a:t>miss rate to average memory access time in memory </a:t>
            </a:r>
          </a:p>
          <a:p>
            <a:r>
              <a:rPr lang="en-US" altLang="zh-CN" dirty="0"/>
              <a:t>Average memory-access time </a:t>
            </a:r>
            <a:br>
              <a:rPr lang="en-US" altLang="zh-CN" dirty="0"/>
            </a:br>
            <a:r>
              <a:rPr lang="en-US" altLang="zh-CN" dirty="0"/>
              <a:t>	= Hit time + Miss rate x Miss penalty </a:t>
            </a:r>
            <a:br>
              <a:rPr lang="en-US" altLang="zh-CN" dirty="0"/>
            </a:br>
            <a:r>
              <a:rPr lang="en-US" altLang="zh-CN" dirty="0"/>
              <a:t>		(ns or clocks)</a:t>
            </a:r>
          </a:p>
          <a:p>
            <a:r>
              <a:rPr lang="en-US" altLang="zh-CN" i="1" dirty="0">
                <a:solidFill>
                  <a:schemeClr val="hlink"/>
                </a:solidFill>
              </a:rPr>
              <a:t>Miss penalty</a:t>
            </a:r>
            <a:r>
              <a:rPr lang="en-US" altLang="zh-CN" dirty="0"/>
              <a:t>: time to replace a block from lower level, including time to replace in CPU</a:t>
            </a:r>
          </a:p>
          <a:p>
            <a:pPr lvl="1"/>
            <a:r>
              <a:rPr lang="en-US" altLang="zh-CN" sz="2800" i="1" dirty="0">
                <a:solidFill>
                  <a:schemeClr val="hlink"/>
                </a:solidFill>
              </a:rPr>
              <a:t>access time</a:t>
            </a:r>
            <a:r>
              <a:rPr lang="en-US" altLang="zh-CN" dirty="0"/>
              <a:t>: time to lower level 	= f(latency to lower level)</a:t>
            </a:r>
          </a:p>
          <a:p>
            <a:pPr lvl="1"/>
            <a:r>
              <a:rPr lang="en-US" altLang="zh-CN" sz="2800" i="1" dirty="0">
                <a:solidFill>
                  <a:schemeClr val="hlink"/>
                </a:solidFill>
              </a:rPr>
              <a:t>transfer time</a:t>
            </a:r>
            <a:r>
              <a:rPr lang="en-US" altLang="zh-CN" dirty="0"/>
              <a:t>: time to transfer block </a:t>
            </a:r>
            <a:r>
              <a:rPr lang="en-US" altLang="zh-CN" dirty="0" smtClean="0"/>
              <a:t>= f(BW </a:t>
            </a:r>
            <a:r>
              <a:rPr lang="en-US" altLang="zh-CN" dirty="0"/>
              <a:t>between upper &amp; lower levels)</a:t>
            </a:r>
          </a:p>
        </p:txBody>
      </p:sp>
    </p:spTree>
    <p:extLst>
      <p:ext uri="{BB962C8B-B14F-4D97-AF65-F5344CB8AC3E}">
        <p14:creationId xmlns:p14="http://schemas.microsoft.com/office/powerpoint/2010/main" val="1753132966"/>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3336" y="649675"/>
            <a:ext cx="9093200" cy="4095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Simplest Cache: Direct  Mapped</a:t>
            </a:r>
          </a:p>
        </p:txBody>
      </p:sp>
      <p:sp>
        <p:nvSpPr>
          <p:cNvPr id="13315" name="Rectangle 3"/>
          <p:cNvSpPr>
            <a:spLocks noChangeArrowheads="1"/>
          </p:cNvSpPr>
          <p:nvPr/>
        </p:nvSpPr>
        <p:spPr bwMode="auto">
          <a:xfrm>
            <a:off x="3890964" y="1575187"/>
            <a:ext cx="116538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2000" b="1"/>
              <a:t>Memory</a:t>
            </a:r>
          </a:p>
        </p:txBody>
      </p:sp>
      <p:sp>
        <p:nvSpPr>
          <p:cNvPr id="13316" name="Rectangle 4"/>
          <p:cNvSpPr>
            <a:spLocks noChangeArrowheads="1"/>
          </p:cNvSpPr>
          <p:nvPr/>
        </p:nvSpPr>
        <p:spPr bwMode="auto">
          <a:xfrm>
            <a:off x="6081714" y="2013337"/>
            <a:ext cx="370133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2000" b="1"/>
              <a:t>4  Byte Direct Mapped Cache</a:t>
            </a:r>
          </a:p>
        </p:txBody>
      </p:sp>
      <p:sp>
        <p:nvSpPr>
          <p:cNvPr id="13317" name="Rectangle 5"/>
          <p:cNvSpPr>
            <a:spLocks noChangeArrowheads="1"/>
          </p:cNvSpPr>
          <p:nvPr/>
        </p:nvSpPr>
        <p:spPr bwMode="auto">
          <a:xfrm>
            <a:off x="6489700" y="2680086"/>
            <a:ext cx="20320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8" name="Line 6"/>
          <p:cNvSpPr>
            <a:spLocks noChangeShapeType="1"/>
          </p:cNvSpPr>
          <p:nvPr/>
        </p:nvSpPr>
        <p:spPr bwMode="auto">
          <a:xfrm>
            <a:off x="6489700" y="29721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 name="Line 7"/>
          <p:cNvSpPr>
            <a:spLocks noChangeShapeType="1"/>
          </p:cNvSpPr>
          <p:nvPr/>
        </p:nvSpPr>
        <p:spPr bwMode="auto">
          <a:xfrm>
            <a:off x="6489700" y="32769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0" name="Line 8"/>
          <p:cNvSpPr>
            <a:spLocks noChangeShapeType="1"/>
          </p:cNvSpPr>
          <p:nvPr/>
        </p:nvSpPr>
        <p:spPr bwMode="auto">
          <a:xfrm>
            <a:off x="6489700" y="35817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 name="Rectangle 9"/>
          <p:cNvSpPr>
            <a:spLocks noChangeArrowheads="1"/>
          </p:cNvSpPr>
          <p:nvPr/>
        </p:nvSpPr>
        <p:spPr bwMode="auto">
          <a:xfrm>
            <a:off x="1738314" y="1556137"/>
            <a:ext cx="2253951"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2000" b="1"/>
              <a:t>Memory Address</a:t>
            </a:r>
          </a:p>
        </p:txBody>
      </p:sp>
      <p:sp>
        <p:nvSpPr>
          <p:cNvPr id="13322" name="Rectangle 10"/>
          <p:cNvSpPr>
            <a:spLocks noChangeArrowheads="1"/>
          </p:cNvSpPr>
          <p:nvPr/>
        </p:nvSpPr>
        <p:spPr bwMode="auto">
          <a:xfrm>
            <a:off x="2451100" y="1918086"/>
            <a:ext cx="20320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 name="Line 11"/>
          <p:cNvSpPr>
            <a:spLocks noChangeShapeType="1"/>
          </p:cNvSpPr>
          <p:nvPr/>
        </p:nvSpPr>
        <p:spPr bwMode="auto">
          <a:xfrm>
            <a:off x="2451100" y="22101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Line 12"/>
          <p:cNvSpPr>
            <a:spLocks noChangeShapeType="1"/>
          </p:cNvSpPr>
          <p:nvPr/>
        </p:nvSpPr>
        <p:spPr bwMode="auto">
          <a:xfrm>
            <a:off x="2451100" y="25149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 name="Line 13"/>
          <p:cNvSpPr>
            <a:spLocks noChangeShapeType="1"/>
          </p:cNvSpPr>
          <p:nvPr/>
        </p:nvSpPr>
        <p:spPr bwMode="auto">
          <a:xfrm>
            <a:off x="2451100" y="28197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 name="Line 14"/>
          <p:cNvSpPr>
            <a:spLocks noChangeShapeType="1"/>
          </p:cNvSpPr>
          <p:nvPr/>
        </p:nvSpPr>
        <p:spPr bwMode="auto">
          <a:xfrm>
            <a:off x="4273550" y="2064136"/>
            <a:ext cx="2044700" cy="749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7" name="Rectangle 15"/>
          <p:cNvSpPr>
            <a:spLocks noChangeArrowheads="1"/>
          </p:cNvSpPr>
          <p:nvPr/>
        </p:nvSpPr>
        <p:spPr bwMode="auto">
          <a:xfrm>
            <a:off x="2451100" y="3137286"/>
            <a:ext cx="20320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 name="Line 16"/>
          <p:cNvSpPr>
            <a:spLocks noChangeShapeType="1"/>
          </p:cNvSpPr>
          <p:nvPr/>
        </p:nvSpPr>
        <p:spPr bwMode="auto">
          <a:xfrm>
            <a:off x="2451100" y="34293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 name="Line 17"/>
          <p:cNvSpPr>
            <a:spLocks noChangeShapeType="1"/>
          </p:cNvSpPr>
          <p:nvPr/>
        </p:nvSpPr>
        <p:spPr bwMode="auto">
          <a:xfrm>
            <a:off x="2451100" y="37341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Line 18"/>
          <p:cNvSpPr>
            <a:spLocks noChangeShapeType="1"/>
          </p:cNvSpPr>
          <p:nvPr/>
        </p:nvSpPr>
        <p:spPr bwMode="auto">
          <a:xfrm>
            <a:off x="2451100" y="40389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 name="Rectangle 19"/>
          <p:cNvSpPr>
            <a:spLocks noChangeArrowheads="1"/>
          </p:cNvSpPr>
          <p:nvPr/>
        </p:nvSpPr>
        <p:spPr bwMode="auto">
          <a:xfrm>
            <a:off x="2451100" y="4356486"/>
            <a:ext cx="20320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2" name="Line 20"/>
          <p:cNvSpPr>
            <a:spLocks noChangeShapeType="1"/>
          </p:cNvSpPr>
          <p:nvPr/>
        </p:nvSpPr>
        <p:spPr bwMode="auto">
          <a:xfrm>
            <a:off x="2451100" y="46485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3" name="Line 21"/>
          <p:cNvSpPr>
            <a:spLocks noChangeShapeType="1"/>
          </p:cNvSpPr>
          <p:nvPr/>
        </p:nvSpPr>
        <p:spPr bwMode="auto">
          <a:xfrm>
            <a:off x="2451100" y="49533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4" name="Line 22"/>
          <p:cNvSpPr>
            <a:spLocks noChangeShapeType="1"/>
          </p:cNvSpPr>
          <p:nvPr/>
        </p:nvSpPr>
        <p:spPr bwMode="auto">
          <a:xfrm>
            <a:off x="2451100" y="52581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5" name="Rectangle 23"/>
          <p:cNvSpPr>
            <a:spLocks noChangeArrowheads="1"/>
          </p:cNvSpPr>
          <p:nvPr/>
        </p:nvSpPr>
        <p:spPr bwMode="auto">
          <a:xfrm>
            <a:off x="2451100" y="5575686"/>
            <a:ext cx="20320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6" name="Line 24"/>
          <p:cNvSpPr>
            <a:spLocks noChangeShapeType="1"/>
          </p:cNvSpPr>
          <p:nvPr/>
        </p:nvSpPr>
        <p:spPr bwMode="auto">
          <a:xfrm>
            <a:off x="2451100" y="58677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7" name="Line 25"/>
          <p:cNvSpPr>
            <a:spLocks noChangeShapeType="1"/>
          </p:cNvSpPr>
          <p:nvPr/>
        </p:nvSpPr>
        <p:spPr bwMode="auto">
          <a:xfrm>
            <a:off x="2451100" y="61725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8" name="Line 26"/>
          <p:cNvSpPr>
            <a:spLocks noChangeShapeType="1"/>
          </p:cNvSpPr>
          <p:nvPr/>
        </p:nvSpPr>
        <p:spPr bwMode="auto">
          <a:xfrm>
            <a:off x="2451100" y="6477386"/>
            <a:ext cx="203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9" name="Line 27"/>
          <p:cNvSpPr>
            <a:spLocks noChangeShapeType="1"/>
          </p:cNvSpPr>
          <p:nvPr/>
        </p:nvSpPr>
        <p:spPr bwMode="auto">
          <a:xfrm flipV="1">
            <a:off x="4349750" y="2737236"/>
            <a:ext cx="1739900" cy="546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0" name="Line 28"/>
          <p:cNvSpPr>
            <a:spLocks noChangeShapeType="1"/>
          </p:cNvSpPr>
          <p:nvPr/>
        </p:nvSpPr>
        <p:spPr bwMode="auto">
          <a:xfrm flipV="1">
            <a:off x="4349750" y="2737236"/>
            <a:ext cx="1739900" cy="1765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1" name="Rectangle 29"/>
          <p:cNvSpPr>
            <a:spLocks noChangeArrowheads="1"/>
          </p:cNvSpPr>
          <p:nvPr/>
        </p:nvSpPr>
        <p:spPr bwMode="auto">
          <a:xfrm>
            <a:off x="2119314" y="19053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0</a:t>
            </a:r>
          </a:p>
        </p:txBody>
      </p:sp>
      <p:sp>
        <p:nvSpPr>
          <p:cNvPr id="13342" name="Rectangle 30"/>
          <p:cNvSpPr>
            <a:spLocks noChangeArrowheads="1"/>
          </p:cNvSpPr>
          <p:nvPr/>
        </p:nvSpPr>
        <p:spPr bwMode="auto">
          <a:xfrm>
            <a:off x="2119314" y="22101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1</a:t>
            </a:r>
          </a:p>
        </p:txBody>
      </p:sp>
      <p:sp>
        <p:nvSpPr>
          <p:cNvPr id="13343" name="Rectangle 31"/>
          <p:cNvSpPr>
            <a:spLocks noChangeArrowheads="1"/>
          </p:cNvSpPr>
          <p:nvPr/>
        </p:nvSpPr>
        <p:spPr bwMode="auto">
          <a:xfrm>
            <a:off x="2119314" y="25149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2</a:t>
            </a:r>
          </a:p>
        </p:txBody>
      </p:sp>
      <p:sp>
        <p:nvSpPr>
          <p:cNvPr id="13344" name="Rectangle 32"/>
          <p:cNvSpPr>
            <a:spLocks noChangeArrowheads="1"/>
          </p:cNvSpPr>
          <p:nvPr/>
        </p:nvSpPr>
        <p:spPr bwMode="auto">
          <a:xfrm>
            <a:off x="2119314" y="28197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3</a:t>
            </a:r>
          </a:p>
        </p:txBody>
      </p:sp>
      <p:sp>
        <p:nvSpPr>
          <p:cNvPr id="13345" name="Rectangle 33"/>
          <p:cNvSpPr>
            <a:spLocks noChangeArrowheads="1"/>
          </p:cNvSpPr>
          <p:nvPr/>
        </p:nvSpPr>
        <p:spPr bwMode="auto">
          <a:xfrm>
            <a:off x="2119314" y="31245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4</a:t>
            </a:r>
          </a:p>
        </p:txBody>
      </p:sp>
      <p:sp>
        <p:nvSpPr>
          <p:cNvPr id="13346" name="Rectangle 34"/>
          <p:cNvSpPr>
            <a:spLocks noChangeArrowheads="1"/>
          </p:cNvSpPr>
          <p:nvPr/>
        </p:nvSpPr>
        <p:spPr bwMode="auto">
          <a:xfrm>
            <a:off x="2119314" y="34293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5</a:t>
            </a:r>
          </a:p>
        </p:txBody>
      </p:sp>
      <p:sp>
        <p:nvSpPr>
          <p:cNvPr id="13347" name="Rectangle 35"/>
          <p:cNvSpPr>
            <a:spLocks noChangeArrowheads="1"/>
          </p:cNvSpPr>
          <p:nvPr/>
        </p:nvSpPr>
        <p:spPr bwMode="auto">
          <a:xfrm>
            <a:off x="2119314" y="37341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6</a:t>
            </a:r>
          </a:p>
        </p:txBody>
      </p:sp>
      <p:sp>
        <p:nvSpPr>
          <p:cNvPr id="13348" name="Rectangle 36"/>
          <p:cNvSpPr>
            <a:spLocks noChangeArrowheads="1"/>
          </p:cNvSpPr>
          <p:nvPr/>
        </p:nvSpPr>
        <p:spPr bwMode="auto">
          <a:xfrm>
            <a:off x="2119314" y="40389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7</a:t>
            </a:r>
          </a:p>
        </p:txBody>
      </p:sp>
      <p:sp>
        <p:nvSpPr>
          <p:cNvPr id="13349" name="Rectangle 37"/>
          <p:cNvSpPr>
            <a:spLocks noChangeArrowheads="1"/>
          </p:cNvSpPr>
          <p:nvPr/>
        </p:nvSpPr>
        <p:spPr bwMode="auto">
          <a:xfrm>
            <a:off x="2119314" y="43437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8</a:t>
            </a:r>
          </a:p>
        </p:txBody>
      </p:sp>
      <p:sp>
        <p:nvSpPr>
          <p:cNvPr id="13350" name="Rectangle 38"/>
          <p:cNvSpPr>
            <a:spLocks noChangeArrowheads="1"/>
          </p:cNvSpPr>
          <p:nvPr/>
        </p:nvSpPr>
        <p:spPr bwMode="auto">
          <a:xfrm>
            <a:off x="2119314" y="46485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9</a:t>
            </a:r>
          </a:p>
        </p:txBody>
      </p:sp>
      <p:sp>
        <p:nvSpPr>
          <p:cNvPr id="13351" name="Rectangle 39"/>
          <p:cNvSpPr>
            <a:spLocks noChangeArrowheads="1"/>
          </p:cNvSpPr>
          <p:nvPr/>
        </p:nvSpPr>
        <p:spPr bwMode="auto">
          <a:xfrm>
            <a:off x="2119313" y="4953387"/>
            <a:ext cx="33022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A</a:t>
            </a:r>
          </a:p>
        </p:txBody>
      </p:sp>
      <p:sp>
        <p:nvSpPr>
          <p:cNvPr id="13352" name="Rectangle 40"/>
          <p:cNvSpPr>
            <a:spLocks noChangeArrowheads="1"/>
          </p:cNvSpPr>
          <p:nvPr/>
        </p:nvSpPr>
        <p:spPr bwMode="auto">
          <a:xfrm>
            <a:off x="2119313" y="5258187"/>
            <a:ext cx="33022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a:t>
            </a:r>
          </a:p>
        </p:txBody>
      </p:sp>
      <p:sp>
        <p:nvSpPr>
          <p:cNvPr id="13353" name="Rectangle 41"/>
          <p:cNvSpPr>
            <a:spLocks noChangeArrowheads="1"/>
          </p:cNvSpPr>
          <p:nvPr/>
        </p:nvSpPr>
        <p:spPr bwMode="auto">
          <a:xfrm>
            <a:off x="2119313" y="5562987"/>
            <a:ext cx="33022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t>
            </a:r>
          </a:p>
        </p:txBody>
      </p:sp>
      <p:sp>
        <p:nvSpPr>
          <p:cNvPr id="13354" name="Rectangle 42"/>
          <p:cNvSpPr>
            <a:spLocks noChangeArrowheads="1"/>
          </p:cNvSpPr>
          <p:nvPr/>
        </p:nvSpPr>
        <p:spPr bwMode="auto">
          <a:xfrm>
            <a:off x="2119313" y="5867787"/>
            <a:ext cx="33022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D</a:t>
            </a:r>
          </a:p>
        </p:txBody>
      </p:sp>
      <p:sp>
        <p:nvSpPr>
          <p:cNvPr id="13355" name="Rectangle 43"/>
          <p:cNvSpPr>
            <a:spLocks noChangeArrowheads="1"/>
          </p:cNvSpPr>
          <p:nvPr/>
        </p:nvSpPr>
        <p:spPr bwMode="auto">
          <a:xfrm>
            <a:off x="2119314" y="6172587"/>
            <a:ext cx="318999"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E</a:t>
            </a:r>
          </a:p>
        </p:txBody>
      </p:sp>
      <p:sp>
        <p:nvSpPr>
          <p:cNvPr id="13356" name="Rectangle 44"/>
          <p:cNvSpPr>
            <a:spLocks noChangeArrowheads="1"/>
          </p:cNvSpPr>
          <p:nvPr/>
        </p:nvSpPr>
        <p:spPr bwMode="auto">
          <a:xfrm>
            <a:off x="2119313" y="6477387"/>
            <a:ext cx="307778"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F</a:t>
            </a:r>
          </a:p>
        </p:txBody>
      </p:sp>
      <p:sp>
        <p:nvSpPr>
          <p:cNvPr id="13357" name="Rectangle 45"/>
          <p:cNvSpPr>
            <a:spLocks noChangeArrowheads="1"/>
          </p:cNvSpPr>
          <p:nvPr/>
        </p:nvSpPr>
        <p:spPr bwMode="auto">
          <a:xfrm>
            <a:off x="6157914" y="2362587"/>
            <a:ext cx="138980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Index</a:t>
            </a:r>
          </a:p>
        </p:txBody>
      </p:sp>
      <p:sp>
        <p:nvSpPr>
          <p:cNvPr id="13358" name="Rectangle 46"/>
          <p:cNvSpPr>
            <a:spLocks noChangeArrowheads="1"/>
          </p:cNvSpPr>
          <p:nvPr/>
        </p:nvSpPr>
        <p:spPr bwMode="auto">
          <a:xfrm>
            <a:off x="6234114" y="26673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0</a:t>
            </a:r>
          </a:p>
        </p:txBody>
      </p:sp>
      <p:sp>
        <p:nvSpPr>
          <p:cNvPr id="13359" name="Rectangle 47"/>
          <p:cNvSpPr>
            <a:spLocks noChangeArrowheads="1"/>
          </p:cNvSpPr>
          <p:nvPr/>
        </p:nvSpPr>
        <p:spPr bwMode="auto">
          <a:xfrm>
            <a:off x="6234114" y="29721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1</a:t>
            </a:r>
          </a:p>
        </p:txBody>
      </p:sp>
      <p:sp>
        <p:nvSpPr>
          <p:cNvPr id="13360" name="Rectangle 48"/>
          <p:cNvSpPr>
            <a:spLocks noChangeArrowheads="1"/>
          </p:cNvSpPr>
          <p:nvPr/>
        </p:nvSpPr>
        <p:spPr bwMode="auto">
          <a:xfrm>
            <a:off x="6234114" y="32769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2</a:t>
            </a:r>
          </a:p>
        </p:txBody>
      </p:sp>
      <p:sp>
        <p:nvSpPr>
          <p:cNvPr id="13361" name="Rectangle 49"/>
          <p:cNvSpPr>
            <a:spLocks noChangeArrowheads="1"/>
          </p:cNvSpPr>
          <p:nvPr/>
        </p:nvSpPr>
        <p:spPr bwMode="auto">
          <a:xfrm>
            <a:off x="6234114" y="3581787"/>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3</a:t>
            </a:r>
          </a:p>
        </p:txBody>
      </p:sp>
      <p:sp>
        <p:nvSpPr>
          <p:cNvPr id="13362" name="Line 50"/>
          <p:cNvSpPr>
            <a:spLocks noChangeShapeType="1"/>
          </p:cNvSpPr>
          <p:nvPr/>
        </p:nvSpPr>
        <p:spPr bwMode="auto">
          <a:xfrm flipV="1">
            <a:off x="4273550" y="2737236"/>
            <a:ext cx="1816100" cy="298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3" name="Rectangle 51"/>
          <p:cNvSpPr>
            <a:spLocks noGrp="1" noChangeArrowheads="1"/>
          </p:cNvSpPr>
          <p:nvPr>
            <p:ph type="body" idx="1"/>
          </p:nvPr>
        </p:nvSpPr>
        <p:spPr>
          <a:xfrm>
            <a:off x="5519936" y="4117303"/>
            <a:ext cx="6172200" cy="26035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sz="2400" dirty="0"/>
              <a:t>Location 0 can be occupied by data from:</a:t>
            </a:r>
          </a:p>
          <a:p>
            <a:pPr lvl="1"/>
            <a:r>
              <a:rPr lang="en-US" altLang="zh-CN" sz="2000" dirty="0"/>
              <a:t>Memory location 0, 4, 8, ... etc.</a:t>
            </a:r>
          </a:p>
          <a:p>
            <a:pPr lvl="1"/>
            <a:r>
              <a:rPr lang="en-US" altLang="zh-CN" sz="2000" dirty="0"/>
              <a:t>In general: any memory location</a:t>
            </a:r>
            <a:br>
              <a:rPr lang="en-US" altLang="zh-CN" sz="2000" dirty="0"/>
            </a:br>
            <a:r>
              <a:rPr lang="en-US" altLang="zh-CN" sz="2000" dirty="0"/>
              <a:t>whose 2 LSBs of the address are 0s</a:t>
            </a:r>
          </a:p>
          <a:p>
            <a:pPr lvl="1"/>
            <a:r>
              <a:rPr lang="en-US" altLang="zh-CN" sz="2000" dirty="0"/>
              <a:t>Address&lt;1:0&gt;  =&gt; cache index</a:t>
            </a:r>
          </a:p>
          <a:p>
            <a:r>
              <a:rPr lang="en-US" altLang="zh-CN" sz="2400" dirty="0"/>
              <a:t>Which one should we place in the cache?</a:t>
            </a:r>
          </a:p>
          <a:p>
            <a:r>
              <a:rPr lang="en-US" altLang="zh-CN" sz="2400" dirty="0"/>
              <a:t>How can we tell which one is in the cache?</a:t>
            </a:r>
          </a:p>
        </p:txBody>
      </p:sp>
    </p:spTree>
    <p:extLst>
      <p:ext uri="{BB962C8B-B14F-4D97-AF65-F5344CB8AC3E}">
        <p14:creationId xmlns:p14="http://schemas.microsoft.com/office/powerpoint/2010/main" val="972733254"/>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smtClean="0"/>
              <a:t>1 KB Direct Mapped Cache, 32B blocks</a:t>
            </a:r>
            <a:endParaRPr lang="en-US" altLang="zh-CN"/>
          </a:p>
        </p:txBody>
      </p:sp>
      <p:sp>
        <p:nvSpPr>
          <p:cNvPr id="15363" name="Rectangle 3"/>
          <p:cNvSpPr>
            <a:spLocks noGrp="1" noChangeArrowheads="1"/>
          </p:cNvSpPr>
          <p:nvPr>
            <p:ph type="body" idx="1"/>
          </p:nvPr>
        </p:nvSpPr>
        <p:spPr/>
        <p:txBody>
          <a:bodyPr/>
          <a:lstStyle/>
          <a:p>
            <a:r>
              <a:rPr lang="en-US" altLang="zh-CN" smtClean="0"/>
              <a:t>For a 2 ** N byte cache:</a:t>
            </a:r>
          </a:p>
          <a:p>
            <a:pPr lvl="1"/>
            <a:r>
              <a:rPr lang="en-US" altLang="zh-CN" smtClean="0"/>
              <a:t>The uppermost (32 - N) bits are always the Cache Tag</a:t>
            </a:r>
          </a:p>
          <a:p>
            <a:pPr lvl="1"/>
            <a:r>
              <a:rPr lang="en-US" altLang="zh-CN" smtClean="0"/>
              <a:t>The lowest M bits are the Byte Select (Block Size = 2 ** M)</a:t>
            </a:r>
            <a:endParaRPr lang="en-US" altLang="zh-CN"/>
          </a:p>
        </p:txBody>
      </p:sp>
      <p:sp>
        <p:nvSpPr>
          <p:cNvPr id="15364" name="Rectangle 4"/>
          <p:cNvSpPr>
            <a:spLocks noChangeArrowheads="1"/>
          </p:cNvSpPr>
          <p:nvPr/>
        </p:nvSpPr>
        <p:spPr bwMode="auto">
          <a:xfrm>
            <a:off x="6767514" y="4701313"/>
            <a:ext cx="2897186" cy="2108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5" name="Line 5"/>
          <p:cNvSpPr>
            <a:spLocks noChangeShapeType="1"/>
          </p:cNvSpPr>
          <p:nvPr/>
        </p:nvSpPr>
        <p:spPr bwMode="auto">
          <a:xfrm>
            <a:off x="6870700" y="4993413"/>
            <a:ext cx="279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Line 6"/>
          <p:cNvSpPr>
            <a:spLocks noChangeShapeType="1"/>
          </p:cNvSpPr>
          <p:nvPr/>
        </p:nvSpPr>
        <p:spPr bwMode="auto">
          <a:xfrm>
            <a:off x="6870700" y="5298213"/>
            <a:ext cx="279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Line 7"/>
          <p:cNvSpPr>
            <a:spLocks noChangeShapeType="1"/>
          </p:cNvSpPr>
          <p:nvPr/>
        </p:nvSpPr>
        <p:spPr bwMode="auto">
          <a:xfrm>
            <a:off x="6870700" y="5603013"/>
            <a:ext cx="279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Rectangle 8"/>
          <p:cNvSpPr>
            <a:spLocks noChangeArrowheads="1"/>
          </p:cNvSpPr>
          <p:nvPr/>
        </p:nvSpPr>
        <p:spPr bwMode="auto">
          <a:xfrm>
            <a:off x="6843714" y="3088414"/>
            <a:ext cx="138980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Index</a:t>
            </a:r>
          </a:p>
        </p:txBody>
      </p:sp>
      <p:sp>
        <p:nvSpPr>
          <p:cNvPr id="15369" name="Rectangle 9"/>
          <p:cNvSpPr>
            <a:spLocks noChangeArrowheads="1"/>
          </p:cNvSpPr>
          <p:nvPr/>
        </p:nvSpPr>
        <p:spPr bwMode="auto">
          <a:xfrm>
            <a:off x="9663114" y="46886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0</a:t>
            </a:r>
          </a:p>
        </p:txBody>
      </p:sp>
      <p:sp>
        <p:nvSpPr>
          <p:cNvPr id="15370" name="Rectangle 10"/>
          <p:cNvSpPr>
            <a:spLocks noChangeArrowheads="1"/>
          </p:cNvSpPr>
          <p:nvPr/>
        </p:nvSpPr>
        <p:spPr bwMode="auto">
          <a:xfrm>
            <a:off x="9663114" y="49934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1</a:t>
            </a:r>
          </a:p>
        </p:txBody>
      </p:sp>
      <p:sp>
        <p:nvSpPr>
          <p:cNvPr id="15371" name="Rectangle 11"/>
          <p:cNvSpPr>
            <a:spLocks noChangeArrowheads="1"/>
          </p:cNvSpPr>
          <p:nvPr/>
        </p:nvSpPr>
        <p:spPr bwMode="auto">
          <a:xfrm>
            <a:off x="9663114" y="52982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2</a:t>
            </a:r>
          </a:p>
        </p:txBody>
      </p:sp>
      <p:sp>
        <p:nvSpPr>
          <p:cNvPr id="15372" name="Rectangle 12"/>
          <p:cNvSpPr>
            <a:spLocks noChangeArrowheads="1"/>
          </p:cNvSpPr>
          <p:nvPr/>
        </p:nvSpPr>
        <p:spPr bwMode="auto">
          <a:xfrm>
            <a:off x="9663114" y="56030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3</a:t>
            </a:r>
          </a:p>
        </p:txBody>
      </p:sp>
      <p:sp>
        <p:nvSpPr>
          <p:cNvPr id="15373" name="Line 13"/>
          <p:cNvSpPr>
            <a:spLocks noChangeShapeType="1"/>
          </p:cNvSpPr>
          <p:nvPr/>
        </p:nvSpPr>
        <p:spPr bwMode="auto">
          <a:xfrm>
            <a:off x="6870700" y="5907813"/>
            <a:ext cx="279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Line 14"/>
          <p:cNvSpPr>
            <a:spLocks noChangeShapeType="1"/>
          </p:cNvSpPr>
          <p:nvPr/>
        </p:nvSpPr>
        <p:spPr bwMode="auto">
          <a:xfrm>
            <a:off x="6870700" y="6517413"/>
            <a:ext cx="279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Rectangle 15"/>
          <p:cNvSpPr>
            <a:spLocks noChangeArrowheads="1"/>
          </p:cNvSpPr>
          <p:nvPr/>
        </p:nvSpPr>
        <p:spPr bwMode="auto">
          <a:xfrm>
            <a:off x="8215314" y="5893527"/>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5376" name="Rectangle 16"/>
          <p:cNvSpPr>
            <a:spLocks noChangeArrowheads="1"/>
          </p:cNvSpPr>
          <p:nvPr/>
        </p:nvSpPr>
        <p:spPr bwMode="auto">
          <a:xfrm>
            <a:off x="6843714" y="4383814"/>
            <a:ext cx="1356141"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 Cache Data</a:t>
            </a:r>
          </a:p>
        </p:txBody>
      </p:sp>
      <p:sp>
        <p:nvSpPr>
          <p:cNvPr id="15377" name="Rectangle 17"/>
          <p:cNvSpPr>
            <a:spLocks noChangeArrowheads="1"/>
          </p:cNvSpPr>
          <p:nvPr/>
        </p:nvSpPr>
        <p:spPr bwMode="auto">
          <a:xfrm>
            <a:off x="8901113" y="4688614"/>
            <a:ext cx="798296"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Byte 0</a:t>
            </a:r>
          </a:p>
        </p:txBody>
      </p:sp>
      <p:sp>
        <p:nvSpPr>
          <p:cNvPr id="15378" name="Rectangle 18"/>
          <p:cNvSpPr>
            <a:spLocks noChangeArrowheads="1"/>
          </p:cNvSpPr>
          <p:nvPr/>
        </p:nvSpPr>
        <p:spPr bwMode="auto">
          <a:xfrm>
            <a:off x="2374900" y="3101113"/>
            <a:ext cx="7442200" cy="279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9" name="Line 19"/>
          <p:cNvSpPr>
            <a:spLocks noChangeShapeType="1"/>
          </p:cNvSpPr>
          <p:nvPr/>
        </p:nvSpPr>
        <p:spPr bwMode="auto">
          <a:xfrm>
            <a:off x="9372600" y="3710713"/>
            <a:ext cx="0" cy="1422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Line 20"/>
          <p:cNvSpPr>
            <a:spLocks noChangeShapeType="1"/>
          </p:cNvSpPr>
          <p:nvPr/>
        </p:nvSpPr>
        <p:spPr bwMode="auto">
          <a:xfrm>
            <a:off x="6781800" y="31011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Rectangle 21"/>
          <p:cNvSpPr>
            <a:spLocks noChangeArrowheads="1"/>
          </p:cNvSpPr>
          <p:nvPr/>
        </p:nvSpPr>
        <p:spPr bwMode="auto">
          <a:xfrm>
            <a:off x="9586914" y="27836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a:t>0</a:t>
            </a:r>
          </a:p>
        </p:txBody>
      </p:sp>
      <p:sp>
        <p:nvSpPr>
          <p:cNvPr id="15382" name="Rectangle 22"/>
          <p:cNvSpPr>
            <a:spLocks noChangeArrowheads="1"/>
          </p:cNvSpPr>
          <p:nvPr/>
        </p:nvSpPr>
        <p:spPr bwMode="auto">
          <a:xfrm>
            <a:off x="8367714" y="27836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a:t>4</a:t>
            </a:r>
          </a:p>
        </p:txBody>
      </p:sp>
      <p:sp>
        <p:nvSpPr>
          <p:cNvPr id="15383" name="Rectangle 23"/>
          <p:cNvSpPr>
            <a:spLocks noChangeArrowheads="1"/>
          </p:cNvSpPr>
          <p:nvPr/>
        </p:nvSpPr>
        <p:spPr bwMode="auto">
          <a:xfrm>
            <a:off x="2347913" y="2783614"/>
            <a:ext cx="41037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a:t>31</a:t>
            </a:r>
          </a:p>
        </p:txBody>
      </p:sp>
      <p:sp>
        <p:nvSpPr>
          <p:cNvPr id="15384" name="Rectangle 24"/>
          <p:cNvSpPr>
            <a:spLocks noChangeArrowheads="1"/>
          </p:cNvSpPr>
          <p:nvPr/>
        </p:nvSpPr>
        <p:spPr bwMode="auto">
          <a:xfrm>
            <a:off x="3289300" y="4701313"/>
            <a:ext cx="3251200" cy="2108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Line 25"/>
          <p:cNvSpPr>
            <a:spLocks noChangeShapeType="1"/>
          </p:cNvSpPr>
          <p:nvPr/>
        </p:nvSpPr>
        <p:spPr bwMode="auto">
          <a:xfrm flipH="1">
            <a:off x="3263900" y="4993413"/>
            <a:ext cx="330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6" name="Line 26"/>
          <p:cNvSpPr>
            <a:spLocks noChangeShapeType="1"/>
          </p:cNvSpPr>
          <p:nvPr/>
        </p:nvSpPr>
        <p:spPr bwMode="auto">
          <a:xfrm flipH="1">
            <a:off x="3263900" y="5298213"/>
            <a:ext cx="330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Line 27"/>
          <p:cNvSpPr>
            <a:spLocks noChangeShapeType="1"/>
          </p:cNvSpPr>
          <p:nvPr/>
        </p:nvSpPr>
        <p:spPr bwMode="auto">
          <a:xfrm flipH="1">
            <a:off x="3263900" y="5603013"/>
            <a:ext cx="330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Line 28"/>
          <p:cNvSpPr>
            <a:spLocks noChangeShapeType="1"/>
          </p:cNvSpPr>
          <p:nvPr/>
        </p:nvSpPr>
        <p:spPr bwMode="auto">
          <a:xfrm flipH="1">
            <a:off x="3263900" y="5907813"/>
            <a:ext cx="330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Line 29"/>
          <p:cNvSpPr>
            <a:spLocks noChangeShapeType="1"/>
          </p:cNvSpPr>
          <p:nvPr/>
        </p:nvSpPr>
        <p:spPr bwMode="auto">
          <a:xfrm flipH="1">
            <a:off x="3263900" y="6517413"/>
            <a:ext cx="3302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0" name="Rectangle 30"/>
          <p:cNvSpPr>
            <a:spLocks noChangeArrowheads="1"/>
          </p:cNvSpPr>
          <p:nvPr/>
        </p:nvSpPr>
        <p:spPr bwMode="auto">
          <a:xfrm>
            <a:off x="4786314" y="5969727"/>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5391" name="Rectangle 31"/>
          <p:cNvSpPr>
            <a:spLocks noChangeArrowheads="1"/>
          </p:cNvSpPr>
          <p:nvPr/>
        </p:nvSpPr>
        <p:spPr bwMode="auto">
          <a:xfrm>
            <a:off x="3719514" y="3088414"/>
            <a:ext cx="1203023"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Tag</a:t>
            </a:r>
          </a:p>
        </p:txBody>
      </p:sp>
      <p:sp>
        <p:nvSpPr>
          <p:cNvPr id="15392" name="Rectangle 32"/>
          <p:cNvSpPr>
            <a:spLocks noChangeArrowheads="1"/>
          </p:cNvSpPr>
          <p:nvPr/>
        </p:nvSpPr>
        <p:spPr bwMode="auto">
          <a:xfrm>
            <a:off x="4938714" y="3088414"/>
            <a:ext cx="1607813"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Example: 0x50</a:t>
            </a:r>
          </a:p>
        </p:txBody>
      </p:sp>
      <p:sp>
        <p:nvSpPr>
          <p:cNvPr id="15393" name="Line 33"/>
          <p:cNvSpPr>
            <a:spLocks noChangeShapeType="1"/>
          </p:cNvSpPr>
          <p:nvPr/>
        </p:nvSpPr>
        <p:spPr bwMode="auto">
          <a:xfrm>
            <a:off x="9842500" y="5145813"/>
            <a:ext cx="4318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4" name="Rectangle 34"/>
          <p:cNvSpPr>
            <a:spLocks noChangeArrowheads="1"/>
          </p:cNvSpPr>
          <p:nvPr/>
        </p:nvSpPr>
        <p:spPr bwMode="auto">
          <a:xfrm>
            <a:off x="6996113" y="3393214"/>
            <a:ext cx="1014702"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Ex: 0x01</a:t>
            </a:r>
          </a:p>
        </p:txBody>
      </p:sp>
      <p:sp>
        <p:nvSpPr>
          <p:cNvPr id="15395" name="Rectangle 35"/>
          <p:cNvSpPr>
            <a:spLocks noChangeArrowheads="1"/>
          </p:cNvSpPr>
          <p:nvPr/>
        </p:nvSpPr>
        <p:spPr bwMode="auto">
          <a:xfrm>
            <a:off x="4633913" y="4993414"/>
            <a:ext cx="637996"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0x50</a:t>
            </a:r>
          </a:p>
        </p:txBody>
      </p:sp>
      <p:sp>
        <p:nvSpPr>
          <p:cNvPr id="15396" name="Line 36"/>
          <p:cNvSpPr>
            <a:spLocks noChangeShapeType="1"/>
          </p:cNvSpPr>
          <p:nvPr/>
        </p:nvSpPr>
        <p:spPr bwMode="auto">
          <a:xfrm>
            <a:off x="6400800" y="3253513"/>
            <a:ext cx="0" cy="1879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7" name="Rectangle 37"/>
          <p:cNvSpPr>
            <a:spLocks noChangeArrowheads="1"/>
          </p:cNvSpPr>
          <p:nvPr/>
        </p:nvSpPr>
        <p:spPr bwMode="auto">
          <a:xfrm>
            <a:off x="4100514" y="3577364"/>
            <a:ext cx="2375651"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2000" b="1"/>
              <a:t>Stored as part</a:t>
            </a:r>
          </a:p>
          <a:p>
            <a:pPr eaLnBrk="0" hangingPunct="0"/>
            <a:r>
              <a:rPr lang="en-US" altLang="zh-CN" sz="2000" b="1"/>
              <a:t>of the cache State</a:t>
            </a:r>
          </a:p>
        </p:txBody>
      </p:sp>
      <p:sp>
        <p:nvSpPr>
          <p:cNvPr id="15398" name="Rectangle 38"/>
          <p:cNvSpPr>
            <a:spLocks noChangeArrowheads="1"/>
          </p:cNvSpPr>
          <p:nvPr/>
        </p:nvSpPr>
        <p:spPr bwMode="auto">
          <a:xfrm>
            <a:off x="2679700" y="4701313"/>
            <a:ext cx="279400" cy="2108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9" name="Rectangle 39"/>
          <p:cNvSpPr>
            <a:spLocks noChangeArrowheads="1"/>
          </p:cNvSpPr>
          <p:nvPr/>
        </p:nvSpPr>
        <p:spPr bwMode="auto">
          <a:xfrm>
            <a:off x="2347914" y="4383814"/>
            <a:ext cx="99373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Valid Bit</a:t>
            </a:r>
          </a:p>
        </p:txBody>
      </p:sp>
      <p:sp>
        <p:nvSpPr>
          <p:cNvPr id="15400" name="Line 40"/>
          <p:cNvSpPr>
            <a:spLocks noChangeShapeType="1"/>
          </p:cNvSpPr>
          <p:nvPr/>
        </p:nvSpPr>
        <p:spPr bwMode="auto">
          <a:xfrm flipH="1">
            <a:off x="2654300" y="4993413"/>
            <a:ext cx="330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1" name="Line 41"/>
          <p:cNvSpPr>
            <a:spLocks noChangeShapeType="1"/>
          </p:cNvSpPr>
          <p:nvPr/>
        </p:nvSpPr>
        <p:spPr bwMode="auto">
          <a:xfrm flipH="1">
            <a:off x="2654300" y="5298213"/>
            <a:ext cx="330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2" name="Line 42"/>
          <p:cNvSpPr>
            <a:spLocks noChangeShapeType="1"/>
          </p:cNvSpPr>
          <p:nvPr/>
        </p:nvSpPr>
        <p:spPr bwMode="auto">
          <a:xfrm flipH="1">
            <a:off x="2654300" y="5603013"/>
            <a:ext cx="330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3" name="Line 43"/>
          <p:cNvSpPr>
            <a:spLocks noChangeShapeType="1"/>
          </p:cNvSpPr>
          <p:nvPr/>
        </p:nvSpPr>
        <p:spPr bwMode="auto">
          <a:xfrm flipH="1">
            <a:off x="2654300" y="5907813"/>
            <a:ext cx="330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4" name="Line 44"/>
          <p:cNvSpPr>
            <a:spLocks noChangeShapeType="1"/>
          </p:cNvSpPr>
          <p:nvPr/>
        </p:nvSpPr>
        <p:spPr bwMode="auto">
          <a:xfrm flipH="1">
            <a:off x="2654300" y="6517413"/>
            <a:ext cx="330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5" name="Rectangle 45"/>
          <p:cNvSpPr>
            <a:spLocks noChangeArrowheads="1"/>
          </p:cNvSpPr>
          <p:nvPr/>
        </p:nvSpPr>
        <p:spPr bwMode="auto">
          <a:xfrm>
            <a:off x="2728914" y="5969727"/>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5406" name="Rectangle 46"/>
          <p:cNvSpPr>
            <a:spLocks noChangeArrowheads="1"/>
          </p:cNvSpPr>
          <p:nvPr/>
        </p:nvSpPr>
        <p:spPr bwMode="auto">
          <a:xfrm>
            <a:off x="9663113" y="6517414"/>
            <a:ext cx="41037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31</a:t>
            </a:r>
          </a:p>
        </p:txBody>
      </p:sp>
      <p:sp>
        <p:nvSpPr>
          <p:cNvPr id="15407" name="Line 47"/>
          <p:cNvSpPr>
            <a:spLocks noChangeShapeType="1"/>
          </p:cNvSpPr>
          <p:nvPr/>
        </p:nvSpPr>
        <p:spPr bwMode="auto">
          <a:xfrm>
            <a:off x="8915400" y="47013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8" name="Rectangle 48"/>
          <p:cNvSpPr>
            <a:spLocks noChangeArrowheads="1"/>
          </p:cNvSpPr>
          <p:nvPr/>
        </p:nvSpPr>
        <p:spPr bwMode="auto">
          <a:xfrm>
            <a:off x="8139113" y="4688614"/>
            <a:ext cx="798296"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Byte 1</a:t>
            </a:r>
          </a:p>
        </p:txBody>
      </p:sp>
      <p:sp>
        <p:nvSpPr>
          <p:cNvPr id="15409" name="Line 49"/>
          <p:cNvSpPr>
            <a:spLocks noChangeShapeType="1"/>
          </p:cNvSpPr>
          <p:nvPr/>
        </p:nvSpPr>
        <p:spPr bwMode="auto">
          <a:xfrm>
            <a:off x="8153400" y="47013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0" name="Rectangle 50"/>
          <p:cNvSpPr>
            <a:spLocks noChangeArrowheads="1"/>
          </p:cNvSpPr>
          <p:nvPr/>
        </p:nvSpPr>
        <p:spPr bwMode="auto">
          <a:xfrm>
            <a:off x="6744072" y="4688614"/>
            <a:ext cx="91211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dirty="0"/>
              <a:t>Byte 31</a:t>
            </a:r>
          </a:p>
        </p:txBody>
      </p:sp>
      <p:sp>
        <p:nvSpPr>
          <p:cNvPr id="15411" name="Line 51"/>
          <p:cNvSpPr>
            <a:spLocks noChangeShapeType="1"/>
          </p:cNvSpPr>
          <p:nvPr/>
        </p:nvSpPr>
        <p:spPr bwMode="auto">
          <a:xfrm>
            <a:off x="7620000" y="47013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2" name="Rectangle 52"/>
          <p:cNvSpPr>
            <a:spLocks noChangeArrowheads="1"/>
          </p:cNvSpPr>
          <p:nvPr/>
        </p:nvSpPr>
        <p:spPr bwMode="auto">
          <a:xfrm rot="16200000">
            <a:off x="7871158" y="4743356"/>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5413" name="Rectangle 53"/>
          <p:cNvSpPr>
            <a:spLocks noChangeArrowheads="1"/>
          </p:cNvSpPr>
          <p:nvPr/>
        </p:nvSpPr>
        <p:spPr bwMode="auto">
          <a:xfrm>
            <a:off x="8832304" y="4993414"/>
            <a:ext cx="91211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dirty="0"/>
              <a:t>Byte 32</a:t>
            </a:r>
          </a:p>
        </p:txBody>
      </p:sp>
      <p:sp>
        <p:nvSpPr>
          <p:cNvPr id="15414" name="Line 54"/>
          <p:cNvSpPr>
            <a:spLocks noChangeShapeType="1"/>
          </p:cNvSpPr>
          <p:nvPr/>
        </p:nvSpPr>
        <p:spPr bwMode="auto">
          <a:xfrm>
            <a:off x="8915400" y="50061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5" name="Rectangle 55"/>
          <p:cNvSpPr>
            <a:spLocks noChangeArrowheads="1"/>
          </p:cNvSpPr>
          <p:nvPr/>
        </p:nvSpPr>
        <p:spPr bwMode="auto">
          <a:xfrm>
            <a:off x="8040216" y="4993414"/>
            <a:ext cx="91211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dirty="0"/>
              <a:t>Byte 33</a:t>
            </a:r>
          </a:p>
        </p:txBody>
      </p:sp>
      <p:sp>
        <p:nvSpPr>
          <p:cNvPr id="15416" name="Line 56"/>
          <p:cNvSpPr>
            <a:spLocks noChangeShapeType="1"/>
          </p:cNvSpPr>
          <p:nvPr/>
        </p:nvSpPr>
        <p:spPr bwMode="auto">
          <a:xfrm>
            <a:off x="8153400" y="50061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7" name="Rectangle 57"/>
          <p:cNvSpPr>
            <a:spLocks noChangeArrowheads="1"/>
          </p:cNvSpPr>
          <p:nvPr/>
        </p:nvSpPr>
        <p:spPr bwMode="auto">
          <a:xfrm>
            <a:off x="6744072" y="4993414"/>
            <a:ext cx="91211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dirty="0"/>
              <a:t>Byte 63</a:t>
            </a:r>
          </a:p>
        </p:txBody>
      </p:sp>
      <p:sp>
        <p:nvSpPr>
          <p:cNvPr id="15418" name="Line 58"/>
          <p:cNvSpPr>
            <a:spLocks noChangeShapeType="1"/>
          </p:cNvSpPr>
          <p:nvPr/>
        </p:nvSpPr>
        <p:spPr bwMode="auto">
          <a:xfrm>
            <a:off x="7620000" y="50061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9" name="Rectangle 59"/>
          <p:cNvSpPr>
            <a:spLocks noChangeArrowheads="1"/>
          </p:cNvSpPr>
          <p:nvPr/>
        </p:nvSpPr>
        <p:spPr bwMode="auto">
          <a:xfrm rot="16200000">
            <a:off x="7871158" y="5048156"/>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5420" name="Rectangle 60"/>
          <p:cNvSpPr>
            <a:spLocks noChangeArrowheads="1"/>
          </p:cNvSpPr>
          <p:nvPr/>
        </p:nvSpPr>
        <p:spPr bwMode="auto">
          <a:xfrm>
            <a:off x="8748714" y="6517414"/>
            <a:ext cx="1025923"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Byte 992</a:t>
            </a:r>
          </a:p>
        </p:txBody>
      </p:sp>
      <p:sp>
        <p:nvSpPr>
          <p:cNvPr id="15421" name="Rectangle 61"/>
          <p:cNvSpPr>
            <a:spLocks noChangeArrowheads="1"/>
          </p:cNvSpPr>
          <p:nvPr/>
        </p:nvSpPr>
        <p:spPr bwMode="auto">
          <a:xfrm>
            <a:off x="6843714" y="6517414"/>
            <a:ext cx="113973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Byte 1023</a:t>
            </a:r>
          </a:p>
        </p:txBody>
      </p:sp>
      <p:sp>
        <p:nvSpPr>
          <p:cNvPr id="15422" name="Rectangle 62"/>
          <p:cNvSpPr>
            <a:spLocks noChangeArrowheads="1"/>
          </p:cNvSpPr>
          <p:nvPr/>
        </p:nvSpPr>
        <p:spPr bwMode="auto">
          <a:xfrm rot="16200000">
            <a:off x="8328358" y="6572156"/>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5423" name="Rectangle 63"/>
          <p:cNvSpPr>
            <a:spLocks noChangeArrowheads="1"/>
          </p:cNvSpPr>
          <p:nvPr/>
        </p:nvSpPr>
        <p:spPr bwMode="auto">
          <a:xfrm>
            <a:off x="3338514" y="4383814"/>
            <a:ext cx="1260731"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 Cache Tag</a:t>
            </a:r>
          </a:p>
        </p:txBody>
      </p:sp>
      <p:sp>
        <p:nvSpPr>
          <p:cNvPr id="15424" name="Line 64"/>
          <p:cNvSpPr>
            <a:spLocks noChangeShapeType="1"/>
          </p:cNvSpPr>
          <p:nvPr/>
        </p:nvSpPr>
        <p:spPr bwMode="auto">
          <a:xfrm>
            <a:off x="8382000" y="3101113"/>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5" name="Rectangle 65"/>
          <p:cNvSpPr>
            <a:spLocks noChangeArrowheads="1"/>
          </p:cNvSpPr>
          <p:nvPr/>
        </p:nvSpPr>
        <p:spPr bwMode="auto">
          <a:xfrm>
            <a:off x="8443914" y="3088414"/>
            <a:ext cx="128881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Byte Select</a:t>
            </a:r>
          </a:p>
        </p:txBody>
      </p:sp>
      <p:sp>
        <p:nvSpPr>
          <p:cNvPr id="15426" name="Rectangle 66"/>
          <p:cNvSpPr>
            <a:spLocks noChangeArrowheads="1"/>
          </p:cNvSpPr>
          <p:nvPr/>
        </p:nvSpPr>
        <p:spPr bwMode="auto">
          <a:xfrm>
            <a:off x="8596313" y="3393214"/>
            <a:ext cx="1014702"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Ex: 0x00</a:t>
            </a:r>
          </a:p>
        </p:txBody>
      </p:sp>
      <p:sp>
        <p:nvSpPr>
          <p:cNvPr id="15427" name="Rectangle 67"/>
          <p:cNvSpPr>
            <a:spLocks noChangeArrowheads="1"/>
          </p:cNvSpPr>
          <p:nvPr/>
        </p:nvSpPr>
        <p:spPr bwMode="auto">
          <a:xfrm>
            <a:off x="6767514" y="2783614"/>
            <a:ext cx="29655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a:t>9</a:t>
            </a:r>
          </a:p>
        </p:txBody>
      </p:sp>
      <p:sp>
        <p:nvSpPr>
          <p:cNvPr id="15428" name="Line 68"/>
          <p:cNvSpPr>
            <a:spLocks noChangeShapeType="1"/>
          </p:cNvSpPr>
          <p:nvPr/>
        </p:nvSpPr>
        <p:spPr bwMode="auto">
          <a:xfrm>
            <a:off x="7480300" y="4002813"/>
            <a:ext cx="279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29" name="Line 69"/>
          <p:cNvSpPr>
            <a:spLocks noChangeShapeType="1"/>
          </p:cNvSpPr>
          <p:nvPr/>
        </p:nvSpPr>
        <p:spPr bwMode="auto">
          <a:xfrm flipV="1">
            <a:off x="10287000" y="3990113"/>
            <a:ext cx="0" cy="1168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30" name="Line 70"/>
          <p:cNvSpPr>
            <a:spLocks noChangeShapeType="1"/>
          </p:cNvSpPr>
          <p:nvPr/>
        </p:nvSpPr>
        <p:spPr bwMode="auto">
          <a:xfrm flipV="1">
            <a:off x="7467600" y="3685313"/>
            <a:ext cx="0" cy="330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030506988"/>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CN" smtClean="0"/>
              <a:t>Two-way Set Associative Cache</a:t>
            </a:r>
            <a:endParaRPr lang="en-US" altLang="zh-CN"/>
          </a:p>
        </p:txBody>
      </p:sp>
      <p:sp>
        <p:nvSpPr>
          <p:cNvPr id="17411" name="Rectangle 3"/>
          <p:cNvSpPr>
            <a:spLocks noGrp="1" noChangeArrowheads="1"/>
          </p:cNvSpPr>
          <p:nvPr>
            <p:ph type="body" idx="1"/>
          </p:nvPr>
        </p:nvSpPr>
        <p:spPr/>
        <p:txBody>
          <a:bodyPr/>
          <a:lstStyle/>
          <a:p>
            <a:r>
              <a:rPr lang="en-US" altLang="zh-CN" sz="2400" dirty="0" smtClean="0"/>
              <a:t>N-way set associative: N entries for each Cache Index</a:t>
            </a:r>
          </a:p>
          <a:p>
            <a:pPr lvl="1"/>
            <a:r>
              <a:rPr lang="en-US" altLang="zh-CN" sz="2000" dirty="0" smtClean="0"/>
              <a:t>N direct mapped caches operates in parallel (N typically 2 to 4)</a:t>
            </a:r>
          </a:p>
          <a:p>
            <a:pPr lvl="1"/>
            <a:r>
              <a:rPr lang="en-US" altLang="zh-CN" sz="2000" dirty="0" smtClean="0"/>
              <a:t>Cache Index selects a Set from the cache</a:t>
            </a:r>
          </a:p>
          <a:p>
            <a:pPr lvl="1"/>
            <a:r>
              <a:rPr lang="en-US" altLang="zh-CN" sz="2000" dirty="0" smtClean="0"/>
              <a:t>The N (two) tags in the set are compared in parallel</a:t>
            </a:r>
          </a:p>
          <a:p>
            <a:pPr lvl="1"/>
            <a:r>
              <a:rPr lang="en-US" altLang="zh-CN" sz="2000" dirty="0" smtClean="0"/>
              <a:t>Data is selected based on the tag result</a:t>
            </a:r>
            <a:endParaRPr lang="en-US" altLang="zh-CN" sz="2000" dirty="0"/>
          </a:p>
        </p:txBody>
      </p:sp>
      <p:sp>
        <p:nvSpPr>
          <p:cNvPr id="17412" name="Rectangle 4"/>
          <p:cNvSpPr>
            <a:spLocks noChangeArrowheads="1"/>
          </p:cNvSpPr>
          <p:nvPr/>
        </p:nvSpPr>
        <p:spPr bwMode="auto">
          <a:xfrm>
            <a:off x="4152900" y="3759200"/>
            <a:ext cx="15748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3" name="Line 5"/>
          <p:cNvSpPr>
            <a:spLocks noChangeShapeType="1"/>
          </p:cNvSpPr>
          <p:nvPr/>
        </p:nvSpPr>
        <p:spPr bwMode="auto">
          <a:xfrm>
            <a:off x="4152900" y="4051300"/>
            <a:ext cx="1574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4" name="Line 6"/>
          <p:cNvSpPr>
            <a:spLocks noChangeShapeType="1"/>
          </p:cNvSpPr>
          <p:nvPr/>
        </p:nvSpPr>
        <p:spPr bwMode="auto">
          <a:xfrm>
            <a:off x="4152900" y="4660900"/>
            <a:ext cx="1574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5" name="Rectangle 7"/>
          <p:cNvSpPr>
            <a:spLocks noChangeArrowheads="1"/>
          </p:cNvSpPr>
          <p:nvPr/>
        </p:nvSpPr>
        <p:spPr bwMode="auto">
          <a:xfrm>
            <a:off x="4354514" y="3441701"/>
            <a:ext cx="1298433"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Data</a:t>
            </a:r>
          </a:p>
        </p:txBody>
      </p:sp>
      <p:sp>
        <p:nvSpPr>
          <p:cNvPr id="17416" name="Rectangle 8"/>
          <p:cNvSpPr>
            <a:spLocks noChangeArrowheads="1"/>
          </p:cNvSpPr>
          <p:nvPr/>
        </p:nvSpPr>
        <p:spPr bwMode="auto">
          <a:xfrm>
            <a:off x="4278313" y="3746501"/>
            <a:ext cx="1583768"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Block 0</a:t>
            </a:r>
          </a:p>
        </p:txBody>
      </p:sp>
      <p:sp>
        <p:nvSpPr>
          <p:cNvPr id="17417" name="Rectangle 9"/>
          <p:cNvSpPr>
            <a:spLocks noChangeArrowheads="1"/>
          </p:cNvSpPr>
          <p:nvPr/>
        </p:nvSpPr>
        <p:spPr bwMode="auto">
          <a:xfrm>
            <a:off x="2247900" y="3759200"/>
            <a:ext cx="17272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8" name="Line 10"/>
          <p:cNvSpPr>
            <a:spLocks noChangeShapeType="1"/>
          </p:cNvSpPr>
          <p:nvPr/>
        </p:nvSpPr>
        <p:spPr bwMode="auto">
          <a:xfrm flipH="1">
            <a:off x="2222500" y="4051300"/>
            <a:ext cx="1778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9" name="Line 11"/>
          <p:cNvSpPr>
            <a:spLocks noChangeShapeType="1"/>
          </p:cNvSpPr>
          <p:nvPr/>
        </p:nvSpPr>
        <p:spPr bwMode="auto">
          <a:xfrm flipH="1">
            <a:off x="2222500" y="4660900"/>
            <a:ext cx="1778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0" name="Rectangle 12"/>
          <p:cNvSpPr>
            <a:spLocks noChangeArrowheads="1"/>
          </p:cNvSpPr>
          <p:nvPr/>
        </p:nvSpPr>
        <p:spPr bwMode="auto">
          <a:xfrm>
            <a:off x="1866900" y="3759200"/>
            <a:ext cx="203200" cy="1193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1" name="Line 13"/>
          <p:cNvSpPr>
            <a:spLocks noChangeShapeType="1"/>
          </p:cNvSpPr>
          <p:nvPr/>
        </p:nvSpPr>
        <p:spPr bwMode="auto">
          <a:xfrm flipH="1">
            <a:off x="1841500" y="4051300"/>
            <a:ext cx="25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2" name="Line 14"/>
          <p:cNvSpPr>
            <a:spLocks noChangeShapeType="1"/>
          </p:cNvSpPr>
          <p:nvPr/>
        </p:nvSpPr>
        <p:spPr bwMode="auto">
          <a:xfrm flipH="1">
            <a:off x="1841500" y="4660900"/>
            <a:ext cx="254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23" name="Rectangle 15"/>
          <p:cNvSpPr>
            <a:spLocks noChangeArrowheads="1"/>
          </p:cNvSpPr>
          <p:nvPr/>
        </p:nvSpPr>
        <p:spPr bwMode="auto">
          <a:xfrm>
            <a:off x="2525714" y="3441701"/>
            <a:ext cx="1203023"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Tag</a:t>
            </a:r>
          </a:p>
        </p:txBody>
      </p:sp>
      <p:sp>
        <p:nvSpPr>
          <p:cNvPr id="17424" name="Rectangle 16"/>
          <p:cNvSpPr>
            <a:spLocks noChangeArrowheads="1"/>
          </p:cNvSpPr>
          <p:nvPr/>
        </p:nvSpPr>
        <p:spPr bwMode="auto">
          <a:xfrm>
            <a:off x="1611314" y="3441701"/>
            <a:ext cx="655637"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Valid</a:t>
            </a:r>
          </a:p>
        </p:txBody>
      </p:sp>
      <p:sp>
        <p:nvSpPr>
          <p:cNvPr id="17425" name="Rectangle 17"/>
          <p:cNvSpPr>
            <a:spLocks noChangeArrowheads="1"/>
          </p:cNvSpPr>
          <p:nvPr/>
        </p:nvSpPr>
        <p:spPr bwMode="auto">
          <a:xfrm>
            <a:off x="2982914" y="4113214"/>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7426" name="Rectangle 18"/>
          <p:cNvSpPr>
            <a:spLocks noChangeArrowheads="1"/>
          </p:cNvSpPr>
          <p:nvPr/>
        </p:nvSpPr>
        <p:spPr bwMode="auto">
          <a:xfrm>
            <a:off x="1839914" y="4113214"/>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7427" name="Rectangle 19"/>
          <p:cNvSpPr>
            <a:spLocks noChangeArrowheads="1"/>
          </p:cNvSpPr>
          <p:nvPr/>
        </p:nvSpPr>
        <p:spPr bwMode="auto">
          <a:xfrm>
            <a:off x="4811714" y="4113214"/>
            <a:ext cx="25968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grpSp>
        <p:nvGrpSpPr>
          <p:cNvPr id="17428" name="Group 20"/>
          <p:cNvGrpSpPr>
            <a:grpSpLocks/>
          </p:cNvGrpSpPr>
          <p:nvPr/>
        </p:nvGrpSpPr>
        <p:grpSpPr bwMode="auto">
          <a:xfrm>
            <a:off x="6473826" y="3441700"/>
            <a:ext cx="4143375" cy="1511300"/>
            <a:chOff x="3118" y="2168"/>
            <a:chExt cx="2610" cy="952"/>
          </a:xfrm>
        </p:grpSpPr>
        <p:sp>
          <p:nvSpPr>
            <p:cNvPr id="17429" name="Rectangle 21"/>
            <p:cNvSpPr>
              <a:spLocks noChangeArrowheads="1"/>
            </p:cNvSpPr>
            <p:nvPr/>
          </p:nvSpPr>
          <p:spPr bwMode="auto">
            <a:xfrm>
              <a:off x="3134" y="2368"/>
              <a:ext cx="992"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0" name="Line 22"/>
            <p:cNvSpPr>
              <a:spLocks noChangeShapeType="1"/>
            </p:cNvSpPr>
            <p:nvPr/>
          </p:nvSpPr>
          <p:spPr bwMode="auto">
            <a:xfrm flipH="1">
              <a:off x="3118" y="2552"/>
              <a:ext cx="10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1" name="Line 23"/>
            <p:cNvSpPr>
              <a:spLocks noChangeShapeType="1"/>
            </p:cNvSpPr>
            <p:nvPr/>
          </p:nvSpPr>
          <p:spPr bwMode="auto">
            <a:xfrm flipH="1">
              <a:off x="3118" y="2936"/>
              <a:ext cx="10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2" name="Rectangle 24"/>
            <p:cNvSpPr>
              <a:spLocks noChangeArrowheads="1"/>
            </p:cNvSpPr>
            <p:nvPr/>
          </p:nvSpPr>
          <p:spPr bwMode="auto">
            <a:xfrm flipH="1">
              <a:off x="3249" y="2168"/>
              <a:ext cx="81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Data</a:t>
              </a:r>
            </a:p>
          </p:txBody>
        </p:sp>
        <p:sp>
          <p:nvSpPr>
            <p:cNvPr id="17433" name="Rectangle 25"/>
            <p:cNvSpPr>
              <a:spLocks noChangeArrowheads="1"/>
            </p:cNvSpPr>
            <p:nvPr/>
          </p:nvSpPr>
          <p:spPr bwMode="auto">
            <a:xfrm flipH="1">
              <a:off x="3152" y="2360"/>
              <a:ext cx="99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Block 0</a:t>
              </a:r>
            </a:p>
          </p:txBody>
        </p:sp>
        <p:sp>
          <p:nvSpPr>
            <p:cNvPr id="17434" name="Rectangle 26"/>
            <p:cNvSpPr>
              <a:spLocks noChangeArrowheads="1"/>
            </p:cNvSpPr>
            <p:nvPr/>
          </p:nvSpPr>
          <p:spPr bwMode="auto">
            <a:xfrm>
              <a:off x="4238" y="2368"/>
              <a:ext cx="1088"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5" name="Line 27"/>
            <p:cNvSpPr>
              <a:spLocks noChangeShapeType="1"/>
            </p:cNvSpPr>
            <p:nvPr/>
          </p:nvSpPr>
          <p:spPr bwMode="auto">
            <a:xfrm>
              <a:off x="4238" y="2552"/>
              <a:ext cx="10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6" name="Line 28"/>
            <p:cNvSpPr>
              <a:spLocks noChangeShapeType="1"/>
            </p:cNvSpPr>
            <p:nvPr/>
          </p:nvSpPr>
          <p:spPr bwMode="auto">
            <a:xfrm>
              <a:off x="4238" y="2936"/>
              <a:ext cx="10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7" name="Rectangle 29"/>
            <p:cNvSpPr>
              <a:spLocks noChangeArrowheads="1"/>
            </p:cNvSpPr>
            <p:nvPr/>
          </p:nvSpPr>
          <p:spPr bwMode="auto">
            <a:xfrm>
              <a:off x="5438" y="2368"/>
              <a:ext cx="128"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8" name="Line 30"/>
            <p:cNvSpPr>
              <a:spLocks noChangeShapeType="1"/>
            </p:cNvSpPr>
            <p:nvPr/>
          </p:nvSpPr>
          <p:spPr bwMode="auto">
            <a:xfrm>
              <a:off x="5438" y="2552"/>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39" name="Line 31"/>
            <p:cNvSpPr>
              <a:spLocks noChangeShapeType="1"/>
            </p:cNvSpPr>
            <p:nvPr/>
          </p:nvSpPr>
          <p:spPr bwMode="auto">
            <a:xfrm>
              <a:off x="5438" y="2936"/>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0" name="Rectangle 32"/>
            <p:cNvSpPr>
              <a:spLocks noChangeArrowheads="1"/>
            </p:cNvSpPr>
            <p:nvPr/>
          </p:nvSpPr>
          <p:spPr bwMode="auto">
            <a:xfrm flipH="1">
              <a:off x="4451" y="2168"/>
              <a:ext cx="75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Tag</a:t>
              </a:r>
            </a:p>
          </p:txBody>
        </p:sp>
        <p:sp>
          <p:nvSpPr>
            <p:cNvPr id="17441" name="Rectangle 33"/>
            <p:cNvSpPr>
              <a:spLocks noChangeArrowheads="1"/>
            </p:cNvSpPr>
            <p:nvPr/>
          </p:nvSpPr>
          <p:spPr bwMode="auto">
            <a:xfrm flipH="1">
              <a:off x="5315" y="2168"/>
              <a:ext cx="41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Valid</a:t>
              </a:r>
            </a:p>
          </p:txBody>
        </p:sp>
        <p:sp>
          <p:nvSpPr>
            <p:cNvPr id="17442" name="Rectangle 34"/>
            <p:cNvSpPr>
              <a:spLocks noChangeArrowheads="1"/>
            </p:cNvSpPr>
            <p:nvPr/>
          </p:nvSpPr>
          <p:spPr bwMode="auto">
            <a:xfrm flipH="1">
              <a:off x="4685" y="2591"/>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7443" name="Rectangle 35"/>
            <p:cNvSpPr>
              <a:spLocks noChangeArrowheads="1"/>
            </p:cNvSpPr>
            <p:nvPr/>
          </p:nvSpPr>
          <p:spPr bwMode="auto">
            <a:xfrm flipH="1">
              <a:off x="5405" y="2591"/>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7444" name="Rectangle 36"/>
            <p:cNvSpPr>
              <a:spLocks noChangeArrowheads="1"/>
            </p:cNvSpPr>
            <p:nvPr/>
          </p:nvSpPr>
          <p:spPr bwMode="auto">
            <a:xfrm flipH="1">
              <a:off x="3533" y="2591"/>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grpSp>
      <p:sp>
        <p:nvSpPr>
          <p:cNvPr id="17445" name="Line 37"/>
          <p:cNvSpPr>
            <a:spLocks noChangeShapeType="1"/>
          </p:cNvSpPr>
          <p:nvPr/>
        </p:nvSpPr>
        <p:spPr bwMode="auto">
          <a:xfrm>
            <a:off x="6121400" y="3530600"/>
            <a:ext cx="0" cy="1270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6" name="Line 38"/>
          <p:cNvSpPr>
            <a:spLocks noChangeShapeType="1"/>
          </p:cNvSpPr>
          <p:nvPr/>
        </p:nvSpPr>
        <p:spPr bwMode="auto">
          <a:xfrm>
            <a:off x="5753100" y="4813300"/>
            <a:ext cx="7366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7" name="Rectangle 39"/>
          <p:cNvSpPr>
            <a:spLocks noChangeArrowheads="1"/>
          </p:cNvSpPr>
          <p:nvPr/>
        </p:nvSpPr>
        <p:spPr bwMode="auto">
          <a:xfrm>
            <a:off x="5649914" y="3213101"/>
            <a:ext cx="138980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Index</a:t>
            </a:r>
          </a:p>
        </p:txBody>
      </p:sp>
      <p:sp>
        <p:nvSpPr>
          <p:cNvPr id="17448" name="Rectangle 40"/>
          <p:cNvSpPr>
            <a:spLocks noChangeArrowheads="1"/>
          </p:cNvSpPr>
          <p:nvPr/>
        </p:nvSpPr>
        <p:spPr bwMode="auto">
          <a:xfrm>
            <a:off x="1790700" y="4521200"/>
            <a:ext cx="8661400" cy="508000"/>
          </a:xfrm>
          <a:prstGeom prst="rect">
            <a:avLst/>
          </a:prstGeom>
          <a:noFill/>
          <a:ln w="25400">
            <a:solidFill>
              <a:schemeClr val="accent1"/>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49" name="Line 41"/>
          <p:cNvSpPr>
            <a:spLocks noChangeShapeType="1"/>
          </p:cNvSpPr>
          <p:nvPr/>
        </p:nvSpPr>
        <p:spPr bwMode="auto">
          <a:xfrm>
            <a:off x="4914900" y="5422900"/>
            <a:ext cx="241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0" name="Line 42"/>
          <p:cNvSpPr>
            <a:spLocks noChangeShapeType="1"/>
          </p:cNvSpPr>
          <p:nvPr/>
        </p:nvSpPr>
        <p:spPr bwMode="auto">
          <a:xfrm>
            <a:off x="4914900" y="5435600"/>
            <a:ext cx="20320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1" name="Line 43"/>
          <p:cNvSpPr>
            <a:spLocks noChangeShapeType="1"/>
          </p:cNvSpPr>
          <p:nvPr/>
        </p:nvSpPr>
        <p:spPr bwMode="auto">
          <a:xfrm>
            <a:off x="5143500" y="5727700"/>
            <a:ext cx="1955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2" name="Line 44"/>
          <p:cNvSpPr>
            <a:spLocks noChangeShapeType="1"/>
          </p:cNvSpPr>
          <p:nvPr/>
        </p:nvSpPr>
        <p:spPr bwMode="auto">
          <a:xfrm flipH="1">
            <a:off x="7099300" y="5435600"/>
            <a:ext cx="25400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3" name="Rectangle 45"/>
          <p:cNvSpPr>
            <a:spLocks noChangeArrowheads="1"/>
          </p:cNvSpPr>
          <p:nvPr/>
        </p:nvSpPr>
        <p:spPr bwMode="auto">
          <a:xfrm>
            <a:off x="5878513" y="5422901"/>
            <a:ext cx="593112"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Mux</a:t>
            </a:r>
          </a:p>
        </p:txBody>
      </p:sp>
      <p:sp>
        <p:nvSpPr>
          <p:cNvPr id="17454" name="Line 46"/>
          <p:cNvSpPr>
            <a:spLocks noChangeShapeType="1"/>
          </p:cNvSpPr>
          <p:nvPr/>
        </p:nvSpPr>
        <p:spPr bwMode="auto">
          <a:xfrm>
            <a:off x="5511800" y="4826000"/>
            <a:ext cx="0" cy="584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5" name="Line 47"/>
          <p:cNvSpPr>
            <a:spLocks noChangeShapeType="1"/>
          </p:cNvSpPr>
          <p:nvPr/>
        </p:nvSpPr>
        <p:spPr bwMode="auto">
          <a:xfrm>
            <a:off x="6731000" y="4826000"/>
            <a:ext cx="0" cy="584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56" name="Rectangle 48"/>
          <p:cNvSpPr>
            <a:spLocks noChangeArrowheads="1"/>
          </p:cNvSpPr>
          <p:nvPr/>
        </p:nvSpPr>
        <p:spPr bwMode="auto">
          <a:xfrm>
            <a:off x="6564313" y="5370513"/>
            <a:ext cx="28213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0</a:t>
            </a:r>
          </a:p>
        </p:txBody>
      </p:sp>
      <p:sp>
        <p:nvSpPr>
          <p:cNvPr id="17457" name="Rectangle 49"/>
          <p:cNvSpPr>
            <a:spLocks noChangeArrowheads="1"/>
          </p:cNvSpPr>
          <p:nvPr/>
        </p:nvSpPr>
        <p:spPr bwMode="auto">
          <a:xfrm>
            <a:off x="5421313" y="5370513"/>
            <a:ext cx="28213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1</a:t>
            </a:r>
          </a:p>
        </p:txBody>
      </p:sp>
      <p:sp>
        <p:nvSpPr>
          <p:cNvPr id="17458" name="Rectangle 50"/>
          <p:cNvSpPr>
            <a:spLocks noChangeArrowheads="1"/>
          </p:cNvSpPr>
          <p:nvPr/>
        </p:nvSpPr>
        <p:spPr bwMode="auto">
          <a:xfrm>
            <a:off x="5040313" y="5446713"/>
            <a:ext cx="54181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Sel1</a:t>
            </a:r>
          </a:p>
        </p:txBody>
      </p:sp>
      <p:sp>
        <p:nvSpPr>
          <p:cNvPr id="17459" name="Rectangle 51"/>
          <p:cNvSpPr>
            <a:spLocks noChangeArrowheads="1"/>
          </p:cNvSpPr>
          <p:nvPr/>
        </p:nvSpPr>
        <p:spPr bwMode="auto">
          <a:xfrm>
            <a:off x="6716713" y="5446713"/>
            <a:ext cx="54181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Sel0</a:t>
            </a:r>
          </a:p>
        </p:txBody>
      </p:sp>
      <p:sp>
        <p:nvSpPr>
          <p:cNvPr id="17460" name="Line 52"/>
          <p:cNvSpPr>
            <a:spLocks noChangeShapeType="1"/>
          </p:cNvSpPr>
          <p:nvPr/>
        </p:nvSpPr>
        <p:spPr bwMode="auto">
          <a:xfrm>
            <a:off x="6121400" y="5740400"/>
            <a:ext cx="0" cy="736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1" name="Rectangle 53"/>
          <p:cNvSpPr>
            <a:spLocks noChangeArrowheads="1"/>
          </p:cNvSpPr>
          <p:nvPr/>
        </p:nvSpPr>
        <p:spPr bwMode="auto">
          <a:xfrm>
            <a:off x="6183314" y="6184901"/>
            <a:ext cx="141224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Block</a:t>
            </a:r>
          </a:p>
        </p:txBody>
      </p:sp>
      <p:sp>
        <p:nvSpPr>
          <p:cNvPr id="17462" name="Oval 54"/>
          <p:cNvSpPr>
            <a:spLocks noChangeArrowheads="1"/>
          </p:cNvSpPr>
          <p:nvPr/>
        </p:nvSpPr>
        <p:spPr bwMode="auto">
          <a:xfrm>
            <a:off x="2933700" y="5283200"/>
            <a:ext cx="889000" cy="4318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63" name="Group 55"/>
          <p:cNvGrpSpPr>
            <a:grpSpLocks/>
          </p:cNvGrpSpPr>
          <p:nvPr/>
        </p:nvGrpSpPr>
        <p:grpSpPr bwMode="auto">
          <a:xfrm>
            <a:off x="4051300" y="5422900"/>
            <a:ext cx="990600" cy="458788"/>
            <a:chOff x="1592" y="3416"/>
            <a:chExt cx="624" cy="289"/>
          </a:xfrm>
        </p:grpSpPr>
        <p:grpSp>
          <p:nvGrpSpPr>
            <p:cNvPr id="17464" name="Group 56"/>
            <p:cNvGrpSpPr>
              <a:grpSpLocks/>
            </p:cNvGrpSpPr>
            <p:nvPr/>
          </p:nvGrpSpPr>
          <p:grpSpPr bwMode="auto">
            <a:xfrm>
              <a:off x="1736" y="3416"/>
              <a:ext cx="480" cy="289"/>
              <a:chOff x="1736" y="3416"/>
              <a:chExt cx="480" cy="289"/>
            </a:xfrm>
          </p:grpSpPr>
          <p:sp>
            <p:nvSpPr>
              <p:cNvPr id="17465" name="Arc 57"/>
              <p:cNvSpPr>
                <a:spLocks/>
              </p:cNvSpPr>
              <p:nvPr/>
            </p:nvSpPr>
            <p:spPr bwMode="auto">
              <a:xfrm>
                <a:off x="1864" y="3425"/>
                <a:ext cx="192" cy="1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6" name="Arc 58"/>
              <p:cNvSpPr>
                <a:spLocks/>
              </p:cNvSpPr>
              <p:nvPr/>
            </p:nvSpPr>
            <p:spPr bwMode="auto">
              <a:xfrm rot="10800000">
                <a:off x="1873" y="3569"/>
                <a:ext cx="192" cy="136"/>
              </a:xfrm>
              <a:custGeom>
                <a:avLst/>
                <a:gdLst>
                  <a:gd name="G0" fmla="+- 21600 0 0"/>
                  <a:gd name="G1" fmla="+- 21600 0 0"/>
                  <a:gd name="G2" fmla="+- 21600 0 0"/>
                  <a:gd name="T0" fmla="*/ 0 w 21600"/>
                  <a:gd name="T1" fmla="*/ 21600 h 21600"/>
                  <a:gd name="T2" fmla="*/ 21488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14"/>
                      <a:pt x="9602" y="61"/>
                      <a:pt x="21488" y="0"/>
                    </a:cubicBezTo>
                  </a:path>
                  <a:path w="21600" h="21600" stroke="0" extrusionOk="0">
                    <a:moveTo>
                      <a:pt x="0" y="21599"/>
                    </a:moveTo>
                    <a:cubicBezTo>
                      <a:pt x="0" y="9714"/>
                      <a:pt x="9602" y="61"/>
                      <a:pt x="21488" y="0"/>
                    </a:cubicBezTo>
                    <a:lnTo>
                      <a:pt x="2160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7" name="Line 59"/>
              <p:cNvSpPr>
                <a:spLocks noChangeShapeType="1"/>
              </p:cNvSpPr>
              <p:nvPr/>
            </p:nvSpPr>
            <p:spPr bwMode="auto">
              <a:xfrm flipH="1">
                <a:off x="1736" y="3416"/>
                <a:ext cx="13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8" name="Line 60"/>
              <p:cNvSpPr>
                <a:spLocks noChangeShapeType="1"/>
              </p:cNvSpPr>
              <p:nvPr/>
            </p:nvSpPr>
            <p:spPr bwMode="auto">
              <a:xfrm>
                <a:off x="1744" y="3424"/>
                <a:ext cx="0" cy="27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69" name="Line 61"/>
              <p:cNvSpPr>
                <a:spLocks noChangeShapeType="1"/>
              </p:cNvSpPr>
              <p:nvPr/>
            </p:nvSpPr>
            <p:spPr bwMode="auto">
              <a:xfrm flipH="1">
                <a:off x="1736" y="3704"/>
                <a:ext cx="13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0" name="Line 62"/>
              <p:cNvSpPr>
                <a:spLocks noChangeShapeType="1"/>
              </p:cNvSpPr>
              <p:nvPr/>
            </p:nvSpPr>
            <p:spPr bwMode="auto">
              <a:xfrm>
                <a:off x="2072" y="3560"/>
                <a:ext cx="14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71" name="Line 63"/>
            <p:cNvSpPr>
              <a:spLocks noChangeShapeType="1"/>
            </p:cNvSpPr>
            <p:nvPr/>
          </p:nvSpPr>
          <p:spPr bwMode="auto">
            <a:xfrm flipH="1">
              <a:off x="1592" y="3464"/>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2" name="Line 64"/>
            <p:cNvSpPr>
              <a:spLocks noChangeShapeType="1"/>
            </p:cNvSpPr>
            <p:nvPr/>
          </p:nvSpPr>
          <p:spPr bwMode="auto">
            <a:xfrm flipH="1">
              <a:off x="1592" y="3656"/>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73" name="Rectangle 65"/>
          <p:cNvSpPr>
            <a:spLocks noChangeArrowheads="1"/>
          </p:cNvSpPr>
          <p:nvPr/>
        </p:nvSpPr>
        <p:spPr bwMode="auto">
          <a:xfrm>
            <a:off x="2906714" y="5346701"/>
            <a:ext cx="1070807"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Compare</a:t>
            </a:r>
          </a:p>
        </p:txBody>
      </p:sp>
      <p:sp>
        <p:nvSpPr>
          <p:cNvPr id="17474" name="Line 66"/>
          <p:cNvSpPr>
            <a:spLocks noChangeShapeType="1"/>
          </p:cNvSpPr>
          <p:nvPr/>
        </p:nvSpPr>
        <p:spPr bwMode="auto">
          <a:xfrm>
            <a:off x="3848100" y="5499100"/>
            <a:ext cx="203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5" name="Line 67"/>
          <p:cNvSpPr>
            <a:spLocks noChangeShapeType="1"/>
          </p:cNvSpPr>
          <p:nvPr/>
        </p:nvSpPr>
        <p:spPr bwMode="auto">
          <a:xfrm flipH="1">
            <a:off x="1993900" y="5803900"/>
            <a:ext cx="2082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6" name="Line 68"/>
          <p:cNvSpPr>
            <a:spLocks noChangeShapeType="1"/>
          </p:cNvSpPr>
          <p:nvPr/>
        </p:nvSpPr>
        <p:spPr bwMode="auto">
          <a:xfrm>
            <a:off x="2006600" y="4826000"/>
            <a:ext cx="0" cy="965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7" name="Line 69"/>
          <p:cNvSpPr>
            <a:spLocks noChangeShapeType="1"/>
          </p:cNvSpPr>
          <p:nvPr/>
        </p:nvSpPr>
        <p:spPr bwMode="auto">
          <a:xfrm>
            <a:off x="3378200" y="4826000"/>
            <a:ext cx="0" cy="584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8" name="Line 70"/>
          <p:cNvSpPr>
            <a:spLocks noChangeShapeType="1"/>
          </p:cNvSpPr>
          <p:nvPr/>
        </p:nvSpPr>
        <p:spPr bwMode="auto">
          <a:xfrm flipH="1">
            <a:off x="2146300" y="5499100"/>
            <a:ext cx="7874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79" name="Rectangle 71"/>
          <p:cNvSpPr>
            <a:spLocks noChangeArrowheads="1"/>
          </p:cNvSpPr>
          <p:nvPr/>
        </p:nvSpPr>
        <p:spPr bwMode="auto">
          <a:xfrm>
            <a:off x="2068513" y="5194301"/>
            <a:ext cx="941734"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Adr Tag</a:t>
            </a:r>
          </a:p>
        </p:txBody>
      </p:sp>
      <p:grpSp>
        <p:nvGrpSpPr>
          <p:cNvPr id="17480" name="Group 72"/>
          <p:cNvGrpSpPr>
            <a:grpSpLocks/>
          </p:cNvGrpSpPr>
          <p:nvPr/>
        </p:nvGrpSpPr>
        <p:grpSpPr bwMode="auto">
          <a:xfrm>
            <a:off x="7175500" y="4826000"/>
            <a:ext cx="3060700" cy="1055688"/>
            <a:chOff x="3560" y="3040"/>
            <a:chExt cx="1928" cy="665"/>
          </a:xfrm>
        </p:grpSpPr>
        <p:sp>
          <p:nvSpPr>
            <p:cNvPr id="17481" name="Oval 73"/>
            <p:cNvSpPr>
              <a:spLocks noChangeArrowheads="1"/>
            </p:cNvSpPr>
            <p:nvPr/>
          </p:nvSpPr>
          <p:spPr bwMode="auto">
            <a:xfrm>
              <a:off x="4344" y="3328"/>
              <a:ext cx="560" cy="272"/>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482" name="Group 74"/>
            <p:cNvGrpSpPr>
              <a:grpSpLocks/>
            </p:cNvGrpSpPr>
            <p:nvPr/>
          </p:nvGrpSpPr>
          <p:grpSpPr bwMode="auto">
            <a:xfrm>
              <a:off x="3560" y="3416"/>
              <a:ext cx="624" cy="289"/>
              <a:chOff x="3560" y="3416"/>
              <a:chExt cx="624" cy="289"/>
            </a:xfrm>
          </p:grpSpPr>
          <p:grpSp>
            <p:nvGrpSpPr>
              <p:cNvPr id="17483" name="Group 75"/>
              <p:cNvGrpSpPr>
                <a:grpSpLocks/>
              </p:cNvGrpSpPr>
              <p:nvPr/>
            </p:nvGrpSpPr>
            <p:grpSpPr bwMode="auto">
              <a:xfrm>
                <a:off x="3560" y="3416"/>
                <a:ext cx="488" cy="289"/>
                <a:chOff x="3560" y="3416"/>
                <a:chExt cx="488" cy="289"/>
              </a:xfrm>
            </p:grpSpPr>
            <p:sp>
              <p:nvSpPr>
                <p:cNvPr id="17484" name="Arc 76"/>
                <p:cNvSpPr>
                  <a:spLocks/>
                </p:cNvSpPr>
                <p:nvPr/>
              </p:nvSpPr>
              <p:spPr bwMode="auto">
                <a:xfrm>
                  <a:off x="3737" y="3425"/>
                  <a:ext cx="192" cy="136"/>
                </a:xfrm>
                <a:custGeom>
                  <a:avLst/>
                  <a:gdLst>
                    <a:gd name="G0" fmla="+- 21600 0 0"/>
                    <a:gd name="G1" fmla="+- 21600 0 0"/>
                    <a:gd name="G2" fmla="+- 21600 0 0"/>
                    <a:gd name="T0" fmla="*/ 0 w 21600"/>
                    <a:gd name="T1" fmla="*/ 21600 h 21600"/>
                    <a:gd name="T2" fmla="*/ 21488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14"/>
                        <a:pt x="9602" y="61"/>
                        <a:pt x="21488" y="0"/>
                      </a:cubicBezTo>
                    </a:path>
                    <a:path w="21600" h="21600" stroke="0" extrusionOk="0">
                      <a:moveTo>
                        <a:pt x="0" y="21599"/>
                      </a:moveTo>
                      <a:cubicBezTo>
                        <a:pt x="0" y="9714"/>
                        <a:pt x="9602" y="61"/>
                        <a:pt x="21488" y="0"/>
                      </a:cubicBezTo>
                      <a:lnTo>
                        <a:pt x="2160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5" name="Arc 77"/>
                <p:cNvSpPr>
                  <a:spLocks/>
                </p:cNvSpPr>
                <p:nvPr/>
              </p:nvSpPr>
              <p:spPr bwMode="auto">
                <a:xfrm rot="10800000">
                  <a:off x="3728" y="3569"/>
                  <a:ext cx="192" cy="1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6" name="Line 78"/>
                <p:cNvSpPr>
                  <a:spLocks noChangeShapeType="1"/>
                </p:cNvSpPr>
                <p:nvPr/>
              </p:nvSpPr>
              <p:spPr bwMode="auto">
                <a:xfrm>
                  <a:off x="3936" y="3416"/>
                  <a:ext cx="10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7" name="Line 79"/>
                <p:cNvSpPr>
                  <a:spLocks noChangeShapeType="1"/>
                </p:cNvSpPr>
                <p:nvPr/>
              </p:nvSpPr>
              <p:spPr bwMode="auto">
                <a:xfrm>
                  <a:off x="4048" y="3424"/>
                  <a:ext cx="0" cy="27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8" name="Line 80"/>
                <p:cNvSpPr>
                  <a:spLocks noChangeShapeType="1"/>
                </p:cNvSpPr>
                <p:nvPr/>
              </p:nvSpPr>
              <p:spPr bwMode="auto">
                <a:xfrm>
                  <a:off x="3936" y="3704"/>
                  <a:ext cx="10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89" name="Line 81"/>
                <p:cNvSpPr>
                  <a:spLocks noChangeShapeType="1"/>
                </p:cNvSpPr>
                <p:nvPr/>
              </p:nvSpPr>
              <p:spPr bwMode="auto">
                <a:xfrm flipH="1">
                  <a:off x="3560" y="3560"/>
                  <a:ext cx="17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90" name="Line 82"/>
              <p:cNvSpPr>
                <a:spLocks noChangeShapeType="1"/>
              </p:cNvSpPr>
              <p:nvPr/>
            </p:nvSpPr>
            <p:spPr bwMode="auto">
              <a:xfrm>
                <a:off x="4056" y="3464"/>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1" name="Line 83"/>
              <p:cNvSpPr>
                <a:spLocks noChangeShapeType="1"/>
              </p:cNvSpPr>
              <p:nvPr/>
            </p:nvSpPr>
            <p:spPr bwMode="auto">
              <a:xfrm>
                <a:off x="4056" y="3656"/>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92" name="Rectangle 84"/>
            <p:cNvSpPr>
              <a:spLocks noChangeArrowheads="1"/>
            </p:cNvSpPr>
            <p:nvPr/>
          </p:nvSpPr>
          <p:spPr bwMode="auto">
            <a:xfrm flipH="1">
              <a:off x="4296" y="3368"/>
              <a:ext cx="675"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Compare</a:t>
              </a:r>
            </a:p>
          </p:txBody>
        </p:sp>
        <p:sp>
          <p:nvSpPr>
            <p:cNvPr id="17493" name="Line 85"/>
            <p:cNvSpPr>
              <a:spLocks noChangeShapeType="1"/>
            </p:cNvSpPr>
            <p:nvPr/>
          </p:nvSpPr>
          <p:spPr bwMode="auto">
            <a:xfrm flipH="1">
              <a:off x="4184" y="3464"/>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4" name="Line 86"/>
            <p:cNvSpPr>
              <a:spLocks noChangeShapeType="1"/>
            </p:cNvSpPr>
            <p:nvPr/>
          </p:nvSpPr>
          <p:spPr bwMode="auto">
            <a:xfrm>
              <a:off x="4200" y="3656"/>
              <a:ext cx="12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5" name="Line 87"/>
            <p:cNvSpPr>
              <a:spLocks noChangeShapeType="1"/>
            </p:cNvSpPr>
            <p:nvPr/>
          </p:nvSpPr>
          <p:spPr bwMode="auto">
            <a:xfrm>
              <a:off x="5488" y="3040"/>
              <a:ext cx="0" cy="6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6" name="Line 88"/>
            <p:cNvSpPr>
              <a:spLocks noChangeShapeType="1"/>
            </p:cNvSpPr>
            <p:nvPr/>
          </p:nvSpPr>
          <p:spPr bwMode="auto">
            <a:xfrm>
              <a:off x="4624" y="3040"/>
              <a:ext cx="0" cy="36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7" name="Line 89"/>
            <p:cNvSpPr>
              <a:spLocks noChangeShapeType="1"/>
            </p:cNvSpPr>
            <p:nvPr/>
          </p:nvSpPr>
          <p:spPr bwMode="auto">
            <a:xfrm>
              <a:off x="4920" y="3464"/>
              <a:ext cx="464"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498" name="Oval 90"/>
          <p:cNvSpPr>
            <a:spLocks noChangeArrowheads="1"/>
          </p:cNvSpPr>
          <p:nvPr/>
        </p:nvSpPr>
        <p:spPr bwMode="auto">
          <a:xfrm>
            <a:off x="5143500" y="5816600"/>
            <a:ext cx="431800" cy="4318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99" name="Rectangle 91"/>
          <p:cNvSpPr>
            <a:spLocks noChangeArrowheads="1"/>
          </p:cNvSpPr>
          <p:nvPr/>
        </p:nvSpPr>
        <p:spPr bwMode="auto">
          <a:xfrm>
            <a:off x="5116513" y="5880101"/>
            <a:ext cx="490520"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OR</a:t>
            </a:r>
          </a:p>
        </p:txBody>
      </p:sp>
      <p:sp>
        <p:nvSpPr>
          <p:cNvPr id="17500" name="Line 92"/>
          <p:cNvSpPr>
            <a:spLocks noChangeShapeType="1"/>
          </p:cNvSpPr>
          <p:nvPr/>
        </p:nvSpPr>
        <p:spPr bwMode="auto">
          <a:xfrm>
            <a:off x="4902200" y="5664200"/>
            <a:ext cx="0" cy="355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1" name="Line 93"/>
          <p:cNvSpPr>
            <a:spLocks noChangeShapeType="1"/>
          </p:cNvSpPr>
          <p:nvPr/>
        </p:nvSpPr>
        <p:spPr bwMode="auto">
          <a:xfrm>
            <a:off x="4914900" y="6032500"/>
            <a:ext cx="203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2" name="Line 94"/>
          <p:cNvSpPr>
            <a:spLocks noChangeShapeType="1"/>
          </p:cNvSpPr>
          <p:nvPr/>
        </p:nvSpPr>
        <p:spPr bwMode="auto">
          <a:xfrm>
            <a:off x="7264400" y="5664200"/>
            <a:ext cx="0" cy="355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3" name="Line 95"/>
          <p:cNvSpPr>
            <a:spLocks noChangeShapeType="1"/>
          </p:cNvSpPr>
          <p:nvPr/>
        </p:nvSpPr>
        <p:spPr bwMode="auto">
          <a:xfrm>
            <a:off x="5600700" y="6032500"/>
            <a:ext cx="1651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4" name="Line 96"/>
          <p:cNvSpPr>
            <a:spLocks noChangeShapeType="1"/>
          </p:cNvSpPr>
          <p:nvPr/>
        </p:nvSpPr>
        <p:spPr bwMode="auto">
          <a:xfrm>
            <a:off x="5359400" y="6273800"/>
            <a:ext cx="0" cy="355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05" name="Rectangle 97"/>
          <p:cNvSpPr>
            <a:spLocks noChangeArrowheads="1"/>
          </p:cNvSpPr>
          <p:nvPr/>
        </p:nvSpPr>
        <p:spPr bwMode="auto">
          <a:xfrm>
            <a:off x="4887914" y="6337301"/>
            <a:ext cx="465137"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Hit</a:t>
            </a:r>
          </a:p>
        </p:txBody>
      </p:sp>
    </p:spTree>
    <p:extLst>
      <p:ext uri="{BB962C8B-B14F-4D97-AF65-F5344CB8AC3E}">
        <p14:creationId xmlns:p14="http://schemas.microsoft.com/office/powerpoint/2010/main" val="1701313009"/>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zh-CN" smtClean="0"/>
              <a:t>Disadvantage of Set Associative Cache</a:t>
            </a:r>
            <a:endParaRPr lang="en-US" altLang="zh-CN"/>
          </a:p>
        </p:txBody>
      </p:sp>
      <p:sp>
        <p:nvSpPr>
          <p:cNvPr id="19459" name="Rectangle 3"/>
          <p:cNvSpPr>
            <a:spLocks noGrp="1" noChangeArrowheads="1"/>
          </p:cNvSpPr>
          <p:nvPr>
            <p:ph type="body" idx="1"/>
          </p:nvPr>
        </p:nvSpPr>
        <p:spPr>
          <a:xfrm>
            <a:off x="838200" y="1556792"/>
            <a:ext cx="11018440" cy="5112568"/>
          </a:xfrm>
        </p:spPr>
        <p:txBody>
          <a:bodyPr/>
          <a:lstStyle/>
          <a:p>
            <a:r>
              <a:rPr lang="en-US" altLang="zh-CN" sz="2400" dirty="0" smtClean="0"/>
              <a:t>N-way Set Associative Cache v. Direct Mapped Cache:</a:t>
            </a:r>
          </a:p>
          <a:p>
            <a:pPr lvl="1"/>
            <a:r>
              <a:rPr lang="en-US" altLang="zh-CN" sz="2000" dirty="0" smtClean="0"/>
              <a:t>N comparators vs. 1; Extra MUX delay for the data</a:t>
            </a:r>
          </a:p>
          <a:p>
            <a:pPr lvl="1"/>
            <a:r>
              <a:rPr lang="en-US" altLang="zh-CN" sz="2000" dirty="0" smtClean="0"/>
              <a:t>Data comes AFTER Hit/Miss</a:t>
            </a:r>
          </a:p>
          <a:p>
            <a:r>
              <a:rPr lang="en-US" altLang="zh-CN" sz="2400" dirty="0"/>
              <a:t>D</a:t>
            </a:r>
            <a:r>
              <a:rPr lang="en-US" altLang="zh-CN" sz="2400" dirty="0" smtClean="0"/>
              <a:t>irect mapped cache, Cache Block is available BEFORE Hit/Miss:</a:t>
            </a:r>
          </a:p>
          <a:p>
            <a:pPr lvl="1"/>
            <a:r>
              <a:rPr lang="en-US" altLang="zh-CN" sz="2000" dirty="0" smtClean="0"/>
              <a:t>Possible to assume a hit and continue.  Recover later if miss.</a:t>
            </a:r>
            <a:endParaRPr lang="en-US" altLang="zh-CN" sz="2000" dirty="0"/>
          </a:p>
        </p:txBody>
      </p:sp>
      <p:grpSp>
        <p:nvGrpSpPr>
          <p:cNvPr id="19460" name="Group 4"/>
          <p:cNvGrpSpPr>
            <a:grpSpLocks/>
          </p:cNvGrpSpPr>
          <p:nvPr/>
        </p:nvGrpSpPr>
        <p:grpSpPr bwMode="auto">
          <a:xfrm>
            <a:off x="1585914" y="3368676"/>
            <a:ext cx="9005887" cy="3457575"/>
            <a:chOff x="39" y="2122"/>
            <a:chExt cx="5673" cy="2178"/>
          </a:xfrm>
        </p:grpSpPr>
        <p:grpSp>
          <p:nvGrpSpPr>
            <p:cNvPr id="19461" name="Group 5"/>
            <p:cNvGrpSpPr>
              <a:grpSpLocks/>
            </p:cNvGrpSpPr>
            <p:nvPr/>
          </p:nvGrpSpPr>
          <p:grpSpPr bwMode="auto">
            <a:xfrm>
              <a:off x="3102" y="2266"/>
              <a:ext cx="2610" cy="952"/>
              <a:chOff x="3102" y="2266"/>
              <a:chExt cx="2610" cy="952"/>
            </a:xfrm>
          </p:grpSpPr>
          <p:sp>
            <p:nvSpPr>
              <p:cNvPr id="19462" name="Rectangle 6"/>
              <p:cNvSpPr>
                <a:spLocks noChangeArrowheads="1"/>
              </p:cNvSpPr>
              <p:nvPr/>
            </p:nvSpPr>
            <p:spPr bwMode="auto">
              <a:xfrm>
                <a:off x="3118" y="2466"/>
                <a:ext cx="992"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3" name="Line 7"/>
              <p:cNvSpPr>
                <a:spLocks noChangeShapeType="1"/>
              </p:cNvSpPr>
              <p:nvPr/>
            </p:nvSpPr>
            <p:spPr bwMode="auto">
              <a:xfrm flipH="1">
                <a:off x="3102" y="2650"/>
                <a:ext cx="10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4" name="Line 8"/>
              <p:cNvSpPr>
                <a:spLocks noChangeShapeType="1"/>
              </p:cNvSpPr>
              <p:nvPr/>
            </p:nvSpPr>
            <p:spPr bwMode="auto">
              <a:xfrm flipH="1">
                <a:off x="3102" y="3034"/>
                <a:ext cx="102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5" name="Rectangle 9"/>
              <p:cNvSpPr>
                <a:spLocks noChangeArrowheads="1"/>
              </p:cNvSpPr>
              <p:nvPr/>
            </p:nvSpPr>
            <p:spPr bwMode="auto">
              <a:xfrm flipH="1">
                <a:off x="3233" y="2266"/>
                <a:ext cx="81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Data</a:t>
                </a:r>
              </a:p>
            </p:txBody>
          </p:sp>
          <p:sp>
            <p:nvSpPr>
              <p:cNvPr id="19466" name="Rectangle 10"/>
              <p:cNvSpPr>
                <a:spLocks noChangeArrowheads="1"/>
              </p:cNvSpPr>
              <p:nvPr/>
            </p:nvSpPr>
            <p:spPr bwMode="auto">
              <a:xfrm flipH="1">
                <a:off x="3136" y="2458"/>
                <a:ext cx="99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Block 0</a:t>
                </a:r>
              </a:p>
            </p:txBody>
          </p:sp>
          <p:sp>
            <p:nvSpPr>
              <p:cNvPr id="19467" name="Rectangle 11"/>
              <p:cNvSpPr>
                <a:spLocks noChangeArrowheads="1"/>
              </p:cNvSpPr>
              <p:nvPr/>
            </p:nvSpPr>
            <p:spPr bwMode="auto">
              <a:xfrm>
                <a:off x="4222" y="2466"/>
                <a:ext cx="1088"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8" name="Line 12"/>
              <p:cNvSpPr>
                <a:spLocks noChangeShapeType="1"/>
              </p:cNvSpPr>
              <p:nvPr/>
            </p:nvSpPr>
            <p:spPr bwMode="auto">
              <a:xfrm>
                <a:off x="4222" y="2650"/>
                <a:ext cx="10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9" name="Line 13"/>
              <p:cNvSpPr>
                <a:spLocks noChangeShapeType="1"/>
              </p:cNvSpPr>
              <p:nvPr/>
            </p:nvSpPr>
            <p:spPr bwMode="auto">
              <a:xfrm>
                <a:off x="4222" y="3034"/>
                <a:ext cx="108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0" name="Rectangle 14"/>
              <p:cNvSpPr>
                <a:spLocks noChangeArrowheads="1"/>
              </p:cNvSpPr>
              <p:nvPr/>
            </p:nvSpPr>
            <p:spPr bwMode="auto">
              <a:xfrm>
                <a:off x="5422" y="2466"/>
                <a:ext cx="128"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1" name="Line 15"/>
              <p:cNvSpPr>
                <a:spLocks noChangeShapeType="1"/>
              </p:cNvSpPr>
              <p:nvPr/>
            </p:nvSpPr>
            <p:spPr bwMode="auto">
              <a:xfrm>
                <a:off x="5422" y="2650"/>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Line 16"/>
              <p:cNvSpPr>
                <a:spLocks noChangeShapeType="1"/>
              </p:cNvSpPr>
              <p:nvPr/>
            </p:nvSpPr>
            <p:spPr bwMode="auto">
              <a:xfrm>
                <a:off x="5422" y="3034"/>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3" name="Rectangle 17"/>
              <p:cNvSpPr>
                <a:spLocks noChangeArrowheads="1"/>
              </p:cNvSpPr>
              <p:nvPr/>
            </p:nvSpPr>
            <p:spPr bwMode="auto">
              <a:xfrm flipH="1">
                <a:off x="4435" y="2266"/>
                <a:ext cx="75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Tag</a:t>
                </a:r>
              </a:p>
            </p:txBody>
          </p:sp>
          <p:sp>
            <p:nvSpPr>
              <p:cNvPr id="19474" name="Rectangle 18"/>
              <p:cNvSpPr>
                <a:spLocks noChangeArrowheads="1"/>
              </p:cNvSpPr>
              <p:nvPr/>
            </p:nvSpPr>
            <p:spPr bwMode="auto">
              <a:xfrm flipH="1">
                <a:off x="5299" y="2266"/>
                <a:ext cx="41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Valid</a:t>
                </a:r>
              </a:p>
            </p:txBody>
          </p:sp>
          <p:sp>
            <p:nvSpPr>
              <p:cNvPr id="19475" name="Rectangle 19"/>
              <p:cNvSpPr>
                <a:spLocks noChangeArrowheads="1"/>
              </p:cNvSpPr>
              <p:nvPr/>
            </p:nvSpPr>
            <p:spPr bwMode="auto">
              <a:xfrm flipH="1">
                <a:off x="4669" y="2689"/>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9476" name="Rectangle 20"/>
              <p:cNvSpPr>
                <a:spLocks noChangeArrowheads="1"/>
              </p:cNvSpPr>
              <p:nvPr/>
            </p:nvSpPr>
            <p:spPr bwMode="auto">
              <a:xfrm flipH="1">
                <a:off x="5389" y="2689"/>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9477" name="Rectangle 21"/>
              <p:cNvSpPr>
                <a:spLocks noChangeArrowheads="1"/>
              </p:cNvSpPr>
              <p:nvPr/>
            </p:nvSpPr>
            <p:spPr bwMode="auto">
              <a:xfrm flipH="1">
                <a:off x="3517" y="2689"/>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grpSp>
        <p:grpSp>
          <p:nvGrpSpPr>
            <p:cNvPr id="19478" name="Group 22"/>
            <p:cNvGrpSpPr>
              <a:grpSpLocks/>
            </p:cNvGrpSpPr>
            <p:nvPr/>
          </p:nvGrpSpPr>
          <p:grpSpPr bwMode="auto">
            <a:xfrm>
              <a:off x="39" y="2122"/>
              <a:ext cx="5569" cy="2178"/>
              <a:chOff x="39" y="2122"/>
              <a:chExt cx="5569" cy="2178"/>
            </a:xfrm>
          </p:grpSpPr>
          <p:sp>
            <p:nvSpPr>
              <p:cNvPr id="19479" name="Rectangle 23"/>
              <p:cNvSpPr>
                <a:spLocks noChangeArrowheads="1"/>
              </p:cNvSpPr>
              <p:nvPr/>
            </p:nvSpPr>
            <p:spPr bwMode="auto">
              <a:xfrm>
                <a:off x="1640" y="2466"/>
                <a:ext cx="992"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0" name="Line 24"/>
              <p:cNvSpPr>
                <a:spLocks noChangeShapeType="1"/>
              </p:cNvSpPr>
              <p:nvPr/>
            </p:nvSpPr>
            <p:spPr bwMode="auto">
              <a:xfrm>
                <a:off x="1640" y="2650"/>
                <a:ext cx="99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1" name="Line 25"/>
              <p:cNvSpPr>
                <a:spLocks noChangeShapeType="1"/>
              </p:cNvSpPr>
              <p:nvPr/>
            </p:nvSpPr>
            <p:spPr bwMode="auto">
              <a:xfrm>
                <a:off x="1640" y="3034"/>
                <a:ext cx="99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2" name="Rectangle 26"/>
              <p:cNvSpPr>
                <a:spLocks noChangeArrowheads="1"/>
              </p:cNvSpPr>
              <p:nvPr/>
            </p:nvSpPr>
            <p:spPr bwMode="auto">
              <a:xfrm>
                <a:off x="1767" y="2266"/>
                <a:ext cx="81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Data</a:t>
                </a:r>
              </a:p>
            </p:txBody>
          </p:sp>
          <p:sp>
            <p:nvSpPr>
              <p:cNvPr id="19483" name="Rectangle 27"/>
              <p:cNvSpPr>
                <a:spLocks noChangeArrowheads="1"/>
              </p:cNvSpPr>
              <p:nvPr/>
            </p:nvSpPr>
            <p:spPr bwMode="auto">
              <a:xfrm>
                <a:off x="1719" y="2458"/>
                <a:ext cx="99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Block 0</a:t>
                </a:r>
              </a:p>
            </p:txBody>
          </p:sp>
          <p:sp>
            <p:nvSpPr>
              <p:cNvPr id="19484" name="Rectangle 28"/>
              <p:cNvSpPr>
                <a:spLocks noChangeArrowheads="1"/>
              </p:cNvSpPr>
              <p:nvPr/>
            </p:nvSpPr>
            <p:spPr bwMode="auto">
              <a:xfrm>
                <a:off x="440" y="2466"/>
                <a:ext cx="1088"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5" name="Line 29"/>
              <p:cNvSpPr>
                <a:spLocks noChangeShapeType="1"/>
              </p:cNvSpPr>
              <p:nvPr/>
            </p:nvSpPr>
            <p:spPr bwMode="auto">
              <a:xfrm flipH="1">
                <a:off x="424" y="2650"/>
                <a:ext cx="11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6" name="Line 30"/>
              <p:cNvSpPr>
                <a:spLocks noChangeShapeType="1"/>
              </p:cNvSpPr>
              <p:nvPr/>
            </p:nvSpPr>
            <p:spPr bwMode="auto">
              <a:xfrm flipH="1">
                <a:off x="424" y="3034"/>
                <a:ext cx="11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7" name="Rectangle 31"/>
              <p:cNvSpPr>
                <a:spLocks noChangeArrowheads="1"/>
              </p:cNvSpPr>
              <p:nvPr/>
            </p:nvSpPr>
            <p:spPr bwMode="auto">
              <a:xfrm>
                <a:off x="200" y="2466"/>
                <a:ext cx="128" cy="75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8" name="Line 32"/>
              <p:cNvSpPr>
                <a:spLocks noChangeShapeType="1"/>
              </p:cNvSpPr>
              <p:nvPr/>
            </p:nvSpPr>
            <p:spPr bwMode="auto">
              <a:xfrm flipH="1">
                <a:off x="184" y="2650"/>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89" name="Line 33"/>
              <p:cNvSpPr>
                <a:spLocks noChangeShapeType="1"/>
              </p:cNvSpPr>
              <p:nvPr/>
            </p:nvSpPr>
            <p:spPr bwMode="auto">
              <a:xfrm flipH="1">
                <a:off x="184" y="3034"/>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0" name="Rectangle 34"/>
              <p:cNvSpPr>
                <a:spLocks noChangeArrowheads="1"/>
              </p:cNvSpPr>
              <p:nvPr/>
            </p:nvSpPr>
            <p:spPr bwMode="auto">
              <a:xfrm>
                <a:off x="615" y="2266"/>
                <a:ext cx="75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Tag</a:t>
                </a:r>
              </a:p>
            </p:txBody>
          </p:sp>
          <p:sp>
            <p:nvSpPr>
              <p:cNvPr id="19491" name="Rectangle 35"/>
              <p:cNvSpPr>
                <a:spLocks noChangeArrowheads="1"/>
              </p:cNvSpPr>
              <p:nvPr/>
            </p:nvSpPr>
            <p:spPr bwMode="auto">
              <a:xfrm>
                <a:off x="39" y="2266"/>
                <a:ext cx="41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Valid</a:t>
                </a:r>
              </a:p>
            </p:txBody>
          </p:sp>
          <p:sp>
            <p:nvSpPr>
              <p:cNvPr id="19492" name="Rectangle 36"/>
              <p:cNvSpPr>
                <a:spLocks noChangeArrowheads="1"/>
              </p:cNvSpPr>
              <p:nvPr/>
            </p:nvSpPr>
            <p:spPr bwMode="auto">
              <a:xfrm>
                <a:off x="903" y="2689"/>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9493" name="Rectangle 37"/>
              <p:cNvSpPr>
                <a:spLocks noChangeArrowheads="1"/>
              </p:cNvSpPr>
              <p:nvPr/>
            </p:nvSpPr>
            <p:spPr bwMode="auto">
              <a:xfrm>
                <a:off x="183" y="2689"/>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9494" name="Rectangle 38"/>
              <p:cNvSpPr>
                <a:spLocks noChangeArrowheads="1"/>
              </p:cNvSpPr>
              <p:nvPr/>
            </p:nvSpPr>
            <p:spPr bwMode="auto">
              <a:xfrm>
                <a:off x="2055" y="2689"/>
                <a:ext cx="16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b="1"/>
                  <a:t>:</a:t>
                </a:r>
              </a:p>
            </p:txBody>
          </p:sp>
          <p:sp>
            <p:nvSpPr>
              <p:cNvPr id="19495" name="Line 39"/>
              <p:cNvSpPr>
                <a:spLocks noChangeShapeType="1"/>
              </p:cNvSpPr>
              <p:nvPr/>
            </p:nvSpPr>
            <p:spPr bwMode="auto">
              <a:xfrm>
                <a:off x="2880" y="2322"/>
                <a:ext cx="0" cy="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6" name="Line 40"/>
              <p:cNvSpPr>
                <a:spLocks noChangeShapeType="1"/>
              </p:cNvSpPr>
              <p:nvPr/>
            </p:nvSpPr>
            <p:spPr bwMode="auto">
              <a:xfrm>
                <a:off x="2648" y="3130"/>
                <a:ext cx="464"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7" name="Rectangle 41"/>
              <p:cNvSpPr>
                <a:spLocks noChangeArrowheads="1"/>
              </p:cNvSpPr>
              <p:nvPr/>
            </p:nvSpPr>
            <p:spPr bwMode="auto">
              <a:xfrm>
                <a:off x="2583" y="2122"/>
                <a:ext cx="875"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Index</a:t>
                </a:r>
              </a:p>
            </p:txBody>
          </p:sp>
          <p:sp>
            <p:nvSpPr>
              <p:cNvPr id="19498" name="Rectangle 42"/>
              <p:cNvSpPr>
                <a:spLocks noChangeArrowheads="1"/>
              </p:cNvSpPr>
              <p:nvPr/>
            </p:nvSpPr>
            <p:spPr bwMode="auto">
              <a:xfrm>
                <a:off x="152" y="2946"/>
                <a:ext cx="5456" cy="320"/>
              </a:xfrm>
              <a:prstGeom prst="rect">
                <a:avLst/>
              </a:prstGeom>
              <a:noFill/>
              <a:ln w="25400">
                <a:solidFill>
                  <a:schemeClr val="accent1"/>
                </a:solidFill>
                <a:prstDash val="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99" name="Line 43"/>
              <p:cNvSpPr>
                <a:spLocks noChangeShapeType="1"/>
              </p:cNvSpPr>
              <p:nvPr/>
            </p:nvSpPr>
            <p:spPr bwMode="auto">
              <a:xfrm>
                <a:off x="2120" y="3514"/>
                <a:ext cx="152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0" name="Line 44"/>
              <p:cNvSpPr>
                <a:spLocks noChangeShapeType="1"/>
              </p:cNvSpPr>
              <p:nvPr/>
            </p:nvSpPr>
            <p:spPr bwMode="auto">
              <a:xfrm>
                <a:off x="2120" y="3522"/>
                <a:ext cx="128" cy="1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1" name="Line 45"/>
              <p:cNvSpPr>
                <a:spLocks noChangeShapeType="1"/>
              </p:cNvSpPr>
              <p:nvPr/>
            </p:nvSpPr>
            <p:spPr bwMode="auto">
              <a:xfrm>
                <a:off x="2264" y="3706"/>
                <a:ext cx="123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2" name="Line 46"/>
              <p:cNvSpPr>
                <a:spLocks noChangeShapeType="1"/>
              </p:cNvSpPr>
              <p:nvPr/>
            </p:nvSpPr>
            <p:spPr bwMode="auto">
              <a:xfrm flipH="1">
                <a:off x="3496" y="3522"/>
                <a:ext cx="160" cy="1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3" name="Rectangle 47"/>
              <p:cNvSpPr>
                <a:spLocks noChangeArrowheads="1"/>
              </p:cNvSpPr>
              <p:nvPr/>
            </p:nvSpPr>
            <p:spPr bwMode="auto">
              <a:xfrm>
                <a:off x="2727" y="3514"/>
                <a:ext cx="374"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Mux</a:t>
                </a:r>
              </a:p>
            </p:txBody>
          </p:sp>
          <p:sp>
            <p:nvSpPr>
              <p:cNvPr id="19504" name="Line 48"/>
              <p:cNvSpPr>
                <a:spLocks noChangeShapeType="1"/>
              </p:cNvSpPr>
              <p:nvPr/>
            </p:nvSpPr>
            <p:spPr bwMode="auto">
              <a:xfrm>
                <a:off x="2496" y="3138"/>
                <a:ext cx="0" cy="36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5" name="Line 49"/>
              <p:cNvSpPr>
                <a:spLocks noChangeShapeType="1"/>
              </p:cNvSpPr>
              <p:nvPr/>
            </p:nvSpPr>
            <p:spPr bwMode="auto">
              <a:xfrm>
                <a:off x="3264" y="3138"/>
                <a:ext cx="0" cy="36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06" name="Rectangle 50"/>
              <p:cNvSpPr>
                <a:spLocks noChangeArrowheads="1"/>
              </p:cNvSpPr>
              <p:nvPr/>
            </p:nvSpPr>
            <p:spPr bwMode="auto">
              <a:xfrm>
                <a:off x="3159" y="3481"/>
                <a:ext cx="178"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0</a:t>
                </a:r>
              </a:p>
            </p:txBody>
          </p:sp>
          <p:sp>
            <p:nvSpPr>
              <p:cNvPr id="19507" name="Rectangle 51"/>
              <p:cNvSpPr>
                <a:spLocks noChangeArrowheads="1"/>
              </p:cNvSpPr>
              <p:nvPr/>
            </p:nvSpPr>
            <p:spPr bwMode="auto">
              <a:xfrm>
                <a:off x="2439" y="3481"/>
                <a:ext cx="178"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1</a:t>
                </a:r>
              </a:p>
            </p:txBody>
          </p:sp>
          <p:sp>
            <p:nvSpPr>
              <p:cNvPr id="19508" name="Rectangle 52"/>
              <p:cNvSpPr>
                <a:spLocks noChangeArrowheads="1"/>
              </p:cNvSpPr>
              <p:nvPr/>
            </p:nvSpPr>
            <p:spPr bwMode="auto">
              <a:xfrm>
                <a:off x="2199" y="3529"/>
                <a:ext cx="341"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Sel1</a:t>
                </a:r>
              </a:p>
            </p:txBody>
          </p:sp>
          <p:sp>
            <p:nvSpPr>
              <p:cNvPr id="19509" name="Rectangle 53"/>
              <p:cNvSpPr>
                <a:spLocks noChangeArrowheads="1"/>
              </p:cNvSpPr>
              <p:nvPr/>
            </p:nvSpPr>
            <p:spPr bwMode="auto">
              <a:xfrm>
                <a:off x="3255" y="3529"/>
                <a:ext cx="341"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a:t>Sel0</a:t>
                </a:r>
              </a:p>
            </p:txBody>
          </p:sp>
          <p:sp>
            <p:nvSpPr>
              <p:cNvPr id="19510" name="Line 54"/>
              <p:cNvSpPr>
                <a:spLocks noChangeShapeType="1"/>
              </p:cNvSpPr>
              <p:nvPr/>
            </p:nvSpPr>
            <p:spPr bwMode="auto">
              <a:xfrm>
                <a:off x="2880" y="3714"/>
                <a:ext cx="0" cy="46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1" name="Rectangle 55"/>
              <p:cNvSpPr>
                <a:spLocks noChangeArrowheads="1"/>
              </p:cNvSpPr>
              <p:nvPr/>
            </p:nvSpPr>
            <p:spPr bwMode="auto">
              <a:xfrm>
                <a:off x="2919" y="3994"/>
                <a:ext cx="890"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Block</a:t>
                </a:r>
              </a:p>
            </p:txBody>
          </p:sp>
          <p:sp>
            <p:nvSpPr>
              <p:cNvPr id="19512" name="Oval 56"/>
              <p:cNvSpPr>
                <a:spLocks noChangeArrowheads="1"/>
              </p:cNvSpPr>
              <p:nvPr/>
            </p:nvSpPr>
            <p:spPr bwMode="auto">
              <a:xfrm>
                <a:off x="872" y="3426"/>
                <a:ext cx="560" cy="272"/>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513" name="Group 57"/>
              <p:cNvGrpSpPr>
                <a:grpSpLocks/>
              </p:cNvGrpSpPr>
              <p:nvPr/>
            </p:nvGrpSpPr>
            <p:grpSpPr bwMode="auto">
              <a:xfrm>
                <a:off x="1576" y="3514"/>
                <a:ext cx="624" cy="289"/>
                <a:chOff x="1576" y="3514"/>
                <a:chExt cx="624" cy="289"/>
              </a:xfrm>
            </p:grpSpPr>
            <p:grpSp>
              <p:nvGrpSpPr>
                <p:cNvPr id="19514" name="Group 58"/>
                <p:cNvGrpSpPr>
                  <a:grpSpLocks/>
                </p:cNvGrpSpPr>
                <p:nvPr/>
              </p:nvGrpSpPr>
              <p:grpSpPr bwMode="auto">
                <a:xfrm>
                  <a:off x="1720" y="3514"/>
                  <a:ext cx="480" cy="289"/>
                  <a:chOff x="1720" y="3514"/>
                  <a:chExt cx="480" cy="289"/>
                </a:xfrm>
              </p:grpSpPr>
              <p:sp>
                <p:nvSpPr>
                  <p:cNvPr id="19515" name="Arc 59"/>
                  <p:cNvSpPr>
                    <a:spLocks/>
                  </p:cNvSpPr>
                  <p:nvPr/>
                </p:nvSpPr>
                <p:spPr bwMode="auto">
                  <a:xfrm>
                    <a:off x="1848" y="3523"/>
                    <a:ext cx="192" cy="1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6" name="Arc 60"/>
                  <p:cNvSpPr>
                    <a:spLocks/>
                  </p:cNvSpPr>
                  <p:nvPr/>
                </p:nvSpPr>
                <p:spPr bwMode="auto">
                  <a:xfrm rot="10800000">
                    <a:off x="1857" y="3667"/>
                    <a:ext cx="192" cy="136"/>
                  </a:xfrm>
                  <a:custGeom>
                    <a:avLst/>
                    <a:gdLst>
                      <a:gd name="G0" fmla="+- 21600 0 0"/>
                      <a:gd name="G1" fmla="+- 21600 0 0"/>
                      <a:gd name="G2" fmla="+- 21600 0 0"/>
                      <a:gd name="T0" fmla="*/ 0 w 21600"/>
                      <a:gd name="T1" fmla="*/ 21600 h 21600"/>
                      <a:gd name="T2" fmla="*/ 21488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14"/>
                          <a:pt x="9602" y="61"/>
                          <a:pt x="21488" y="0"/>
                        </a:cubicBezTo>
                      </a:path>
                      <a:path w="21600" h="21600" stroke="0" extrusionOk="0">
                        <a:moveTo>
                          <a:pt x="0" y="21599"/>
                        </a:moveTo>
                        <a:cubicBezTo>
                          <a:pt x="0" y="9714"/>
                          <a:pt x="9602" y="61"/>
                          <a:pt x="21488" y="0"/>
                        </a:cubicBezTo>
                        <a:lnTo>
                          <a:pt x="2160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7" name="Line 61"/>
                  <p:cNvSpPr>
                    <a:spLocks noChangeShapeType="1"/>
                  </p:cNvSpPr>
                  <p:nvPr/>
                </p:nvSpPr>
                <p:spPr bwMode="auto">
                  <a:xfrm flipH="1">
                    <a:off x="1720" y="3514"/>
                    <a:ext cx="13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8" name="Line 62"/>
                  <p:cNvSpPr>
                    <a:spLocks noChangeShapeType="1"/>
                  </p:cNvSpPr>
                  <p:nvPr/>
                </p:nvSpPr>
                <p:spPr bwMode="auto">
                  <a:xfrm>
                    <a:off x="1728" y="3522"/>
                    <a:ext cx="0" cy="27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19" name="Line 63"/>
                  <p:cNvSpPr>
                    <a:spLocks noChangeShapeType="1"/>
                  </p:cNvSpPr>
                  <p:nvPr/>
                </p:nvSpPr>
                <p:spPr bwMode="auto">
                  <a:xfrm flipH="1">
                    <a:off x="1720" y="3802"/>
                    <a:ext cx="13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0" name="Line 64"/>
                  <p:cNvSpPr>
                    <a:spLocks noChangeShapeType="1"/>
                  </p:cNvSpPr>
                  <p:nvPr/>
                </p:nvSpPr>
                <p:spPr bwMode="auto">
                  <a:xfrm>
                    <a:off x="2056" y="3658"/>
                    <a:ext cx="14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521" name="Line 65"/>
                <p:cNvSpPr>
                  <a:spLocks noChangeShapeType="1"/>
                </p:cNvSpPr>
                <p:nvPr/>
              </p:nvSpPr>
              <p:spPr bwMode="auto">
                <a:xfrm flipH="1">
                  <a:off x="1576" y="3562"/>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2" name="Line 66"/>
                <p:cNvSpPr>
                  <a:spLocks noChangeShapeType="1"/>
                </p:cNvSpPr>
                <p:nvPr/>
              </p:nvSpPr>
              <p:spPr bwMode="auto">
                <a:xfrm flipH="1">
                  <a:off x="1576" y="3754"/>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523" name="Rectangle 67"/>
              <p:cNvSpPr>
                <a:spLocks noChangeArrowheads="1"/>
              </p:cNvSpPr>
              <p:nvPr/>
            </p:nvSpPr>
            <p:spPr bwMode="auto">
              <a:xfrm>
                <a:off x="855" y="3466"/>
                <a:ext cx="675"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Compare</a:t>
                </a:r>
              </a:p>
            </p:txBody>
          </p:sp>
          <p:sp>
            <p:nvSpPr>
              <p:cNvPr id="19524" name="Line 68"/>
              <p:cNvSpPr>
                <a:spLocks noChangeShapeType="1"/>
              </p:cNvSpPr>
              <p:nvPr/>
            </p:nvSpPr>
            <p:spPr bwMode="auto">
              <a:xfrm>
                <a:off x="1448" y="3562"/>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5" name="Line 69"/>
              <p:cNvSpPr>
                <a:spLocks noChangeShapeType="1"/>
              </p:cNvSpPr>
              <p:nvPr/>
            </p:nvSpPr>
            <p:spPr bwMode="auto">
              <a:xfrm flipH="1">
                <a:off x="280" y="3754"/>
                <a:ext cx="131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6" name="Line 70"/>
              <p:cNvSpPr>
                <a:spLocks noChangeShapeType="1"/>
              </p:cNvSpPr>
              <p:nvPr/>
            </p:nvSpPr>
            <p:spPr bwMode="auto">
              <a:xfrm>
                <a:off x="288" y="3138"/>
                <a:ext cx="0" cy="6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7" name="Line 71"/>
              <p:cNvSpPr>
                <a:spLocks noChangeShapeType="1"/>
              </p:cNvSpPr>
              <p:nvPr/>
            </p:nvSpPr>
            <p:spPr bwMode="auto">
              <a:xfrm>
                <a:off x="1152" y="3138"/>
                <a:ext cx="0" cy="36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8" name="Line 72"/>
              <p:cNvSpPr>
                <a:spLocks noChangeShapeType="1"/>
              </p:cNvSpPr>
              <p:nvPr/>
            </p:nvSpPr>
            <p:spPr bwMode="auto">
              <a:xfrm flipH="1">
                <a:off x="376" y="3562"/>
                <a:ext cx="496"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29" name="Rectangle 73"/>
              <p:cNvSpPr>
                <a:spLocks noChangeArrowheads="1"/>
              </p:cNvSpPr>
              <p:nvPr/>
            </p:nvSpPr>
            <p:spPr bwMode="auto">
              <a:xfrm>
                <a:off x="327" y="3370"/>
                <a:ext cx="593"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Adr Tag</a:t>
                </a:r>
              </a:p>
            </p:txBody>
          </p:sp>
          <p:grpSp>
            <p:nvGrpSpPr>
              <p:cNvPr id="19530" name="Group 74"/>
              <p:cNvGrpSpPr>
                <a:grpSpLocks/>
              </p:cNvGrpSpPr>
              <p:nvPr/>
            </p:nvGrpSpPr>
            <p:grpSpPr bwMode="auto">
              <a:xfrm>
                <a:off x="3544" y="3138"/>
                <a:ext cx="1928" cy="665"/>
                <a:chOff x="3544" y="3138"/>
                <a:chExt cx="1928" cy="665"/>
              </a:xfrm>
            </p:grpSpPr>
            <p:sp>
              <p:nvSpPr>
                <p:cNvPr id="19531" name="Oval 75"/>
                <p:cNvSpPr>
                  <a:spLocks noChangeArrowheads="1"/>
                </p:cNvSpPr>
                <p:nvPr/>
              </p:nvSpPr>
              <p:spPr bwMode="auto">
                <a:xfrm>
                  <a:off x="4328" y="3426"/>
                  <a:ext cx="560" cy="272"/>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532" name="Group 76"/>
                <p:cNvGrpSpPr>
                  <a:grpSpLocks/>
                </p:cNvGrpSpPr>
                <p:nvPr/>
              </p:nvGrpSpPr>
              <p:grpSpPr bwMode="auto">
                <a:xfrm>
                  <a:off x="3544" y="3514"/>
                  <a:ext cx="624" cy="289"/>
                  <a:chOff x="3544" y="3514"/>
                  <a:chExt cx="624" cy="289"/>
                </a:xfrm>
              </p:grpSpPr>
              <p:grpSp>
                <p:nvGrpSpPr>
                  <p:cNvPr id="19533" name="Group 77"/>
                  <p:cNvGrpSpPr>
                    <a:grpSpLocks/>
                  </p:cNvGrpSpPr>
                  <p:nvPr/>
                </p:nvGrpSpPr>
                <p:grpSpPr bwMode="auto">
                  <a:xfrm>
                    <a:off x="3544" y="3514"/>
                    <a:ext cx="488" cy="289"/>
                    <a:chOff x="3544" y="3514"/>
                    <a:chExt cx="488" cy="289"/>
                  </a:xfrm>
                </p:grpSpPr>
                <p:sp>
                  <p:nvSpPr>
                    <p:cNvPr id="19534" name="Arc 78"/>
                    <p:cNvSpPr>
                      <a:spLocks/>
                    </p:cNvSpPr>
                    <p:nvPr/>
                  </p:nvSpPr>
                  <p:spPr bwMode="auto">
                    <a:xfrm>
                      <a:off x="3721" y="3523"/>
                      <a:ext cx="192" cy="136"/>
                    </a:xfrm>
                    <a:custGeom>
                      <a:avLst/>
                      <a:gdLst>
                        <a:gd name="G0" fmla="+- 21600 0 0"/>
                        <a:gd name="G1" fmla="+- 21600 0 0"/>
                        <a:gd name="G2" fmla="+- 21600 0 0"/>
                        <a:gd name="T0" fmla="*/ 0 w 21600"/>
                        <a:gd name="T1" fmla="*/ 21600 h 21600"/>
                        <a:gd name="T2" fmla="*/ 21488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14"/>
                            <a:pt x="9602" y="61"/>
                            <a:pt x="21488" y="0"/>
                          </a:cubicBezTo>
                        </a:path>
                        <a:path w="21600" h="21600" stroke="0" extrusionOk="0">
                          <a:moveTo>
                            <a:pt x="0" y="21599"/>
                          </a:moveTo>
                          <a:cubicBezTo>
                            <a:pt x="0" y="9714"/>
                            <a:pt x="9602" y="61"/>
                            <a:pt x="21488" y="0"/>
                          </a:cubicBezTo>
                          <a:lnTo>
                            <a:pt x="2160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35" name="Arc 79"/>
                    <p:cNvSpPr>
                      <a:spLocks/>
                    </p:cNvSpPr>
                    <p:nvPr/>
                  </p:nvSpPr>
                  <p:spPr bwMode="auto">
                    <a:xfrm rot="10800000">
                      <a:off x="3712" y="3667"/>
                      <a:ext cx="192" cy="1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36" name="Line 80"/>
                    <p:cNvSpPr>
                      <a:spLocks noChangeShapeType="1"/>
                    </p:cNvSpPr>
                    <p:nvPr/>
                  </p:nvSpPr>
                  <p:spPr bwMode="auto">
                    <a:xfrm>
                      <a:off x="3920" y="3514"/>
                      <a:ext cx="10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37" name="Line 81"/>
                    <p:cNvSpPr>
                      <a:spLocks noChangeShapeType="1"/>
                    </p:cNvSpPr>
                    <p:nvPr/>
                  </p:nvSpPr>
                  <p:spPr bwMode="auto">
                    <a:xfrm>
                      <a:off x="4032" y="3522"/>
                      <a:ext cx="0" cy="27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38" name="Line 82"/>
                    <p:cNvSpPr>
                      <a:spLocks noChangeShapeType="1"/>
                    </p:cNvSpPr>
                    <p:nvPr/>
                  </p:nvSpPr>
                  <p:spPr bwMode="auto">
                    <a:xfrm>
                      <a:off x="3920" y="3802"/>
                      <a:ext cx="10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39" name="Line 83"/>
                    <p:cNvSpPr>
                      <a:spLocks noChangeShapeType="1"/>
                    </p:cNvSpPr>
                    <p:nvPr/>
                  </p:nvSpPr>
                  <p:spPr bwMode="auto">
                    <a:xfrm flipH="1">
                      <a:off x="3544" y="3658"/>
                      <a:ext cx="17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540" name="Line 84"/>
                  <p:cNvSpPr>
                    <a:spLocks noChangeShapeType="1"/>
                  </p:cNvSpPr>
                  <p:nvPr/>
                </p:nvSpPr>
                <p:spPr bwMode="auto">
                  <a:xfrm>
                    <a:off x="4040" y="3562"/>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1" name="Line 85"/>
                  <p:cNvSpPr>
                    <a:spLocks noChangeShapeType="1"/>
                  </p:cNvSpPr>
                  <p:nvPr/>
                </p:nvSpPr>
                <p:spPr bwMode="auto">
                  <a:xfrm>
                    <a:off x="4040" y="3754"/>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542" name="Rectangle 86"/>
                <p:cNvSpPr>
                  <a:spLocks noChangeArrowheads="1"/>
                </p:cNvSpPr>
                <p:nvPr/>
              </p:nvSpPr>
              <p:spPr bwMode="auto">
                <a:xfrm flipH="1">
                  <a:off x="4280" y="3466"/>
                  <a:ext cx="675"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Compare</a:t>
                  </a:r>
                </a:p>
              </p:txBody>
            </p:sp>
            <p:sp>
              <p:nvSpPr>
                <p:cNvPr id="19543" name="Line 87"/>
                <p:cNvSpPr>
                  <a:spLocks noChangeShapeType="1"/>
                </p:cNvSpPr>
                <p:nvPr/>
              </p:nvSpPr>
              <p:spPr bwMode="auto">
                <a:xfrm flipH="1">
                  <a:off x="4168" y="3562"/>
                  <a:ext cx="16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4" name="Line 88"/>
                <p:cNvSpPr>
                  <a:spLocks noChangeShapeType="1"/>
                </p:cNvSpPr>
                <p:nvPr/>
              </p:nvSpPr>
              <p:spPr bwMode="auto">
                <a:xfrm>
                  <a:off x="4184" y="3754"/>
                  <a:ext cx="12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5" name="Line 89"/>
                <p:cNvSpPr>
                  <a:spLocks noChangeShapeType="1"/>
                </p:cNvSpPr>
                <p:nvPr/>
              </p:nvSpPr>
              <p:spPr bwMode="auto">
                <a:xfrm>
                  <a:off x="5472" y="3138"/>
                  <a:ext cx="0" cy="6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6" name="Line 90"/>
                <p:cNvSpPr>
                  <a:spLocks noChangeShapeType="1"/>
                </p:cNvSpPr>
                <p:nvPr/>
              </p:nvSpPr>
              <p:spPr bwMode="auto">
                <a:xfrm>
                  <a:off x="4608" y="3138"/>
                  <a:ext cx="0" cy="36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7" name="Line 91"/>
                <p:cNvSpPr>
                  <a:spLocks noChangeShapeType="1"/>
                </p:cNvSpPr>
                <p:nvPr/>
              </p:nvSpPr>
              <p:spPr bwMode="auto">
                <a:xfrm>
                  <a:off x="4904" y="3562"/>
                  <a:ext cx="464"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548" name="Oval 92"/>
              <p:cNvSpPr>
                <a:spLocks noChangeArrowheads="1"/>
              </p:cNvSpPr>
              <p:nvPr/>
            </p:nvSpPr>
            <p:spPr bwMode="auto">
              <a:xfrm>
                <a:off x="2264" y="3762"/>
                <a:ext cx="272" cy="272"/>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49" name="Rectangle 93"/>
              <p:cNvSpPr>
                <a:spLocks noChangeArrowheads="1"/>
              </p:cNvSpPr>
              <p:nvPr/>
            </p:nvSpPr>
            <p:spPr bwMode="auto">
              <a:xfrm>
                <a:off x="2247" y="3802"/>
                <a:ext cx="309"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OR</a:t>
                </a:r>
              </a:p>
            </p:txBody>
          </p:sp>
          <p:sp>
            <p:nvSpPr>
              <p:cNvPr id="19550" name="Line 94"/>
              <p:cNvSpPr>
                <a:spLocks noChangeShapeType="1"/>
              </p:cNvSpPr>
              <p:nvPr/>
            </p:nvSpPr>
            <p:spPr bwMode="auto">
              <a:xfrm>
                <a:off x="2112" y="3666"/>
                <a:ext cx="0" cy="2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51" name="Line 95"/>
              <p:cNvSpPr>
                <a:spLocks noChangeShapeType="1"/>
              </p:cNvSpPr>
              <p:nvPr/>
            </p:nvSpPr>
            <p:spPr bwMode="auto">
              <a:xfrm>
                <a:off x="2120" y="3898"/>
                <a:ext cx="128"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52" name="Line 96"/>
              <p:cNvSpPr>
                <a:spLocks noChangeShapeType="1"/>
              </p:cNvSpPr>
              <p:nvPr/>
            </p:nvSpPr>
            <p:spPr bwMode="auto">
              <a:xfrm>
                <a:off x="3600" y="3666"/>
                <a:ext cx="0" cy="2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53" name="Line 97"/>
              <p:cNvSpPr>
                <a:spLocks noChangeShapeType="1"/>
              </p:cNvSpPr>
              <p:nvPr/>
            </p:nvSpPr>
            <p:spPr bwMode="auto">
              <a:xfrm>
                <a:off x="2552" y="3898"/>
                <a:ext cx="104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54" name="Line 98"/>
              <p:cNvSpPr>
                <a:spLocks noChangeShapeType="1"/>
              </p:cNvSpPr>
              <p:nvPr/>
            </p:nvSpPr>
            <p:spPr bwMode="auto">
              <a:xfrm>
                <a:off x="2400" y="4050"/>
                <a:ext cx="0" cy="22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55" name="Rectangle 99"/>
              <p:cNvSpPr>
                <a:spLocks noChangeArrowheads="1"/>
              </p:cNvSpPr>
              <p:nvPr/>
            </p:nvSpPr>
            <p:spPr bwMode="auto">
              <a:xfrm>
                <a:off x="2103" y="4090"/>
                <a:ext cx="293"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Hit</a:t>
                </a:r>
              </a:p>
            </p:txBody>
          </p:sp>
        </p:grpSp>
      </p:grpSp>
    </p:spTree>
    <p:extLst>
      <p:ext uri="{BB962C8B-B14F-4D97-AF65-F5344CB8AC3E}">
        <p14:creationId xmlns:p14="http://schemas.microsoft.com/office/powerpoint/2010/main" val="3515123197"/>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CN" smtClean="0"/>
              <a:t>4 Questions for Memory Hierarchy</a:t>
            </a:r>
            <a:endParaRPr lang="en-US" altLang="zh-CN"/>
          </a:p>
        </p:txBody>
      </p:sp>
      <p:sp>
        <p:nvSpPr>
          <p:cNvPr id="21507" name="Rectangle 3"/>
          <p:cNvSpPr>
            <a:spLocks noGrp="1" noChangeArrowheads="1"/>
          </p:cNvSpPr>
          <p:nvPr>
            <p:ph type="body" idx="1"/>
          </p:nvPr>
        </p:nvSpPr>
        <p:spPr/>
        <p:txBody>
          <a:bodyPr/>
          <a:lstStyle/>
          <a:p>
            <a:r>
              <a:rPr lang="en-US" altLang="zh-CN" dirty="0" smtClean="0"/>
              <a:t>Q1: Where can a block be placed in the upper level? </a:t>
            </a:r>
          </a:p>
          <a:p>
            <a:pPr lvl="1"/>
            <a:r>
              <a:rPr lang="en-US" altLang="zh-CN" dirty="0" smtClean="0"/>
              <a:t>(Block placement)</a:t>
            </a:r>
          </a:p>
          <a:p>
            <a:r>
              <a:rPr lang="en-US" altLang="zh-CN" dirty="0" smtClean="0"/>
              <a:t>Q2: How is a block found if it is in the upper level?</a:t>
            </a:r>
          </a:p>
          <a:p>
            <a:pPr lvl="1"/>
            <a:r>
              <a:rPr lang="en-US" altLang="zh-CN" dirty="0" smtClean="0"/>
              <a:t> (Block identification)</a:t>
            </a:r>
          </a:p>
          <a:p>
            <a:r>
              <a:rPr lang="en-US" altLang="zh-CN" dirty="0" smtClean="0"/>
              <a:t>Q3: Which block should be replaced on a miss? </a:t>
            </a:r>
          </a:p>
          <a:p>
            <a:pPr lvl="1"/>
            <a:r>
              <a:rPr lang="en-US" altLang="zh-CN" dirty="0" smtClean="0"/>
              <a:t>(Block replacement)</a:t>
            </a:r>
          </a:p>
          <a:p>
            <a:r>
              <a:rPr lang="en-US" altLang="zh-CN" dirty="0" smtClean="0"/>
              <a:t>Q4: What happens on a write? </a:t>
            </a:r>
          </a:p>
          <a:p>
            <a:pPr lvl="1"/>
            <a:r>
              <a:rPr lang="en-US" altLang="zh-CN" dirty="0" smtClean="0"/>
              <a:t>(Write strategy)</a:t>
            </a:r>
            <a:endParaRPr lang="en-US" altLang="zh-CN" dirty="0"/>
          </a:p>
        </p:txBody>
      </p:sp>
    </p:spTree>
    <p:extLst>
      <p:ext uri="{BB962C8B-B14F-4D97-AF65-F5344CB8AC3E}">
        <p14:creationId xmlns:p14="http://schemas.microsoft.com/office/powerpoint/2010/main" val="2379756613"/>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zh-CN" smtClean="0"/>
              <a:t>Q1: Where can a block be placed in the upper level? </a:t>
            </a:r>
            <a:endParaRPr lang="en-US" altLang="zh-CN" dirty="0"/>
          </a:p>
        </p:txBody>
      </p:sp>
      <p:pic>
        <p:nvPicPr>
          <p:cNvPr id="4" name="图片 3"/>
          <p:cNvPicPr>
            <a:picLocks noChangeAspect="1"/>
          </p:cNvPicPr>
          <p:nvPr/>
        </p:nvPicPr>
        <p:blipFill>
          <a:blip r:embed="rId3"/>
          <a:stretch>
            <a:fillRect/>
          </a:stretch>
        </p:blipFill>
        <p:spPr>
          <a:xfrm>
            <a:off x="5957008" y="2172717"/>
            <a:ext cx="6043648" cy="4640659"/>
          </a:xfrm>
          <a:prstGeom prst="rect">
            <a:avLst/>
          </a:prstGeom>
        </p:spPr>
      </p:pic>
      <p:sp>
        <p:nvSpPr>
          <p:cNvPr id="22531" name="Rectangle 3"/>
          <p:cNvSpPr>
            <a:spLocks noGrp="1" noChangeArrowheads="1"/>
          </p:cNvSpPr>
          <p:nvPr>
            <p:ph type="body" idx="1"/>
          </p:nvPr>
        </p:nvSpPr>
        <p:spPr>
          <a:xfrm>
            <a:off x="407368" y="1636971"/>
            <a:ext cx="10515600" cy="5112568"/>
          </a:xfrm>
        </p:spPr>
        <p:txBody>
          <a:bodyPr/>
          <a:lstStyle/>
          <a:p>
            <a:r>
              <a:rPr lang="en-US" altLang="zh-CN" dirty="0"/>
              <a:t>This example cache has eight block frames </a:t>
            </a:r>
            <a:r>
              <a:rPr lang="en-US" altLang="zh-CN" dirty="0" smtClean="0"/>
              <a:t/>
            </a:r>
            <a:br>
              <a:rPr lang="en-US" altLang="zh-CN" dirty="0" smtClean="0"/>
            </a:br>
            <a:r>
              <a:rPr lang="en-US" altLang="zh-CN" dirty="0" smtClean="0"/>
              <a:t>and </a:t>
            </a:r>
            <a:r>
              <a:rPr lang="en-US" altLang="zh-CN" dirty="0"/>
              <a:t>memory has 32 blocks</a:t>
            </a:r>
          </a:p>
          <a:p>
            <a:r>
              <a:rPr lang="en-US" altLang="zh-CN" dirty="0" smtClean="0"/>
              <a:t>Block 12 placed in 8 block cache:</a:t>
            </a:r>
          </a:p>
          <a:p>
            <a:pPr lvl="1"/>
            <a:r>
              <a:rPr lang="en-US" altLang="zh-CN" dirty="0" smtClean="0"/>
              <a:t>Fully associative</a:t>
            </a:r>
          </a:p>
          <a:p>
            <a:pPr lvl="1"/>
            <a:r>
              <a:rPr lang="en-US" altLang="zh-CN" dirty="0" smtClean="0"/>
              <a:t>Direct mapped</a:t>
            </a:r>
          </a:p>
          <a:p>
            <a:pPr lvl="1"/>
            <a:r>
              <a:rPr lang="en-US" altLang="zh-CN" dirty="0" smtClean="0"/>
              <a:t>2-way set associative</a:t>
            </a:r>
          </a:p>
          <a:p>
            <a:pPr lvl="1"/>
            <a:r>
              <a:rPr lang="en-US" altLang="zh-CN" dirty="0" smtClean="0"/>
              <a:t>Set Associative Mapping =&gt;</a:t>
            </a:r>
            <a:br>
              <a:rPr lang="en-US" altLang="zh-CN" dirty="0" smtClean="0"/>
            </a:br>
            <a:r>
              <a:rPr lang="en-US" altLang="zh-CN" dirty="0" smtClean="0"/>
              <a:t>Block Number </a:t>
            </a:r>
            <a:br>
              <a:rPr lang="en-US" altLang="zh-CN" dirty="0" smtClean="0"/>
            </a:br>
            <a:r>
              <a:rPr lang="en-US" altLang="zh-CN" dirty="0" smtClean="0"/>
              <a:t>Modulo </a:t>
            </a:r>
            <a:br>
              <a:rPr lang="en-US" altLang="zh-CN" dirty="0" smtClean="0"/>
            </a:br>
            <a:r>
              <a:rPr lang="en-US" altLang="zh-CN" dirty="0" smtClean="0"/>
              <a:t>Number of Sets</a:t>
            </a:r>
            <a:endParaRPr lang="en-US" altLang="zh-CN" dirty="0"/>
          </a:p>
        </p:txBody>
      </p:sp>
    </p:spTree>
    <p:extLst>
      <p:ext uri="{BB962C8B-B14F-4D97-AF65-F5344CB8AC3E}">
        <p14:creationId xmlns:p14="http://schemas.microsoft.com/office/powerpoint/2010/main" val="1574069062"/>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CN" smtClean="0"/>
              <a:t>Q2: How is a block found if it is in the upper level?</a:t>
            </a:r>
            <a:endParaRPr lang="en-US" altLang="zh-CN"/>
          </a:p>
        </p:txBody>
      </p:sp>
      <p:sp>
        <p:nvSpPr>
          <p:cNvPr id="23555" name="Rectangle 3"/>
          <p:cNvSpPr>
            <a:spLocks noGrp="1" noChangeArrowheads="1"/>
          </p:cNvSpPr>
          <p:nvPr>
            <p:ph type="body" idx="1"/>
          </p:nvPr>
        </p:nvSpPr>
        <p:spPr/>
        <p:txBody>
          <a:bodyPr/>
          <a:lstStyle/>
          <a:p>
            <a:r>
              <a:rPr lang="en-US" altLang="zh-CN" dirty="0" smtClean="0"/>
              <a:t>Tag on each block</a:t>
            </a:r>
          </a:p>
          <a:p>
            <a:pPr lvl="1"/>
            <a:r>
              <a:rPr lang="en-US" altLang="zh-CN" dirty="0" smtClean="0"/>
              <a:t>No need to check index or block offset</a:t>
            </a:r>
          </a:p>
          <a:p>
            <a:r>
              <a:rPr lang="en-US" altLang="zh-CN" dirty="0" smtClean="0"/>
              <a:t>Increasing associativity shrinks index, expands tag</a:t>
            </a:r>
          </a:p>
          <a:p>
            <a:r>
              <a:rPr lang="en-US" altLang="zh-CN" dirty="0"/>
              <a:t>The three portions of an address in a set associative or direct-mapped cache</a:t>
            </a:r>
          </a:p>
        </p:txBody>
      </p:sp>
      <p:pic>
        <p:nvPicPr>
          <p:cNvPr id="4" name="图片 3"/>
          <p:cNvPicPr>
            <a:picLocks noChangeAspect="1"/>
          </p:cNvPicPr>
          <p:nvPr/>
        </p:nvPicPr>
        <p:blipFill>
          <a:blip r:embed="rId2"/>
          <a:stretch>
            <a:fillRect/>
          </a:stretch>
        </p:blipFill>
        <p:spPr>
          <a:xfrm>
            <a:off x="983432" y="4113076"/>
            <a:ext cx="10808784" cy="1152128"/>
          </a:xfrm>
          <a:prstGeom prst="rect">
            <a:avLst/>
          </a:prstGeom>
        </p:spPr>
      </p:pic>
    </p:spTree>
    <p:extLst>
      <p:ext uri="{BB962C8B-B14F-4D97-AF65-F5344CB8AC3E}">
        <p14:creationId xmlns:p14="http://schemas.microsoft.com/office/powerpoint/2010/main" val="1872140161"/>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smtClean="0"/>
              <a:t>Q3: Which block should be replaced on a miss?</a:t>
            </a:r>
            <a:endParaRPr lang="en-US" altLang="zh-CN" dirty="0"/>
          </a:p>
        </p:txBody>
      </p:sp>
      <p:sp>
        <p:nvSpPr>
          <p:cNvPr id="24579" name="Rectangle 3"/>
          <p:cNvSpPr>
            <a:spLocks noGrp="1" noChangeArrowheads="1"/>
          </p:cNvSpPr>
          <p:nvPr>
            <p:ph type="body" idx="1"/>
          </p:nvPr>
        </p:nvSpPr>
        <p:spPr>
          <a:xfrm>
            <a:off x="551384" y="1556792"/>
            <a:ext cx="11377264" cy="5112568"/>
          </a:xfrm>
        </p:spPr>
        <p:txBody>
          <a:bodyPr/>
          <a:lstStyle/>
          <a:p>
            <a:r>
              <a:rPr lang="en-US" altLang="zh-CN" dirty="0" smtClean="0"/>
              <a:t>Easy for Direct Mapped</a:t>
            </a:r>
          </a:p>
          <a:p>
            <a:r>
              <a:rPr lang="en-US" altLang="zh-CN" dirty="0" smtClean="0"/>
              <a:t>Set Associative or Fully Associative:</a:t>
            </a:r>
          </a:p>
          <a:p>
            <a:pPr lvl="1"/>
            <a:r>
              <a:rPr lang="en-US" altLang="zh-CN" dirty="0" smtClean="0"/>
              <a:t>Random, FIFO, LRU (Least Recently Used)</a:t>
            </a:r>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en-US" dirty="0" smtClean="0"/>
          </a:p>
          <a:p>
            <a:pPr lvl="1"/>
            <a:r>
              <a:rPr lang="en-US" altLang="en-US" dirty="0"/>
              <a:t>Data cache misses per 1000 SPEC2000 </a:t>
            </a:r>
            <a:r>
              <a:rPr lang="en-US" altLang="en-US" dirty="0" smtClean="0"/>
              <a:t>instructions on Alpha</a:t>
            </a:r>
          </a:p>
          <a:p>
            <a:pPr lvl="1"/>
            <a:r>
              <a:rPr lang="en-US" altLang="en-US" dirty="0" smtClean="0"/>
              <a:t>There </a:t>
            </a:r>
            <a:r>
              <a:rPr lang="en-US" altLang="en-US" dirty="0"/>
              <a:t>is little difference between LRU and random for the largest size cache, with LRU outperforming the others for smaller caches</a:t>
            </a:r>
            <a:endParaRPr lang="en-US" altLang="zh-CN" dirty="0" smtClean="0"/>
          </a:p>
          <a:p>
            <a:endParaRPr lang="en-US" altLang="zh-CN" dirty="0"/>
          </a:p>
        </p:txBody>
      </p:sp>
      <p:pic>
        <p:nvPicPr>
          <p:cNvPr id="4" name="图片 3"/>
          <p:cNvPicPr>
            <a:picLocks noChangeAspect="1"/>
          </p:cNvPicPr>
          <p:nvPr/>
        </p:nvPicPr>
        <p:blipFill>
          <a:blip r:embed="rId2"/>
          <a:stretch>
            <a:fillRect/>
          </a:stretch>
        </p:blipFill>
        <p:spPr>
          <a:xfrm>
            <a:off x="846552" y="2996952"/>
            <a:ext cx="10916632" cy="2455635"/>
          </a:xfrm>
          <a:prstGeom prst="rect">
            <a:avLst/>
          </a:prstGeom>
        </p:spPr>
      </p:pic>
    </p:spTree>
    <p:extLst>
      <p:ext uri="{BB962C8B-B14F-4D97-AF65-F5344CB8AC3E}">
        <p14:creationId xmlns:p14="http://schemas.microsoft.com/office/powerpoint/2010/main" val="1178878409"/>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smtClean="0"/>
              <a:t>Q4: What happens on a write?</a:t>
            </a:r>
            <a:endParaRPr lang="en-US" altLang="zh-CN"/>
          </a:p>
        </p:txBody>
      </p:sp>
      <p:sp>
        <p:nvSpPr>
          <p:cNvPr id="25603" name="Rectangle 3"/>
          <p:cNvSpPr>
            <a:spLocks noGrp="1" noChangeArrowheads="1"/>
          </p:cNvSpPr>
          <p:nvPr>
            <p:ph type="body" idx="1"/>
          </p:nvPr>
        </p:nvSpPr>
        <p:spPr>
          <a:xfrm>
            <a:off x="623392" y="1700808"/>
            <a:ext cx="10441160" cy="46101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i="1" u="sng" dirty="0" smtClean="0"/>
              <a:t>Write through </a:t>
            </a:r>
            <a:r>
              <a:rPr lang="en-US" altLang="zh-CN" dirty="0" smtClean="0"/>
              <a:t>The information is written to both the block in the cache and to the block in the lower-level memory.</a:t>
            </a:r>
          </a:p>
          <a:p>
            <a:r>
              <a:rPr lang="en-US" altLang="zh-CN" i="1" u="sng" dirty="0" smtClean="0"/>
              <a:t>Write back</a:t>
            </a:r>
            <a:r>
              <a:rPr lang="en-US" altLang="zh-CN" dirty="0" smtClean="0"/>
              <a:t> The information is written only to the block in the cache. The modified cache block is written to main memory only when it is replaced.</a:t>
            </a:r>
          </a:p>
          <a:p>
            <a:pPr lvl="1"/>
            <a:r>
              <a:rPr lang="en-US" altLang="zh-CN" dirty="0" smtClean="0"/>
              <a:t>Is block clean or modified </a:t>
            </a:r>
            <a:r>
              <a:rPr lang="en-US" altLang="zh-CN" dirty="0"/>
              <a:t>(</a:t>
            </a:r>
            <a:r>
              <a:rPr lang="en-US" altLang="zh-CN" dirty="0" smtClean="0"/>
              <a:t>dirty)? Need dirty bit in cache Tag</a:t>
            </a:r>
          </a:p>
          <a:p>
            <a:r>
              <a:rPr lang="en-US" altLang="zh-CN" dirty="0" smtClean="0"/>
              <a:t>Pros and Cons of each?</a:t>
            </a:r>
          </a:p>
          <a:p>
            <a:pPr lvl="1"/>
            <a:r>
              <a:rPr lang="en-US" altLang="zh-CN" dirty="0" smtClean="0"/>
              <a:t>WT: read misses cannot result in writes</a:t>
            </a:r>
          </a:p>
          <a:p>
            <a:pPr lvl="1"/>
            <a:r>
              <a:rPr lang="en-US" altLang="zh-CN" dirty="0" smtClean="0"/>
              <a:t>WB: no repeated writes to same location</a:t>
            </a:r>
          </a:p>
          <a:p>
            <a:r>
              <a:rPr lang="en-US" altLang="zh-CN" dirty="0" smtClean="0"/>
              <a:t>WT always combined with write buffers so that don’t wait for lower level memory</a:t>
            </a:r>
            <a:endParaRPr lang="en-US" altLang="zh-CN" dirty="0"/>
          </a:p>
        </p:txBody>
      </p:sp>
    </p:spTree>
    <p:extLst>
      <p:ext uri="{BB962C8B-B14F-4D97-AF65-F5344CB8AC3E}">
        <p14:creationId xmlns:p14="http://schemas.microsoft.com/office/powerpoint/2010/main" val="1314359101"/>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smtClean="0"/>
              <a:t>Write Buffer for Write Through</a:t>
            </a:r>
            <a:endParaRPr lang="en-US" altLang="zh-CN"/>
          </a:p>
        </p:txBody>
      </p:sp>
      <p:sp>
        <p:nvSpPr>
          <p:cNvPr id="26627" name="Rectangle 3"/>
          <p:cNvSpPr>
            <a:spLocks noGrp="1" noChangeArrowheads="1"/>
          </p:cNvSpPr>
          <p:nvPr>
            <p:ph type="body" idx="1"/>
          </p:nvPr>
        </p:nvSpPr>
        <p:spPr>
          <a:xfrm>
            <a:off x="838200" y="2834716"/>
            <a:ext cx="10515600" cy="3834644"/>
          </a:xfrm>
        </p:spPr>
        <p:txBody>
          <a:bodyPr/>
          <a:lstStyle/>
          <a:p>
            <a:r>
              <a:rPr lang="en-US" altLang="zh-CN" dirty="0" smtClean="0"/>
              <a:t>A Write Buffer is needed between the Cache and Memory</a:t>
            </a:r>
          </a:p>
          <a:p>
            <a:pPr lvl="1"/>
            <a:r>
              <a:rPr lang="en-US" altLang="zh-CN" dirty="0" smtClean="0"/>
              <a:t>Processor: writes data into the cache and the write buffer</a:t>
            </a:r>
          </a:p>
          <a:p>
            <a:pPr lvl="1"/>
            <a:r>
              <a:rPr lang="en-US" altLang="zh-CN" dirty="0" smtClean="0"/>
              <a:t>Memory controller: write contents of the buffer to memory</a:t>
            </a:r>
          </a:p>
          <a:p>
            <a:r>
              <a:rPr lang="en-US" altLang="zh-CN" dirty="0" smtClean="0"/>
              <a:t>Write buffer is just a FIFO:</a:t>
            </a:r>
          </a:p>
          <a:p>
            <a:pPr lvl="1"/>
            <a:r>
              <a:rPr lang="en-US" altLang="zh-CN" dirty="0" smtClean="0"/>
              <a:t>Typical number of entries: 4</a:t>
            </a:r>
          </a:p>
          <a:p>
            <a:pPr lvl="1"/>
            <a:r>
              <a:rPr lang="en-US" altLang="zh-CN" dirty="0" smtClean="0"/>
              <a:t>Works fine if:  Store frequency (w.r.t. time) &lt;&lt; 1 / DRAM write cycle</a:t>
            </a:r>
          </a:p>
          <a:p>
            <a:r>
              <a:rPr lang="en-US" altLang="zh-CN" dirty="0" smtClean="0"/>
              <a:t>Memory system designer’s nightmare:</a:t>
            </a:r>
          </a:p>
          <a:p>
            <a:pPr lvl="1"/>
            <a:r>
              <a:rPr lang="en-US" altLang="zh-CN" dirty="0" smtClean="0"/>
              <a:t>Store frequency (w.r.t. time)   -&gt;  1 / DRAM write cycle</a:t>
            </a:r>
          </a:p>
          <a:p>
            <a:pPr lvl="1"/>
            <a:r>
              <a:rPr lang="en-US" altLang="zh-CN" dirty="0" smtClean="0"/>
              <a:t>Write buffer saturation</a:t>
            </a:r>
            <a:endParaRPr lang="en-US" altLang="zh-CN" dirty="0"/>
          </a:p>
        </p:txBody>
      </p:sp>
      <p:sp>
        <p:nvSpPr>
          <p:cNvPr id="26628" name="Rectangle 4"/>
          <p:cNvSpPr>
            <a:spLocks noChangeArrowheads="1"/>
          </p:cNvSpPr>
          <p:nvPr/>
        </p:nvSpPr>
        <p:spPr bwMode="auto">
          <a:xfrm>
            <a:off x="2997200" y="1508125"/>
            <a:ext cx="1270000" cy="965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29" name="Rectangle 5"/>
          <p:cNvSpPr>
            <a:spLocks noChangeArrowheads="1"/>
          </p:cNvSpPr>
          <p:nvPr/>
        </p:nvSpPr>
        <p:spPr bwMode="auto">
          <a:xfrm>
            <a:off x="3122614" y="1800226"/>
            <a:ext cx="1184621"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Processor</a:t>
            </a:r>
          </a:p>
        </p:txBody>
      </p:sp>
      <p:sp>
        <p:nvSpPr>
          <p:cNvPr id="26630" name="Rectangle 6"/>
          <p:cNvSpPr>
            <a:spLocks noChangeArrowheads="1"/>
          </p:cNvSpPr>
          <p:nvPr/>
        </p:nvSpPr>
        <p:spPr bwMode="auto">
          <a:xfrm>
            <a:off x="5435600" y="1508125"/>
            <a:ext cx="889000" cy="584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1" name="Rectangle 7"/>
          <p:cNvSpPr>
            <a:spLocks noChangeArrowheads="1"/>
          </p:cNvSpPr>
          <p:nvPr/>
        </p:nvSpPr>
        <p:spPr bwMode="auto">
          <a:xfrm>
            <a:off x="5561013" y="1647826"/>
            <a:ext cx="796694"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a:t>
            </a:r>
          </a:p>
        </p:txBody>
      </p:sp>
      <p:sp>
        <p:nvSpPr>
          <p:cNvPr id="26632" name="Rectangle 8"/>
          <p:cNvSpPr>
            <a:spLocks noChangeArrowheads="1"/>
          </p:cNvSpPr>
          <p:nvPr/>
        </p:nvSpPr>
        <p:spPr bwMode="auto">
          <a:xfrm>
            <a:off x="5435600" y="2193925"/>
            <a:ext cx="889000" cy="279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3" name="Line 9"/>
          <p:cNvSpPr>
            <a:spLocks noChangeShapeType="1"/>
          </p:cNvSpPr>
          <p:nvPr/>
        </p:nvSpPr>
        <p:spPr bwMode="auto">
          <a:xfrm>
            <a:off x="5651500" y="2193925"/>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4" name="Line 10"/>
          <p:cNvSpPr>
            <a:spLocks noChangeShapeType="1"/>
          </p:cNvSpPr>
          <p:nvPr/>
        </p:nvSpPr>
        <p:spPr bwMode="auto">
          <a:xfrm>
            <a:off x="5880100" y="2193925"/>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5" name="Line 11"/>
          <p:cNvSpPr>
            <a:spLocks noChangeShapeType="1"/>
          </p:cNvSpPr>
          <p:nvPr/>
        </p:nvSpPr>
        <p:spPr bwMode="auto">
          <a:xfrm>
            <a:off x="6108700" y="2193925"/>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6" name="Line 12"/>
          <p:cNvSpPr>
            <a:spLocks noChangeShapeType="1"/>
          </p:cNvSpPr>
          <p:nvPr/>
        </p:nvSpPr>
        <p:spPr bwMode="auto">
          <a:xfrm>
            <a:off x="4978400" y="2333625"/>
            <a:ext cx="4318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7" name="Line 13"/>
          <p:cNvSpPr>
            <a:spLocks noChangeShapeType="1"/>
          </p:cNvSpPr>
          <p:nvPr/>
        </p:nvSpPr>
        <p:spPr bwMode="auto">
          <a:xfrm>
            <a:off x="4292600" y="1800225"/>
            <a:ext cx="11176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38" name="Rectangle 14"/>
          <p:cNvSpPr>
            <a:spLocks noChangeArrowheads="1"/>
          </p:cNvSpPr>
          <p:nvPr/>
        </p:nvSpPr>
        <p:spPr bwMode="auto">
          <a:xfrm>
            <a:off x="5332414" y="2486026"/>
            <a:ext cx="1355629"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Write Buffer</a:t>
            </a:r>
          </a:p>
        </p:txBody>
      </p:sp>
      <p:sp>
        <p:nvSpPr>
          <p:cNvPr id="26639" name="Rectangle 15"/>
          <p:cNvSpPr>
            <a:spLocks noChangeArrowheads="1"/>
          </p:cNvSpPr>
          <p:nvPr/>
        </p:nvSpPr>
        <p:spPr bwMode="auto">
          <a:xfrm>
            <a:off x="6959600" y="1508125"/>
            <a:ext cx="1041400" cy="965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0" name="Rectangle 16"/>
          <p:cNvSpPr>
            <a:spLocks noChangeArrowheads="1"/>
          </p:cNvSpPr>
          <p:nvPr/>
        </p:nvSpPr>
        <p:spPr bwMode="auto">
          <a:xfrm>
            <a:off x="7085013" y="1800226"/>
            <a:ext cx="811212"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DRAM</a:t>
            </a:r>
          </a:p>
        </p:txBody>
      </p:sp>
      <p:sp>
        <p:nvSpPr>
          <p:cNvPr id="26641" name="Line 17"/>
          <p:cNvSpPr>
            <a:spLocks noChangeShapeType="1"/>
          </p:cNvSpPr>
          <p:nvPr/>
        </p:nvSpPr>
        <p:spPr bwMode="auto">
          <a:xfrm>
            <a:off x="6350000" y="2333625"/>
            <a:ext cx="584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2" name="Line 18"/>
          <p:cNvSpPr>
            <a:spLocks noChangeShapeType="1"/>
          </p:cNvSpPr>
          <p:nvPr/>
        </p:nvSpPr>
        <p:spPr bwMode="auto">
          <a:xfrm>
            <a:off x="6350000" y="1800225"/>
            <a:ext cx="584200" cy="0"/>
          </a:xfrm>
          <a:prstGeom prst="line">
            <a:avLst/>
          </a:prstGeom>
          <a:noFill/>
          <a:ln w="254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43" name="Line 19"/>
          <p:cNvSpPr>
            <a:spLocks noChangeShapeType="1"/>
          </p:cNvSpPr>
          <p:nvPr/>
        </p:nvSpPr>
        <p:spPr bwMode="auto">
          <a:xfrm>
            <a:off x="4965700" y="1812925"/>
            <a:ext cx="0" cy="508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25525682"/>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Data cache organization </a:t>
            </a:r>
            <a:r>
              <a:rPr lang="en-US" altLang="zh-CN" dirty="0"/>
              <a:t>of </a:t>
            </a:r>
            <a:r>
              <a:rPr lang="en-US" altLang="zh-CN" dirty="0" smtClean="0"/>
              <a:t>Opteron</a:t>
            </a:r>
            <a:endParaRPr lang="zh-CN" altLang="en-US" dirty="0"/>
          </a:p>
        </p:txBody>
      </p:sp>
      <p:sp>
        <p:nvSpPr>
          <p:cNvPr id="3" name="内容占位符 2"/>
          <p:cNvSpPr>
            <a:spLocks noGrp="1"/>
          </p:cNvSpPr>
          <p:nvPr>
            <p:ph idx="1"/>
          </p:nvPr>
        </p:nvSpPr>
        <p:spPr>
          <a:xfrm>
            <a:off x="407368" y="1556792"/>
            <a:ext cx="10946432" cy="5112568"/>
          </a:xfrm>
        </p:spPr>
        <p:txBody>
          <a:bodyPr/>
          <a:lstStyle/>
          <a:p>
            <a:r>
              <a:rPr lang="en-US" altLang="zh-CN" dirty="0" smtClean="0"/>
              <a:t>The </a:t>
            </a:r>
            <a:r>
              <a:rPr lang="en-US" altLang="zh-CN" dirty="0"/>
              <a:t>64 KiB cache is two-way set associative with 64-byte </a:t>
            </a:r>
            <a:r>
              <a:rPr lang="en-US" altLang="zh-CN" dirty="0" smtClean="0"/>
              <a:t>blocks</a:t>
            </a:r>
          </a:p>
          <a:p>
            <a:pPr lvl="1"/>
            <a:r>
              <a:rPr lang="en-US" altLang="zh-CN" dirty="0" smtClean="0"/>
              <a:t>Size </a:t>
            </a:r>
            <a:r>
              <a:rPr lang="en-US" altLang="zh-CN" dirty="0"/>
              <a:t>of address leaving the processor is 40 </a:t>
            </a:r>
            <a:r>
              <a:rPr lang="en-US" altLang="zh-CN" dirty="0" smtClean="0"/>
              <a:t>bits (physical address)</a:t>
            </a:r>
          </a:p>
          <a:p>
            <a:pPr lvl="1"/>
            <a:r>
              <a:rPr lang="en-US" altLang="zh-CN" dirty="0" smtClean="0"/>
              <a:t>1024 blocks = 512 blocks x 2 ways</a:t>
            </a:r>
          </a:p>
          <a:p>
            <a:pPr lvl="1"/>
            <a:r>
              <a:rPr lang="en-US" altLang="zh-CN" dirty="0" smtClean="0"/>
              <a:t>9-bit </a:t>
            </a:r>
            <a:r>
              <a:rPr lang="en-US" altLang="zh-CN" dirty="0"/>
              <a:t>index selects among 512 </a:t>
            </a:r>
            <a:r>
              <a:rPr lang="en-US" altLang="zh-CN" dirty="0" smtClean="0"/>
              <a:t>sets</a:t>
            </a:r>
          </a:p>
          <a:p>
            <a:pPr lvl="1"/>
            <a:r>
              <a:rPr lang="en-US" altLang="zh-CN" dirty="0"/>
              <a:t>3</a:t>
            </a:r>
            <a:r>
              <a:rPr lang="en-US" altLang="zh-CN" dirty="0" smtClean="0"/>
              <a:t> </a:t>
            </a:r>
            <a:r>
              <a:rPr lang="en-US" altLang="zh-CN" dirty="0"/>
              <a:t>bits of the block offset join the index </a:t>
            </a:r>
            <a:r>
              <a:rPr lang="en-US" altLang="zh-CN" dirty="0" smtClean="0"/>
              <a:t/>
            </a:r>
            <a:br>
              <a:rPr lang="en-US" altLang="zh-CN" dirty="0" smtClean="0"/>
            </a:br>
            <a:r>
              <a:rPr lang="en-US" altLang="zh-CN" dirty="0" smtClean="0"/>
              <a:t>to </a:t>
            </a:r>
            <a:r>
              <a:rPr lang="en-US" altLang="zh-CN" dirty="0"/>
              <a:t>supply the RAM address to select </a:t>
            </a:r>
            <a:r>
              <a:rPr lang="en-US" altLang="zh-CN" dirty="0" smtClean="0"/>
              <a:t/>
            </a:r>
            <a:br>
              <a:rPr lang="en-US" altLang="zh-CN" dirty="0" smtClean="0"/>
            </a:br>
            <a:r>
              <a:rPr lang="en-US" altLang="zh-CN" dirty="0" smtClean="0"/>
              <a:t>the </a:t>
            </a:r>
            <a:r>
              <a:rPr lang="en-US" altLang="zh-CN" dirty="0"/>
              <a:t>proper 8 </a:t>
            </a:r>
            <a:r>
              <a:rPr lang="en-US" altLang="zh-CN" dirty="0" smtClean="0"/>
              <a:t>bytes of a 64-bit word </a:t>
            </a:r>
          </a:p>
          <a:p>
            <a:r>
              <a:rPr lang="zh-CN" altLang="en-US" dirty="0" smtClean="0"/>
              <a:t>命中时的工作步骤</a:t>
            </a:r>
            <a:endParaRPr lang="en-US" altLang="zh-CN" dirty="0" smtClean="0"/>
          </a:p>
          <a:p>
            <a:pPr marL="914400" lvl="1" indent="-457200">
              <a:buFont typeface="+mj-lt"/>
              <a:buAutoNum type="arabicPeriod"/>
            </a:pPr>
            <a:r>
              <a:rPr lang="en-US" altLang="zh-CN" dirty="0" smtClean="0"/>
              <a:t>CPU</a:t>
            </a:r>
            <a:r>
              <a:rPr lang="zh-CN" altLang="en-US" dirty="0" smtClean="0"/>
              <a:t>给出访存地址</a:t>
            </a:r>
            <a:endParaRPr lang="en-US" altLang="zh-CN" dirty="0" smtClean="0"/>
          </a:p>
          <a:p>
            <a:pPr marL="914400" lvl="1" indent="-457200">
              <a:buFont typeface="+mj-lt"/>
              <a:buAutoNum type="arabicPeriod"/>
            </a:pPr>
            <a:r>
              <a:rPr lang="zh-CN" altLang="en-US" dirty="0" smtClean="0"/>
              <a:t>用</a:t>
            </a:r>
            <a:r>
              <a:rPr lang="zh-CN" altLang="en-US" dirty="0"/>
              <a:t>地址</a:t>
            </a:r>
            <a:r>
              <a:rPr lang="en-US" altLang="zh-CN" dirty="0" smtClean="0"/>
              <a:t>index</a:t>
            </a:r>
            <a:r>
              <a:rPr lang="zh-CN" altLang="en-US" dirty="0" smtClean="0"/>
              <a:t>部分同时访问</a:t>
            </a:r>
            <a:r>
              <a:rPr lang="zh-CN" altLang="en-US" dirty="0"/>
              <a:t>两</a:t>
            </a:r>
            <a:r>
              <a:rPr lang="zh-CN" altLang="en-US" dirty="0" smtClean="0"/>
              <a:t>路</a:t>
            </a:r>
            <a:endParaRPr lang="en-US" altLang="zh-CN" dirty="0" smtClean="0"/>
          </a:p>
          <a:p>
            <a:pPr marL="914400" lvl="1" indent="-457200">
              <a:buFont typeface="+mj-lt"/>
              <a:buAutoNum type="arabicPeriod"/>
            </a:pPr>
            <a:r>
              <a:rPr lang="zh-CN" altLang="en-US" dirty="0" smtClean="0"/>
              <a:t>用地址的</a:t>
            </a:r>
            <a:r>
              <a:rPr lang="en-US" altLang="zh-CN" dirty="0" smtClean="0"/>
              <a:t>Tag</a:t>
            </a:r>
            <a:r>
              <a:rPr lang="zh-CN" altLang="en-US" dirty="0" smtClean="0"/>
              <a:t>部分同时比较读出的两路</a:t>
            </a:r>
            <a:r>
              <a:rPr lang="en-US" altLang="zh-CN" dirty="0" smtClean="0"/>
              <a:t>Tag</a:t>
            </a:r>
          </a:p>
          <a:p>
            <a:pPr marL="914400" lvl="1" indent="-457200">
              <a:buFont typeface="+mj-lt"/>
              <a:buAutoNum type="arabicPeriod"/>
            </a:pPr>
            <a:r>
              <a:rPr lang="zh-CN" altLang="en-US" dirty="0" smtClean="0"/>
              <a:t>根据比较结果，两个数据块中</a:t>
            </a:r>
            <a:r>
              <a:rPr lang="en-US" altLang="zh-CN" dirty="0" smtClean="0"/>
              <a:t>2</a:t>
            </a:r>
            <a:r>
              <a:rPr lang="zh-CN" altLang="en-US" dirty="0" smtClean="0"/>
              <a:t>先</a:t>
            </a:r>
            <a:r>
              <a:rPr lang="en-US" altLang="zh-CN" dirty="0" smtClean="0"/>
              <a:t>1</a:t>
            </a:r>
          </a:p>
        </p:txBody>
      </p:sp>
      <p:pic>
        <p:nvPicPr>
          <p:cNvPr id="4" name="图片 3"/>
          <p:cNvPicPr>
            <a:picLocks noChangeAspect="1"/>
          </p:cNvPicPr>
          <p:nvPr/>
        </p:nvPicPr>
        <p:blipFill>
          <a:blip r:embed="rId3"/>
          <a:stretch>
            <a:fillRect/>
          </a:stretch>
        </p:blipFill>
        <p:spPr>
          <a:xfrm>
            <a:off x="7176120" y="2492896"/>
            <a:ext cx="4743789" cy="4312535"/>
          </a:xfrm>
          <a:prstGeom prst="rect">
            <a:avLst/>
          </a:prstGeom>
        </p:spPr>
      </p:pic>
    </p:spTree>
    <p:extLst>
      <p:ext uri="{BB962C8B-B14F-4D97-AF65-F5344CB8AC3E}">
        <p14:creationId xmlns:p14="http://schemas.microsoft.com/office/powerpoint/2010/main" val="36436397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ChangeArrowheads="1"/>
          </p:cNvSpPr>
          <p:nvPr/>
        </p:nvSpPr>
        <p:spPr bwMode="auto">
          <a:xfrm>
            <a:off x="839416" y="914400"/>
            <a:ext cx="11089232" cy="4635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lr>
                <a:schemeClr val="accent1"/>
              </a:buClr>
              <a:buFont typeface="Wingdings" panose="05000000000000000000" pitchFamily="2" charset="2"/>
              <a:buChar char="n"/>
              <a:defRPr kumimoji="1" sz="3200">
                <a:solidFill>
                  <a:srgbClr val="0000FF"/>
                </a:solidFill>
                <a:latin typeface="Arial" panose="020B0604020202020204" pitchFamily="34" charset="0"/>
                <a:ea typeface="黑体" panose="02010609060101010101" pitchFamily="49" charset="-122"/>
              </a:defRPr>
            </a:lvl1pPr>
            <a:lvl2pPr marL="742950" indent="-285750">
              <a:spcBef>
                <a:spcPct val="20000"/>
              </a:spcBef>
              <a:buClr>
                <a:srgbClr val="00FF00"/>
              </a:buClr>
              <a:buFont typeface="Wingdings" panose="05000000000000000000" pitchFamily="2" charset="2"/>
              <a:buChar char="u"/>
              <a:defRPr kumimoji="1" sz="2800">
                <a:solidFill>
                  <a:srgbClr val="0000FF"/>
                </a:solidFill>
                <a:latin typeface="Arial" panose="020B060402020202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l"/>
              <a:defRPr kumimoji="1" sz="2400">
                <a:solidFill>
                  <a:srgbClr val="0000FF"/>
                </a:solidFill>
                <a:latin typeface="Arial" panose="020B0604020202020204" pitchFamily="34" charset="0"/>
                <a:ea typeface="黑体" panose="02010609060101010101" pitchFamily="49" charset="-122"/>
              </a:defRPr>
            </a:lvl3pPr>
            <a:lvl4pPr marL="1600200" indent="-228600">
              <a:spcBef>
                <a:spcPct val="20000"/>
              </a:spcBef>
              <a:buClr>
                <a:srgbClr val="99CCFF"/>
              </a:buClr>
              <a:buFont typeface="Monotype Sorts" pitchFamily="2" charset="2"/>
              <a:buChar char="0"/>
              <a:defRPr kumimoji="1" sz="2000">
                <a:solidFill>
                  <a:srgbClr val="0000FF"/>
                </a:solidFill>
                <a:latin typeface="Arial" panose="020B0604020202020204" pitchFamily="34" charset="0"/>
                <a:ea typeface="黑体" panose="02010609060101010101" pitchFamily="49" charset="-122"/>
              </a:defRPr>
            </a:lvl4pPr>
            <a:lvl5pPr marL="2057400" indent="-228600">
              <a:spcBef>
                <a:spcPct val="20000"/>
              </a:spcBef>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9pPr>
          </a:lstStyle>
          <a:p>
            <a:pPr>
              <a:lnSpc>
                <a:spcPct val="95000"/>
              </a:lnSpc>
              <a:spcBef>
                <a:spcPct val="0"/>
              </a:spcBef>
            </a:pPr>
            <a:r>
              <a:rPr lang="en-US" altLang="zh-CN" dirty="0"/>
              <a:t>Miss-oriented Approach to Memory Access:</a:t>
            </a:r>
          </a:p>
          <a:p>
            <a:pPr>
              <a:lnSpc>
                <a:spcPct val="95000"/>
              </a:lnSpc>
              <a:spcBef>
                <a:spcPct val="0"/>
              </a:spcBef>
            </a:pPr>
            <a:endParaRPr lang="en-US" altLang="zh-CN" dirty="0"/>
          </a:p>
          <a:p>
            <a:pPr>
              <a:lnSpc>
                <a:spcPct val="95000"/>
              </a:lnSpc>
              <a:spcBef>
                <a:spcPct val="0"/>
              </a:spcBef>
            </a:pPr>
            <a:endParaRPr lang="en-US" altLang="zh-CN" dirty="0"/>
          </a:p>
          <a:p>
            <a:pPr lvl="1">
              <a:lnSpc>
                <a:spcPct val="95000"/>
              </a:lnSpc>
              <a:spcBef>
                <a:spcPct val="0"/>
              </a:spcBef>
            </a:pPr>
            <a:endParaRPr lang="en-US" altLang="zh-CN" dirty="0">
              <a:solidFill>
                <a:schemeClr val="hlink"/>
              </a:solidFill>
            </a:endParaRPr>
          </a:p>
          <a:p>
            <a:pPr lvl="1">
              <a:lnSpc>
                <a:spcPct val="95000"/>
              </a:lnSpc>
              <a:spcBef>
                <a:spcPct val="0"/>
              </a:spcBef>
            </a:pPr>
            <a:endParaRPr lang="en-US" altLang="zh-CN" dirty="0" smtClean="0">
              <a:solidFill>
                <a:schemeClr val="hlink"/>
              </a:solidFill>
            </a:endParaRPr>
          </a:p>
          <a:p>
            <a:pPr lvl="1">
              <a:lnSpc>
                <a:spcPct val="95000"/>
              </a:lnSpc>
              <a:spcBef>
                <a:spcPct val="0"/>
              </a:spcBef>
            </a:pPr>
            <a:r>
              <a:rPr lang="en-US" altLang="zh-CN" dirty="0" err="1" smtClean="0">
                <a:solidFill>
                  <a:schemeClr val="hlink"/>
                </a:solidFill>
              </a:rPr>
              <a:t>CPI</a:t>
            </a:r>
            <a:r>
              <a:rPr lang="en-US" altLang="zh-CN" baseline="-25000" dirty="0" err="1" smtClean="0">
                <a:solidFill>
                  <a:schemeClr val="hlink"/>
                </a:solidFill>
              </a:rPr>
              <a:t>Execution</a:t>
            </a:r>
            <a:r>
              <a:rPr lang="en-US" altLang="zh-CN" dirty="0" smtClean="0">
                <a:solidFill>
                  <a:schemeClr val="hlink"/>
                </a:solidFill>
              </a:rPr>
              <a:t> </a:t>
            </a:r>
            <a:r>
              <a:rPr lang="en-US" altLang="zh-CN" dirty="0">
                <a:solidFill>
                  <a:schemeClr val="hlink"/>
                </a:solidFill>
              </a:rPr>
              <a:t>includes ALU and Memory instructions</a:t>
            </a:r>
          </a:p>
          <a:p>
            <a:pPr>
              <a:lnSpc>
                <a:spcPct val="95000"/>
              </a:lnSpc>
              <a:spcBef>
                <a:spcPct val="0"/>
              </a:spcBef>
            </a:pPr>
            <a:r>
              <a:rPr lang="en-US" altLang="zh-CN" dirty="0"/>
              <a:t>Separating out Memory component entirely</a:t>
            </a:r>
          </a:p>
          <a:p>
            <a:pPr lvl="1">
              <a:lnSpc>
                <a:spcPct val="95000"/>
              </a:lnSpc>
              <a:spcBef>
                <a:spcPct val="0"/>
              </a:spcBef>
            </a:pPr>
            <a:r>
              <a:rPr lang="en-US" altLang="zh-CN" dirty="0"/>
              <a:t>AMAT = Average Memory Access Time</a:t>
            </a:r>
          </a:p>
          <a:p>
            <a:pPr lvl="1">
              <a:lnSpc>
                <a:spcPct val="95000"/>
              </a:lnSpc>
              <a:spcBef>
                <a:spcPct val="0"/>
              </a:spcBef>
            </a:pPr>
            <a:r>
              <a:rPr lang="en-US" altLang="zh-CN" dirty="0" err="1">
                <a:solidFill>
                  <a:schemeClr val="hlink"/>
                </a:solidFill>
              </a:rPr>
              <a:t>CPI</a:t>
            </a:r>
            <a:r>
              <a:rPr lang="en-US" altLang="zh-CN" baseline="-25000" dirty="0" err="1">
                <a:solidFill>
                  <a:schemeClr val="hlink"/>
                </a:solidFill>
              </a:rPr>
              <a:t>ALUOps</a:t>
            </a:r>
            <a:r>
              <a:rPr lang="en-US" altLang="zh-CN" dirty="0">
                <a:solidFill>
                  <a:schemeClr val="hlink"/>
                </a:solidFill>
              </a:rPr>
              <a:t> does not include memory instructions</a:t>
            </a:r>
            <a:endParaRPr lang="zh-CN" altLang="zh-CN" dirty="0"/>
          </a:p>
        </p:txBody>
      </p:sp>
      <p:grpSp>
        <p:nvGrpSpPr>
          <p:cNvPr id="63492" name="Group 4"/>
          <p:cNvGrpSpPr>
            <a:grpSpLocks/>
          </p:cNvGrpSpPr>
          <p:nvPr/>
        </p:nvGrpSpPr>
        <p:grpSpPr bwMode="auto">
          <a:xfrm>
            <a:off x="2085976" y="1524000"/>
            <a:ext cx="8247063" cy="1384300"/>
            <a:chOff x="354" y="960"/>
            <a:chExt cx="5195" cy="872"/>
          </a:xfrm>
        </p:grpSpPr>
        <p:graphicFrame>
          <p:nvGraphicFramePr>
            <p:cNvPr id="63493" name="Object 5"/>
            <p:cNvGraphicFramePr>
              <a:graphicFrameLocks noChangeAspect="1"/>
            </p:cNvGraphicFramePr>
            <p:nvPr/>
          </p:nvGraphicFramePr>
          <p:xfrm>
            <a:off x="354" y="960"/>
            <a:ext cx="5195" cy="390"/>
          </p:xfrm>
          <a:graphic>
            <a:graphicData uri="http://schemas.openxmlformats.org/presentationml/2006/ole">
              <mc:AlternateContent xmlns:mc="http://schemas.openxmlformats.org/markup-compatibility/2006">
                <mc:Choice xmlns:v="urn:schemas-microsoft-com:vml" Requires="v">
                  <p:oleObj spid="_x0000_s15647" name="Equation" r:id="rId3" imgW="8242200" imgH="622080" progId="Equation.3">
                    <p:embed/>
                  </p:oleObj>
                </mc:Choice>
                <mc:Fallback>
                  <p:oleObj name="Equation" r:id="rId3" imgW="8242200" imgH="622080" progId="Equation.3">
                    <p:embed/>
                    <p:pic>
                      <p:nvPicPr>
                        <p:cNvPr id="6349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 y="960"/>
                          <a:ext cx="5195"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4" name="Object 6"/>
            <p:cNvGraphicFramePr>
              <a:graphicFrameLocks noChangeAspect="1"/>
            </p:cNvGraphicFramePr>
            <p:nvPr/>
          </p:nvGraphicFramePr>
          <p:xfrm>
            <a:off x="354" y="1440"/>
            <a:ext cx="4506" cy="392"/>
          </p:xfrm>
          <a:graphic>
            <a:graphicData uri="http://schemas.openxmlformats.org/presentationml/2006/ole">
              <mc:AlternateContent xmlns:mc="http://schemas.openxmlformats.org/markup-compatibility/2006">
                <mc:Choice xmlns:v="urn:schemas-microsoft-com:vml" Requires="v">
                  <p:oleObj spid="_x0000_s15648" name="Equation" r:id="rId5" imgW="7149960" imgH="622080" progId="Equation.3">
                    <p:embed/>
                  </p:oleObj>
                </mc:Choice>
                <mc:Fallback>
                  <p:oleObj name="Equation" r:id="rId5" imgW="7149960" imgH="622080" progId="Equation.3">
                    <p:embed/>
                    <p:pic>
                      <p:nvPicPr>
                        <p:cNvPr id="6349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 y="1440"/>
                          <a:ext cx="4506" cy="3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495" name="Rectangle 7"/>
          <p:cNvSpPr>
            <a:spLocks noGrp="1" noChangeArrowheads="1"/>
          </p:cNvSpPr>
          <p:nvPr>
            <p:ph type="title"/>
          </p:nvPr>
        </p:nvSpPr>
        <p:spPr>
          <a:xfrm>
            <a:off x="2514600" y="0"/>
            <a:ext cx="7162800" cy="914400"/>
          </a:xfrm>
        </p:spPr>
        <p:txBody>
          <a:bodyPr/>
          <a:lstStyle/>
          <a:p>
            <a:r>
              <a:rPr lang="en-US" altLang="zh-CN"/>
              <a:t>Cache performance</a:t>
            </a:r>
          </a:p>
        </p:txBody>
      </p:sp>
      <p:sp>
        <p:nvSpPr>
          <p:cNvPr id="63497" name="Rectangle 9"/>
          <p:cNvSpPr>
            <a:spLocks noChangeArrowheads="1"/>
          </p:cNvSpPr>
          <p:nvPr/>
        </p:nvSpPr>
        <p:spPr bwMode="auto">
          <a:xfrm>
            <a:off x="1295400" y="-762000"/>
            <a:ext cx="8382000" cy="1892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lr>
                <a:schemeClr val="accent1"/>
              </a:buClr>
              <a:buFont typeface="Wingdings" panose="05000000000000000000" pitchFamily="2" charset="2"/>
              <a:buChar char="n"/>
              <a:defRPr kumimoji="1" sz="3200">
                <a:solidFill>
                  <a:srgbClr val="0000FF"/>
                </a:solidFill>
                <a:latin typeface="Arial" panose="020B0604020202020204" pitchFamily="34" charset="0"/>
                <a:ea typeface="黑体" panose="02010609060101010101" pitchFamily="49" charset="-122"/>
              </a:defRPr>
            </a:lvl1pPr>
            <a:lvl2pPr marL="742950" indent="-285750">
              <a:spcBef>
                <a:spcPct val="20000"/>
              </a:spcBef>
              <a:buClr>
                <a:srgbClr val="00FF00"/>
              </a:buClr>
              <a:buFont typeface="Wingdings" panose="05000000000000000000" pitchFamily="2" charset="2"/>
              <a:buChar char="u"/>
              <a:defRPr kumimoji="1" sz="2800">
                <a:solidFill>
                  <a:srgbClr val="0000FF"/>
                </a:solidFill>
                <a:latin typeface="Arial" panose="020B060402020202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l"/>
              <a:defRPr kumimoji="1" sz="2400">
                <a:solidFill>
                  <a:srgbClr val="0000FF"/>
                </a:solidFill>
                <a:latin typeface="Arial" panose="020B0604020202020204" pitchFamily="34" charset="0"/>
                <a:ea typeface="黑体" panose="02010609060101010101" pitchFamily="49" charset="-122"/>
              </a:defRPr>
            </a:lvl3pPr>
            <a:lvl4pPr marL="1600200" indent="-228600">
              <a:spcBef>
                <a:spcPct val="20000"/>
              </a:spcBef>
              <a:buClr>
                <a:srgbClr val="99CCFF"/>
              </a:buClr>
              <a:buFont typeface="Monotype Sorts" pitchFamily="2" charset="2"/>
              <a:buChar char="0"/>
              <a:defRPr kumimoji="1" sz="2000">
                <a:solidFill>
                  <a:srgbClr val="0000FF"/>
                </a:solidFill>
                <a:latin typeface="Arial" panose="020B0604020202020204" pitchFamily="34" charset="0"/>
                <a:ea typeface="黑体" panose="02010609060101010101" pitchFamily="49" charset="-122"/>
              </a:defRPr>
            </a:lvl4pPr>
            <a:lvl5pPr marL="2057400" indent="-228600">
              <a:spcBef>
                <a:spcPct val="20000"/>
              </a:spcBef>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9pPr>
          </a:lstStyle>
          <a:p>
            <a:pPr lvl="1">
              <a:buFont typeface="Wingdings" panose="05000000000000000000" pitchFamily="2" charset="2"/>
              <a:buNone/>
            </a:pPr>
            <a:endParaRPr lang="zh-CN" altLang="zh-CN">
              <a:solidFill>
                <a:schemeClr val="hlink"/>
              </a:solidFill>
            </a:endParaRPr>
          </a:p>
        </p:txBody>
      </p:sp>
      <p:graphicFrame>
        <p:nvGraphicFramePr>
          <p:cNvPr id="63498" name="Object 10"/>
          <p:cNvGraphicFramePr>
            <a:graphicFrameLocks noChangeAspect="1"/>
          </p:cNvGraphicFramePr>
          <p:nvPr>
            <p:extLst>
              <p:ext uri="{D42A27DB-BD31-4B8C-83A1-F6EECF244321}">
                <p14:modId xmlns:p14="http://schemas.microsoft.com/office/powerpoint/2010/main" val="1009307977"/>
              </p:ext>
            </p:extLst>
          </p:nvPr>
        </p:nvGraphicFramePr>
        <p:xfrm>
          <a:off x="2133600" y="5026868"/>
          <a:ext cx="6935788" cy="622300"/>
        </p:xfrm>
        <a:graphic>
          <a:graphicData uri="http://schemas.openxmlformats.org/presentationml/2006/ole">
            <mc:AlternateContent xmlns:mc="http://schemas.openxmlformats.org/markup-compatibility/2006">
              <mc:Choice xmlns:v="urn:schemas-microsoft-com:vml" Requires="v">
                <p:oleObj spid="_x0000_s15649" name="Equation" r:id="rId7" imgW="6933960" imgH="622080" progId="Equation.3">
                  <p:embed/>
                </p:oleObj>
              </mc:Choice>
              <mc:Fallback>
                <p:oleObj name="Equation" r:id="rId7" imgW="6933960" imgH="622080" progId="Equation.3">
                  <p:embed/>
                  <p:pic>
                    <p:nvPicPr>
                      <p:cNvPr id="63498"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5026868"/>
                        <a:ext cx="6935788"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9" name="Object 11"/>
          <p:cNvGraphicFramePr>
            <a:graphicFrameLocks noChangeAspect="1"/>
          </p:cNvGraphicFramePr>
          <p:nvPr>
            <p:extLst>
              <p:ext uri="{D42A27DB-BD31-4B8C-83A1-F6EECF244321}">
                <p14:modId xmlns:p14="http://schemas.microsoft.com/office/powerpoint/2010/main" val="3678282179"/>
              </p:ext>
            </p:extLst>
          </p:nvPr>
        </p:nvGraphicFramePr>
        <p:xfrm>
          <a:off x="2085975" y="5779344"/>
          <a:ext cx="4267200" cy="265113"/>
        </p:xfrm>
        <a:graphic>
          <a:graphicData uri="http://schemas.openxmlformats.org/presentationml/2006/ole">
            <mc:AlternateContent xmlns:mc="http://schemas.openxmlformats.org/markup-compatibility/2006">
              <mc:Choice xmlns:v="urn:schemas-microsoft-com:vml" Requires="v">
                <p:oleObj spid="_x0000_s15650" name="Equation" r:id="rId9" imgW="4267080" imgH="266400" progId="Equation.3">
                  <p:embed/>
                </p:oleObj>
              </mc:Choice>
              <mc:Fallback>
                <p:oleObj name="Equation" r:id="rId9" imgW="4267080" imgH="266400" progId="Equation.3">
                  <p:embed/>
                  <p:pic>
                    <p:nvPicPr>
                      <p:cNvPr id="63499"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85975" y="5779344"/>
                        <a:ext cx="42672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500" name="Object 12"/>
          <p:cNvGraphicFramePr>
            <a:graphicFrameLocks noChangeAspect="1"/>
          </p:cNvGraphicFramePr>
          <p:nvPr>
            <p:extLst>
              <p:ext uri="{D42A27DB-BD31-4B8C-83A1-F6EECF244321}">
                <p14:modId xmlns:p14="http://schemas.microsoft.com/office/powerpoint/2010/main" val="298122531"/>
              </p:ext>
            </p:extLst>
          </p:nvPr>
        </p:nvGraphicFramePr>
        <p:xfrm>
          <a:off x="2819400" y="6093668"/>
          <a:ext cx="4686300" cy="647700"/>
        </p:xfrm>
        <a:graphic>
          <a:graphicData uri="http://schemas.openxmlformats.org/presentationml/2006/ole">
            <mc:AlternateContent xmlns:mc="http://schemas.openxmlformats.org/markup-compatibility/2006">
              <mc:Choice xmlns:v="urn:schemas-microsoft-com:vml" Requires="v">
                <p:oleObj spid="_x0000_s15651" name="Equation" r:id="rId11" imgW="4686120" imgH="647640" progId="Equation.3">
                  <p:embed/>
                </p:oleObj>
              </mc:Choice>
              <mc:Fallback>
                <p:oleObj name="Equation" r:id="rId11" imgW="4686120" imgH="647640" progId="Equation.3">
                  <p:embed/>
                  <p:pic>
                    <p:nvPicPr>
                      <p:cNvPr id="6350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19400" y="6093668"/>
                        <a:ext cx="46863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33506165"/>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zh-CN" smtClean="0"/>
              <a:t>Impact on Performance</a:t>
            </a:r>
            <a:endParaRPr lang="en-US" altLang="zh-CN"/>
          </a:p>
        </p:txBody>
      </p:sp>
      <p:sp>
        <p:nvSpPr>
          <p:cNvPr id="64515" name="Rectangle 3"/>
          <p:cNvSpPr>
            <a:spLocks noGrp="1" noChangeArrowheads="1"/>
          </p:cNvSpPr>
          <p:nvPr>
            <p:ph type="body" idx="1"/>
          </p:nvPr>
        </p:nvSpPr>
        <p:spPr>
          <a:xfrm>
            <a:off x="551384" y="1484784"/>
            <a:ext cx="11233248" cy="5112568"/>
          </a:xfrm>
        </p:spPr>
        <p:txBody>
          <a:bodyPr/>
          <a:lstStyle/>
          <a:p>
            <a:r>
              <a:rPr lang="en-US" altLang="zh-CN" dirty="0" smtClean="0"/>
              <a:t>Suppose a processor executes at </a:t>
            </a:r>
          </a:p>
          <a:p>
            <a:pPr lvl="1"/>
            <a:r>
              <a:rPr lang="en-US" altLang="zh-CN" dirty="0" smtClean="0"/>
              <a:t>Clock Rate = 200 MHz (5 ns per cycle), Ideal (no misses) CPI = 1.1 </a:t>
            </a:r>
          </a:p>
          <a:p>
            <a:pPr lvl="1"/>
            <a:r>
              <a:rPr lang="en-US" altLang="zh-CN" dirty="0" smtClean="0"/>
              <a:t>50% </a:t>
            </a:r>
            <a:r>
              <a:rPr lang="en-US" altLang="zh-CN" dirty="0" err="1" smtClean="0"/>
              <a:t>arith</a:t>
            </a:r>
            <a:r>
              <a:rPr lang="en-US" altLang="zh-CN" dirty="0" smtClean="0"/>
              <a:t>/logic, 30% </a:t>
            </a:r>
            <a:r>
              <a:rPr lang="en-US" altLang="zh-CN" dirty="0" err="1" smtClean="0"/>
              <a:t>ld</a:t>
            </a:r>
            <a:r>
              <a:rPr lang="en-US" altLang="zh-CN" dirty="0" smtClean="0"/>
              <a:t>/</a:t>
            </a:r>
            <a:r>
              <a:rPr lang="en-US" altLang="zh-CN" dirty="0" err="1" smtClean="0"/>
              <a:t>st</a:t>
            </a:r>
            <a:r>
              <a:rPr lang="en-US" altLang="zh-CN" dirty="0" smtClean="0"/>
              <a:t>, 20% control</a:t>
            </a:r>
          </a:p>
          <a:p>
            <a:r>
              <a:rPr lang="en-US" altLang="zh-CN" dirty="0" smtClean="0"/>
              <a:t>Suppose that 10% of memory operations get 50 cycle miss penalty</a:t>
            </a:r>
          </a:p>
          <a:p>
            <a:r>
              <a:rPr lang="en-US" altLang="zh-CN" dirty="0" smtClean="0"/>
              <a:t>Suppose that 1% of instructions get same miss penalty</a:t>
            </a:r>
          </a:p>
          <a:p>
            <a:r>
              <a:rPr lang="en-US" altLang="zh-CN" dirty="0" smtClean="0"/>
              <a:t>CPI = ideal CPI + average stalls per instruction	=	1.1(cycles/ins)  + [ 0.30 (</a:t>
            </a:r>
            <a:r>
              <a:rPr lang="en-US" altLang="zh-CN" dirty="0" err="1" smtClean="0"/>
              <a:t>DataMops</a:t>
            </a:r>
            <a:r>
              <a:rPr lang="en-US" altLang="zh-CN" dirty="0" smtClean="0"/>
              <a:t>/ins) </a:t>
            </a:r>
            <a:br>
              <a:rPr lang="en-US" altLang="zh-CN" dirty="0" smtClean="0"/>
            </a:br>
            <a:r>
              <a:rPr lang="en-US" altLang="zh-CN" dirty="0" smtClean="0"/>
              <a:t>			x 0.10 (miss/</a:t>
            </a:r>
            <a:r>
              <a:rPr lang="en-US" altLang="zh-CN" dirty="0" err="1" smtClean="0"/>
              <a:t>DataMop</a:t>
            </a:r>
            <a:r>
              <a:rPr lang="en-US" altLang="zh-CN" dirty="0" smtClean="0"/>
              <a:t>) x 50 (cycle/miss)] +</a:t>
            </a:r>
            <a:br>
              <a:rPr lang="en-US" altLang="zh-CN" dirty="0" smtClean="0"/>
            </a:br>
            <a:r>
              <a:rPr lang="en-US" altLang="zh-CN" dirty="0" smtClean="0"/>
              <a:t>	[ 1 (</a:t>
            </a:r>
            <a:r>
              <a:rPr lang="en-US" altLang="zh-CN" dirty="0" err="1" smtClean="0"/>
              <a:t>InstMop</a:t>
            </a:r>
            <a:r>
              <a:rPr lang="en-US" altLang="zh-CN" dirty="0" smtClean="0"/>
              <a:t>/ins) 	x 0.01 (miss/</a:t>
            </a:r>
            <a:r>
              <a:rPr lang="en-US" altLang="zh-CN" dirty="0" err="1" smtClean="0"/>
              <a:t>InstMop</a:t>
            </a:r>
            <a:r>
              <a:rPr lang="en-US" altLang="zh-CN" dirty="0" smtClean="0"/>
              <a:t>) x 50 (cycle/miss)] </a:t>
            </a:r>
            <a:br>
              <a:rPr lang="en-US" altLang="zh-CN" dirty="0" smtClean="0"/>
            </a:br>
            <a:r>
              <a:rPr lang="en-US" altLang="zh-CN" dirty="0" smtClean="0"/>
              <a:t>		= (1.1 +  1.5 + .5) cycle/ins = 3.1 </a:t>
            </a:r>
          </a:p>
          <a:p>
            <a:r>
              <a:rPr lang="en-US" altLang="zh-CN" dirty="0" smtClean="0"/>
              <a:t>&gt;60% of the time the processor is stalled waiting for memory!</a:t>
            </a:r>
          </a:p>
          <a:p>
            <a:r>
              <a:rPr lang="en-US" altLang="zh-CN" dirty="0" smtClean="0"/>
              <a:t>AMAT=(1/1.3)x[1+0.01x50]+(0.3/1.3)x[1+0.1x50]=2.54</a:t>
            </a:r>
            <a:endParaRPr lang="en-US" altLang="zh-CN" dirty="0"/>
          </a:p>
        </p:txBody>
      </p:sp>
    </p:spTree>
    <p:extLst>
      <p:ext uri="{BB962C8B-B14F-4D97-AF65-F5344CB8AC3E}">
        <p14:creationId xmlns:p14="http://schemas.microsoft.com/office/powerpoint/2010/main" val="2399608170"/>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Miss per 1000 instructions</a:t>
            </a:r>
            <a:endParaRPr lang="zh-CN" altLang="en-US" dirty="0"/>
          </a:p>
        </p:txBody>
      </p:sp>
      <p:sp>
        <p:nvSpPr>
          <p:cNvPr id="3" name="内容占位符 2"/>
          <p:cNvSpPr>
            <a:spLocks noGrp="1"/>
          </p:cNvSpPr>
          <p:nvPr>
            <p:ph idx="1"/>
          </p:nvPr>
        </p:nvSpPr>
        <p:spPr/>
        <p:txBody>
          <a:bodyPr/>
          <a:lstStyle/>
          <a:p>
            <a:r>
              <a:rPr lang="en-US" altLang="zh-CN" dirty="0"/>
              <a:t>F</a:t>
            </a:r>
            <a:r>
              <a:rPr lang="en-US" altLang="zh-CN" dirty="0" smtClean="0"/>
              <a:t>or </a:t>
            </a:r>
            <a:r>
              <a:rPr lang="en-US" altLang="zh-CN" dirty="0"/>
              <a:t>instruction, data, and unified caches of different </a:t>
            </a:r>
            <a:r>
              <a:rPr lang="en-US" altLang="zh-CN" dirty="0" smtClean="0"/>
              <a:t>sizes</a:t>
            </a:r>
          </a:p>
          <a:p>
            <a:r>
              <a:rPr lang="en-US" altLang="zh-CN" dirty="0" smtClean="0"/>
              <a:t>The </a:t>
            </a:r>
            <a:r>
              <a:rPr lang="en-US" altLang="zh-CN" dirty="0"/>
              <a:t>percentage of instruction references is about 74</a:t>
            </a:r>
            <a:r>
              <a:rPr lang="en-US" altLang="zh-CN" dirty="0" smtClean="0"/>
              <a:t>%</a:t>
            </a:r>
            <a:endParaRPr lang="zh-CN" altLang="en-US" dirty="0"/>
          </a:p>
        </p:txBody>
      </p:sp>
      <p:pic>
        <p:nvPicPr>
          <p:cNvPr id="4" name="图片 3"/>
          <p:cNvPicPr>
            <a:picLocks noChangeAspect="1"/>
          </p:cNvPicPr>
          <p:nvPr/>
        </p:nvPicPr>
        <p:blipFill>
          <a:blip r:embed="rId2"/>
          <a:stretch>
            <a:fillRect/>
          </a:stretch>
        </p:blipFill>
        <p:spPr>
          <a:xfrm>
            <a:off x="767408" y="2708920"/>
            <a:ext cx="10812706" cy="3840975"/>
          </a:xfrm>
          <a:prstGeom prst="rect">
            <a:avLst/>
          </a:prstGeom>
        </p:spPr>
      </p:pic>
    </p:spTree>
    <p:extLst>
      <p:ext uri="{BB962C8B-B14F-4D97-AF65-F5344CB8AC3E}">
        <p14:creationId xmlns:p14="http://schemas.microsoft.com/office/powerpoint/2010/main" val="144299082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767408" y="449017"/>
            <a:ext cx="8839200" cy="838200"/>
          </a:xfrm>
        </p:spPr>
        <p:txBody>
          <a:bodyPr/>
          <a:lstStyle/>
          <a:p>
            <a:r>
              <a:rPr lang="en-US" altLang="zh-CN" dirty="0"/>
              <a:t>Example: Harvard Architecture</a:t>
            </a:r>
          </a:p>
        </p:txBody>
      </p:sp>
      <p:sp>
        <p:nvSpPr>
          <p:cNvPr id="65539" name="Rectangle 3"/>
          <p:cNvSpPr>
            <a:spLocks noChangeArrowheads="1"/>
          </p:cNvSpPr>
          <p:nvPr/>
        </p:nvSpPr>
        <p:spPr bwMode="auto">
          <a:xfrm>
            <a:off x="551384" y="1480326"/>
            <a:ext cx="1087320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342900" indent="-342900">
              <a:spcBef>
                <a:spcPct val="20000"/>
              </a:spcBef>
              <a:buClr>
                <a:schemeClr val="accent1"/>
              </a:buClr>
              <a:buFont typeface="Wingdings" panose="05000000000000000000" pitchFamily="2" charset="2"/>
              <a:buChar char="n"/>
              <a:defRPr kumimoji="1" sz="3200">
                <a:solidFill>
                  <a:srgbClr val="0000FF"/>
                </a:solidFill>
                <a:latin typeface="Arial" panose="020B0604020202020204" pitchFamily="34" charset="0"/>
                <a:ea typeface="黑体" panose="02010609060101010101" pitchFamily="49" charset="-122"/>
              </a:defRPr>
            </a:lvl1pPr>
            <a:lvl2pPr marL="742950" indent="-285750">
              <a:spcBef>
                <a:spcPct val="20000"/>
              </a:spcBef>
              <a:buClr>
                <a:srgbClr val="00FF00"/>
              </a:buClr>
              <a:buFont typeface="Wingdings" panose="05000000000000000000" pitchFamily="2" charset="2"/>
              <a:buChar char="u"/>
              <a:defRPr kumimoji="1" sz="2800">
                <a:solidFill>
                  <a:srgbClr val="0000FF"/>
                </a:solidFill>
                <a:latin typeface="Arial" panose="020B060402020202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l"/>
              <a:defRPr kumimoji="1" sz="2400">
                <a:solidFill>
                  <a:srgbClr val="0000FF"/>
                </a:solidFill>
                <a:latin typeface="Arial" panose="020B0604020202020204" pitchFamily="34" charset="0"/>
                <a:ea typeface="黑体" panose="02010609060101010101" pitchFamily="49" charset="-122"/>
              </a:defRPr>
            </a:lvl3pPr>
            <a:lvl4pPr marL="1600200" indent="-228600">
              <a:spcBef>
                <a:spcPct val="20000"/>
              </a:spcBef>
              <a:buClr>
                <a:srgbClr val="99CCFF"/>
              </a:buClr>
              <a:buFont typeface="Monotype Sorts" pitchFamily="2" charset="2"/>
              <a:buChar char="0"/>
              <a:defRPr kumimoji="1" sz="2000">
                <a:solidFill>
                  <a:srgbClr val="0000FF"/>
                </a:solidFill>
                <a:latin typeface="Arial" panose="020B0604020202020204" pitchFamily="34" charset="0"/>
                <a:ea typeface="黑体" panose="02010609060101010101" pitchFamily="49" charset="-122"/>
              </a:defRPr>
            </a:lvl4pPr>
            <a:lvl5pPr marL="2057400" indent="-228600">
              <a:spcBef>
                <a:spcPct val="20000"/>
              </a:spcBef>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5pPr>
            <a:lvl6pPr marL="25146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6pPr>
            <a:lvl7pPr marL="29718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7pPr>
            <a:lvl8pPr marL="34290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8pPr>
            <a:lvl9pPr marL="3886200" indent="-228600" fontAlgn="base">
              <a:spcBef>
                <a:spcPct val="20000"/>
              </a:spcBef>
              <a:spcAft>
                <a:spcPct val="0"/>
              </a:spcAft>
              <a:buClr>
                <a:srgbClr val="FF99CC"/>
              </a:buClr>
              <a:buFont typeface="Monotype Sorts" pitchFamily="2" charset="2"/>
              <a:buChar char="."/>
              <a:defRPr kumimoji="1" sz="2000">
                <a:solidFill>
                  <a:srgbClr val="0000FF"/>
                </a:solidFill>
                <a:latin typeface="Arial" panose="020B0604020202020204" pitchFamily="34" charset="0"/>
                <a:ea typeface="黑体" panose="02010609060101010101" pitchFamily="49" charset="-122"/>
              </a:defRPr>
            </a:lvl9pPr>
          </a:lstStyle>
          <a:p>
            <a:pPr>
              <a:lnSpc>
                <a:spcPts val="3600"/>
              </a:lnSpc>
              <a:spcBef>
                <a:spcPct val="0"/>
              </a:spcBef>
            </a:pPr>
            <a:r>
              <a:rPr lang="en-US" altLang="zh-CN" sz="2800" dirty="0"/>
              <a:t>Unified vs Separate I&amp;D (Harvard)</a:t>
            </a:r>
          </a:p>
          <a:p>
            <a:pPr lvl="1">
              <a:lnSpc>
                <a:spcPts val="3600"/>
              </a:lnSpc>
              <a:spcBef>
                <a:spcPct val="0"/>
              </a:spcBef>
            </a:pPr>
            <a:r>
              <a:rPr lang="en-US" altLang="zh-CN" sz="2400" dirty="0" smtClean="0"/>
              <a:t>16KB </a:t>
            </a:r>
            <a:r>
              <a:rPr lang="en-US" altLang="zh-CN" sz="2400" dirty="0"/>
              <a:t>I&amp;D: </a:t>
            </a:r>
            <a:r>
              <a:rPr lang="en-US" altLang="zh-CN" sz="2400" dirty="0" err="1"/>
              <a:t>Inst</a:t>
            </a:r>
            <a:r>
              <a:rPr lang="en-US" altLang="zh-CN" sz="2400" dirty="0"/>
              <a:t> miss rate=0.64%, </a:t>
            </a:r>
            <a:r>
              <a:rPr lang="en-US" altLang="zh-CN" sz="2400" dirty="0" smtClean="0"/>
              <a:t/>
            </a:r>
            <a:br>
              <a:rPr lang="en-US" altLang="zh-CN" sz="2400" dirty="0" smtClean="0"/>
            </a:br>
            <a:r>
              <a:rPr lang="en-US" altLang="zh-CN" sz="2400" dirty="0" smtClean="0"/>
              <a:t> Data </a:t>
            </a:r>
            <a:r>
              <a:rPr lang="en-US" altLang="zh-CN" sz="2400" dirty="0"/>
              <a:t>miss rate=6.47%</a:t>
            </a:r>
          </a:p>
          <a:p>
            <a:pPr lvl="1">
              <a:lnSpc>
                <a:spcPts val="3600"/>
              </a:lnSpc>
              <a:spcBef>
                <a:spcPct val="0"/>
              </a:spcBef>
            </a:pPr>
            <a:r>
              <a:rPr lang="en-US" altLang="zh-CN" sz="2400" dirty="0"/>
              <a:t>32KB unified: </a:t>
            </a:r>
            <a:r>
              <a:rPr lang="en-US" altLang="zh-CN" sz="2400" dirty="0" smtClean="0"/>
              <a:t/>
            </a:r>
            <a:br>
              <a:rPr lang="en-US" altLang="zh-CN" sz="2400" dirty="0" smtClean="0"/>
            </a:br>
            <a:r>
              <a:rPr lang="en-US" altLang="zh-CN" sz="2400" dirty="0" smtClean="0"/>
              <a:t>Aggregate </a:t>
            </a:r>
            <a:r>
              <a:rPr lang="en-US" altLang="zh-CN" sz="2400" dirty="0"/>
              <a:t>miss rate=1.99%</a:t>
            </a:r>
          </a:p>
          <a:p>
            <a:pPr>
              <a:lnSpc>
                <a:spcPts val="3600"/>
              </a:lnSpc>
              <a:spcBef>
                <a:spcPct val="0"/>
              </a:spcBef>
            </a:pPr>
            <a:r>
              <a:rPr lang="en-US" altLang="zh-CN" sz="2800" dirty="0"/>
              <a:t>Which is better (ignore L2 cache)?</a:t>
            </a:r>
          </a:p>
          <a:p>
            <a:pPr lvl="1">
              <a:lnSpc>
                <a:spcPts val="3600"/>
              </a:lnSpc>
              <a:spcBef>
                <a:spcPct val="0"/>
              </a:spcBef>
            </a:pPr>
            <a:r>
              <a:rPr lang="en-US" altLang="zh-CN" sz="2400" dirty="0"/>
              <a:t>Assume 33% data ops </a:t>
            </a:r>
            <a:r>
              <a:rPr lang="en-US" altLang="zh-CN" sz="2400" dirty="0">
                <a:sym typeface="Symbol" panose="05050102010706020507" pitchFamily="18" charset="2"/>
              </a:rPr>
              <a:t></a:t>
            </a:r>
            <a:r>
              <a:rPr lang="en-US" altLang="zh-CN" sz="2400" dirty="0"/>
              <a:t> 75% accesses from instructions (1.0/1.33)</a:t>
            </a:r>
          </a:p>
          <a:p>
            <a:pPr lvl="1">
              <a:lnSpc>
                <a:spcPts val="3600"/>
              </a:lnSpc>
              <a:spcBef>
                <a:spcPct val="0"/>
              </a:spcBef>
            </a:pPr>
            <a:r>
              <a:rPr lang="en-US" altLang="zh-CN" sz="2400" dirty="0"/>
              <a:t>hit time=1, miss time=50</a:t>
            </a:r>
          </a:p>
          <a:p>
            <a:pPr lvl="1">
              <a:lnSpc>
                <a:spcPts val="3600"/>
              </a:lnSpc>
              <a:spcBef>
                <a:spcPct val="0"/>
              </a:spcBef>
            </a:pPr>
            <a:r>
              <a:rPr lang="en-US" altLang="zh-CN" sz="2400" dirty="0"/>
              <a:t>Note that </a:t>
            </a:r>
            <a:r>
              <a:rPr lang="en-US" altLang="zh-CN" sz="2400" i="1" dirty="0"/>
              <a:t>data</a:t>
            </a:r>
            <a:r>
              <a:rPr lang="en-US" altLang="zh-CN" sz="2400" dirty="0"/>
              <a:t> hit has 1 stall for unified cache (only one port)</a:t>
            </a:r>
          </a:p>
          <a:p>
            <a:pPr>
              <a:lnSpc>
                <a:spcPts val="3600"/>
              </a:lnSpc>
              <a:spcBef>
                <a:spcPct val="0"/>
              </a:spcBef>
              <a:buFont typeface="Wingdings" panose="05000000000000000000" pitchFamily="2" charset="2"/>
              <a:buNone/>
            </a:pPr>
            <a:r>
              <a:rPr lang="en-US" altLang="zh-CN" sz="2400" dirty="0" err="1"/>
              <a:t>AMAT</a:t>
            </a:r>
            <a:r>
              <a:rPr lang="en-US" altLang="zh-CN" sz="2400" baseline="-25000" dirty="0" err="1"/>
              <a:t>Harvard</a:t>
            </a:r>
            <a:r>
              <a:rPr lang="en-US" altLang="zh-CN" sz="2400" dirty="0"/>
              <a:t>=75%x(1+0.64%x50)+25%x(1+6.47%x50) =  2.05</a:t>
            </a:r>
          </a:p>
          <a:p>
            <a:pPr>
              <a:lnSpc>
                <a:spcPts val="3600"/>
              </a:lnSpc>
              <a:spcBef>
                <a:spcPct val="0"/>
              </a:spcBef>
              <a:buFont typeface="Wingdings" panose="05000000000000000000" pitchFamily="2" charset="2"/>
              <a:buNone/>
            </a:pPr>
            <a:r>
              <a:rPr lang="en-US" altLang="zh-CN" sz="2400" dirty="0" err="1"/>
              <a:t>AMAT</a:t>
            </a:r>
            <a:r>
              <a:rPr lang="en-US" altLang="zh-CN" sz="2400" baseline="-25000" dirty="0" err="1"/>
              <a:t>Unified</a:t>
            </a:r>
            <a:r>
              <a:rPr lang="en-US" altLang="zh-CN" sz="2400" dirty="0"/>
              <a:t>=75%x(1+1.99%x50)+25%x(1+1+1.99%x50)= 2.24</a:t>
            </a:r>
          </a:p>
        </p:txBody>
      </p:sp>
      <p:grpSp>
        <p:nvGrpSpPr>
          <p:cNvPr id="65540" name="Group 4"/>
          <p:cNvGrpSpPr>
            <a:grpSpLocks/>
          </p:cNvGrpSpPr>
          <p:nvPr/>
        </p:nvGrpSpPr>
        <p:grpSpPr bwMode="auto">
          <a:xfrm>
            <a:off x="6384032" y="1988840"/>
            <a:ext cx="5562600" cy="1476145"/>
            <a:chOff x="816" y="998"/>
            <a:chExt cx="3792" cy="1265"/>
          </a:xfrm>
        </p:grpSpPr>
        <p:sp>
          <p:nvSpPr>
            <p:cNvPr id="65541" name="Rectangle 5"/>
            <p:cNvSpPr>
              <a:spLocks noChangeArrowheads="1"/>
            </p:cNvSpPr>
            <p:nvPr/>
          </p:nvSpPr>
          <p:spPr bwMode="auto">
            <a:xfrm>
              <a:off x="3191" y="1237"/>
              <a:ext cx="378" cy="26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1400" b="1">
                  <a:latin typeface="Comic Sans MS" panose="030F0702030302020204" pitchFamily="66" charset="0"/>
                </a:rPr>
                <a:t>Proc</a:t>
              </a:r>
            </a:p>
          </p:txBody>
        </p:sp>
        <p:sp>
          <p:nvSpPr>
            <p:cNvPr id="65542" name="Rectangle 6"/>
            <p:cNvSpPr>
              <a:spLocks noChangeArrowheads="1"/>
            </p:cNvSpPr>
            <p:nvPr/>
          </p:nvSpPr>
          <p:spPr bwMode="auto">
            <a:xfrm>
              <a:off x="2112" y="1229"/>
              <a:ext cx="960" cy="26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1400" b="1">
                  <a:latin typeface="Comic Sans MS" panose="030F0702030302020204" pitchFamily="66" charset="0"/>
                </a:rPr>
                <a:t>I-Cache-1</a:t>
              </a:r>
            </a:p>
          </p:txBody>
        </p:sp>
        <p:grpSp>
          <p:nvGrpSpPr>
            <p:cNvPr id="65543" name="Group 7"/>
            <p:cNvGrpSpPr>
              <a:grpSpLocks/>
            </p:cNvGrpSpPr>
            <p:nvPr/>
          </p:nvGrpSpPr>
          <p:grpSpPr bwMode="auto">
            <a:xfrm>
              <a:off x="816" y="998"/>
              <a:ext cx="960" cy="1265"/>
              <a:chOff x="816" y="1190"/>
              <a:chExt cx="960" cy="1265"/>
            </a:xfrm>
          </p:grpSpPr>
          <p:sp>
            <p:nvSpPr>
              <p:cNvPr id="65544" name="Rectangle 8"/>
              <p:cNvSpPr>
                <a:spLocks noChangeArrowheads="1"/>
              </p:cNvSpPr>
              <p:nvPr/>
            </p:nvSpPr>
            <p:spPr bwMode="auto">
              <a:xfrm>
                <a:off x="1107" y="1190"/>
                <a:ext cx="378" cy="26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1400" b="1">
                    <a:latin typeface="Comic Sans MS" panose="030F0702030302020204" pitchFamily="66" charset="0"/>
                  </a:rPr>
                  <a:t>Proc</a:t>
                </a:r>
              </a:p>
            </p:txBody>
          </p:sp>
          <p:sp>
            <p:nvSpPr>
              <p:cNvPr id="65545" name="Rectangle 9"/>
              <p:cNvSpPr>
                <a:spLocks noChangeArrowheads="1"/>
              </p:cNvSpPr>
              <p:nvPr/>
            </p:nvSpPr>
            <p:spPr bwMode="auto">
              <a:xfrm>
                <a:off x="936" y="1477"/>
                <a:ext cx="720" cy="46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1400" b="1">
                    <a:latin typeface="Comic Sans MS" panose="030F0702030302020204" pitchFamily="66" charset="0"/>
                  </a:rPr>
                  <a:t>Unified</a:t>
                </a:r>
              </a:p>
              <a:p>
                <a:pPr algn="ctr"/>
                <a:r>
                  <a:rPr lang="en-US" altLang="zh-CN" sz="1400" b="1">
                    <a:latin typeface="Comic Sans MS" panose="030F0702030302020204" pitchFamily="66" charset="0"/>
                  </a:rPr>
                  <a:t>Cache-1</a:t>
                </a:r>
              </a:p>
            </p:txBody>
          </p:sp>
          <p:sp>
            <p:nvSpPr>
              <p:cNvPr id="65546" name="Rectangle 10"/>
              <p:cNvSpPr>
                <a:spLocks noChangeArrowheads="1"/>
              </p:cNvSpPr>
              <p:nvPr/>
            </p:nvSpPr>
            <p:spPr bwMode="auto">
              <a:xfrm>
                <a:off x="816" y="1995"/>
                <a:ext cx="960" cy="46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1400" b="1" dirty="0">
                    <a:latin typeface="Comic Sans MS" panose="030F0702030302020204" pitchFamily="66" charset="0"/>
                  </a:rPr>
                  <a:t>Unified</a:t>
                </a:r>
              </a:p>
              <a:p>
                <a:pPr algn="ctr"/>
                <a:r>
                  <a:rPr lang="en-US" altLang="zh-CN" sz="1400" b="1" dirty="0">
                    <a:latin typeface="Comic Sans MS" panose="030F0702030302020204" pitchFamily="66" charset="0"/>
                  </a:rPr>
                  <a:t>Cache-2</a:t>
                </a:r>
              </a:p>
            </p:txBody>
          </p:sp>
        </p:grpSp>
        <p:sp>
          <p:nvSpPr>
            <p:cNvPr id="65547" name="Rectangle 11"/>
            <p:cNvSpPr>
              <a:spLocks noChangeArrowheads="1"/>
            </p:cNvSpPr>
            <p:nvPr/>
          </p:nvSpPr>
          <p:spPr bwMode="auto">
            <a:xfrm>
              <a:off x="3696" y="1237"/>
              <a:ext cx="912" cy="26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1400" b="1" dirty="0">
                  <a:latin typeface="Comic Sans MS" panose="030F0702030302020204" pitchFamily="66" charset="0"/>
                </a:rPr>
                <a:t>D-Cache-1</a:t>
              </a:r>
            </a:p>
          </p:txBody>
        </p:sp>
        <p:sp>
          <p:nvSpPr>
            <p:cNvPr id="65548" name="Rectangle 12"/>
            <p:cNvSpPr>
              <a:spLocks noChangeArrowheads="1"/>
            </p:cNvSpPr>
            <p:nvPr/>
          </p:nvSpPr>
          <p:spPr bwMode="auto">
            <a:xfrm>
              <a:off x="1107" y="998"/>
              <a:ext cx="378" cy="26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zh-CN" sz="1400" b="1">
                  <a:latin typeface="Comic Sans MS" panose="030F0702030302020204" pitchFamily="66" charset="0"/>
                </a:rPr>
                <a:t>Proc</a:t>
              </a:r>
            </a:p>
          </p:txBody>
        </p:sp>
        <p:sp>
          <p:nvSpPr>
            <p:cNvPr id="65549" name="Rectangle 13"/>
            <p:cNvSpPr>
              <a:spLocks noChangeArrowheads="1"/>
            </p:cNvSpPr>
            <p:nvPr/>
          </p:nvSpPr>
          <p:spPr bwMode="auto">
            <a:xfrm>
              <a:off x="2880" y="1531"/>
              <a:ext cx="960" cy="46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US" altLang="zh-CN" sz="1400" b="1" dirty="0">
                  <a:latin typeface="Comic Sans MS" panose="030F0702030302020204" pitchFamily="66" charset="0"/>
                </a:rPr>
                <a:t>Unified</a:t>
              </a:r>
            </a:p>
            <a:p>
              <a:pPr algn="ctr"/>
              <a:r>
                <a:rPr lang="en-US" altLang="zh-CN" sz="1400" b="1" dirty="0">
                  <a:latin typeface="Comic Sans MS" panose="030F0702030302020204" pitchFamily="66" charset="0"/>
                </a:rPr>
                <a:t>Cache-2</a:t>
              </a:r>
            </a:p>
          </p:txBody>
        </p:sp>
      </p:grpSp>
    </p:spTree>
    <p:extLst>
      <p:ext uri="{BB962C8B-B14F-4D97-AF65-F5344CB8AC3E}">
        <p14:creationId xmlns:p14="http://schemas.microsoft.com/office/powerpoint/2010/main" val="3620547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 calcmode="lin" valueType="num">
                                      <p:cBhvr additive="base">
                                        <p:cTn id="7" dur="500" fill="hold"/>
                                        <p:tgtEl>
                                          <p:spTgt spid="6553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553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5539">
                                            <p:txEl>
                                              <p:pRg st="1" end="1"/>
                                            </p:txEl>
                                          </p:spTgt>
                                        </p:tgtEl>
                                        <p:attrNameLst>
                                          <p:attrName>style.visibility</p:attrName>
                                        </p:attrNameLst>
                                      </p:cBhvr>
                                      <p:to>
                                        <p:strVal val="visible"/>
                                      </p:to>
                                    </p:set>
                                    <p:anim calcmode="lin" valueType="num">
                                      <p:cBhvr additive="base">
                                        <p:cTn id="11" dur="500" fill="hold"/>
                                        <p:tgtEl>
                                          <p:spTgt spid="6553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553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5539">
                                            <p:txEl>
                                              <p:pRg st="2" end="2"/>
                                            </p:txEl>
                                          </p:spTgt>
                                        </p:tgtEl>
                                        <p:attrNameLst>
                                          <p:attrName>style.visibility</p:attrName>
                                        </p:attrNameLst>
                                      </p:cBhvr>
                                      <p:to>
                                        <p:strVal val="visible"/>
                                      </p:to>
                                    </p:set>
                                    <p:anim calcmode="lin" valueType="num">
                                      <p:cBhvr additive="base">
                                        <p:cTn id="15" dur="500" fill="hold"/>
                                        <p:tgtEl>
                                          <p:spTgt spid="6553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55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65539">
                                            <p:txEl>
                                              <p:pRg st="3" end="3"/>
                                            </p:txEl>
                                          </p:spTgt>
                                        </p:tgtEl>
                                        <p:attrNameLst>
                                          <p:attrName>style.visibility</p:attrName>
                                        </p:attrNameLst>
                                      </p:cBhvr>
                                      <p:to>
                                        <p:strVal val="visible"/>
                                      </p:to>
                                    </p:set>
                                    <p:anim calcmode="lin" valueType="num">
                                      <p:cBhvr additive="base">
                                        <p:cTn id="21" dur="500" fill="hold"/>
                                        <p:tgtEl>
                                          <p:spTgt spid="6553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553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5539">
                                            <p:txEl>
                                              <p:pRg st="4" end="4"/>
                                            </p:txEl>
                                          </p:spTgt>
                                        </p:tgtEl>
                                        <p:attrNameLst>
                                          <p:attrName>style.visibility</p:attrName>
                                        </p:attrNameLst>
                                      </p:cBhvr>
                                      <p:to>
                                        <p:strVal val="visible"/>
                                      </p:to>
                                    </p:set>
                                    <p:anim calcmode="lin" valueType="num">
                                      <p:cBhvr additive="base">
                                        <p:cTn id="25" dur="500" fill="hold"/>
                                        <p:tgtEl>
                                          <p:spTgt spid="6553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553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5539">
                                            <p:txEl>
                                              <p:pRg st="5" end="5"/>
                                            </p:txEl>
                                          </p:spTgt>
                                        </p:tgtEl>
                                        <p:attrNameLst>
                                          <p:attrName>style.visibility</p:attrName>
                                        </p:attrNameLst>
                                      </p:cBhvr>
                                      <p:to>
                                        <p:strVal val="visible"/>
                                      </p:to>
                                    </p:set>
                                    <p:anim calcmode="lin" valueType="num">
                                      <p:cBhvr additive="base">
                                        <p:cTn id="29" dur="500" fill="hold"/>
                                        <p:tgtEl>
                                          <p:spTgt spid="65539">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553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5539">
                                            <p:txEl>
                                              <p:pRg st="6" end="6"/>
                                            </p:txEl>
                                          </p:spTgt>
                                        </p:tgtEl>
                                        <p:attrNameLst>
                                          <p:attrName>style.visibility</p:attrName>
                                        </p:attrNameLst>
                                      </p:cBhvr>
                                      <p:to>
                                        <p:strVal val="visible"/>
                                      </p:to>
                                    </p:set>
                                    <p:anim calcmode="lin" valueType="num">
                                      <p:cBhvr additive="base">
                                        <p:cTn id="33" dur="500" fill="hold"/>
                                        <p:tgtEl>
                                          <p:spTgt spid="65539">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553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65539">
                                            <p:txEl>
                                              <p:pRg st="7" end="7"/>
                                            </p:txEl>
                                          </p:spTgt>
                                        </p:tgtEl>
                                        <p:attrNameLst>
                                          <p:attrName>style.visibility</p:attrName>
                                        </p:attrNameLst>
                                      </p:cBhvr>
                                      <p:to>
                                        <p:strVal val="visible"/>
                                      </p:to>
                                    </p:set>
                                    <p:anim calcmode="lin" valueType="num">
                                      <p:cBhvr additive="base">
                                        <p:cTn id="39" dur="500" fill="hold"/>
                                        <p:tgtEl>
                                          <p:spTgt spid="65539">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553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65539">
                                            <p:txEl>
                                              <p:pRg st="8" end="8"/>
                                            </p:txEl>
                                          </p:spTgt>
                                        </p:tgtEl>
                                        <p:attrNameLst>
                                          <p:attrName>style.visibility</p:attrName>
                                        </p:attrNameLst>
                                      </p:cBhvr>
                                      <p:to>
                                        <p:strVal val="visible"/>
                                      </p:to>
                                    </p:set>
                                    <p:anim calcmode="lin" valueType="num">
                                      <p:cBhvr additive="base">
                                        <p:cTn id="45" dur="500" fill="hold"/>
                                        <p:tgtEl>
                                          <p:spTgt spid="65539">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6553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zh-CN" smtClean="0"/>
              <a:t>Basic Issues in VM System Design</a:t>
            </a:r>
            <a:endParaRPr lang="en-US" altLang="zh-CN"/>
          </a:p>
        </p:txBody>
      </p:sp>
      <p:sp>
        <p:nvSpPr>
          <p:cNvPr id="5" name="内容占位符 4"/>
          <p:cNvSpPr>
            <a:spLocks noGrp="1"/>
          </p:cNvSpPr>
          <p:nvPr>
            <p:ph idx="1"/>
          </p:nvPr>
        </p:nvSpPr>
        <p:spPr>
          <a:xfrm>
            <a:off x="623392" y="1556792"/>
            <a:ext cx="10801200" cy="5112568"/>
          </a:xfrm>
        </p:spPr>
        <p:txBody>
          <a:bodyPr/>
          <a:lstStyle/>
          <a:p>
            <a:pPr eaLnBrk="0" hangingPunct="0">
              <a:lnSpc>
                <a:spcPct val="85000"/>
              </a:lnSpc>
            </a:pPr>
            <a:r>
              <a:rPr lang="en-US" altLang="zh-CN" sz="2400" dirty="0" smtClean="0"/>
              <a:t>Size </a:t>
            </a:r>
            <a:r>
              <a:rPr lang="en-US" altLang="zh-CN" sz="2400" dirty="0"/>
              <a:t>of information blocks that are transferred </a:t>
            </a:r>
            <a:r>
              <a:rPr lang="en-US" altLang="zh-CN" sz="2400" dirty="0" smtClean="0"/>
              <a:t>from </a:t>
            </a:r>
            <a:r>
              <a:rPr lang="en-US" altLang="zh-CN" sz="2400" dirty="0"/>
              <a:t>secondary to main storage (M)</a:t>
            </a:r>
          </a:p>
          <a:p>
            <a:pPr eaLnBrk="0" hangingPunct="0">
              <a:lnSpc>
                <a:spcPct val="85000"/>
              </a:lnSpc>
            </a:pPr>
            <a:r>
              <a:rPr lang="en-US" altLang="zh-CN" sz="2400" dirty="0" smtClean="0"/>
              <a:t>Block </a:t>
            </a:r>
            <a:r>
              <a:rPr lang="en-US" altLang="zh-CN" sz="2400" dirty="0"/>
              <a:t>of information brought into M, and M is full, then some </a:t>
            </a:r>
            <a:r>
              <a:rPr lang="en-US" altLang="zh-CN" sz="2400" dirty="0" smtClean="0"/>
              <a:t>region </a:t>
            </a:r>
            <a:r>
              <a:rPr lang="en-US" altLang="zh-CN" sz="2400" dirty="0"/>
              <a:t>of M must be released to make room for the new block </a:t>
            </a:r>
            <a:r>
              <a:rPr lang="en-US" altLang="zh-CN" sz="2400" dirty="0" smtClean="0"/>
              <a:t>--&gt;   </a:t>
            </a:r>
            <a:r>
              <a:rPr lang="en-US" altLang="zh-CN" sz="2400" i="1" dirty="0">
                <a:solidFill>
                  <a:srgbClr val="FF0000"/>
                </a:solidFill>
              </a:rPr>
              <a:t>replacement policy</a:t>
            </a:r>
          </a:p>
          <a:p>
            <a:pPr eaLnBrk="0" hangingPunct="0">
              <a:lnSpc>
                <a:spcPct val="85000"/>
              </a:lnSpc>
            </a:pPr>
            <a:r>
              <a:rPr lang="en-US" altLang="zh-CN" sz="2400" dirty="0"/>
              <a:t>W</a:t>
            </a:r>
            <a:r>
              <a:rPr lang="en-US" altLang="zh-CN" sz="2400" dirty="0" smtClean="0"/>
              <a:t>hich </a:t>
            </a:r>
            <a:r>
              <a:rPr lang="en-US" altLang="zh-CN" sz="2400" dirty="0"/>
              <a:t>region of M is to hold the new block --&gt;  </a:t>
            </a:r>
            <a:r>
              <a:rPr lang="en-US" altLang="zh-CN" sz="2400" i="1" dirty="0">
                <a:solidFill>
                  <a:srgbClr val="FF0000"/>
                </a:solidFill>
              </a:rPr>
              <a:t>placement policy</a:t>
            </a:r>
            <a:r>
              <a:rPr lang="en-US" altLang="zh-CN" sz="2400" i="1" dirty="0">
                <a:solidFill>
                  <a:schemeClr val="accent1"/>
                </a:solidFill>
              </a:rPr>
              <a:t> </a:t>
            </a:r>
            <a:endParaRPr lang="en-US" altLang="zh-CN" sz="2400" i="1" dirty="0"/>
          </a:p>
          <a:p>
            <a:pPr eaLnBrk="0" hangingPunct="0">
              <a:lnSpc>
                <a:spcPct val="85000"/>
              </a:lnSpc>
            </a:pPr>
            <a:r>
              <a:rPr lang="en-US" altLang="zh-CN" sz="2400" dirty="0"/>
              <a:t>M</a:t>
            </a:r>
            <a:r>
              <a:rPr lang="en-US" altLang="zh-CN" sz="2400" dirty="0" smtClean="0"/>
              <a:t>issing </a:t>
            </a:r>
            <a:r>
              <a:rPr lang="en-US" altLang="zh-CN" sz="2400" dirty="0"/>
              <a:t>item fetched from secondary memory only on the </a:t>
            </a:r>
            <a:r>
              <a:rPr lang="en-US" altLang="zh-CN" sz="2400" dirty="0" smtClean="0"/>
              <a:t>occurrence </a:t>
            </a:r>
            <a:r>
              <a:rPr lang="en-US" altLang="zh-CN" sz="2400" dirty="0"/>
              <a:t>of a fault  --&gt;  </a:t>
            </a:r>
            <a:r>
              <a:rPr lang="en-US" altLang="zh-CN" sz="2400" i="1" dirty="0">
                <a:solidFill>
                  <a:srgbClr val="FF0000"/>
                </a:solidFill>
              </a:rPr>
              <a:t>demand load policy</a:t>
            </a:r>
          </a:p>
          <a:p>
            <a:endParaRPr lang="zh-CN" altLang="en-US" sz="2400" dirty="0"/>
          </a:p>
        </p:txBody>
      </p:sp>
      <p:sp>
        <p:nvSpPr>
          <p:cNvPr id="35848" name="Rectangle 8"/>
          <p:cNvSpPr>
            <a:spLocks noChangeArrowheads="1"/>
          </p:cNvSpPr>
          <p:nvPr/>
        </p:nvSpPr>
        <p:spPr bwMode="auto">
          <a:xfrm>
            <a:off x="2222500" y="5486400"/>
            <a:ext cx="7861300" cy="750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u="sng"/>
              <a:t>Paging Organization</a:t>
            </a:r>
          </a:p>
          <a:p>
            <a:pPr eaLnBrk="0" hangingPunct="0">
              <a:lnSpc>
                <a:spcPct val="85000"/>
              </a:lnSpc>
            </a:pPr>
            <a:endParaRPr lang="en-US" altLang="zh-CN" b="1" u="sng"/>
          </a:p>
          <a:p>
            <a:pPr eaLnBrk="0" hangingPunct="0">
              <a:lnSpc>
                <a:spcPct val="85000"/>
              </a:lnSpc>
            </a:pPr>
            <a:r>
              <a:rPr lang="en-US" altLang="zh-CN" b="1"/>
              <a:t>virtual and physical address space partitioned into blocks of equal size</a:t>
            </a:r>
          </a:p>
        </p:txBody>
      </p:sp>
      <p:sp>
        <p:nvSpPr>
          <p:cNvPr id="35849" name="Rectangle 9"/>
          <p:cNvSpPr>
            <a:spLocks noChangeArrowheads="1"/>
          </p:cNvSpPr>
          <p:nvPr/>
        </p:nvSpPr>
        <p:spPr bwMode="auto">
          <a:xfrm>
            <a:off x="5397500" y="6438901"/>
            <a:ext cx="14732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i="1"/>
              <a:t>page frames</a:t>
            </a:r>
          </a:p>
        </p:txBody>
      </p:sp>
      <p:sp>
        <p:nvSpPr>
          <p:cNvPr id="35850" name="Rectangle 10"/>
          <p:cNvSpPr>
            <a:spLocks noChangeArrowheads="1"/>
          </p:cNvSpPr>
          <p:nvPr/>
        </p:nvSpPr>
        <p:spPr bwMode="auto">
          <a:xfrm>
            <a:off x="2946400" y="6477001"/>
            <a:ext cx="7874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i="1"/>
              <a:t>pages</a:t>
            </a:r>
          </a:p>
        </p:txBody>
      </p:sp>
      <p:sp>
        <p:nvSpPr>
          <p:cNvPr id="35851" name="Line 11"/>
          <p:cNvSpPr>
            <a:spLocks noChangeShapeType="1"/>
          </p:cNvSpPr>
          <p:nvPr/>
        </p:nvSpPr>
        <p:spPr bwMode="auto">
          <a:xfrm flipH="1">
            <a:off x="2635250" y="6591300"/>
            <a:ext cx="279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2" name="Line 12"/>
          <p:cNvSpPr>
            <a:spLocks noChangeShapeType="1"/>
          </p:cNvSpPr>
          <p:nvPr/>
        </p:nvSpPr>
        <p:spPr bwMode="auto">
          <a:xfrm flipH="1" flipV="1">
            <a:off x="2641600" y="6165850"/>
            <a:ext cx="25400" cy="38735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3" name="Line 13"/>
          <p:cNvSpPr>
            <a:spLocks noChangeShapeType="1"/>
          </p:cNvSpPr>
          <p:nvPr/>
        </p:nvSpPr>
        <p:spPr bwMode="auto">
          <a:xfrm flipH="1">
            <a:off x="4006850" y="6591300"/>
            <a:ext cx="1371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4" name="Line 14"/>
          <p:cNvSpPr>
            <a:spLocks noChangeShapeType="1"/>
          </p:cNvSpPr>
          <p:nvPr/>
        </p:nvSpPr>
        <p:spPr bwMode="auto">
          <a:xfrm flipV="1">
            <a:off x="4013200" y="6140450"/>
            <a:ext cx="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5" name="Rectangle 15"/>
          <p:cNvSpPr>
            <a:spLocks noChangeArrowheads="1"/>
          </p:cNvSpPr>
          <p:nvPr/>
        </p:nvSpPr>
        <p:spPr bwMode="auto">
          <a:xfrm>
            <a:off x="2857500" y="4762500"/>
            <a:ext cx="3556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6" name="Rectangle 16"/>
          <p:cNvSpPr>
            <a:spLocks noChangeArrowheads="1"/>
          </p:cNvSpPr>
          <p:nvPr/>
        </p:nvSpPr>
        <p:spPr bwMode="auto">
          <a:xfrm>
            <a:off x="4318000" y="4597400"/>
            <a:ext cx="444500" cy="762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7" name="Rectangle 17"/>
          <p:cNvSpPr>
            <a:spLocks noChangeArrowheads="1"/>
          </p:cNvSpPr>
          <p:nvPr/>
        </p:nvSpPr>
        <p:spPr bwMode="auto">
          <a:xfrm>
            <a:off x="5422900" y="4406900"/>
            <a:ext cx="927100" cy="1282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8" name="Rectangle 18"/>
          <p:cNvSpPr>
            <a:spLocks noChangeArrowheads="1"/>
          </p:cNvSpPr>
          <p:nvPr/>
        </p:nvSpPr>
        <p:spPr bwMode="auto">
          <a:xfrm>
            <a:off x="7073900" y="4279900"/>
            <a:ext cx="1308100" cy="1587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9" name="Line 19"/>
          <p:cNvSpPr>
            <a:spLocks noChangeShapeType="1"/>
          </p:cNvSpPr>
          <p:nvPr/>
        </p:nvSpPr>
        <p:spPr bwMode="auto">
          <a:xfrm>
            <a:off x="3238500" y="4984750"/>
            <a:ext cx="10541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0" name="Line 20"/>
          <p:cNvSpPr>
            <a:spLocks noChangeShapeType="1"/>
          </p:cNvSpPr>
          <p:nvPr/>
        </p:nvSpPr>
        <p:spPr bwMode="auto">
          <a:xfrm>
            <a:off x="4775200" y="4984750"/>
            <a:ext cx="635000"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1" name="Line 21"/>
          <p:cNvSpPr>
            <a:spLocks noChangeShapeType="1"/>
          </p:cNvSpPr>
          <p:nvPr/>
        </p:nvSpPr>
        <p:spPr bwMode="auto">
          <a:xfrm flipV="1">
            <a:off x="6362700" y="4978400"/>
            <a:ext cx="723900" cy="3810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2" name="Rectangle 22"/>
          <p:cNvSpPr>
            <a:spLocks noChangeArrowheads="1"/>
          </p:cNvSpPr>
          <p:nvPr/>
        </p:nvSpPr>
        <p:spPr bwMode="auto">
          <a:xfrm>
            <a:off x="7473950" y="5238751"/>
            <a:ext cx="712788" cy="2714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90000"/>
              </a:lnSpc>
            </a:pPr>
            <a:r>
              <a:rPr lang="en-US" altLang="zh-CN" sz="1600" b="1"/>
              <a:t>pages</a:t>
            </a:r>
          </a:p>
        </p:txBody>
      </p:sp>
      <p:sp>
        <p:nvSpPr>
          <p:cNvPr id="35863" name="Rectangle 23"/>
          <p:cNvSpPr>
            <a:spLocks noChangeArrowheads="1"/>
          </p:cNvSpPr>
          <p:nvPr/>
        </p:nvSpPr>
        <p:spPr bwMode="auto">
          <a:xfrm>
            <a:off x="5676900" y="5016500"/>
            <a:ext cx="520700" cy="368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4" name="Rectangle 24"/>
          <p:cNvSpPr>
            <a:spLocks noChangeArrowheads="1"/>
          </p:cNvSpPr>
          <p:nvPr/>
        </p:nvSpPr>
        <p:spPr bwMode="auto">
          <a:xfrm>
            <a:off x="2863851" y="4997450"/>
            <a:ext cx="407163" cy="2602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97000"/>
              </a:lnSpc>
            </a:pPr>
            <a:r>
              <a:rPr lang="en-US" altLang="zh-CN" sz="1400" b="1"/>
              <a:t>reg</a:t>
            </a:r>
          </a:p>
        </p:txBody>
      </p:sp>
      <p:sp>
        <p:nvSpPr>
          <p:cNvPr id="35865" name="Rectangle 25"/>
          <p:cNvSpPr>
            <a:spLocks noChangeArrowheads="1"/>
          </p:cNvSpPr>
          <p:nvPr/>
        </p:nvSpPr>
        <p:spPr bwMode="auto">
          <a:xfrm>
            <a:off x="4311651" y="4616450"/>
            <a:ext cx="634789" cy="2602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97000"/>
              </a:lnSpc>
            </a:pPr>
            <a:r>
              <a:rPr lang="en-US" altLang="zh-CN" sz="1400" b="1"/>
              <a:t>cache</a:t>
            </a:r>
          </a:p>
        </p:txBody>
      </p:sp>
      <p:sp>
        <p:nvSpPr>
          <p:cNvPr id="35866" name="Rectangle 26"/>
          <p:cNvSpPr>
            <a:spLocks noChangeArrowheads="1"/>
          </p:cNvSpPr>
          <p:nvPr/>
        </p:nvSpPr>
        <p:spPr bwMode="auto">
          <a:xfrm>
            <a:off x="5607051" y="4425950"/>
            <a:ext cx="726161" cy="3129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sz="2000" b="1"/>
              <a:t>mem</a:t>
            </a:r>
          </a:p>
        </p:txBody>
      </p:sp>
      <p:sp>
        <p:nvSpPr>
          <p:cNvPr id="35867" name="Rectangle 27"/>
          <p:cNvSpPr>
            <a:spLocks noChangeArrowheads="1"/>
          </p:cNvSpPr>
          <p:nvPr/>
        </p:nvSpPr>
        <p:spPr bwMode="auto">
          <a:xfrm>
            <a:off x="7207251" y="4349750"/>
            <a:ext cx="641201" cy="3129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sz="2000" b="1"/>
              <a:t>disk</a:t>
            </a:r>
          </a:p>
        </p:txBody>
      </p:sp>
      <p:sp>
        <p:nvSpPr>
          <p:cNvPr id="35868" name="Rectangle 28" descr="浅色上对角线"/>
          <p:cNvSpPr>
            <a:spLocks noChangeArrowheads="1"/>
          </p:cNvSpPr>
          <p:nvPr/>
        </p:nvSpPr>
        <p:spPr bwMode="auto">
          <a:xfrm>
            <a:off x="7505700" y="4864100"/>
            <a:ext cx="520700" cy="368300"/>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69" name="Rectangle 29"/>
          <p:cNvSpPr>
            <a:spLocks noChangeArrowheads="1"/>
          </p:cNvSpPr>
          <p:nvPr/>
        </p:nvSpPr>
        <p:spPr bwMode="auto">
          <a:xfrm>
            <a:off x="5607051" y="5416550"/>
            <a:ext cx="825547" cy="3129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sz="2000" b="1"/>
              <a:t>frame</a:t>
            </a:r>
          </a:p>
        </p:txBody>
      </p:sp>
    </p:spTree>
    <p:extLst>
      <p:ext uri="{BB962C8B-B14F-4D97-AF65-F5344CB8AC3E}">
        <p14:creationId xmlns:p14="http://schemas.microsoft.com/office/powerpoint/2010/main" val="98603075"/>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logical program </a:t>
            </a:r>
            <a:r>
              <a:rPr lang="en-US" altLang="zh-CN" dirty="0" smtClean="0"/>
              <a:t>of virtual memory</a:t>
            </a:r>
            <a:endParaRPr lang="zh-CN" altLang="en-US" dirty="0"/>
          </a:p>
        </p:txBody>
      </p:sp>
      <p:pic>
        <p:nvPicPr>
          <p:cNvPr id="4" name="图片 3"/>
          <p:cNvPicPr>
            <a:picLocks noChangeAspect="1"/>
          </p:cNvPicPr>
          <p:nvPr/>
        </p:nvPicPr>
        <p:blipFill>
          <a:blip r:embed="rId2"/>
          <a:stretch>
            <a:fillRect/>
          </a:stretch>
        </p:blipFill>
        <p:spPr>
          <a:xfrm>
            <a:off x="5447928" y="1556792"/>
            <a:ext cx="6613120" cy="5163242"/>
          </a:xfrm>
          <a:prstGeom prst="rect">
            <a:avLst/>
          </a:prstGeom>
        </p:spPr>
      </p:pic>
      <p:sp>
        <p:nvSpPr>
          <p:cNvPr id="3" name="内容占位符 2"/>
          <p:cNvSpPr>
            <a:spLocks noGrp="1"/>
          </p:cNvSpPr>
          <p:nvPr>
            <p:ph idx="1"/>
          </p:nvPr>
        </p:nvSpPr>
        <p:spPr>
          <a:xfrm>
            <a:off x="551384" y="4365104"/>
            <a:ext cx="10802416" cy="2304256"/>
          </a:xfrm>
        </p:spPr>
        <p:txBody>
          <a:bodyPr/>
          <a:lstStyle/>
          <a:p>
            <a:r>
              <a:rPr lang="en-US" altLang="zh-CN" dirty="0" smtClean="0"/>
              <a:t>Left: contiguous </a:t>
            </a:r>
            <a:r>
              <a:rPr lang="en-US" altLang="zh-CN" dirty="0"/>
              <a:t>virtual address space </a:t>
            </a:r>
            <a:endParaRPr lang="en-US" altLang="zh-CN" dirty="0" smtClean="0"/>
          </a:p>
          <a:p>
            <a:r>
              <a:rPr lang="en-US" altLang="zh-CN" dirty="0" smtClean="0"/>
              <a:t>The </a:t>
            </a:r>
            <a:r>
              <a:rPr lang="en-US" altLang="zh-CN" dirty="0"/>
              <a:t>actual location of three of the blocks </a:t>
            </a:r>
            <a:r>
              <a:rPr lang="en-US" altLang="zh-CN" dirty="0" smtClean="0"/>
              <a:t/>
            </a:r>
            <a:br>
              <a:rPr lang="en-US" altLang="zh-CN" dirty="0" smtClean="0"/>
            </a:br>
            <a:r>
              <a:rPr lang="en-US" altLang="zh-CN" dirty="0" smtClean="0"/>
              <a:t>is </a:t>
            </a:r>
            <a:r>
              <a:rPr lang="en-US" altLang="zh-CN" dirty="0"/>
              <a:t>in physical main memory and the other </a:t>
            </a:r>
            <a:r>
              <a:rPr lang="en-US" altLang="zh-CN" dirty="0" smtClean="0"/>
              <a:t/>
            </a:r>
            <a:br>
              <a:rPr lang="en-US" altLang="zh-CN" dirty="0" smtClean="0"/>
            </a:br>
            <a:r>
              <a:rPr lang="en-US" altLang="zh-CN" dirty="0" smtClean="0"/>
              <a:t>(D) is </a:t>
            </a:r>
            <a:r>
              <a:rPr lang="en-US" altLang="zh-CN" dirty="0"/>
              <a:t>located on the </a:t>
            </a:r>
            <a:r>
              <a:rPr lang="en-US" altLang="zh-CN" dirty="0" smtClean="0"/>
              <a:t>disk</a:t>
            </a:r>
            <a:endParaRPr lang="en-US" altLang="zh-CN" dirty="0"/>
          </a:p>
        </p:txBody>
      </p:sp>
    </p:spTree>
    <p:extLst>
      <p:ext uri="{BB962C8B-B14F-4D97-AF65-F5344CB8AC3E}">
        <p14:creationId xmlns:p14="http://schemas.microsoft.com/office/powerpoint/2010/main" val="393269048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Typical ranges of parameters for caches and virtual memory</a:t>
            </a:r>
            <a:endParaRPr lang="zh-CN" altLang="en-US" dirty="0"/>
          </a:p>
        </p:txBody>
      </p:sp>
      <p:sp>
        <p:nvSpPr>
          <p:cNvPr id="3" name="内容占位符 2"/>
          <p:cNvSpPr>
            <a:spLocks noGrp="1"/>
          </p:cNvSpPr>
          <p:nvPr>
            <p:ph idx="1"/>
          </p:nvPr>
        </p:nvSpPr>
        <p:spPr/>
        <p:txBody>
          <a:bodyPr/>
          <a:lstStyle/>
          <a:p>
            <a:r>
              <a:rPr lang="en-US" altLang="zh-CN" dirty="0" smtClean="0"/>
              <a:t>Virtual </a:t>
            </a:r>
            <a:r>
              <a:rPr lang="en-US" altLang="zh-CN" dirty="0"/>
              <a:t>memory parameters represent increases of 10–1,000,000 times over cache parameters. Usually, first-level caches contain at most 1 </a:t>
            </a:r>
            <a:r>
              <a:rPr lang="en-US" altLang="zh-CN" dirty="0" err="1"/>
              <a:t>MiB</a:t>
            </a:r>
            <a:r>
              <a:rPr lang="en-US" altLang="zh-CN" dirty="0"/>
              <a:t> of data, whereas physical memory contains 256 </a:t>
            </a:r>
            <a:r>
              <a:rPr lang="en-US" altLang="zh-CN" dirty="0" err="1"/>
              <a:t>MiB</a:t>
            </a:r>
            <a:r>
              <a:rPr lang="en-US" altLang="zh-CN" dirty="0"/>
              <a:t> to 1 TB.</a:t>
            </a:r>
          </a:p>
          <a:p>
            <a:endParaRPr lang="zh-CN" altLang="en-US" dirty="0"/>
          </a:p>
        </p:txBody>
      </p:sp>
      <p:pic>
        <p:nvPicPr>
          <p:cNvPr id="4" name="图片 3"/>
          <p:cNvPicPr>
            <a:picLocks noChangeAspect="1"/>
          </p:cNvPicPr>
          <p:nvPr/>
        </p:nvPicPr>
        <p:blipFill>
          <a:blip r:embed="rId2"/>
          <a:stretch>
            <a:fillRect/>
          </a:stretch>
        </p:blipFill>
        <p:spPr>
          <a:xfrm>
            <a:off x="1487488" y="3153236"/>
            <a:ext cx="9280434" cy="3704764"/>
          </a:xfrm>
          <a:prstGeom prst="rect">
            <a:avLst/>
          </a:prstGeom>
        </p:spPr>
      </p:pic>
    </p:spTree>
    <p:extLst>
      <p:ext uri="{BB962C8B-B14F-4D97-AF65-F5344CB8AC3E}">
        <p14:creationId xmlns:p14="http://schemas.microsoft.com/office/powerpoint/2010/main" val="32726368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124787" y="735931"/>
            <a:ext cx="8283581" cy="4095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Virtual Memory Address </a:t>
            </a:r>
            <a:r>
              <a:rPr lang="en-US" altLang="zh-CN" dirty="0"/>
              <a:t>Map</a:t>
            </a:r>
          </a:p>
        </p:txBody>
      </p:sp>
      <p:sp>
        <p:nvSpPr>
          <p:cNvPr id="37891" name="Rectangle 3"/>
          <p:cNvSpPr>
            <a:spLocks noChangeArrowheads="1"/>
          </p:cNvSpPr>
          <p:nvPr/>
        </p:nvSpPr>
        <p:spPr bwMode="auto">
          <a:xfrm>
            <a:off x="2349500" y="1530474"/>
            <a:ext cx="5365750" cy="984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dirty="0"/>
              <a:t>V = {0, 1, . . . , n - 1}   virtual address space</a:t>
            </a:r>
          </a:p>
          <a:p>
            <a:pPr eaLnBrk="0" hangingPunct="0">
              <a:lnSpc>
                <a:spcPct val="85000"/>
              </a:lnSpc>
            </a:pPr>
            <a:r>
              <a:rPr lang="en-US" altLang="zh-CN" b="1" dirty="0"/>
              <a:t>M = {0, 1, . . . , m - 1}  physical address space</a:t>
            </a:r>
          </a:p>
          <a:p>
            <a:pPr eaLnBrk="0" hangingPunct="0">
              <a:lnSpc>
                <a:spcPct val="85000"/>
              </a:lnSpc>
            </a:pPr>
            <a:endParaRPr lang="en-US" altLang="zh-CN" b="1" dirty="0"/>
          </a:p>
          <a:p>
            <a:pPr eaLnBrk="0" hangingPunct="0">
              <a:lnSpc>
                <a:spcPct val="85000"/>
              </a:lnSpc>
            </a:pPr>
            <a:r>
              <a:rPr lang="en-US" altLang="zh-CN" b="1" dirty="0"/>
              <a:t>MAP:  V --&gt;  M  U  {0}  address mapping function</a:t>
            </a:r>
          </a:p>
        </p:txBody>
      </p:sp>
      <p:sp>
        <p:nvSpPr>
          <p:cNvPr id="37892" name="Rectangle 4"/>
          <p:cNvSpPr>
            <a:spLocks noChangeArrowheads="1"/>
          </p:cNvSpPr>
          <p:nvPr/>
        </p:nvSpPr>
        <p:spPr bwMode="auto">
          <a:xfrm>
            <a:off x="7810500" y="1606675"/>
            <a:ext cx="73025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n &gt; m</a:t>
            </a:r>
          </a:p>
        </p:txBody>
      </p:sp>
      <p:sp>
        <p:nvSpPr>
          <p:cNvPr id="37893" name="Line 5"/>
          <p:cNvSpPr>
            <a:spLocks noChangeShapeType="1"/>
          </p:cNvSpPr>
          <p:nvPr/>
        </p:nvSpPr>
        <p:spPr bwMode="auto">
          <a:xfrm flipH="1">
            <a:off x="4451350" y="2197224"/>
            <a:ext cx="139700" cy="241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4" name="Rectangle 6"/>
          <p:cNvSpPr>
            <a:spLocks noChangeArrowheads="1"/>
          </p:cNvSpPr>
          <p:nvPr/>
        </p:nvSpPr>
        <p:spPr bwMode="auto">
          <a:xfrm>
            <a:off x="2844801" y="2660774"/>
            <a:ext cx="6880225" cy="984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dirty="0"/>
              <a:t>MAP(a)  =  a'  if data at virtual address </a:t>
            </a:r>
            <a:r>
              <a:rPr lang="en-US" altLang="zh-CN" b="1" u="sng" dirty="0"/>
              <a:t>a</a:t>
            </a:r>
            <a:r>
              <a:rPr lang="en-US" altLang="zh-CN" b="1" dirty="0"/>
              <a:t> is present in physical </a:t>
            </a:r>
          </a:p>
          <a:p>
            <a:pPr eaLnBrk="0" hangingPunct="0">
              <a:lnSpc>
                <a:spcPct val="85000"/>
              </a:lnSpc>
            </a:pPr>
            <a:r>
              <a:rPr lang="en-US" altLang="zh-CN" b="1" dirty="0"/>
              <a:t>                           address </a:t>
            </a:r>
            <a:r>
              <a:rPr lang="en-US" altLang="zh-CN" b="1" u="sng" dirty="0"/>
              <a:t>a'</a:t>
            </a:r>
            <a:r>
              <a:rPr lang="en-US" altLang="zh-CN" b="1" dirty="0"/>
              <a:t>  and  </a:t>
            </a:r>
            <a:r>
              <a:rPr lang="en-US" altLang="zh-CN" b="1" u="sng" dirty="0"/>
              <a:t>a'</a:t>
            </a:r>
            <a:r>
              <a:rPr lang="en-US" altLang="zh-CN" b="1" dirty="0"/>
              <a:t> in M</a:t>
            </a:r>
          </a:p>
          <a:p>
            <a:pPr eaLnBrk="0" hangingPunct="0">
              <a:lnSpc>
                <a:spcPct val="85000"/>
              </a:lnSpc>
            </a:pPr>
            <a:endParaRPr lang="en-US" altLang="zh-CN" b="1" dirty="0"/>
          </a:p>
          <a:p>
            <a:pPr eaLnBrk="0" hangingPunct="0">
              <a:lnSpc>
                <a:spcPct val="85000"/>
              </a:lnSpc>
            </a:pPr>
            <a:r>
              <a:rPr lang="en-US" altLang="zh-CN" b="1" dirty="0"/>
              <a:t>              =  0  if data at virtual address a is not present in M</a:t>
            </a:r>
          </a:p>
        </p:txBody>
      </p:sp>
      <p:sp>
        <p:nvSpPr>
          <p:cNvPr id="37895" name="Line 7"/>
          <p:cNvSpPr>
            <a:spLocks noChangeShapeType="1"/>
          </p:cNvSpPr>
          <p:nvPr/>
        </p:nvSpPr>
        <p:spPr bwMode="auto">
          <a:xfrm flipH="1">
            <a:off x="4032250" y="3327524"/>
            <a:ext cx="177800" cy="22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896" name="Rectangle 8"/>
          <p:cNvSpPr>
            <a:spLocks noChangeArrowheads="1"/>
          </p:cNvSpPr>
          <p:nvPr/>
        </p:nvSpPr>
        <p:spPr bwMode="auto">
          <a:xfrm>
            <a:off x="2159273" y="4579903"/>
            <a:ext cx="1256754" cy="3061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eaLnBrk="0" hangingPunct="0">
              <a:lnSpc>
                <a:spcPct val="92000"/>
              </a:lnSpc>
            </a:pPr>
            <a:r>
              <a:rPr lang="en-US" altLang="zh-CN" b="1"/>
              <a:t>Processor</a:t>
            </a:r>
          </a:p>
        </p:txBody>
      </p:sp>
      <p:sp>
        <p:nvSpPr>
          <p:cNvPr id="37897" name="Rectangle 9"/>
          <p:cNvSpPr>
            <a:spLocks noChangeArrowheads="1"/>
          </p:cNvSpPr>
          <p:nvPr/>
        </p:nvSpPr>
        <p:spPr bwMode="auto">
          <a:xfrm>
            <a:off x="3935041" y="3970303"/>
            <a:ext cx="1718419" cy="306109"/>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eaLnBrk="0" hangingPunct="0">
              <a:lnSpc>
                <a:spcPct val="92000"/>
              </a:lnSpc>
            </a:pPr>
            <a:r>
              <a:rPr lang="en-US" altLang="zh-CN" b="1"/>
              <a:t>Name Space V</a:t>
            </a:r>
          </a:p>
        </p:txBody>
      </p:sp>
      <p:sp>
        <p:nvSpPr>
          <p:cNvPr id="37898" name="Rectangle 10"/>
          <p:cNvSpPr>
            <a:spLocks noChangeArrowheads="1"/>
          </p:cNvSpPr>
          <p:nvPr/>
        </p:nvSpPr>
        <p:spPr bwMode="auto">
          <a:xfrm>
            <a:off x="4089400" y="5165550"/>
            <a:ext cx="1397000" cy="558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eaLnBrk="0" hangingPunct="0">
              <a:lnSpc>
                <a:spcPct val="88000"/>
              </a:lnSpc>
            </a:pPr>
            <a:r>
              <a:rPr lang="en-US" altLang="zh-CN" b="1"/>
              <a:t>Addr Trans</a:t>
            </a:r>
          </a:p>
          <a:p>
            <a:pPr algn="ctr" eaLnBrk="0" hangingPunct="0">
              <a:lnSpc>
                <a:spcPct val="88000"/>
              </a:lnSpc>
            </a:pPr>
            <a:r>
              <a:rPr lang="en-US" altLang="zh-CN" b="1"/>
              <a:t>Mechanism</a:t>
            </a:r>
          </a:p>
        </p:txBody>
      </p:sp>
      <p:sp>
        <p:nvSpPr>
          <p:cNvPr id="37899" name="Rectangle 11"/>
          <p:cNvSpPr>
            <a:spLocks noChangeArrowheads="1"/>
          </p:cNvSpPr>
          <p:nvPr/>
        </p:nvSpPr>
        <p:spPr bwMode="auto">
          <a:xfrm>
            <a:off x="6527800" y="4225750"/>
            <a:ext cx="977900" cy="558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eaLnBrk="0" hangingPunct="0">
              <a:lnSpc>
                <a:spcPct val="88000"/>
              </a:lnSpc>
            </a:pPr>
            <a:r>
              <a:rPr lang="en-US" altLang="zh-CN" b="1"/>
              <a:t>fault</a:t>
            </a:r>
          </a:p>
          <a:p>
            <a:pPr algn="ctr" eaLnBrk="0" hangingPunct="0">
              <a:lnSpc>
                <a:spcPct val="88000"/>
              </a:lnSpc>
            </a:pPr>
            <a:r>
              <a:rPr lang="en-US" altLang="zh-CN" b="1"/>
              <a:t>handler</a:t>
            </a:r>
          </a:p>
        </p:txBody>
      </p:sp>
      <p:sp>
        <p:nvSpPr>
          <p:cNvPr id="37900" name="Rectangle 12"/>
          <p:cNvSpPr>
            <a:spLocks noChangeArrowheads="1"/>
          </p:cNvSpPr>
          <p:nvPr/>
        </p:nvSpPr>
        <p:spPr bwMode="auto">
          <a:xfrm>
            <a:off x="6534150" y="5165550"/>
            <a:ext cx="1028700" cy="558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eaLnBrk="0" hangingPunct="0">
              <a:lnSpc>
                <a:spcPct val="88000"/>
              </a:lnSpc>
            </a:pPr>
            <a:r>
              <a:rPr lang="en-US" altLang="zh-CN" b="1"/>
              <a:t>Main</a:t>
            </a:r>
          </a:p>
          <a:p>
            <a:pPr algn="ctr" eaLnBrk="0" hangingPunct="0">
              <a:lnSpc>
                <a:spcPct val="88000"/>
              </a:lnSpc>
            </a:pPr>
            <a:r>
              <a:rPr lang="en-US" altLang="zh-CN" b="1"/>
              <a:t>Memory</a:t>
            </a:r>
          </a:p>
        </p:txBody>
      </p:sp>
      <p:sp>
        <p:nvSpPr>
          <p:cNvPr id="37901" name="Rectangle 13"/>
          <p:cNvSpPr>
            <a:spLocks noChangeArrowheads="1"/>
          </p:cNvSpPr>
          <p:nvPr/>
        </p:nvSpPr>
        <p:spPr bwMode="auto">
          <a:xfrm>
            <a:off x="8267700" y="5140150"/>
            <a:ext cx="1320800" cy="558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nchor="ctr">
            <a:spAutoFit/>
          </a:bodyPr>
          <a:lstStyle/>
          <a:p>
            <a:pPr algn="ctr" eaLnBrk="0" hangingPunct="0">
              <a:lnSpc>
                <a:spcPct val="88000"/>
              </a:lnSpc>
            </a:pPr>
            <a:r>
              <a:rPr lang="en-US" altLang="zh-CN" b="1"/>
              <a:t>Secondary</a:t>
            </a:r>
          </a:p>
          <a:p>
            <a:pPr algn="ctr" eaLnBrk="0" hangingPunct="0">
              <a:lnSpc>
                <a:spcPct val="88000"/>
              </a:lnSpc>
            </a:pPr>
            <a:r>
              <a:rPr lang="en-US" altLang="zh-CN" b="1"/>
              <a:t>Memory</a:t>
            </a:r>
          </a:p>
        </p:txBody>
      </p:sp>
      <p:sp>
        <p:nvSpPr>
          <p:cNvPr id="37902" name="Rectangle 14"/>
          <p:cNvSpPr>
            <a:spLocks noChangeArrowheads="1"/>
          </p:cNvSpPr>
          <p:nvPr/>
        </p:nvSpPr>
        <p:spPr bwMode="auto">
          <a:xfrm>
            <a:off x="6337300" y="5025850"/>
            <a:ext cx="3441700" cy="800100"/>
          </a:xfrm>
          <a:prstGeom prst="rect">
            <a:avLst/>
          </a:prstGeom>
          <a:noFill/>
          <a:ln w="25400">
            <a:pattFill prst="dkUpDiag">
              <a:fgClr>
                <a:schemeClr val="tx1"/>
              </a:fgClr>
              <a:bgClr>
                <a:schemeClr val="bg1"/>
              </a:bgClr>
            </a:patt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3" name="Line 15"/>
          <p:cNvSpPr>
            <a:spLocks noChangeShapeType="1"/>
          </p:cNvSpPr>
          <p:nvPr/>
        </p:nvSpPr>
        <p:spPr bwMode="auto">
          <a:xfrm>
            <a:off x="7594600" y="5229050"/>
            <a:ext cx="6477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4" name="Line 16"/>
          <p:cNvSpPr>
            <a:spLocks noChangeShapeType="1"/>
          </p:cNvSpPr>
          <p:nvPr/>
        </p:nvSpPr>
        <p:spPr bwMode="auto">
          <a:xfrm flipH="1">
            <a:off x="7556500" y="5610050"/>
            <a:ext cx="711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5" name="Line 17"/>
          <p:cNvSpPr>
            <a:spLocks noChangeShapeType="1"/>
          </p:cNvSpPr>
          <p:nvPr/>
        </p:nvSpPr>
        <p:spPr bwMode="auto">
          <a:xfrm>
            <a:off x="5511800" y="5610050"/>
            <a:ext cx="990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6" name="Line 18"/>
          <p:cNvSpPr>
            <a:spLocks noChangeShapeType="1"/>
          </p:cNvSpPr>
          <p:nvPr/>
        </p:nvSpPr>
        <p:spPr bwMode="auto">
          <a:xfrm>
            <a:off x="5511800" y="5305250"/>
            <a:ext cx="381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7" name="Line 19"/>
          <p:cNvSpPr>
            <a:spLocks noChangeShapeType="1"/>
          </p:cNvSpPr>
          <p:nvPr/>
        </p:nvSpPr>
        <p:spPr bwMode="auto">
          <a:xfrm flipV="1">
            <a:off x="5905500" y="4530550"/>
            <a:ext cx="0" cy="787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8" name="Line 20"/>
          <p:cNvSpPr>
            <a:spLocks noChangeShapeType="1"/>
          </p:cNvSpPr>
          <p:nvPr/>
        </p:nvSpPr>
        <p:spPr bwMode="auto">
          <a:xfrm>
            <a:off x="5930900" y="4543250"/>
            <a:ext cx="5715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09" name="Line 21"/>
          <p:cNvSpPr>
            <a:spLocks noChangeShapeType="1"/>
          </p:cNvSpPr>
          <p:nvPr/>
        </p:nvSpPr>
        <p:spPr bwMode="auto">
          <a:xfrm>
            <a:off x="7556500" y="4555950"/>
            <a:ext cx="1308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0" name="Line 22"/>
          <p:cNvSpPr>
            <a:spLocks noChangeShapeType="1"/>
          </p:cNvSpPr>
          <p:nvPr/>
        </p:nvSpPr>
        <p:spPr bwMode="auto">
          <a:xfrm>
            <a:off x="8902700" y="4568650"/>
            <a:ext cx="0" cy="5461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1" name="Line 23"/>
          <p:cNvSpPr>
            <a:spLocks noChangeShapeType="1"/>
          </p:cNvSpPr>
          <p:nvPr/>
        </p:nvSpPr>
        <p:spPr bwMode="auto">
          <a:xfrm flipV="1">
            <a:off x="2781300" y="4111450"/>
            <a:ext cx="0" cy="457200"/>
          </a:xfrm>
          <a:prstGeom prst="line">
            <a:avLst/>
          </a:prstGeom>
          <a:noFill/>
          <a:ln w="25400">
            <a:pattFill prst="dkUpDiag">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2" name="Line 24"/>
          <p:cNvSpPr>
            <a:spLocks noChangeShapeType="1"/>
          </p:cNvSpPr>
          <p:nvPr/>
        </p:nvSpPr>
        <p:spPr bwMode="auto">
          <a:xfrm>
            <a:off x="2794000" y="4098750"/>
            <a:ext cx="1092200" cy="0"/>
          </a:xfrm>
          <a:prstGeom prst="line">
            <a:avLst/>
          </a:prstGeom>
          <a:noFill/>
          <a:ln w="25400">
            <a:pattFill prst="dkUpDiag">
              <a:fgClr>
                <a:schemeClr val="tx1"/>
              </a:fgClr>
              <a:bgClr>
                <a:schemeClr val="bg1"/>
              </a:bgClr>
            </a:patt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3" name="Line 25"/>
          <p:cNvSpPr>
            <a:spLocks noChangeShapeType="1"/>
          </p:cNvSpPr>
          <p:nvPr/>
        </p:nvSpPr>
        <p:spPr bwMode="auto">
          <a:xfrm>
            <a:off x="2755900" y="4911550"/>
            <a:ext cx="0" cy="495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4" name="Line 26"/>
          <p:cNvSpPr>
            <a:spLocks noChangeShapeType="1"/>
          </p:cNvSpPr>
          <p:nvPr/>
        </p:nvSpPr>
        <p:spPr bwMode="auto">
          <a:xfrm>
            <a:off x="2768600" y="5419550"/>
            <a:ext cx="1270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15" name="Rectangle 27"/>
          <p:cNvSpPr>
            <a:spLocks noChangeArrowheads="1"/>
          </p:cNvSpPr>
          <p:nvPr/>
        </p:nvSpPr>
        <p:spPr bwMode="auto">
          <a:xfrm>
            <a:off x="3136900" y="376855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a</a:t>
            </a:r>
          </a:p>
        </p:txBody>
      </p:sp>
      <p:sp>
        <p:nvSpPr>
          <p:cNvPr id="37916" name="Rectangle 28"/>
          <p:cNvSpPr>
            <a:spLocks noChangeArrowheads="1"/>
          </p:cNvSpPr>
          <p:nvPr/>
        </p:nvSpPr>
        <p:spPr bwMode="auto">
          <a:xfrm>
            <a:off x="3111500" y="549575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a</a:t>
            </a:r>
          </a:p>
        </p:txBody>
      </p:sp>
      <p:sp>
        <p:nvSpPr>
          <p:cNvPr id="37917" name="Rectangle 29"/>
          <p:cNvSpPr>
            <a:spLocks noChangeArrowheads="1"/>
          </p:cNvSpPr>
          <p:nvPr/>
        </p:nvSpPr>
        <p:spPr bwMode="auto">
          <a:xfrm>
            <a:off x="5549901" y="5724351"/>
            <a:ext cx="307975"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a'</a:t>
            </a:r>
          </a:p>
        </p:txBody>
      </p:sp>
      <p:sp>
        <p:nvSpPr>
          <p:cNvPr id="37918" name="Rectangle 30"/>
          <p:cNvSpPr>
            <a:spLocks noChangeArrowheads="1"/>
          </p:cNvSpPr>
          <p:nvPr/>
        </p:nvSpPr>
        <p:spPr bwMode="auto">
          <a:xfrm>
            <a:off x="5537200" y="500045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0</a:t>
            </a:r>
          </a:p>
        </p:txBody>
      </p:sp>
      <p:sp>
        <p:nvSpPr>
          <p:cNvPr id="37919" name="Line 31"/>
          <p:cNvSpPr>
            <a:spLocks noChangeShapeType="1"/>
          </p:cNvSpPr>
          <p:nvPr/>
        </p:nvSpPr>
        <p:spPr bwMode="auto">
          <a:xfrm flipV="1">
            <a:off x="5588000" y="4962350"/>
            <a:ext cx="152400" cy="254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0" name="Rectangle 32"/>
          <p:cNvSpPr>
            <a:spLocks noChangeArrowheads="1"/>
          </p:cNvSpPr>
          <p:nvPr/>
        </p:nvSpPr>
        <p:spPr bwMode="auto">
          <a:xfrm>
            <a:off x="6527800" y="3870151"/>
            <a:ext cx="20701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i="1"/>
              <a:t>missing item fault</a:t>
            </a:r>
          </a:p>
        </p:txBody>
      </p:sp>
      <p:sp>
        <p:nvSpPr>
          <p:cNvPr id="37921" name="Line 33"/>
          <p:cNvSpPr>
            <a:spLocks noChangeShapeType="1"/>
          </p:cNvSpPr>
          <p:nvPr/>
        </p:nvSpPr>
        <p:spPr bwMode="auto">
          <a:xfrm flipH="1">
            <a:off x="6146800" y="4073350"/>
            <a:ext cx="419100" cy="431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2" name="Rectangle 34"/>
          <p:cNvSpPr>
            <a:spLocks noChangeArrowheads="1"/>
          </p:cNvSpPr>
          <p:nvPr/>
        </p:nvSpPr>
        <p:spPr bwMode="auto">
          <a:xfrm>
            <a:off x="4699000" y="6270451"/>
            <a:ext cx="19812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physical address</a:t>
            </a:r>
          </a:p>
        </p:txBody>
      </p:sp>
      <p:sp>
        <p:nvSpPr>
          <p:cNvPr id="37923" name="Line 35"/>
          <p:cNvSpPr>
            <a:spLocks noChangeShapeType="1"/>
          </p:cNvSpPr>
          <p:nvPr/>
        </p:nvSpPr>
        <p:spPr bwMode="auto">
          <a:xfrm flipV="1">
            <a:off x="4978400" y="5902150"/>
            <a:ext cx="533400" cy="368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4" name="Line 36"/>
          <p:cNvSpPr>
            <a:spLocks noChangeShapeType="1"/>
          </p:cNvSpPr>
          <p:nvPr/>
        </p:nvSpPr>
        <p:spPr bwMode="auto">
          <a:xfrm>
            <a:off x="7962900" y="5660850"/>
            <a:ext cx="368300" cy="5842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925" name="Rectangle 37"/>
          <p:cNvSpPr>
            <a:spLocks noChangeArrowheads="1"/>
          </p:cNvSpPr>
          <p:nvPr/>
        </p:nvSpPr>
        <p:spPr bwMode="auto">
          <a:xfrm>
            <a:off x="8331200" y="6295851"/>
            <a:ext cx="15113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OS performs</a:t>
            </a:r>
          </a:p>
          <a:p>
            <a:pPr eaLnBrk="0" hangingPunct="0">
              <a:lnSpc>
                <a:spcPct val="85000"/>
              </a:lnSpc>
            </a:pPr>
            <a:r>
              <a:rPr lang="en-US" altLang="zh-CN" b="1"/>
              <a:t>this transfer</a:t>
            </a:r>
          </a:p>
        </p:txBody>
      </p:sp>
    </p:spTree>
    <p:extLst>
      <p:ext uri="{BB962C8B-B14F-4D97-AF65-F5344CB8AC3E}">
        <p14:creationId xmlns:p14="http://schemas.microsoft.com/office/powerpoint/2010/main" val="3371669598"/>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 of how paging and segmentation divide a program</a:t>
            </a:r>
            <a:endParaRPr lang="zh-CN" altLang="en-US" dirty="0"/>
          </a:p>
        </p:txBody>
      </p:sp>
      <p:sp>
        <p:nvSpPr>
          <p:cNvPr id="3" name="内容占位符 2"/>
          <p:cNvSpPr>
            <a:spLocks noGrp="1"/>
          </p:cNvSpPr>
          <p:nvPr>
            <p:ph idx="1"/>
          </p:nvPr>
        </p:nvSpPr>
        <p:spPr/>
        <p:txBody>
          <a:bodyPr/>
          <a:lstStyle/>
          <a:p>
            <a:r>
              <a:rPr lang="en-US" altLang="zh-CN" dirty="0" smtClean="0"/>
              <a:t>Page</a:t>
            </a:r>
            <a:r>
              <a:rPr lang="zh-CN" altLang="en-US" dirty="0" smtClean="0"/>
              <a:t>（页</a:t>
            </a:r>
            <a:r>
              <a:rPr lang="zh-CN" altLang="en-US" dirty="0"/>
              <a:t>）</a:t>
            </a:r>
            <a:r>
              <a:rPr lang="zh-CN" altLang="en-US" dirty="0" smtClean="0"/>
              <a:t>：相同大小的块</a:t>
            </a:r>
            <a:endParaRPr lang="en-US" altLang="zh-CN" dirty="0" smtClean="0"/>
          </a:p>
          <a:p>
            <a:r>
              <a:rPr lang="en-US" altLang="zh-CN" dirty="0" smtClean="0"/>
              <a:t>Segment</a:t>
            </a:r>
            <a:r>
              <a:rPr lang="zh-CN" altLang="en-US" dirty="0" smtClean="0"/>
              <a:t>（段）：不同大小的块</a:t>
            </a:r>
            <a:endParaRPr lang="zh-CN" altLang="en-US" dirty="0"/>
          </a:p>
        </p:txBody>
      </p:sp>
      <p:pic>
        <p:nvPicPr>
          <p:cNvPr id="4" name="图片 3"/>
          <p:cNvPicPr>
            <a:picLocks noChangeAspect="1"/>
          </p:cNvPicPr>
          <p:nvPr/>
        </p:nvPicPr>
        <p:blipFill>
          <a:blip r:embed="rId2"/>
          <a:stretch>
            <a:fillRect/>
          </a:stretch>
        </p:blipFill>
        <p:spPr>
          <a:xfrm>
            <a:off x="695400" y="2996952"/>
            <a:ext cx="11006089" cy="3171050"/>
          </a:xfrm>
          <a:prstGeom prst="rect">
            <a:avLst/>
          </a:prstGeom>
        </p:spPr>
      </p:pic>
    </p:spTree>
    <p:extLst>
      <p:ext uri="{BB962C8B-B14F-4D97-AF65-F5344CB8AC3E}">
        <p14:creationId xmlns:p14="http://schemas.microsoft.com/office/powerpoint/2010/main" val="93743611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Paging versus </a:t>
            </a:r>
            <a:r>
              <a:rPr lang="en-US" altLang="zh-CN" dirty="0" smtClean="0"/>
              <a:t>Segmentation</a:t>
            </a:r>
            <a:endParaRPr lang="zh-CN" altLang="en-US" dirty="0"/>
          </a:p>
        </p:txBody>
      </p:sp>
      <p:sp>
        <p:nvSpPr>
          <p:cNvPr id="3" name="内容占位符 2"/>
          <p:cNvSpPr>
            <a:spLocks noGrp="1"/>
          </p:cNvSpPr>
          <p:nvPr>
            <p:ph idx="1"/>
          </p:nvPr>
        </p:nvSpPr>
        <p:spPr/>
        <p:txBody>
          <a:bodyPr/>
          <a:lstStyle/>
          <a:p>
            <a:r>
              <a:rPr lang="en-US" altLang="zh-CN" sz="2400" dirty="0" smtClean="0"/>
              <a:t>A </a:t>
            </a:r>
            <a:r>
              <a:rPr lang="en-US" altLang="zh-CN" sz="2400" dirty="0"/>
              <a:t>hybrid approach, called paged segments, shoots for the best of both worlds: segments are composed of pages, so replacing a block is easy, yet a segment may be treated as a logical unit.</a:t>
            </a:r>
            <a:endParaRPr lang="zh-CN" altLang="en-US" sz="2400" dirty="0"/>
          </a:p>
        </p:txBody>
      </p:sp>
      <p:pic>
        <p:nvPicPr>
          <p:cNvPr id="4" name="图片 3"/>
          <p:cNvPicPr>
            <a:picLocks noChangeAspect="1"/>
          </p:cNvPicPr>
          <p:nvPr/>
        </p:nvPicPr>
        <p:blipFill>
          <a:blip r:embed="rId2"/>
          <a:stretch>
            <a:fillRect/>
          </a:stretch>
        </p:blipFill>
        <p:spPr>
          <a:xfrm>
            <a:off x="1991544" y="2711133"/>
            <a:ext cx="8794668" cy="4120025"/>
          </a:xfrm>
          <a:prstGeom prst="rect">
            <a:avLst/>
          </a:prstGeom>
        </p:spPr>
      </p:pic>
    </p:spTree>
    <p:extLst>
      <p:ext uri="{BB962C8B-B14F-4D97-AF65-F5344CB8AC3E}">
        <p14:creationId xmlns:p14="http://schemas.microsoft.com/office/powerpoint/2010/main" val="311885865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177041" y="681308"/>
            <a:ext cx="5368925" cy="4095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Paging Organization</a:t>
            </a:r>
          </a:p>
        </p:txBody>
      </p:sp>
      <p:sp>
        <p:nvSpPr>
          <p:cNvPr id="39939" name="Rectangle 3"/>
          <p:cNvSpPr>
            <a:spLocks noChangeArrowheads="1"/>
          </p:cNvSpPr>
          <p:nvPr/>
        </p:nvSpPr>
        <p:spPr bwMode="auto">
          <a:xfrm>
            <a:off x="4047696" y="1923083"/>
            <a:ext cx="1231900" cy="1168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0" name="Line 4"/>
          <p:cNvSpPr>
            <a:spLocks noChangeShapeType="1"/>
          </p:cNvSpPr>
          <p:nvPr/>
        </p:nvSpPr>
        <p:spPr bwMode="auto">
          <a:xfrm>
            <a:off x="4047696" y="2507283"/>
            <a:ext cx="1231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1" name="Line 5"/>
          <p:cNvSpPr>
            <a:spLocks noChangeShapeType="1"/>
          </p:cNvSpPr>
          <p:nvPr/>
        </p:nvSpPr>
        <p:spPr bwMode="auto">
          <a:xfrm>
            <a:off x="4047696" y="2202483"/>
            <a:ext cx="1231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2" name="Line 6"/>
          <p:cNvSpPr>
            <a:spLocks noChangeShapeType="1"/>
          </p:cNvSpPr>
          <p:nvPr/>
        </p:nvSpPr>
        <p:spPr bwMode="auto">
          <a:xfrm>
            <a:off x="4047696" y="2799383"/>
            <a:ext cx="1231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3" name="Rectangle 7"/>
          <p:cNvSpPr>
            <a:spLocks noChangeArrowheads="1"/>
          </p:cNvSpPr>
          <p:nvPr/>
        </p:nvSpPr>
        <p:spPr bwMode="auto">
          <a:xfrm>
            <a:off x="4200096" y="1923083"/>
            <a:ext cx="9398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frame 0</a:t>
            </a:r>
          </a:p>
        </p:txBody>
      </p:sp>
      <p:sp>
        <p:nvSpPr>
          <p:cNvPr id="39944" name="Rectangle 8"/>
          <p:cNvSpPr>
            <a:spLocks noChangeArrowheads="1"/>
          </p:cNvSpPr>
          <p:nvPr/>
        </p:nvSpPr>
        <p:spPr bwMode="auto">
          <a:xfrm>
            <a:off x="4898596" y="2227883"/>
            <a:ext cx="254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a:t>
            </a:r>
          </a:p>
        </p:txBody>
      </p:sp>
      <p:sp>
        <p:nvSpPr>
          <p:cNvPr id="39945" name="Rectangle 9"/>
          <p:cNvSpPr>
            <a:spLocks noChangeArrowheads="1"/>
          </p:cNvSpPr>
          <p:nvPr/>
        </p:nvSpPr>
        <p:spPr bwMode="auto">
          <a:xfrm>
            <a:off x="4898596" y="2837483"/>
            <a:ext cx="254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7</a:t>
            </a:r>
          </a:p>
        </p:txBody>
      </p:sp>
      <p:sp>
        <p:nvSpPr>
          <p:cNvPr id="39946" name="Rectangle 10"/>
          <p:cNvSpPr>
            <a:spLocks noChangeArrowheads="1"/>
          </p:cNvSpPr>
          <p:nvPr/>
        </p:nvSpPr>
        <p:spPr bwMode="auto">
          <a:xfrm>
            <a:off x="3742896" y="1923083"/>
            <a:ext cx="254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0</a:t>
            </a:r>
          </a:p>
        </p:txBody>
      </p:sp>
      <p:sp>
        <p:nvSpPr>
          <p:cNvPr id="39947" name="Rectangle 11"/>
          <p:cNvSpPr>
            <a:spLocks noChangeArrowheads="1"/>
          </p:cNvSpPr>
          <p:nvPr/>
        </p:nvSpPr>
        <p:spPr bwMode="auto">
          <a:xfrm>
            <a:off x="3361896" y="2227883"/>
            <a:ext cx="635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dirty="0">
                <a:solidFill>
                  <a:srgbClr val="0000FF"/>
                </a:solidFill>
              </a:rPr>
              <a:t>1</a:t>
            </a:r>
            <a:r>
              <a:rPr lang="en-US" altLang="zh-CN" b="1" dirty="0"/>
              <a:t>024</a:t>
            </a:r>
          </a:p>
        </p:txBody>
      </p:sp>
      <p:sp>
        <p:nvSpPr>
          <p:cNvPr id="39948" name="Rectangle 12"/>
          <p:cNvSpPr>
            <a:spLocks noChangeArrowheads="1"/>
          </p:cNvSpPr>
          <p:nvPr/>
        </p:nvSpPr>
        <p:spPr bwMode="auto">
          <a:xfrm>
            <a:off x="3374596" y="2862883"/>
            <a:ext cx="635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dirty="0">
                <a:solidFill>
                  <a:srgbClr val="0000FF"/>
                </a:solidFill>
              </a:rPr>
              <a:t>7</a:t>
            </a:r>
            <a:r>
              <a:rPr lang="en-US" altLang="zh-CN" b="1" dirty="0"/>
              <a:t>168</a:t>
            </a:r>
          </a:p>
        </p:txBody>
      </p:sp>
      <p:sp>
        <p:nvSpPr>
          <p:cNvPr id="39949" name="Rectangle 13"/>
          <p:cNvSpPr>
            <a:spLocks noChangeArrowheads="1"/>
          </p:cNvSpPr>
          <p:nvPr/>
        </p:nvSpPr>
        <p:spPr bwMode="auto">
          <a:xfrm>
            <a:off x="3222197" y="1719884"/>
            <a:ext cx="547329"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dirty="0">
                <a:solidFill>
                  <a:srgbClr val="0000FF"/>
                </a:solidFill>
              </a:rPr>
              <a:t>P.A.</a:t>
            </a:r>
          </a:p>
        </p:txBody>
      </p:sp>
      <p:sp>
        <p:nvSpPr>
          <p:cNvPr id="39950" name="Rectangle 14"/>
          <p:cNvSpPr>
            <a:spLocks noChangeArrowheads="1"/>
          </p:cNvSpPr>
          <p:nvPr/>
        </p:nvSpPr>
        <p:spPr bwMode="auto">
          <a:xfrm>
            <a:off x="4066746" y="3294684"/>
            <a:ext cx="10541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eaLnBrk="0" hangingPunct="0">
              <a:lnSpc>
                <a:spcPct val="85000"/>
              </a:lnSpc>
            </a:pPr>
            <a:r>
              <a:rPr lang="en-US" altLang="zh-CN" b="1" i="1"/>
              <a:t>Physical</a:t>
            </a:r>
          </a:p>
          <a:p>
            <a:pPr algn="ctr" eaLnBrk="0" hangingPunct="0">
              <a:lnSpc>
                <a:spcPct val="85000"/>
              </a:lnSpc>
            </a:pPr>
            <a:r>
              <a:rPr lang="en-US" altLang="zh-CN" b="1" i="1"/>
              <a:t>Memory</a:t>
            </a:r>
          </a:p>
        </p:txBody>
      </p:sp>
      <p:sp>
        <p:nvSpPr>
          <p:cNvPr id="39951" name="Rectangle 15"/>
          <p:cNvSpPr>
            <a:spLocks noChangeArrowheads="1"/>
          </p:cNvSpPr>
          <p:nvPr/>
        </p:nvSpPr>
        <p:spPr bwMode="auto">
          <a:xfrm>
            <a:off x="5317696" y="1923083"/>
            <a:ext cx="4191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1K</a:t>
            </a:r>
          </a:p>
        </p:txBody>
      </p:sp>
      <p:sp>
        <p:nvSpPr>
          <p:cNvPr id="39952" name="Rectangle 16"/>
          <p:cNvSpPr>
            <a:spLocks noChangeArrowheads="1"/>
          </p:cNvSpPr>
          <p:nvPr/>
        </p:nvSpPr>
        <p:spPr bwMode="auto">
          <a:xfrm>
            <a:off x="5343096" y="2227883"/>
            <a:ext cx="4191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1K</a:t>
            </a:r>
          </a:p>
        </p:txBody>
      </p:sp>
      <p:sp>
        <p:nvSpPr>
          <p:cNvPr id="39953" name="Rectangle 17"/>
          <p:cNvSpPr>
            <a:spLocks noChangeArrowheads="1"/>
          </p:cNvSpPr>
          <p:nvPr/>
        </p:nvSpPr>
        <p:spPr bwMode="auto">
          <a:xfrm>
            <a:off x="5343096" y="2837483"/>
            <a:ext cx="4191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1K</a:t>
            </a:r>
          </a:p>
        </p:txBody>
      </p:sp>
      <p:sp>
        <p:nvSpPr>
          <p:cNvPr id="39954" name="Rectangle 18"/>
          <p:cNvSpPr>
            <a:spLocks noChangeArrowheads="1"/>
          </p:cNvSpPr>
          <p:nvPr/>
        </p:nvSpPr>
        <p:spPr bwMode="auto">
          <a:xfrm>
            <a:off x="6295596" y="1961183"/>
            <a:ext cx="736600" cy="1155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Addr</a:t>
            </a:r>
          </a:p>
          <a:p>
            <a:pPr algn="ctr" eaLnBrk="0" hangingPunct="0"/>
            <a:r>
              <a:rPr lang="en-US" altLang="zh-CN" b="1"/>
              <a:t>Trans</a:t>
            </a:r>
          </a:p>
          <a:p>
            <a:pPr algn="ctr" eaLnBrk="0" hangingPunct="0"/>
            <a:r>
              <a:rPr lang="en-US" altLang="zh-CN" b="1"/>
              <a:t>MAP</a:t>
            </a:r>
          </a:p>
        </p:txBody>
      </p:sp>
      <p:sp>
        <p:nvSpPr>
          <p:cNvPr id="39955" name="Rectangle 19"/>
          <p:cNvSpPr>
            <a:spLocks noChangeArrowheads="1"/>
          </p:cNvSpPr>
          <p:nvPr/>
        </p:nvSpPr>
        <p:spPr bwMode="auto">
          <a:xfrm>
            <a:off x="8162496" y="1961183"/>
            <a:ext cx="1574800" cy="1955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6" name="Line 20"/>
          <p:cNvSpPr>
            <a:spLocks noChangeShapeType="1"/>
          </p:cNvSpPr>
          <p:nvPr/>
        </p:nvSpPr>
        <p:spPr bwMode="auto">
          <a:xfrm>
            <a:off x="8162496" y="2227883"/>
            <a:ext cx="1574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7" name="Line 21"/>
          <p:cNvSpPr>
            <a:spLocks noChangeShapeType="1"/>
          </p:cNvSpPr>
          <p:nvPr/>
        </p:nvSpPr>
        <p:spPr bwMode="auto">
          <a:xfrm>
            <a:off x="8162496" y="2519983"/>
            <a:ext cx="1574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8" name="Line 22"/>
          <p:cNvSpPr>
            <a:spLocks noChangeShapeType="1"/>
          </p:cNvSpPr>
          <p:nvPr/>
        </p:nvSpPr>
        <p:spPr bwMode="auto">
          <a:xfrm>
            <a:off x="8162496" y="3637583"/>
            <a:ext cx="1574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9" name="Rectangle 23"/>
          <p:cNvSpPr>
            <a:spLocks noChangeArrowheads="1"/>
          </p:cNvSpPr>
          <p:nvPr/>
        </p:nvSpPr>
        <p:spPr bwMode="auto">
          <a:xfrm>
            <a:off x="8467296" y="1986583"/>
            <a:ext cx="8509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page 0</a:t>
            </a:r>
          </a:p>
        </p:txBody>
      </p:sp>
      <p:sp>
        <p:nvSpPr>
          <p:cNvPr id="39960" name="Rectangle 24"/>
          <p:cNvSpPr>
            <a:spLocks noChangeArrowheads="1"/>
          </p:cNvSpPr>
          <p:nvPr/>
        </p:nvSpPr>
        <p:spPr bwMode="auto">
          <a:xfrm>
            <a:off x="9076896" y="2265983"/>
            <a:ext cx="254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a:t>
            </a:r>
          </a:p>
        </p:txBody>
      </p:sp>
      <p:sp>
        <p:nvSpPr>
          <p:cNvPr id="39961" name="Rectangle 25"/>
          <p:cNvSpPr>
            <a:spLocks noChangeArrowheads="1"/>
          </p:cNvSpPr>
          <p:nvPr/>
        </p:nvSpPr>
        <p:spPr bwMode="auto">
          <a:xfrm>
            <a:off x="9013396" y="3675683"/>
            <a:ext cx="381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31</a:t>
            </a:r>
          </a:p>
        </p:txBody>
      </p:sp>
      <p:sp>
        <p:nvSpPr>
          <p:cNvPr id="39962" name="Rectangle 26"/>
          <p:cNvSpPr>
            <a:spLocks noChangeArrowheads="1"/>
          </p:cNvSpPr>
          <p:nvPr/>
        </p:nvSpPr>
        <p:spPr bwMode="auto">
          <a:xfrm>
            <a:off x="9775396" y="1973883"/>
            <a:ext cx="4191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1K</a:t>
            </a:r>
          </a:p>
        </p:txBody>
      </p:sp>
      <p:sp>
        <p:nvSpPr>
          <p:cNvPr id="39963" name="Rectangle 27"/>
          <p:cNvSpPr>
            <a:spLocks noChangeArrowheads="1"/>
          </p:cNvSpPr>
          <p:nvPr/>
        </p:nvSpPr>
        <p:spPr bwMode="auto">
          <a:xfrm>
            <a:off x="9800796" y="2278683"/>
            <a:ext cx="4191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1K</a:t>
            </a:r>
          </a:p>
        </p:txBody>
      </p:sp>
      <p:sp>
        <p:nvSpPr>
          <p:cNvPr id="39964" name="Rectangle 28"/>
          <p:cNvSpPr>
            <a:spLocks noChangeArrowheads="1"/>
          </p:cNvSpPr>
          <p:nvPr/>
        </p:nvSpPr>
        <p:spPr bwMode="auto">
          <a:xfrm>
            <a:off x="9800796" y="3675683"/>
            <a:ext cx="4191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1K</a:t>
            </a:r>
          </a:p>
        </p:txBody>
      </p:sp>
      <p:sp>
        <p:nvSpPr>
          <p:cNvPr id="39965" name="Line 29"/>
          <p:cNvSpPr>
            <a:spLocks noChangeShapeType="1"/>
          </p:cNvSpPr>
          <p:nvPr/>
        </p:nvSpPr>
        <p:spPr bwMode="auto">
          <a:xfrm>
            <a:off x="5812996" y="1923083"/>
            <a:ext cx="419100" cy="241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6" name="Line 30"/>
          <p:cNvSpPr>
            <a:spLocks noChangeShapeType="1"/>
          </p:cNvSpPr>
          <p:nvPr/>
        </p:nvSpPr>
        <p:spPr bwMode="auto">
          <a:xfrm flipV="1">
            <a:off x="5724096" y="2926383"/>
            <a:ext cx="508000" cy="177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7" name="Line 31"/>
          <p:cNvSpPr>
            <a:spLocks noChangeShapeType="1"/>
          </p:cNvSpPr>
          <p:nvPr/>
        </p:nvSpPr>
        <p:spPr bwMode="auto">
          <a:xfrm flipV="1">
            <a:off x="7095696" y="2050083"/>
            <a:ext cx="698500" cy="215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8" name="Line 32"/>
          <p:cNvSpPr>
            <a:spLocks noChangeShapeType="1"/>
          </p:cNvSpPr>
          <p:nvPr/>
        </p:nvSpPr>
        <p:spPr bwMode="auto">
          <a:xfrm>
            <a:off x="7070296" y="2913683"/>
            <a:ext cx="381000" cy="698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9" name="Rectangle 33"/>
          <p:cNvSpPr>
            <a:spLocks noChangeArrowheads="1"/>
          </p:cNvSpPr>
          <p:nvPr/>
        </p:nvSpPr>
        <p:spPr bwMode="auto">
          <a:xfrm>
            <a:off x="7883096" y="1961183"/>
            <a:ext cx="254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0</a:t>
            </a:r>
          </a:p>
        </p:txBody>
      </p:sp>
      <p:sp>
        <p:nvSpPr>
          <p:cNvPr id="39970" name="Rectangle 34"/>
          <p:cNvSpPr>
            <a:spLocks noChangeArrowheads="1"/>
          </p:cNvSpPr>
          <p:nvPr/>
        </p:nvSpPr>
        <p:spPr bwMode="auto">
          <a:xfrm>
            <a:off x="7502096" y="2253283"/>
            <a:ext cx="635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solidFill>
                  <a:schemeClr val="accent1"/>
                </a:solidFill>
              </a:rPr>
              <a:t>1</a:t>
            </a:r>
            <a:r>
              <a:rPr lang="en-US" altLang="zh-CN" b="1"/>
              <a:t>024</a:t>
            </a:r>
          </a:p>
        </p:txBody>
      </p:sp>
      <p:sp>
        <p:nvSpPr>
          <p:cNvPr id="39971" name="Rectangle 35"/>
          <p:cNvSpPr>
            <a:spLocks noChangeArrowheads="1"/>
          </p:cNvSpPr>
          <p:nvPr/>
        </p:nvSpPr>
        <p:spPr bwMode="auto">
          <a:xfrm>
            <a:off x="7349696" y="3688383"/>
            <a:ext cx="762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solidFill>
                  <a:schemeClr val="accent1"/>
                </a:solidFill>
              </a:rPr>
              <a:t>31</a:t>
            </a:r>
            <a:r>
              <a:rPr lang="en-US" altLang="zh-CN" b="1"/>
              <a:t>744</a:t>
            </a:r>
          </a:p>
        </p:txBody>
      </p:sp>
      <p:sp>
        <p:nvSpPr>
          <p:cNvPr id="39972" name="Rectangle 36"/>
          <p:cNvSpPr>
            <a:spLocks noChangeArrowheads="1"/>
          </p:cNvSpPr>
          <p:nvPr/>
        </p:nvSpPr>
        <p:spPr bwMode="auto">
          <a:xfrm>
            <a:off x="10638996" y="1770684"/>
            <a:ext cx="10795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solidFill>
                  <a:schemeClr val="hlink"/>
                </a:solidFill>
              </a:rPr>
              <a:t>unit of </a:t>
            </a:r>
          </a:p>
          <a:p>
            <a:pPr eaLnBrk="0" hangingPunct="0">
              <a:lnSpc>
                <a:spcPct val="85000"/>
              </a:lnSpc>
            </a:pPr>
            <a:r>
              <a:rPr lang="en-US" altLang="zh-CN" b="1">
                <a:solidFill>
                  <a:schemeClr val="hlink"/>
                </a:solidFill>
              </a:rPr>
              <a:t>mapping</a:t>
            </a:r>
          </a:p>
        </p:txBody>
      </p:sp>
      <p:sp>
        <p:nvSpPr>
          <p:cNvPr id="39973" name="Line 37"/>
          <p:cNvSpPr>
            <a:spLocks noChangeShapeType="1"/>
          </p:cNvSpPr>
          <p:nvPr/>
        </p:nvSpPr>
        <p:spPr bwMode="auto">
          <a:xfrm flipH="1">
            <a:off x="10296096" y="2342183"/>
            <a:ext cx="762000" cy="635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4" name="Rectangle 38"/>
          <p:cNvSpPr>
            <a:spLocks noChangeArrowheads="1"/>
          </p:cNvSpPr>
          <p:nvPr/>
        </p:nvSpPr>
        <p:spPr bwMode="auto">
          <a:xfrm>
            <a:off x="10257996" y="2659683"/>
            <a:ext cx="1549400" cy="1217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solidFill>
                  <a:schemeClr val="hlink"/>
                </a:solidFill>
              </a:rPr>
              <a:t>also unit of</a:t>
            </a:r>
          </a:p>
          <a:p>
            <a:pPr eaLnBrk="0" hangingPunct="0">
              <a:lnSpc>
                <a:spcPct val="85000"/>
              </a:lnSpc>
            </a:pPr>
            <a:r>
              <a:rPr lang="en-US" altLang="zh-CN" b="1">
                <a:solidFill>
                  <a:schemeClr val="hlink"/>
                </a:solidFill>
              </a:rPr>
              <a:t>transfer from</a:t>
            </a:r>
          </a:p>
          <a:p>
            <a:pPr eaLnBrk="0" hangingPunct="0">
              <a:lnSpc>
                <a:spcPct val="85000"/>
              </a:lnSpc>
            </a:pPr>
            <a:r>
              <a:rPr lang="en-US" altLang="zh-CN" b="1">
                <a:solidFill>
                  <a:schemeClr val="hlink"/>
                </a:solidFill>
              </a:rPr>
              <a:t>virtual to</a:t>
            </a:r>
          </a:p>
          <a:p>
            <a:pPr eaLnBrk="0" hangingPunct="0">
              <a:lnSpc>
                <a:spcPct val="85000"/>
              </a:lnSpc>
            </a:pPr>
            <a:r>
              <a:rPr lang="en-US" altLang="zh-CN" b="1">
                <a:solidFill>
                  <a:schemeClr val="hlink"/>
                </a:solidFill>
              </a:rPr>
              <a:t>physical </a:t>
            </a:r>
          </a:p>
          <a:p>
            <a:pPr eaLnBrk="0" hangingPunct="0">
              <a:lnSpc>
                <a:spcPct val="85000"/>
              </a:lnSpc>
            </a:pPr>
            <a:r>
              <a:rPr lang="en-US" altLang="zh-CN" b="1">
                <a:solidFill>
                  <a:schemeClr val="hlink"/>
                </a:solidFill>
              </a:rPr>
              <a:t>memory</a:t>
            </a:r>
          </a:p>
        </p:txBody>
      </p:sp>
      <p:sp>
        <p:nvSpPr>
          <p:cNvPr id="39975" name="Rectangle 39"/>
          <p:cNvSpPr>
            <a:spLocks noChangeArrowheads="1"/>
          </p:cNvSpPr>
          <p:nvPr/>
        </p:nvSpPr>
        <p:spPr bwMode="auto">
          <a:xfrm>
            <a:off x="8048196" y="4043983"/>
            <a:ext cx="17780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i="1"/>
              <a:t>Virtual Memory</a:t>
            </a:r>
          </a:p>
        </p:txBody>
      </p:sp>
      <p:sp>
        <p:nvSpPr>
          <p:cNvPr id="39976" name="Rectangle 40"/>
          <p:cNvSpPr>
            <a:spLocks noChangeArrowheads="1"/>
          </p:cNvSpPr>
          <p:nvPr/>
        </p:nvSpPr>
        <p:spPr bwMode="auto">
          <a:xfrm>
            <a:off x="1165176" y="3484389"/>
            <a:ext cx="20447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u="sng"/>
              <a:t>Address Mapping</a:t>
            </a:r>
          </a:p>
        </p:txBody>
      </p:sp>
      <p:sp>
        <p:nvSpPr>
          <p:cNvPr id="39977" name="Rectangle 41"/>
          <p:cNvSpPr>
            <a:spLocks noChangeArrowheads="1"/>
          </p:cNvSpPr>
          <p:nvPr/>
        </p:nvSpPr>
        <p:spPr bwMode="auto">
          <a:xfrm>
            <a:off x="1330276" y="4005088"/>
            <a:ext cx="2540000" cy="2794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8" name="Rectangle 42"/>
          <p:cNvSpPr>
            <a:spLocks noChangeArrowheads="1"/>
          </p:cNvSpPr>
          <p:nvPr/>
        </p:nvSpPr>
        <p:spPr bwMode="auto">
          <a:xfrm>
            <a:off x="644476" y="4030489"/>
            <a:ext cx="444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VA</a:t>
            </a:r>
          </a:p>
        </p:txBody>
      </p:sp>
      <p:sp>
        <p:nvSpPr>
          <p:cNvPr id="39979" name="Rectangle 43"/>
          <p:cNvSpPr>
            <a:spLocks noChangeArrowheads="1"/>
          </p:cNvSpPr>
          <p:nvPr/>
        </p:nvSpPr>
        <p:spPr bwMode="auto">
          <a:xfrm>
            <a:off x="1342976" y="4030489"/>
            <a:ext cx="10668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solidFill>
                  <a:schemeClr val="accent1"/>
                </a:solidFill>
              </a:rPr>
              <a:t>page no.</a:t>
            </a:r>
          </a:p>
        </p:txBody>
      </p:sp>
      <p:sp>
        <p:nvSpPr>
          <p:cNvPr id="39980" name="Rectangle 44"/>
          <p:cNvSpPr>
            <a:spLocks noChangeArrowheads="1"/>
          </p:cNvSpPr>
          <p:nvPr/>
        </p:nvSpPr>
        <p:spPr bwMode="auto">
          <a:xfrm>
            <a:off x="3070176" y="4030489"/>
            <a:ext cx="5969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disp</a:t>
            </a:r>
          </a:p>
        </p:txBody>
      </p:sp>
      <p:sp>
        <p:nvSpPr>
          <p:cNvPr id="39981" name="Line 45"/>
          <p:cNvSpPr>
            <a:spLocks noChangeShapeType="1"/>
          </p:cNvSpPr>
          <p:nvPr/>
        </p:nvSpPr>
        <p:spPr bwMode="auto">
          <a:xfrm>
            <a:off x="2816176" y="4005088"/>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2" name="Rectangle 46"/>
          <p:cNvSpPr>
            <a:spLocks noChangeArrowheads="1"/>
          </p:cNvSpPr>
          <p:nvPr/>
        </p:nvSpPr>
        <p:spPr bwMode="auto">
          <a:xfrm>
            <a:off x="3171776" y="3763789"/>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10</a:t>
            </a:r>
          </a:p>
        </p:txBody>
      </p:sp>
      <p:sp>
        <p:nvSpPr>
          <p:cNvPr id="39983" name="Line 47"/>
          <p:cNvSpPr>
            <a:spLocks noChangeShapeType="1"/>
          </p:cNvSpPr>
          <p:nvPr/>
        </p:nvSpPr>
        <p:spPr bwMode="auto">
          <a:xfrm>
            <a:off x="3514676" y="3865388"/>
            <a:ext cx="355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4" name="Line 48"/>
          <p:cNvSpPr>
            <a:spLocks noChangeShapeType="1"/>
          </p:cNvSpPr>
          <p:nvPr/>
        </p:nvSpPr>
        <p:spPr bwMode="auto">
          <a:xfrm flipH="1">
            <a:off x="2803476" y="3878088"/>
            <a:ext cx="4445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5" name="Line 49"/>
          <p:cNvSpPr>
            <a:spLocks noChangeShapeType="1"/>
          </p:cNvSpPr>
          <p:nvPr/>
        </p:nvSpPr>
        <p:spPr bwMode="auto">
          <a:xfrm>
            <a:off x="2371676" y="4716288"/>
            <a:ext cx="0" cy="1320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6" name="Line 50"/>
          <p:cNvSpPr>
            <a:spLocks noChangeShapeType="1"/>
          </p:cNvSpPr>
          <p:nvPr/>
        </p:nvSpPr>
        <p:spPr bwMode="auto">
          <a:xfrm>
            <a:off x="4048076" y="4716288"/>
            <a:ext cx="0" cy="137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7" name="Line 51"/>
          <p:cNvSpPr>
            <a:spLocks noChangeShapeType="1"/>
          </p:cNvSpPr>
          <p:nvPr/>
        </p:nvSpPr>
        <p:spPr bwMode="auto">
          <a:xfrm>
            <a:off x="2384376" y="5021088"/>
            <a:ext cx="1651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8" name="Line 52"/>
          <p:cNvSpPr>
            <a:spLocks noChangeShapeType="1"/>
          </p:cNvSpPr>
          <p:nvPr/>
        </p:nvSpPr>
        <p:spPr bwMode="auto">
          <a:xfrm>
            <a:off x="2384376" y="5313188"/>
            <a:ext cx="1651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9" name="Line 53"/>
          <p:cNvSpPr>
            <a:spLocks noChangeShapeType="1"/>
          </p:cNvSpPr>
          <p:nvPr/>
        </p:nvSpPr>
        <p:spPr bwMode="auto">
          <a:xfrm>
            <a:off x="2384376" y="5656088"/>
            <a:ext cx="1651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0" name="Line 54"/>
          <p:cNvSpPr>
            <a:spLocks noChangeShapeType="1"/>
          </p:cNvSpPr>
          <p:nvPr/>
        </p:nvSpPr>
        <p:spPr bwMode="auto">
          <a:xfrm>
            <a:off x="2384376" y="5884688"/>
            <a:ext cx="1651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1" name="Line 55"/>
          <p:cNvSpPr>
            <a:spLocks noChangeShapeType="1"/>
          </p:cNvSpPr>
          <p:nvPr/>
        </p:nvSpPr>
        <p:spPr bwMode="auto">
          <a:xfrm>
            <a:off x="2701876" y="5033788"/>
            <a:ext cx="0" cy="800100"/>
          </a:xfrm>
          <a:prstGeom prst="line">
            <a:avLst/>
          </a:prstGeom>
          <a:noFill/>
          <a:ln w="25400">
            <a:pattFill prst="dkUpDiag">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2" name="Line 56"/>
          <p:cNvSpPr>
            <a:spLocks noChangeShapeType="1"/>
          </p:cNvSpPr>
          <p:nvPr/>
        </p:nvSpPr>
        <p:spPr bwMode="auto">
          <a:xfrm>
            <a:off x="3387676" y="5033788"/>
            <a:ext cx="0" cy="800100"/>
          </a:xfrm>
          <a:prstGeom prst="line">
            <a:avLst/>
          </a:prstGeom>
          <a:noFill/>
          <a:ln w="25400">
            <a:pattFill prst="dkUpDiag">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3" name="Rectangle 57"/>
          <p:cNvSpPr>
            <a:spLocks noChangeArrowheads="1"/>
          </p:cNvSpPr>
          <p:nvPr/>
        </p:nvSpPr>
        <p:spPr bwMode="auto">
          <a:xfrm>
            <a:off x="2511376" y="4665489"/>
            <a:ext cx="1333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i="1"/>
              <a:t>Page Table</a:t>
            </a:r>
          </a:p>
        </p:txBody>
      </p:sp>
      <p:sp>
        <p:nvSpPr>
          <p:cNvPr id="39994" name="Line 58"/>
          <p:cNvSpPr>
            <a:spLocks noChangeShapeType="1"/>
          </p:cNvSpPr>
          <p:nvPr/>
        </p:nvSpPr>
        <p:spPr bwMode="auto">
          <a:xfrm>
            <a:off x="1800176" y="4309888"/>
            <a:ext cx="0" cy="1104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5" name="Line 59"/>
          <p:cNvSpPr>
            <a:spLocks noChangeShapeType="1"/>
          </p:cNvSpPr>
          <p:nvPr/>
        </p:nvSpPr>
        <p:spPr bwMode="auto">
          <a:xfrm>
            <a:off x="1812876" y="5427488"/>
            <a:ext cx="5461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6" name="Rectangle 60"/>
          <p:cNvSpPr>
            <a:spLocks noChangeArrowheads="1"/>
          </p:cNvSpPr>
          <p:nvPr/>
        </p:nvSpPr>
        <p:spPr bwMode="auto">
          <a:xfrm>
            <a:off x="1469976" y="5440188"/>
            <a:ext cx="673100" cy="984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a:t>index</a:t>
            </a:r>
          </a:p>
          <a:p>
            <a:pPr eaLnBrk="0" hangingPunct="0">
              <a:lnSpc>
                <a:spcPct val="85000"/>
              </a:lnSpc>
            </a:pPr>
            <a:r>
              <a:rPr lang="en-US" altLang="zh-CN"/>
              <a:t>into</a:t>
            </a:r>
          </a:p>
          <a:p>
            <a:pPr eaLnBrk="0" hangingPunct="0">
              <a:lnSpc>
                <a:spcPct val="85000"/>
              </a:lnSpc>
            </a:pPr>
            <a:r>
              <a:rPr lang="en-US" altLang="zh-CN"/>
              <a:t>page</a:t>
            </a:r>
          </a:p>
          <a:p>
            <a:pPr eaLnBrk="0" hangingPunct="0">
              <a:lnSpc>
                <a:spcPct val="85000"/>
              </a:lnSpc>
            </a:pPr>
            <a:r>
              <a:rPr lang="en-US" altLang="zh-CN"/>
              <a:t>table</a:t>
            </a:r>
          </a:p>
        </p:txBody>
      </p:sp>
      <p:sp>
        <p:nvSpPr>
          <p:cNvPr id="39997" name="Rectangle 61"/>
          <p:cNvSpPr>
            <a:spLocks noChangeArrowheads="1"/>
          </p:cNvSpPr>
          <p:nvPr/>
        </p:nvSpPr>
        <p:spPr bwMode="auto">
          <a:xfrm>
            <a:off x="479376" y="4894089"/>
            <a:ext cx="12954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a:t>Page Table</a:t>
            </a:r>
          </a:p>
          <a:p>
            <a:pPr eaLnBrk="0" hangingPunct="0">
              <a:lnSpc>
                <a:spcPct val="85000"/>
              </a:lnSpc>
            </a:pPr>
            <a:r>
              <a:rPr lang="en-US" altLang="zh-CN"/>
              <a:t>Base Reg</a:t>
            </a:r>
          </a:p>
        </p:txBody>
      </p:sp>
      <p:sp>
        <p:nvSpPr>
          <p:cNvPr id="39998" name="Line 62"/>
          <p:cNvSpPr>
            <a:spLocks noChangeShapeType="1"/>
          </p:cNvSpPr>
          <p:nvPr/>
        </p:nvSpPr>
        <p:spPr bwMode="auto">
          <a:xfrm>
            <a:off x="1647776" y="5160788"/>
            <a:ext cx="711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9" name="Rectangle 63"/>
          <p:cNvSpPr>
            <a:spLocks noChangeArrowheads="1"/>
          </p:cNvSpPr>
          <p:nvPr/>
        </p:nvSpPr>
        <p:spPr bwMode="auto">
          <a:xfrm>
            <a:off x="2397076" y="5351289"/>
            <a:ext cx="2794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V</a:t>
            </a:r>
          </a:p>
        </p:txBody>
      </p:sp>
      <p:sp>
        <p:nvSpPr>
          <p:cNvPr id="40000" name="Rectangle 64"/>
          <p:cNvSpPr>
            <a:spLocks noChangeArrowheads="1"/>
          </p:cNvSpPr>
          <p:nvPr/>
        </p:nvSpPr>
        <p:spPr bwMode="auto">
          <a:xfrm>
            <a:off x="2714577" y="5262389"/>
            <a:ext cx="747713" cy="434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90000"/>
              </a:lnSpc>
            </a:pPr>
            <a:r>
              <a:rPr lang="en-US" altLang="zh-CN" sz="1400" b="1"/>
              <a:t>Access</a:t>
            </a:r>
          </a:p>
          <a:p>
            <a:pPr eaLnBrk="0" hangingPunct="0">
              <a:lnSpc>
                <a:spcPct val="90000"/>
              </a:lnSpc>
            </a:pPr>
            <a:r>
              <a:rPr lang="en-US" altLang="zh-CN" sz="1400" b="1"/>
              <a:t>Rights</a:t>
            </a:r>
          </a:p>
        </p:txBody>
      </p:sp>
      <p:sp>
        <p:nvSpPr>
          <p:cNvPr id="40001" name="Rectangle 65"/>
          <p:cNvSpPr>
            <a:spLocks noChangeArrowheads="1"/>
          </p:cNvSpPr>
          <p:nvPr/>
        </p:nvSpPr>
        <p:spPr bwMode="auto">
          <a:xfrm>
            <a:off x="3514676" y="5376689"/>
            <a:ext cx="444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solidFill>
                  <a:schemeClr val="bg2"/>
                </a:solidFill>
              </a:rPr>
              <a:t>PA</a:t>
            </a:r>
          </a:p>
        </p:txBody>
      </p:sp>
      <p:sp>
        <p:nvSpPr>
          <p:cNvPr id="40002" name="Rectangle 66"/>
          <p:cNvSpPr>
            <a:spLocks noChangeArrowheads="1"/>
          </p:cNvSpPr>
          <p:nvPr/>
        </p:nvSpPr>
        <p:spPr bwMode="auto">
          <a:xfrm>
            <a:off x="4606876" y="5363988"/>
            <a:ext cx="431800" cy="3175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latin typeface="Arial" panose="020B0604020202020204" pitchFamily="34" charset="0"/>
              </a:rPr>
              <a:t>+</a:t>
            </a:r>
          </a:p>
        </p:txBody>
      </p:sp>
      <p:sp>
        <p:nvSpPr>
          <p:cNvPr id="40003" name="Line 67"/>
          <p:cNvSpPr>
            <a:spLocks noChangeShapeType="1"/>
          </p:cNvSpPr>
          <p:nvPr/>
        </p:nvSpPr>
        <p:spPr bwMode="auto">
          <a:xfrm>
            <a:off x="3349576" y="4297188"/>
            <a:ext cx="0" cy="177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4" name="Line 68"/>
          <p:cNvSpPr>
            <a:spLocks noChangeShapeType="1"/>
          </p:cNvSpPr>
          <p:nvPr/>
        </p:nvSpPr>
        <p:spPr bwMode="auto">
          <a:xfrm>
            <a:off x="3362276" y="4487688"/>
            <a:ext cx="1435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5" name="Line 69"/>
          <p:cNvSpPr>
            <a:spLocks noChangeShapeType="1"/>
          </p:cNvSpPr>
          <p:nvPr/>
        </p:nvSpPr>
        <p:spPr bwMode="auto">
          <a:xfrm>
            <a:off x="4810076" y="4500388"/>
            <a:ext cx="0" cy="838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6" name="Line 70"/>
          <p:cNvSpPr>
            <a:spLocks noChangeShapeType="1"/>
          </p:cNvSpPr>
          <p:nvPr/>
        </p:nvSpPr>
        <p:spPr bwMode="auto">
          <a:xfrm>
            <a:off x="4060776" y="5503688"/>
            <a:ext cx="533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7" name="Line 71"/>
          <p:cNvSpPr>
            <a:spLocks noChangeShapeType="1"/>
          </p:cNvSpPr>
          <p:nvPr/>
        </p:nvSpPr>
        <p:spPr bwMode="auto">
          <a:xfrm>
            <a:off x="4810076" y="5706888"/>
            <a:ext cx="0" cy="3175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8" name="Rectangle 72"/>
          <p:cNvSpPr>
            <a:spLocks noChangeArrowheads="1"/>
          </p:cNvSpPr>
          <p:nvPr/>
        </p:nvSpPr>
        <p:spPr bwMode="auto">
          <a:xfrm>
            <a:off x="2473276" y="6049788"/>
            <a:ext cx="1422400" cy="750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eaLnBrk="0" hangingPunct="0">
              <a:lnSpc>
                <a:spcPct val="85000"/>
              </a:lnSpc>
            </a:pPr>
            <a:r>
              <a:rPr lang="en-US" altLang="zh-CN"/>
              <a:t>table located</a:t>
            </a:r>
          </a:p>
          <a:p>
            <a:pPr algn="ctr" eaLnBrk="0" hangingPunct="0">
              <a:lnSpc>
                <a:spcPct val="85000"/>
              </a:lnSpc>
            </a:pPr>
            <a:r>
              <a:rPr lang="en-US" altLang="zh-CN"/>
              <a:t>in physical</a:t>
            </a:r>
          </a:p>
          <a:p>
            <a:pPr algn="ctr" eaLnBrk="0" hangingPunct="0">
              <a:lnSpc>
                <a:spcPct val="85000"/>
              </a:lnSpc>
            </a:pPr>
            <a:r>
              <a:rPr lang="en-US" altLang="zh-CN"/>
              <a:t>memory</a:t>
            </a:r>
          </a:p>
        </p:txBody>
      </p:sp>
      <p:sp>
        <p:nvSpPr>
          <p:cNvPr id="40009" name="Rectangle 73"/>
          <p:cNvSpPr>
            <a:spLocks noChangeArrowheads="1"/>
          </p:cNvSpPr>
          <p:nvPr/>
        </p:nvSpPr>
        <p:spPr bwMode="auto">
          <a:xfrm>
            <a:off x="4359226" y="6062488"/>
            <a:ext cx="952500" cy="750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ctr" eaLnBrk="0" hangingPunct="0">
              <a:lnSpc>
                <a:spcPct val="85000"/>
              </a:lnSpc>
            </a:pPr>
            <a:r>
              <a:rPr lang="en-US" altLang="zh-CN"/>
              <a:t>physical</a:t>
            </a:r>
          </a:p>
          <a:p>
            <a:pPr algn="ctr" eaLnBrk="0" hangingPunct="0">
              <a:lnSpc>
                <a:spcPct val="85000"/>
              </a:lnSpc>
            </a:pPr>
            <a:r>
              <a:rPr lang="en-US" altLang="zh-CN"/>
              <a:t>memory</a:t>
            </a:r>
          </a:p>
          <a:p>
            <a:pPr algn="ctr" eaLnBrk="0" hangingPunct="0">
              <a:lnSpc>
                <a:spcPct val="85000"/>
              </a:lnSpc>
            </a:pPr>
            <a:r>
              <a:rPr lang="en-US" altLang="zh-CN"/>
              <a:t>address</a:t>
            </a:r>
          </a:p>
        </p:txBody>
      </p:sp>
      <p:sp>
        <p:nvSpPr>
          <p:cNvPr id="40010" name="Rectangle 74"/>
          <p:cNvSpPr>
            <a:spLocks noChangeArrowheads="1"/>
          </p:cNvSpPr>
          <p:nvPr/>
        </p:nvSpPr>
        <p:spPr bwMode="auto">
          <a:xfrm>
            <a:off x="5164447" y="5327383"/>
            <a:ext cx="27178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actually, concatenation </a:t>
            </a:r>
          </a:p>
          <a:p>
            <a:pPr eaLnBrk="0" hangingPunct="0">
              <a:lnSpc>
                <a:spcPct val="85000"/>
              </a:lnSpc>
            </a:pPr>
            <a:r>
              <a:rPr lang="en-US" altLang="zh-CN" b="1"/>
              <a:t>is more likely</a:t>
            </a:r>
          </a:p>
        </p:txBody>
      </p:sp>
      <p:sp>
        <p:nvSpPr>
          <p:cNvPr id="40011" name="Rectangle 75"/>
          <p:cNvSpPr>
            <a:spLocks noChangeArrowheads="1"/>
          </p:cNvSpPr>
          <p:nvPr/>
        </p:nvSpPr>
        <p:spPr bwMode="auto">
          <a:xfrm>
            <a:off x="7525910" y="1519858"/>
            <a:ext cx="625475" cy="322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lnSpc>
                <a:spcPct val="85000"/>
              </a:lnSpc>
            </a:pPr>
            <a:r>
              <a:rPr lang="en-US" altLang="zh-CN" b="1">
                <a:solidFill>
                  <a:schemeClr val="accent1"/>
                </a:solidFill>
              </a:rPr>
              <a:t>V.A.</a:t>
            </a:r>
          </a:p>
        </p:txBody>
      </p:sp>
      <p:sp>
        <p:nvSpPr>
          <p:cNvPr id="2" name="文本框 1"/>
          <p:cNvSpPr txBox="1"/>
          <p:nvPr/>
        </p:nvSpPr>
        <p:spPr>
          <a:xfrm>
            <a:off x="7195078" y="5635290"/>
            <a:ext cx="3607078" cy="461665"/>
          </a:xfrm>
          <a:prstGeom prst="rect">
            <a:avLst/>
          </a:prstGeom>
          <a:noFill/>
        </p:spPr>
        <p:txBody>
          <a:bodyPr wrap="none" rtlCol="0">
            <a:spAutoFit/>
          </a:bodyPr>
          <a:lstStyle/>
          <a:p>
            <a:r>
              <a:rPr lang="en-US" altLang="zh-CN" sz="2400" dirty="0" smtClean="0">
                <a:solidFill>
                  <a:srgbClr val="0000FF"/>
                </a:solidFill>
              </a:rPr>
              <a:t>Page Size</a:t>
            </a:r>
            <a:r>
              <a:rPr lang="zh-CN" altLang="en-US" sz="2400" dirty="0" smtClean="0">
                <a:solidFill>
                  <a:srgbClr val="0000FF"/>
                </a:solidFill>
              </a:rPr>
              <a:t>通常为</a:t>
            </a:r>
            <a:r>
              <a:rPr lang="en-US" altLang="zh-CN" sz="2400" dirty="0" smtClean="0">
                <a:solidFill>
                  <a:srgbClr val="0000FF"/>
                </a:solidFill>
              </a:rPr>
              <a:t>2</a:t>
            </a:r>
            <a:r>
              <a:rPr lang="zh-CN" altLang="en-US" sz="2400" dirty="0" smtClean="0">
                <a:solidFill>
                  <a:srgbClr val="0000FF"/>
                </a:solidFill>
              </a:rPr>
              <a:t>的</a:t>
            </a:r>
            <a:r>
              <a:rPr lang="zh-CN" altLang="en-US" sz="2400" dirty="0">
                <a:solidFill>
                  <a:srgbClr val="0000FF"/>
                </a:solidFill>
              </a:rPr>
              <a:t>幂次</a:t>
            </a:r>
          </a:p>
        </p:txBody>
      </p:sp>
    </p:spTree>
    <p:extLst>
      <p:ext uri="{BB962C8B-B14F-4D97-AF65-F5344CB8AC3E}">
        <p14:creationId xmlns:p14="http://schemas.microsoft.com/office/powerpoint/2010/main" val="2521432916"/>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zh-CN" dirty="0" smtClean="0"/>
              <a:t>Address translation &amp; Page table lookup</a:t>
            </a:r>
            <a:endParaRPr lang="en-US" altLang="zh-CN" dirty="0"/>
          </a:p>
        </p:txBody>
      </p:sp>
      <p:sp>
        <p:nvSpPr>
          <p:cNvPr id="5" name="内容占位符 4"/>
          <p:cNvSpPr>
            <a:spLocks noGrp="1"/>
          </p:cNvSpPr>
          <p:nvPr>
            <p:ph idx="1"/>
          </p:nvPr>
        </p:nvSpPr>
        <p:spPr>
          <a:xfrm>
            <a:off x="335360" y="1556792"/>
            <a:ext cx="11018440" cy="5112568"/>
          </a:xfrm>
        </p:spPr>
        <p:txBody>
          <a:bodyPr/>
          <a:lstStyle/>
          <a:p>
            <a:r>
              <a:rPr lang="en-US" altLang="zh-CN" dirty="0"/>
              <a:t>It takes an extra  memory </a:t>
            </a:r>
            <a:r>
              <a:rPr lang="en-US" altLang="zh-CN" dirty="0" smtClean="0"/>
              <a:t/>
            </a:r>
            <a:br>
              <a:rPr lang="en-US" altLang="zh-CN" dirty="0" smtClean="0"/>
            </a:br>
            <a:r>
              <a:rPr lang="en-US" altLang="zh-CN" dirty="0" smtClean="0"/>
              <a:t>access </a:t>
            </a:r>
            <a:r>
              <a:rPr lang="en-US" altLang="zh-CN" dirty="0"/>
              <a:t>to </a:t>
            </a:r>
            <a:r>
              <a:rPr lang="en-US" altLang="zh-CN" dirty="0" smtClean="0"/>
              <a:t>translate </a:t>
            </a:r>
            <a:r>
              <a:rPr lang="en-US" altLang="zh-CN" dirty="0"/>
              <a:t>VA to PA</a:t>
            </a:r>
            <a:r>
              <a:rPr lang="zh-CN" altLang="en-US" dirty="0" smtClean="0"/>
              <a:t>，</a:t>
            </a:r>
            <a:endParaRPr lang="en-US" altLang="zh-CN" dirty="0" smtClean="0"/>
          </a:p>
          <a:p>
            <a:r>
              <a:rPr lang="en-US" altLang="zh-CN" dirty="0" smtClean="0"/>
              <a:t>which makes cache access </a:t>
            </a:r>
            <a:br>
              <a:rPr lang="en-US" altLang="zh-CN" dirty="0" smtClean="0"/>
            </a:br>
            <a:r>
              <a:rPr lang="en-US" altLang="zh-CN" dirty="0" smtClean="0"/>
              <a:t>very expensive</a:t>
            </a:r>
            <a:endParaRPr lang="en-US" altLang="zh-CN" dirty="0"/>
          </a:p>
          <a:p>
            <a:pPr lvl="1"/>
            <a:r>
              <a:rPr lang="en-US" altLang="zh-CN" dirty="0" smtClean="0"/>
              <a:t>"</a:t>
            </a:r>
            <a:r>
              <a:rPr lang="en-US" altLang="zh-CN" dirty="0"/>
              <a:t>innermost loop" that you want to </a:t>
            </a:r>
            <a:r>
              <a:rPr lang="en-US" altLang="zh-CN" dirty="0" smtClean="0"/>
              <a:t>go </a:t>
            </a:r>
            <a:r>
              <a:rPr lang="en-US" altLang="zh-CN" dirty="0"/>
              <a:t>as fast as </a:t>
            </a:r>
            <a:r>
              <a:rPr lang="en-US" altLang="zh-CN" dirty="0" smtClean="0"/>
              <a:t>possible</a:t>
            </a:r>
          </a:p>
          <a:p>
            <a:r>
              <a:rPr lang="en-US" altLang="zh-CN" dirty="0"/>
              <a:t>A way to speed up translation is to use a special cache of recently used page table entries  --  </a:t>
            </a:r>
            <a:r>
              <a:rPr lang="en-US" altLang="zh-CN" dirty="0" smtClean="0"/>
              <a:t>Translation </a:t>
            </a:r>
            <a:r>
              <a:rPr lang="en-US" altLang="zh-CN" dirty="0"/>
              <a:t>Lookaside Buffer or TLB</a:t>
            </a:r>
          </a:p>
          <a:p>
            <a:pPr lvl="1"/>
            <a:r>
              <a:rPr lang="en-US" altLang="zh-CN" dirty="0"/>
              <a:t>Really just a cache on the page table </a:t>
            </a:r>
            <a:r>
              <a:rPr lang="en-US" altLang="zh-CN" dirty="0" smtClean="0"/>
              <a:t>mappings, TLB </a:t>
            </a:r>
            <a:r>
              <a:rPr lang="en-US" altLang="zh-CN" dirty="0"/>
              <a:t>access time comparable to cache access </a:t>
            </a:r>
            <a:r>
              <a:rPr lang="en-US" altLang="zh-CN" dirty="0" smtClean="0"/>
              <a:t>time </a:t>
            </a:r>
            <a:r>
              <a:rPr lang="en-US" altLang="zh-CN" dirty="0"/>
              <a:t>(much less than main memory access time)</a:t>
            </a:r>
          </a:p>
          <a:p>
            <a:pPr lvl="1"/>
            <a:endParaRPr lang="en-US" altLang="zh-CN" dirty="0"/>
          </a:p>
        </p:txBody>
      </p:sp>
      <p:sp>
        <p:nvSpPr>
          <p:cNvPr id="41987" name="Line 3"/>
          <p:cNvSpPr>
            <a:spLocks noChangeShapeType="1"/>
          </p:cNvSpPr>
          <p:nvPr/>
        </p:nvSpPr>
        <p:spPr bwMode="auto">
          <a:xfrm>
            <a:off x="5584180" y="1687338"/>
            <a:ext cx="977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8" name="Line 4"/>
          <p:cNvSpPr>
            <a:spLocks noChangeShapeType="1"/>
          </p:cNvSpPr>
          <p:nvPr/>
        </p:nvSpPr>
        <p:spPr bwMode="auto">
          <a:xfrm>
            <a:off x="6574780" y="1700038"/>
            <a:ext cx="0" cy="9271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89" name="Line 5"/>
          <p:cNvSpPr>
            <a:spLocks noChangeShapeType="1"/>
          </p:cNvSpPr>
          <p:nvPr/>
        </p:nvSpPr>
        <p:spPr bwMode="auto">
          <a:xfrm flipH="1">
            <a:off x="5533380" y="2665238"/>
            <a:ext cx="1054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0" name="Rectangle 6"/>
          <p:cNvSpPr>
            <a:spLocks noChangeArrowheads="1"/>
          </p:cNvSpPr>
          <p:nvPr/>
        </p:nvSpPr>
        <p:spPr bwMode="auto">
          <a:xfrm>
            <a:off x="5634980" y="2055638"/>
            <a:ext cx="6096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CPU</a:t>
            </a:r>
          </a:p>
        </p:txBody>
      </p:sp>
      <p:sp>
        <p:nvSpPr>
          <p:cNvPr id="41991" name="Rectangle 7"/>
          <p:cNvSpPr>
            <a:spLocks noChangeArrowheads="1"/>
          </p:cNvSpPr>
          <p:nvPr/>
        </p:nvSpPr>
        <p:spPr bwMode="auto">
          <a:xfrm>
            <a:off x="7235180" y="17254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Trans-</a:t>
            </a:r>
          </a:p>
          <a:p>
            <a:pPr algn="ctr" eaLnBrk="0" hangingPunct="0"/>
            <a:r>
              <a:rPr lang="en-US" altLang="zh-CN" b="1"/>
              <a:t>lation</a:t>
            </a:r>
          </a:p>
        </p:txBody>
      </p:sp>
      <p:sp>
        <p:nvSpPr>
          <p:cNvPr id="41992" name="Rectangle 8"/>
          <p:cNvSpPr>
            <a:spLocks noChangeArrowheads="1"/>
          </p:cNvSpPr>
          <p:nvPr/>
        </p:nvSpPr>
        <p:spPr bwMode="auto">
          <a:xfrm>
            <a:off x="9063980" y="17254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Cache</a:t>
            </a:r>
          </a:p>
        </p:txBody>
      </p:sp>
      <p:sp>
        <p:nvSpPr>
          <p:cNvPr id="41993" name="Rectangle 9"/>
          <p:cNvSpPr>
            <a:spLocks noChangeArrowheads="1"/>
          </p:cNvSpPr>
          <p:nvPr/>
        </p:nvSpPr>
        <p:spPr bwMode="auto">
          <a:xfrm>
            <a:off x="11032480" y="17381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Main</a:t>
            </a:r>
          </a:p>
          <a:p>
            <a:pPr algn="ctr" eaLnBrk="0" hangingPunct="0"/>
            <a:r>
              <a:rPr lang="en-US" altLang="zh-CN" b="1"/>
              <a:t>Memory</a:t>
            </a:r>
          </a:p>
        </p:txBody>
      </p:sp>
      <p:sp>
        <p:nvSpPr>
          <p:cNvPr id="41994" name="Line 10"/>
          <p:cNvSpPr>
            <a:spLocks noChangeShapeType="1"/>
          </p:cNvSpPr>
          <p:nvPr/>
        </p:nvSpPr>
        <p:spPr bwMode="auto">
          <a:xfrm>
            <a:off x="6587480" y="1865138"/>
            <a:ext cx="6223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5" name="Line 11"/>
          <p:cNvSpPr>
            <a:spLocks noChangeShapeType="1"/>
          </p:cNvSpPr>
          <p:nvPr/>
        </p:nvSpPr>
        <p:spPr bwMode="auto">
          <a:xfrm>
            <a:off x="8301980" y="1865138"/>
            <a:ext cx="736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6" name="Line 12"/>
          <p:cNvSpPr>
            <a:spLocks noChangeShapeType="1"/>
          </p:cNvSpPr>
          <p:nvPr/>
        </p:nvSpPr>
        <p:spPr bwMode="auto">
          <a:xfrm>
            <a:off x="10143480" y="1839738"/>
            <a:ext cx="863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7" name="Line 13"/>
          <p:cNvSpPr>
            <a:spLocks noChangeShapeType="1"/>
          </p:cNvSpPr>
          <p:nvPr/>
        </p:nvSpPr>
        <p:spPr bwMode="auto">
          <a:xfrm flipH="1">
            <a:off x="10803880" y="2487438"/>
            <a:ext cx="228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8" name="Line 14"/>
          <p:cNvSpPr>
            <a:spLocks noChangeShapeType="1"/>
          </p:cNvSpPr>
          <p:nvPr/>
        </p:nvSpPr>
        <p:spPr bwMode="auto">
          <a:xfrm>
            <a:off x="10816580" y="2500138"/>
            <a:ext cx="0" cy="571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999" name="Line 15"/>
          <p:cNvSpPr>
            <a:spLocks noChangeShapeType="1"/>
          </p:cNvSpPr>
          <p:nvPr/>
        </p:nvSpPr>
        <p:spPr bwMode="auto">
          <a:xfrm flipH="1">
            <a:off x="6816080" y="3084338"/>
            <a:ext cx="4013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0" name="Line 16"/>
          <p:cNvSpPr>
            <a:spLocks noChangeShapeType="1"/>
          </p:cNvSpPr>
          <p:nvPr/>
        </p:nvSpPr>
        <p:spPr bwMode="auto">
          <a:xfrm flipV="1">
            <a:off x="6828780" y="2538238"/>
            <a:ext cx="0" cy="558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1" name="Line 17"/>
          <p:cNvSpPr>
            <a:spLocks noChangeShapeType="1"/>
          </p:cNvSpPr>
          <p:nvPr/>
        </p:nvSpPr>
        <p:spPr bwMode="auto">
          <a:xfrm flipH="1">
            <a:off x="6562080" y="2550938"/>
            <a:ext cx="279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2" name="Line 18"/>
          <p:cNvSpPr>
            <a:spLocks noChangeShapeType="1"/>
          </p:cNvSpPr>
          <p:nvPr/>
        </p:nvSpPr>
        <p:spPr bwMode="auto">
          <a:xfrm flipV="1">
            <a:off x="10397480" y="2500138"/>
            <a:ext cx="0" cy="596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3" name="Line 19"/>
          <p:cNvSpPr>
            <a:spLocks noChangeShapeType="1"/>
          </p:cNvSpPr>
          <p:nvPr/>
        </p:nvSpPr>
        <p:spPr bwMode="auto">
          <a:xfrm flipH="1">
            <a:off x="10130780" y="2512838"/>
            <a:ext cx="279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4" name="Line 20"/>
          <p:cNvSpPr>
            <a:spLocks noChangeShapeType="1"/>
          </p:cNvSpPr>
          <p:nvPr/>
        </p:nvSpPr>
        <p:spPr bwMode="auto">
          <a:xfrm flipH="1">
            <a:off x="8797280" y="2487438"/>
            <a:ext cx="2667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5" name="Line 21"/>
          <p:cNvSpPr>
            <a:spLocks noChangeShapeType="1"/>
          </p:cNvSpPr>
          <p:nvPr/>
        </p:nvSpPr>
        <p:spPr bwMode="auto">
          <a:xfrm>
            <a:off x="8809980" y="2500138"/>
            <a:ext cx="0" cy="5715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6" name="Oval 22"/>
          <p:cNvSpPr>
            <a:spLocks noChangeArrowheads="1"/>
          </p:cNvSpPr>
          <p:nvPr/>
        </p:nvSpPr>
        <p:spPr bwMode="auto">
          <a:xfrm>
            <a:off x="10397480" y="3046238"/>
            <a:ext cx="25400" cy="3810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7" name="Rectangle 23"/>
          <p:cNvSpPr>
            <a:spLocks noChangeArrowheads="1"/>
          </p:cNvSpPr>
          <p:nvPr/>
        </p:nvSpPr>
        <p:spPr bwMode="auto">
          <a:xfrm>
            <a:off x="6612880" y="1598438"/>
            <a:ext cx="4445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VA</a:t>
            </a:r>
          </a:p>
        </p:txBody>
      </p:sp>
      <p:sp>
        <p:nvSpPr>
          <p:cNvPr id="42008" name="Rectangle 24"/>
          <p:cNvSpPr>
            <a:spLocks noChangeArrowheads="1"/>
          </p:cNvSpPr>
          <p:nvPr/>
        </p:nvSpPr>
        <p:spPr bwMode="auto">
          <a:xfrm>
            <a:off x="8327380" y="1598438"/>
            <a:ext cx="4445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PA</a:t>
            </a:r>
          </a:p>
        </p:txBody>
      </p:sp>
      <p:sp>
        <p:nvSpPr>
          <p:cNvPr id="42009" name="Rectangle 25"/>
          <p:cNvSpPr>
            <a:spLocks noChangeArrowheads="1"/>
          </p:cNvSpPr>
          <p:nvPr/>
        </p:nvSpPr>
        <p:spPr bwMode="auto">
          <a:xfrm>
            <a:off x="10194280" y="1573038"/>
            <a:ext cx="6477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miss</a:t>
            </a:r>
          </a:p>
        </p:txBody>
      </p:sp>
      <p:sp>
        <p:nvSpPr>
          <p:cNvPr id="42010" name="Rectangle 26"/>
          <p:cNvSpPr>
            <a:spLocks noChangeArrowheads="1"/>
          </p:cNvSpPr>
          <p:nvPr/>
        </p:nvSpPr>
        <p:spPr bwMode="auto">
          <a:xfrm>
            <a:off x="8403580" y="2563638"/>
            <a:ext cx="4064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hit</a:t>
            </a:r>
          </a:p>
        </p:txBody>
      </p:sp>
      <p:sp>
        <p:nvSpPr>
          <p:cNvPr id="42011" name="Rectangle 27"/>
          <p:cNvSpPr>
            <a:spLocks noChangeArrowheads="1"/>
          </p:cNvSpPr>
          <p:nvPr/>
        </p:nvSpPr>
        <p:spPr bwMode="auto">
          <a:xfrm>
            <a:off x="7463780" y="2843038"/>
            <a:ext cx="5969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data</a:t>
            </a:r>
          </a:p>
        </p:txBody>
      </p:sp>
      <p:pic>
        <p:nvPicPr>
          <p:cNvPr id="3" name="图片 2"/>
          <p:cNvPicPr>
            <a:picLocks noChangeAspect="1"/>
          </p:cNvPicPr>
          <p:nvPr/>
        </p:nvPicPr>
        <p:blipFill>
          <a:blip r:embed="rId3"/>
          <a:stretch>
            <a:fillRect/>
          </a:stretch>
        </p:blipFill>
        <p:spPr>
          <a:xfrm>
            <a:off x="2855640" y="5368254"/>
            <a:ext cx="7029297" cy="1431652"/>
          </a:xfrm>
          <a:prstGeom prst="rect">
            <a:avLst/>
          </a:prstGeom>
        </p:spPr>
      </p:pic>
    </p:spTree>
    <p:extLst>
      <p:ext uri="{BB962C8B-B14F-4D97-AF65-F5344CB8AC3E}">
        <p14:creationId xmlns:p14="http://schemas.microsoft.com/office/powerpoint/2010/main" val="1675250794"/>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Line 4"/>
          <p:cNvSpPr>
            <a:spLocks noChangeShapeType="1"/>
          </p:cNvSpPr>
          <p:nvPr/>
        </p:nvSpPr>
        <p:spPr bwMode="auto">
          <a:xfrm>
            <a:off x="3505200" y="3779838"/>
            <a:ext cx="977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7" name="Line 5"/>
          <p:cNvSpPr>
            <a:spLocks noChangeShapeType="1"/>
          </p:cNvSpPr>
          <p:nvPr/>
        </p:nvSpPr>
        <p:spPr bwMode="auto">
          <a:xfrm>
            <a:off x="4495800" y="3792538"/>
            <a:ext cx="0" cy="9271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8" name="Line 6"/>
          <p:cNvSpPr>
            <a:spLocks noChangeShapeType="1"/>
          </p:cNvSpPr>
          <p:nvPr/>
        </p:nvSpPr>
        <p:spPr bwMode="auto">
          <a:xfrm flipH="1">
            <a:off x="3454400" y="4757738"/>
            <a:ext cx="1054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39" name="Rectangle 7"/>
          <p:cNvSpPr>
            <a:spLocks noChangeArrowheads="1"/>
          </p:cNvSpPr>
          <p:nvPr/>
        </p:nvSpPr>
        <p:spPr bwMode="auto">
          <a:xfrm>
            <a:off x="3556000" y="4148138"/>
            <a:ext cx="6096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CPU</a:t>
            </a:r>
          </a:p>
        </p:txBody>
      </p:sp>
      <p:sp>
        <p:nvSpPr>
          <p:cNvPr id="44040" name="Rectangle 8"/>
          <p:cNvSpPr>
            <a:spLocks noChangeArrowheads="1"/>
          </p:cNvSpPr>
          <p:nvPr/>
        </p:nvSpPr>
        <p:spPr bwMode="auto">
          <a:xfrm>
            <a:off x="5156200" y="38179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TLB</a:t>
            </a:r>
          </a:p>
          <a:p>
            <a:pPr algn="ctr" eaLnBrk="0" hangingPunct="0"/>
            <a:r>
              <a:rPr lang="en-US" altLang="zh-CN" b="1"/>
              <a:t>Lookup</a:t>
            </a:r>
          </a:p>
        </p:txBody>
      </p:sp>
      <p:sp>
        <p:nvSpPr>
          <p:cNvPr id="44041" name="Rectangle 9"/>
          <p:cNvSpPr>
            <a:spLocks noChangeArrowheads="1"/>
          </p:cNvSpPr>
          <p:nvPr/>
        </p:nvSpPr>
        <p:spPr bwMode="auto">
          <a:xfrm>
            <a:off x="6985000" y="38179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Cache</a:t>
            </a:r>
          </a:p>
        </p:txBody>
      </p:sp>
      <p:sp>
        <p:nvSpPr>
          <p:cNvPr id="44042" name="Rectangle 10"/>
          <p:cNvSpPr>
            <a:spLocks noChangeArrowheads="1"/>
          </p:cNvSpPr>
          <p:nvPr/>
        </p:nvSpPr>
        <p:spPr bwMode="auto">
          <a:xfrm>
            <a:off x="8953500" y="38306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Main</a:t>
            </a:r>
          </a:p>
          <a:p>
            <a:pPr algn="ctr" eaLnBrk="0" hangingPunct="0"/>
            <a:r>
              <a:rPr lang="en-US" altLang="zh-CN" b="1"/>
              <a:t>Memory</a:t>
            </a:r>
          </a:p>
        </p:txBody>
      </p:sp>
      <p:sp>
        <p:nvSpPr>
          <p:cNvPr id="44043" name="Line 11"/>
          <p:cNvSpPr>
            <a:spLocks noChangeShapeType="1"/>
          </p:cNvSpPr>
          <p:nvPr/>
        </p:nvSpPr>
        <p:spPr bwMode="auto">
          <a:xfrm>
            <a:off x="4508500" y="3957638"/>
            <a:ext cx="6223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Line 12"/>
          <p:cNvSpPr>
            <a:spLocks noChangeShapeType="1"/>
          </p:cNvSpPr>
          <p:nvPr/>
        </p:nvSpPr>
        <p:spPr bwMode="auto">
          <a:xfrm>
            <a:off x="6223000" y="3957638"/>
            <a:ext cx="736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5" name="Line 13"/>
          <p:cNvSpPr>
            <a:spLocks noChangeShapeType="1"/>
          </p:cNvSpPr>
          <p:nvPr/>
        </p:nvSpPr>
        <p:spPr bwMode="auto">
          <a:xfrm>
            <a:off x="8064500" y="3932238"/>
            <a:ext cx="863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Line 14"/>
          <p:cNvSpPr>
            <a:spLocks noChangeShapeType="1"/>
          </p:cNvSpPr>
          <p:nvPr/>
        </p:nvSpPr>
        <p:spPr bwMode="auto">
          <a:xfrm flipH="1">
            <a:off x="8724900" y="4579938"/>
            <a:ext cx="228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7" name="Line 15"/>
          <p:cNvSpPr>
            <a:spLocks noChangeShapeType="1"/>
          </p:cNvSpPr>
          <p:nvPr/>
        </p:nvSpPr>
        <p:spPr bwMode="auto">
          <a:xfrm flipH="1">
            <a:off x="8712200" y="4592638"/>
            <a:ext cx="38100" cy="17653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8" name="Line 16"/>
          <p:cNvSpPr>
            <a:spLocks noChangeShapeType="1"/>
          </p:cNvSpPr>
          <p:nvPr/>
        </p:nvSpPr>
        <p:spPr bwMode="auto">
          <a:xfrm flipH="1">
            <a:off x="4749800" y="6370638"/>
            <a:ext cx="1981200" cy="12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9" name="Line 17"/>
          <p:cNvSpPr>
            <a:spLocks noChangeShapeType="1"/>
          </p:cNvSpPr>
          <p:nvPr/>
        </p:nvSpPr>
        <p:spPr bwMode="auto">
          <a:xfrm flipV="1">
            <a:off x="4737100" y="4630738"/>
            <a:ext cx="12700" cy="1739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Line 18"/>
          <p:cNvSpPr>
            <a:spLocks noChangeShapeType="1"/>
          </p:cNvSpPr>
          <p:nvPr/>
        </p:nvSpPr>
        <p:spPr bwMode="auto">
          <a:xfrm flipH="1">
            <a:off x="4483100" y="4643438"/>
            <a:ext cx="279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Line 19"/>
          <p:cNvSpPr>
            <a:spLocks noChangeShapeType="1"/>
          </p:cNvSpPr>
          <p:nvPr/>
        </p:nvSpPr>
        <p:spPr bwMode="auto">
          <a:xfrm flipV="1">
            <a:off x="8305800" y="4592638"/>
            <a:ext cx="12700" cy="1752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2" name="Line 20"/>
          <p:cNvSpPr>
            <a:spLocks noChangeShapeType="1"/>
          </p:cNvSpPr>
          <p:nvPr/>
        </p:nvSpPr>
        <p:spPr bwMode="auto">
          <a:xfrm flipH="1">
            <a:off x="8051800" y="4605338"/>
            <a:ext cx="279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3" name="Line 21"/>
          <p:cNvSpPr>
            <a:spLocks noChangeShapeType="1"/>
          </p:cNvSpPr>
          <p:nvPr/>
        </p:nvSpPr>
        <p:spPr bwMode="auto">
          <a:xfrm flipH="1">
            <a:off x="6718300" y="4579938"/>
            <a:ext cx="2667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4" name="Line 22"/>
          <p:cNvSpPr>
            <a:spLocks noChangeShapeType="1"/>
          </p:cNvSpPr>
          <p:nvPr/>
        </p:nvSpPr>
        <p:spPr bwMode="auto">
          <a:xfrm flipH="1">
            <a:off x="6705600" y="4592638"/>
            <a:ext cx="38100" cy="1752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5" name="Oval 23"/>
          <p:cNvSpPr>
            <a:spLocks noChangeArrowheads="1"/>
          </p:cNvSpPr>
          <p:nvPr/>
        </p:nvSpPr>
        <p:spPr bwMode="auto">
          <a:xfrm>
            <a:off x="8293100" y="6357938"/>
            <a:ext cx="25400" cy="3810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6" name="Rectangle 24"/>
          <p:cNvSpPr>
            <a:spLocks noChangeArrowheads="1"/>
          </p:cNvSpPr>
          <p:nvPr/>
        </p:nvSpPr>
        <p:spPr bwMode="auto">
          <a:xfrm>
            <a:off x="4533900" y="3690938"/>
            <a:ext cx="4445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VA</a:t>
            </a:r>
          </a:p>
        </p:txBody>
      </p:sp>
      <p:sp>
        <p:nvSpPr>
          <p:cNvPr id="44057" name="Rectangle 25"/>
          <p:cNvSpPr>
            <a:spLocks noChangeArrowheads="1"/>
          </p:cNvSpPr>
          <p:nvPr/>
        </p:nvSpPr>
        <p:spPr bwMode="auto">
          <a:xfrm>
            <a:off x="6248400" y="3690938"/>
            <a:ext cx="4445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PA</a:t>
            </a:r>
          </a:p>
        </p:txBody>
      </p:sp>
      <p:sp>
        <p:nvSpPr>
          <p:cNvPr id="44058" name="Rectangle 26"/>
          <p:cNvSpPr>
            <a:spLocks noChangeArrowheads="1"/>
          </p:cNvSpPr>
          <p:nvPr/>
        </p:nvSpPr>
        <p:spPr bwMode="auto">
          <a:xfrm>
            <a:off x="8115300" y="3665538"/>
            <a:ext cx="6477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miss</a:t>
            </a:r>
          </a:p>
        </p:txBody>
      </p:sp>
      <p:sp>
        <p:nvSpPr>
          <p:cNvPr id="44059" name="Rectangle 27"/>
          <p:cNvSpPr>
            <a:spLocks noChangeArrowheads="1"/>
          </p:cNvSpPr>
          <p:nvPr/>
        </p:nvSpPr>
        <p:spPr bwMode="auto">
          <a:xfrm>
            <a:off x="6883400" y="4795838"/>
            <a:ext cx="4064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hit</a:t>
            </a:r>
          </a:p>
        </p:txBody>
      </p:sp>
      <p:sp>
        <p:nvSpPr>
          <p:cNvPr id="44060" name="Rectangle 28"/>
          <p:cNvSpPr>
            <a:spLocks noChangeArrowheads="1"/>
          </p:cNvSpPr>
          <p:nvPr/>
        </p:nvSpPr>
        <p:spPr bwMode="auto">
          <a:xfrm>
            <a:off x="7264400" y="6078538"/>
            <a:ext cx="5969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data</a:t>
            </a:r>
          </a:p>
        </p:txBody>
      </p:sp>
      <p:sp>
        <p:nvSpPr>
          <p:cNvPr id="44061" name="Rectangle 29"/>
          <p:cNvSpPr>
            <a:spLocks noChangeArrowheads="1"/>
          </p:cNvSpPr>
          <p:nvPr/>
        </p:nvSpPr>
        <p:spPr bwMode="auto">
          <a:xfrm>
            <a:off x="5156200" y="51895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Trans-</a:t>
            </a:r>
          </a:p>
          <a:p>
            <a:pPr algn="ctr" eaLnBrk="0" hangingPunct="0"/>
            <a:r>
              <a:rPr lang="en-US" altLang="zh-CN" b="1"/>
              <a:t>lation</a:t>
            </a:r>
          </a:p>
        </p:txBody>
      </p:sp>
      <p:sp>
        <p:nvSpPr>
          <p:cNvPr id="44062" name="Rectangle 30"/>
          <p:cNvSpPr>
            <a:spLocks noChangeArrowheads="1"/>
          </p:cNvSpPr>
          <p:nvPr/>
        </p:nvSpPr>
        <p:spPr bwMode="auto">
          <a:xfrm>
            <a:off x="6248400" y="3462338"/>
            <a:ext cx="4064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hit</a:t>
            </a:r>
          </a:p>
        </p:txBody>
      </p:sp>
      <p:sp>
        <p:nvSpPr>
          <p:cNvPr id="44063" name="Line 31"/>
          <p:cNvSpPr>
            <a:spLocks noChangeShapeType="1"/>
          </p:cNvSpPr>
          <p:nvPr/>
        </p:nvSpPr>
        <p:spPr bwMode="auto">
          <a:xfrm>
            <a:off x="5676900" y="4745038"/>
            <a:ext cx="0" cy="4191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4" name="Rectangle 32"/>
          <p:cNvSpPr>
            <a:spLocks noChangeArrowheads="1"/>
          </p:cNvSpPr>
          <p:nvPr/>
        </p:nvSpPr>
        <p:spPr bwMode="auto">
          <a:xfrm>
            <a:off x="5016500" y="4795838"/>
            <a:ext cx="6477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miss</a:t>
            </a:r>
          </a:p>
        </p:txBody>
      </p:sp>
      <p:sp>
        <p:nvSpPr>
          <p:cNvPr id="44065" name="Line 33"/>
          <p:cNvSpPr>
            <a:spLocks noChangeShapeType="1"/>
          </p:cNvSpPr>
          <p:nvPr/>
        </p:nvSpPr>
        <p:spPr bwMode="auto">
          <a:xfrm>
            <a:off x="5689600" y="6142038"/>
            <a:ext cx="0" cy="88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6" name="Line 34"/>
          <p:cNvSpPr>
            <a:spLocks noChangeShapeType="1"/>
          </p:cNvSpPr>
          <p:nvPr/>
        </p:nvSpPr>
        <p:spPr bwMode="auto">
          <a:xfrm>
            <a:off x="5702300" y="6243638"/>
            <a:ext cx="6604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7" name="Line 35"/>
          <p:cNvSpPr>
            <a:spLocks noChangeShapeType="1"/>
          </p:cNvSpPr>
          <p:nvPr/>
        </p:nvSpPr>
        <p:spPr bwMode="auto">
          <a:xfrm flipV="1">
            <a:off x="6375400" y="3944938"/>
            <a:ext cx="0" cy="2311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8" name="Line 36"/>
          <p:cNvSpPr>
            <a:spLocks noChangeShapeType="1"/>
          </p:cNvSpPr>
          <p:nvPr/>
        </p:nvSpPr>
        <p:spPr bwMode="auto">
          <a:xfrm flipH="1">
            <a:off x="6705600" y="6370638"/>
            <a:ext cx="20320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9" name="Rectangle 37"/>
          <p:cNvSpPr>
            <a:spLocks noChangeArrowheads="1"/>
          </p:cNvSpPr>
          <p:nvPr/>
        </p:nvSpPr>
        <p:spPr bwMode="auto">
          <a:xfrm>
            <a:off x="9258300" y="6497638"/>
            <a:ext cx="5207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20 t</a:t>
            </a:r>
          </a:p>
        </p:txBody>
      </p:sp>
      <p:sp>
        <p:nvSpPr>
          <p:cNvPr id="44070" name="Rectangle 38"/>
          <p:cNvSpPr>
            <a:spLocks noChangeArrowheads="1"/>
          </p:cNvSpPr>
          <p:nvPr/>
        </p:nvSpPr>
        <p:spPr bwMode="auto">
          <a:xfrm>
            <a:off x="7467600" y="6484938"/>
            <a:ext cx="2032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t</a:t>
            </a:r>
          </a:p>
        </p:txBody>
      </p:sp>
      <p:sp>
        <p:nvSpPr>
          <p:cNvPr id="44071" name="Rectangle 39"/>
          <p:cNvSpPr>
            <a:spLocks noChangeArrowheads="1"/>
          </p:cNvSpPr>
          <p:nvPr/>
        </p:nvSpPr>
        <p:spPr bwMode="auto">
          <a:xfrm>
            <a:off x="5384800" y="6497638"/>
            <a:ext cx="5842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1/2 t</a:t>
            </a:r>
          </a:p>
        </p:txBody>
      </p:sp>
      <p:sp>
        <p:nvSpPr>
          <p:cNvPr id="44072" name="Rectangle 40"/>
          <p:cNvSpPr>
            <a:spLocks noChangeArrowheads="1"/>
          </p:cNvSpPr>
          <p:nvPr/>
        </p:nvSpPr>
        <p:spPr bwMode="auto">
          <a:xfrm>
            <a:off x="1892300" y="4745039"/>
            <a:ext cx="13589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i="1"/>
              <a:t>Translation</a:t>
            </a:r>
          </a:p>
          <a:p>
            <a:pPr eaLnBrk="0" hangingPunct="0">
              <a:lnSpc>
                <a:spcPct val="85000"/>
              </a:lnSpc>
            </a:pPr>
            <a:r>
              <a:rPr lang="en-US" altLang="zh-CN" b="1" i="1"/>
              <a:t>with a TLB</a:t>
            </a:r>
          </a:p>
        </p:txBody>
      </p:sp>
      <p:sp>
        <p:nvSpPr>
          <p:cNvPr id="44073" name="Rectangle 41"/>
          <p:cNvSpPr>
            <a:spLocks noGrp="1" noChangeArrowheads="1"/>
          </p:cNvSpPr>
          <p:nvPr>
            <p:ph type="title"/>
          </p:nvPr>
        </p:nvSpPr>
        <p:spPr/>
        <p:txBody>
          <a:bodyPr/>
          <a:lstStyle/>
          <a:p>
            <a:r>
              <a:rPr lang="en-US" altLang="zh-CN"/>
              <a:t>Translation Look-Aside Buffers</a:t>
            </a:r>
          </a:p>
        </p:txBody>
      </p:sp>
      <p:sp>
        <p:nvSpPr>
          <p:cNvPr id="44074" name="Rectangle 42"/>
          <p:cNvSpPr>
            <a:spLocks noGrp="1" noChangeArrowheads="1"/>
          </p:cNvSpPr>
          <p:nvPr>
            <p:ph type="body" idx="1"/>
          </p:nvPr>
        </p:nvSpPr>
        <p:spPr/>
        <p:txBody>
          <a:bodyPr/>
          <a:lstStyle/>
          <a:p>
            <a:pPr eaLnBrk="0" hangingPunct="0">
              <a:lnSpc>
                <a:spcPct val="85000"/>
              </a:lnSpc>
            </a:pPr>
            <a:r>
              <a:rPr lang="en-US" altLang="zh-CN" sz="2400" dirty="0"/>
              <a:t>Just like any other cache, the TLB can be organized as fully associative, set associative, or direct mapped</a:t>
            </a:r>
          </a:p>
          <a:p>
            <a:pPr eaLnBrk="0" hangingPunct="0">
              <a:lnSpc>
                <a:spcPct val="85000"/>
              </a:lnSpc>
            </a:pPr>
            <a:r>
              <a:rPr lang="en-US" altLang="zh-CN" sz="2400" dirty="0"/>
              <a:t>TLBs are usually small, typically not more than 128 - 256 entries even on high end machines.  This permits fully associative lookup on these machines.  Most mid-range machines use small n-way set associative organizations.</a:t>
            </a:r>
          </a:p>
        </p:txBody>
      </p:sp>
    </p:spTree>
    <p:extLst>
      <p:ext uri="{BB962C8B-B14F-4D97-AF65-F5344CB8AC3E}">
        <p14:creationId xmlns:p14="http://schemas.microsoft.com/office/powerpoint/2010/main" val="2073296764"/>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Operation of the Opteron data TLB </a:t>
            </a:r>
            <a:endParaRPr lang="zh-CN" altLang="en-US" dirty="0"/>
          </a:p>
        </p:txBody>
      </p:sp>
      <p:sp>
        <p:nvSpPr>
          <p:cNvPr id="3" name="内容占位符 2"/>
          <p:cNvSpPr>
            <a:spLocks noGrp="1"/>
          </p:cNvSpPr>
          <p:nvPr>
            <p:ph idx="1"/>
          </p:nvPr>
        </p:nvSpPr>
        <p:spPr/>
        <p:txBody>
          <a:bodyPr/>
          <a:lstStyle/>
          <a:p>
            <a:r>
              <a:rPr lang="en-US" altLang="zh-CN" dirty="0" smtClean="0"/>
              <a:t>This </a:t>
            </a:r>
            <a:r>
              <a:rPr lang="en-US" altLang="zh-CN" dirty="0"/>
              <a:t>TLB has 40 </a:t>
            </a:r>
            <a:r>
              <a:rPr lang="en-US" altLang="zh-CN" dirty="0" smtClean="0"/>
              <a:t>entries, fully associative</a:t>
            </a:r>
            <a:endParaRPr lang="zh-CN" altLang="en-US" dirty="0"/>
          </a:p>
        </p:txBody>
      </p:sp>
      <p:pic>
        <p:nvPicPr>
          <p:cNvPr id="4" name="图片 3"/>
          <p:cNvPicPr>
            <a:picLocks noChangeAspect="1"/>
          </p:cNvPicPr>
          <p:nvPr/>
        </p:nvPicPr>
        <p:blipFill>
          <a:blip r:embed="rId2"/>
          <a:stretch>
            <a:fillRect/>
          </a:stretch>
        </p:blipFill>
        <p:spPr>
          <a:xfrm>
            <a:off x="1210385" y="2136536"/>
            <a:ext cx="9771230" cy="4532824"/>
          </a:xfrm>
          <a:prstGeom prst="rect">
            <a:avLst/>
          </a:prstGeom>
        </p:spPr>
      </p:pic>
      <p:sp>
        <p:nvSpPr>
          <p:cNvPr id="6" name="椭圆 5"/>
          <p:cNvSpPr/>
          <p:nvPr/>
        </p:nvSpPr>
        <p:spPr>
          <a:xfrm>
            <a:off x="3575720" y="3429000"/>
            <a:ext cx="1152128" cy="43204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863752" y="2598102"/>
            <a:ext cx="2095445" cy="369332"/>
          </a:xfrm>
          <a:prstGeom prst="rect">
            <a:avLst/>
          </a:prstGeom>
          <a:noFill/>
        </p:spPr>
        <p:txBody>
          <a:bodyPr wrap="none" rtlCol="0">
            <a:spAutoFit/>
          </a:bodyPr>
          <a:lstStyle/>
          <a:p>
            <a:r>
              <a:rPr lang="en-US" altLang="zh-CN" dirty="0" smtClean="0">
                <a:solidFill>
                  <a:srgbClr val="C00000"/>
                </a:solidFill>
              </a:rPr>
              <a:t>Memory protection</a:t>
            </a:r>
            <a:endParaRPr lang="zh-CN" altLang="en-US" dirty="0">
              <a:solidFill>
                <a:srgbClr val="C00000"/>
              </a:solidFill>
            </a:endParaRPr>
          </a:p>
        </p:txBody>
      </p:sp>
      <p:cxnSp>
        <p:nvCxnSpPr>
          <p:cNvPr id="9" name="直接连接符 8"/>
          <p:cNvCxnSpPr/>
          <p:nvPr/>
        </p:nvCxnSpPr>
        <p:spPr>
          <a:xfrm flipV="1">
            <a:off x="4151784" y="2954462"/>
            <a:ext cx="576064" cy="474538"/>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8612564" y="1659734"/>
            <a:ext cx="3316085" cy="2554545"/>
          </a:xfrm>
          <a:prstGeom prst="rect">
            <a:avLst/>
          </a:prstGeom>
          <a:noFill/>
        </p:spPr>
        <p:txBody>
          <a:bodyPr wrap="square" rtlCol="0">
            <a:spAutoFit/>
          </a:bodyPr>
          <a:lstStyle/>
          <a:p>
            <a:pPr marL="342900" indent="-342900">
              <a:buFont typeface="+mj-lt"/>
              <a:buAutoNum type="arabicPeriod"/>
            </a:pPr>
            <a:r>
              <a:rPr lang="zh-CN" altLang="en-US" sz="2000" dirty="0" smtClean="0">
                <a:solidFill>
                  <a:srgbClr val="0000FF"/>
                </a:solidFill>
                <a:latin typeface="微软雅黑" panose="020B0503020204020204" pitchFamily="34" charset="-122"/>
                <a:ea typeface="微软雅黑" panose="020B0503020204020204" pitchFamily="34" charset="-122"/>
              </a:rPr>
              <a:t>虚页号送往所有</a:t>
            </a:r>
            <a:r>
              <a:rPr lang="en-US" altLang="zh-CN" sz="2000" dirty="0" smtClean="0">
                <a:solidFill>
                  <a:srgbClr val="0000FF"/>
                </a:solidFill>
                <a:latin typeface="微软雅黑" panose="020B0503020204020204" pitchFamily="34" charset="-122"/>
                <a:ea typeface="微软雅黑" panose="020B0503020204020204" pitchFamily="34" charset="-122"/>
              </a:rPr>
              <a:t>entry</a:t>
            </a:r>
          </a:p>
          <a:p>
            <a:pPr marL="342900" indent="-342900">
              <a:buFont typeface="+mj-lt"/>
              <a:buAutoNum type="arabicPeriod"/>
            </a:pPr>
            <a:r>
              <a:rPr lang="en-US" altLang="zh-CN" sz="2000" dirty="0" smtClean="0">
                <a:solidFill>
                  <a:srgbClr val="0000FF"/>
                </a:solidFill>
                <a:latin typeface="微软雅黑" panose="020B0503020204020204" pitchFamily="34" charset="-122"/>
                <a:ea typeface="微软雅黑" panose="020B0503020204020204" pitchFamily="34" charset="-122"/>
              </a:rPr>
              <a:t>V</a:t>
            </a:r>
            <a:r>
              <a:rPr lang="zh-CN" altLang="en-US" sz="2000" dirty="0" smtClean="0">
                <a:solidFill>
                  <a:srgbClr val="0000FF"/>
                </a:solidFill>
                <a:latin typeface="微软雅黑" panose="020B0503020204020204" pitchFamily="34" charset="-122"/>
                <a:ea typeface="微软雅黑" panose="020B0503020204020204" pitchFamily="34" charset="-122"/>
              </a:rPr>
              <a:t>有效时，同时进行</a:t>
            </a:r>
            <a:r>
              <a:rPr lang="en-US" altLang="zh-CN" sz="2000" dirty="0" smtClean="0">
                <a:solidFill>
                  <a:srgbClr val="0000FF"/>
                </a:solidFill>
                <a:latin typeface="微软雅黑" panose="020B0503020204020204" pitchFamily="34" charset="-122"/>
                <a:ea typeface="微软雅黑" panose="020B0503020204020204" pitchFamily="34" charset="-122"/>
              </a:rPr>
              <a:t>Tag</a:t>
            </a:r>
            <a:r>
              <a:rPr lang="zh-CN" altLang="en-US" sz="2000" dirty="0" smtClean="0">
                <a:solidFill>
                  <a:srgbClr val="0000FF"/>
                </a:solidFill>
                <a:latin typeface="微软雅黑" panose="020B0503020204020204" pitchFamily="34" charset="-122"/>
                <a:ea typeface="微软雅黑" panose="020B0503020204020204" pitchFamily="34" charset="-122"/>
              </a:rPr>
              <a:t>比较，并检查保护状态</a:t>
            </a:r>
            <a:endParaRPr lang="en-US" altLang="zh-CN" sz="2000" dirty="0" smtClean="0">
              <a:solidFill>
                <a:srgbClr val="0000FF"/>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zh-CN" altLang="en-US" sz="2000" dirty="0" smtClean="0">
                <a:solidFill>
                  <a:srgbClr val="0000FF"/>
                </a:solidFill>
                <a:latin typeface="微软雅黑" panose="020B0503020204020204" pitchFamily="34" charset="-122"/>
                <a:ea typeface="微软雅黑" panose="020B0503020204020204" pitchFamily="34" charset="-122"/>
              </a:rPr>
              <a:t>从</a:t>
            </a:r>
            <a:r>
              <a:rPr lang="en-US" altLang="zh-CN" sz="2000" dirty="0" smtClean="0">
                <a:solidFill>
                  <a:srgbClr val="0000FF"/>
                </a:solidFill>
                <a:latin typeface="微软雅黑" panose="020B0503020204020204" pitchFamily="34" charset="-122"/>
                <a:ea typeface="微软雅黑" panose="020B0503020204020204" pitchFamily="34" charset="-122"/>
              </a:rPr>
              <a:t>Tag</a:t>
            </a:r>
            <a:r>
              <a:rPr lang="zh-CN" altLang="en-US" sz="2000" dirty="0" smtClean="0">
                <a:solidFill>
                  <a:srgbClr val="0000FF"/>
                </a:solidFill>
                <a:latin typeface="微软雅黑" panose="020B0503020204020204" pitchFamily="34" charset="-122"/>
                <a:ea typeface="微软雅黑" panose="020B0503020204020204" pitchFamily="34" charset="-122"/>
              </a:rPr>
              <a:t>匹配的</a:t>
            </a:r>
            <a:r>
              <a:rPr lang="en-US" altLang="zh-CN" sz="2000" dirty="0" smtClean="0">
                <a:solidFill>
                  <a:srgbClr val="0000FF"/>
                </a:solidFill>
                <a:latin typeface="微软雅黑" panose="020B0503020204020204" pitchFamily="34" charset="-122"/>
                <a:ea typeface="微软雅黑" panose="020B0503020204020204" pitchFamily="34" charset="-122"/>
              </a:rPr>
              <a:t>entry</a:t>
            </a:r>
            <a:r>
              <a:rPr lang="zh-CN" altLang="en-US" sz="2000" dirty="0" smtClean="0">
                <a:solidFill>
                  <a:srgbClr val="0000FF"/>
                </a:solidFill>
                <a:latin typeface="微软雅黑" panose="020B0503020204020204" pitchFamily="34" charset="-122"/>
                <a:ea typeface="微软雅黑" panose="020B0503020204020204" pitchFamily="34" charset="-122"/>
              </a:rPr>
              <a:t>送出物理页号（</a:t>
            </a:r>
            <a:r>
              <a:rPr lang="en-US" altLang="zh-CN" sz="2000" dirty="0" smtClean="0">
                <a:solidFill>
                  <a:srgbClr val="0000FF"/>
                </a:solidFill>
                <a:latin typeface="微软雅黑" panose="020B0503020204020204" pitchFamily="34" charset="-122"/>
                <a:ea typeface="微软雅黑" panose="020B0503020204020204" pitchFamily="34" charset="-122"/>
              </a:rPr>
              <a:t>40</a:t>
            </a:r>
            <a:r>
              <a:rPr lang="zh-CN" altLang="en-US" sz="2000" dirty="0" smtClean="0">
                <a:solidFill>
                  <a:srgbClr val="0000FF"/>
                </a:solidFill>
                <a:latin typeface="微软雅黑" panose="020B0503020204020204" pitchFamily="34" charset="-122"/>
                <a:ea typeface="微软雅黑" panose="020B0503020204020204" pitchFamily="34" charset="-122"/>
              </a:rPr>
              <a:t>选</a:t>
            </a:r>
            <a:r>
              <a:rPr lang="en-US" altLang="zh-CN" sz="2000" dirty="0" smtClean="0">
                <a:solidFill>
                  <a:srgbClr val="0000FF"/>
                </a:solidFill>
                <a:latin typeface="微软雅黑" panose="020B0503020204020204" pitchFamily="34" charset="-122"/>
                <a:ea typeface="微软雅黑" panose="020B0503020204020204" pitchFamily="34" charset="-122"/>
              </a:rPr>
              <a:t>1</a:t>
            </a:r>
            <a:r>
              <a:rPr lang="zh-CN" altLang="en-US" sz="2000" dirty="0" smtClean="0">
                <a:solidFill>
                  <a:srgbClr val="0000FF"/>
                </a:solidFill>
                <a:latin typeface="微软雅黑" panose="020B0503020204020204" pitchFamily="34" charset="-122"/>
                <a:ea typeface="微软雅黑" panose="020B0503020204020204" pitchFamily="34" charset="-122"/>
              </a:rPr>
              <a:t>）</a:t>
            </a:r>
            <a:endParaRPr lang="en-US" altLang="zh-CN" sz="2000" dirty="0" smtClean="0">
              <a:solidFill>
                <a:srgbClr val="0000FF"/>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en-US" altLang="zh-CN" sz="2000" dirty="0" smtClean="0">
                <a:solidFill>
                  <a:srgbClr val="0000FF"/>
                </a:solidFill>
                <a:latin typeface="微软雅黑" panose="020B0503020204020204" pitchFamily="34" charset="-122"/>
                <a:ea typeface="微软雅黑" panose="020B0503020204020204" pitchFamily="34" charset="-122"/>
              </a:rPr>
              <a:t>28</a:t>
            </a:r>
            <a:r>
              <a:rPr lang="zh-CN" altLang="en-US" sz="2000" dirty="0" smtClean="0">
                <a:solidFill>
                  <a:srgbClr val="0000FF"/>
                </a:solidFill>
                <a:latin typeface="微软雅黑" panose="020B0503020204020204" pitchFamily="34" charset="-122"/>
                <a:ea typeface="微软雅黑" panose="020B0503020204020204" pitchFamily="34" charset="-122"/>
              </a:rPr>
              <a:t>位物理页号与</a:t>
            </a:r>
            <a:r>
              <a:rPr lang="en-US" altLang="zh-CN" sz="2000" dirty="0" smtClean="0">
                <a:solidFill>
                  <a:srgbClr val="0000FF"/>
                </a:solidFill>
                <a:latin typeface="微软雅黑" panose="020B0503020204020204" pitchFamily="34" charset="-122"/>
                <a:ea typeface="微软雅黑" panose="020B0503020204020204" pitchFamily="34" charset="-122"/>
              </a:rPr>
              <a:t>12</a:t>
            </a:r>
            <a:r>
              <a:rPr lang="zh-CN" altLang="en-US" sz="2000" dirty="0" smtClean="0">
                <a:solidFill>
                  <a:srgbClr val="0000FF"/>
                </a:solidFill>
                <a:latin typeface="微软雅黑" panose="020B0503020204020204" pitchFamily="34" charset="-122"/>
                <a:ea typeface="微软雅黑" panose="020B0503020204020204" pitchFamily="34" charset="-122"/>
              </a:rPr>
              <a:t>位页内偏移地址拼成</a:t>
            </a:r>
            <a:r>
              <a:rPr lang="en-US" altLang="zh-CN" sz="2000" dirty="0" smtClean="0">
                <a:solidFill>
                  <a:srgbClr val="0000FF"/>
                </a:solidFill>
                <a:latin typeface="微软雅黑" panose="020B0503020204020204" pitchFamily="34" charset="-122"/>
                <a:ea typeface="微软雅黑" panose="020B0503020204020204" pitchFamily="34" charset="-122"/>
              </a:rPr>
              <a:t>40</a:t>
            </a:r>
            <a:r>
              <a:rPr lang="zh-CN" altLang="en-US" sz="2000" dirty="0" smtClean="0">
                <a:solidFill>
                  <a:srgbClr val="0000FF"/>
                </a:solidFill>
                <a:latin typeface="微软雅黑" panose="020B0503020204020204" pitchFamily="34" charset="-122"/>
                <a:ea typeface="微软雅黑" panose="020B0503020204020204" pitchFamily="34" charset="-122"/>
              </a:rPr>
              <a:t>位物理地址</a:t>
            </a:r>
            <a:endParaRPr lang="zh-CN" altLang="en-US" sz="20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078408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zh-CN" dirty="0" smtClean="0"/>
              <a:t>Summary #1 / 3: </a:t>
            </a:r>
            <a:br>
              <a:rPr lang="en-US" altLang="zh-CN" dirty="0" smtClean="0"/>
            </a:br>
            <a:r>
              <a:rPr lang="en-US" altLang="zh-CN" dirty="0" smtClean="0"/>
              <a:t>The Cache Design Space</a:t>
            </a:r>
            <a:endParaRPr lang="en-US" altLang="zh-CN" dirty="0"/>
          </a:p>
        </p:txBody>
      </p:sp>
      <p:sp>
        <p:nvSpPr>
          <p:cNvPr id="50179" name="Rectangle 3"/>
          <p:cNvSpPr>
            <a:spLocks noGrp="1" noChangeArrowheads="1"/>
          </p:cNvSpPr>
          <p:nvPr>
            <p:ph type="body" idx="1"/>
          </p:nvPr>
        </p:nvSpPr>
        <p:spPr>
          <a:xfrm>
            <a:off x="623392" y="1556792"/>
            <a:ext cx="10730408" cy="5112568"/>
          </a:xfrm>
        </p:spPr>
        <p:txBody>
          <a:bodyPr/>
          <a:lstStyle/>
          <a:p>
            <a:r>
              <a:rPr lang="en-US" altLang="zh-CN" dirty="0" smtClean="0"/>
              <a:t>Several interacting dimensions</a:t>
            </a:r>
          </a:p>
          <a:p>
            <a:pPr lvl="1"/>
            <a:r>
              <a:rPr lang="en-US" altLang="zh-CN" dirty="0" smtClean="0"/>
              <a:t>cache size</a:t>
            </a:r>
          </a:p>
          <a:p>
            <a:pPr lvl="1"/>
            <a:r>
              <a:rPr lang="en-US" altLang="zh-CN" dirty="0" smtClean="0"/>
              <a:t>block size</a:t>
            </a:r>
          </a:p>
          <a:p>
            <a:pPr lvl="1"/>
            <a:r>
              <a:rPr lang="en-US" altLang="zh-CN" dirty="0" smtClean="0"/>
              <a:t>associativity</a:t>
            </a:r>
          </a:p>
          <a:p>
            <a:pPr lvl="1"/>
            <a:r>
              <a:rPr lang="en-US" altLang="zh-CN" dirty="0" smtClean="0"/>
              <a:t>replacement policy</a:t>
            </a:r>
          </a:p>
          <a:p>
            <a:pPr lvl="1"/>
            <a:r>
              <a:rPr lang="en-US" altLang="zh-CN" dirty="0" smtClean="0"/>
              <a:t>write-through vs write-back</a:t>
            </a:r>
          </a:p>
          <a:p>
            <a:pPr lvl="1"/>
            <a:r>
              <a:rPr lang="en-US" altLang="zh-CN" dirty="0" smtClean="0"/>
              <a:t>write allocation</a:t>
            </a:r>
          </a:p>
          <a:p>
            <a:r>
              <a:rPr lang="en-US" altLang="zh-CN" dirty="0" smtClean="0"/>
              <a:t>The optimal choice is a compromise</a:t>
            </a:r>
          </a:p>
          <a:p>
            <a:pPr lvl="1"/>
            <a:r>
              <a:rPr lang="en-US" altLang="zh-CN" dirty="0" smtClean="0"/>
              <a:t>depends on access characteristics</a:t>
            </a:r>
          </a:p>
          <a:p>
            <a:pPr lvl="2"/>
            <a:r>
              <a:rPr lang="en-US" altLang="zh-CN" dirty="0" smtClean="0"/>
              <a:t>Workload, use (I-cache, D-cache, TLB)</a:t>
            </a:r>
          </a:p>
          <a:p>
            <a:pPr lvl="1"/>
            <a:r>
              <a:rPr lang="en-US" altLang="zh-CN" dirty="0" smtClean="0"/>
              <a:t>depends on technology / cost</a:t>
            </a:r>
          </a:p>
          <a:p>
            <a:r>
              <a:rPr lang="en-US" altLang="zh-CN" dirty="0" smtClean="0"/>
              <a:t>Simplicity often wins</a:t>
            </a:r>
            <a:endParaRPr lang="en-US" altLang="zh-CN" dirty="0"/>
          </a:p>
        </p:txBody>
      </p:sp>
      <p:sp>
        <p:nvSpPr>
          <p:cNvPr id="50180" name="Line 4"/>
          <p:cNvSpPr>
            <a:spLocks noChangeShapeType="1"/>
          </p:cNvSpPr>
          <p:nvPr/>
        </p:nvSpPr>
        <p:spPr bwMode="auto">
          <a:xfrm flipV="1">
            <a:off x="8677422" y="2025897"/>
            <a:ext cx="0" cy="1308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1" name="Line 5"/>
          <p:cNvSpPr>
            <a:spLocks noChangeShapeType="1"/>
          </p:cNvSpPr>
          <p:nvPr/>
        </p:nvSpPr>
        <p:spPr bwMode="auto">
          <a:xfrm flipV="1">
            <a:off x="8683772" y="2787897"/>
            <a:ext cx="1282700" cy="5461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2" name="Line 6"/>
          <p:cNvSpPr>
            <a:spLocks noChangeShapeType="1"/>
          </p:cNvSpPr>
          <p:nvPr/>
        </p:nvSpPr>
        <p:spPr bwMode="auto">
          <a:xfrm>
            <a:off x="8683772" y="3333997"/>
            <a:ext cx="749300" cy="5207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3" name="Rectangle 7"/>
          <p:cNvSpPr>
            <a:spLocks noChangeArrowheads="1"/>
          </p:cNvSpPr>
          <p:nvPr/>
        </p:nvSpPr>
        <p:spPr bwMode="auto">
          <a:xfrm>
            <a:off x="9501335" y="2413248"/>
            <a:ext cx="1449116"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Associativity</a:t>
            </a:r>
          </a:p>
        </p:txBody>
      </p:sp>
      <p:sp>
        <p:nvSpPr>
          <p:cNvPr id="50184" name="Rectangle 8"/>
          <p:cNvSpPr>
            <a:spLocks noChangeArrowheads="1"/>
          </p:cNvSpPr>
          <p:nvPr/>
        </p:nvSpPr>
        <p:spPr bwMode="auto">
          <a:xfrm>
            <a:off x="8205936" y="1651248"/>
            <a:ext cx="1264771"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Cache Size</a:t>
            </a:r>
          </a:p>
        </p:txBody>
      </p:sp>
      <p:sp>
        <p:nvSpPr>
          <p:cNvPr id="50185" name="Rectangle 9"/>
          <p:cNvSpPr>
            <a:spLocks noChangeArrowheads="1"/>
          </p:cNvSpPr>
          <p:nvPr/>
        </p:nvSpPr>
        <p:spPr bwMode="auto">
          <a:xfrm>
            <a:off x="9120336" y="3861048"/>
            <a:ext cx="1208665"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Block Size</a:t>
            </a:r>
          </a:p>
        </p:txBody>
      </p:sp>
      <p:sp>
        <p:nvSpPr>
          <p:cNvPr id="50186" name="Line 10"/>
          <p:cNvSpPr>
            <a:spLocks noChangeShapeType="1"/>
          </p:cNvSpPr>
          <p:nvPr/>
        </p:nvSpPr>
        <p:spPr bwMode="auto">
          <a:xfrm flipV="1">
            <a:off x="8220222" y="4921497"/>
            <a:ext cx="0" cy="1155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7" name="Rectangle 11"/>
          <p:cNvSpPr>
            <a:spLocks noChangeArrowheads="1"/>
          </p:cNvSpPr>
          <p:nvPr/>
        </p:nvSpPr>
        <p:spPr bwMode="auto">
          <a:xfrm>
            <a:off x="7672535" y="4927848"/>
            <a:ext cx="569068"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Bad</a:t>
            </a:r>
          </a:p>
        </p:txBody>
      </p:sp>
      <p:sp>
        <p:nvSpPr>
          <p:cNvPr id="50188" name="Rectangle 12"/>
          <p:cNvSpPr>
            <a:spLocks noChangeArrowheads="1"/>
          </p:cNvSpPr>
          <p:nvPr/>
        </p:nvSpPr>
        <p:spPr bwMode="auto">
          <a:xfrm>
            <a:off x="7520135" y="5766048"/>
            <a:ext cx="718146"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Good</a:t>
            </a:r>
          </a:p>
        </p:txBody>
      </p:sp>
      <p:sp>
        <p:nvSpPr>
          <p:cNvPr id="50189" name="Line 13"/>
          <p:cNvSpPr>
            <a:spLocks noChangeShapeType="1"/>
          </p:cNvSpPr>
          <p:nvPr/>
        </p:nvSpPr>
        <p:spPr bwMode="auto">
          <a:xfrm>
            <a:off x="8226572" y="6070847"/>
            <a:ext cx="1816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0" name="Rectangle 14"/>
          <p:cNvSpPr>
            <a:spLocks noChangeArrowheads="1"/>
          </p:cNvSpPr>
          <p:nvPr/>
        </p:nvSpPr>
        <p:spPr bwMode="auto">
          <a:xfrm>
            <a:off x="8205935" y="6147048"/>
            <a:ext cx="649218"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Less</a:t>
            </a:r>
          </a:p>
        </p:txBody>
      </p:sp>
      <p:sp>
        <p:nvSpPr>
          <p:cNvPr id="50191" name="Rectangle 15"/>
          <p:cNvSpPr>
            <a:spLocks noChangeArrowheads="1"/>
          </p:cNvSpPr>
          <p:nvPr/>
        </p:nvSpPr>
        <p:spPr bwMode="auto">
          <a:xfrm>
            <a:off x="9806135" y="6147048"/>
            <a:ext cx="673262" cy="3359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600" b="1"/>
              <a:t>More</a:t>
            </a:r>
          </a:p>
        </p:txBody>
      </p:sp>
      <p:sp>
        <p:nvSpPr>
          <p:cNvPr id="50192" name="Arc 16"/>
          <p:cNvSpPr>
            <a:spLocks/>
          </p:cNvSpPr>
          <p:nvPr/>
        </p:nvSpPr>
        <p:spPr bwMode="auto">
          <a:xfrm>
            <a:off x="8380560" y="5004047"/>
            <a:ext cx="1593850" cy="98425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3" name="Arc 17"/>
          <p:cNvSpPr>
            <a:spLocks/>
          </p:cNvSpPr>
          <p:nvPr/>
        </p:nvSpPr>
        <p:spPr bwMode="auto">
          <a:xfrm>
            <a:off x="8525022" y="5080247"/>
            <a:ext cx="1365250" cy="90805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127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4" name="Rectangle 18"/>
          <p:cNvSpPr>
            <a:spLocks noChangeArrowheads="1"/>
          </p:cNvSpPr>
          <p:nvPr/>
        </p:nvSpPr>
        <p:spPr bwMode="auto">
          <a:xfrm>
            <a:off x="8205935" y="5713660"/>
            <a:ext cx="90223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b="1"/>
              <a:t>Factor A</a:t>
            </a:r>
          </a:p>
        </p:txBody>
      </p:sp>
      <p:sp>
        <p:nvSpPr>
          <p:cNvPr id="50195" name="Rectangle 19"/>
          <p:cNvSpPr>
            <a:spLocks noChangeArrowheads="1"/>
          </p:cNvSpPr>
          <p:nvPr/>
        </p:nvSpPr>
        <p:spPr bwMode="auto">
          <a:xfrm>
            <a:off x="9653735" y="5713660"/>
            <a:ext cx="908904"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zh-CN" sz="1400" b="1"/>
              <a:t>Factor B</a:t>
            </a:r>
          </a:p>
        </p:txBody>
      </p:sp>
      <p:grpSp>
        <p:nvGrpSpPr>
          <p:cNvPr id="50196" name="Group 20"/>
          <p:cNvGrpSpPr>
            <a:grpSpLocks/>
          </p:cNvGrpSpPr>
          <p:nvPr/>
        </p:nvGrpSpPr>
        <p:grpSpPr bwMode="auto">
          <a:xfrm>
            <a:off x="8463110" y="4927847"/>
            <a:ext cx="1420812" cy="749300"/>
            <a:chOff x="3945" y="2736"/>
            <a:chExt cx="895" cy="472"/>
          </a:xfrm>
        </p:grpSpPr>
        <p:sp>
          <p:nvSpPr>
            <p:cNvPr id="50197" name="Arc 21"/>
            <p:cNvSpPr>
              <a:spLocks/>
            </p:cNvSpPr>
            <p:nvPr/>
          </p:nvSpPr>
          <p:spPr bwMode="auto">
            <a:xfrm>
              <a:off x="3945" y="2736"/>
              <a:ext cx="448" cy="472"/>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25400" cap="rnd">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98" name="Arc 22"/>
            <p:cNvSpPr>
              <a:spLocks/>
            </p:cNvSpPr>
            <p:nvPr/>
          </p:nvSpPr>
          <p:spPr bwMode="auto">
            <a:xfrm>
              <a:off x="4392" y="2736"/>
              <a:ext cx="448" cy="472"/>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599"/>
                  </a:cubicBezTo>
                </a:path>
                <a:path w="21600" h="21600" stroke="0" extrusionOk="0">
                  <a:moveTo>
                    <a:pt x="21600" y="0"/>
                  </a:moveTo>
                  <a:cubicBezTo>
                    <a:pt x="21600" y="11929"/>
                    <a:pt x="11929" y="21599"/>
                    <a:pt x="0" y="21599"/>
                  </a:cubicBezTo>
                  <a:lnTo>
                    <a:pt x="0" y="0"/>
                  </a:lnTo>
                  <a:close/>
                </a:path>
              </a:pathLst>
            </a:custGeom>
            <a:noFill/>
            <a:ln w="25400" cap="rnd">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97085952"/>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zh-CN" dirty="0" smtClean="0"/>
              <a:t>Summary #2/3: TLB, Virtual Memory</a:t>
            </a:r>
            <a:endParaRPr lang="en-US" altLang="zh-CN" dirty="0"/>
          </a:p>
        </p:txBody>
      </p:sp>
      <p:sp>
        <p:nvSpPr>
          <p:cNvPr id="52227" name="Rectangle 3"/>
          <p:cNvSpPr>
            <a:spLocks noGrp="1" noChangeArrowheads="1"/>
          </p:cNvSpPr>
          <p:nvPr>
            <p:ph type="body" idx="1"/>
          </p:nvPr>
        </p:nvSpPr>
        <p:spPr/>
        <p:txBody>
          <a:bodyPr/>
          <a:lstStyle/>
          <a:p>
            <a:r>
              <a:rPr lang="en-US" altLang="zh-CN" dirty="0" smtClean="0"/>
              <a:t>Caches, TLBs, Virtual Memory all understood by examining how they deal with 4 questions: 1) Where can block be placed? 2) How is block found? 3) What block is </a:t>
            </a:r>
            <a:r>
              <a:rPr lang="en-US" altLang="zh-CN" dirty="0" err="1" smtClean="0"/>
              <a:t>repalced</a:t>
            </a:r>
            <a:r>
              <a:rPr lang="en-US" altLang="zh-CN" dirty="0" smtClean="0"/>
              <a:t> on miss? 4) How are writes handled?</a:t>
            </a:r>
          </a:p>
          <a:p>
            <a:r>
              <a:rPr lang="en-US" altLang="zh-CN" dirty="0" smtClean="0"/>
              <a:t>Page tables map virtual address to physical address</a:t>
            </a:r>
          </a:p>
          <a:p>
            <a:r>
              <a:rPr lang="en-US" altLang="zh-CN" dirty="0" smtClean="0"/>
              <a:t>TLBs are important for fast translation</a:t>
            </a:r>
          </a:p>
          <a:p>
            <a:r>
              <a:rPr lang="en-US" altLang="zh-CN" dirty="0" smtClean="0"/>
              <a:t>TLB misses are significant in processor performance</a:t>
            </a:r>
          </a:p>
          <a:p>
            <a:pPr lvl="1"/>
            <a:r>
              <a:rPr lang="en-US" altLang="zh-CN" dirty="0" smtClean="0"/>
              <a:t>funny times, as most systems can’t access all of 2nd level cache without TLB misses!</a:t>
            </a:r>
            <a:endParaRPr lang="en-US" altLang="zh-CN" dirty="0"/>
          </a:p>
        </p:txBody>
      </p:sp>
    </p:spTree>
    <p:extLst>
      <p:ext uri="{BB962C8B-B14F-4D97-AF65-F5344CB8AC3E}">
        <p14:creationId xmlns:p14="http://schemas.microsoft.com/office/powerpoint/2010/main" val="1817186019"/>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zh-CN" dirty="0" smtClean="0"/>
              <a:t>Summary #3/3: Memory Hierarchy</a:t>
            </a:r>
            <a:endParaRPr lang="en-US" altLang="zh-CN" dirty="0"/>
          </a:p>
        </p:txBody>
      </p:sp>
      <p:sp>
        <p:nvSpPr>
          <p:cNvPr id="54275" name="Rectangle 3"/>
          <p:cNvSpPr>
            <a:spLocks noGrp="1" noChangeArrowheads="1"/>
          </p:cNvSpPr>
          <p:nvPr>
            <p:ph type="body" idx="1"/>
          </p:nvPr>
        </p:nvSpPr>
        <p:spPr/>
        <p:txBody>
          <a:bodyPr/>
          <a:lstStyle/>
          <a:p>
            <a:r>
              <a:rPr lang="en-US" altLang="zh-CN" dirty="0" smtClean="0"/>
              <a:t>Virtual memory was controversial at the time: </a:t>
            </a:r>
            <a:br>
              <a:rPr lang="en-US" altLang="zh-CN" dirty="0" smtClean="0"/>
            </a:br>
            <a:r>
              <a:rPr lang="en-US" altLang="zh-CN" dirty="0" smtClean="0"/>
              <a:t>can SW automatically manage 64KB across many programs?</a:t>
            </a:r>
          </a:p>
          <a:p>
            <a:pPr lvl="1"/>
            <a:r>
              <a:rPr lang="en-US" altLang="zh-CN" dirty="0" smtClean="0"/>
              <a:t>1000X DRAM growth removed the controversy</a:t>
            </a:r>
          </a:p>
          <a:p>
            <a:r>
              <a:rPr lang="en-US" altLang="zh-CN" dirty="0" smtClean="0"/>
              <a:t>Today VM allows many processes to share single memory without having to swap all processes to disk</a:t>
            </a:r>
          </a:p>
          <a:p>
            <a:r>
              <a:rPr lang="en-US" altLang="zh-CN" dirty="0" smtClean="0"/>
              <a:t>VM protection is more important than memory hierarchy</a:t>
            </a:r>
          </a:p>
          <a:p>
            <a:r>
              <a:rPr lang="en-US" altLang="zh-CN" dirty="0" smtClean="0"/>
              <a:t>Today CPU time is a function  of (ops, cache misses) vs. just f(ops):</a:t>
            </a:r>
            <a:br>
              <a:rPr lang="en-US" altLang="zh-CN" dirty="0" smtClean="0"/>
            </a:br>
            <a:r>
              <a:rPr lang="en-US" altLang="zh-CN" dirty="0" smtClean="0"/>
              <a:t>What does this mean to Compilers, Data structures, Algorithms?</a:t>
            </a:r>
            <a:endParaRPr lang="en-US" altLang="zh-CN" dirty="0"/>
          </a:p>
        </p:txBody>
      </p:sp>
    </p:spTree>
    <p:extLst>
      <p:ext uri="{BB962C8B-B14F-4D97-AF65-F5344CB8AC3E}">
        <p14:creationId xmlns:p14="http://schemas.microsoft.com/office/powerpoint/2010/main" val="439636296"/>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zh-CN" altLang="zh-CN" smtClean="0"/>
              <a:t>改善Cache性能</a:t>
            </a:r>
            <a:endParaRPr lang="zh-CN" altLang="zh-CN"/>
          </a:p>
        </p:txBody>
      </p:sp>
      <p:sp>
        <p:nvSpPr>
          <p:cNvPr id="4099" name="Rectangle 3"/>
          <p:cNvSpPr>
            <a:spLocks noGrp="1" noChangeArrowheads="1"/>
          </p:cNvSpPr>
          <p:nvPr>
            <p:ph type="subTitle" idx="1"/>
          </p:nvPr>
        </p:nvSpPr>
        <p:spPr/>
        <p:txBody>
          <a:bodyPr/>
          <a:lstStyle/>
          <a:p>
            <a:r>
              <a:rPr lang="zh-CN" altLang="en-US" sz="3200" dirty="0" smtClean="0"/>
              <a:t>降低不命中率</a:t>
            </a:r>
          </a:p>
          <a:p>
            <a:r>
              <a:rPr lang="zh-CN" altLang="en-US" sz="3200" dirty="0" smtClean="0"/>
              <a:t>降低不命中损耗</a:t>
            </a:r>
          </a:p>
          <a:p>
            <a:r>
              <a:rPr lang="zh-CN" altLang="en-US" sz="3200" dirty="0" smtClean="0"/>
              <a:t>减少命中时间</a:t>
            </a:r>
            <a:endParaRPr lang="zh-CN" altLang="en-US" sz="3200" dirty="0"/>
          </a:p>
        </p:txBody>
      </p:sp>
      <p:graphicFrame>
        <p:nvGraphicFramePr>
          <p:cNvPr id="4" name="Object 11"/>
          <p:cNvGraphicFramePr>
            <a:graphicFrameLocks noChangeAspect="1"/>
          </p:cNvGraphicFramePr>
          <p:nvPr>
            <p:extLst>
              <p:ext uri="{D42A27DB-BD31-4B8C-83A1-F6EECF244321}">
                <p14:modId xmlns:p14="http://schemas.microsoft.com/office/powerpoint/2010/main" val="3145819730"/>
              </p:ext>
            </p:extLst>
          </p:nvPr>
        </p:nvGraphicFramePr>
        <p:xfrm>
          <a:off x="2085974" y="5517232"/>
          <a:ext cx="8486097" cy="527225"/>
        </p:xfrm>
        <a:graphic>
          <a:graphicData uri="http://schemas.openxmlformats.org/presentationml/2006/ole">
            <mc:AlternateContent xmlns:mc="http://schemas.openxmlformats.org/markup-compatibility/2006">
              <mc:Choice xmlns:v="urn:schemas-microsoft-com:vml" Requires="v">
                <p:oleObj spid="_x0000_s24595" name="Equation" r:id="rId3" imgW="4267080" imgH="266400" progId="Equation.3">
                  <p:embed/>
                </p:oleObj>
              </mc:Choice>
              <mc:Fallback>
                <p:oleObj name="Equation" r:id="rId3" imgW="4267080" imgH="266400" progId="Equation.3">
                  <p:embed/>
                  <p:pic>
                    <p:nvPicPr>
                      <p:cNvPr id="63499"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5974" y="5517232"/>
                        <a:ext cx="8486097" cy="527225"/>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595136129"/>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a:xfrm>
            <a:off x="2514600" y="2286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Reducing Misses</a:t>
            </a:r>
          </a:p>
        </p:txBody>
      </p:sp>
      <p:sp>
        <p:nvSpPr>
          <p:cNvPr id="579587" name="Rectangle 3"/>
          <p:cNvSpPr>
            <a:spLocks noGrp="1" noChangeArrowheads="1"/>
          </p:cNvSpPr>
          <p:nvPr>
            <p:ph type="body" idx="1"/>
          </p:nvPr>
        </p:nvSpPr>
        <p:spPr>
          <a:xfrm>
            <a:off x="479376" y="1556792"/>
            <a:ext cx="11017224" cy="340878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a:t>Classifying Misses: 3 Cs</a:t>
            </a:r>
          </a:p>
          <a:p>
            <a:pPr lvl="1">
              <a:spcBef>
                <a:spcPct val="0"/>
              </a:spcBef>
            </a:pPr>
            <a:r>
              <a:rPr lang="en-US" altLang="zh-CN" sz="2800" i="1" dirty="0">
                <a:solidFill>
                  <a:schemeClr val="hlink"/>
                </a:solidFill>
              </a:rPr>
              <a:t>Compulsory</a:t>
            </a:r>
            <a:r>
              <a:rPr lang="en-US" altLang="zh-CN" dirty="0"/>
              <a:t>—The first access to a block is not in the cache, so the block must be brought into the cache. Also called </a:t>
            </a:r>
            <a:r>
              <a:rPr lang="en-US" altLang="zh-CN" i="1" dirty="0">
                <a:solidFill>
                  <a:schemeClr val="hlink"/>
                </a:solidFill>
              </a:rPr>
              <a:t>cold start misses</a:t>
            </a:r>
            <a:r>
              <a:rPr lang="en-US" altLang="zh-CN" dirty="0"/>
              <a:t> or </a:t>
            </a:r>
            <a:r>
              <a:rPr lang="en-US" altLang="zh-CN" i="1" dirty="0">
                <a:solidFill>
                  <a:schemeClr val="hlink"/>
                </a:solidFill>
              </a:rPr>
              <a:t>first reference misses</a:t>
            </a:r>
            <a:r>
              <a:rPr lang="en-US" altLang="zh-CN" dirty="0" smtClean="0"/>
              <a:t>. </a:t>
            </a:r>
            <a:r>
              <a:rPr lang="en-US" altLang="zh-CN" i="1" dirty="0" smtClean="0">
                <a:solidFill>
                  <a:schemeClr val="accent1"/>
                </a:solidFill>
              </a:rPr>
              <a:t>(</a:t>
            </a:r>
            <a:r>
              <a:rPr lang="en-US" altLang="zh-CN" i="1" dirty="0">
                <a:solidFill>
                  <a:schemeClr val="accent1"/>
                </a:solidFill>
              </a:rPr>
              <a:t>Misses in even an Infinite Cache)</a:t>
            </a:r>
            <a:endParaRPr lang="en-US" altLang="zh-CN" dirty="0"/>
          </a:p>
          <a:p>
            <a:pPr lvl="1">
              <a:spcBef>
                <a:spcPct val="0"/>
              </a:spcBef>
            </a:pPr>
            <a:r>
              <a:rPr lang="en-US" altLang="zh-CN" sz="2800" i="1" dirty="0">
                <a:solidFill>
                  <a:schemeClr val="hlink"/>
                </a:solidFill>
              </a:rPr>
              <a:t>Capacity</a:t>
            </a:r>
            <a:r>
              <a:rPr lang="en-US" altLang="zh-CN" dirty="0"/>
              <a:t>—If the cache cannot contain all the blocks needed during execution of a program, </a:t>
            </a:r>
            <a:r>
              <a:rPr lang="en-US" altLang="zh-CN" dirty="0">
                <a:solidFill>
                  <a:schemeClr val="hlink"/>
                </a:solidFill>
              </a:rPr>
              <a:t>capacity misses </a:t>
            </a:r>
            <a:r>
              <a:rPr lang="en-US" altLang="zh-CN" dirty="0"/>
              <a:t>will occur due to blocks being discarded and later retrieved</a:t>
            </a:r>
            <a:r>
              <a:rPr lang="en-US" altLang="zh-CN" dirty="0" smtClean="0"/>
              <a:t>. </a:t>
            </a:r>
            <a:r>
              <a:rPr lang="en-US" altLang="zh-CN" i="1" dirty="0" smtClean="0">
                <a:solidFill>
                  <a:schemeClr val="accent1"/>
                </a:solidFill>
              </a:rPr>
              <a:t>(</a:t>
            </a:r>
            <a:r>
              <a:rPr lang="en-US" altLang="zh-CN" i="1" dirty="0">
                <a:solidFill>
                  <a:schemeClr val="accent1"/>
                </a:solidFill>
              </a:rPr>
              <a:t>Misses in Fully Associative Size X Cache)</a:t>
            </a:r>
            <a:endParaRPr lang="en-US" altLang="zh-CN" dirty="0"/>
          </a:p>
          <a:p>
            <a:pPr lvl="1">
              <a:spcBef>
                <a:spcPct val="0"/>
              </a:spcBef>
            </a:pPr>
            <a:r>
              <a:rPr lang="en-US" altLang="zh-CN" sz="2800" i="1" dirty="0">
                <a:solidFill>
                  <a:schemeClr val="hlink"/>
                </a:solidFill>
              </a:rPr>
              <a:t>Conflict</a:t>
            </a:r>
            <a:r>
              <a:rPr lang="en-US" altLang="zh-CN" dirty="0"/>
              <a:t>—If block-placement strategy is set associative or direct mapped, conflict misses (in addition to compulsory &amp; capacity misses) will occur because a block can be discarded and later retrieved if too many blocks map to its set. Also called </a:t>
            </a:r>
            <a:r>
              <a:rPr lang="en-US" altLang="zh-CN" i="1" dirty="0">
                <a:solidFill>
                  <a:schemeClr val="hlink"/>
                </a:solidFill>
              </a:rPr>
              <a:t>collision misses</a:t>
            </a:r>
            <a:r>
              <a:rPr lang="en-US" altLang="zh-CN" dirty="0"/>
              <a:t> or </a:t>
            </a:r>
            <a:r>
              <a:rPr lang="en-US" altLang="zh-CN" i="1" dirty="0">
                <a:solidFill>
                  <a:schemeClr val="hlink"/>
                </a:solidFill>
              </a:rPr>
              <a:t>interference misses</a:t>
            </a:r>
            <a:r>
              <a:rPr lang="en-US" altLang="zh-CN" dirty="0"/>
              <a:t>.</a:t>
            </a:r>
            <a:br>
              <a:rPr lang="en-US" altLang="zh-CN" dirty="0"/>
            </a:br>
            <a:r>
              <a:rPr lang="en-US" altLang="zh-CN" i="1" dirty="0">
                <a:solidFill>
                  <a:schemeClr val="accent1"/>
                </a:solidFill>
              </a:rPr>
              <a:t>(Misses in N-way Associative, Size X Cache)</a:t>
            </a:r>
          </a:p>
          <a:p>
            <a:pPr>
              <a:spcBef>
                <a:spcPct val="0"/>
              </a:spcBef>
            </a:pPr>
            <a:r>
              <a:rPr lang="en-US" altLang="zh-CN" dirty="0"/>
              <a:t>More recent, 4th “C”:</a:t>
            </a:r>
          </a:p>
          <a:p>
            <a:pPr lvl="1">
              <a:spcBef>
                <a:spcPct val="0"/>
              </a:spcBef>
            </a:pPr>
            <a:r>
              <a:rPr lang="en-US" altLang="zh-CN" sz="2800" i="1" dirty="0">
                <a:solidFill>
                  <a:schemeClr val="hlink"/>
                </a:solidFill>
              </a:rPr>
              <a:t>Coherence</a:t>
            </a:r>
            <a:r>
              <a:rPr lang="en-US" altLang="zh-CN" dirty="0"/>
              <a:t> - Misses caused by cache coherence.</a:t>
            </a:r>
            <a:endParaRPr lang="en-US" altLang="zh-CN" i="1" dirty="0">
              <a:solidFill>
                <a:schemeClr val="accent1"/>
              </a:solidFill>
            </a:endParaRPr>
          </a:p>
        </p:txBody>
      </p:sp>
    </p:spTree>
    <p:extLst>
      <p:ext uri="{BB962C8B-B14F-4D97-AF65-F5344CB8AC3E}">
        <p14:creationId xmlns:p14="http://schemas.microsoft.com/office/powerpoint/2010/main" val="32276378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79587">
                                            <p:txEl>
                                              <p:pRg st="0" end="0"/>
                                            </p:txEl>
                                          </p:spTgt>
                                        </p:tgtEl>
                                        <p:attrNameLst>
                                          <p:attrName>style.visibility</p:attrName>
                                        </p:attrNameLst>
                                      </p:cBhvr>
                                      <p:to>
                                        <p:strVal val="visible"/>
                                      </p:to>
                                    </p:set>
                                    <p:anim calcmode="lin" valueType="num">
                                      <p:cBhvr additive="base">
                                        <p:cTn id="7" dur="500" fill="hold"/>
                                        <p:tgtEl>
                                          <p:spTgt spid="57958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79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79587">
                                            <p:txEl>
                                              <p:pRg st="1" end="1"/>
                                            </p:txEl>
                                          </p:spTgt>
                                        </p:tgtEl>
                                        <p:attrNameLst>
                                          <p:attrName>style.visibility</p:attrName>
                                        </p:attrNameLst>
                                      </p:cBhvr>
                                      <p:to>
                                        <p:strVal val="visible"/>
                                      </p:to>
                                    </p:set>
                                    <p:anim calcmode="lin" valueType="num">
                                      <p:cBhvr additive="base">
                                        <p:cTn id="13" dur="500" fill="hold"/>
                                        <p:tgtEl>
                                          <p:spTgt spid="57958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79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79587">
                                            <p:txEl>
                                              <p:pRg st="2" end="2"/>
                                            </p:txEl>
                                          </p:spTgt>
                                        </p:tgtEl>
                                        <p:attrNameLst>
                                          <p:attrName>style.visibility</p:attrName>
                                        </p:attrNameLst>
                                      </p:cBhvr>
                                      <p:to>
                                        <p:strVal val="visible"/>
                                      </p:to>
                                    </p:set>
                                    <p:anim calcmode="lin" valueType="num">
                                      <p:cBhvr additive="base">
                                        <p:cTn id="19" dur="500" fill="hold"/>
                                        <p:tgtEl>
                                          <p:spTgt spid="57958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795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79587">
                                            <p:txEl>
                                              <p:pRg st="3" end="3"/>
                                            </p:txEl>
                                          </p:spTgt>
                                        </p:tgtEl>
                                        <p:attrNameLst>
                                          <p:attrName>style.visibility</p:attrName>
                                        </p:attrNameLst>
                                      </p:cBhvr>
                                      <p:to>
                                        <p:strVal val="visible"/>
                                      </p:to>
                                    </p:set>
                                    <p:anim calcmode="lin" valueType="num">
                                      <p:cBhvr additive="base">
                                        <p:cTn id="25" dur="500" fill="hold"/>
                                        <p:tgtEl>
                                          <p:spTgt spid="57958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7958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79587">
                                            <p:txEl>
                                              <p:pRg st="4" end="4"/>
                                            </p:txEl>
                                          </p:spTgt>
                                        </p:tgtEl>
                                        <p:attrNameLst>
                                          <p:attrName>style.visibility</p:attrName>
                                        </p:attrNameLst>
                                      </p:cBhvr>
                                      <p:to>
                                        <p:strVal val="visible"/>
                                      </p:to>
                                    </p:set>
                                    <p:anim calcmode="lin" valueType="num">
                                      <p:cBhvr additive="base">
                                        <p:cTn id="31" dur="500" fill="hold"/>
                                        <p:tgtEl>
                                          <p:spTgt spid="57958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7958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79587">
                                            <p:txEl>
                                              <p:pRg st="5" end="5"/>
                                            </p:txEl>
                                          </p:spTgt>
                                        </p:tgtEl>
                                        <p:attrNameLst>
                                          <p:attrName>style.visibility</p:attrName>
                                        </p:attrNameLst>
                                      </p:cBhvr>
                                      <p:to>
                                        <p:strVal val="visible"/>
                                      </p:to>
                                    </p:set>
                                    <p:anim calcmode="lin" valueType="num">
                                      <p:cBhvr additive="base">
                                        <p:cTn id="37" dur="500" fill="hold"/>
                                        <p:tgtEl>
                                          <p:spTgt spid="57958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7958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build="p" bldLvl="2"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163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9350" y="1511300"/>
            <a:ext cx="7442200" cy="5105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1635"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a:t>3</a:t>
            </a:r>
            <a:r>
              <a:rPr lang="en-US" altLang="zh-CN"/>
              <a:t>Cs Absolute Miss Rate (SPEC92)</a:t>
            </a:r>
          </a:p>
        </p:txBody>
      </p:sp>
      <p:sp>
        <p:nvSpPr>
          <p:cNvPr id="581636" name="Rectangle 4"/>
          <p:cNvSpPr>
            <a:spLocks noChangeArrowheads="1"/>
          </p:cNvSpPr>
          <p:nvPr/>
        </p:nvSpPr>
        <p:spPr bwMode="auto">
          <a:xfrm>
            <a:off x="6570664" y="2322513"/>
            <a:ext cx="121026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400"/>
              <a:t>Conflict</a:t>
            </a:r>
          </a:p>
        </p:txBody>
      </p:sp>
      <p:sp>
        <p:nvSpPr>
          <p:cNvPr id="581637" name="Line 5"/>
          <p:cNvSpPr>
            <a:spLocks noChangeShapeType="1"/>
          </p:cNvSpPr>
          <p:nvPr/>
        </p:nvSpPr>
        <p:spPr bwMode="auto">
          <a:xfrm>
            <a:off x="5492750" y="2254250"/>
            <a:ext cx="11303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1638" name="Line 6"/>
          <p:cNvSpPr>
            <a:spLocks noChangeShapeType="1"/>
          </p:cNvSpPr>
          <p:nvPr/>
        </p:nvSpPr>
        <p:spPr bwMode="auto">
          <a:xfrm>
            <a:off x="6769100" y="2692400"/>
            <a:ext cx="311150" cy="8826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1639" name="Rectangle 7"/>
          <p:cNvSpPr>
            <a:spLocks noChangeArrowheads="1"/>
          </p:cNvSpPr>
          <p:nvPr/>
        </p:nvSpPr>
        <p:spPr bwMode="auto">
          <a:xfrm>
            <a:off x="1865313" y="5797551"/>
            <a:ext cx="2893422"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a:t>Compulsory vanishingly</a:t>
            </a:r>
          </a:p>
          <a:p>
            <a:pPr algn="l"/>
            <a:r>
              <a:rPr lang="en-US" altLang="zh-CN" sz="2000"/>
              <a:t>small</a:t>
            </a:r>
          </a:p>
        </p:txBody>
      </p:sp>
    </p:spTree>
    <p:extLst>
      <p:ext uri="{BB962C8B-B14F-4D97-AF65-F5344CB8AC3E}">
        <p14:creationId xmlns:p14="http://schemas.microsoft.com/office/powerpoint/2010/main" val="793869794"/>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a:t>3</a:t>
            </a:r>
            <a:r>
              <a:rPr lang="en-US" altLang="zh-CN"/>
              <a:t>Cs Relative Miss Rate</a:t>
            </a:r>
          </a:p>
        </p:txBody>
      </p:sp>
      <p:pic>
        <p:nvPicPr>
          <p:cNvPr id="583683"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1304925"/>
            <a:ext cx="8145463" cy="55197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684" name="Rectangle 4"/>
          <p:cNvSpPr>
            <a:spLocks noChangeArrowheads="1"/>
          </p:cNvSpPr>
          <p:nvPr/>
        </p:nvSpPr>
        <p:spPr bwMode="auto">
          <a:xfrm>
            <a:off x="9123364" y="2303463"/>
            <a:ext cx="121026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400"/>
              <a:t>Conflict</a:t>
            </a:r>
          </a:p>
        </p:txBody>
      </p:sp>
      <p:sp>
        <p:nvSpPr>
          <p:cNvPr id="583685" name="Rectangle 5"/>
          <p:cNvSpPr>
            <a:spLocks noChangeArrowheads="1"/>
          </p:cNvSpPr>
          <p:nvPr/>
        </p:nvSpPr>
        <p:spPr bwMode="auto">
          <a:xfrm>
            <a:off x="1598613" y="5740401"/>
            <a:ext cx="3159520"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a:t>Flaws: for fixed block size</a:t>
            </a:r>
          </a:p>
          <a:p>
            <a:pPr algn="l"/>
            <a:r>
              <a:rPr lang="en-US" altLang="zh-CN" sz="2000"/>
              <a:t>Good: insight =&gt; invention</a:t>
            </a:r>
          </a:p>
        </p:txBody>
      </p:sp>
    </p:spTree>
    <p:extLst>
      <p:ext uri="{BB962C8B-B14F-4D97-AF65-F5344CB8AC3E}">
        <p14:creationId xmlns:p14="http://schemas.microsoft.com/office/powerpoint/2010/main" val="345707452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2658"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9350" y="1996008"/>
            <a:ext cx="7442200" cy="5105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2659" name="Rectangle 3"/>
          <p:cNvSpPr>
            <a:spLocks noGrp="1" noChangeArrowheads="1"/>
          </p:cNvSpPr>
          <p:nvPr>
            <p:ph type="title"/>
          </p:nvPr>
        </p:nvSpPr>
        <p:spPr>
          <a:xfrm>
            <a:off x="2228850" y="1333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a:t>2:1 </a:t>
            </a:r>
            <a:r>
              <a:rPr lang="en-US" altLang="zh-CN"/>
              <a:t>Cache Rule</a:t>
            </a:r>
          </a:p>
        </p:txBody>
      </p:sp>
      <p:sp>
        <p:nvSpPr>
          <p:cNvPr id="582660" name="Rectangle 4"/>
          <p:cNvSpPr>
            <a:spLocks noChangeArrowheads="1"/>
          </p:cNvSpPr>
          <p:nvPr/>
        </p:nvSpPr>
        <p:spPr bwMode="auto">
          <a:xfrm>
            <a:off x="6570664" y="2613025"/>
            <a:ext cx="121026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400"/>
              <a:t>Conflict</a:t>
            </a:r>
          </a:p>
        </p:txBody>
      </p:sp>
      <p:sp>
        <p:nvSpPr>
          <p:cNvPr id="582661" name="Line 5"/>
          <p:cNvSpPr>
            <a:spLocks noChangeShapeType="1"/>
          </p:cNvSpPr>
          <p:nvPr/>
        </p:nvSpPr>
        <p:spPr bwMode="auto">
          <a:xfrm>
            <a:off x="5492750" y="2544763"/>
            <a:ext cx="11303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2662" name="Line 6"/>
          <p:cNvSpPr>
            <a:spLocks noChangeShapeType="1"/>
          </p:cNvSpPr>
          <p:nvPr/>
        </p:nvSpPr>
        <p:spPr bwMode="auto">
          <a:xfrm>
            <a:off x="6769100" y="2982913"/>
            <a:ext cx="311150" cy="8826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2663" name="Line 7"/>
          <p:cNvSpPr>
            <a:spLocks noChangeShapeType="1"/>
          </p:cNvSpPr>
          <p:nvPr/>
        </p:nvSpPr>
        <p:spPr bwMode="auto">
          <a:xfrm flipV="1">
            <a:off x="5467350" y="3827463"/>
            <a:ext cx="0" cy="174625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2664" name="Line 8"/>
          <p:cNvSpPr>
            <a:spLocks noChangeShapeType="1"/>
          </p:cNvSpPr>
          <p:nvPr/>
        </p:nvSpPr>
        <p:spPr bwMode="auto">
          <a:xfrm flipH="1">
            <a:off x="3879850" y="3890963"/>
            <a:ext cx="1612900"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2665" name="Rectangle 9"/>
          <p:cNvSpPr>
            <a:spLocks noChangeArrowheads="1"/>
          </p:cNvSpPr>
          <p:nvPr/>
        </p:nvSpPr>
        <p:spPr bwMode="auto">
          <a:xfrm>
            <a:off x="2395038" y="1483515"/>
            <a:ext cx="7325724" cy="8653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lnSpc>
                <a:spcPct val="90000"/>
              </a:lnSpc>
            </a:pPr>
            <a:r>
              <a:rPr lang="zh-CN" altLang="zh-CN" sz="2400" dirty="0">
                <a:solidFill>
                  <a:srgbClr val="0000FF"/>
                </a:solidFill>
              </a:rPr>
              <a:t>   </a:t>
            </a:r>
            <a:r>
              <a:rPr lang="en-US" altLang="zh-CN" sz="2800" dirty="0">
                <a:solidFill>
                  <a:srgbClr val="0000FF"/>
                </a:solidFill>
              </a:rPr>
              <a:t>miss rate 1-way associative cache size X </a:t>
            </a:r>
            <a:br>
              <a:rPr lang="en-US" altLang="zh-CN" sz="2800" dirty="0">
                <a:solidFill>
                  <a:srgbClr val="0000FF"/>
                </a:solidFill>
              </a:rPr>
            </a:br>
            <a:r>
              <a:rPr lang="en-US" altLang="zh-CN" sz="2800" dirty="0">
                <a:solidFill>
                  <a:srgbClr val="0000FF"/>
                </a:solidFill>
              </a:rPr>
              <a:t>= miss rate 2-way associative cache size X/2</a:t>
            </a:r>
          </a:p>
        </p:txBody>
      </p:sp>
    </p:spTree>
    <p:extLst>
      <p:ext uri="{BB962C8B-B14F-4D97-AF65-F5344CB8AC3E}">
        <p14:creationId xmlns:p14="http://schemas.microsoft.com/office/powerpoint/2010/main" val="79150324"/>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How Can Reduce Misses?</a:t>
            </a:r>
          </a:p>
        </p:txBody>
      </p:sp>
      <p:sp>
        <p:nvSpPr>
          <p:cNvPr id="584707" name="Rectangle 3"/>
          <p:cNvSpPr>
            <a:spLocks noGrp="1" noChangeArrowheads="1"/>
          </p:cNvSpPr>
          <p:nvPr>
            <p:ph type="body" idx="1"/>
          </p:nvPr>
        </p:nvSpPr>
        <p:spPr>
          <a:xfrm>
            <a:off x="1271464" y="1844824"/>
            <a:ext cx="93726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zh-CN" altLang="zh-CN" dirty="0"/>
              <a:t>3 </a:t>
            </a:r>
            <a:r>
              <a:rPr lang="en-US" altLang="zh-CN" dirty="0"/>
              <a:t>Cs: </a:t>
            </a:r>
            <a:r>
              <a:rPr lang="en-US" altLang="zh-CN" dirty="0">
                <a:solidFill>
                  <a:schemeClr val="hlink"/>
                </a:solidFill>
              </a:rPr>
              <a:t>Compulsory, Capacity, Conflict</a:t>
            </a:r>
            <a:endParaRPr lang="en-US" altLang="zh-CN" dirty="0"/>
          </a:p>
          <a:p>
            <a:r>
              <a:rPr lang="en-US" altLang="zh-CN" dirty="0"/>
              <a:t>In all cases, assume total cache size not changed:</a:t>
            </a:r>
          </a:p>
          <a:p>
            <a:r>
              <a:rPr lang="en-US" altLang="zh-CN" dirty="0"/>
              <a:t>What happens if:</a:t>
            </a:r>
          </a:p>
          <a:p>
            <a:pPr>
              <a:buFont typeface="Wingdings" panose="05000000000000000000" pitchFamily="2" charset="2"/>
              <a:buNone/>
            </a:pPr>
            <a:r>
              <a:rPr lang="en-US" altLang="zh-CN" dirty="0"/>
              <a:t>1) Change Block Size: </a:t>
            </a:r>
            <a:br>
              <a:rPr lang="en-US" altLang="zh-CN" dirty="0"/>
            </a:br>
            <a:r>
              <a:rPr lang="en-US" altLang="zh-CN" dirty="0"/>
              <a:t>Which of 3Cs is obviously affected?</a:t>
            </a:r>
          </a:p>
          <a:p>
            <a:pPr>
              <a:buFont typeface="Wingdings" panose="05000000000000000000" pitchFamily="2" charset="2"/>
              <a:buNone/>
            </a:pPr>
            <a:r>
              <a:rPr lang="en-US" altLang="zh-CN" dirty="0"/>
              <a:t>2) Change Associativity: </a:t>
            </a:r>
            <a:br>
              <a:rPr lang="en-US" altLang="zh-CN" dirty="0"/>
            </a:br>
            <a:r>
              <a:rPr lang="en-US" altLang="zh-CN" dirty="0"/>
              <a:t>Which of 3Cs is obviously affected?</a:t>
            </a:r>
          </a:p>
          <a:p>
            <a:pPr>
              <a:buFont typeface="Wingdings" panose="05000000000000000000" pitchFamily="2" charset="2"/>
              <a:buNone/>
            </a:pPr>
            <a:r>
              <a:rPr lang="en-US" altLang="zh-CN" dirty="0"/>
              <a:t>3) Change Compiler: </a:t>
            </a:r>
            <a:br>
              <a:rPr lang="en-US" altLang="zh-CN" dirty="0"/>
            </a:br>
            <a:r>
              <a:rPr lang="en-US" altLang="zh-CN" dirty="0"/>
              <a:t>Which of 3Cs is obviously affected?</a:t>
            </a:r>
          </a:p>
        </p:txBody>
      </p:sp>
    </p:spTree>
    <p:extLst>
      <p:ext uri="{BB962C8B-B14F-4D97-AF65-F5344CB8AC3E}">
        <p14:creationId xmlns:p14="http://schemas.microsoft.com/office/powerpoint/2010/main" val="241044520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675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1504950"/>
            <a:ext cx="7442200" cy="5003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54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6755"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a:t>1. </a:t>
            </a:r>
            <a:r>
              <a:rPr lang="en-US" altLang="zh-CN"/>
              <a:t>Reduce Misses via Larger Block Size</a:t>
            </a:r>
          </a:p>
        </p:txBody>
      </p:sp>
    </p:spTree>
    <p:extLst>
      <p:ext uri="{BB962C8B-B14F-4D97-AF65-F5344CB8AC3E}">
        <p14:creationId xmlns:p14="http://schemas.microsoft.com/office/powerpoint/2010/main" val="126863211"/>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Actual miss rate versus block size </a:t>
            </a:r>
            <a:endParaRPr lang="zh-CN" altLang="en-US" dirty="0"/>
          </a:p>
        </p:txBody>
      </p:sp>
      <p:sp>
        <p:nvSpPr>
          <p:cNvPr id="3" name="内容占位符 2"/>
          <p:cNvSpPr>
            <a:spLocks noGrp="1"/>
          </p:cNvSpPr>
          <p:nvPr>
            <p:ph idx="1"/>
          </p:nvPr>
        </p:nvSpPr>
        <p:spPr/>
        <p:txBody>
          <a:bodyPr/>
          <a:lstStyle/>
          <a:p>
            <a:r>
              <a:rPr lang="en-US" altLang="zh-CN" dirty="0" smtClean="0"/>
              <a:t>Note </a:t>
            </a:r>
            <a:r>
              <a:rPr lang="en-US" altLang="zh-CN" dirty="0"/>
              <a:t>that for a 4 KiB cache, 256-byte blocks have a higher miss rate than 32-byte blocks. In this example, the cache would have to be 256 KiB in order for a 256-byte block to decrease misses</a:t>
            </a:r>
            <a:endParaRPr lang="zh-CN" altLang="en-US" dirty="0"/>
          </a:p>
        </p:txBody>
      </p:sp>
      <p:pic>
        <p:nvPicPr>
          <p:cNvPr id="4" name="图片 3"/>
          <p:cNvPicPr>
            <a:picLocks noChangeAspect="1"/>
          </p:cNvPicPr>
          <p:nvPr/>
        </p:nvPicPr>
        <p:blipFill>
          <a:blip r:embed="rId2"/>
          <a:stretch>
            <a:fillRect/>
          </a:stretch>
        </p:blipFill>
        <p:spPr>
          <a:xfrm>
            <a:off x="1056228" y="2996952"/>
            <a:ext cx="10347514" cy="3455465"/>
          </a:xfrm>
          <a:prstGeom prst="rect">
            <a:avLst/>
          </a:prstGeom>
        </p:spPr>
      </p:pic>
    </p:spTree>
    <p:extLst>
      <p:ext uri="{BB962C8B-B14F-4D97-AF65-F5344CB8AC3E}">
        <p14:creationId xmlns:p14="http://schemas.microsoft.com/office/powerpoint/2010/main" val="108728419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Average memory access time versus block size </a:t>
            </a:r>
            <a:endParaRPr lang="zh-CN" altLang="en-US" dirty="0"/>
          </a:p>
        </p:txBody>
      </p:sp>
      <p:sp>
        <p:nvSpPr>
          <p:cNvPr id="3" name="内容占位符 2"/>
          <p:cNvSpPr>
            <a:spLocks noGrp="1"/>
          </p:cNvSpPr>
          <p:nvPr>
            <p:ph idx="1"/>
          </p:nvPr>
        </p:nvSpPr>
        <p:spPr/>
        <p:txBody>
          <a:bodyPr/>
          <a:lstStyle/>
          <a:p>
            <a:r>
              <a:rPr lang="en-US" altLang="zh-CN" dirty="0" smtClean="0"/>
              <a:t>Block </a:t>
            </a:r>
            <a:r>
              <a:rPr lang="en-US" altLang="zh-CN" dirty="0"/>
              <a:t>sizes of 32 and 64 bytes </a:t>
            </a:r>
            <a:r>
              <a:rPr lang="en-US" altLang="zh-CN" dirty="0" smtClean="0"/>
              <a:t>dominate</a:t>
            </a:r>
          </a:p>
          <a:p>
            <a:pPr lvl="1"/>
            <a:r>
              <a:rPr lang="en-US" altLang="zh-CN" dirty="0" smtClean="0"/>
              <a:t>The </a:t>
            </a:r>
            <a:r>
              <a:rPr lang="en-US" altLang="zh-CN" dirty="0"/>
              <a:t>smallest average time per cache size is boldfaced</a:t>
            </a:r>
            <a:endParaRPr lang="zh-CN" altLang="en-US" dirty="0"/>
          </a:p>
        </p:txBody>
      </p:sp>
      <p:pic>
        <p:nvPicPr>
          <p:cNvPr id="4" name="Picture 2" descr="Z:\02_GRAPHICS\BOOKS\02_PPTs\MKCAD(Hennessy)\PPT\AppB\bm12-9780128119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780928"/>
            <a:ext cx="10422704" cy="348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34293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a:t>2. </a:t>
            </a:r>
            <a:r>
              <a:rPr lang="en-US" altLang="zh-CN"/>
              <a:t>Reduce Misses via Higher Associativity</a:t>
            </a:r>
          </a:p>
        </p:txBody>
      </p:sp>
      <p:sp>
        <p:nvSpPr>
          <p:cNvPr id="587779" name="Rectangle 3"/>
          <p:cNvSpPr>
            <a:spLocks noGrp="1" noChangeArrowheads="1"/>
          </p:cNvSpPr>
          <p:nvPr>
            <p:ph type="body" idx="1"/>
          </p:nvPr>
        </p:nvSpPr>
        <p:spPr>
          <a:xfrm>
            <a:off x="838200" y="1556792"/>
            <a:ext cx="11018440" cy="511256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tabLst>
                <a:tab pos="1828800" algn="r"/>
                <a:tab pos="3200400" algn="r"/>
                <a:tab pos="4572000" algn="r"/>
                <a:tab pos="5943600" algn="r"/>
              </a:tabLst>
            </a:pPr>
            <a:r>
              <a:rPr lang="zh-CN" altLang="zh-CN" sz="3200" dirty="0"/>
              <a:t>2:1 </a:t>
            </a:r>
            <a:r>
              <a:rPr lang="en-US" altLang="zh-CN" sz="3200" dirty="0"/>
              <a:t>Cache Rule: </a:t>
            </a:r>
          </a:p>
          <a:p>
            <a:pPr lvl="1">
              <a:tabLst>
                <a:tab pos="1828800" algn="r"/>
                <a:tab pos="3200400" algn="r"/>
                <a:tab pos="4572000" algn="r"/>
                <a:tab pos="5943600" algn="r"/>
              </a:tabLst>
            </a:pPr>
            <a:r>
              <a:rPr lang="en-US" altLang="zh-CN" sz="2800" dirty="0"/>
              <a:t>Miss Rate DM cache size N </a:t>
            </a:r>
            <a:r>
              <a:rPr lang="en-US" altLang="zh-CN" sz="2800" dirty="0" smtClean="0"/>
              <a:t>­= </a:t>
            </a:r>
            <a:r>
              <a:rPr lang="en-US" altLang="zh-CN" sz="2800" dirty="0"/>
              <a:t>Miss Rate 2-way cache size N/2</a:t>
            </a:r>
          </a:p>
          <a:p>
            <a:pPr>
              <a:tabLst>
                <a:tab pos="1828800" algn="r"/>
                <a:tab pos="3200400" algn="r"/>
                <a:tab pos="4572000" algn="r"/>
                <a:tab pos="5943600" algn="r"/>
              </a:tabLst>
            </a:pPr>
            <a:r>
              <a:rPr lang="en-US" altLang="zh-CN" sz="3200" dirty="0"/>
              <a:t>Beware: Execution time is only final measure!</a:t>
            </a:r>
          </a:p>
          <a:p>
            <a:pPr lvl="1">
              <a:tabLst>
                <a:tab pos="1828800" algn="r"/>
                <a:tab pos="3200400" algn="r"/>
                <a:tab pos="4572000" algn="r"/>
                <a:tab pos="5943600" algn="r"/>
              </a:tabLst>
            </a:pPr>
            <a:r>
              <a:rPr lang="en-US" altLang="zh-CN" sz="2800" dirty="0"/>
              <a:t>Will Clock Cycle time increase?</a:t>
            </a:r>
          </a:p>
          <a:p>
            <a:pPr lvl="1">
              <a:tabLst>
                <a:tab pos="1828800" algn="r"/>
                <a:tab pos="3200400" algn="r"/>
                <a:tab pos="4572000" algn="r"/>
                <a:tab pos="5943600" algn="r"/>
              </a:tabLst>
            </a:pPr>
            <a:r>
              <a:rPr lang="en-US" altLang="zh-CN" sz="2800" dirty="0"/>
              <a:t>Hill [1988] suggested hit time for 2-way vs. 1-way:</a:t>
            </a:r>
            <a:br>
              <a:rPr lang="en-US" altLang="zh-CN" sz="2800" dirty="0"/>
            </a:br>
            <a:r>
              <a:rPr lang="en-US" altLang="zh-CN" sz="2800" dirty="0"/>
              <a:t>external cache +10%, </a:t>
            </a:r>
            <a:br>
              <a:rPr lang="en-US" altLang="zh-CN" sz="2800" dirty="0"/>
            </a:br>
            <a:r>
              <a:rPr lang="en-US" altLang="zh-CN" sz="2800" dirty="0"/>
              <a:t>internal + 2% </a:t>
            </a:r>
            <a:endParaRPr lang="zh-CN" altLang="zh-CN" sz="2800" dirty="0"/>
          </a:p>
        </p:txBody>
      </p:sp>
    </p:spTree>
    <p:extLst>
      <p:ext uri="{BB962C8B-B14F-4D97-AF65-F5344CB8AC3E}">
        <p14:creationId xmlns:p14="http://schemas.microsoft.com/office/powerpoint/2010/main" val="3695551988"/>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307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Example: Avg. Memory Access Time vs. Miss Rate</a:t>
            </a:r>
          </a:p>
        </p:txBody>
      </p:sp>
      <p:sp>
        <p:nvSpPr>
          <p:cNvPr id="644099" name="Rectangle 3075"/>
          <p:cNvSpPr>
            <a:spLocks noGrp="1" noChangeArrowheads="1"/>
          </p:cNvSpPr>
          <p:nvPr>
            <p:ph type="body" idx="1"/>
          </p:nvPr>
        </p:nvSpPr>
        <p:spPr>
          <a:xfrm>
            <a:off x="695400" y="1484784"/>
            <a:ext cx="11233248" cy="400161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pPr>
            <a:r>
              <a:rPr lang="en-US" altLang="zh-CN" sz="2400" dirty="0"/>
              <a:t>Example: assume CCT = 1.10 for 2-way, 1.12 for 4-way, 1.14 for 8-way vs. CCT direct mapped</a:t>
            </a:r>
          </a:p>
          <a:p>
            <a:pPr>
              <a:lnSpc>
                <a:spcPct val="80000"/>
              </a:lnSpc>
              <a:buFont typeface="Wingdings" panose="05000000000000000000" pitchFamily="2" charset="2"/>
              <a:buNone/>
            </a:pPr>
            <a:r>
              <a:rPr lang="en-US" altLang="zh-CN" sz="2400" dirty="0"/>
              <a:t>	</a:t>
            </a:r>
            <a:r>
              <a:rPr lang="en-US" altLang="zh-CN" sz="2400" dirty="0" smtClean="0"/>
              <a:t>Cache </a:t>
            </a:r>
            <a:r>
              <a:rPr lang="en-US" altLang="zh-CN" sz="2400" dirty="0"/>
              <a:t>Size	</a:t>
            </a:r>
            <a:r>
              <a:rPr lang="en-US" altLang="zh-CN" sz="2400" dirty="0" smtClean="0"/>
              <a:t>	Associativity</a:t>
            </a:r>
            <a:r>
              <a:rPr lang="en-US" altLang="zh-CN" sz="2400" dirty="0"/>
              <a:t>			</a:t>
            </a:r>
          </a:p>
          <a:p>
            <a:pPr>
              <a:lnSpc>
                <a:spcPct val="80000"/>
              </a:lnSpc>
              <a:buFont typeface="Wingdings" panose="05000000000000000000" pitchFamily="2" charset="2"/>
              <a:buNone/>
            </a:pPr>
            <a:r>
              <a:rPr lang="en-US" altLang="zh-CN" sz="2400" dirty="0"/>
              <a:t>	       (KB)	1-way	2-way	4-way	8-way</a:t>
            </a:r>
          </a:p>
          <a:p>
            <a:pPr>
              <a:lnSpc>
                <a:spcPct val="80000"/>
              </a:lnSpc>
              <a:buFont typeface="Wingdings" panose="05000000000000000000" pitchFamily="2" charset="2"/>
              <a:buNone/>
            </a:pPr>
            <a:r>
              <a:rPr lang="en-US" altLang="zh-CN" sz="2400" dirty="0"/>
              <a:t> 		1	2.33	2.15	2.07	2.01</a:t>
            </a:r>
          </a:p>
          <a:p>
            <a:pPr>
              <a:lnSpc>
                <a:spcPct val="80000"/>
              </a:lnSpc>
              <a:buFont typeface="Wingdings" panose="05000000000000000000" pitchFamily="2" charset="2"/>
              <a:buNone/>
            </a:pPr>
            <a:r>
              <a:rPr lang="en-US" altLang="zh-CN" sz="2400" dirty="0"/>
              <a:t> 		2	1.98	1.86	1.76	1.68</a:t>
            </a:r>
          </a:p>
          <a:p>
            <a:pPr>
              <a:lnSpc>
                <a:spcPct val="80000"/>
              </a:lnSpc>
              <a:buFont typeface="Wingdings" panose="05000000000000000000" pitchFamily="2" charset="2"/>
              <a:buNone/>
            </a:pPr>
            <a:r>
              <a:rPr lang="en-US" altLang="zh-CN" sz="2400" dirty="0"/>
              <a:t> 		4	1.72	1.67	1.61	1.53</a:t>
            </a:r>
          </a:p>
          <a:p>
            <a:pPr>
              <a:lnSpc>
                <a:spcPct val="80000"/>
              </a:lnSpc>
              <a:buFont typeface="Wingdings" panose="05000000000000000000" pitchFamily="2" charset="2"/>
              <a:buNone/>
            </a:pPr>
            <a:r>
              <a:rPr lang="en-US" altLang="zh-CN" sz="2400" dirty="0"/>
              <a:t> 		8	1.46	</a:t>
            </a:r>
            <a:r>
              <a:rPr lang="en-US" altLang="zh-CN" sz="2400" dirty="0">
                <a:solidFill>
                  <a:srgbClr val="FF0000"/>
                </a:solidFill>
              </a:rPr>
              <a:t>1.48	1.47</a:t>
            </a:r>
            <a:r>
              <a:rPr lang="en-US" altLang="zh-CN" sz="2400" dirty="0"/>
              <a:t>	1.43</a:t>
            </a:r>
          </a:p>
          <a:p>
            <a:pPr>
              <a:lnSpc>
                <a:spcPct val="80000"/>
              </a:lnSpc>
              <a:buFont typeface="Wingdings" panose="05000000000000000000" pitchFamily="2" charset="2"/>
              <a:buNone/>
            </a:pPr>
            <a:r>
              <a:rPr lang="en-US" altLang="zh-CN" sz="2400" dirty="0"/>
              <a:t> 		</a:t>
            </a:r>
            <a:r>
              <a:rPr lang="en-US" altLang="zh-CN" sz="2400" dirty="0">
                <a:solidFill>
                  <a:srgbClr val="FF0000"/>
                </a:solidFill>
              </a:rPr>
              <a:t>16	1.29	1.32	1.32	1.32</a:t>
            </a:r>
          </a:p>
          <a:p>
            <a:pPr>
              <a:lnSpc>
                <a:spcPct val="80000"/>
              </a:lnSpc>
              <a:buFont typeface="Wingdings" panose="05000000000000000000" pitchFamily="2" charset="2"/>
              <a:buNone/>
            </a:pPr>
            <a:r>
              <a:rPr lang="en-US" altLang="zh-CN" sz="2400" dirty="0">
                <a:solidFill>
                  <a:srgbClr val="FF0000"/>
                </a:solidFill>
              </a:rPr>
              <a:t> 		32	1.20	1.24	1.25	1.27</a:t>
            </a:r>
          </a:p>
          <a:p>
            <a:pPr>
              <a:lnSpc>
                <a:spcPct val="80000"/>
              </a:lnSpc>
              <a:buFont typeface="Wingdings" panose="05000000000000000000" pitchFamily="2" charset="2"/>
              <a:buNone/>
            </a:pPr>
            <a:r>
              <a:rPr lang="en-US" altLang="zh-CN" sz="2400" dirty="0">
                <a:solidFill>
                  <a:srgbClr val="FF0000"/>
                </a:solidFill>
              </a:rPr>
              <a:t> 		64	1.14	1.20	1.21	1.23</a:t>
            </a:r>
          </a:p>
          <a:p>
            <a:pPr>
              <a:lnSpc>
                <a:spcPct val="80000"/>
              </a:lnSpc>
              <a:buFont typeface="Wingdings" panose="05000000000000000000" pitchFamily="2" charset="2"/>
              <a:buNone/>
            </a:pPr>
            <a:r>
              <a:rPr lang="en-US" altLang="zh-CN" sz="2400" dirty="0">
                <a:solidFill>
                  <a:srgbClr val="FF0000"/>
                </a:solidFill>
              </a:rPr>
              <a:t> 		128	1.10	1.17	1.18	1.20</a:t>
            </a:r>
          </a:p>
          <a:p>
            <a:pPr>
              <a:lnSpc>
                <a:spcPct val="80000"/>
              </a:lnSpc>
              <a:buFont typeface="Wingdings" panose="05000000000000000000" pitchFamily="2" charset="2"/>
              <a:buNone/>
            </a:pPr>
            <a:r>
              <a:rPr lang="en-US" altLang="zh-CN" sz="2400" dirty="0">
                <a:solidFill>
                  <a:schemeClr val="hlink"/>
                </a:solidFill>
              </a:rPr>
              <a:t>	(</a:t>
            </a:r>
            <a:r>
              <a:rPr lang="en-US" altLang="zh-CN" sz="2400" u="sng" dirty="0">
                <a:solidFill>
                  <a:srgbClr val="FF0000"/>
                </a:solidFill>
              </a:rPr>
              <a:t>Red</a:t>
            </a:r>
            <a:r>
              <a:rPr lang="en-US" altLang="zh-CN" sz="2400" dirty="0">
                <a:solidFill>
                  <a:srgbClr val="FF0000"/>
                </a:solidFill>
              </a:rPr>
              <a:t> means A.M.A.T. </a:t>
            </a:r>
            <a:r>
              <a:rPr lang="en-US" altLang="zh-CN" sz="2400" u="sng" dirty="0">
                <a:solidFill>
                  <a:srgbClr val="FF0000"/>
                </a:solidFill>
              </a:rPr>
              <a:t>not</a:t>
            </a:r>
            <a:r>
              <a:rPr lang="en-US" altLang="zh-CN" sz="2400" dirty="0">
                <a:solidFill>
                  <a:srgbClr val="FF0000"/>
                </a:solidFill>
              </a:rPr>
              <a:t> improved by more associativity</a:t>
            </a:r>
            <a:r>
              <a:rPr lang="en-US" altLang="zh-CN" sz="2400" dirty="0">
                <a:solidFill>
                  <a:schemeClr val="hlink"/>
                </a:solidFill>
              </a:rPr>
              <a:t>)</a:t>
            </a:r>
          </a:p>
        </p:txBody>
      </p:sp>
      <p:sp>
        <p:nvSpPr>
          <p:cNvPr id="644100" name="Rectangle 3076"/>
          <p:cNvSpPr>
            <a:spLocks noChangeArrowheads="1"/>
          </p:cNvSpPr>
          <p:nvPr/>
        </p:nvSpPr>
        <p:spPr bwMode="auto">
          <a:xfrm>
            <a:off x="2359025" y="2633664"/>
            <a:ext cx="4692650" cy="3632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101" name="Line 3077"/>
          <p:cNvSpPr>
            <a:spLocks noChangeShapeType="1"/>
          </p:cNvSpPr>
          <p:nvPr/>
        </p:nvSpPr>
        <p:spPr bwMode="auto">
          <a:xfrm>
            <a:off x="2359025" y="2954308"/>
            <a:ext cx="4692650" cy="15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102" name="Line 3078"/>
          <p:cNvSpPr>
            <a:spLocks noChangeShapeType="1"/>
          </p:cNvSpPr>
          <p:nvPr/>
        </p:nvSpPr>
        <p:spPr bwMode="auto">
          <a:xfrm>
            <a:off x="3413721" y="2954308"/>
            <a:ext cx="19571" cy="33242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103" name="Line 3079"/>
          <p:cNvSpPr>
            <a:spLocks noChangeShapeType="1"/>
          </p:cNvSpPr>
          <p:nvPr/>
        </p:nvSpPr>
        <p:spPr bwMode="auto">
          <a:xfrm>
            <a:off x="4295800" y="2954309"/>
            <a:ext cx="1588" cy="333998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104" name="Line 3080"/>
          <p:cNvSpPr>
            <a:spLocks noChangeShapeType="1"/>
          </p:cNvSpPr>
          <p:nvPr/>
        </p:nvSpPr>
        <p:spPr bwMode="auto">
          <a:xfrm>
            <a:off x="5231904" y="2996952"/>
            <a:ext cx="1588" cy="328312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990365893"/>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Average memory access time </a:t>
            </a:r>
            <a:endParaRPr lang="zh-CN" altLang="en-US" dirty="0"/>
          </a:p>
        </p:txBody>
      </p:sp>
      <p:sp>
        <p:nvSpPr>
          <p:cNvPr id="3" name="内容占位符 2"/>
          <p:cNvSpPr>
            <a:spLocks noGrp="1"/>
          </p:cNvSpPr>
          <p:nvPr>
            <p:ph idx="1"/>
          </p:nvPr>
        </p:nvSpPr>
        <p:spPr/>
        <p:txBody>
          <a:bodyPr/>
          <a:lstStyle/>
          <a:p>
            <a:r>
              <a:rPr lang="en-US" altLang="zh-CN" dirty="0" smtClean="0"/>
              <a:t>Boldface </a:t>
            </a:r>
            <a:r>
              <a:rPr lang="en-US" altLang="zh-CN" dirty="0"/>
              <a:t>type means </a:t>
            </a:r>
            <a:r>
              <a:rPr lang="en-US" altLang="zh-CN" dirty="0" smtClean="0"/>
              <a:t>larger time value than the left</a:t>
            </a:r>
          </a:p>
          <a:p>
            <a:pPr lvl="1"/>
            <a:r>
              <a:rPr lang="en-US" altLang="zh-CN" dirty="0" smtClean="0"/>
              <a:t>higher </a:t>
            </a:r>
            <a:r>
              <a:rPr lang="en-US" altLang="zh-CN" dirty="0"/>
              <a:t>associativity increases average memory access </a:t>
            </a:r>
            <a:r>
              <a:rPr lang="en-US" altLang="zh-CN" dirty="0" smtClean="0"/>
              <a:t>time</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1341414" y="2564904"/>
            <a:ext cx="9003058" cy="4175730"/>
          </a:xfrm>
          <a:prstGeom prst="rect">
            <a:avLst/>
          </a:prstGeom>
        </p:spPr>
      </p:pic>
    </p:spTree>
    <p:extLst>
      <p:ext uri="{BB962C8B-B14F-4D97-AF65-F5344CB8AC3E}">
        <p14:creationId xmlns:p14="http://schemas.microsoft.com/office/powerpoint/2010/main" val="7838802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smtClean="0"/>
              <a:t>Access </a:t>
            </a:r>
            <a:r>
              <a:rPr lang="en-US" altLang="zh-CN" dirty="0"/>
              <a:t>times generally increase as cache size and </a:t>
            </a:r>
            <a:r>
              <a:rPr lang="en-US" altLang="zh-CN" dirty="0" smtClean="0"/>
              <a:t>associativity increase</a:t>
            </a:r>
            <a:endParaRPr lang="en-AU" dirty="0"/>
          </a:p>
        </p:txBody>
      </p:sp>
      <p:sp>
        <p:nvSpPr>
          <p:cNvPr id="3" name="内容占位符 2"/>
          <p:cNvSpPr>
            <a:spLocks noGrp="1"/>
          </p:cNvSpPr>
          <p:nvPr>
            <p:ph idx="1"/>
          </p:nvPr>
        </p:nvSpPr>
        <p:spPr>
          <a:xfrm>
            <a:off x="407368" y="1556792"/>
            <a:ext cx="10515600" cy="936104"/>
          </a:xfrm>
        </p:spPr>
        <p:txBody>
          <a:bodyPr/>
          <a:lstStyle/>
          <a:p>
            <a:r>
              <a:rPr lang="en-US" altLang="zh-CN" dirty="0" smtClean="0"/>
              <a:t>The </a:t>
            </a:r>
            <a:r>
              <a:rPr lang="en-US" altLang="zh-CN" dirty="0"/>
              <a:t>data assume </a:t>
            </a:r>
            <a:r>
              <a:rPr lang="en-US" altLang="zh-CN" dirty="0" smtClean="0"/>
              <a:t/>
            </a:r>
            <a:br>
              <a:rPr lang="en-US" altLang="zh-CN" dirty="0" smtClean="0"/>
            </a:br>
            <a:r>
              <a:rPr lang="en-US" altLang="zh-CN" dirty="0" smtClean="0"/>
              <a:t>typical </a:t>
            </a:r>
            <a:r>
              <a:rPr lang="en-US" altLang="zh-CN" dirty="0"/>
              <a:t>embedded </a:t>
            </a:r>
            <a:r>
              <a:rPr lang="en-US" altLang="zh-CN" dirty="0" smtClean="0"/>
              <a:t/>
            </a:r>
            <a:br>
              <a:rPr lang="en-US" altLang="zh-CN" dirty="0" smtClean="0"/>
            </a:br>
            <a:r>
              <a:rPr lang="en-US" altLang="zh-CN" dirty="0" smtClean="0"/>
              <a:t>SRAM </a:t>
            </a:r>
            <a:r>
              <a:rPr lang="en-US" altLang="zh-CN" dirty="0"/>
              <a:t>technology, </a:t>
            </a:r>
            <a:r>
              <a:rPr lang="en-US" altLang="zh-CN" dirty="0" smtClean="0"/>
              <a:t/>
            </a:r>
            <a:br>
              <a:rPr lang="en-US" altLang="zh-CN" dirty="0" smtClean="0"/>
            </a:br>
            <a:r>
              <a:rPr lang="en-US" altLang="zh-CN" dirty="0" smtClean="0"/>
              <a:t>a </a:t>
            </a:r>
            <a:r>
              <a:rPr lang="en-US" altLang="zh-CN" dirty="0"/>
              <a:t>single bank, and </a:t>
            </a:r>
            <a:r>
              <a:rPr lang="en-US" altLang="zh-CN" dirty="0" smtClean="0"/>
              <a:t/>
            </a:r>
            <a:br>
              <a:rPr lang="en-US" altLang="zh-CN" dirty="0" smtClean="0"/>
            </a:br>
            <a:r>
              <a:rPr lang="en-US" altLang="zh-CN" dirty="0" smtClean="0"/>
              <a:t>64-byte </a:t>
            </a:r>
            <a:r>
              <a:rPr lang="en-US" altLang="zh-CN" dirty="0"/>
              <a:t>blocks. </a:t>
            </a:r>
            <a:endParaRPr lang="zh-CN" altLang="en-US" dirty="0"/>
          </a:p>
        </p:txBody>
      </p:sp>
      <p:pic>
        <p:nvPicPr>
          <p:cNvPr id="4" name="图片 3"/>
          <p:cNvPicPr>
            <a:picLocks noChangeAspect="1"/>
          </p:cNvPicPr>
          <p:nvPr/>
        </p:nvPicPr>
        <p:blipFill>
          <a:blip r:embed="rId3"/>
          <a:stretch>
            <a:fillRect/>
          </a:stretch>
        </p:blipFill>
        <p:spPr>
          <a:xfrm>
            <a:off x="4367808" y="1546066"/>
            <a:ext cx="7490048" cy="5311934"/>
          </a:xfrm>
          <a:prstGeom prst="rect">
            <a:avLst/>
          </a:prstGeom>
        </p:spPr>
      </p:pic>
    </p:spTree>
    <p:extLst>
      <p:ext uri="{BB962C8B-B14F-4D97-AF65-F5344CB8AC3E}">
        <p14:creationId xmlns:p14="http://schemas.microsoft.com/office/powerpoint/2010/main" val="412132948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838200" y="365125"/>
            <a:ext cx="10946432" cy="831627"/>
          </a:xfrm>
        </p:spPr>
        <p:txBody>
          <a:bodyPr/>
          <a:lstStyle/>
          <a:p>
            <a:r>
              <a:rPr lang="en-US" dirty="0"/>
              <a:t>Energy consumption per read increases as cache size and associativity </a:t>
            </a:r>
            <a:r>
              <a:rPr lang="en-US" dirty="0" smtClean="0"/>
              <a:t>increased</a:t>
            </a:r>
            <a:endParaRPr lang="en-AU" dirty="0"/>
          </a:p>
        </p:txBody>
      </p:sp>
      <p:sp>
        <p:nvSpPr>
          <p:cNvPr id="3" name="内容占位符 2"/>
          <p:cNvSpPr>
            <a:spLocks noGrp="1"/>
          </p:cNvSpPr>
          <p:nvPr>
            <p:ph idx="1"/>
          </p:nvPr>
        </p:nvSpPr>
        <p:spPr>
          <a:xfrm>
            <a:off x="479376" y="1601768"/>
            <a:ext cx="3960440" cy="5112568"/>
          </a:xfrm>
        </p:spPr>
        <p:txBody>
          <a:bodyPr/>
          <a:lstStyle/>
          <a:p>
            <a:r>
              <a:rPr lang="en-US" altLang="zh-CN" dirty="0" smtClean="0"/>
              <a:t>The </a:t>
            </a:r>
            <a:r>
              <a:rPr lang="en-US" altLang="zh-CN" dirty="0"/>
              <a:t>large penalty for eight-way set associative caches is due to the cost of reading out eight tags and the corresponding data in parallel.</a:t>
            </a:r>
          </a:p>
          <a:p>
            <a:endParaRPr lang="zh-CN" altLang="en-US" dirty="0"/>
          </a:p>
        </p:txBody>
      </p:sp>
      <p:pic>
        <p:nvPicPr>
          <p:cNvPr id="4" name="图片 3"/>
          <p:cNvPicPr>
            <a:picLocks noChangeAspect="1"/>
          </p:cNvPicPr>
          <p:nvPr/>
        </p:nvPicPr>
        <p:blipFill>
          <a:blip r:embed="rId3"/>
          <a:stretch>
            <a:fillRect/>
          </a:stretch>
        </p:blipFill>
        <p:spPr>
          <a:xfrm>
            <a:off x="4583832" y="1601768"/>
            <a:ext cx="7416824" cy="5241966"/>
          </a:xfrm>
          <a:prstGeom prst="rect">
            <a:avLst/>
          </a:prstGeom>
        </p:spPr>
      </p:pic>
    </p:spTree>
    <p:extLst>
      <p:ext uri="{BB962C8B-B14F-4D97-AF65-F5344CB8AC3E}">
        <p14:creationId xmlns:p14="http://schemas.microsoft.com/office/powerpoint/2010/main" val="103088988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22" name="Rectangle 1026"/>
          <p:cNvSpPr>
            <a:spLocks noGrp="1" noChangeArrowheads="1"/>
          </p:cNvSpPr>
          <p:nvPr>
            <p:ph type="title"/>
          </p:nvPr>
        </p:nvSpPr>
        <p:spPr>
          <a:xfrm>
            <a:off x="407368" y="76200"/>
            <a:ext cx="1130525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dirty="0"/>
              <a:t>3. </a:t>
            </a:r>
            <a:r>
              <a:rPr lang="en-US" altLang="zh-CN" dirty="0"/>
              <a:t>Reducing Misses via </a:t>
            </a:r>
            <a:r>
              <a:rPr lang="en-US" altLang="zh-CN" dirty="0" smtClean="0"/>
              <a:t>a “Victim </a:t>
            </a:r>
            <a:r>
              <a:rPr lang="en-US" altLang="zh-CN" dirty="0"/>
              <a:t>Cache”</a:t>
            </a:r>
          </a:p>
        </p:txBody>
      </p:sp>
      <p:sp>
        <p:nvSpPr>
          <p:cNvPr id="645123" name="Rectangle 1027"/>
          <p:cNvSpPr>
            <a:spLocks noGrp="1" noChangeArrowheads="1"/>
          </p:cNvSpPr>
          <p:nvPr>
            <p:ph type="body" idx="1"/>
          </p:nvPr>
        </p:nvSpPr>
        <p:spPr>
          <a:xfrm>
            <a:off x="530425" y="1617663"/>
            <a:ext cx="5936103" cy="430053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tabLst>
                <a:tab pos="1828800" algn="r"/>
                <a:tab pos="3200400" algn="r"/>
                <a:tab pos="4572000" algn="r"/>
                <a:tab pos="5943600" algn="r"/>
              </a:tabLst>
            </a:pPr>
            <a:r>
              <a:rPr lang="en-US" altLang="zh-CN" dirty="0">
                <a:solidFill>
                  <a:srgbClr val="FF0000"/>
                </a:solidFill>
              </a:rPr>
              <a:t>How to combine fast hit time of direct mapped </a:t>
            </a:r>
            <a:r>
              <a:rPr lang="en-US" altLang="zh-CN" dirty="0" smtClean="0">
                <a:solidFill>
                  <a:srgbClr val="FF0000"/>
                </a:solidFill>
              </a:rPr>
              <a:t>yet </a:t>
            </a:r>
            <a:r>
              <a:rPr lang="en-US" altLang="zh-CN" dirty="0">
                <a:solidFill>
                  <a:srgbClr val="FF0000"/>
                </a:solidFill>
              </a:rPr>
              <a:t>still avoid conflict misses? </a:t>
            </a:r>
          </a:p>
          <a:p>
            <a:pPr>
              <a:tabLst>
                <a:tab pos="1828800" algn="r"/>
                <a:tab pos="3200400" algn="r"/>
                <a:tab pos="4572000" algn="r"/>
                <a:tab pos="5943600" algn="r"/>
              </a:tabLst>
            </a:pPr>
            <a:r>
              <a:rPr lang="en-US" altLang="zh-CN" dirty="0"/>
              <a:t>Add buffer to place data discarded from cache</a:t>
            </a:r>
          </a:p>
          <a:p>
            <a:pPr>
              <a:tabLst>
                <a:tab pos="1828800" algn="r"/>
                <a:tab pos="3200400" algn="r"/>
                <a:tab pos="4572000" algn="r"/>
                <a:tab pos="5943600" algn="r"/>
              </a:tabLst>
            </a:pPr>
            <a:r>
              <a:rPr lang="en-US" altLang="zh-CN" dirty="0" err="1"/>
              <a:t>Jouppi</a:t>
            </a:r>
            <a:r>
              <a:rPr lang="en-US" altLang="zh-CN" dirty="0"/>
              <a:t> [1990]: 4-entry victim cache removed 20% to 95% of conflicts for a 4 KB direct mapped data cache</a:t>
            </a:r>
          </a:p>
          <a:p>
            <a:pPr>
              <a:tabLst>
                <a:tab pos="1828800" algn="r"/>
                <a:tab pos="3200400" algn="r"/>
                <a:tab pos="4572000" algn="r"/>
                <a:tab pos="5943600" algn="r"/>
              </a:tabLst>
            </a:pPr>
            <a:r>
              <a:rPr lang="en-US" altLang="zh-CN" dirty="0"/>
              <a:t>Used in Alpha, HP machines</a:t>
            </a:r>
          </a:p>
        </p:txBody>
      </p:sp>
      <p:sp>
        <p:nvSpPr>
          <p:cNvPr id="645124" name="Rectangle 1028"/>
          <p:cNvSpPr>
            <a:spLocks noChangeArrowheads="1"/>
          </p:cNvSpPr>
          <p:nvPr/>
        </p:nvSpPr>
        <p:spPr bwMode="auto">
          <a:xfrm>
            <a:off x="9030071" y="5672139"/>
            <a:ext cx="1435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rPr>
              <a:t>To Next Lower Level In</a:t>
            </a:r>
            <a:endParaRPr lang="en-US" altLang="zh-CN"/>
          </a:p>
        </p:txBody>
      </p:sp>
      <p:sp>
        <p:nvSpPr>
          <p:cNvPr id="645125" name="Rectangle 1029"/>
          <p:cNvSpPr>
            <a:spLocks noChangeArrowheads="1"/>
          </p:cNvSpPr>
          <p:nvPr/>
        </p:nvSpPr>
        <p:spPr bwMode="auto">
          <a:xfrm>
            <a:off x="9450758" y="5834064"/>
            <a:ext cx="598488"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rPr>
              <a:t>Hierarchy</a:t>
            </a:r>
            <a:endParaRPr lang="en-US" altLang="zh-CN"/>
          </a:p>
        </p:txBody>
      </p:sp>
      <p:sp>
        <p:nvSpPr>
          <p:cNvPr id="645126" name="Rectangle 1030"/>
          <p:cNvSpPr>
            <a:spLocks noChangeArrowheads="1"/>
          </p:cNvSpPr>
          <p:nvPr/>
        </p:nvSpPr>
        <p:spPr bwMode="auto">
          <a:xfrm>
            <a:off x="8429997" y="1617663"/>
            <a:ext cx="2922587" cy="1517650"/>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27" name="Rectangle 1031"/>
          <p:cNvSpPr>
            <a:spLocks noChangeArrowheads="1"/>
          </p:cNvSpPr>
          <p:nvPr/>
        </p:nvSpPr>
        <p:spPr bwMode="auto">
          <a:xfrm>
            <a:off x="9245971" y="2216151"/>
            <a:ext cx="67813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100">
                <a:solidFill>
                  <a:srgbClr val="000000"/>
                </a:solidFill>
              </a:rPr>
              <a:t>DATA</a:t>
            </a:r>
            <a:endParaRPr lang="en-US" altLang="zh-CN"/>
          </a:p>
        </p:txBody>
      </p:sp>
      <p:sp>
        <p:nvSpPr>
          <p:cNvPr id="645128" name="Rectangle 1032"/>
          <p:cNvSpPr>
            <a:spLocks noChangeArrowheads="1"/>
          </p:cNvSpPr>
          <p:nvPr/>
        </p:nvSpPr>
        <p:spPr bwMode="auto">
          <a:xfrm>
            <a:off x="7823572" y="1617663"/>
            <a:ext cx="606425" cy="1517650"/>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29" name="Rectangle 1033"/>
          <p:cNvSpPr>
            <a:spLocks noChangeArrowheads="1"/>
          </p:cNvSpPr>
          <p:nvPr/>
        </p:nvSpPr>
        <p:spPr bwMode="auto">
          <a:xfrm>
            <a:off x="7895008" y="2255839"/>
            <a:ext cx="5524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TAGS</a:t>
            </a:r>
            <a:endParaRPr lang="en-US" altLang="zh-CN"/>
          </a:p>
        </p:txBody>
      </p:sp>
      <p:sp>
        <p:nvSpPr>
          <p:cNvPr id="645130" name="Line 1034"/>
          <p:cNvSpPr>
            <a:spLocks noChangeShapeType="1"/>
          </p:cNvSpPr>
          <p:nvPr/>
        </p:nvSpPr>
        <p:spPr bwMode="auto">
          <a:xfrm>
            <a:off x="7317158" y="1617664"/>
            <a:ext cx="1588" cy="2046287"/>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131" name="Rectangle 1035"/>
          <p:cNvSpPr>
            <a:spLocks noChangeArrowheads="1"/>
          </p:cNvSpPr>
          <p:nvPr/>
        </p:nvSpPr>
        <p:spPr bwMode="auto">
          <a:xfrm>
            <a:off x="8272833" y="3856038"/>
            <a:ext cx="2224088" cy="404812"/>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32" name="Rectangle 1036"/>
          <p:cNvSpPr>
            <a:spLocks noChangeArrowheads="1"/>
          </p:cNvSpPr>
          <p:nvPr/>
        </p:nvSpPr>
        <p:spPr bwMode="auto">
          <a:xfrm>
            <a:off x="8380784" y="3935414"/>
            <a:ext cx="2111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dirty="0">
                <a:solidFill>
                  <a:srgbClr val="000000"/>
                </a:solidFill>
              </a:rPr>
              <a:t>One Cache line of Data</a:t>
            </a:r>
            <a:endParaRPr lang="en-US" altLang="zh-CN" dirty="0"/>
          </a:p>
        </p:txBody>
      </p:sp>
      <p:sp>
        <p:nvSpPr>
          <p:cNvPr id="645133" name="Rectangle 1037"/>
          <p:cNvSpPr>
            <a:spLocks noChangeArrowheads="1"/>
          </p:cNvSpPr>
          <p:nvPr/>
        </p:nvSpPr>
        <p:spPr bwMode="auto">
          <a:xfrm>
            <a:off x="6856783" y="3856038"/>
            <a:ext cx="1416050" cy="404812"/>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34" name="Rectangle 1038"/>
          <p:cNvSpPr>
            <a:spLocks noChangeArrowheads="1"/>
          </p:cNvSpPr>
          <p:nvPr/>
        </p:nvSpPr>
        <p:spPr bwMode="auto">
          <a:xfrm>
            <a:off x="6947271" y="3976689"/>
            <a:ext cx="13000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rPr>
              <a:t>Tag and Comparator</a:t>
            </a:r>
            <a:endParaRPr lang="en-US" altLang="zh-CN"/>
          </a:p>
        </p:txBody>
      </p:sp>
      <p:sp>
        <p:nvSpPr>
          <p:cNvPr id="645135" name="Rectangle 1039"/>
          <p:cNvSpPr>
            <a:spLocks noChangeArrowheads="1"/>
          </p:cNvSpPr>
          <p:nvPr/>
        </p:nvSpPr>
        <p:spPr bwMode="auto">
          <a:xfrm>
            <a:off x="8272833" y="4260851"/>
            <a:ext cx="2224088" cy="404813"/>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36" name="Rectangle 1040"/>
          <p:cNvSpPr>
            <a:spLocks noChangeArrowheads="1"/>
          </p:cNvSpPr>
          <p:nvPr/>
        </p:nvSpPr>
        <p:spPr bwMode="auto">
          <a:xfrm>
            <a:off x="8380784" y="4341814"/>
            <a:ext cx="2111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One Cache line of Data</a:t>
            </a:r>
            <a:endParaRPr lang="en-US" altLang="zh-CN"/>
          </a:p>
        </p:txBody>
      </p:sp>
      <p:sp>
        <p:nvSpPr>
          <p:cNvPr id="645137" name="Rectangle 1041"/>
          <p:cNvSpPr>
            <a:spLocks noChangeArrowheads="1"/>
          </p:cNvSpPr>
          <p:nvPr/>
        </p:nvSpPr>
        <p:spPr bwMode="auto">
          <a:xfrm>
            <a:off x="6856783" y="4260851"/>
            <a:ext cx="1416050" cy="404813"/>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38" name="Rectangle 1042"/>
          <p:cNvSpPr>
            <a:spLocks noChangeArrowheads="1"/>
          </p:cNvSpPr>
          <p:nvPr/>
        </p:nvSpPr>
        <p:spPr bwMode="auto">
          <a:xfrm>
            <a:off x="6947271" y="4381501"/>
            <a:ext cx="13000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rPr>
              <a:t>Tag and Comparator</a:t>
            </a:r>
            <a:endParaRPr lang="en-US" altLang="zh-CN"/>
          </a:p>
        </p:txBody>
      </p:sp>
      <p:sp>
        <p:nvSpPr>
          <p:cNvPr id="645139" name="Rectangle 1043"/>
          <p:cNvSpPr>
            <a:spLocks noChangeArrowheads="1"/>
          </p:cNvSpPr>
          <p:nvPr/>
        </p:nvSpPr>
        <p:spPr bwMode="auto">
          <a:xfrm>
            <a:off x="8272833" y="4665663"/>
            <a:ext cx="2224088" cy="404812"/>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40" name="Rectangle 1044"/>
          <p:cNvSpPr>
            <a:spLocks noChangeArrowheads="1"/>
          </p:cNvSpPr>
          <p:nvPr/>
        </p:nvSpPr>
        <p:spPr bwMode="auto">
          <a:xfrm>
            <a:off x="8380784" y="4746626"/>
            <a:ext cx="2111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One Cache line of Data</a:t>
            </a:r>
            <a:endParaRPr lang="en-US" altLang="zh-CN"/>
          </a:p>
        </p:txBody>
      </p:sp>
      <p:sp>
        <p:nvSpPr>
          <p:cNvPr id="645141" name="Rectangle 1045"/>
          <p:cNvSpPr>
            <a:spLocks noChangeArrowheads="1"/>
          </p:cNvSpPr>
          <p:nvPr/>
        </p:nvSpPr>
        <p:spPr bwMode="auto">
          <a:xfrm>
            <a:off x="6856783" y="4665663"/>
            <a:ext cx="1416050" cy="404812"/>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42" name="Rectangle 1046"/>
          <p:cNvSpPr>
            <a:spLocks noChangeArrowheads="1"/>
          </p:cNvSpPr>
          <p:nvPr/>
        </p:nvSpPr>
        <p:spPr bwMode="auto">
          <a:xfrm>
            <a:off x="6947271" y="4786314"/>
            <a:ext cx="13000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rPr>
              <a:t>Tag and Comparator</a:t>
            </a:r>
            <a:endParaRPr lang="en-US" altLang="zh-CN"/>
          </a:p>
        </p:txBody>
      </p:sp>
      <p:sp>
        <p:nvSpPr>
          <p:cNvPr id="645143" name="Rectangle 1047"/>
          <p:cNvSpPr>
            <a:spLocks noChangeArrowheads="1"/>
          </p:cNvSpPr>
          <p:nvPr/>
        </p:nvSpPr>
        <p:spPr bwMode="auto">
          <a:xfrm>
            <a:off x="8272833" y="5070476"/>
            <a:ext cx="2224088" cy="404813"/>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44" name="Rectangle 1048"/>
          <p:cNvSpPr>
            <a:spLocks noChangeArrowheads="1"/>
          </p:cNvSpPr>
          <p:nvPr/>
        </p:nvSpPr>
        <p:spPr bwMode="auto">
          <a:xfrm>
            <a:off x="8380784" y="5151439"/>
            <a:ext cx="2111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600">
                <a:solidFill>
                  <a:srgbClr val="000000"/>
                </a:solidFill>
              </a:rPr>
              <a:t>One Cache line of Data</a:t>
            </a:r>
            <a:endParaRPr lang="en-US" altLang="zh-CN"/>
          </a:p>
        </p:txBody>
      </p:sp>
      <p:sp>
        <p:nvSpPr>
          <p:cNvPr id="645145" name="Rectangle 1049"/>
          <p:cNvSpPr>
            <a:spLocks noChangeArrowheads="1"/>
          </p:cNvSpPr>
          <p:nvPr/>
        </p:nvSpPr>
        <p:spPr bwMode="auto">
          <a:xfrm>
            <a:off x="6856783" y="5070476"/>
            <a:ext cx="1416050" cy="404813"/>
          </a:xfrm>
          <a:prstGeom prst="rect">
            <a:avLst/>
          </a:prstGeom>
          <a:solidFill>
            <a:srgbClr val="FFFFFF"/>
          </a:solidFill>
          <a:ln w="3175">
            <a:solidFill>
              <a:srgbClr val="000000"/>
            </a:solidFill>
            <a:miter lim="800000"/>
            <a:headEnd/>
            <a:tailEnd/>
          </a:ln>
        </p:spPr>
        <p:txBody>
          <a:bodyPr/>
          <a:lstStyle/>
          <a:p>
            <a:endParaRPr lang="zh-CN" altLang="en-US"/>
          </a:p>
        </p:txBody>
      </p:sp>
      <p:sp>
        <p:nvSpPr>
          <p:cNvPr id="645146" name="Rectangle 1050"/>
          <p:cNvSpPr>
            <a:spLocks noChangeArrowheads="1"/>
          </p:cNvSpPr>
          <p:nvPr/>
        </p:nvSpPr>
        <p:spPr bwMode="auto">
          <a:xfrm>
            <a:off x="6947271" y="5191126"/>
            <a:ext cx="1300036"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100">
                <a:solidFill>
                  <a:srgbClr val="000000"/>
                </a:solidFill>
              </a:rPr>
              <a:t>Tag and Comparator</a:t>
            </a:r>
            <a:endParaRPr lang="en-US" altLang="zh-CN"/>
          </a:p>
        </p:txBody>
      </p:sp>
      <p:sp>
        <p:nvSpPr>
          <p:cNvPr id="645147" name="Freeform 1051"/>
          <p:cNvSpPr>
            <a:spLocks/>
          </p:cNvSpPr>
          <p:nvPr/>
        </p:nvSpPr>
        <p:spPr bwMode="auto">
          <a:xfrm>
            <a:off x="7237784" y="3657600"/>
            <a:ext cx="131763" cy="198438"/>
          </a:xfrm>
          <a:custGeom>
            <a:avLst/>
            <a:gdLst>
              <a:gd name="T0" fmla="*/ 83 w 83"/>
              <a:gd name="T1" fmla="*/ 0 h 125"/>
              <a:gd name="T2" fmla="*/ 41 w 83"/>
              <a:gd name="T3" fmla="*/ 125 h 125"/>
              <a:gd name="T4" fmla="*/ 0 w 83"/>
              <a:gd name="T5" fmla="*/ 0 h 125"/>
              <a:gd name="T6" fmla="*/ 83 w 83"/>
              <a:gd name="T7" fmla="*/ 0 h 125"/>
            </a:gdLst>
            <a:ahLst/>
            <a:cxnLst>
              <a:cxn ang="0">
                <a:pos x="T0" y="T1"/>
              </a:cxn>
              <a:cxn ang="0">
                <a:pos x="T2" y="T3"/>
              </a:cxn>
              <a:cxn ang="0">
                <a:pos x="T4" y="T5"/>
              </a:cxn>
              <a:cxn ang="0">
                <a:pos x="T6" y="T7"/>
              </a:cxn>
            </a:cxnLst>
            <a:rect l="0" t="0" r="r" b="b"/>
            <a:pathLst>
              <a:path w="83" h="125">
                <a:moveTo>
                  <a:pt x="83" y="0"/>
                </a:moveTo>
                <a:lnTo>
                  <a:pt x="41" y="125"/>
                </a:lnTo>
                <a:lnTo>
                  <a:pt x="0" y="0"/>
                </a:lnTo>
                <a:lnTo>
                  <a:pt x="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148" name="Line 1052"/>
          <p:cNvSpPr>
            <a:spLocks noChangeShapeType="1"/>
          </p:cNvSpPr>
          <p:nvPr/>
        </p:nvSpPr>
        <p:spPr bwMode="auto">
          <a:xfrm>
            <a:off x="7317158" y="2427289"/>
            <a:ext cx="323850" cy="1587"/>
          </a:xfrm>
          <a:prstGeom prst="line">
            <a:avLst/>
          </a:prstGeom>
          <a:noFill/>
          <a:ln w="460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149" name="Freeform 1053"/>
          <p:cNvSpPr>
            <a:spLocks/>
          </p:cNvSpPr>
          <p:nvPr/>
        </p:nvSpPr>
        <p:spPr bwMode="auto">
          <a:xfrm>
            <a:off x="7625133" y="2360613"/>
            <a:ext cx="198438" cy="133350"/>
          </a:xfrm>
          <a:custGeom>
            <a:avLst/>
            <a:gdLst>
              <a:gd name="T0" fmla="*/ 0 w 125"/>
              <a:gd name="T1" fmla="*/ 0 h 84"/>
              <a:gd name="T2" fmla="*/ 125 w 125"/>
              <a:gd name="T3" fmla="*/ 42 h 84"/>
              <a:gd name="T4" fmla="*/ 0 w 125"/>
              <a:gd name="T5" fmla="*/ 84 h 84"/>
              <a:gd name="T6" fmla="*/ 0 w 125"/>
              <a:gd name="T7" fmla="*/ 0 h 84"/>
            </a:gdLst>
            <a:ahLst/>
            <a:cxnLst>
              <a:cxn ang="0">
                <a:pos x="T0" y="T1"/>
              </a:cxn>
              <a:cxn ang="0">
                <a:pos x="T2" y="T3"/>
              </a:cxn>
              <a:cxn ang="0">
                <a:pos x="T4" y="T5"/>
              </a:cxn>
              <a:cxn ang="0">
                <a:pos x="T6" y="T7"/>
              </a:cxn>
            </a:cxnLst>
            <a:rect l="0" t="0" r="r" b="b"/>
            <a:pathLst>
              <a:path w="125" h="84">
                <a:moveTo>
                  <a:pt x="0" y="0"/>
                </a:moveTo>
                <a:lnTo>
                  <a:pt x="125" y="42"/>
                </a:lnTo>
                <a:lnTo>
                  <a:pt x="0" y="8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5150" name="AutoShape 1054"/>
          <p:cNvSpPr>
            <a:spLocks noChangeArrowheads="1"/>
          </p:cNvSpPr>
          <p:nvPr/>
        </p:nvSpPr>
        <p:spPr bwMode="auto">
          <a:xfrm>
            <a:off x="8609383" y="3241357"/>
            <a:ext cx="366960" cy="451485"/>
          </a:xfrm>
          <a:prstGeom prst="downArrow">
            <a:avLst>
              <a:gd name="adj1" fmla="val 50000"/>
              <a:gd name="adj2" fmla="val 45000"/>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5151" name="AutoShape 1055"/>
          <p:cNvSpPr>
            <a:spLocks noChangeArrowheads="1"/>
          </p:cNvSpPr>
          <p:nvPr/>
        </p:nvSpPr>
        <p:spPr bwMode="auto">
          <a:xfrm>
            <a:off x="8609383" y="5603557"/>
            <a:ext cx="366960" cy="451485"/>
          </a:xfrm>
          <a:prstGeom prst="downArrow">
            <a:avLst>
              <a:gd name="adj1" fmla="val 50000"/>
              <a:gd name="adj2" fmla="val 45000"/>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5152" name="AutoShape 1056"/>
          <p:cNvSpPr>
            <a:spLocks noChangeArrowheads="1"/>
          </p:cNvSpPr>
          <p:nvPr/>
        </p:nvSpPr>
        <p:spPr bwMode="auto">
          <a:xfrm>
            <a:off x="10590583" y="4247435"/>
            <a:ext cx="366960" cy="572929"/>
          </a:xfrm>
          <a:prstGeom prst="upArrow">
            <a:avLst>
              <a:gd name="adj1" fmla="val 50000"/>
              <a:gd name="adj2" fmla="val 113013"/>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18928540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23">
                                            <p:txEl>
                                              <p:pRg st="0" end="0"/>
                                            </p:txEl>
                                          </p:spTgt>
                                        </p:tgtEl>
                                        <p:attrNameLst>
                                          <p:attrName>style.visibility</p:attrName>
                                        </p:attrNameLst>
                                      </p:cBhvr>
                                      <p:to>
                                        <p:strVal val="visible"/>
                                      </p:to>
                                    </p:set>
                                    <p:anim calcmode="lin" valueType="num">
                                      <p:cBhvr additive="base">
                                        <p:cTn id="7" dur="500" fill="hold"/>
                                        <p:tgtEl>
                                          <p:spTgt spid="6451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51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45123">
                                            <p:txEl>
                                              <p:pRg st="1" end="1"/>
                                            </p:txEl>
                                          </p:spTgt>
                                        </p:tgtEl>
                                        <p:attrNameLst>
                                          <p:attrName>style.visibility</p:attrName>
                                        </p:attrNameLst>
                                      </p:cBhvr>
                                      <p:to>
                                        <p:strVal val="visible"/>
                                      </p:to>
                                    </p:set>
                                    <p:anim calcmode="lin" valueType="num">
                                      <p:cBhvr additive="base">
                                        <p:cTn id="13" dur="500" fill="hold"/>
                                        <p:tgtEl>
                                          <p:spTgt spid="6451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451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45123">
                                            <p:txEl>
                                              <p:pRg st="2" end="2"/>
                                            </p:txEl>
                                          </p:spTgt>
                                        </p:tgtEl>
                                        <p:attrNameLst>
                                          <p:attrName>style.visibility</p:attrName>
                                        </p:attrNameLst>
                                      </p:cBhvr>
                                      <p:to>
                                        <p:strVal val="visible"/>
                                      </p:to>
                                    </p:set>
                                    <p:anim calcmode="lin" valueType="num">
                                      <p:cBhvr additive="base">
                                        <p:cTn id="19" dur="500" fill="hold"/>
                                        <p:tgtEl>
                                          <p:spTgt spid="6451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451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45123">
                                            <p:txEl>
                                              <p:pRg st="3" end="3"/>
                                            </p:txEl>
                                          </p:spTgt>
                                        </p:tgtEl>
                                        <p:attrNameLst>
                                          <p:attrName>style.visibility</p:attrName>
                                        </p:attrNameLst>
                                      </p:cBhvr>
                                      <p:to>
                                        <p:strVal val="visible"/>
                                      </p:to>
                                    </p:set>
                                    <p:anim calcmode="lin" valueType="num">
                                      <p:cBhvr additive="base">
                                        <p:cTn id="25" dur="500" fill="hold"/>
                                        <p:tgtEl>
                                          <p:spTgt spid="6451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4512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3"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title"/>
          </p:nvPr>
        </p:nvSpPr>
        <p:spPr>
          <a:xfrm>
            <a:off x="335360" y="142876"/>
            <a:ext cx="1087320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dirty="0"/>
              <a:t>4. </a:t>
            </a:r>
            <a:r>
              <a:rPr lang="en-US" altLang="zh-CN" dirty="0"/>
              <a:t>Reducing Misses </a:t>
            </a:r>
            <a:r>
              <a:rPr lang="en-US" altLang="zh-CN" dirty="0" smtClean="0"/>
              <a:t>via</a:t>
            </a:r>
            <a:br>
              <a:rPr lang="en-US" altLang="zh-CN" dirty="0" smtClean="0"/>
            </a:br>
            <a:r>
              <a:rPr lang="en-US" altLang="zh-CN" dirty="0" smtClean="0"/>
              <a:t>			“Pseudo-Associativity</a:t>
            </a:r>
            <a:r>
              <a:rPr lang="en-US" altLang="zh-CN" dirty="0"/>
              <a:t>”</a:t>
            </a:r>
          </a:p>
        </p:txBody>
      </p:sp>
      <p:sp>
        <p:nvSpPr>
          <p:cNvPr id="646147" name="Rectangle 3"/>
          <p:cNvSpPr>
            <a:spLocks noGrp="1" noChangeArrowheads="1"/>
          </p:cNvSpPr>
          <p:nvPr>
            <p:ph type="body" idx="1"/>
          </p:nvPr>
        </p:nvSpPr>
        <p:spPr>
          <a:xfrm>
            <a:off x="623392" y="1524000"/>
            <a:ext cx="10044608"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tabLst>
                <a:tab pos="1828800" algn="r"/>
                <a:tab pos="3200400" algn="r"/>
                <a:tab pos="4572000" algn="r"/>
                <a:tab pos="5943600" algn="r"/>
              </a:tabLst>
            </a:pPr>
            <a:r>
              <a:rPr lang="en-US" altLang="zh-CN" dirty="0">
                <a:solidFill>
                  <a:srgbClr val="FF0000"/>
                </a:solidFill>
              </a:rPr>
              <a:t>How to combine fast hit time of Direct Mapped and have the lower conflict misses of 2-way SA cache? </a:t>
            </a:r>
          </a:p>
          <a:p>
            <a:pPr>
              <a:spcBef>
                <a:spcPct val="0"/>
              </a:spcBef>
              <a:tabLst>
                <a:tab pos="1828800" algn="r"/>
                <a:tab pos="3200400" algn="r"/>
                <a:tab pos="4572000" algn="r"/>
                <a:tab pos="5943600" algn="r"/>
              </a:tabLst>
            </a:pPr>
            <a:r>
              <a:rPr lang="en-US" altLang="zh-CN" dirty="0"/>
              <a:t>Divide cache: on a miss, check other half of cache to see if there, if so have a </a:t>
            </a:r>
            <a:r>
              <a:rPr lang="en-US" altLang="zh-CN" u="sng" dirty="0">
                <a:solidFill>
                  <a:schemeClr val="hlink"/>
                </a:solidFill>
              </a:rPr>
              <a:t>pseudo-hit</a:t>
            </a:r>
            <a:r>
              <a:rPr lang="en-US" altLang="zh-CN" dirty="0">
                <a:solidFill>
                  <a:schemeClr val="hlink"/>
                </a:solidFill>
              </a:rPr>
              <a:t> </a:t>
            </a:r>
            <a:r>
              <a:rPr lang="en-US" altLang="zh-CN" dirty="0"/>
              <a:t> (slow hit)</a:t>
            </a:r>
            <a:endParaRPr lang="en-US" altLang="zh-CN" sz="2000" dirty="0"/>
          </a:p>
          <a:p>
            <a:pPr>
              <a:spcBef>
                <a:spcPct val="0"/>
              </a:spcBef>
              <a:buNone/>
              <a:tabLst>
                <a:tab pos="1828800" algn="r"/>
                <a:tab pos="3200400" algn="r"/>
                <a:tab pos="4572000" algn="r"/>
                <a:tab pos="5943600" algn="r"/>
              </a:tabLst>
            </a:pPr>
            <a:endParaRPr lang="en-US" altLang="zh-CN" sz="2000" dirty="0"/>
          </a:p>
          <a:p>
            <a:pPr>
              <a:spcBef>
                <a:spcPct val="0"/>
              </a:spcBef>
              <a:buNone/>
              <a:tabLst>
                <a:tab pos="1828800" algn="r"/>
                <a:tab pos="3200400" algn="r"/>
                <a:tab pos="4572000" algn="r"/>
                <a:tab pos="5943600" algn="r"/>
              </a:tabLst>
            </a:pPr>
            <a:endParaRPr lang="en-US" altLang="zh-CN" sz="2000" dirty="0"/>
          </a:p>
          <a:p>
            <a:pPr>
              <a:spcBef>
                <a:spcPct val="0"/>
              </a:spcBef>
              <a:buNone/>
              <a:tabLst>
                <a:tab pos="1828800" algn="r"/>
                <a:tab pos="3200400" algn="r"/>
                <a:tab pos="4572000" algn="r"/>
                <a:tab pos="5943600" algn="r"/>
              </a:tabLst>
            </a:pPr>
            <a:endParaRPr lang="en-US" altLang="zh-CN" sz="2000" dirty="0"/>
          </a:p>
          <a:p>
            <a:pPr>
              <a:spcBef>
                <a:spcPct val="0"/>
              </a:spcBef>
              <a:buNone/>
              <a:tabLst>
                <a:tab pos="1828800" algn="r"/>
                <a:tab pos="3200400" algn="r"/>
                <a:tab pos="4572000" algn="r"/>
                <a:tab pos="5943600" algn="r"/>
              </a:tabLst>
            </a:pPr>
            <a:endParaRPr lang="en-US" altLang="zh-CN" sz="2000" dirty="0"/>
          </a:p>
          <a:p>
            <a:pPr>
              <a:spcBef>
                <a:spcPct val="0"/>
              </a:spcBef>
              <a:buNone/>
              <a:tabLst>
                <a:tab pos="1828800" algn="r"/>
                <a:tab pos="3200400" algn="r"/>
                <a:tab pos="4572000" algn="r"/>
                <a:tab pos="5943600" algn="r"/>
              </a:tabLst>
            </a:pPr>
            <a:endParaRPr lang="en-US" altLang="zh-CN" sz="2000" dirty="0"/>
          </a:p>
          <a:p>
            <a:pPr>
              <a:spcBef>
                <a:spcPct val="0"/>
              </a:spcBef>
              <a:buNone/>
              <a:tabLst>
                <a:tab pos="1828800" algn="r"/>
                <a:tab pos="3200400" algn="r"/>
                <a:tab pos="4572000" algn="r"/>
                <a:tab pos="5943600" algn="r"/>
              </a:tabLst>
            </a:pPr>
            <a:endParaRPr lang="en-US" altLang="zh-CN" sz="2000" dirty="0"/>
          </a:p>
          <a:p>
            <a:pPr>
              <a:spcBef>
                <a:spcPct val="0"/>
              </a:spcBef>
              <a:tabLst>
                <a:tab pos="1828800" algn="r"/>
                <a:tab pos="3200400" algn="r"/>
                <a:tab pos="4572000" algn="r"/>
                <a:tab pos="5943600" algn="r"/>
              </a:tabLst>
            </a:pPr>
            <a:endParaRPr lang="en-US" altLang="zh-CN" dirty="0" smtClean="0"/>
          </a:p>
          <a:p>
            <a:pPr>
              <a:spcBef>
                <a:spcPct val="0"/>
              </a:spcBef>
              <a:tabLst>
                <a:tab pos="1828800" algn="r"/>
                <a:tab pos="3200400" algn="r"/>
                <a:tab pos="4572000" algn="r"/>
                <a:tab pos="5943600" algn="r"/>
              </a:tabLst>
            </a:pPr>
            <a:r>
              <a:rPr lang="en-US" altLang="zh-CN" dirty="0" smtClean="0"/>
              <a:t>Drawback</a:t>
            </a:r>
            <a:r>
              <a:rPr lang="en-US" altLang="zh-CN" dirty="0"/>
              <a:t>: CPU pipeline is hard if hit takes 1 or 2 cycles</a:t>
            </a:r>
          </a:p>
          <a:p>
            <a:pPr lvl="1">
              <a:spcBef>
                <a:spcPct val="0"/>
              </a:spcBef>
              <a:tabLst>
                <a:tab pos="1828800" algn="r"/>
                <a:tab pos="3200400" algn="r"/>
                <a:tab pos="4572000" algn="r"/>
                <a:tab pos="5943600" algn="r"/>
              </a:tabLst>
            </a:pPr>
            <a:r>
              <a:rPr lang="en-US" altLang="zh-CN" dirty="0"/>
              <a:t>Better for caches not tied directly to  processor (L2)</a:t>
            </a:r>
          </a:p>
          <a:p>
            <a:pPr lvl="1">
              <a:spcBef>
                <a:spcPct val="0"/>
              </a:spcBef>
              <a:tabLst>
                <a:tab pos="1828800" algn="r"/>
                <a:tab pos="3200400" algn="r"/>
                <a:tab pos="4572000" algn="r"/>
                <a:tab pos="5943600" algn="r"/>
              </a:tabLst>
            </a:pPr>
            <a:r>
              <a:rPr lang="en-US" altLang="zh-CN" dirty="0"/>
              <a:t>Used in MIPS R1000 L2 cache, similar in </a:t>
            </a:r>
            <a:r>
              <a:rPr lang="en-US" altLang="zh-CN" dirty="0" err="1"/>
              <a:t>UltraSPARC</a:t>
            </a:r>
            <a:endParaRPr lang="en-US" altLang="zh-CN" dirty="0"/>
          </a:p>
        </p:txBody>
      </p:sp>
      <p:sp>
        <p:nvSpPr>
          <p:cNvPr id="646148" name="Rectangle 4"/>
          <p:cNvSpPr>
            <a:spLocks noChangeArrowheads="1"/>
          </p:cNvSpPr>
          <p:nvPr/>
        </p:nvSpPr>
        <p:spPr bwMode="auto">
          <a:xfrm>
            <a:off x="2894014" y="3381375"/>
            <a:ext cx="102919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Hit Time</a:t>
            </a:r>
          </a:p>
        </p:txBody>
      </p:sp>
      <p:sp>
        <p:nvSpPr>
          <p:cNvPr id="646149" name="Rectangle 5"/>
          <p:cNvSpPr>
            <a:spLocks noChangeArrowheads="1"/>
          </p:cNvSpPr>
          <p:nvPr/>
        </p:nvSpPr>
        <p:spPr bwMode="auto">
          <a:xfrm>
            <a:off x="2836864" y="3933825"/>
            <a:ext cx="187557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Pseudo Hit Time</a:t>
            </a:r>
          </a:p>
        </p:txBody>
      </p:sp>
      <p:sp>
        <p:nvSpPr>
          <p:cNvPr id="646150" name="Rectangle 6"/>
          <p:cNvSpPr>
            <a:spLocks noChangeArrowheads="1"/>
          </p:cNvSpPr>
          <p:nvPr/>
        </p:nvSpPr>
        <p:spPr bwMode="auto">
          <a:xfrm>
            <a:off x="6380164" y="3895725"/>
            <a:ext cx="149079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Miss Penalty</a:t>
            </a:r>
          </a:p>
        </p:txBody>
      </p:sp>
      <p:sp>
        <p:nvSpPr>
          <p:cNvPr id="646151" name="Rectangle 7"/>
          <p:cNvSpPr>
            <a:spLocks noChangeArrowheads="1"/>
          </p:cNvSpPr>
          <p:nvPr/>
        </p:nvSpPr>
        <p:spPr bwMode="auto">
          <a:xfrm>
            <a:off x="5942014" y="4791075"/>
            <a:ext cx="7143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Time</a:t>
            </a:r>
          </a:p>
        </p:txBody>
      </p:sp>
      <p:sp>
        <p:nvSpPr>
          <p:cNvPr id="646152" name="Line 8"/>
          <p:cNvSpPr>
            <a:spLocks noChangeShapeType="1"/>
          </p:cNvSpPr>
          <p:nvPr/>
        </p:nvSpPr>
        <p:spPr bwMode="auto">
          <a:xfrm>
            <a:off x="2813050" y="3848100"/>
            <a:ext cx="121285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153" name="Line 9"/>
          <p:cNvSpPr>
            <a:spLocks noChangeShapeType="1"/>
          </p:cNvSpPr>
          <p:nvPr/>
        </p:nvSpPr>
        <p:spPr bwMode="auto">
          <a:xfrm>
            <a:off x="2774950" y="4324350"/>
            <a:ext cx="2146300" cy="0"/>
          </a:xfrm>
          <a:prstGeom prst="line">
            <a:avLst/>
          </a:prstGeom>
          <a:noFill/>
          <a:ln w="254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154" name="Line 10"/>
          <p:cNvSpPr>
            <a:spLocks noChangeShapeType="1"/>
          </p:cNvSpPr>
          <p:nvPr/>
        </p:nvSpPr>
        <p:spPr bwMode="auto">
          <a:xfrm>
            <a:off x="4908550" y="4324350"/>
            <a:ext cx="479425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155" name="Line 11"/>
          <p:cNvSpPr>
            <a:spLocks noChangeShapeType="1"/>
          </p:cNvSpPr>
          <p:nvPr/>
        </p:nvSpPr>
        <p:spPr bwMode="auto">
          <a:xfrm>
            <a:off x="2774950" y="4705350"/>
            <a:ext cx="7327900" cy="0"/>
          </a:xfrm>
          <a:prstGeom prst="line">
            <a:avLst/>
          </a:prstGeom>
          <a:noFill/>
          <a:ln w="254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982658689"/>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7170" name="Rectangle 1026"/>
          <p:cNvSpPr>
            <a:spLocks noGrp="1" noChangeArrowheads="1"/>
          </p:cNvSpPr>
          <p:nvPr>
            <p:ph type="title"/>
          </p:nvPr>
        </p:nvSpPr>
        <p:spPr>
          <a:xfrm>
            <a:off x="479376" y="188640"/>
            <a:ext cx="1058517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dirty="0"/>
              <a:t>5. </a:t>
            </a:r>
            <a:r>
              <a:rPr lang="en-US" altLang="zh-CN" dirty="0"/>
              <a:t>Reducing Misses by </a:t>
            </a:r>
            <a:r>
              <a:rPr lang="en-US" altLang="zh-CN" u="sng" dirty="0"/>
              <a:t>Hardware</a:t>
            </a:r>
            <a:r>
              <a:rPr lang="en-US" altLang="zh-CN" dirty="0"/>
              <a:t> </a:t>
            </a:r>
            <a:r>
              <a:rPr lang="en-US" altLang="zh-CN" dirty="0" smtClean="0"/>
              <a:t>	Prefetching </a:t>
            </a:r>
            <a:r>
              <a:rPr lang="en-US" altLang="zh-CN" dirty="0"/>
              <a:t>of Instructions &amp; </a:t>
            </a:r>
            <a:r>
              <a:rPr lang="en-US" altLang="zh-CN" dirty="0" smtClean="0"/>
              <a:t>Data </a:t>
            </a:r>
            <a:endParaRPr lang="en-US" altLang="zh-CN" dirty="0"/>
          </a:p>
        </p:txBody>
      </p:sp>
      <p:sp>
        <p:nvSpPr>
          <p:cNvPr id="647171" name="Rectangle 1027"/>
          <p:cNvSpPr>
            <a:spLocks noGrp="1" noChangeArrowheads="1"/>
          </p:cNvSpPr>
          <p:nvPr>
            <p:ph type="body" idx="1"/>
          </p:nvPr>
        </p:nvSpPr>
        <p:spPr>
          <a:xfrm>
            <a:off x="623392" y="1628800"/>
            <a:ext cx="11161240" cy="44100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sz="3200" dirty="0"/>
              <a:t>E.g., Instruction Prefetching</a:t>
            </a:r>
          </a:p>
          <a:p>
            <a:pPr lvl="1">
              <a:spcBef>
                <a:spcPct val="0"/>
              </a:spcBef>
            </a:pPr>
            <a:r>
              <a:rPr lang="en-US" altLang="zh-CN" sz="2800" dirty="0"/>
              <a:t>Alpha 21064 fetches 2 blocks on a miss</a:t>
            </a:r>
          </a:p>
          <a:p>
            <a:pPr lvl="1">
              <a:spcBef>
                <a:spcPct val="0"/>
              </a:spcBef>
            </a:pPr>
            <a:r>
              <a:rPr lang="en-US" altLang="zh-CN" sz="2800" dirty="0"/>
              <a:t>Extra block placed in “</a:t>
            </a:r>
            <a:r>
              <a:rPr lang="en-US" altLang="zh-CN" sz="2800" u="sng" dirty="0">
                <a:solidFill>
                  <a:srgbClr val="FF0000"/>
                </a:solidFill>
              </a:rPr>
              <a:t>stream buffer</a:t>
            </a:r>
            <a:r>
              <a:rPr lang="en-US" altLang="zh-CN" sz="2800" dirty="0"/>
              <a:t>”</a:t>
            </a:r>
          </a:p>
          <a:p>
            <a:pPr lvl="1">
              <a:spcBef>
                <a:spcPct val="0"/>
              </a:spcBef>
            </a:pPr>
            <a:r>
              <a:rPr lang="en-US" altLang="zh-CN" sz="2800" dirty="0"/>
              <a:t>On miss check stream buffer</a:t>
            </a:r>
          </a:p>
          <a:p>
            <a:pPr>
              <a:spcBef>
                <a:spcPct val="0"/>
              </a:spcBef>
            </a:pPr>
            <a:r>
              <a:rPr lang="en-US" altLang="zh-CN" sz="3200" dirty="0"/>
              <a:t>Works with data blocks too:</a:t>
            </a:r>
          </a:p>
          <a:p>
            <a:pPr lvl="1">
              <a:spcBef>
                <a:spcPct val="0"/>
              </a:spcBef>
            </a:pPr>
            <a:r>
              <a:rPr lang="en-US" altLang="zh-CN" sz="2800" dirty="0" err="1"/>
              <a:t>Jouppi</a:t>
            </a:r>
            <a:r>
              <a:rPr lang="en-US" altLang="zh-CN" sz="2800" dirty="0"/>
              <a:t> [1990] 1 data stream buffer got 25% misses from 4KB cache; 4 streams got 43%</a:t>
            </a:r>
          </a:p>
          <a:p>
            <a:pPr lvl="1">
              <a:spcBef>
                <a:spcPct val="0"/>
              </a:spcBef>
            </a:pPr>
            <a:r>
              <a:rPr lang="en-US" altLang="zh-CN" sz="2800" dirty="0" err="1"/>
              <a:t>Palacharla</a:t>
            </a:r>
            <a:r>
              <a:rPr lang="en-US" altLang="zh-CN" sz="2800" dirty="0"/>
              <a:t> &amp; Kessler [1994] for scientific programs for 8 streams got 50% to 70% of misses from </a:t>
            </a:r>
            <a:br>
              <a:rPr lang="en-US" altLang="zh-CN" sz="2800" dirty="0"/>
            </a:br>
            <a:r>
              <a:rPr lang="en-US" altLang="zh-CN" sz="2800" dirty="0"/>
              <a:t>2 64KB, 4-way set associative caches</a:t>
            </a:r>
          </a:p>
          <a:p>
            <a:pPr>
              <a:spcBef>
                <a:spcPct val="0"/>
              </a:spcBef>
            </a:pPr>
            <a:r>
              <a:rPr lang="en-US" altLang="zh-CN" sz="3200" dirty="0"/>
              <a:t>Prefetching relies on having extra memory bandwidth that can be used without penalty</a:t>
            </a:r>
          </a:p>
        </p:txBody>
      </p:sp>
    </p:spTree>
    <p:extLst>
      <p:ext uri="{BB962C8B-B14F-4D97-AF65-F5344CB8AC3E}">
        <p14:creationId xmlns:p14="http://schemas.microsoft.com/office/powerpoint/2010/main" val="6319206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47171">
                                            <p:txEl>
                                              <p:pRg st="0" end="0"/>
                                            </p:txEl>
                                          </p:spTgt>
                                        </p:tgtEl>
                                        <p:attrNameLst>
                                          <p:attrName>style.visibility</p:attrName>
                                        </p:attrNameLst>
                                      </p:cBhvr>
                                      <p:to>
                                        <p:strVal val="visible"/>
                                      </p:to>
                                    </p:set>
                                    <p:anim calcmode="lin" valueType="num">
                                      <p:cBhvr additive="base">
                                        <p:cTn id="7" dur="500" fill="hold"/>
                                        <p:tgtEl>
                                          <p:spTgt spid="6471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71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47171">
                                            <p:txEl>
                                              <p:pRg st="1" end="1"/>
                                            </p:txEl>
                                          </p:spTgt>
                                        </p:tgtEl>
                                        <p:attrNameLst>
                                          <p:attrName>style.visibility</p:attrName>
                                        </p:attrNameLst>
                                      </p:cBhvr>
                                      <p:to>
                                        <p:strVal val="visible"/>
                                      </p:to>
                                    </p:set>
                                    <p:anim calcmode="lin" valueType="num">
                                      <p:cBhvr additive="base">
                                        <p:cTn id="11" dur="500" fill="hold"/>
                                        <p:tgtEl>
                                          <p:spTgt spid="6471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4717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47171">
                                            <p:txEl>
                                              <p:pRg st="2" end="2"/>
                                            </p:txEl>
                                          </p:spTgt>
                                        </p:tgtEl>
                                        <p:attrNameLst>
                                          <p:attrName>style.visibility</p:attrName>
                                        </p:attrNameLst>
                                      </p:cBhvr>
                                      <p:to>
                                        <p:strVal val="visible"/>
                                      </p:to>
                                    </p:set>
                                    <p:anim calcmode="lin" valueType="num">
                                      <p:cBhvr additive="base">
                                        <p:cTn id="15" dur="500" fill="hold"/>
                                        <p:tgtEl>
                                          <p:spTgt spid="64717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4717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647171">
                                            <p:txEl>
                                              <p:pRg st="3" end="3"/>
                                            </p:txEl>
                                          </p:spTgt>
                                        </p:tgtEl>
                                        <p:attrNameLst>
                                          <p:attrName>style.visibility</p:attrName>
                                        </p:attrNameLst>
                                      </p:cBhvr>
                                      <p:to>
                                        <p:strVal val="visible"/>
                                      </p:to>
                                    </p:set>
                                    <p:anim calcmode="lin" valueType="num">
                                      <p:cBhvr additive="base">
                                        <p:cTn id="19" dur="500" fill="hold"/>
                                        <p:tgtEl>
                                          <p:spTgt spid="64717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471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47171">
                                            <p:txEl>
                                              <p:pRg st="4" end="4"/>
                                            </p:txEl>
                                          </p:spTgt>
                                        </p:tgtEl>
                                        <p:attrNameLst>
                                          <p:attrName>style.visibility</p:attrName>
                                        </p:attrNameLst>
                                      </p:cBhvr>
                                      <p:to>
                                        <p:strVal val="visible"/>
                                      </p:to>
                                    </p:set>
                                    <p:anim calcmode="lin" valueType="num">
                                      <p:cBhvr additive="base">
                                        <p:cTn id="25" dur="500" fill="hold"/>
                                        <p:tgtEl>
                                          <p:spTgt spid="64717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4717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47171">
                                            <p:txEl>
                                              <p:pRg st="5" end="5"/>
                                            </p:txEl>
                                          </p:spTgt>
                                        </p:tgtEl>
                                        <p:attrNameLst>
                                          <p:attrName>style.visibility</p:attrName>
                                        </p:attrNameLst>
                                      </p:cBhvr>
                                      <p:to>
                                        <p:strVal val="visible"/>
                                      </p:to>
                                    </p:set>
                                    <p:anim calcmode="lin" valueType="num">
                                      <p:cBhvr additive="base">
                                        <p:cTn id="29" dur="500" fill="hold"/>
                                        <p:tgtEl>
                                          <p:spTgt spid="64717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4717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47171">
                                            <p:txEl>
                                              <p:pRg st="6" end="6"/>
                                            </p:txEl>
                                          </p:spTgt>
                                        </p:tgtEl>
                                        <p:attrNameLst>
                                          <p:attrName>style.visibility</p:attrName>
                                        </p:attrNameLst>
                                      </p:cBhvr>
                                      <p:to>
                                        <p:strVal val="visible"/>
                                      </p:to>
                                    </p:set>
                                    <p:anim calcmode="lin" valueType="num">
                                      <p:cBhvr additive="base">
                                        <p:cTn id="33" dur="500" fill="hold"/>
                                        <p:tgtEl>
                                          <p:spTgt spid="64717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471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647171">
                                            <p:txEl>
                                              <p:pRg st="7" end="7"/>
                                            </p:txEl>
                                          </p:spTgt>
                                        </p:tgtEl>
                                        <p:attrNameLst>
                                          <p:attrName>style.visibility</p:attrName>
                                        </p:attrNameLst>
                                      </p:cBhvr>
                                      <p:to>
                                        <p:strVal val="visible"/>
                                      </p:to>
                                    </p:set>
                                    <p:anim calcmode="lin" valueType="num">
                                      <p:cBhvr additive="base">
                                        <p:cTn id="39" dur="500" fill="hold"/>
                                        <p:tgtEl>
                                          <p:spTgt spid="647171">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4717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1"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Effects of Hardware Prefetching</a:t>
            </a:r>
            <a:endParaRPr lang="en-AU" dirty="0"/>
          </a:p>
        </p:txBody>
      </p:sp>
      <p:sp>
        <p:nvSpPr>
          <p:cNvPr id="242691" name="Rectangle 3"/>
          <p:cNvSpPr>
            <a:spLocks noGrp="1" noChangeArrowheads="1"/>
          </p:cNvSpPr>
          <p:nvPr>
            <p:ph type="body" idx="1"/>
          </p:nvPr>
        </p:nvSpPr>
        <p:spPr/>
        <p:txBody>
          <a:bodyPr/>
          <a:lstStyle/>
          <a:p>
            <a:r>
              <a:rPr lang="en-US" dirty="0" smtClean="0"/>
              <a:t>Fetch two blocks on miss (include next sequential block)</a:t>
            </a:r>
          </a:p>
          <a:p>
            <a:pPr lvl="1"/>
            <a:r>
              <a:rPr lang="en-US" dirty="0"/>
              <a:t>Speedup because of hardware prefetching on Intel Pentium 4 </a:t>
            </a:r>
          </a:p>
        </p:txBody>
      </p:sp>
      <p:pic>
        <p:nvPicPr>
          <p:cNvPr id="5" name="图片 4"/>
          <p:cNvPicPr>
            <a:picLocks noChangeAspect="1"/>
          </p:cNvPicPr>
          <p:nvPr/>
        </p:nvPicPr>
        <p:blipFill>
          <a:blip r:embed="rId3"/>
          <a:stretch>
            <a:fillRect/>
          </a:stretch>
        </p:blipFill>
        <p:spPr>
          <a:xfrm>
            <a:off x="1919536" y="2464943"/>
            <a:ext cx="7917922" cy="4276425"/>
          </a:xfrm>
          <a:prstGeom prst="rect">
            <a:avLst/>
          </a:prstGeom>
        </p:spPr>
      </p:pic>
    </p:spTree>
    <p:extLst>
      <p:ext uri="{BB962C8B-B14F-4D97-AF65-F5344CB8AC3E}">
        <p14:creationId xmlns:p14="http://schemas.microsoft.com/office/powerpoint/2010/main" val="108578717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623392" y="188640"/>
            <a:ext cx="1116124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dirty="0"/>
              <a:t>6. </a:t>
            </a:r>
            <a:r>
              <a:rPr lang="en-US" altLang="zh-CN" dirty="0"/>
              <a:t>Reducing Misses by </a:t>
            </a:r>
            <a:r>
              <a:rPr lang="en-US" altLang="zh-CN" u="sng" dirty="0" smtClean="0"/>
              <a:t>Software</a:t>
            </a:r>
            <a:r>
              <a:rPr lang="en-US" altLang="zh-CN" dirty="0" smtClean="0"/>
              <a:t> 	(Compiler) Prefetching </a:t>
            </a:r>
            <a:r>
              <a:rPr lang="en-US" altLang="zh-CN" dirty="0"/>
              <a:t>Data</a:t>
            </a:r>
          </a:p>
        </p:txBody>
      </p:sp>
      <p:sp>
        <p:nvSpPr>
          <p:cNvPr id="648195" name="Rectangle 3"/>
          <p:cNvSpPr>
            <a:spLocks noGrp="1" noChangeArrowheads="1"/>
          </p:cNvSpPr>
          <p:nvPr>
            <p:ph type="body" idx="1"/>
          </p:nvPr>
        </p:nvSpPr>
        <p:spPr>
          <a:xfrm>
            <a:off x="479376" y="1772816"/>
            <a:ext cx="11377264" cy="419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pPr>
            <a:r>
              <a:rPr lang="en-US" altLang="zh-CN" dirty="0"/>
              <a:t>Data Prefetching: Insert </a:t>
            </a:r>
            <a:r>
              <a:rPr lang="en-US" altLang="zh-CN" dirty="0" err="1"/>
              <a:t>prefetch</a:t>
            </a:r>
            <a:r>
              <a:rPr lang="en-US" altLang="zh-CN" dirty="0"/>
              <a:t> instructions before data is needed</a:t>
            </a:r>
          </a:p>
          <a:p>
            <a:pPr lvl="1">
              <a:lnSpc>
                <a:spcPct val="80000"/>
              </a:lnSpc>
            </a:pPr>
            <a:r>
              <a:rPr lang="en-US" altLang="zh-CN" dirty="0" smtClean="0"/>
              <a:t>Load </a:t>
            </a:r>
            <a:r>
              <a:rPr lang="en-US" altLang="zh-CN" dirty="0"/>
              <a:t>data into register (HP PA-RISC loads)</a:t>
            </a:r>
          </a:p>
          <a:p>
            <a:pPr lvl="1">
              <a:lnSpc>
                <a:spcPct val="80000"/>
              </a:lnSpc>
            </a:pPr>
            <a:r>
              <a:rPr lang="en-US" altLang="zh-CN" dirty="0"/>
              <a:t>Cache </a:t>
            </a:r>
            <a:r>
              <a:rPr lang="en-US" altLang="zh-CN" dirty="0" smtClean="0"/>
              <a:t>Prefetching: </a:t>
            </a:r>
            <a:r>
              <a:rPr lang="en-US" altLang="zh-CN" dirty="0"/>
              <a:t>load into cache (MIPS IV, PowerPC, SPARC v. 9)</a:t>
            </a:r>
          </a:p>
          <a:p>
            <a:pPr lvl="1">
              <a:lnSpc>
                <a:spcPct val="80000"/>
              </a:lnSpc>
            </a:pPr>
            <a:r>
              <a:rPr lang="en-US" altLang="zh-CN" dirty="0"/>
              <a:t>Special prefetching instructions cannot cause faults; a form of speculative execution</a:t>
            </a:r>
          </a:p>
          <a:p>
            <a:pPr>
              <a:lnSpc>
                <a:spcPct val="80000"/>
              </a:lnSpc>
            </a:pPr>
            <a:r>
              <a:rPr lang="en-US" altLang="zh-CN" dirty="0"/>
              <a:t>Prefetching comes in two flavors:</a:t>
            </a:r>
          </a:p>
          <a:p>
            <a:pPr lvl="1">
              <a:lnSpc>
                <a:spcPct val="80000"/>
              </a:lnSpc>
            </a:pPr>
            <a:r>
              <a:rPr lang="en-US" altLang="zh-CN" dirty="0"/>
              <a:t>Binding </a:t>
            </a:r>
            <a:r>
              <a:rPr lang="en-US" altLang="zh-CN" dirty="0" smtClean="0"/>
              <a:t>prefetching: </a:t>
            </a:r>
            <a:r>
              <a:rPr lang="en-US" altLang="zh-CN" dirty="0"/>
              <a:t>Requests load directly into register.</a:t>
            </a:r>
          </a:p>
          <a:p>
            <a:pPr lvl="2">
              <a:lnSpc>
                <a:spcPct val="80000"/>
              </a:lnSpc>
            </a:pPr>
            <a:r>
              <a:rPr lang="en-US" altLang="zh-CN" dirty="0"/>
              <a:t>Must be correct address and register!</a:t>
            </a:r>
          </a:p>
          <a:p>
            <a:pPr lvl="1">
              <a:lnSpc>
                <a:spcPct val="80000"/>
              </a:lnSpc>
            </a:pPr>
            <a:r>
              <a:rPr lang="en-US" altLang="zh-CN" dirty="0"/>
              <a:t>Non-Binding </a:t>
            </a:r>
            <a:r>
              <a:rPr lang="en-US" altLang="zh-CN" dirty="0" smtClean="0"/>
              <a:t>prefetching: </a:t>
            </a:r>
            <a:r>
              <a:rPr lang="en-US" altLang="zh-CN" dirty="0"/>
              <a:t>Load into cache.  </a:t>
            </a:r>
          </a:p>
          <a:p>
            <a:pPr lvl="2">
              <a:lnSpc>
                <a:spcPct val="80000"/>
              </a:lnSpc>
            </a:pPr>
            <a:r>
              <a:rPr lang="en-US" altLang="zh-CN" dirty="0"/>
              <a:t>Can be incorrect.  Frees HW/SW to guess!</a:t>
            </a:r>
          </a:p>
          <a:p>
            <a:pPr>
              <a:lnSpc>
                <a:spcPct val="80000"/>
              </a:lnSpc>
            </a:pPr>
            <a:r>
              <a:rPr lang="en-US" altLang="zh-CN" dirty="0"/>
              <a:t>Issuing </a:t>
            </a:r>
            <a:r>
              <a:rPr lang="en-US" altLang="zh-CN" dirty="0" smtClean="0"/>
              <a:t>Prefetching </a:t>
            </a:r>
            <a:r>
              <a:rPr lang="en-US" altLang="zh-CN" dirty="0"/>
              <a:t>Instructions takes time</a:t>
            </a:r>
          </a:p>
          <a:p>
            <a:pPr lvl="1">
              <a:lnSpc>
                <a:spcPct val="80000"/>
              </a:lnSpc>
            </a:pPr>
            <a:r>
              <a:rPr lang="en-US" altLang="zh-CN" dirty="0"/>
              <a:t>Is cost of </a:t>
            </a:r>
            <a:r>
              <a:rPr lang="en-US" altLang="zh-CN" dirty="0" smtClean="0"/>
              <a:t>prefetching </a:t>
            </a:r>
            <a:r>
              <a:rPr lang="en-US" altLang="zh-CN" dirty="0"/>
              <a:t>issues &lt; savings in reduced misses?</a:t>
            </a:r>
          </a:p>
          <a:p>
            <a:pPr lvl="1">
              <a:lnSpc>
                <a:spcPct val="80000"/>
              </a:lnSpc>
            </a:pPr>
            <a:r>
              <a:rPr lang="en-US" altLang="zh-CN" dirty="0"/>
              <a:t>Higher superscalar reduces difficulty of issue bandwidth</a:t>
            </a:r>
          </a:p>
        </p:txBody>
      </p:sp>
    </p:spTree>
    <p:extLst>
      <p:ext uri="{BB962C8B-B14F-4D97-AF65-F5344CB8AC3E}">
        <p14:creationId xmlns:p14="http://schemas.microsoft.com/office/powerpoint/2010/main" val="39234486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48195">
                                            <p:txEl>
                                              <p:pRg st="0" end="0"/>
                                            </p:txEl>
                                          </p:spTgt>
                                        </p:tgtEl>
                                        <p:attrNameLst>
                                          <p:attrName>style.visibility</p:attrName>
                                        </p:attrNameLst>
                                      </p:cBhvr>
                                      <p:to>
                                        <p:strVal val="visible"/>
                                      </p:to>
                                    </p:set>
                                    <p:anim calcmode="lin" valueType="num">
                                      <p:cBhvr additive="base">
                                        <p:cTn id="7" dur="500" fill="hold"/>
                                        <p:tgtEl>
                                          <p:spTgt spid="64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48195">
                                            <p:txEl>
                                              <p:pRg st="1" end="1"/>
                                            </p:txEl>
                                          </p:spTgt>
                                        </p:tgtEl>
                                        <p:attrNameLst>
                                          <p:attrName>style.visibility</p:attrName>
                                        </p:attrNameLst>
                                      </p:cBhvr>
                                      <p:to>
                                        <p:strVal val="visible"/>
                                      </p:to>
                                    </p:set>
                                    <p:anim calcmode="lin" valueType="num">
                                      <p:cBhvr additive="base">
                                        <p:cTn id="11" dur="500" fill="hold"/>
                                        <p:tgtEl>
                                          <p:spTgt spid="64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4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48195">
                                            <p:txEl>
                                              <p:pRg st="2" end="2"/>
                                            </p:txEl>
                                          </p:spTgt>
                                        </p:tgtEl>
                                        <p:attrNameLst>
                                          <p:attrName>style.visibility</p:attrName>
                                        </p:attrNameLst>
                                      </p:cBhvr>
                                      <p:to>
                                        <p:strVal val="visible"/>
                                      </p:to>
                                    </p:set>
                                    <p:anim calcmode="lin" valueType="num">
                                      <p:cBhvr additive="base">
                                        <p:cTn id="15" dur="500" fill="hold"/>
                                        <p:tgtEl>
                                          <p:spTgt spid="64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4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648195">
                                            <p:txEl>
                                              <p:pRg st="3" end="3"/>
                                            </p:txEl>
                                          </p:spTgt>
                                        </p:tgtEl>
                                        <p:attrNameLst>
                                          <p:attrName>style.visibility</p:attrName>
                                        </p:attrNameLst>
                                      </p:cBhvr>
                                      <p:to>
                                        <p:strVal val="visible"/>
                                      </p:to>
                                    </p:set>
                                    <p:anim calcmode="lin" valueType="num">
                                      <p:cBhvr additive="base">
                                        <p:cTn id="19" dur="500" fill="hold"/>
                                        <p:tgtEl>
                                          <p:spTgt spid="64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481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48195">
                                            <p:txEl>
                                              <p:pRg st="4" end="4"/>
                                            </p:txEl>
                                          </p:spTgt>
                                        </p:tgtEl>
                                        <p:attrNameLst>
                                          <p:attrName>style.visibility</p:attrName>
                                        </p:attrNameLst>
                                      </p:cBhvr>
                                      <p:to>
                                        <p:strVal val="visible"/>
                                      </p:to>
                                    </p:set>
                                    <p:anim calcmode="lin" valueType="num">
                                      <p:cBhvr additive="base">
                                        <p:cTn id="25" dur="500" fill="hold"/>
                                        <p:tgtEl>
                                          <p:spTgt spid="64819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48195">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48195">
                                            <p:txEl>
                                              <p:pRg st="5" end="5"/>
                                            </p:txEl>
                                          </p:spTgt>
                                        </p:tgtEl>
                                        <p:attrNameLst>
                                          <p:attrName>style.visibility</p:attrName>
                                        </p:attrNameLst>
                                      </p:cBhvr>
                                      <p:to>
                                        <p:strVal val="visible"/>
                                      </p:to>
                                    </p:set>
                                    <p:anim calcmode="lin" valueType="num">
                                      <p:cBhvr additive="base">
                                        <p:cTn id="29" dur="500" fill="hold"/>
                                        <p:tgtEl>
                                          <p:spTgt spid="648195">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48195">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48195">
                                            <p:txEl>
                                              <p:pRg st="6" end="6"/>
                                            </p:txEl>
                                          </p:spTgt>
                                        </p:tgtEl>
                                        <p:attrNameLst>
                                          <p:attrName>style.visibility</p:attrName>
                                        </p:attrNameLst>
                                      </p:cBhvr>
                                      <p:to>
                                        <p:strVal val="visible"/>
                                      </p:to>
                                    </p:set>
                                    <p:anim calcmode="lin" valueType="num">
                                      <p:cBhvr additive="base">
                                        <p:cTn id="33" dur="500" fill="hold"/>
                                        <p:tgtEl>
                                          <p:spTgt spid="64819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48195">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648195">
                                            <p:txEl>
                                              <p:pRg st="7" end="7"/>
                                            </p:txEl>
                                          </p:spTgt>
                                        </p:tgtEl>
                                        <p:attrNameLst>
                                          <p:attrName>style.visibility</p:attrName>
                                        </p:attrNameLst>
                                      </p:cBhvr>
                                      <p:to>
                                        <p:strVal val="visible"/>
                                      </p:to>
                                    </p:set>
                                    <p:anim calcmode="lin" valueType="num">
                                      <p:cBhvr additive="base">
                                        <p:cTn id="37" dur="500" fill="hold"/>
                                        <p:tgtEl>
                                          <p:spTgt spid="648195">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48195">
                                            <p:txEl>
                                              <p:pRg st="7" end="7"/>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648195">
                                            <p:txEl>
                                              <p:pRg st="8" end="8"/>
                                            </p:txEl>
                                          </p:spTgt>
                                        </p:tgtEl>
                                        <p:attrNameLst>
                                          <p:attrName>style.visibility</p:attrName>
                                        </p:attrNameLst>
                                      </p:cBhvr>
                                      <p:to>
                                        <p:strVal val="visible"/>
                                      </p:to>
                                    </p:set>
                                    <p:anim calcmode="lin" valueType="num">
                                      <p:cBhvr additive="base">
                                        <p:cTn id="41" dur="500" fill="hold"/>
                                        <p:tgtEl>
                                          <p:spTgt spid="648195">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64819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648195">
                                            <p:txEl>
                                              <p:pRg st="9" end="9"/>
                                            </p:txEl>
                                          </p:spTgt>
                                        </p:tgtEl>
                                        <p:attrNameLst>
                                          <p:attrName>style.visibility</p:attrName>
                                        </p:attrNameLst>
                                      </p:cBhvr>
                                      <p:to>
                                        <p:strVal val="visible"/>
                                      </p:to>
                                    </p:set>
                                    <p:anim calcmode="lin" valueType="num">
                                      <p:cBhvr additive="base">
                                        <p:cTn id="47" dur="500" fill="hold"/>
                                        <p:tgtEl>
                                          <p:spTgt spid="648195">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648195">
                                            <p:txEl>
                                              <p:pRg st="9" end="9"/>
                                            </p:txEl>
                                          </p:spTgt>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648195">
                                            <p:txEl>
                                              <p:pRg st="10" end="10"/>
                                            </p:txEl>
                                          </p:spTgt>
                                        </p:tgtEl>
                                        <p:attrNameLst>
                                          <p:attrName>style.visibility</p:attrName>
                                        </p:attrNameLst>
                                      </p:cBhvr>
                                      <p:to>
                                        <p:strVal val="visible"/>
                                      </p:to>
                                    </p:set>
                                    <p:anim calcmode="lin" valueType="num">
                                      <p:cBhvr additive="base">
                                        <p:cTn id="51" dur="500" fill="hold"/>
                                        <p:tgtEl>
                                          <p:spTgt spid="648195">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648195">
                                            <p:txEl>
                                              <p:pRg st="10" end="10"/>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648195">
                                            <p:txEl>
                                              <p:pRg st="11" end="11"/>
                                            </p:txEl>
                                          </p:spTgt>
                                        </p:tgtEl>
                                        <p:attrNameLst>
                                          <p:attrName>style.visibility</p:attrName>
                                        </p:attrNameLst>
                                      </p:cBhvr>
                                      <p:to>
                                        <p:strVal val="visible"/>
                                      </p:to>
                                    </p:set>
                                    <p:anim calcmode="lin" valueType="num">
                                      <p:cBhvr additive="base">
                                        <p:cTn id="55" dur="500" fill="hold"/>
                                        <p:tgtEl>
                                          <p:spTgt spid="648195">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648195">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5"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9218" name="Rectangle 2"/>
          <p:cNvSpPr>
            <a:spLocks noGrp="1" noChangeArrowheads="1"/>
          </p:cNvSpPr>
          <p:nvPr>
            <p:ph type="title"/>
          </p:nvPr>
        </p:nvSpPr>
        <p:spPr>
          <a:xfrm>
            <a:off x="551384" y="228600"/>
            <a:ext cx="11377264"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dirty="0"/>
              <a:t>7. </a:t>
            </a:r>
            <a:r>
              <a:rPr lang="en-US" altLang="zh-CN" dirty="0"/>
              <a:t>Reducing Misses by Compiler Optimizations</a:t>
            </a:r>
          </a:p>
        </p:txBody>
      </p:sp>
      <p:sp>
        <p:nvSpPr>
          <p:cNvPr id="649219" name="Rectangle 3"/>
          <p:cNvSpPr>
            <a:spLocks noGrp="1" noChangeArrowheads="1"/>
          </p:cNvSpPr>
          <p:nvPr>
            <p:ph type="body" idx="1"/>
          </p:nvPr>
        </p:nvSpPr>
        <p:spPr>
          <a:xfrm>
            <a:off x="479376" y="1556792"/>
            <a:ext cx="11377264" cy="39296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err="1"/>
              <a:t>McFarling</a:t>
            </a:r>
            <a:r>
              <a:rPr lang="en-US" altLang="zh-CN" dirty="0"/>
              <a:t> [1989] reduced caches misses by 75% </a:t>
            </a:r>
            <a:r>
              <a:rPr lang="en-US" altLang="zh-CN" dirty="0" smtClean="0"/>
              <a:t>on </a:t>
            </a:r>
            <a:r>
              <a:rPr lang="en-US" altLang="zh-CN" dirty="0"/>
              <a:t>8KB direct mapped cache, 4 byte blocks </a:t>
            </a:r>
            <a:r>
              <a:rPr lang="en-US" altLang="zh-CN" u="sng" dirty="0">
                <a:solidFill>
                  <a:srgbClr val="FF0000"/>
                </a:solidFill>
              </a:rPr>
              <a:t>in software</a:t>
            </a:r>
            <a:endParaRPr lang="en-US" altLang="zh-CN" dirty="0">
              <a:solidFill>
                <a:srgbClr val="FF0000"/>
              </a:solidFill>
            </a:endParaRPr>
          </a:p>
          <a:p>
            <a:r>
              <a:rPr lang="en-US" altLang="zh-CN" dirty="0" smtClean="0"/>
              <a:t>Instructions: Reorder </a:t>
            </a:r>
            <a:r>
              <a:rPr lang="en-US" altLang="zh-CN" dirty="0"/>
              <a:t>procedures in memory so as to reduce conflict </a:t>
            </a:r>
            <a:r>
              <a:rPr lang="en-US" altLang="zh-CN" dirty="0" smtClean="0"/>
              <a:t>misses; Profiling </a:t>
            </a:r>
            <a:r>
              <a:rPr lang="en-US" altLang="zh-CN" dirty="0"/>
              <a:t>to look at </a:t>
            </a:r>
            <a:r>
              <a:rPr lang="en-US" altLang="zh-CN" dirty="0" smtClean="0"/>
              <a:t>conflicts (</a:t>
            </a:r>
            <a:r>
              <a:rPr lang="en-US" altLang="zh-CN" dirty="0"/>
              <a:t>using tools they developed)</a:t>
            </a:r>
          </a:p>
          <a:p>
            <a:r>
              <a:rPr lang="en-US" altLang="zh-CN" dirty="0"/>
              <a:t>Data</a:t>
            </a:r>
          </a:p>
          <a:p>
            <a:pPr lvl="1"/>
            <a:r>
              <a:rPr lang="en-US" altLang="zh-CN" i="1" dirty="0">
                <a:solidFill>
                  <a:srgbClr val="FF0000"/>
                </a:solidFill>
              </a:rPr>
              <a:t>Merging Arrays</a:t>
            </a:r>
            <a:r>
              <a:rPr lang="en-US" altLang="zh-CN" dirty="0"/>
              <a:t>: improve spatial locality by single array of compound elements vs. 2 arrays</a:t>
            </a:r>
          </a:p>
          <a:p>
            <a:pPr lvl="1"/>
            <a:r>
              <a:rPr lang="en-US" altLang="zh-CN" i="1" dirty="0">
                <a:solidFill>
                  <a:srgbClr val="FF0000"/>
                </a:solidFill>
              </a:rPr>
              <a:t>Loop Interchange</a:t>
            </a:r>
            <a:r>
              <a:rPr lang="en-US" altLang="zh-CN" dirty="0"/>
              <a:t>: change nesting of loops to access data in </a:t>
            </a:r>
            <a:r>
              <a:rPr lang="en-US" altLang="zh-CN" dirty="0" smtClean="0"/>
              <a:t>stored order </a:t>
            </a:r>
            <a:endParaRPr lang="en-US" altLang="zh-CN" dirty="0"/>
          </a:p>
          <a:p>
            <a:pPr lvl="1"/>
            <a:r>
              <a:rPr lang="en-US" altLang="zh-CN" i="1" dirty="0">
                <a:solidFill>
                  <a:srgbClr val="FF0000"/>
                </a:solidFill>
              </a:rPr>
              <a:t>Loop Fusion</a:t>
            </a:r>
            <a:r>
              <a:rPr lang="en-US" altLang="zh-CN" dirty="0"/>
              <a:t>: Combine 2 independent loops that have same looping and some variables overlap</a:t>
            </a:r>
          </a:p>
          <a:p>
            <a:pPr lvl="1"/>
            <a:r>
              <a:rPr lang="en-US" altLang="zh-CN" i="1" dirty="0">
                <a:solidFill>
                  <a:srgbClr val="FF0000"/>
                </a:solidFill>
              </a:rPr>
              <a:t>Blocking</a:t>
            </a:r>
            <a:r>
              <a:rPr lang="en-US" altLang="zh-CN" dirty="0"/>
              <a:t>: Improve temporal locality by accessing “blocks” of data repeatedly vs. going down whole columns or </a:t>
            </a:r>
            <a:r>
              <a:rPr lang="en-US" altLang="zh-CN" dirty="0" smtClean="0"/>
              <a:t>rows; </a:t>
            </a:r>
            <a:r>
              <a:rPr lang="en-US" altLang="zh-CN" dirty="0"/>
              <a:t>Requires more memory accesses but improves locality of </a:t>
            </a:r>
            <a:r>
              <a:rPr lang="en-US" altLang="zh-CN" dirty="0" smtClean="0"/>
              <a:t>accesses</a:t>
            </a:r>
            <a:endParaRPr lang="en-US" altLang="zh-CN" dirty="0"/>
          </a:p>
        </p:txBody>
      </p:sp>
    </p:spTree>
    <p:extLst>
      <p:ext uri="{BB962C8B-B14F-4D97-AF65-F5344CB8AC3E}">
        <p14:creationId xmlns:p14="http://schemas.microsoft.com/office/powerpoint/2010/main" val="42654229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49219">
                                            <p:txEl>
                                              <p:pRg st="0" end="0"/>
                                            </p:txEl>
                                          </p:spTgt>
                                        </p:tgtEl>
                                        <p:attrNameLst>
                                          <p:attrName>style.visibility</p:attrName>
                                        </p:attrNameLst>
                                      </p:cBhvr>
                                      <p:to>
                                        <p:strVal val="visible"/>
                                      </p:to>
                                    </p:set>
                                    <p:anim calcmode="lin" valueType="num">
                                      <p:cBhvr additive="base">
                                        <p:cTn id="7" dur="500" fill="hold"/>
                                        <p:tgtEl>
                                          <p:spTgt spid="6492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92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49219">
                                            <p:txEl>
                                              <p:pRg st="1" end="1"/>
                                            </p:txEl>
                                          </p:spTgt>
                                        </p:tgtEl>
                                        <p:attrNameLst>
                                          <p:attrName>style.visibility</p:attrName>
                                        </p:attrNameLst>
                                      </p:cBhvr>
                                      <p:to>
                                        <p:strVal val="visible"/>
                                      </p:to>
                                    </p:set>
                                    <p:anim calcmode="lin" valueType="num">
                                      <p:cBhvr additive="base">
                                        <p:cTn id="13" dur="500" fill="hold"/>
                                        <p:tgtEl>
                                          <p:spTgt spid="6492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492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49219">
                                            <p:txEl>
                                              <p:pRg st="2" end="2"/>
                                            </p:txEl>
                                          </p:spTgt>
                                        </p:tgtEl>
                                        <p:attrNameLst>
                                          <p:attrName>style.visibility</p:attrName>
                                        </p:attrNameLst>
                                      </p:cBhvr>
                                      <p:to>
                                        <p:strVal val="visible"/>
                                      </p:to>
                                    </p:set>
                                    <p:anim calcmode="lin" valueType="num">
                                      <p:cBhvr additive="base">
                                        <p:cTn id="19" dur="500" fill="hold"/>
                                        <p:tgtEl>
                                          <p:spTgt spid="6492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49219">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49219">
                                            <p:txEl>
                                              <p:pRg st="3" end="3"/>
                                            </p:txEl>
                                          </p:spTgt>
                                        </p:tgtEl>
                                        <p:attrNameLst>
                                          <p:attrName>style.visibility</p:attrName>
                                        </p:attrNameLst>
                                      </p:cBhvr>
                                      <p:to>
                                        <p:strVal val="visible"/>
                                      </p:to>
                                    </p:set>
                                    <p:anim calcmode="lin" valueType="num">
                                      <p:cBhvr additive="base">
                                        <p:cTn id="23" dur="500" fill="hold"/>
                                        <p:tgtEl>
                                          <p:spTgt spid="649219">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49219">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649219">
                                            <p:txEl>
                                              <p:pRg st="4" end="4"/>
                                            </p:txEl>
                                          </p:spTgt>
                                        </p:tgtEl>
                                        <p:attrNameLst>
                                          <p:attrName>style.visibility</p:attrName>
                                        </p:attrNameLst>
                                      </p:cBhvr>
                                      <p:to>
                                        <p:strVal val="visible"/>
                                      </p:to>
                                    </p:set>
                                    <p:anim calcmode="lin" valueType="num">
                                      <p:cBhvr additive="base">
                                        <p:cTn id="27" dur="500" fill="hold"/>
                                        <p:tgtEl>
                                          <p:spTgt spid="649219">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49219">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49219">
                                            <p:txEl>
                                              <p:pRg st="5" end="5"/>
                                            </p:txEl>
                                          </p:spTgt>
                                        </p:tgtEl>
                                        <p:attrNameLst>
                                          <p:attrName>style.visibility</p:attrName>
                                        </p:attrNameLst>
                                      </p:cBhvr>
                                      <p:to>
                                        <p:strVal val="visible"/>
                                      </p:to>
                                    </p:set>
                                    <p:anim calcmode="lin" valueType="num">
                                      <p:cBhvr additive="base">
                                        <p:cTn id="31" dur="500" fill="hold"/>
                                        <p:tgtEl>
                                          <p:spTgt spid="64921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49219">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49219">
                                            <p:txEl>
                                              <p:pRg st="6" end="6"/>
                                            </p:txEl>
                                          </p:spTgt>
                                        </p:tgtEl>
                                        <p:attrNameLst>
                                          <p:attrName>style.visibility</p:attrName>
                                        </p:attrNameLst>
                                      </p:cBhvr>
                                      <p:to>
                                        <p:strVal val="visible"/>
                                      </p:to>
                                    </p:set>
                                    <p:anim calcmode="lin" valueType="num">
                                      <p:cBhvr additive="base">
                                        <p:cTn id="35" dur="500" fill="hold"/>
                                        <p:tgtEl>
                                          <p:spTgt spid="649219">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4921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9219" grpId="0" build="p"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Rectangle 2"/>
          <p:cNvSpPr>
            <a:spLocks noGrp="1" noChangeArrowheads="1"/>
          </p:cNvSpPr>
          <p:nvPr>
            <p:ph type="title"/>
          </p:nvPr>
        </p:nvSpPr>
        <p:spPr>
          <a:xfrm>
            <a:off x="2590800" y="2286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Merging Arrays Example</a:t>
            </a:r>
          </a:p>
        </p:txBody>
      </p:sp>
      <p:sp>
        <p:nvSpPr>
          <p:cNvPr id="650243" name="Rectangle 3"/>
          <p:cNvSpPr>
            <a:spLocks noGrp="1" noChangeArrowheads="1"/>
          </p:cNvSpPr>
          <p:nvPr>
            <p:ph type="body" idx="1"/>
          </p:nvPr>
        </p:nvSpPr>
        <p:spPr>
          <a:xfrm>
            <a:off x="1199456" y="1524000"/>
            <a:ext cx="108012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buFont typeface="Wingdings" panose="05000000000000000000" pitchFamily="2" charset="2"/>
              <a:buNone/>
            </a:pPr>
            <a:r>
              <a:rPr lang="zh-CN" altLang="zh-CN" sz="2400" b="1" dirty="0">
                <a:latin typeface="Courier New" panose="02070309020205020404" pitchFamily="49" charset="0"/>
              </a:rPr>
              <a:t>/* </a:t>
            </a:r>
            <a:r>
              <a:rPr lang="en-US" altLang="zh-CN" sz="2400" b="1" dirty="0">
                <a:latin typeface="Courier New" panose="02070309020205020404" pitchFamily="49" charset="0"/>
              </a:rPr>
              <a:t>Before: 2 sequential arrays */</a:t>
            </a:r>
          </a:p>
          <a:p>
            <a:pPr>
              <a:lnSpc>
                <a:spcPct val="80000"/>
              </a:lnSpc>
              <a:buFont typeface="Wingdings" panose="05000000000000000000" pitchFamily="2" charset="2"/>
              <a:buNone/>
            </a:pPr>
            <a:r>
              <a:rPr lang="en-US" altLang="zh-CN" sz="2400" b="1" dirty="0" err="1">
                <a:latin typeface="Courier New" panose="02070309020205020404" pitchFamily="49" charset="0"/>
              </a:rPr>
              <a:t>int</a:t>
            </a:r>
            <a:r>
              <a:rPr lang="en-US" altLang="zh-CN" sz="2400" b="1" dirty="0">
                <a:latin typeface="Courier New" panose="02070309020205020404" pitchFamily="49" charset="0"/>
              </a:rPr>
              <a:t> </a:t>
            </a:r>
            <a:r>
              <a:rPr lang="en-US" altLang="zh-CN" sz="2400" b="1" dirty="0" err="1">
                <a:latin typeface="Courier New" panose="02070309020205020404" pitchFamily="49" charset="0"/>
              </a:rPr>
              <a:t>val</a:t>
            </a:r>
            <a:r>
              <a:rPr lang="en-US" altLang="zh-CN" sz="2400" b="1" dirty="0">
                <a:latin typeface="Courier New" panose="02070309020205020404" pitchFamily="49" charset="0"/>
              </a:rPr>
              <a:t>[SIZE];</a:t>
            </a:r>
          </a:p>
          <a:p>
            <a:pPr>
              <a:lnSpc>
                <a:spcPct val="80000"/>
              </a:lnSpc>
              <a:buFont typeface="Wingdings" panose="05000000000000000000" pitchFamily="2" charset="2"/>
              <a:buNone/>
            </a:pPr>
            <a:r>
              <a:rPr lang="en-US" altLang="zh-CN" sz="2400" b="1" dirty="0" err="1">
                <a:latin typeface="Courier New" panose="02070309020205020404" pitchFamily="49" charset="0"/>
              </a:rPr>
              <a:t>int</a:t>
            </a:r>
            <a:r>
              <a:rPr lang="en-US" altLang="zh-CN" sz="2400" b="1" dirty="0">
                <a:latin typeface="Courier New" panose="02070309020205020404" pitchFamily="49" charset="0"/>
              </a:rPr>
              <a:t> key[SIZE];</a:t>
            </a:r>
          </a:p>
          <a:p>
            <a:pPr>
              <a:lnSpc>
                <a:spcPct val="80000"/>
              </a:lnSpc>
              <a:buFont typeface="Wingdings" panose="05000000000000000000" pitchFamily="2" charset="2"/>
              <a:buNone/>
            </a:pPr>
            <a:endParaRPr lang="en-US" altLang="zh-CN" sz="2400" b="1" dirty="0">
              <a:latin typeface="Courier New" panose="02070309020205020404" pitchFamily="49" charset="0"/>
            </a:endParaRPr>
          </a:p>
          <a:p>
            <a:pPr>
              <a:lnSpc>
                <a:spcPct val="80000"/>
              </a:lnSpc>
              <a:buFont typeface="Wingdings" panose="05000000000000000000" pitchFamily="2" charset="2"/>
              <a:buNone/>
            </a:pPr>
            <a:r>
              <a:rPr lang="en-US" altLang="zh-CN" sz="2400" b="1" dirty="0">
                <a:solidFill>
                  <a:srgbClr val="FF0000"/>
                </a:solidFill>
                <a:latin typeface="Courier New" panose="02070309020205020404" pitchFamily="49" charset="0"/>
              </a:rPr>
              <a:t>/* After: 1 array of </a:t>
            </a:r>
            <a:r>
              <a:rPr lang="en-US" altLang="zh-CN" sz="2400" b="1" dirty="0" err="1">
                <a:solidFill>
                  <a:srgbClr val="FF0000"/>
                </a:solidFill>
                <a:latin typeface="Courier New" panose="02070309020205020404" pitchFamily="49" charset="0"/>
              </a:rPr>
              <a:t>stuctures</a:t>
            </a:r>
            <a:r>
              <a:rPr lang="en-US" altLang="zh-CN" sz="2400" b="1" dirty="0">
                <a:solidFill>
                  <a:srgbClr val="FF0000"/>
                </a:solidFill>
                <a:latin typeface="Courier New" panose="02070309020205020404" pitchFamily="49" charset="0"/>
              </a:rPr>
              <a:t> */</a:t>
            </a:r>
          </a:p>
          <a:p>
            <a:pPr>
              <a:lnSpc>
                <a:spcPct val="80000"/>
              </a:lnSpc>
              <a:buFont typeface="Wingdings" panose="05000000000000000000" pitchFamily="2" charset="2"/>
              <a:buNone/>
            </a:pPr>
            <a:r>
              <a:rPr lang="en-US" altLang="zh-CN" sz="2400" b="1" dirty="0" err="1">
                <a:solidFill>
                  <a:srgbClr val="FF0000"/>
                </a:solidFill>
                <a:latin typeface="Courier New" panose="02070309020205020404" pitchFamily="49" charset="0"/>
              </a:rPr>
              <a:t>struct</a:t>
            </a:r>
            <a:r>
              <a:rPr lang="en-US" altLang="zh-CN" sz="2400" b="1" dirty="0">
                <a:solidFill>
                  <a:srgbClr val="FF0000"/>
                </a:solidFill>
                <a:latin typeface="Courier New" panose="02070309020205020404" pitchFamily="49" charset="0"/>
              </a:rPr>
              <a:t> merge {</a:t>
            </a:r>
          </a:p>
          <a:p>
            <a:pPr>
              <a:lnSpc>
                <a:spcPct val="80000"/>
              </a:lnSpc>
              <a:buFont typeface="Wingdings" panose="05000000000000000000" pitchFamily="2" charset="2"/>
              <a:buNone/>
            </a:pPr>
            <a:r>
              <a:rPr lang="en-US" altLang="zh-CN" sz="2400" b="1" dirty="0">
                <a:solidFill>
                  <a:srgbClr val="FF0000"/>
                </a:solidFill>
                <a:latin typeface="Courier New" panose="02070309020205020404" pitchFamily="49" charset="0"/>
              </a:rPr>
              <a:t>	</a:t>
            </a:r>
            <a:r>
              <a:rPr lang="en-US" altLang="zh-CN" sz="2400" b="1" dirty="0" err="1">
                <a:solidFill>
                  <a:srgbClr val="FF0000"/>
                </a:solidFill>
                <a:latin typeface="Courier New" panose="02070309020205020404" pitchFamily="49" charset="0"/>
              </a:rPr>
              <a:t>int</a:t>
            </a:r>
            <a:r>
              <a:rPr lang="en-US" altLang="zh-CN" sz="2400" b="1" dirty="0">
                <a:solidFill>
                  <a:srgbClr val="FF0000"/>
                </a:solidFill>
                <a:latin typeface="Courier New" panose="02070309020205020404" pitchFamily="49" charset="0"/>
              </a:rPr>
              <a:t> </a:t>
            </a:r>
            <a:r>
              <a:rPr lang="en-US" altLang="zh-CN" sz="2400" b="1" dirty="0" err="1">
                <a:solidFill>
                  <a:srgbClr val="FF0000"/>
                </a:solidFill>
                <a:latin typeface="Courier New" panose="02070309020205020404" pitchFamily="49" charset="0"/>
              </a:rPr>
              <a:t>val</a:t>
            </a:r>
            <a:r>
              <a:rPr lang="en-US" altLang="zh-CN" sz="2400" b="1" dirty="0">
                <a:solidFill>
                  <a:srgbClr val="FF0000"/>
                </a:solidFill>
                <a:latin typeface="Courier New" panose="02070309020205020404" pitchFamily="49" charset="0"/>
              </a:rPr>
              <a:t>;</a:t>
            </a:r>
          </a:p>
          <a:p>
            <a:pPr>
              <a:lnSpc>
                <a:spcPct val="80000"/>
              </a:lnSpc>
              <a:buFont typeface="Wingdings" panose="05000000000000000000" pitchFamily="2" charset="2"/>
              <a:buNone/>
            </a:pPr>
            <a:r>
              <a:rPr lang="en-US" altLang="zh-CN" sz="2400" b="1" dirty="0">
                <a:solidFill>
                  <a:srgbClr val="FF0000"/>
                </a:solidFill>
                <a:latin typeface="Courier New" panose="02070309020205020404" pitchFamily="49" charset="0"/>
              </a:rPr>
              <a:t>	</a:t>
            </a:r>
            <a:r>
              <a:rPr lang="en-US" altLang="zh-CN" sz="2400" b="1" dirty="0" err="1">
                <a:solidFill>
                  <a:srgbClr val="FF0000"/>
                </a:solidFill>
                <a:latin typeface="Courier New" panose="02070309020205020404" pitchFamily="49" charset="0"/>
              </a:rPr>
              <a:t>int</a:t>
            </a:r>
            <a:r>
              <a:rPr lang="en-US" altLang="zh-CN" sz="2400" b="1" dirty="0">
                <a:solidFill>
                  <a:srgbClr val="FF0000"/>
                </a:solidFill>
                <a:latin typeface="Courier New" panose="02070309020205020404" pitchFamily="49" charset="0"/>
              </a:rPr>
              <a:t> key;</a:t>
            </a:r>
          </a:p>
          <a:p>
            <a:pPr>
              <a:lnSpc>
                <a:spcPct val="80000"/>
              </a:lnSpc>
              <a:buFont typeface="Wingdings" panose="05000000000000000000" pitchFamily="2" charset="2"/>
              <a:buNone/>
            </a:pPr>
            <a:r>
              <a:rPr lang="en-US" altLang="zh-CN" sz="2400" b="1" dirty="0">
                <a:solidFill>
                  <a:srgbClr val="FF0000"/>
                </a:solidFill>
                <a:latin typeface="Courier New" panose="02070309020205020404" pitchFamily="49" charset="0"/>
              </a:rPr>
              <a:t>};</a:t>
            </a:r>
          </a:p>
          <a:p>
            <a:pPr>
              <a:lnSpc>
                <a:spcPct val="80000"/>
              </a:lnSpc>
              <a:buFont typeface="Wingdings" panose="05000000000000000000" pitchFamily="2" charset="2"/>
              <a:buNone/>
            </a:pPr>
            <a:r>
              <a:rPr lang="en-US" altLang="zh-CN" sz="2400" b="1" dirty="0" err="1">
                <a:solidFill>
                  <a:srgbClr val="FF0000"/>
                </a:solidFill>
                <a:latin typeface="Courier New" panose="02070309020205020404" pitchFamily="49" charset="0"/>
              </a:rPr>
              <a:t>struct</a:t>
            </a:r>
            <a:r>
              <a:rPr lang="en-US" altLang="zh-CN" sz="2400" b="1" dirty="0">
                <a:solidFill>
                  <a:srgbClr val="FF0000"/>
                </a:solidFill>
                <a:latin typeface="Courier New" panose="02070309020205020404" pitchFamily="49" charset="0"/>
              </a:rPr>
              <a:t> merge </a:t>
            </a:r>
            <a:r>
              <a:rPr lang="en-US" altLang="zh-CN" sz="2400" b="1" dirty="0" err="1">
                <a:solidFill>
                  <a:srgbClr val="FF0000"/>
                </a:solidFill>
                <a:latin typeface="Courier New" panose="02070309020205020404" pitchFamily="49" charset="0"/>
              </a:rPr>
              <a:t>merged_array</a:t>
            </a:r>
            <a:r>
              <a:rPr lang="en-US" altLang="zh-CN" sz="2400" b="1" dirty="0">
                <a:solidFill>
                  <a:srgbClr val="FF0000"/>
                </a:solidFill>
                <a:latin typeface="Courier New" panose="02070309020205020404" pitchFamily="49" charset="0"/>
              </a:rPr>
              <a:t>[SIZE];</a:t>
            </a:r>
            <a:br>
              <a:rPr lang="en-US" altLang="zh-CN" sz="2400" b="1" dirty="0">
                <a:solidFill>
                  <a:srgbClr val="FF0000"/>
                </a:solidFill>
                <a:latin typeface="Courier New" panose="02070309020205020404" pitchFamily="49" charset="0"/>
              </a:rPr>
            </a:br>
            <a:r>
              <a:rPr lang="en-US" altLang="zh-CN" sz="2400" dirty="0">
                <a:solidFill>
                  <a:schemeClr val="hlink"/>
                </a:solidFill>
                <a:latin typeface="Courier New" panose="02070309020205020404" pitchFamily="49" charset="0"/>
              </a:rPr>
              <a:t/>
            </a:r>
            <a:br>
              <a:rPr lang="en-US" altLang="zh-CN" sz="2400" dirty="0">
                <a:solidFill>
                  <a:schemeClr val="hlink"/>
                </a:solidFill>
                <a:latin typeface="Courier New" panose="02070309020205020404" pitchFamily="49" charset="0"/>
              </a:rPr>
            </a:br>
            <a:r>
              <a:rPr lang="en-US" altLang="zh-CN" dirty="0" smtClean="0"/>
              <a:t>Reducing </a:t>
            </a:r>
            <a:r>
              <a:rPr lang="en-US" altLang="zh-CN" dirty="0"/>
              <a:t>conflicts between </a:t>
            </a:r>
            <a:r>
              <a:rPr lang="en-US" altLang="zh-CN" dirty="0" err="1"/>
              <a:t>val</a:t>
            </a:r>
            <a:r>
              <a:rPr lang="en-US" altLang="zh-CN" dirty="0"/>
              <a:t> &amp; key; </a:t>
            </a:r>
            <a:br>
              <a:rPr lang="en-US" altLang="zh-CN" dirty="0"/>
            </a:br>
            <a:r>
              <a:rPr lang="en-US" altLang="zh-CN" dirty="0"/>
              <a:t>improve spatial locality</a:t>
            </a:r>
          </a:p>
          <a:p>
            <a:pPr>
              <a:lnSpc>
                <a:spcPct val="80000"/>
              </a:lnSpc>
              <a:buFont typeface="Wingdings" panose="05000000000000000000" pitchFamily="2" charset="2"/>
              <a:buNone/>
            </a:pPr>
            <a:endParaRPr lang="zh-CN" altLang="zh-CN" dirty="0"/>
          </a:p>
        </p:txBody>
      </p:sp>
    </p:spTree>
    <p:extLst>
      <p:ext uri="{BB962C8B-B14F-4D97-AF65-F5344CB8AC3E}">
        <p14:creationId xmlns:p14="http://schemas.microsoft.com/office/powerpoint/2010/main" val="371519117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2438400" y="3810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Loop Interchange Example</a:t>
            </a:r>
          </a:p>
        </p:txBody>
      </p:sp>
      <p:sp>
        <p:nvSpPr>
          <p:cNvPr id="651267" name="Rectangle 3"/>
          <p:cNvSpPr>
            <a:spLocks noGrp="1" noChangeArrowheads="1"/>
          </p:cNvSpPr>
          <p:nvPr>
            <p:ph type="body" idx="1"/>
          </p:nvPr>
        </p:nvSpPr>
        <p:spPr>
          <a:xfrm>
            <a:off x="1271464" y="1447800"/>
            <a:ext cx="9217024"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buFont typeface="Wingdings" panose="05000000000000000000" pitchFamily="2" charset="2"/>
              <a:buNone/>
            </a:pPr>
            <a:r>
              <a:rPr lang="zh-CN" altLang="zh-CN" sz="2400" b="1" dirty="0">
                <a:latin typeface="Courier New" panose="02070309020205020404" pitchFamily="49" charset="0"/>
              </a:rPr>
              <a:t>/* </a:t>
            </a:r>
            <a:r>
              <a:rPr lang="en-US" altLang="zh-CN" sz="2400" b="1" dirty="0">
                <a:latin typeface="Courier New" panose="02070309020205020404" pitchFamily="49" charset="0"/>
              </a:rPr>
              <a:t>Before */</a:t>
            </a:r>
          </a:p>
          <a:p>
            <a:pPr>
              <a:lnSpc>
                <a:spcPct val="80000"/>
              </a:lnSpc>
              <a:buFont typeface="Wingdings" panose="05000000000000000000" pitchFamily="2" charset="2"/>
              <a:buNone/>
            </a:pPr>
            <a:r>
              <a:rPr lang="en-US" altLang="zh-CN" sz="2400" b="1" dirty="0">
                <a:latin typeface="Courier New" panose="02070309020205020404" pitchFamily="49" charset="0"/>
              </a:rPr>
              <a:t>for (k = 0; k &lt; 100; k = k+1)</a:t>
            </a:r>
            <a:endParaRPr lang="en-US" altLang="zh-CN" sz="2400" b="1" dirty="0">
              <a:solidFill>
                <a:schemeClr val="accent1"/>
              </a:solidFill>
              <a:latin typeface="Courier New" panose="02070309020205020404" pitchFamily="49" charset="0"/>
            </a:endParaRPr>
          </a:p>
          <a:p>
            <a:pPr>
              <a:lnSpc>
                <a:spcPct val="80000"/>
              </a:lnSpc>
              <a:buFont typeface="Wingdings" panose="05000000000000000000" pitchFamily="2" charset="2"/>
              <a:buNone/>
            </a:pPr>
            <a:r>
              <a:rPr lang="en-US" altLang="zh-CN" sz="2400" b="1" dirty="0">
                <a:solidFill>
                  <a:schemeClr val="accent1"/>
                </a:solidFill>
                <a:latin typeface="Courier New" panose="02070309020205020404" pitchFamily="49" charset="0"/>
              </a:rPr>
              <a:t>	</a:t>
            </a:r>
            <a:r>
              <a:rPr lang="en-US" altLang="zh-CN" sz="2400" b="1" dirty="0">
                <a:solidFill>
                  <a:srgbClr val="FF0000"/>
                </a:solidFill>
                <a:latin typeface="Courier New" panose="02070309020205020404" pitchFamily="49" charset="0"/>
              </a:rPr>
              <a:t>for (j = 0; j &lt; 100; j = j+1)</a:t>
            </a:r>
          </a:p>
          <a:p>
            <a:pPr>
              <a:lnSpc>
                <a:spcPct val="80000"/>
              </a:lnSpc>
              <a:buFont typeface="Wingdings" panose="05000000000000000000" pitchFamily="2" charset="2"/>
              <a:buNone/>
            </a:pPr>
            <a:r>
              <a:rPr lang="en-US" altLang="zh-CN" sz="2400" b="1" dirty="0">
                <a:solidFill>
                  <a:srgbClr val="FF0000"/>
                </a:solidFill>
                <a:latin typeface="Courier New" panose="02070309020205020404" pitchFamily="49" charset="0"/>
              </a:rPr>
              <a:t>		for (</a:t>
            </a:r>
            <a:r>
              <a:rPr lang="en-US" altLang="zh-CN" sz="2400" b="1" dirty="0" err="1">
                <a:solidFill>
                  <a:srgbClr val="FF0000"/>
                </a:solidFill>
                <a:latin typeface="Courier New" panose="02070309020205020404" pitchFamily="49" charset="0"/>
              </a:rPr>
              <a:t>i</a:t>
            </a:r>
            <a:r>
              <a:rPr lang="en-US" altLang="zh-CN" sz="2400" b="1" dirty="0">
                <a:solidFill>
                  <a:srgbClr val="FF0000"/>
                </a:solidFill>
                <a:latin typeface="Courier New" panose="02070309020205020404" pitchFamily="49" charset="0"/>
              </a:rPr>
              <a:t> = 0; </a:t>
            </a:r>
            <a:r>
              <a:rPr lang="en-US" altLang="zh-CN" sz="2400" b="1" dirty="0" err="1">
                <a:solidFill>
                  <a:srgbClr val="FF0000"/>
                </a:solidFill>
                <a:latin typeface="Courier New" panose="02070309020205020404" pitchFamily="49" charset="0"/>
              </a:rPr>
              <a:t>i</a:t>
            </a:r>
            <a:r>
              <a:rPr lang="en-US" altLang="zh-CN" sz="2400" b="1" dirty="0">
                <a:solidFill>
                  <a:srgbClr val="FF0000"/>
                </a:solidFill>
                <a:latin typeface="Courier New" panose="02070309020205020404" pitchFamily="49" charset="0"/>
              </a:rPr>
              <a:t> &lt; 5000; </a:t>
            </a:r>
            <a:r>
              <a:rPr lang="en-US" altLang="zh-CN" sz="2400" b="1" dirty="0" err="1">
                <a:solidFill>
                  <a:srgbClr val="FF0000"/>
                </a:solidFill>
                <a:latin typeface="Courier New" panose="02070309020205020404" pitchFamily="49" charset="0"/>
              </a:rPr>
              <a:t>i</a:t>
            </a:r>
            <a:r>
              <a:rPr lang="en-US" altLang="zh-CN" sz="2400" b="1" dirty="0">
                <a:solidFill>
                  <a:srgbClr val="FF0000"/>
                </a:solidFill>
                <a:latin typeface="Courier New" panose="02070309020205020404" pitchFamily="49" charset="0"/>
              </a:rPr>
              <a:t> = i+1)</a:t>
            </a:r>
          </a:p>
          <a:p>
            <a:pPr>
              <a:lnSpc>
                <a:spcPct val="80000"/>
              </a:lnSpc>
              <a:buFont typeface="Wingdings" panose="05000000000000000000" pitchFamily="2" charset="2"/>
              <a:buNone/>
            </a:pPr>
            <a:r>
              <a:rPr lang="en-US" altLang="zh-CN" sz="2400" b="1" dirty="0">
                <a:latin typeface="Courier New" panose="02070309020205020404" pitchFamily="49" charset="0"/>
              </a:rPr>
              <a:t>			x[</a:t>
            </a:r>
            <a:r>
              <a:rPr lang="en-US" altLang="zh-CN" sz="2400" b="1" dirty="0" err="1">
                <a:latin typeface="Courier New" panose="02070309020205020404" pitchFamily="49" charset="0"/>
              </a:rPr>
              <a:t>i</a:t>
            </a:r>
            <a:r>
              <a:rPr lang="en-US" altLang="zh-CN" sz="2400" b="1" dirty="0">
                <a:latin typeface="Courier New" panose="02070309020205020404" pitchFamily="49" charset="0"/>
              </a:rPr>
              <a:t>][j] = 2 * x[</a:t>
            </a:r>
            <a:r>
              <a:rPr lang="en-US" altLang="zh-CN" sz="2400" b="1" dirty="0" err="1">
                <a:latin typeface="Courier New" panose="02070309020205020404" pitchFamily="49" charset="0"/>
              </a:rPr>
              <a:t>i</a:t>
            </a:r>
            <a:r>
              <a:rPr lang="en-US" altLang="zh-CN" sz="2400" b="1" dirty="0">
                <a:latin typeface="Courier New" panose="02070309020205020404" pitchFamily="49" charset="0"/>
              </a:rPr>
              <a:t>][j];</a:t>
            </a:r>
          </a:p>
          <a:p>
            <a:pPr>
              <a:lnSpc>
                <a:spcPct val="80000"/>
              </a:lnSpc>
              <a:buFont typeface="Wingdings" panose="05000000000000000000" pitchFamily="2" charset="2"/>
              <a:buNone/>
            </a:pPr>
            <a:r>
              <a:rPr lang="en-US" altLang="zh-CN" sz="2400" b="1" dirty="0">
                <a:latin typeface="Courier New" panose="02070309020205020404" pitchFamily="49" charset="0"/>
              </a:rPr>
              <a:t>/* After */</a:t>
            </a:r>
          </a:p>
          <a:p>
            <a:pPr>
              <a:lnSpc>
                <a:spcPct val="80000"/>
              </a:lnSpc>
              <a:buFont typeface="Wingdings" panose="05000000000000000000" pitchFamily="2" charset="2"/>
              <a:buNone/>
            </a:pPr>
            <a:r>
              <a:rPr lang="en-US" altLang="zh-CN" sz="2400" b="1" dirty="0">
                <a:latin typeface="Courier New" panose="02070309020205020404" pitchFamily="49" charset="0"/>
              </a:rPr>
              <a:t>for (k = 0; k &lt; 100; k = k+1)</a:t>
            </a:r>
            <a:endParaRPr lang="en-US" altLang="zh-CN" sz="2400" b="1" dirty="0">
              <a:solidFill>
                <a:schemeClr val="hlink"/>
              </a:solidFill>
              <a:latin typeface="Courier New" panose="02070309020205020404" pitchFamily="49" charset="0"/>
            </a:endParaRPr>
          </a:p>
          <a:p>
            <a:pPr>
              <a:lnSpc>
                <a:spcPct val="80000"/>
              </a:lnSpc>
              <a:buFont typeface="Wingdings" panose="05000000000000000000" pitchFamily="2" charset="2"/>
              <a:buNone/>
            </a:pPr>
            <a:r>
              <a:rPr lang="en-US" altLang="zh-CN" sz="2400" b="1" dirty="0">
                <a:solidFill>
                  <a:schemeClr val="hlink"/>
                </a:solidFill>
                <a:latin typeface="Courier New" panose="02070309020205020404" pitchFamily="49" charset="0"/>
              </a:rPr>
              <a:t>	</a:t>
            </a:r>
            <a:r>
              <a:rPr lang="en-US" altLang="zh-CN" sz="2400" b="1" u="sng" dirty="0">
                <a:solidFill>
                  <a:srgbClr val="C00000"/>
                </a:solidFill>
                <a:latin typeface="Courier New" panose="02070309020205020404" pitchFamily="49" charset="0"/>
              </a:rPr>
              <a:t>for (</a:t>
            </a:r>
            <a:r>
              <a:rPr lang="en-US" altLang="zh-CN" sz="2400" b="1" u="sng" dirty="0" err="1">
                <a:solidFill>
                  <a:srgbClr val="C00000"/>
                </a:solidFill>
                <a:latin typeface="Courier New" panose="02070309020205020404" pitchFamily="49" charset="0"/>
              </a:rPr>
              <a:t>i</a:t>
            </a:r>
            <a:r>
              <a:rPr lang="en-US" altLang="zh-CN" sz="2400" b="1" u="sng" dirty="0">
                <a:solidFill>
                  <a:srgbClr val="C00000"/>
                </a:solidFill>
                <a:latin typeface="Courier New" panose="02070309020205020404" pitchFamily="49" charset="0"/>
              </a:rPr>
              <a:t> = 0; </a:t>
            </a:r>
            <a:r>
              <a:rPr lang="en-US" altLang="zh-CN" sz="2400" b="1" u="sng" dirty="0" err="1">
                <a:solidFill>
                  <a:srgbClr val="C00000"/>
                </a:solidFill>
                <a:latin typeface="Courier New" panose="02070309020205020404" pitchFamily="49" charset="0"/>
              </a:rPr>
              <a:t>i</a:t>
            </a:r>
            <a:r>
              <a:rPr lang="en-US" altLang="zh-CN" sz="2400" b="1" u="sng" dirty="0">
                <a:solidFill>
                  <a:srgbClr val="C00000"/>
                </a:solidFill>
                <a:latin typeface="Courier New" panose="02070309020205020404" pitchFamily="49" charset="0"/>
              </a:rPr>
              <a:t> &lt; 5000; </a:t>
            </a:r>
            <a:r>
              <a:rPr lang="en-US" altLang="zh-CN" sz="2400" b="1" u="sng" dirty="0" err="1">
                <a:solidFill>
                  <a:srgbClr val="C00000"/>
                </a:solidFill>
                <a:latin typeface="Courier New" panose="02070309020205020404" pitchFamily="49" charset="0"/>
              </a:rPr>
              <a:t>i</a:t>
            </a:r>
            <a:r>
              <a:rPr lang="en-US" altLang="zh-CN" sz="2400" b="1" u="sng" dirty="0">
                <a:solidFill>
                  <a:srgbClr val="C00000"/>
                </a:solidFill>
                <a:latin typeface="Courier New" panose="02070309020205020404" pitchFamily="49" charset="0"/>
              </a:rPr>
              <a:t> = i+1)</a:t>
            </a:r>
            <a:endParaRPr lang="en-US" altLang="zh-CN" sz="2400" b="1" dirty="0">
              <a:solidFill>
                <a:srgbClr val="C00000"/>
              </a:solidFill>
              <a:latin typeface="Courier New" panose="02070309020205020404" pitchFamily="49" charset="0"/>
            </a:endParaRPr>
          </a:p>
          <a:p>
            <a:pPr>
              <a:lnSpc>
                <a:spcPct val="80000"/>
              </a:lnSpc>
              <a:buFont typeface="Wingdings" panose="05000000000000000000" pitchFamily="2" charset="2"/>
              <a:buNone/>
            </a:pPr>
            <a:r>
              <a:rPr lang="en-US" altLang="zh-CN" sz="2400" b="1" dirty="0">
                <a:solidFill>
                  <a:srgbClr val="C00000"/>
                </a:solidFill>
                <a:latin typeface="Courier New" panose="02070309020205020404" pitchFamily="49" charset="0"/>
              </a:rPr>
              <a:t>		</a:t>
            </a:r>
            <a:r>
              <a:rPr lang="en-US" altLang="zh-CN" sz="2400" b="1" u="sng" dirty="0">
                <a:solidFill>
                  <a:srgbClr val="C00000"/>
                </a:solidFill>
                <a:latin typeface="Courier New" panose="02070309020205020404" pitchFamily="49" charset="0"/>
              </a:rPr>
              <a:t>for (j = 0; j &lt; 100; j = j+1)</a:t>
            </a:r>
            <a:endParaRPr lang="en-US" altLang="zh-CN" sz="2400" b="1" dirty="0">
              <a:solidFill>
                <a:srgbClr val="C00000"/>
              </a:solidFill>
              <a:latin typeface="Courier New" panose="02070309020205020404" pitchFamily="49" charset="0"/>
            </a:endParaRPr>
          </a:p>
          <a:p>
            <a:pPr>
              <a:lnSpc>
                <a:spcPct val="80000"/>
              </a:lnSpc>
              <a:buFont typeface="Wingdings" panose="05000000000000000000" pitchFamily="2" charset="2"/>
              <a:buNone/>
            </a:pPr>
            <a:r>
              <a:rPr lang="en-US" altLang="zh-CN" sz="2400" b="1" dirty="0">
                <a:latin typeface="Courier New" panose="02070309020205020404" pitchFamily="49" charset="0"/>
              </a:rPr>
              <a:t>			x[</a:t>
            </a:r>
            <a:r>
              <a:rPr lang="en-US" altLang="zh-CN" sz="2400" b="1" dirty="0" err="1">
                <a:latin typeface="Courier New" panose="02070309020205020404" pitchFamily="49" charset="0"/>
              </a:rPr>
              <a:t>i</a:t>
            </a:r>
            <a:r>
              <a:rPr lang="en-US" altLang="zh-CN" sz="2400" b="1" dirty="0">
                <a:latin typeface="Courier New" panose="02070309020205020404" pitchFamily="49" charset="0"/>
              </a:rPr>
              <a:t>][j] = 2 * x[</a:t>
            </a:r>
            <a:r>
              <a:rPr lang="en-US" altLang="zh-CN" sz="2400" b="1" dirty="0" err="1">
                <a:latin typeface="Courier New" panose="02070309020205020404" pitchFamily="49" charset="0"/>
              </a:rPr>
              <a:t>i</a:t>
            </a:r>
            <a:r>
              <a:rPr lang="en-US" altLang="zh-CN" sz="2400" b="1" dirty="0">
                <a:latin typeface="Courier New" panose="02070309020205020404" pitchFamily="49" charset="0"/>
              </a:rPr>
              <a:t>][j];</a:t>
            </a:r>
            <a:br>
              <a:rPr lang="en-US" altLang="zh-CN" sz="2400" b="1" dirty="0">
                <a:latin typeface="Courier New" panose="02070309020205020404" pitchFamily="49" charset="0"/>
              </a:rPr>
            </a:br>
            <a:endParaRPr lang="en-US" altLang="zh-CN" dirty="0"/>
          </a:p>
          <a:p>
            <a:pPr>
              <a:lnSpc>
                <a:spcPct val="80000"/>
              </a:lnSpc>
              <a:buFont typeface="Wingdings" panose="05000000000000000000" pitchFamily="2" charset="2"/>
              <a:buNone/>
            </a:pPr>
            <a:r>
              <a:rPr lang="en-US" altLang="zh-CN" dirty="0"/>
              <a:t>Sequential accesses instead of striding through memory every 100 words; improved spatial locality</a:t>
            </a:r>
          </a:p>
        </p:txBody>
      </p:sp>
      <p:sp>
        <p:nvSpPr>
          <p:cNvPr id="651268" name="Arc 4"/>
          <p:cNvSpPr>
            <a:spLocks/>
          </p:cNvSpPr>
          <p:nvPr/>
        </p:nvSpPr>
        <p:spPr bwMode="auto">
          <a:xfrm rot="10920000">
            <a:off x="1277452" y="4735895"/>
            <a:ext cx="622300" cy="354013"/>
          </a:xfrm>
          <a:custGeom>
            <a:avLst/>
            <a:gdLst>
              <a:gd name="G0" fmla="+- 55 0 0"/>
              <a:gd name="G1" fmla="+- 21600 0 0"/>
              <a:gd name="G2" fmla="+- 21600 0 0"/>
              <a:gd name="T0" fmla="*/ 0 w 21655"/>
              <a:gd name="T1" fmla="*/ 0 h 21600"/>
              <a:gd name="T2" fmla="*/ 21655 w 21655"/>
              <a:gd name="T3" fmla="*/ 21600 h 21600"/>
              <a:gd name="T4" fmla="*/ 55 w 21655"/>
              <a:gd name="T5" fmla="*/ 21600 h 21600"/>
            </a:gdLst>
            <a:ahLst/>
            <a:cxnLst>
              <a:cxn ang="0">
                <a:pos x="T0" y="T1"/>
              </a:cxn>
              <a:cxn ang="0">
                <a:pos x="T2" y="T3"/>
              </a:cxn>
              <a:cxn ang="0">
                <a:pos x="T4" y="T5"/>
              </a:cxn>
            </a:cxnLst>
            <a:rect l="0" t="0" r="r" b="b"/>
            <a:pathLst>
              <a:path w="21655" h="21600" fill="none" extrusionOk="0">
                <a:moveTo>
                  <a:pt x="0" y="0"/>
                </a:moveTo>
                <a:cubicBezTo>
                  <a:pt x="18" y="0"/>
                  <a:pt x="36" y="0"/>
                  <a:pt x="55" y="0"/>
                </a:cubicBezTo>
                <a:cubicBezTo>
                  <a:pt x="11984" y="0"/>
                  <a:pt x="21655" y="9670"/>
                  <a:pt x="21655" y="21600"/>
                </a:cubicBezTo>
              </a:path>
              <a:path w="21655" h="21600" stroke="0" extrusionOk="0">
                <a:moveTo>
                  <a:pt x="0" y="0"/>
                </a:moveTo>
                <a:cubicBezTo>
                  <a:pt x="18" y="0"/>
                  <a:pt x="36" y="0"/>
                  <a:pt x="55" y="0"/>
                </a:cubicBezTo>
                <a:cubicBezTo>
                  <a:pt x="11984" y="0"/>
                  <a:pt x="21655" y="9670"/>
                  <a:pt x="21655" y="21600"/>
                </a:cubicBezTo>
                <a:lnTo>
                  <a:pt x="55" y="21600"/>
                </a:lnTo>
                <a:close/>
              </a:path>
            </a:pathLst>
          </a:custGeom>
          <a:noFill/>
          <a:ln w="25400" cap="rnd">
            <a:solidFill>
              <a:schemeClr val="hlink"/>
            </a:solidFill>
            <a:round/>
            <a:headEnd type="triangl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084699729"/>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a:xfrm>
            <a:off x="2209800" y="3810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Loop Fusion Example</a:t>
            </a:r>
          </a:p>
        </p:txBody>
      </p:sp>
      <p:sp>
        <p:nvSpPr>
          <p:cNvPr id="652291" name="Rectangle 3"/>
          <p:cNvSpPr>
            <a:spLocks noGrp="1" noChangeArrowheads="1"/>
          </p:cNvSpPr>
          <p:nvPr>
            <p:ph type="body" idx="1"/>
          </p:nvPr>
        </p:nvSpPr>
        <p:spPr>
          <a:xfrm>
            <a:off x="911424" y="1556792"/>
            <a:ext cx="10801200" cy="495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buFont typeface="Wingdings" panose="05000000000000000000" pitchFamily="2" charset="2"/>
              <a:buNone/>
            </a:pPr>
            <a:r>
              <a:rPr lang="zh-CN" altLang="zh-CN" sz="2000" b="1" dirty="0">
                <a:latin typeface="Courier New" panose="02070309020205020404" pitchFamily="49" charset="0"/>
              </a:rPr>
              <a:t>/* </a:t>
            </a:r>
            <a:r>
              <a:rPr lang="en-US" altLang="zh-CN" sz="2000" b="1" dirty="0">
                <a:latin typeface="Courier New" panose="02070309020205020404" pitchFamily="49" charset="0"/>
              </a:rPr>
              <a:t>Before */</a:t>
            </a:r>
          </a:p>
          <a:p>
            <a:pPr>
              <a:lnSpc>
                <a:spcPct val="80000"/>
              </a:lnSpc>
              <a:buFont typeface="Wingdings" panose="05000000000000000000" pitchFamily="2" charset="2"/>
              <a:buNone/>
            </a:pPr>
            <a:r>
              <a:rPr lang="en-US" altLang="zh-CN" sz="2000" b="1" dirty="0">
                <a:latin typeface="Courier New" panose="02070309020205020404" pitchFamily="49" charset="0"/>
              </a:rPr>
              <a:t>for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0;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&lt; N;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i+1)</a:t>
            </a:r>
          </a:p>
          <a:p>
            <a:pPr>
              <a:lnSpc>
                <a:spcPct val="80000"/>
              </a:lnSpc>
              <a:buFont typeface="Wingdings" panose="05000000000000000000" pitchFamily="2" charset="2"/>
              <a:buNone/>
            </a:pPr>
            <a:r>
              <a:rPr lang="en-US" altLang="zh-CN" sz="2000" b="1" dirty="0">
                <a:latin typeface="Courier New" panose="02070309020205020404" pitchFamily="49" charset="0"/>
              </a:rPr>
              <a:t>	for (j = 0; j &lt; N; j = j+1)</a:t>
            </a:r>
          </a:p>
          <a:p>
            <a:pPr>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u="sng" dirty="0">
                <a:solidFill>
                  <a:srgbClr val="FF0000"/>
                </a:solidFill>
                <a:latin typeface="Courier New" panose="02070309020205020404" pitchFamily="49" charset="0"/>
              </a:rPr>
              <a:t>a[</a:t>
            </a:r>
            <a:r>
              <a:rPr lang="en-US" altLang="zh-CN" sz="2000" b="1" u="sng" dirty="0" err="1">
                <a:solidFill>
                  <a:srgbClr val="FF0000"/>
                </a:solidFill>
                <a:latin typeface="Courier New" panose="02070309020205020404" pitchFamily="49" charset="0"/>
              </a:rPr>
              <a:t>i</a:t>
            </a:r>
            <a:r>
              <a:rPr lang="en-US" altLang="zh-CN" sz="2000" b="1" u="sng" dirty="0">
                <a:solidFill>
                  <a:srgbClr val="FF0000"/>
                </a:solidFill>
                <a:latin typeface="Courier New" panose="02070309020205020404" pitchFamily="49" charset="0"/>
              </a:rPr>
              <a:t>][j] </a:t>
            </a:r>
            <a:r>
              <a:rPr lang="en-US" altLang="zh-CN" sz="2000" b="1" dirty="0">
                <a:latin typeface="Courier New" panose="02070309020205020404" pitchFamily="49" charset="0"/>
              </a:rPr>
              <a:t>= 1/b[</a:t>
            </a:r>
            <a:r>
              <a:rPr lang="en-US" altLang="zh-CN" sz="2000" b="1" dirty="0" err="1">
                <a:latin typeface="Courier New" panose="02070309020205020404" pitchFamily="49" charset="0"/>
              </a:rPr>
              <a:t>i</a:t>
            </a:r>
            <a:r>
              <a:rPr lang="en-US" altLang="zh-CN" sz="2000" b="1" dirty="0">
                <a:latin typeface="Courier New" panose="02070309020205020404" pitchFamily="49" charset="0"/>
              </a:rPr>
              <a:t>][j] * </a:t>
            </a:r>
            <a:r>
              <a:rPr lang="en-US" altLang="zh-CN" sz="2000" b="1" u="sng" dirty="0">
                <a:solidFill>
                  <a:srgbClr val="FF0000"/>
                </a:solidFill>
                <a:latin typeface="Courier New" panose="02070309020205020404" pitchFamily="49" charset="0"/>
              </a:rPr>
              <a:t>c[</a:t>
            </a:r>
            <a:r>
              <a:rPr lang="en-US" altLang="zh-CN" sz="2000" b="1" u="sng" dirty="0" err="1">
                <a:solidFill>
                  <a:srgbClr val="FF0000"/>
                </a:solidFill>
                <a:latin typeface="Courier New" panose="02070309020205020404" pitchFamily="49" charset="0"/>
              </a:rPr>
              <a:t>i</a:t>
            </a:r>
            <a:r>
              <a:rPr lang="en-US" altLang="zh-CN" sz="2000" b="1" u="sng" dirty="0">
                <a:solidFill>
                  <a:srgbClr val="FF0000"/>
                </a:solidFill>
                <a:latin typeface="Courier New" panose="02070309020205020404" pitchFamily="49" charset="0"/>
              </a:rPr>
              <a:t>][j]</a:t>
            </a:r>
            <a:r>
              <a:rPr lang="en-US" altLang="zh-CN" sz="2000" b="1" dirty="0">
                <a:latin typeface="Courier New" panose="02070309020205020404" pitchFamily="49" charset="0"/>
              </a:rPr>
              <a:t>;</a:t>
            </a:r>
          </a:p>
          <a:p>
            <a:pPr>
              <a:lnSpc>
                <a:spcPct val="80000"/>
              </a:lnSpc>
              <a:buFont typeface="Wingdings" panose="05000000000000000000" pitchFamily="2" charset="2"/>
              <a:buNone/>
            </a:pPr>
            <a:r>
              <a:rPr lang="en-US" altLang="zh-CN" sz="2000" b="1" dirty="0">
                <a:latin typeface="Courier New" panose="02070309020205020404" pitchFamily="49" charset="0"/>
              </a:rPr>
              <a:t>for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0;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&lt; N;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i+1)</a:t>
            </a:r>
          </a:p>
          <a:p>
            <a:pPr>
              <a:lnSpc>
                <a:spcPct val="80000"/>
              </a:lnSpc>
              <a:buFont typeface="Wingdings" panose="05000000000000000000" pitchFamily="2" charset="2"/>
              <a:buNone/>
            </a:pPr>
            <a:r>
              <a:rPr lang="en-US" altLang="zh-CN" sz="2000" b="1" dirty="0">
                <a:latin typeface="Courier New" panose="02070309020205020404" pitchFamily="49" charset="0"/>
              </a:rPr>
              <a:t>	for (j = 0; j &lt; N; j = j+1)</a:t>
            </a:r>
          </a:p>
          <a:p>
            <a:pPr>
              <a:lnSpc>
                <a:spcPct val="80000"/>
              </a:lnSpc>
              <a:buFont typeface="Wingdings" panose="05000000000000000000" pitchFamily="2" charset="2"/>
              <a:buNone/>
            </a:pPr>
            <a:r>
              <a:rPr lang="en-US" altLang="zh-CN" sz="2000" b="1" dirty="0">
                <a:latin typeface="Courier New" panose="02070309020205020404" pitchFamily="49" charset="0"/>
              </a:rPr>
              <a:t>		d[</a:t>
            </a:r>
            <a:r>
              <a:rPr lang="en-US" altLang="zh-CN" sz="2000" b="1" dirty="0" err="1">
                <a:latin typeface="Courier New" panose="02070309020205020404" pitchFamily="49" charset="0"/>
              </a:rPr>
              <a:t>i</a:t>
            </a:r>
            <a:r>
              <a:rPr lang="en-US" altLang="zh-CN" sz="2000" b="1" dirty="0">
                <a:latin typeface="Courier New" panose="02070309020205020404" pitchFamily="49" charset="0"/>
              </a:rPr>
              <a:t>][j] = </a:t>
            </a:r>
            <a:r>
              <a:rPr lang="en-US" altLang="zh-CN" sz="2000" b="1" u="sng" dirty="0">
                <a:solidFill>
                  <a:srgbClr val="FF0000"/>
                </a:solidFill>
                <a:latin typeface="Courier New" panose="02070309020205020404" pitchFamily="49" charset="0"/>
              </a:rPr>
              <a:t>a[</a:t>
            </a:r>
            <a:r>
              <a:rPr lang="en-US" altLang="zh-CN" sz="2000" b="1" u="sng" dirty="0" err="1">
                <a:solidFill>
                  <a:srgbClr val="FF0000"/>
                </a:solidFill>
                <a:latin typeface="Courier New" panose="02070309020205020404" pitchFamily="49" charset="0"/>
              </a:rPr>
              <a:t>i</a:t>
            </a:r>
            <a:r>
              <a:rPr lang="en-US" altLang="zh-CN" sz="2000" b="1" u="sng" dirty="0">
                <a:solidFill>
                  <a:srgbClr val="FF0000"/>
                </a:solidFill>
                <a:latin typeface="Courier New" panose="02070309020205020404" pitchFamily="49" charset="0"/>
              </a:rPr>
              <a:t>][j] </a:t>
            </a:r>
            <a:r>
              <a:rPr lang="en-US" altLang="zh-CN" sz="2000" b="1" dirty="0">
                <a:latin typeface="Courier New" panose="02070309020205020404" pitchFamily="49" charset="0"/>
              </a:rPr>
              <a:t>+ </a:t>
            </a:r>
            <a:r>
              <a:rPr lang="en-US" altLang="zh-CN" sz="2000" b="1" u="sng" dirty="0">
                <a:solidFill>
                  <a:srgbClr val="FF0000"/>
                </a:solidFill>
                <a:latin typeface="Courier New" panose="02070309020205020404" pitchFamily="49" charset="0"/>
              </a:rPr>
              <a:t>c[</a:t>
            </a:r>
            <a:r>
              <a:rPr lang="en-US" altLang="zh-CN" sz="2000" b="1" u="sng" dirty="0" err="1">
                <a:solidFill>
                  <a:srgbClr val="FF0000"/>
                </a:solidFill>
                <a:latin typeface="Courier New" panose="02070309020205020404" pitchFamily="49" charset="0"/>
              </a:rPr>
              <a:t>i</a:t>
            </a:r>
            <a:r>
              <a:rPr lang="en-US" altLang="zh-CN" sz="2000" b="1" u="sng" dirty="0">
                <a:solidFill>
                  <a:srgbClr val="FF0000"/>
                </a:solidFill>
                <a:latin typeface="Courier New" panose="02070309020205020404" pitchFamily="49" charset="0"/>
              </a:rPr>
              <a:t>][j]</a:t>
            </a:r>
            <a:r>
              <a:rPr lang="en-US" altLang="zh-CN" sz="2000" b="1" dirty="0">
                <a:latin typeface="Courier New" panose="02070309020205020404" pitchFamily="49" charset="0"/>
              </a:rPr>
              <a:t>;</a:t>
            </a:r>
          </a:p>
          <a:p>
            <a:pPr>
              <a:lnSpc>
                <a:spcPct val="80000"/>
              </a:lnSpc>
              <a:buFont typeface="Wingdings" panose="05000000000000000000" pitchFamily="2" charset="2"/>
              <a:buNone/>
            </a:pPr>
            <a:r>
              <a:rPr lang="en-US" altLang="zh-CN" sz="2000" b="1" dirty="0">
                <a:latin typeface="Courier New" panose="02070309020205020404" pitchFamily="49" charset="0"/>
              </a:rPr>
              <a:t>/* After */</a:t>
            </a:r>
          </a:p>
          <a:p>
            <a:pPr>
              <a:lnSpc>
                <a:spcPct val="80000"/>
              </a:lnSpc>
              <a:buFont typeface="Wingdings" panose="05000000000000000000" pitchFamily="2" charset="2"/>
              <a:buNone/>
            </a:pPr>
            <a:r>
              <a:rPr lang="en-US" altLang="zh-CN" sz="2000" b="1" dirty="0">
                <a:latin typeface="Courier New" panose="02070309020205020404" pitchFamily="49" charset="0"/>
              </a:rPr>
              <a:t>for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0;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&lt; N;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i+1)</a:t>
            </a:r>
          </a:p>
          <a:p>
            <a:pPr>
              <a:lnSpc>
                <a:spcPct val="80000"/>
              </a:lnSpc>
              <a:buFont typeface="Wingdings" panose="05000000000000000000" pitchFamily="2" charset="2"/>
              <a:buNone/>
            </a:pPr>
            <a:r>
              <a:rPr lang="en-US" altLang="zh-CN" sz="2000" b="1" dirty="0">
                <a:latin typeface="Courier New" panose="02070309020205020404" pitchFamily="49" charset="0"/>
              </a:rPr>
              <a:t>	for (j = 0; j &lt; N; j = j+1)</a:t>
            </a:r>
          </a:p>
          <a:p>
            <a:pPr>
              <a:lnSpc>
                <a:spcPct val="80000"/>
              </a:lnSpc>
              <a:buFont typeface="Wingdings" panose="05000000000000000000" pitchFamily="2" charset="2"/>
              <a:buNone/>
            </a:pPr>
            <a:r>
              <a:rPr lang="en-US" altLang="zh-CN" sz="2000" b="1" dirty="0">
                <a:solidFill>
                  <a:srgbClr val="C00000"/>
                </a:solidFill>
                <a:latin typeface="Courier New" panose="02070309020205020404" pitchFamily="49" charset="0"/>
              </a:rPr>
              <a:t>	{	</a:t>
            </a:r>
            <a:r>
              <a:rPr lang="en-US" altLang="zh-CN" sz="2000" b="1" u="sng" dirty="0">
                <a:solidFill>
                  <a:srgbClr val="C00000"/>
                </a:solidFill>
                <a:latin typeface="Courier New" panose="02070309020205020404" pitchFamily="49" charset="0"/>
              </a:rPr>
              <a:t>a[</a:t>
            </a:r>
            <a:r>
              <a:rPr lang="en-US" altLang="zh-CN" sz="2000" b="1" u="sng" dirty="0" err="1">
                <a:solidFill>
                  <a:srgbClr val="C00000"/>
                </a:solidFill>
                <a:latin typeface="Courier New" panose="02070309020205020404" pitchFamily="49" charset="0"/>
              </a:rPr>
              <a:t>i</a:t>
            </a:r>
            <a:r>
              <a:rPr lang="en-US" altLang="zh-CN" sz="2000" b="1" u="sng" dirty="0">
                <a:solidFill>
                  <a:srgbClr val="C00000"/>
                </a:solidFill>
                <a:latin typeface="Courier New" panose="02070309020205020404" pitchFamily="49" charset="0"/>
              </a:rPr>
              <a:t>][j] = 1/b[</a:t>
            </a:r>
            <a:r>
              <a:rPr lang="en-US" altLang="zh-CN" sz="2000" b="1" u="sng" dirty="0" err="1">
                <a:solidFill>
                  <a:srgbClr val="C00000"/>
                </a:solidFill>
                <a:latin typeface="Courier New" panose="02070309020205020404" pitchFamily="49" charset="0"/>
              </a:rPr>
              <a:t>i</a:t>
            </a:r>
            <a:r>
              <a:rPr lang="en-US" altLang="zh-CN" sz="2000" b="1" u="sng" dirty="0">
                <a:solidFill>
                  <a:srgbClr val="C00000"/>
                </a:solidFill>
                <a:latin typeface="Courier New" panose="02070309020205020404" pitchFamily="49" charset="0"/>
              </a:rPr>
              <a:t>][j] * c[</a:t>
            </a:r>
            <a:r>
              <a:rPr lang="en-US" altLang="zh-CN" sz="2000" b="1" u="sng" dirty="0" err="1">
                <a:solidFill>
                  <a:srgbClr val="C00000"/>
                </a:solidFill>
                <a:latin typeface="Courier New" panose="02070309020205020404" pitchFamily="49" charset="0"/>
              </a:rPr>
              <a:t>i</a:t>
            </a:r>
            <a:r>
              <a:rPr lang="en-US" altLang="zh-CN" sz="2000" b="1" u="sng" dirty="0">
                <a:solidFill>
                  <a:srgbClr val="C00000"/>
                </a:solidFill>
                <a:latin typeface="Courier New" panose="02070309020205020404" pitchFamily="49" charset="0"/>
              </a:rPr>
              <a:t>][j]</a:t>
            </a:r>
            <a:r>
              <a:rPr lang="en-US" altLang="zh-CN" sz="2000" b="1" dirty="0">
                <a:solidFill>
                  <a:srgbClr val="C00000"/>
                </a:solidFill>
                <a:latin typeface="Courier New" panose="02070309020205020404" pitchFamily="49" charset="0"/>
              </a:rPr>
              <a:t>;</a:t>
            </a:r>
          </a:p>
          <a:p>
            <a:pPr>
              <a:lnSpc>
                <a:spcPct val="80000"/>
              </a:lnSpc>
              <a:buFont typeface="Wingdings" panose="05000000000000000000" pitchFamily="2" charset="2"/>
              <a:buNone/>
            </a:pPr>
            <a:r>
              <a:rPr lang="en-US" altLang="zh-CN" sz="2000" b="1" dirty="0">
                <a:solidFill>
                  <a:srgbClr val="C00000"/>
                </a:solidFill>
                <a:latin typeface="Courier New" panose="02070309020205020404" pitchFamily="49" charset="0"/>
              </a:rPr>
              <a:t>		</a:t>
            </a:r>
            <a:r>
              <a:rPr lang="en-US" altLang="zh-CN" sz="2000" b="1" u="sng" dirty="0">
                <a:solidFill>
                  <a:srgbClr val="C00000"/>
                </a:solidFill>
                <a:latin typeface="Courier New" panose="02070309020205020404" pitchFamily="49" charset="0"/>
              </a:rPr>
              <a:t>d[</a:t>
            </a:r>
            <a:r>
              <a:rPr lang="en-US" altLang="zh-CN" sz="2000" b="1" u="sng" dirty="0" err="1">
                <a:solidFill>
                  <a:srgbClr val="C00000"/>
                </a:solidFill>
                <a:latin typeface="Courier New" panose="02070309020205020404" pitchFamily="49" charset="0"/>
              </a:rPr>
              <a:t>i</a:t>
            </a:r>
            <a:r>
              <a:rPr lang="en-US" altLang="zh-CN" sz="2000" b="1" u="sng" dirty="0">
                <a:solidFill>
                  <a:srgbClr val="C00000"/>
                </a:solidFill>
                <a:latin typeface="Courier New" panose="02070309020205020404" pitchFamily="49" charset="0"/>
              </a:rPr>
              <a:t>][j] = a[</a:t>
            </a:r>
            <a:r>
              <a:rPr lang="en-US" altLang="zh-CN" sz="2000" b="1" u="sng" dirty="0" err="1">
                <a:solidFill>
                  <a:srgbClr val="C00000"/>
                </a:solidFill>
                <a:latin typeface="Courier New" panose="02070309020205020404" pitchFamily="49" charset="0"/>
              </a:rPr>
              <a:t>i</a:t>
            </a:r>
            <a:r>
              <a:rPr lang="en-US" altLang="zh-CN" sz="2000" b="1" u="sng" dirty="0">
                <a:solidFill>
                  <a:srgbClr val="C00000"/>
                </a:solidFill>
                <a:latin typeface="Courier New" panose="02070309020205020404" pitchFamily="49" charset="0"/>
              </a:rPr>
              <a:t>][j] + c[</a:t>
            </a:r>
            <a:r>
              <a:rPr lang="en-US" altLang="zh-CN" sz="2000" b="1" u="sng" dirty="0" err="1">
                <a:solidFill>
                  <a:srgbClr val="C00000"/>
                </a:solidFill>
                <a:latin typeface="Courier New" panose="02070309020205020404" pitchFamily="49" charset="0"/>
              </a:rPr>
              <a:t>i</a:t>
            </a:r>
            <a:r>
              <a:rPr lang="en-US" altLang="zh-CN" sz="2000" b="1" u="sng" dirty="0">
                <a:solidFill>
                  <a:srgbClr val="C00000"/>
                </a:solidFill>
                <a:latin typeface="Courier New" panose="02070309020205020404" pitchFamily="49" charset="0"/>
              </a:rPr>
              <a:t>][j]</a:t>
            </a:r>
            <a:r>
              <a:rPr lang="en-US" altLang="zh-CN" sz="2000" b="1" dirty="0">
                <a:solidFill>
                  <a:srgbClr val="C00000"/>
                </a:solidFill>
                <a:latin typeface="Courier New" panose="02070309020205020404" pitchFamily="49" charset="0"/>
              </a:rPr>
              <a:t>;}</a:t>
            </a:r>
            <a:r>
              <a:rPr lang="en-US" altLang="zh-CN" sz="2000" b="1" dirty="0">
                <a:solidFill>
                  <a:schemeClr val="hlink"/>
                </a:solidFill>
                <a:latin typeface="Courier New" panose="02070309020205020404" pitchFamily="49" charset="0"/>
              </a:rPr>
              <a:t/>
            </a:r>
            <a:br>
              <a:rPr lang="en-US" altLang="zh-CN" sz="2000" b="1" dirty="0">
                <a:solidFill>
                  <a:schemeClr val="hlink"/>
                </a:solidFill>
                <a:latin typeface="Courier New" panose="02070309020205020404" pitchFamily="49" charset="0"/>
              </a:rPr>
            </a:br>
            <a:endParaRPr lang="en-US" altLang="zh-CN" sz="2400" dirty="0"/>
          </a:p>
          <a:p>
            <a:pPr>
              <a:lnSpc>
                <a:spcPct val="80000"/>
              </a:lnSpc>
              <a:buFont typeface="Wingdings" panose="05000000000000000000" pitchFamily="2" charset="2"/>
              <a:buNone/>
            </a:pPr>
            <a:r>
              <a:rPr lang="en-US" altLang="zh-CN" sz="2400" dirty="0"/>
              <a:t>2 misses per access to </a:t>
            </a:r>
            <a:r>
              <a:rPr lang="en-US" altLang="zh-CN" sz="2400" b="1" dirty="0">
                <a:latin typeface="Courier New" panose="02070309020205020404" pitchFamily="49" charset="0"/>
              </a:rPr>
              <a:t>a</a:t>
            </a:r>
            <a:r>
              <a:rPr lang="en-US" altLang="zh-CN" sz="2400" dirty="0"/>
              <a:t> &amp; </a:t>
            </a:r>
            <a:r>
              <a:rPr lang="en-US" altLang="zh-CN" sz="2400" b="1" dirty="0">
                <a:latin typeface="Courier New" panose="02070309020205020404" pitchFamily="49" charset="0"/>
              </a:rPr>
              <a:t>c</a:t>
            </a:r>
            <a:r>
              <a:rPr lang="en-US" altLang="zh-CN" sz="2400" dirty="0"/>
              <a:t> vs. one miss per access; improve spatial locality</a:t>
            </a:r>
          </a:p>
        </p:txBody>
      </p:sp>
    </p:spTree>
    <p:extLst>
      <p:ext uri="{BB962C8B-B14F-4D97-AF65-F5344CB8AC3E}">
        <p14:creationId xmlns:p14="http://schemas.microsoft.com/office/powerpoint/2010/main" val="481453480"/>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a:xfrm>
            <a:off x="852975" y="187122"/>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Blocking Example</a:t>
            </a:r>
          </a:p>
        </p:txBody>
      </p:sp>
      <p:sp>
        <p:nvSpPr>
          <p:cNvPr id="653315" name="Rectangle 3"/>
          <p:cNvSpPr>
            <a:spLocks noGrp="1" noChangeArrowheads="1"/>
          </p:cNvSpPr>
          <p:nvPr>
            <p:ph type="body" idx="1"/>
          </p:nvPr>
        </p:nvSpPr>
        <p:spPr>
          <a:xfrm>
            <a:off x="551384" y="1556792"/>
            <a:ext cx="8832329" cy="484400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buNone/>
              <a:tabLst>
                <a:tab pos="685800" algn="l"/>
                <a:tab pos="1085850" algn="l"/>
              </a:tabLst>
            </a:pPr>
            <a:r>
              <a:rPr lang="zh-CN" altLang="zh-CN" sz="2400" b="1" dirty="0">
                <a:latin typeface="Courier New" panose="02070309020205020404" pitchFamily="49" charset="0"/>
              </a:rPr>
              <a:t>/* </a:t>
            </a:r>
            <a:r>
              <a:rPr lang="en-US" altLang="zh-CN" sz="2400" b="1" dirty="0">
                <a:latin typeface="Courier New" panose="02070309020205020404" pitchFamily="49" charset="0"/>
              </a:rPr>
              <a:t>Before */</a:t>
            </a:r>
          </a:p>
          <a:p>
            <a:pPr>
              <a:spcBef>
                <a:spcPct val="0"/>
              </a:spcBef>
              <a:buNone/>
              <a:tabLst>
                <a:tab pos="685800" algn="l"/>
                <a:tab pos="1085850" algn="l"/>
              </a:tabLst>
            </a:pPr>
            <a:r>
              <a:rPr lang="en-US" altLang="zh-CN" sz="2400" b="1" dirty="0">
                <a:latin typeface="Courier New" panose="02070309020205020404" pitchFamily="49" charset="0"/>
              </a:rPr>
              <a:t>for (</a:t>
            </a:r>
            <a:r>
              <a:rPr lang="en-US" altLang="zh-CN" sz="2400" b="1" u="sng" dirty="0" err="1">
                <a:solidFill>
                  <a:schemeClr val="accent2"/>
                </a:solidFill>
                <a:latin typeface="Courier New" panose="02070309020205020404" pitchFamily="49" charset="0"/>
              </a:rPr>
              <a:t>i</a:t>
            </a:r>
            <a:r>
              <a:rPr lang="en-US" altLang="zh-CN" sz="2400" b="1" dirty="0">
                <a:latin typeface="Courier New" panose="02070309020205020404" pitchFamily="49" charset="0"/>
              </a:rPr>
              <a:t> = 0; </a:t>
            </a:r>
            <a:r>
              <a:rPr lang="en-US" altLang="zh-CN" sz="2400" b="1" dirty="0" err="1">
                <a:latin typeface="Courier New" panose="02070309020205020404" pitchFamily="49" charset="0"/>
              </a:rPr>
              <a:t>i</a:t>
            </a:r>
            <a:r>
              <a:rPr lang="en-US" altLang="zh-CN" sz="2400" b="1" dirty="0">
                <a:latin typeface="Courier New" panose="02070309020205020404" pitchFamily="49" charset="0"/>
              </a:rPr>
              <a:t> &lt; N; </a:t>
            </a:r>
            <a:r>
              <a:rPr lang="en-US" altLang="zh-CN" sz="2400" b="1" dirty="0" err="1">
                <a:latin typeface="Courier New" panose="02070309020205020404" pitchFamily="49" charset="0"/>
              </a:rPr>
              <a:t>i</a:t>
            </a:r>
            <a:r>
              <a:rPr lang="en-US" altLang="zh-CN" sz="2400" b="1" dirty="0">
                <a:latin typeface="Courier New" panose="02070309020205020404" pitchFamily="49" charset="0"/>
              </a:rPr>
              <a:t> = i+1)</a:t>
            </a:r>
          </a:p>
          <a:p>
            <a:pPr>
              <a:spcBef>
                <a:spcPct val="0"/>
              </a:spcBef>
              <a:buNone/>
              <a:tabLst>
                <a:tab pos="685800" algn="l"/>
                <a:tab pos="1085850" algn="l"/>
              </a:tabLst>
            </a:pPr>
            <a:r>
              <a:rPr lang="en-US" altLang="zh-CN" sz="2400" b="1" dirty="0">
                <a:latin typeface="Courier New" panose="02070309020205020404" pitchFamily="49" charset="0"/>
              </a:rPr>
              <a:t>	for (</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 0; j &lt; N; j = j+1)</a:t>
            </a:r>
          </a:p>
          <a:p>
            <a:pPr>
              <a:spcBef>
                <a:spcPct val="0"/>
              </a:spcBef>
              <a:buNone/>
              <a:tabLst>
                <a:tab pos="685800" algn="l"/>
                <a:tab pos="1085850" algn="l"/>
              </a:tabLst>
            </a:pPr>
            <a:r>
              <a:rPr lang="en-US" altLang="zh-CN" sz="2400" b="1" dirty="0">
                <a:latin typeface="Courier New" panose="02070309020205020404" pitchFamily="49" charset="0"/>
              </a:rPr>
              <a:t>		{r = 0;</a:t>
            </a:r>
          </a:p>
          <a:p>
            <a:pPr>
              <a:spcBef>
                <a:spcPct val="0"/>
              </a:spcBef>
              <a:buNone/>
              <a:tabLst>
                <a:tab pos="685800" algn="l"/>
                <a:tab pos="1085850" algn="l"/>
              </a:tabLst>
            </a:pPr>
            <a:r>
              <a:rPr lang="en-US" altLang="zh-CN" sz="2400" b="1" dirty="0">
                <a:latin typeface="Courier New" panose="02070309020205020404" pitchFamily="49" charset="0"/>
              </a:rPr>
              <a:t>		 for (</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 = 0; k &lt; N; k = k+1){</a:t>
            </a:r>
          </a:p>
          <a:p>
            <a:pPr>
              <a:spcBef>
                <a:spcPct val="0"/>
              </a:spcBef>
              <a:buNone/>
              <a:tabLst>
                <a:tab pos="685800" algn="l"/>
                <a:tab pos="1085850" algn="l"/>
              </a:tabLst>
            </a:pPr>
            <a:r>
              <a:rPr lang="en-US" altLang="zh-CN" sz="2400" b="1" dirty="0">
                <a:latin typeface="Courier New" panose="02070309020205020404" pitchFamily="49" charset="0"/>
              </a:rPr>
              <a:t>			r = r + y[</a:t>
            </a:r>
            <a:r>
              <a:rPr lang="en-US" altLang="zh-CN" sz="2400" b="1" u="sng" dirty="0" err="1">
                <a:solidFill>
                  <a:schemeClr val="accent2"/>
                </a:solidFill>
                <a:latin typeface="Courier New" panose="02070309020205020404" pitchFamily="49" charset="0"/>
              </a:rPr>
              <a:t>i</a:t>
            </a:r>
            <a:r>
              <a:rPr lang="en-US" altLang="zh-CN" sz="2400" b="1" dirty="0">
                <a:latin typeface="Courier New" panose="02070309020205020404" pitchFamily="49" charset="0"/>
              </a:rPr>
              <a:t>][</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]*z[</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a:t>
            </a:r>
          </a:p>
          <a:p>
            <a:pPr>
              <a:spcBef>
                <a:spcPct val="0"/>
              </a:spcBef>
              <a:buNone/>
              <a:tabLst>
                <a:tab pos="685800" algn="l"/>
                <a:tab pos="1085850" algn="l"/>
              </a:tabLst>
            </a:pPr>
            <a:r>
              <a:rPr lang="en-US" altLang="zh-CN" sz="2400" b="1" dirty="0">
                <a:latin typeface="Courier New" panose="02070309020205020404" pitchFamily="49" charset="0"/>
              </a:rPr>
              <a:t>		 x[</a:t>
            </a:r>
            <a:r>
              <a:rPr lang="en-US" altLang="zh-CN" sz="2400" b="1" u="sng" dirty="0" err="1">
                <a:solidFill>
                  <a:schemeClr val="accent2"/>
                </a:solidFill>
                <a:latin typeface="Courier New" panose="02070309020205020404" pitchFamily="49" charset="0"/>
              </a:rPr>
              <a:t>i</a:t>
            </a:r>
            <a:r>
              <a:rPr lang="en-US" altLang="zh-CN" sz="2400" b="1" dirty="0">
                <a:latin typeface="Courier New" panose="02070309020205020404" pitchFamily="49" charset="0"/>
              </a:rPr>
              <a:t>][</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 r;</a:t>
            </a:r>
          </a:p>
          <a:p>
            <a:pPr>
              <a:spcBef>
                <a:spcPct val="0"/>
              </a:spcBef>
              <a:buNone/>
              <a:tabLst>
                <a:tab pos="685800" algn="l"/>
                <a:tab pos="1085850" algn="l"/>
              </a:tabLst>
            </a:pPr>
            <a:r>
              <a:rPr lang="en-US" altLang="zh-CN" sz="2400" b="1" dirty="0">
                <a:latin typeface="Courier New" panose="02070309020205020404" pitchFamily="49" charset="0"/>
              </a:rPr>
              <a:t>		</a:t>
            </a:r>
            <a:r>
              <a:rPr lang="en-US" altLang="zh-CN" sz="2400" b="1" dirty="0" smtClean="0">
                <a:latin typeface="Courier New" panose="02070309020205020404" pitchFamily="49" charset="0"/>
              </a:rPr>
              <a:t>};</a:t>
            </a:r>
          </a:p>
        </p:txBody>
      </p:sp>
      <p:sp>
        <p:nvSpPr>
          <p:cNvPr id="653316" name="Rectangle 4"/>
          <p:cNvSpPr>
            <a:spLocks noChangeArrowheads="1"/>
          </p:cNvSpPr>
          <p:nvPr/>
        </p:nvSpPr>
        <p:spPr bwMode="auto">
          <a:xfrm>
            <a:off x="8400256" y="1916832"/>
            <a:ext cx="2489200" cy="2794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3317" name="Rectangle 5"/>
          <p:cNvSpPr>
            <a:spLocks noChangeArrowheads="1"/>
          </p:cNvSpPr>
          <p:nvPr/>
        </p:nvSpPr>
        <p:spPr bwMode="auto">
          <a:xfrm>
            <a:off x="7981156" y="1573932"/>
            <a:ext cx="279400" cy="24892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3319" name="Line 7"/>
          <p:cNvSpPr>
            <a:spLocks noChangeShapeType="1"/>
          </p:cNvSpPr>
          <p:nvPr/>
        </p:nvSpPr>
        <p:spPr bwMode="auto">
          <a:xfrm>
            <a:off x="8476456" y="2075582"/>
            <a:ext cx="23368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3321" name="Line 9"/>
          <p:cNvSpPr>
            <a:spLocks noChangeShapeType="1"/>
          </p:cNvSpPr>
          <p:nvPr/>
        </p:nvSpPr>
        <p:spPr bwMode="auto">
          <a:xfrm>
            <a:off x="8139906" y="1612032"/>
            <a:ext cx="0" cy="23368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3" name="图片 2"/>
          <p:cNvPicPr>
            <a:picLocks noChangeAspect="1"/>
          </p:cNvPicPr>
          <p:nvPr/>
        </p:nvPicPr>
        <p:blipFill>
          <a:blip r:embed="rId2"/>
          <a:stretch>
            <a:fillRect/>
          </a:stretch>
        </p:blipFill>
        <p:spPr>
          <a:xfrm>
            <a:off x="3503712" y="4121730"/>
            <a:ext cx="8284492" cy="2709147"/>
          </a:xfrm>
          <a:prstGeom prst="rect">
            <a:avLst/>
          </a:prstGeom>
        </p:spPr>
      </p:pic>
    </p:spTree>
    <p:extLst>
      <p:ext uri="{BB962C8B-B14F-4D97-AF65-F5344CB8AC3E}">
        <p14:creationId xmlns:p14="http://schemas.microsoft.com/office/powerpoint/2010/main" val="486917178"/>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Blocking Example</a:t>
            </a:r>
            <a:endParaRPr lang="en-US" dirty="0"/>
          </a:p>
        </p:txBody>
      </p:sp>
      <p:sp>
        <p:nvSpPr>
          <p:cNvPr id="3" name="内容占位符 2"/>
          <p:cNvSpPr>
            <a:spLocks noGrp="1"/>
          </p:cNvSpPr>
          <p:nvPr>
            <p:ph idx="1"/>
          </p:nvPr>
        </p:nvSpPr>
        <p:spPr>
          <a:xfrm>
            <a:off x="551384" y="1556792"/>
            <a:ext cx="10515600" cy="5112568"/>
          </a:xfrm>
        </p:spPr>
        <p:txBody>
          <a:bodyPr/>
          <a:lstStyle/>
          <a:p>
            <a:pPr>
              <a:spcBef>
                <a:spcPct val="0"/>
              </a:spcBef>
              <a:tabLst>
                <a:tab pos="685800" algn="l"/>
                <a:tab pos="1085850" algn="l"/>
              </a:tabLst>
            </a:pPr>
            <a:r>
              <a:rPr lang="en-US" altLang="zh-CN" dirty="0"/>
              <a:t>Two Inner Loops:</a:t>
            </a:r>
          </a:p>
          <a:p>
            <a:pPr lvl="1">
              <a:spcBef>
                <a:spcPct val="0"/>
              </a:spcBef>
              <a:tabLst>
                <a:tab pos="685800" algn="l"/>
                <a:tab pos="1085850" algn="l"/>
              </a:tabLst>
            </a:pPr>
            <a:r>
              <a:rPr lang="en-US" altLang="zh-CN" dirty="0"/>
              <a:t>Read all </a:t>
            </a:r>
            <a:r>
              <a:rPr lang="en-US" altLang="zh-CN" dirty="0" err="1"/>
              <a:t>NxN</a:t>
            </a:r>
            <a:r>
              <a:rPr lang="en-US" altLang="zh-CN" dirty="0"/>
              <a:t> elements of z[]</a:t>
            </a:r>
          </a:p>
          <a:p>
            <a:pPr lvl="1">
              <a:spcBef>
                <a:spcPct val="0"/>
              </a:spcBef>
              <a:tabLst>
                <a:tab pos="685800" algn="l"/>
                <a:tab pos="1085850" algn="l"/>
              </a:tabLst>
            </a:pPr>
            <a:r>
              <a:rPr lang="en-US" altLang="zh-CN" dirty="0"/>
              <a:t>Read N elements of 1 row of y[] repeatedly</a:t>
            </a:r>
          </a:p>
          <a:p>
            <a:pPr lvl="1">
              <a:spcBef>
                <a:spcPct val="0"/>
              </a:spcBef>
              <a:tabLst>
                <a:tab pos="685800" algn="l"/>
                <a:tab pos="1085850" algn="l"/>
              </a:tabLst>
            </a:pPr>
            <a:r>
              <a:rPr lang="en-US" altLang="zh-CN" dirty="0"/>
              <a:t>Write N elements of 1 row  of x[]</a:t>
            </a:r>
          </a:p>
          <a:p>
            <a:pPr>
              <a:spcBef>
                <a:spcPct val="0"/>
              </a:spcBef>
              <a:tabLst>
                <a:tab pos="685800" algn="l"/>
                <a:tab pos="1085850" algn="l"/>
              </a:tabLst>
            </a:pPr>
            <a:r>
              <a:rPr lang="en-US" altLang="zh-CN" dirty="0"/>
              <a:t>Capacity Misses a function of N &amp; Cache Size:</a:t>
            </a:r>
          </a:p>
          <a:p>
            <a:pPr lvl="1">
              <a:spcBef>
                <a:spcPct val="0"/>
              </a:spcBef>
              <a:tabLst>
                <a:tab pos="685800" algn="l"/>
                <a:tab pos="1085850" algn="l"/>
              </a:tabLst>
            </a:pPr>
            <a:r>
              <a:rPr lang="en-US" altLang="zh-CN" dirty="0"/>
              <a:t>2N</a:t>
            </a:r>
            <a:r>
              <a:rPr lang="en-US" altLang="zh-CN" baseline="30000" dirty="0"/>
              <a:t>3 </a:t>
            </a:r>
            <a:r>
              <a:rPr lang="en-US" altLang="zh-CN" dirty="0"/>
              <a:t>+ N</a:t>
            </a:r>
            <a:r>
              <a:rPr lang="en-US" altLang="zh-CN" baseline="30000" dirty="0"/>
              <a:t>2</a:t>
            </a:r>
            <a:r>
              <a:rPr lang="en-US" altLang="zh-CN" dirty="0"/>
              <a:t> =&gt; (assuming no conflict; otherwise …)</a:t>
            </a:r>
          </a:p>
          <a:p>
            <a:pPr>
              <a:spcBef>
                <a:spcPct val="0"/>
              </a:spcBef>
              <a:tabLst>
                <a:tab pos="685800" algn="l"/>
                <a:tab pos="1085850" algn="l"/>
              </a:tabLst>
            </a:pPr>
            <a:r>
              <a:rPr lang="en-US" altLang="zh-CN" dirty="0"/>
              <a:t>Idea: compute on </a:t>
            </a:r>
            <a:r>
              <a:rPr lang="en-US" altLang="zh-CN" dirty="0" err="1"/>
              <a:t>BxB</a:t>
            </a:r>
            <a:r>
              <a:rPr lang="en-US" altLang="zh-CN" dirty="0"/>
              <a:t> submatrix that fits</a:t>
            </a:r>
          </a:p>
        </p:txBody>
      </p:sp>
      <p:pic>
        <p:nvPicPr>
          <p:cNvPr id="8" name="Picture 2" descr="Z:\WOMAT\Production\Artfinal\0000000038\MKCAD\978-0-12-811905-1\0003165541\XMLLowres\f02-14-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9696" y="4149264"/>
            <a:ext cx="7707288" cy="252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p:cNvSpPr>
            <a:spLocks noChangeArrowheads="1"/>
          </p:cNvSpPr>
          <p:nvPr/>
        </p:nvSpPr>
        <p:spPr bwMode="auto">
          <a:xfrm>
            <a:off x="10251490" y="2004386"/>
            <a:ext cx="831850" cy="7366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8"/>
          <p:cNvSpPr>
            <a:spLocks noChangeArrowheads="1"/>
          </p:cNvSpPr>
          <p:nvPr/>
        </p:nvSpPr>
        <p:spPr bwMode="auto">
          <a:xfrm>
            <a:off x="9324886" y="3064662"/>
            <a:ext cx="736600" cy="6985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0"/>
          <p:cNvSpPr>
            <a:spLocks noChangeShapeType="1"/>
          </p:cNvSpPr>
          <p:nvPr/>
        </p:nvSpPr>
        <p:spPr bwMode="auto">
          <a:xfrm flipV="1">
            <a:off x="10346740" y="2200566"/>
            <a:ext cx="603250" cy="1337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p:cNvSpPr>
            <a:spLocks noChangeShapeType="1"/>
          </p:cNvSpPr>
          <p:nvPr/>
        </p:nvSpPr>
        <p:spPr bwMode="auto">
          <a:xfrm>
            <a:off x="9521736" y="3185312"/>
            <a:ext cx="19174" cy="52742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19093492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a:xfrm>
            <a:off x="2438400" y="3810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Blocking Example</a:t>
            </a:r>
          </a:p>
        </p:txBody>
      </p:sp>
      <p:sp>
        <p:nvSpPr>
          <p:cNvPr id="654339" name="Rectangle 3"/>
          <p:cNvSpPr>
            <a:spLocks noGrp="1" noChangeArrowheads="1"/>
          </p:cNvSpPr>
          <p:nvPr>
            <p:ph type="body" idx="1"/>
          </p:nvPr>
        </p:nvSpPr>
        <p:spPr>
          <a:xfrm>
            <a:off x="911424" y="1772816"/>
            <a:ext cx="9485684" cy="29908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spcBef>
                <a:spcPct val="0"/>
              </a:spcBef>
              <a:buNone/>
              <a:tabLst>
                <a:tab pos="685800" algn="l"/>
                <a:tab pos="1085850" algn="l"/>
              </a:tabLst>
            </a:pPr>
            <a:r>
              <a:rPr lang="zh-CN" altLang="zh-CN" sz="2400" b="1" dirty="0">
                <a:latin typeface="Courier New" panose="02070309020205020404" pitchFamily="49" charset="0"/>
              </a:rPr>
              <a:t>/* </a:t>
            </a:r>
            <a:r>
              <a:rPr lang="en-US" altLang="zh-CN" sz="2400" b="1" dirty="0">
                <a:latin typeface="Courier New" panose="02070309020205020404" pitchFamily="49" charset="0"/>
              </a:rPr>
              <a:t>After */</a:t>
            </a:r>
          </a:p>
          <a:p>
            <a:pPr>
              <a:lnSpc>
                <a:spcPct val="80000"/>
              </a:lnSpc>
              <a:spcBef>
                <a:spcPct val="0"/>
              </a:spcBef>
              <a:buNone/>
              <a:tabLst>
                <a:tab pos="685800" algn="l"/>
                <a:tab pos="1085850" algn="l"/>
              </a:tabLst>
            </a:pPr>
            <a:r>
              <a:rPr lang="en-US" altLang="zh-CN" sz="2400" b="1" dirty="0">
                <a:latin typeface="Courier New" panose="02070309020205020404" pitchFamily="49" charset="0"/>
              </a:rPr>
              <a:t>for (</a:t>
            </a:r>
            <a:r>
              <a:rPr lang="en-US" altLang="zh-CN" sz="2400" b="1" dirty="0" err="1">
                <a:solidFill>
                  <a:schemeClr val="accent1"/>
                </a:solidFill>
                <a:latin typeface="Courier New" panose="02070309020205020404" pitchFamily="49" charset="0"/>
              </a:rPr>
              <a:t>jj</a:t>
            </a:r>
            <a:r>
              <a:rPr lang="en-US" altLang="zh-CN" sz="2400" b="1" dirty="0">
                <a:latin typeface="Courier New" panose="02070309020205020404" pitchFamily="49" charset="0"/>
              </a:rPr>
              <a:t> = 0; </a:t>
            </a:r>
            <a:r>
              <a:rPr lang="en-US" altLang="zh-CN" sz="2400" b="1" dirty="0" err="1">
                <a:solidFill>
                  <a:schemeClr val="accent1"/>
                </a:solidFill>
                <a:latin typeface="Courier New" panose="02070309020205020404" pitchFamily="49" charset="0"/>
              </a:rPr>
              <a:t>jj</a:t>
            </a:r>
            <a:r>
              <a:rPr lang="en-US" altLang="zh-CN" sz="2400" b="1" dirty="0">
                <a:latin typeface="Courier New" panose="02070309020205020404" pitchFamily="49" charset="0"/>
              </a:rPr>
              <a:t> &lt; N; </a:t>
            </a:r>
            <a:r>
              <a:rPr lang="en-US" altLang="zh-CN" sz="2400" b="1" dirty="0" err="1">
                <a:solidFill>
                  <a:schemeClr val="accent1"/>
                </a:solidFill>
                <a:latin typeface="Courier New" panose="02070309020205020404" pitchFamily="49" charset="0"/>
              </a:rPr>
              <a:t>jj</a:t>
            </a:r>
            <a:r>
              <a:rPr lang="en-US" altLang="zh-CN" sz="2400" b="1" dirty="0">
                <a:latin typeface="Courier New" panose="02070309020205020404" pitchFamily="49" charset="0"/>
              </a:rPr>
              <a:t> = </a:t>
            </a:r>
            <a:r>
              <a:rPr lang="en-US" altLang="zh-CN" sz="2400" b="1" dirty="0" err="1">
                <a:solidFill>
                  <a:schemeClr val="accent1"/>
                </a:solidFill>
                <a:latin typeface="Courier New" panose="02070309020205020404" pitchFamily="49" charset="0"/>
              </a:rPr>
              <a:t>jj</a:t>
            </a:r>
            <a:r>
              <a:rPr lang="en-US" altLang="zh-CN" sz="2400" b="1" dirty="0" err="1">
                <a:latin typeface="Courier New" panose="02070309020205020404" pitchFamily="49" charset="0"/>
              </a:rPr>
              <a:t>+B</a:t>
            </a:r>
            <a:r>
              <a:rPr lang="en-US" altLang="zh-CN" sz="2400" b="1" dirty="0">
                <a:latin typeface="Courier New" panose="02070309020205020404" pitchFamily="49" charset="0"/>
              </a:rPr>
              <a:t>)</a:t>
            </a:r>
          </a:p>
          <a:p>
            <a:pPr>
              <a:lnSpc>
                <a:spcPct val="80000"/>
              </a:lnSpc>
              <a:spcBef>
                <a:spcPct val="0"/>
              </a:spcBef>
              <a:buNone/>
              <a:tabLst>
                <a:tab pos="685800" algn="l"/>
                <a:tab pos="1085850" algn="l"/>
              </a:tabLst>
            </a:pPr>
            <a:r>
              <a:rPr lang="en-US" altLang="zh-CN" sz="2400" b="1" dirty="0">
                <a:latin typeface="Courier New" panose="02070309020205020404" pitchFamily="49" charset="0"/>
              </a:rPr>
              <a:t>for (</a:t>
            </a:r>
            <a:r>
              <a:rPr lang="en-US" altLang="zh-CN" sz="2400" b="1" dirty="0" err="1">
                <a:solidFill>
                  <a:schemeClr val="hlink"/>
                </a:solidFill>
                <a:latin typeface="Courier New" panose="02070309020205020404" pitchFamily="49" charset="0"/>
              </a:rPr>
              <a:t>kk</a:t>
            </a:r>
            <a:r>
              <a:rPr lang="en-US" altLang="zh-CN" sz="2400" b="1" dirty="0">
                <a:latin typeface="Courier New" panose="02070309020205020404" pitchFamily="49" charset="0"/>
              </a:rPr>
              <a:t> = 0; </a:t>
            </a:r>
            <a:r>
              <a:rPr lang="en-US" altLang="zh-CN" sz="2400" b="1" dirty="0" err="1">
                <a:solidFill>
                  <a:schemeClr val="hlink"/>
                </a:solidFill>
                <a:latin typeface="Courier New" panose="02070309020205020404" pitchFamily="49" charset="0"/>
              </a:rPr>
              <a:t>kk</a:t>
            </a:r>
            <a:r>
              <a:rPr lang="en-US" altLang="zh-CN" sz="2400" b="1" dirty="0">
                <a:latin typeface="Courier New" panose="02070309020205020404" pitchFamily="49" charset="0"/>
              </a:rPr>
              <a:t> &lt; N; </a:t>
            </a:r>
            <a:r>
              <a:rPr lang="en-US" altLang="zh-CN" sz="2400" b="1" dirty="0" err="1">
                <a:solidFill>
                  <a:schemeClr val="hlink"/>
                </a:solidFill>
                <a:latin typeface="Courier New" panose="02070309020205020404" pitchFamily="49" charset="0"/>
              </a:rPr>
              <a:t>kk</a:t>
            </a:r>
            <a:r>
              <a:rPr lang="en-US" altLang="zh-CN" sz="2400" b="1" dirty="0">
                <a:latin typeface="Courier New" panose="02070309020205020404" pitchFamily="49" charset="0"/>
              </a:rPr>
              <a:t> = </a:t>
            </a:r>
            <a:r>
              <a:rPr lang="en-US" altLang="zh-CN" sz="2400" b="1" dirty="0" err="1">
                <a:solidFill>
                  <a:schemeClr val="hlink"/>
                </a:solidFill>
                <a:latin typeface="Courier New" panose="02070309020205020404" pitchFamily="49" charset="0"/>
              </a:rPr>
              <a:t>kk</a:t>
            </a:r>
            <a:r>
              <a:rPr lang="en-US" altLang="zh-CN" sz="2400" b="1" dirty="0" err="1">
                <a:latin typeface="Courier New" panose="02070309020205020404" pitchFamily="49" charset="0"/>
              </a:rPr>
              <a:t>+B</a:t>
            </a:r>
            <a:r>
              <a:rPr lang="en-US" altLang="zh-CN" sz="2400" b="1" dirty="0">
                <a:latin typeface="Courier New" panose="02070309020205020404" pitchFamily="49" charset="0"/>
              </a:rPr>
              <a:t>)</a:t>
            </a:r>
          </a:p>
          <a:p>
            <a:pPr>
              <a:lnSpc>
                <a:spcPct val="80000"/>
              </a:lnSpc>
              <a:spcBef>
                <a:spcPct val="0"/>
              </a:spcBef>
              <a:buNone/>
              <a:tabLst>
                <a:tab pos="685800" algn="l"/>
                <a:tab pos="1085850" algn="l"/>
              </a:tabLst>
            </a:pPr>
            <a:r>
              <a:rPr lang="en-US" altLang="zh-CN" sz="2400" b="1" dirty="0">
                <a:latin typeface="Courier New" panose="02070309020205020404" pitchFamily="49" charset="0"/>
              </a:rPr>
              <a:t>for (</a:t>
            </a:r>
            <a:r>
              <a:rPr lang="en-US" altLang="zh-CN" sz="2400" b="1" dirty="0" err="1">
                <a:solidFill>
                  <a:schemeClr val="accent2"/>
                </a:solidFill>
                <a:latin typeface="Courier New" panose="02070309020205020404" pitchFamily="49" charset="0"/>
              </a:rPr>
              <a:t>i</a:t>
            </a:r>
            <a:r>
              <a:rPr lang="en-US" altLang="zh-CN" sz="2400" b="1" dirty="0">
                <a:latin typeface="Courier New" panose="02070309020205020404" pitchFamily="49" charset="0"/>
              </a:rPr>
              <a:t> = 0; </a:t>
            </a:r>
            <a:r>
              <a:rPr lang="en-US" altLang="zh-CN" sz="2400" b="1" dirty="0" err="1">
                <a:latin typeface="Courier New" panose="02070309020205020404" pitchFamily="49" charset="0"/>
              </a:rPr>
              <a:t>i</a:t>
            </a:r>
            <a:r>
              <a:rPr lang="en-US" altLang="zh-CN" sz="2400" b="1" dirty="0">
                <a:latin typeface="Courier New" panose="02070309020205020404" pitchFamily="49" charset="0"/>
              </a:rPr>
              <a:t> &lt; N; </a:t>
            </a:r>
            <a:r>
              <a:rPr lang="en-US" altLang="zh-CN" sz="2400" b="1" dirty="0" err="1">
                <a:latin typeface="Courier New" panose="02070309020205020404" pitchFamily="49" charset="0"/>
              </a:rPr>
              <a:t>i</a:t>
            </a:r>
            <a:r>
              <a:rPr lang="en-US" altLang="zh-CN" sz="2400" b="1" dirty="0">
                <a:latin typeface="Courier New" panose="02070309020205020404" pitchFamily="49" charset="0"/>
              </a:rPr>
              <a:t> = i+1)</a:t>
            </a:r>
          </a:p>
          <a:p>
            <a:pPr>
              <a:lnSpc>
                <a:spcPct val="80000"/>
              </a:lnSpc>
              <a:spcBef>
                <a:spcPct val="0"/>
              </a:spcBef>
              <a:buNone/>
              <a:tabLst>
                <a:tab pos="685800" algn="l"/>
                <a:tab pos="1085850" algn="l"/>
              </a:tabLst>
            </a:pPr>
            <a:r>
              <a:rPr lang="en-US" altLang="zh-CN" sz="2400" b="1" dirty="0">
                <a:latin typeface="Courier New" panose="02070309020205020404" pitchFamily="49" charset="0"/>
              </a:rPr>
              <a:t>	 for (</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 </a:t>
            </a:r>
            <a:r>
              <a:rPr lang="en-US" altLang="zh-CN" sz="2400" b="1" dirty="0" err="1">
                <a:solidFill>
                  <a:schemeClr val="accent1"/>
                </a:solidFill>
                <a:latin typeface="Courier New" panose="02070309020205020404" pitchFamily="49" charset="0"/>
              </a:rPr>
              <a:t>jj</a:t>
            </a:r>
            <a:r>
              <a:rPr lang="en-US" altLang="zh-CN" sz="2400" b="1" dirty="0">
                <a:latin typeface="Courier New" panose="02070309020205020404" pitchFamily="49" charset="0"/>
              </a:rPr>
              <a:t>; </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&lt; min(</a:t>
            </a:r>
            <a:r>
              <a:rPr lang="en-US" altLang="zh-CN" sz="2400" b="1" dirty="0">
                <a:solidFill>
                  <a:schemeClr val="accent1"/>
                </a:solidFill>
                <a:latin typeface="Courier New" panose="02070309020205020404" pitchFamily="49" charset="0"/>
              </a:rPr>
              <a:t>jj</a:t>
            </a:r>
            <a:r>
              <a:rPr lang="en-US" altLang="zh-CN" sz="2400" b="1" dirty="0">
                <a:latin typeface="Courier New" panose="02070309020205020404" pitchFamily="49" charset="0"/>
              </a:rPr>
              <a:t>+B-1,N); </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 </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+1)</a:t>
            </a:r>
          </a:p>
          <a:p>
            <a:pPr>
              <a:lnSpc>
                <a:spcPct val="80000"/>
              </a:lnSpc>
              <a:spcBef>
                <a:spcPct val="0"/>
              </a:spcBef>
              <a:buNone/>
              <a:tabLst>
                <a:tab pos="685800" algn="l"/>
                <a:tab pos="1085850" algn="l"/>
              </a:tabLst>
            </a:pPr>
            <a:r>
              <a:rPr lang="en-US" altLang="zh-CN" sz="2400" b="1" dirty="0">
                <a:latin typeface="Courier New" panose="02070309020205020404" pitchFamily="49" charset="0"/>
              </a:rPr>
              <a:t>		{r = 0;</a:t>
            </a:r>
          </a:p>
          <a:p>
            <a:pPr>
              <a:lnSpc>
                <a:spcPct val="80000"/>
              </a:lnSpc>
              <a:spcBef>
                <a:spcPct val="0"/>
              </a:spcBef>
              <a:buNone/>
              <a:tabLst>
                <a:tab pos="685800" algn="l"/>
                <a:tab pos="1085850" algn="l"/>
              </a:tabLst>
            </a:pPr>
            <a:r>
              <a:rPr lang="en-US" altLang="zh-CN" sz="2400" b="1" dirty="0">
                <a:latin typeface="Courier New" panose="02070309020205020404" pitchFamily="49" charset="0"/>
              </a:rPr>
              <a:t>		 for (</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 = </a:t>
            </a:r>
            <a:r>
              <a:rPr lang="en-US" altLang="zh-CN" sz="2400" b="1" dirty="0" err="1">
                <a:solidFill>
                  <a:schemeClr val="hlink"/>
                </a:solidFill>
                <a:latin typeface="Courier New" panose="02070309020205020404" pitchFamily="49" charset="0"/>
              </a:rPr>
              <a:t>kk</a:t>
            </a:r>
            <a:r>
              <a:rPr lang="en-US" altLang="zh-CN" sz="2400" b="1" dirty="0">
                <a:latin typeface="Courier New" panose="02070309020205020404" pitchFamily="49" charset="0"/>
              </a:rPr>
              <a:t>; </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 &lt; min(</a:t>
            </a:r>
            <a:r>
              <a:rPr lang="en-US" altLang="zh-CN" sz="2400" b="1" dirty="0">
                <a:solidFill>
                  <a:schemeClr val="hlink"/>
                </a:solidFill>
                <a:latin typeface="Courier New" panose="02070309020205020404" pitchFamily="49" charset="0"/>
              </a:rPr>
              <a:t>kk</a:t>
            </a:r>
            <a:r>
              <a:rPr lang="en-US" altLang="zh-CN" sz="2400" b="1" dirty="0">
                <a:latin typeface="Courier New" panose="02070309020205020404" pitchFamily="49" charset="0"/>
              </a:rPr>
              <a:t>+B-1,N); </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 = </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+1) {</a:t>
            </a:r>
          </a:p>
          <a:p>
            <a:pPr>
              <a:lnSpc>
                <a:spcPct val="80000"/>
              </a:lnSpc>
              <a:spcBef>
                <a:spcPct val="0"/>
              </a:spcBef>
              <a:buNone/>
              <a:tabLst>
                <a:tab pos="685800" algn="l"/>
                <a:tab pos="1085850" algn="l"/>
              </a:tabLst>
            </a:pPr>
            <a:r>
              <a:rPr lang="en-US" altLang="zh-CN" sz="2400" b="1" dirty="0">
                <a:latin typeface="Courier New" panose="02070309020205020404" pitchFamily="49" charset="0"/>
              </a:rPr>
              <a:t>			r = r + y[</a:t>
            </a:r>
            <a:r>
              <a:rPr lang="en-US" altLang="zh-CN" sz="2400" b="1" dirty="0" err="1">
                <a:solidFill>
                  <a:schemeClr val="accent2"/>
                </a:solidFill>
                <a:latin typeface="Courier New" panose="02070309020205020404" pitchFamily="49" charset="0"/>
              </a:rPr>
              <a:t>i</a:t>
            </a:r>
            <a:r>
              <a:rPr lang="en-US" altLang="zh-CN" sz="2400" b="1" dirty="0">
                <a:latin typeface="Courier New" panose="02070309020205020404" pitchFamily="49" charset="0"/>
              </a:rPr>
              <a:t>][</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]*z[</a:t>
            </a:r>
            <a:r>
              <a:rPr lang="en-US" altLang="zh-CN" sz="2400" b="1" dirty="0">
                <a:solidFill>
                  <a:schemeClr val="hlink"/>
                </a:solidFill>
                <a:latin typeface="Courier New" panose="02070309020205020404" pitchFamily="49" charset="0"/>
              </a:rPr>
              <a:t>k</a:t>
            </a:r>
            <a:r>
              <a:rPr lang="en-US" altLang="zh-CN" sz="2400" b="1" dirty="0">
                <a:latin typeface="Courier New" panose="02070309020205020404" pitchFamily="49" charset="0"/>
              </a:rPr>
              <a:t>][</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a:t>
            </a:r>
          </a:p>
          <a:p>
            <a:pPr>
              <a:lnSpc>
                <a:spcPct val="80000"/>
              </a:lnSpc>
              <a:spcBef>
                <a:spcPct val="0"/>
              </a:spcBef>
              <a:buNone/>
              <a:tabLst>
                <a:tab pos="685800" algn="l"/>
                <a:tab pos="1085850" algn="l"/>
              </a:tabLst>
            </a:pPr>
            <a:r>
              <a:rPr lang="en-US" altLang="zh-CN" sz="2400" b="1" dirty="0">
                <a:latin typeface="Courier New" panose="02070309020205020404" pitchFamily="49" charset="0"/>
              </a:rPr>
              <a:t>		 x[</a:t>
            </a:r>
            <a:r>
              <a:rPr lang="en-US" altLang="zh-CN" sz="2400" b="1" dirty="0" err="1">
                <a:solidFill>
                  <a:schemeClr val="accent2"/>
                </a:solidFill>
                <a:latin typeface="Courier New" panose="02070309020205020404" pitchFamily="49" charset="0"/>
              </a:rPr>
              <a:t>i</a:t>
            </a:r>
            <a:r>
              <a:rPr lang="en-US" altLang="zh-CN" sz="2400" b="1" dirty="0">
                <a:latin typeface="Courier New" panose="02070309020205020404" pitchFamily="49" charset="0"/>
              </a:rPr>
              <a:t>][</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 x[</a:t>
            </a:r>
            <a:r>
              <a:rPr lang="en-US" altLang="zh-CN" sz="2400" b="1" dirty="0" err="1">
                <a:solidFill>
                  <a:schemeClr val="accent2"/>
                </a:solidFill>
                <a:latin typeface="Courier New" panose="02070309020205020404" pitchFamily="49" charset="0"/>
              </a:rPr>
              <a:t>i</a:t>
            </a:r>
            <a:r>
              <a:rPr lang="en-US" altLang="zh-CN" sz="2400" b="1" dirty="0">
                <a:latin typeface="Courier New" panose="02070309020205020404" pitchFamily="49" charset="0"/>
              </a:rPr>
              <a:t>][</a:t>
            </a:r>
            <a:r>
              <a:rPr lang="en-US" altLang="zh-CN" sz="2400" b="1" dirty="0">
                <a:solidFill>
                  <a:schemeClr val="accent1"/>
                </a:solidFill>
                <a:latin typeface="Courier New" panose="02070309020205020404" pitchFamily="49" charset="0"/>
              </a:rPr>
              <a:t>j</a:t>
            </a:r>
            <a:r>
              <a:rPr lang="en-US" altLang="zh-CN" sz="2400" b="1" dirty="0">
                <a:latin typeface="Courier New" panose="02070309020205020404" pitchFamily="49" charset="0"/>
              </a:rPr>
              <a:t>] + r;</a:t>
            </a:r>
          </a:p>
          <a:p>
            <a:pPr>
              <a:lnSpc>
                <a:spcPct val="80000"/>
              </a:lnSpc>
              <a:spcBef>
                <a:spcPct val="0"/>
              </a:spcBef>
              <a:buNone/>
              <a:tabLst>
                <a:tab pos="685800" algn="l"/>
                <a:tab pos="1085850" algn="l"/>
              </a:tabLst>
            </a:pPr>
            <a:r>
              <a:rPr lang="en-US" altLang="zh-CN" sz="2400" b="1" dirty="0">
                <a:latin typeface="Courier New" panose="02070309020205020404" pitchFamily="49" charset="0"/>
              </a:rPr>
              <a:t>		};</a:t>
            </a:r>
            <a:br>
              <a:rPr lang="en-US" altLang="zh-CN" sz="2400" b="1" dirty="0">
                <a:latin typeface="Courier New" panose="02070309020205020404" pitchFamily="49" charset="0"/>
              </a:rPr>
            </a:br>
            <a:endParaRPr lang="en-US" altLang="zh-CN" sz="2400" dirty="0">
              <a:latin typeface="Courier New" panose="02070309020205020404" pitchFamily="49" charset="0"/>
            </a:endParaRPr>
          </a:p>
          <a:p>
            <a:pPr>
              <a:lnSpc>
                <a:spcPct val="80000"/>
              </a:lnSpc>
              <a:spcBef>
                <a:spcPct val="0"/>
              </a:spcBef>
              <a:tabLst>
                <a:tab pos="685800" algn="l"/>
                <a:tab pos="1085850" algn="l"/>
              </a:tabLst>
            </a:pPr>
            <a:r>
              <a:rPr lang="en-US" altLang="zh-CN" dirty="0"/>
              <a:t>B called </a:t>
            </a:r>
            <a:r>
              <a:rPr lang="en-US" altLang="zh-CN" i="1" dirty="0">
                <a:solidFill>
                  <a:schemeClr val="hlink"/>
                </a:solidFill>
              </a:rPr>
              <a:t>Blocking Factor</a:t>
            </a:r>
          </a:p>
          <a:p>
            <a:pPr>
              <a:lnSpc>
                <a:spcPct val="80000"/>
              </a:lnSpc>
              <a:spcBef>
                <a:spcPct val="0"/>
              </a:spcBef>
              <a:tabLst>
                <a:tab pos="685800" algn="l"/>
                <a:tab pos="1085850" algn="l"/>
              </a:tabLst>
            </a:pPr>
            <a:r>
              <a:rPr lang="en-US" altLang="zh-CN" dirty="0"/>
              <a:t>Capacity Misses from 2N</a:t>
            </a:r>
            <a:r>
              <a:rPr lang="en-US" altLang="zh-CN" baseline="30000" dirty="0"/>
              <a:t>3</a:t>
            </a:r>
            <a:r>
              <a:rPr lang="en-US" altLang="zh-CN" dirty="0"/>
              <a:t> + N</a:t>
            </a:r>
            <a:r>
              <a:rPr lang="en-US" altLang="zh-CN" baseline="30000" dirty="0"/>
              <a:t>2</a:t>
            </a:r>
            <a:r>
              <a:rPr lang="en-US" altLang="zh-CN" dirty="0"/>
              <a:t> to N</a:t>
            </a:r>
            <a:r>
              <a:rPr lang="en-US" altLang="zh-CN" baseline="30000" dirty="0"/>
              <a:t>3</a:t>
            </a:r>
            <a:r>
              <a:rPr lang="en-US" altLang="zh-CN" dirty="0"/>
              <a:t>/B+2N</a:t>
            </a:r>
            <a:r>
              <a:rPr lang="en-US" altLang="zh-CN" baseline="30000" dirty="0"/>
              <a:t>2</a:t>
            </a:r>
          </a:p>
          <a:p>
            <a:pPr>
              <a:lnSpc>
                <a:spcPct val="80000"/>
              </a:lnSpc>
              <a:spcBef>
                <a:spcPct val="0"/>
              </a:spcBef>
              <a:tabLst>
                <a:tab pos="685800" algn="l"/>
                <a:tab pos="1085850" algn="l"/>
              </a:tabLst>
            </a:pPr>
            <a:r>
              <a:rPr lang="en-US" altLang="zh-CN" dirty="0"/>
              <a:t>Conflict Misses Too? </a:t>
            </a:r>
          </a:p>
          <a:p>
            <a:pPr>
              <a:lnSpc>
                <a:spcPct val="80000"/>
              </a:lnSpc>
              <a:spcBef>
                <a:spcPct val="0"/>
              </a:spcBef>
              <a:buNone/>
              <a:tabLst>
                <a:tab pos="685800" algn="l"/>
                <a:tab pos="1085850" algn="l"/>
              </a:tabLst>
            </a:pPr>
            <a:endParaRPr lang="en-US" altLang="zh-CN" dirty="0"/>
          </a:p>
        </p:txBody>
      </p:sp>
    </p:spTree>
    <p:extLst>
      <p:ext uri="{BB962C8B-B14F-4D97-AF65-F5344CB8AC3E}">
        <p14:creationId xmlns:p14="http://schemas.microsoft.com/office/powerpoint/2010/main" val="1878222772"/>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a:xfrm>
            <a:off x="407368" y="260648"/>
            <a:ext cx="1007013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Reducing Conflict Misses by Blocking</a:t>
            </a:r>
          </a:p>
        </p:txBody>
      </p:sp>
      <p:sp>
        <p:nvSpPr>
          <p:cNvPr id="655363" name="Rectangle 3"/>
          <p:cNvSpPr>
            <a:spLocks noGrp="1" noChangeArrowheads="1"/>
          </p:cNvSpPr>
          <p:nvPr>
            <p:ph type="body" idx="1"/>
          </p:nvPr>
        </p:nvSpPr>
        <p:spPr>
          <a:xfrm>
            <a:off x="839416" y="5638800"/>
            <a:ext cx="10801200" cy="9715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pPr>
            <a:r>
              <a:rPr lang="en-US" altLang="zh-CN" dirty="0"/>
              <a:t>Conflict misses in caches not FA vs. Blocking size</a:t>
            </a:r>
          </a:p>
          <a:p>
            <a:pPr lvl="1">
              <a:lnSpc>
                <a:spcPct val="80000"/>
              </a:lnSpc>
            </a:pPr>
            <a:r>
              <a:rPr lang="en-US" altLang="zh-CN" dirty="0"/>
              <a:t>Lam et al [1991] a blocking factor of 24 had a fifth the  misses vs. 48 despite both fit in cache</a:t>
            </a:r>
          </a:p>
        </p:txBody>
      </p:sp>
      <p:graphicFrame>
        <p:nvGraphicFramePr>
          <p:cNvPr id="655364" name="Object 4">
            <a:hlinkClick r:id="" action="ppaction://ole?verb=0"/>
          </p:cNvPr>
          <p:cNvGraphicFramePr>
            <a:graphicFrameLocks/>
          </p:cNvGraphicFramePr>
          <p:nvPr>
            <p:extLst>
              <p:ext uri="{D42A27DB-BD31-4B8C-83A1-F6EECF244321}">
                <p14:modId xmlns:p14="http://schemas.microsoft.com/office/powerpoint/2010/main" val="1089012881"/>
              </p:ext>
            </p:extLst>
          </p:nvPr>
        </p:nvGraphicFramePr>
        <p:xfrm>
          <a:off x="2228850" y="1114772"/>
          <a:ext cx="7518400" cy="4762500"/>
        </p:xfrm>
        <a:graphic>
          <a:graphicData uri="http://schemas.openxmlformats.org/presentationml/2006/ole">
            <mc:AlternateContent xmlns:mc="http://schemas.openxmlformats.org/markup-compatibility/2006">
              <mc:Choice xmlns:v="urn:schemas-microsoft-com:vml" Requires="v">
                <p:oleObj spid="_x0000_s16442" name="图表" r:id="rId3" imgW="5648040" imgH="3581280" progId="Excel.Chart.8">
                  <p:embed followColorScheme="full"/>
                </p:oleObj>
              </mc:Choice>
              <mc:Fallback>
                <p:oleObj name="图表" r:id="rId3" imgW="5648040" imgH="3581280" progId="Excel.Chart.8">
                  <p:embed followColorScheme="full"/>
                  <p:pic>
                    <p:nvPicPr>
                      <p:cNvPr id="655364"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850" y="1114772"/>
                        <a:ext cx="7518400" cy="4762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1892892"/>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6386" name="Object 2">
            <a:hlinkClick r:id="" action="ppaction://ole?verb=0"/>
          </p:cNvPr>
          <p:cNvGraphicFramePr>
            <a:graphicFrameLocks/>
          </p:cNvGraphicFramePr>
          <p:nvPr>
            <p:extLst>
              <p:ext uri="{D42A27DB-BD31-4B8C-83A1-F6EECF244321}">
                <p14:modId xmlns:p14="http://schemas.microsoft.com/office/powerpoint/2010/main" val="1370289283"/>
              </p:ext>
            </p:extLst>
          </p:nvPr>
        </p:nvGraphicFramePr>
        <p:xfrm>
          <a:off x="1701800" y="1094308"/>
          <a:ext cx="8686800" cy="6007100"/>
        </p:xfrm>
        <a:graphic>
          <a:graphicData uri="http://schemas.openxmlformats.org/presentationml/2006/ole">
            <mc:AlternateContent xmlns:mc="http://schemas.openxmlformats.org/markup-compatibility/2006">
              <mc:Choice xmlns:v="urn:schemas-microsoft-com:vml" Requires="v">
                <p:oleObj spid="_x0000_s17466" name="图表" r:id="rId3" imgW="6524280" imgH="4514760" progId="Excel.Chart.8">
                  <p:embed followColorScheme="full"/>
                </p:oleObj>
              </mc:Choice>
              <mc:Fallback>
                <p:oleObj name="图表" r:id="rId3" imgW="6524280" imgH="4514760" progId="Excel.Chart.8">
                  <p:embed followColorScheme="full"/>
                  <p:pic>
                    <p:nvPicPr>
                      <p:cNvPr id="656386" name="Object 2">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800" y="1094308"/>
                        <a:ext cx="8686800" cy="6007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6387" name="Rectangle 3"/>
          <p:cNvSpPr>
            <a:spLocks noGrp="1" noChangeArrowheads="1"/>
          </p:cNvSpPr>
          <p:nvPr>
            <p:ph type="title"/>
          </p:nvPr>
        </p:nvSpPr>
        <p:spPr>
          <a:xfrm>
            <a:off x="551384" y="95250"/>
            <a:ext cx="9983266"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Summary of Compiler Optimizations to Reduce Cache Misses (by hand)</a:t>
            </a:r>
          </a:p>
        </p:txBody>
      </p:sp>
    </p:spTree>
    <p:extLst>
      <p:ext uri="{BB962C8B-B14F-4D97-AF65-F5344CB8AC3E}">
        <p14:creationId xmlns:p14="http://schemas.microsoft.com/office/powerpoint/2010/main" val="1172476016"/>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Summary: Miss Rate Reduction</a:t>
            </a:r>
          </a:p>
        </p:txBody>
      </p:sp>
      <p:sp>
        <p:nvSpPr>
          <p:cNvPr id="657411" name="Rectangle 3"/>
          <p:cNvSpPr>
            <a:spLocks noGrp="1" noChangeArrowheads="1"/>
          </p:cNvSpPr>
          <p:nvPr>
            <p:ph type="body" idx="1"/>
          </p:nvPr>
        </p:nvSpPr>
        <p:spPr>
          <a:xfrm>
            <a:off x="1524000" y="2410048"/>
            <a:ext cx="8839200" cy="3901852"/>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80000"/>
              </a:lnSpc>
            </a:pPr>
            <a:r>
              <a:rPr lang="zh-CN" altLang="zh-CN" sz="3200" dirty="0"/>
              <a:t>3 </a:t>
            </a:r>
            <a:r>
              <a:rPr lang="en-US" altLang="zh-CN" sz="3200" dirty="0"/>
              <a:t>Cs: Compulsory, Capacity, Conflict</a:t>
            </a:r>
            <a:endParaRPr lang="en-US" altLang="zh-CN" sz="2400" dirty="0"/>
          </a:p>
          <a:p>
            <a:pPr lvl="1">
              <a:lnSpc>
                <a:spcPct val="80000"/>
              </a:lnSpc>
              <a:buFont typeface="Wingdings" panose="05000000000000000000" pitchFamily="2" charset="2"/>
              <a:buNone/>
            </a:pPr>
            <a:r>
              <a:rPr lang="en-US" altLang="zh-CN" sz="2800" dirty="0"/>
              <a:t>1. Reduce Misses via Larger Block Size</a:t>
            </a:r>
          </a:p>
          <a:p>
            <a:pPr lvl="1">
              <a:lnSpc>
                <a:spcPct val="80000"/>
              </a:lnSpc>
              <a:buFont typeface="Wingdings" panose="05000000000000000000" pitchFamily="2" charset="2"/>
              <a:buNone/>
            </a:pPr>
            <a:r>
              <a:rPr lang="en-US" altLang="zh-CN" sz="2800" dirty="0"/>
              <a:t>2. Reduce Misses via Higher Associativity</a:t>
            </a:r>
          </a:p>
          <a:p>
            <a:pPr lvl="1">
              <a:lnSpc>
                <a:spcPct val="80000"/>
              </a:lnSpc>
              <a:buFont typeface="Wingdings" panose="05000000000000000000" pitchFamily="2" charset="2"/>
              <a:buNone/>
            </a:pPr>
            <a:r>
              <a:rPr lang="en-US" altLang="zh-CN" sz="2800" dirty="0"/>
              <a:t>3. Reducing Misses via Victim Cache</a:t>
            </a:r>
          </a:p>
          <a:p>
            <a:pPr lvl="1">
              <a:lnSpc>
                <a:spcPct val="80000"/>
              </a:lnSpc>
              <a:buFont typeface="Wingdings" panose="05000000000000000000" pitchFamily="2" charset="2"/>
              <a:buNone/>
            </a:pPr>
            <a:r>
              <a:rPr lang="en-US" altLang="zh-CN" sz="2800" dirty="0"/>
              <a:t>4. Reducing Misses via Pseudo-Associativity</a:t>
            </a:r>
          </a:p>
          <a:p>
            <a:pPr lvl="1">
              <a:lnSpc>
                <a:spcPct val="80000"/>
              </a:lnSpc>
              <a:buFont typeface="Wingdings" panose="05000000000000000000" pitchFamily="2" charset="2"/>
              <a:buNone/>
            </a:pPr>
            <a:r>
              <a:rPr lang="en-US" altLang="zh-CN" sz="2800" dirty="0"/>
              <a:t>5. Reducing Misses by HW Prefetching </a:t>
            </a:r>
            <a:r>
              <a:rPr lang="en-US" altLang="zh-CN" sz="2800" dirty="0" err="1"/>
              <a:t>Instr</a:t>
            </a:r>
            <a:r>
              <a:rPr lang="en-US" altLang="zh-CN" sz="2800" dirty="0"/>
              <a:t>, Data</a:t>
            </a:r>
          </a:p>
          <a:p>
            <a:pPr lvl="1">
              <a:lnSpc>
                <a:spcPct val="80000"/>
              </a:lnSpc>
              <a:buFont typeface="Wingdings" panose="05000000000000000000" pitchFamily="2" charset="2"/>
              <a:buNone/>
            </a:pPr>
            <a:r>
              <a:rPr lang="en-US" altLang="zh-CN" sz="2800" dirty="0"/>
              <a:t>6. Reducing Misses by SW Prefetching Data</a:t>
            </a:r>
          </a:p>
          <a:p>
            <a:pPr lvl="1">
              <a:lnSpc>
                <a:spcPct val="80000"/>
              </a:lnSpc>
              <a:buFont typeface="Wingdings" panose="05000000000000000000" pitchFamily="2" charset="2"/>
              <a:buNone/>
            </a:pPr>
            <a:r>
              <a:rPr lang="en-US" altLang="zh-CN" sz="2800" dirty="0"/>
              <a:t>7. Reducing Misses by Compiler </a:t>
            </a:r>
            <a:r>
              <a:rPr lang="en-US" altLang="zh-CN" sz="2800" dirty="0" smtClean="0"/>
              <a:t>Optimizations</a:t>
            </a:r>
            <a:endParaRPr lang="en-US" altLang="zh-CN" sz="2800" dirty="0"/>
          </a:p>
        </p:txBody>
      </p:sp>
      <p:graphicFrame>
        <p:nvGraphicFramePr>
          <p:cNvPr id="657412" name="Object 4">
            <a:hlinkClick r:id="" action="ppaction://ole?verb=0"/>
          </p:cNvPr>
          <p:cNvGraphicFramePr>
            <a:graphicFrameLocks/>
          </p:cNvGraphicFramePr>
          <p:nvPr/>
        </p:nvGraphicFramePr>
        <p:xfrm>
          <a:off x="1638300" y="1536700"/>
          <a:ext cx="8864600" cy="533400"/>
        </p:xfrm>
        <a:graphic>
          <a:graphicData uri="http://schemas.openxmlformats.org/presentationml/2006/ole">
            <mc:AlternateContent xmlns:mc="http://schemas.openxmlformats.org/markup-compatibility/2006">
              <mc:Choice xmlns:v="urn:schemas-microsoft-com:vml" Requires="v">
                <p:oleObj spid="_x0000_s18489" name="公式" r:id="rId3" imgW="6657840" imgH="409320" progId="Equation.3">
                  <p:embed/>
                </p:oleObj>
              </mc:Choice>
              <mc:Fallback>
                <p:oleObj name="公式" r:id="rId3" imgW="6657840" imgH="409320" progId="Equation.3">
                  <p:embed/>
                  <p:pic>
                    <p:nvPicPr>
                      <p:cNvPr id="657412"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8300" y="1536700"/>
                        <a:ext cx="8864600"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7413" name="Oval 5"/>
          <p:cNvSpPr>
            <a:spLocks noChangeArrowheads="1"/>
          </p:cNvSpPr>
          <p:nvPr/>
        </p:nvSpPr>
        <p:spPr bwMode="auto">
          <a:xfrm>
            <a:off x="6089650" y="1631950"/>
            <a:ext cx="1079500" cy="35560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884143500"/>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Improving Cache Performance</a:t>
            </a:r>
          </a:p>
        </p:txBody>
      </p:sp>
      <p:sp>
        <p:nvSpPr>
          <p:cNvPr id="605187"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zh-CN" altLang="zh-CN" dirty="0"/>
              <a:t>1. </a:t>
            </a:r>
            <a:r>
              <a:rPr lang="en-US" altLang="zh-CN" dirty="0"/>
              <a:t>Reduce the miss rate, </a:t>
            </a:r>
          </a:p>
          <a:p>
            <a:pPr>
              <a:buFont typeface="Wingdings" panose="05000000000000000000" pitchFamily="2" charset="2"/>
              <a:buNone/>
            </a:pPr>
            <a:r>
              <a:rPr lang="en-US" altLang="zh-CN" i="1" u="sng" dirty="0">
                <a:solidFill>
                  <a:srgbClr val="FF0000"/>
                </a:solidFill>
              </a:rPr>
              <a:t>2. Reduce the miss penalty</a:t>
            </a:r>
            <a:r>
              <a:rPr lang="en-US" altLang="zh-CN" i="1" u="sng" dirty="0">
                <a:solidFill>
                  <a:schemeClr val="hlink"/>
                </a:solidFill>
              </a:rPr>
              <a:t>, </a:t>
            </a:r>
            <a:r>
              <a:rPr lang="en-US" altLang="zh-CN" dirty="0"/>
              <a:t>or</a:t>
            </a:r>
          </a:p>
          <a:p>
            <a:pPr>
              <a:buFont typeface="Wingdings" panose="05000000000000000000" pitchFamily="2" charset="2"/>
              <a:buNone/>
            </a:pPr>
            <a:r>
              <a:rPr lang="en-US" altLang="zh-CN" dirty="0">
                <a:solidFill>
                  <a:schemeClr val="tx2"/>
                </a:solidFill>
              </a:rPr>
              <a:t>3. Reduce the time to hit in the cache</a:t>
            </a:r>
            <a:r>
              <a:rPr lang="en-US" altLang="zh-CN" dirty="0"/>
              <a:t>. </a:t>
            </a:r>
          </a:p>
          <a:p>
            <a:pPr>
              <a:buFont typeface="Wingdings" panose="05000000000000000000" pitchFamily="2" charset="2"/>
              <a:buNone/>
            </a:pPr>
            <a:endParaRPr lang="zh-CN" altLang="zh-CN" dirty="0"/>
          </a:p>
        </p:txBody>
      </p:sp>
    </p:spTree>
    <p:extLst>
      <p:ext uri="{BB962C8B-B14F-4D97-AF65-F5344CB8AC3E}">
        <p14:creationId xmlns:p14="http://schemas.microsoft.com/office/powerpoint/2010/main" val="1023572183"/>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Rectangle 2"/>
          <p:cNvSpPr>
            <a:spLocks noGrp="1" noChangeArrowheads="1"/>
          </p:cNvSpPr>
          <p:nvPr>
            <p:ph type="title"/>
          </p:nvPr>
        </p:nvSpPr>
        <p:spPr/>
        <p:txBody>
          <a:bodyPr/>
          <a:lstStyle/>
          <a:p>
            <a:r>
              <a:rPr lang="en-US" altLang="zh-CN" smtClean="0"/>
              <a:t>Write Policy:</a:t>
            </a:r>
            <a:br>
              <a:rPr lang="en-US" altLang="zh-CN" smtClean="0"/>
            </a:br>
            <a:r>
              <a:rPr lang="en-US" altLang="zh-CN" smtClean="0"/>
              <a:t>Write-Through vs Write-Back</a:t>
            </a:r>
            <a:endParaRPr lang="en-US" altLang="zh-CN" dirty="0"/>
          </a:p>
        </p:txBody>
      </p:sp>
      <p:sp>
        <p:nvSpPr>
          <p:cNvPr id="640003" name="Rectangle 3"/>
          <p:cNvSpPr>
            <a:spLocks noGrp="1" noChangeArrowheads="1"/>
          </p:cNvSpPr>
          <p:nvPr>
            <p:ph type="body" idx="1"/>
          </p:nvPr>
        </p:nvSpPr>
        <p:spPr>
          <a:xfrm>
            <a:off x="838200" y="1556792"/>
            <a:ext cx="10515600" cy="5040560"/>
          </a:xfrm>
        </p:spPr>
        <p:txBody>
          <a:bodyPr/>
          <a:lstStyle/>
          <a:p>
            <a:r>
              <a:rPr lang="en-US" altLang="zh-CN" dirty="0" smtClean="0"/>
              <a:t>Write-through: all writes update cache and underlying memory/cache</a:t>
            </a:r>
          </a:p>
          <a:p>
            <a:pPr lvl="1"/>
            <a:r>
              <a:rPr lang="en-US" altLang="zh-CN" dirty="0" smtClean="0"/>
              <a:t>Can always discard cached data - most up-to-date data is in memory</a:t>
            </a:r>
          </a:p>
          <a:p>
            <a:pPr lvl="1"/>
            <a:r>
              <a:rPr lang="en-US" altLang="zh-CN" dirty="0" smtClean="0"/>
              <a:t>Cache control bit: only a valid bit</a:t>
            </a:r>
          </a:p>
          <a:p>
            <a:r>
              <a:rPr lang="en-US" altLang="zh-CN" dirty="0" smtClean="0"/>
              <a:t>Write-back: all writes simply update cache</a:t>
            </a:r>
          </a:p>
          <a:p>
            <a:pPr lvl="1"/>
            <a:r>
              <a:rPr lang="en-US" altLang="zh-CN" dirty="0" smtClean="0"/>
              <a:t>Can’t just discard cached data - may have to write it back to memory</a:t>
            </a:r>
          </a:p>
          <a:p>
            <a:pPr lvl="1"/>
            <a:r>
              <a:rPr lang="en-US" altLang="zh-CN" dirty="0" smtClean="0"/>
              <a:t>Cache control bits: both valid and dirty bits</a:t>
            </a:r>
          </a:p>
          <a:p>
            <a:r>
              <a:rPr lang="en-US" altLang="zh-CN" dirty="0" smtClean="0"/>
              <a:t>Other Advantages:</a:t>
            </a:r>
          </a:p>
          <a:p>
            <a:pPr lvl="1"/>
            <a:r>
              <a:rPr lang="en-US" altLang="zh-CN" dirty="0" smtClean="0"/>
              <a:t>Write-through: memory (or other processors) always have latest data</a:t>
            </a:r>
          </a:p>
          <a:p>
            <a:pPr lvl="2"/>
            <a:r>
              <a:rPr lang="en-US" altLang="zh-CN" dirty="0" smtClean="0"/>
              <a:t>Simpler management of cache</a:t>
            </a:r>
          </a:p>
          <a:p>
            <a:pPr lvl="1"/>
            <a:r>
              <a:rPr lang="en-US" altLang="zh-CN" dirty="0"/>
              <a:t>Write-back: Better tolerance to long-latency memory?</a:t>
            </a:r>
          </a:p>
          <a:p>
            <a:pPr lvl="2"/>
            <a:r>
              <a:rPr lang="en-US" altLang="zh-CN" dirty="0" smtClean="0"/>
              <a:t>much lower bandwidth, since data often overwritten multiple times</a:t>
            </a:r>
          </a:p>
        </p:txBody>
      </p:sp>
    </p:spTree>
    <p:extLst>
      <p:ext uri="{BB962C8B-B14F-4D97-AF65-F5344CB8AC3E}">
        <p14:creationId xmlns:p14="http://schemas.microsoft.com/office/powerpoint/2010/main" val="180748067"/>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p:txBody>
          <a:bodyPr/>
          <a:lstStyle/>
          <a:p>
            <a:r>
              <a:rPr lang="en-US" altLang="zh-CN" dirty="0" smtClean="0"/>
              <a:t>Write Policy 2:</a:t>
            </a:r>
            <a:br>
              <a:rPr lang="en-US" altLang="zh-CN" dirty="0" smtClean="0"/>
            </a:br>
            <a:r>
              <a:rPr lang="en-US" altLang="zh-CN" dirty="0" smtClean="0"/>
              <a:t>Write Allocate vs Non-Allocate</a:t>
            </a:r>
            <a:endParaRPr lang="en-US" altLang="zh-CN" dirty="0"/>
          </a:p>
        </p:txBody>
      </p:sp>
      <p:sp>
        <p:nvSpPr>
          <p:cNvPr id="641027" name="Rectangle 3"/>
          <p:cNvSpPr>
            <a:spLocks noGrp="1" noChangeArrowheads="1"/>
          </p:cNvSpPr>
          <p:nvPr>
            <p:ph type="body" idx="1"/>
          </p:nvPr>
        </p:nvSpPr>
        <p:spPr/>
        <p:txBody>
          <a:bodyPr/>
          <a:lstStyle/>
          <a:p>
            <a:r>
              <a:rPr lang="en-US" altLang="zh-CN" dirty="0" smtClean="0"/>
              <a:t>What </a:t>
            </a:r>
            <a:r>
              <a:rPr lang="en-US" altLang="zh-CN" dirty="0"/>
              <a:t>happens on </a:t>
            </a:r>
            <a:r>
              <a:rPr lang="en-US" altLang="zh-CN" dirty="0" smtClean="0"/>
              <a:t>write-miss?</a:t>
            </a:r>
          </a:p>
          <a:p>
            <a:r>
              <a:rPr lang="en-US" altLang="zh-CN" dirty="0" smtClean="0"/>
              <a:t>Write </a:t>
            </a:r>
            <a:r>
              <a:rPr lang="en-US" altLang="zh-CN" dirty="0"/>
              <a:t>allocate: allocate new cache line in $</a:t>
            </a:r>
          </a:p>
          <a:p>
            <a:pPr lvl="1"/>
            <a:r>
              <a:rPr lang="en-US" altLang="zh-CN" dirty="0" smtClean="0"/>
              <a:t>Usually means that you have to do a “read miss” to fill in rest of the cache-line!</a:t>
            </a:r>
          </a:p>
          <a:p>
            <a:pPr lvl="1"/>
            <a:r>
              <a:rPr lang="en-US" altLang="zh-CN" dirty="0" smtClean="0"/>
              <a:t>Alternative: per/word valid bits</a:t>
            </a:r>
          </a:p>
          <a:p>
            <a:r>
              <a:rPr lang="en-US" altLang="zh-CN" dirty="0" smtClean="0"/>
              <a:t>Write non-allocate (or “write-around”):</a:t>
            </a:r>
          </a:p>
          <a:p>
            <a:pPr lvl="1"/>
            <a:r>
              <a:rPr lang="en-US" altLang="zh-CN" dirty="0" smtClean="0"/>
              <a:t>Simply send write data through to underlying memory/cache - don’t allocate new cache line!</a:t>
            </a:r>
            <a:endParaRPr lang="en-US" altLang="zh-CN" dirty="0"/>
          </a:p>
        </p:txBody>
      </p:sp>
    </p:spTree>
    <p:extLst>
      <p:ext uri="{BB962C8B-B14F-4D97-AF65-F5344CB8AC3E}">
        <p14:creationId xmlns:p14="http://schemas.microsoft.com/office/powerpoint/2010/main" val="23689726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1752600" y="228600"/>
            <a:ext cx="8686800" cy="1143000"/>
          </a:xfrm>
        </p:spPr>
        <p:txBody>
          <a:bodyPr/>
          <a:lstStyle/>
          <a:p>
            <a:r>
              <a:rPr lang="zh-CN" altLang="zh-CN"/>
              <a:t>1. </a:t>
            </a:r>
            <a:r>
              <a:rPr lang="en-US" altLang="zh-CN"/>
              <a:t>Reducing Miss Penalty: </a:t>
            </a:r>
            <a:br>
              <a:rPr lang="en-US" altLang="zh-CN"/>
            </a:br>
            <a:r>
              <a:rPr lang="en-US" altLang="zh-CN"/>
              <a:t>Read Priority over Write on Miss</a:t>
            </a:r>
          </a:p>
        </p:txBody>
      </p:sp>
      <p:grpSp>
        <p:nvGrpSpPr>
          <p:cNvPr id="642051" name="Group 3"/>
          <p:cNvGrpSpPr>
            <a:grpSpLocks/>
          </p:cNvGrpSpPr>
          <p:nvPr/>
        </p:nvGrpSpPr>
        <p:grpSpPr bwMode="auto">
          <a:xfrm>
            <a:off x="1981200" y="1676401"/>
            <a:ext cx="6553200" cy="4746625"/>
            <a:chOff x="960" y="1152"/>
            <a:chExt cx="4128" cy="2990"/>
          </a:xfrm>
        </p:grpSpPr>
        <p:pic>
          <p:nvPicPr>
            <p:cNvPr id="64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 y="1152"/>
              <a:ext cx="4128" cy="29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2053" name="Text Box 5"/>
            <p:cNvSpPr txBox="1">
              <a:spLocks noChangeArrowheads="1"/>
            </p:cNvSpPr>
            <p:nvPr/>
          </p:nvSpPr>
          <p:spPr bwMode="auto">
            <a:xfrm>
              <a:off x="3899" y="3146"/>
              <a:ext cx="485" cy="40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a:t>write</a:t>
              </a:r>
            </a:p>
            <a:p>
              <a:r>
                <a:rPr lang="en-US" altLang="zh-CN"/>
                <a:t>buffer</a:t>
              </a:r>
            </a:p>
          </p:txBody>
        </p:sp>
        <p:sp>
          <p:nvSpPr>
            <p:cNvPr id="642054" name="Text Box 6"/>
            <p:cNvSpPr txBox="1">
              <a:spLocks noChangeArrowheads="1"/>
            </p:cNvSpPr>
            <p:nvPr/>
          </p:nvSpPr>
          <p:spPr bwMode="auto">
            <a:xfrm>
              <a:off x="3888" y="1248"/>
              <a:ext cx="541" cy="57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a:t>CPU</a:t>
              </a:r>
            </a:p>
            <a:p>
              <a:endParaRPr lang="en-US" altLang="zh-CN"/>
            </a:p>
            <a:p>
              <a:r>
                <a:rPr lang="en-US" altLang="zh-CN" sz="1600"/>
                <a:t>in out</a:t>
              </a:r>
              <a:endParaRPr lang="en-US" altLang="zh-CN"/>
            </a:p>
          </p:txBody>
        </p:sp>
        <p:sp>
          <p:nvSpPr>
            <p:cNvPr id="642055" name="Text Box 7"/>
            <p:cNvSpPr txBox="1">
              <a:spLocks noChangeArrowheads="1"/>
            </p:cNvSpPr>
            <p:nvPr/>
          </p:nvSpPr>
          <p:spPr bwMode="auto">
            <a:xfrm>
              <a:off x="3476" y="3608"/>
              <a:ext cx="1094" cy="40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zh-CN"/>
                <a:t>   </a:t>
              </a:r>
              <a:r>
                <a:rPr lang="en-US" altLang="zh-CN"/>
                <a:t>DRAM   </a:t>
              </a:r>
            </a:p>
            <a:p>
              <a:r>
                <a:rPr lang="en-US" altLang="zh-CN"/>
                <a:t>(or lower mem)</a:t>
              </a:r>
            </a:p>
          </p:txBody>
        </p:sp>
      </p:grpSp>
      <p:sp>
        <p:nvSpPr>
          <p:cNvPr id="642056" name="Line 8"/>
          <p:cNvSpPr>
            <a:spLocks noChangeShapeType="1"/>
          </p:cNvSpPr>
          <p:nvPr/>
        </p:nvSpPr>
        <p:spPr bwMode="auto">
          <a:xfrm flipH="1">
            <a:off x="7543800" y="2971800"/>
            <a:ext cx="1524000" cy="18288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2057" name="Line 9"/>
          <p:cNvSpPr>
            <a:spLocks noChangeShapeType="1"/>
          </p:cNvSpPr>
          <p:nvPr/>
        </p:nvSpPr>
        <p:spPr bwMode="auto">
          <a:xfrm>
            <a:off x="7086600" y="2743200"/>
            <a:ext cx="0" cy="2057400"/>
          </a:xfrm>
          <a:prstGeom prst="line">
            <a:avLst/>
          </a:prstGeom>
          <a:noFill/>
          <a:ln w="5715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2058" name="Line 10"/>
          <p:cNvSpPr>
            <a:spLocks noChangeShapeType="1"/>
          </p:cNvSpPr>
          <p:nvPr/>
        </p:nvSpPr>
        <p:spPr bwMode="auto">
          <a:xfrm>
            <a:off x="7086600" y="5410200"/>
            <a:ext cx="0" cy="2286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642059" name="Text Box 11"/>
          <p:cNvSpPr txBox="1">
            <a:spLocks noChangeArrowheads="1"/>
          </p:cNvSpPr>
          <p:nvPr/>
        </p:nvSpPr>
        <p:spPr bwMode="auto">
          <a:xfrm>
            <a:off x="8686800" y="2590801"/>
            <a:ext cx="139461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Write Buffer</a:t>
            </a:r>
          </a:p>
        </p:txBody>
      </p:sp>
      <p:sp>
        <p:nvSpPr>
          <p:cNvPr id="642060" name="Line 12"/>
          <p:cNvSpPr>
            <a:spLocks noChangeShapeType="1"/>
          </p:cNvSpPr>
          <p:nvPr/>
        </p:nvSpPr>
        <p:spPr bwMode="auto">
          <a:xfrm flipV="1">
            <a:off x="6629400" y="2590800"/>
            <a:ext cx="0" cy="29718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3314031610"/>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p:txBody>
          <a:bodyPr/>
          <a:lstStyle/>
          <a:p>
            <a:r>
              <a:rPr lang="zh-CN" altLang="zh-CN" smtClean="0"/>
              <a:t>1. </a:t>
            </a:r>
            <a:r>
              <a:rPr lang="en-US" altLang="zh-CN" smtClean="0"/>
              <a:t>Reducing Miss Penalty: </a:t>
            </a:r>
            <a:br>
              <a:rPr lang="en-US" altLang="zh-CN" smtClean="0"/>
            </a:br>
            <a:r>
              <a:rPr lang="en-US" altLang="zh-CN" smtClean="0"/>
              <a:t>Read Priority over Write on Miss</a:t>
            </a:r>
            <a:endParaRPr lang="en-US" altLang="zh-CN"/>
          </a:p>
        </p:txBody>
      </p:sp>
      <p:sp>
        <p:nvSpPr>
          <p:cNvPr id="643075" name="Rectangle 3"/>
          <p:cNvSpPr>
            <a:spLocks noGrp="1" noChangeArrowheads="1"/>
          </p:cNvSpPr>
          <p:nvPr>
            <p:ph type="body" idx="1"/>
          </p:nvPr>
        </p:nvSpPr>
        <p:spPr/>
        <p:txBody>
          <a:bodyPr/>
          <a:lstStyle/>
          <a:p>
            <a:r>
              <a:rPr lang="en-US" altLang="zh-CN" smtClean="0"/>
              <a:t>Write-through with write buffers offer RAW conflicts with main memory reads on cache misses</a:t>
            </a:r>
          </a:p>
          <a:p>
            <a:pPr lvl="1"/>
            <a:r>
              <a:rPr lang="en-US" altLang="zh-CN" smtClean="0"/>
              <a:t>If simply wait for write buffer to empty, might increase read miss penalty (old MIPS 1000 by 50% )</a:t>
            </a:r>
          </a:p>
          <a:p>
            <a:pPr lvl="1"/>
            <a:r>
              <a:rPr lang="en-US" altLang="zh-CN" smtClean="0"/>
              <a:t>Check write buffer contents before read; </a:t>
            </a:r>
            <a:br>
              <a:rPr lang="en-US" altLang="zh-CN" smtClean="0"/>
            </a:br>
            <a:r>
              <a:rPr lang="en-US" altLang="zh-CN" smtClean="0"/>
              <a:t>if no conflicts, let the memory access continue</a:t>
            </a:r>
          </a:p>
          <a:p>
            <a:r>
              <a:rPr lang="en-US" altLang="zh-CN" smtClean="0"/>
              <a:t>Write-back also want buffer to hold misplaced blocks</a:t>
            </a:r>
          </a:p>
          <a:p>
            <a:pPr lvl="1"/>
            <a:r>
              <a:rPr lang="en-US" altLang="zh-CN" smtClean="0"/>
              <a:t>Read miss replacing dirty block</a:t>
            </a:r>
          </a:p>
          <a:p>
            <a:pPr lvl="1"/>
            <a:r>
              <a:rPr lang="en-US" altLang="zh-CN" smtClean="0"/>
              <a:t>Normal: Write dirty block to memory, and then do the read</a:t>
            </a:r>
          </a:p>
          <a:p>
            <a:pPr lvl="1"/>
            <a:r>
              <a:rPr lang="en-US" altLang="zh-CN" smtClean="0"/>
              <a:t>Instead copy the dirty block to a write buffer, then do the read, and then do the write</a:t>
            </a:r>
          </a:p>
          <a:p>
            <a:pPr lvl="1"/>
            <a:r>
              <a:rPr lang="en-US" altLang="zh-CN" smtClean="0"/>
              <a:t>CPU stall less since restarts as soon as do read</a:t>
            </a:r>
            <a:endParaRPr lang="en-US" altLang="zh-CN"/>
          </a:p>
        </p:txBody>
      </p:sp>
    </p:spTree>
    <p:extLst>
      <p:ext uri="{BB962C8B-B14F-4D97-AF65-F5344CB8AC3E}">
        <p14:creationId xmlns:p14="http://schemas.microsoft.com/office/powerpoint/2010/main" val="19185812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43075">
                                            <p:txEl>
                                              <p:pRg st="0" end="0"/>
                                            </p:txEl>
                                          </p:spTgt>
                                        </p:tgtEl>
                                        <p:attrNameLst>
                                          <p:attrName>style.visibility</p:attrName>
                                        </p:attrNameLst>
                                      </p:cBhvr>
                                      <p:to>
                                        <p:strVal val="visible"/>
                                      </p:to>
                                    </p:set>
                                    <p:anim calcmode="lin" valueType="num">
                                      <p:cBhvr additive="base">
                                        <p:cTn id="7" dur="500" fill="hold"/>
                                        <p:tgtEl>
                                          <p:spTgt spid="6430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30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43075">
                                            <p:txEl>
                                              <p:pRg st="1" end="1"/>
                                            </p:txEl>
                                          </p:spTgt>
                                        </p:tgtEl>
                                        <p:attrNameLst>
                                          <p:attrName>style.visibility</p:attrName>
                                        </p:attrNameLst>
                                      </p:cBhvr>
                                      <p:to>
                                        <p:strVal val="visible"/>
                                      </p:to>
                                    </p:set>
                                    <p:anim calcmode="lin" valueType="num">
                                      <p:cBhvr additive="base">
                                        <p:cTn id="11" dur="500" fill="hold"/>
                                        <p:tgtEl>
                                          <p:spTgt spid="64307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4307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43075">
                                            <p:txEl>
                                              <p:pRg st="2" end="2"/>
                                            </p:txEl>
                                          </p:spTgt>
                                        </p:tgtEl>
                                        <p:attrNameLst>
                                          <p:attrName>style.visibility</p:attrName>
                                        </p:attrNameLst>
                                      </p:cBhvr>
                                      <p:to>
                                        <p:strVal val="visible"/>
                                      </p:to>
                                    </p:set>
                                    <p:anim calcmode="lin" valueType="num">
                                      <p:cBhvr additive="base">
                                        <p:cTn id="15" dur="500" fill="hold"/>
                                        <p:tgtEl>
                                          <p:spTgt spid="64307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43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643075">
                                            <p:txEl>
                                              <p:pRg st="3" end="3"/>
                                            </p:txEl>
                                          </p:spTgt>
                                        </p:tgtEl>
                                        <p:attrNameLst>
                                          <p:attrName>style.visibility</p:attrName>
                                        </p:attrNameLst>
                                      </p:cBhvr>
                                      <p:to>
                                        <p:strVal val="visible"/>
                                      </p:to>
                                    </p:set>
                                    <p:anim calcmode="lin" valueType="num">
                                      <p:cBhvr additive="base">
                                        <p:cTn id="21" dur="500" fill="hold"/>
                                        <p:tgtEl>
                                          <p:spTgt spid="64307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43075">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43075">
                                            <p:txEl>
                                              <p:pRg st="4" end="4"/>
                                            </p:txEl>
                                          </p:spTgt>
                                        </p:tgtEl>
                                        <p:attrNameLst>
                                          <p:attrName>style.visibility</p:attrName>
                                        </p:attrNameLst>
                                      </p:cBhvr>
                                      <p:to>
                                        <p:strVal val="visible"/>
                                      </p:to>
                                    </p:set>
                                    <p:anim calcmode="lin" valueType="num">
                                      <p:cBhvr additive="base">
                                        <p:cTn id="25" dur="500" fill="hold"/>
                                        <p:tgtEl>
                                          <p:spTgt spid="643075">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43075">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43075">
                                            <p:txEl>
                                              <p:pRg st="5" end="5"/>
                                            </p:txEl>
                                          </p:spTgt>
                                        </p:tgtEl>
                                        <p:attrNameLst>
                                          <p:attrName>style.visibility</p:attrName>
                                        </p:attrNameLst>
                                      </p:cBhvr>
                                      <p:to>
                                        <p:strVal val="visible"/>
                                      </p:to>
                                    </p:set>
                                    <p:anim calcmode="lin" valueType="num">
                                      <p:cBhvr additive="base">
                                        <p:cTn id="29" dur="500" fill="hold"/>
                                        <p:tgtEl>
                                          <p:spTgt spid="643075">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43075">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43075">
                                            <p:txEl>
                                              <p:pRg st="6" end="6"/>
                                            </p:txEl>
                                          </p:spTgt>
                                        </p:tgtEl>
                                        <p:attrNameLst>
                                          <p:attrName>style.visibility</p:attrName>
                                        </p:attrNameLst>
                                      </p:cBhvr>
                                      <p:to>
                                        <p:strVal val="visible"/>
                                      </p:to>
                                    </p:set>
                                    <p:anim calcmode="lin" valueType="num">
                                      <p:cBhvr additive="base">
                                        <p:cTn id="33" dur="500" fill="hold"/>
                                        <p:tgtEl>
                                          <p:spTgt spid="64307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43075">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643075">
                                            <p:txEl>
                                              <p:pRg st="7" end="7"/>
                                            </p:txEl>
                                          </p:spTgt>
                                        </p:tgtEl>
                                        <p:attrNameLst>
                                          <p:attrName>style.visibility</p:attrName>
                                        </p:attrNameLst>
                                      </p:cBhvr>
                                      <p:to>
                                        <p:strVal val="visible"/>
                                      </p:to>
                                    </p:set>
                                    <p:anim calcmode="lin" valueType="num">
                                      <p:cBhvr additive="base">
                                        <p:cTn id="37" dur="500" fill="hold"/>
                                        <p:tgtEl>
                                          <p:spTgt spid="643075">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4307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5" grpId="0" build="p"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Merging Write Buffer</a:t>
            </a:r>
            <a:endParaRPr lang="en-AU" dirty="0"/>
          </a:p>
        </p:txBody>
      </p:sp>
      <p:sp>
        <p:nvSpPr>
          <p:cNvPr id="242691" name="Rectangle 3"/>
          <p:cNvSpPr>
            <a:spLocks noGrp="1" noChangeArrowheads="1"/>
          </p:cNvSpPr>
          <p:nvPr>
            <p:ph type="body" idx="1"/>
          </p:nvPr>
        </p:nvSpPr>
        <p:spPr>
          <a:xfrm>
            <a:off x="479376" y="1556792"/>
            <a:ext cx="10874424" cy="5112568"/>
          </a:xfrm>
        </p:spPr>
        <p:txBody>
          <a:bodyPr/>
          <a:lstStyle/>
          <a:p>
            <a:r>
              <a:rPr lang="en-US" dirty="0" smtClean="0"/>
              <a:t>When storing to a block that is already pending in the write buffer, update write buffer</a:t>
            </a:r>
          </a:p>
          <a:p>
            <a:r>
              <a:rPr lang="en-US" altLang="en-US" dirty="0"/>
              <a:t>Without write merging, </a:t>
            </a:r>
            <a:r>
              <a:rPr lang="en-US" altLang="en-US" dirty="0" smtClean="0"/>
              <a:t/>
            </a:r>
            <a:br>
              <a:rPr lang="en-US" altLang="en-US" dirty="0" smtClean="0"/>
            </a:br>
            <a:r>
              <a:rPr lang="en-US" altLang="en-US" dirty="0" smtClean="0"/>
              <a:t>the </a:t>
            </a:r>
            <a:r>
              <a:rPr lang="en-US" altLang="en-US" dirty="0"/>
              <a:t>words to the </a:t>
            </a:r>
            <a:r>
              <a:rPr lang="en-US" altLang="en-US" dirty="0" smtClean="0"/>
              <a:t>right</a:t>
            </a:r>
            <a:br>
              <a:rPr lang="en-US" altLang="en-US" dirty="0" smtClean="0"/>
            </a:br>
            <a:r>
              <a:rPr lang="en-US" altLang="en-US" dirty="0" smtClean="0"/>
              <a:t>would </a:t>
            </a:r>
            <a:r>
              <a:rPr lang="en-US" altLang="en-US" dirty="0"/>
              <a:t>be used only for </a:t>
            </a:r>
            <a:r>
              <a:rPr lang="en-US" altLang="en-US" dirty="0" smtClean="0"/>
              <a:t/>
            </a:r>
            <a:br>
              <a:rPr lang="en-US" altLang="en-US" dirty="0" smtClean="0"/>
            </a:br>
            <a:r>
              <a:rPr lang="en-US" altLang="en-US" dirty="0" smtClean="0"/>
              <a:t>instructions </a:t>
            </a:r>
            <a:r>
              <a:rPr lang="en-US" altLang="en-US" dirty="0"/>
              <a:t>that wrote </a:t>
            </a:r>
            <a:r>
              <a:rPr lang="en-US" altLang="en-US" dirty="0" smtClean="0"/>
              <a:t/>
            </a:r>
            <a:br>
              <a:rPr lang="en-US" altLang="en-US" dirty="0" smtClean="0"/>
            </a:br>
            <a:r>
              <a:rPr lang="en-US" altLang="en-US" dirty="0" smtClean="0"/>
              <a:t>multiple </a:t>
            </a:r>
            <a:r>
              <a:rPr lang="en-US" altLang="en-US" dirty="0"/>
              <a:t>words at the </a:t>
            </a:r>
            <a:r>
              <a:rPr lang="en-US" altLang="en-US" dirty="0" smtClean="0"/>
              <a:t/>
            </a:r>
            <a:br>
              <a:rPr lang="en-US" altLang="en-US" dirty="0" smtClean="0"/>
            </a:br>
            <a:r>
              <a:rPr lang="en-US" altLang="en-US" dirty="0" smtClean="0"/>
              <a:t>same </a:t>
            </a:r>
            <a:r>
              <a:rPr lang="en-US" altLang="en-US" dirty="0"/>
              <a:t>time</a:t>
            </a:r>
            <a:endParaRPr lang="en-US" dirty="0" smtClean="0"/>
          </a:p>
          <a:p>
            <a:r>
              <a:rPr lang="en-US" dirty="0" smtClean="0"/>
              <a:t>Reduces stalls due </a:t>
            </a:r>
            <a:br>
              <a:rPr lang="en-US" dirty="0" smtClean="0"/>
            </a:br>
            <a:r>
              <a:rPr lang="en-US" dirty="0" smtClean="0"/>
              <a:t>to full write buffer</a:t>
            </a:r>
          </a:p>
        </p:txBody>
      </p:sp>
      <p:sp>
        <p:nvSpPr>
          <p:cNvPr id="8" name="TextBox 7"/>
          <p:cNvSpPr txBox="1"/>
          <p:nvPr/>
        </p:nvSpPr>
        <p:spPr>
          <a:xfrm>
            <a:off x="10641744" y="3270754"/>
            <a:ext cx="1424112" cy="830997"/>
          </a:xfrm>
          <a:prstGeom prst="rect">
            <a:avLst/>
          </a:prstGeom>
          <a:noFill/>
        </p:spPr>
        <p:txBody>
          <a:bodyPr wrap="square" rtlCol="0">
            <a:spAutoFit/>
          </a:bodyPr>
          <a:lstStyle/>
          <a:p>
            <a:r>
              <a:rPr lang="en-US" sz="2400" dirty="0">
                <a:solidFill>
                  <a:srgbClr val="003399"/>
                </a:solidFill>
                <a:latin typeface="+mn-lt"/>
              </a:rPr>
              <a:t>No write </a:t>
            </a:r>
            <a:r>
              <a:rPr lang="en-US" sz="2400" dirty="0" smtClean="0">
                <a:solidFill>
                  <a:srgbClr val="003399"/>
                </a:solidFill>
                <a:latin typeface="+mn-lt"/>
              </a:rPr>
              <a:t>merging</a:t>
            </a:r>
            <a:endParaRPr lang="en-US" sz="2400" dirty="0">
              <a:solidFill>
                <a:srgbClr val="003399"/>
              </a:solidFill>
              <a:latin typeface="+mn-lt"/>
            </a:endParaRPr>
          </a:p>
        </p:txBody>
      </p:sp>
      <p:sp>
        <p:nvSpPr>
          <p:cNvPr id="9" name="TextBox 8"/>
          <p:cNvSpPr txBox="1"/>
          <p:nvPr/>
        </p:nvSpPr>
        <p:spPr>
          <a:xfrm>
            <a:off x="10674875" y="5400214"/>
            <a:ext cx="1784152" cy="830997"/>
          </a:xfrm>
          <a:prstGeom prst="rect">
            <a:avLst/>
          </a:prstGeom>
          <a:noFill/>
        </p:spPr>
        <p:txBody>
          <a:bodyPr wrap="square" rtlCol="0">
            <a:spAutoFit/>
          </a:bodyPr>
          <a:lstStyle/>
          <a:p>
            <a:r>
              <a:rPr lang="en-US" sz="2400" dirty="0">
                <a:solidFill>
                  <a:srgbClr val="003399"/>
                </a:solidFill>
                <a:latin typeface="+mn-lt"/>
              </a:rPr>
              <a:t>Write </a:t>
            </a:r>
            <a:r>
              <a:rPr lang="en-US" sz="2400" dirty="0" smtClean="0">
                <a:solidFill>
                  <a:srgbClr val="003399"/>
                </a:solidFill>
                <a:latin typeface="+mn-lt"/>
              </a:rPr>
              <a:t>merging</a:t>
            </a:r>
            <a:endParaRPr lang="en-US" sz="2400" dirty="0">
              <a:solidFill>
                <a:srgbClr val="003399"/>
              </a:solidFill>
              <a:latin typeface="+mn-lt"/>
            </a:endParaRPr>
          </a:p>
        </p:txBody>
      </p:sp>
      <p:pic>
        <p:nvPicPr>
          <p:cNvPr id="5" name="图片 4"/>
          <p:cNvPicPr>
            <a:picLocks noChangeAspect="1"/>
          </p:cNvPicPr>
          <p:nvPr/>
        </p:nvPicPr>
        <p:blipFill>
          <a:blip r:embed="rId3"/>
          <a:stretch>
            <a:fillRect/>
          </a:stretch>
        </p:blipFill>
        <p:spPr>
          <a:xfrm>
            <a:off x="4367808" y="2276872"/>
            <a:ext cx="6048672" cy="4479079"/>
          </a:xfrm>
          <a:prstGeom prst="rect">
            <a:avLst/>
          </a:prstGeom>
        </p:spPr>
      </p:pic>
    </p:spTree>
    <p:extLst>
      <p:ext uri="{BB962C8B-B14F-4D97-AF65-F5344CB8AC3E}">
        <p14:creationId xmlns:p14="http://schemas.microsoft.com/office/powerpoint/2010/main" val="358303326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r>
              <a:rPr lang="zh-CN" altLang="zh-CN" smtClean="0"/>
              <a:t>2. </a:t>
            </a:r>
            <a:r>
              <a:rPr lang="en-US" altLang="zh-CN" smtClean="0"/>
              <a:t>Reduce Miss Penalty: </a:t>
            </a:r>
            <a:br>
              <a:rPr lang="en-US" altLang="zh-CN" smtClean="0"/>
            </a:br>
            <a:r>
              <a:rPr lang="en-US" altLang="zh-CN" smtClean="0"/>
              <a:t>Early Restart and Critical Word First</a:t>
            </a:r>
            <a:endParaRPr lang="en-US" altLang="zh-CN"/>
          </a:p>
        </p:txBody>
      </p:sp>
      <p:sp>
        <p:nvSpPr>
          <p:cNvPr id="608259" name="Rectangle 3"/>
          <p:cNvSpPr>
            <a:spLocks noGrp="1" noChangeArrowheads="1"/>
          </p:cNvSpPr>
          <p:nvPr>
            <p:ph type="body" idx="1"/>
          </p:nvPr>
        </p:nvSpPr>
        <p:spPr/>
        <p:txBody>
          <a:bodyPr/>
          <a:lstStyle/>
          <a:p>
            <a:r>
              <a:rPr lang="en-US" altLang="zh-CN" dirty="0" smtClean="0"/>
              <a:t>Don’t wait for full block to be loaded before restarting CPU</a:t>
            </a:r>
          </a:p>
          <a:p>
            <a:pPr lvl="1"/>
            <a:r>
              <a:rPr lang="en-US" altLang="zh-CN" dirty="0" smtClean="0">
                <a:solidFill>
                  <a:srgbClr val="FF0000"/>
                </a:solidFill>
              </a:rPr>
              <a:t>Early restart </a:t>
            </a:r>
            <a:r>
              <a:rPr lang="en-US" altLang="zh-CN" dirty="0" smtClean="0"/>
              <a:t>— As soon as the requested word of the block arrives, send it to the CPU and let the CPU continue execution</a:t>
            </a:r>
          </a:p>
          <a:p>
            <a:pPr lvl="1"/>
            <a:r>
              <a:rPr lang="en-US" altLang="zh-CN" dirty="0">
                <a:solidFill>
                  <a:srgbClr val="FF0000"/>
                </a:solidFill>
              </a:rPr>
              <a:t>Critical Word First </a:t>
            </a:r>
            <a:r>
              <a:rPr lang="en-US" altLang="zh-CN" dirty="0" smtClean="0"/>
              <a:t>— Request the missed word first from memory and send it to the CPU as soon as it arrives; let the CPU continue execution while filling the rest of the words in the block. Also called </a:t>
            </a:r>
            <a:r>
              <a:rPr lang="en-US" altLang="zh-CN" dirty="0">
                <a:solidFill>
                  <a:srgbClr val="FF0000"/>
                </a:solidFill>
              </a:rPr>
              <a:t>wrapped fetch </a:t>
            </a:r>
            <a:r>
              <a:rPr lang="en-US" altLang="zh-CN" dirty="0" smtClean="0"/>
              <a:t>and </a:t>
            </a:r>
            <a:r>
              <a:rPr lang="en-US" altLang="zh-CN" dirty="0">
                <a:solidFill>
                  <a:srgbClr val="FF0000"/>
                </a:solidFill>
              </a:rPr>
              <a:t>requested word  first</a:t>
            </a:r>
          </a:p>
          <a:p>
            <a:r>
              <a:rPr lang="en-US" altLang="zh-CN" dirty="0" smtClean="0"/>
              <a:t>Generally useful only in large blocks, </a:t>
            </a:r>
          </a:p>
          <a:p>
            <a:r>
              <a:rPr lang="en-US" altLang="zh-CN" dirty="0" smtClean="0"/>
              <a:t>Spatial locality a problem; tend to want next sequential word, so not clear if benefit by early restart</a:t>
            </a:r>
            <a:endParaRPr lang="en-US" altLang="zh-CN" dirty="0"/>
          </a:p>
        </p:txBody>
      </p:sp>
      <p:sp>
        <p:nvSpPr>
          <p:cNvPr id="608260" name="Rectangle 4"/>
          <p:cNvSpPr>
            <a:spLocks noChangeArrowheads="1"/>
          </p:cNvSpPr>
          <p:nvPr/>
        </p:nvSpPr>
        <p:spPr bwMode="auto">
          <a:xfrm>
            <a:off x="5375920" y="5877272"/>
            <a:ext cx="3670300" cy="477837"/>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8261" name="Rectangle 5"/>
          <p:cNvSpPr>
            <a:spLocks noChangeArrowheads="1"/>
          </p:cNvSpPr>
          <p:nvPr/>
        </p:nvSpPr>
        <p:spPr bwMode="auto">
          <a:xfrm>
            <a:off x="7320136" y="5877271"/>
            <a:ext cx="812800" cy="477838"/>
          </a:xfrm>
          <a:prstGeom prst="rect">
            <a:avLst/>
          </a:prstGeom>
          <a:solidFill>
            <a:schemeClr val="bg2"/>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8262" name="Rectangle 6"/>
          <p:cNvSpPr>
            <a:spLocks noChangeArrowheads="1"/>
          </p:cNvSpPr>
          <p:nvPr/>
        </p:nvSpPr>
        <p:spPr bwMode="auto">
          <a:xfrm>
            <a:off x="7320136" y="5479725"/>
            <a:ext cx="78226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sz="2000" dirty="0"/>
              <a:t>block</a:t>
            </a:r>
          </a:p>
        </p:txBody>
      </p:sp>
    </p:spTree>
    <p:extLst>
      <p:ext uri="{BB962C8B-B14F-4D97-AF65-F5344CB8AC3E}">
        <p14:creationId xmlns:p14="http://schemas.microsoft.com/office/powerpoint/2010/main" val="12872541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8259">
                                            <p:txEl>
                                              <p:pRg st="0" end="0"/>
                                            </p:txEl>
                                          </p:spTgt>
                                        </p:tgtEl>
                                        <p:attrNameLst>
                                          <p:attrName>style.visibility</p:attrName>
                                        </p:attrNameLst>
                                      </p:cBhvr>
                                      <p:to>
                                        <p:strVal val="visible"/>
                                      </p:to>
                                    </p:set>
                                    <p:anim calcmode="lin" valueType="num">
                                      <p:cBhvr additive="base">
                                        <p:cTn id="7" dur="500" fill="hold"/>
                                        <p:tgtEl>
                                          <p:spTgt spid="6082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825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08259">
                                            <p:txEl>
                                              <p:pRg st="1" end="1"/>
                                            </p:txEl>
                                          </p:spTgt>
                                        </p:tgtEl>
                                        <p:attrNameLst>
                                          <p:attrName>style.visibility</p:attrName>
                                        </p:attrNameLst>
                                      </p:cBhvr>
                                      <p:to>
                                        <p:strVal val="visible"/>
                                      </p:to>
                                    </p:set>
                                    <p:anim calcmode="lin" valueType="num">
                                      <p:cBhvr additive="base">
                                        <p:cTn id="11" dur="500" fill="hold"/>
                                        <p:tgtEl>
                                          <p:spTgt spid="60825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0825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08259">
                                            <p:txEl>
                                              <p:pRg st="2" end="2"/>
                                            </p:txEl>
                                          </p:spTgt>
                                        </p:tgtEl>
                                        <p:attrNameLst>
                                          <p:attrName>style.visibility</p:attrName>
                                        </p:attrNameLst>
                                      </p:cBhvr>
                                      <p:to>
                                        <p:strVal val="visible"/>
                                      </p:to>
                                    </p:set>
                                    <p:anim calcmode="lin" valueType="num">
                                      <p:cBhvr additive="base">
                                        <p:cTn id="15" dur="500" fill="hold"/>
                                        <p:tgtEl>
                                          <p:spTgt spid="60825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082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08259">
                                            <p:txEl>
                                              <p:pRg st="3" end="3"/>
                                            </p:txEl>
                                          </p:spTgt>
                                        </p:tgtEl>
                                        <p:attrNameLst>
                                          <p:attrName>style.visibility</p:attrName>
                                        </p:attrNameLst>
                                      </p:cBhvr>
                                      <p:to>
                                        <p:strVal val="visible"/>
                                      </p:to>
                                    </p:set>
                                    <p:anim calcmode="lin" valueType="num">
                                      <p:cBhvr additive="base">
                                        <p:cTn id="21" dur="500" fill="hold"/>
                                        <p:tgtEl>
                                          <p:spTgt spid="60825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082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08259">
                                            <p:txEl>
                                              <p:pRg st="4" end="4"/>
                                            </p:txEl>
                                          </p:spTgt>
                                        </p:tgtEl>
                                        <p:attrNameLst>
                                          <p:attrName>style.visibility</p:attrName>
                                        </p:attrNameLst>
                                      </p:cBhvr>
                                      <p:to>
                                        <p:strVal val="visible"/>
                                      </p:to>
                                    </p:set>
                                    <p:anim calcmode="lin" valueType="num">
                                      <p:cBhvr additive="base">
                                        <p:cTn id="27" dur="500" fill="hold"/>
                                        <p:tgtEl>
                                          <p:spTgt spid="608259">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082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59"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r>
              <a:rPr lang="zh-CN" altLang="zh-CN" smtClean="0"/>
              <a:t>3.</a:t>
            </a:r>
            <a:r>
              <a:rPr lang="en-US" altLang="zh-CN" smtClean="0"/>
              <a:t>Non-blocking Caches to reduce stalls on misses</a:t>
            </a:r>
            <a:endParaRPr lang="en-US" altLang="zh-CN"/>
          </a:p>
        </p:txBody>
      </p:sp>
      <p:sp>
        <p:nvSpPr>
          <p:cNvPr id="609283" name="Rectangle 3"/>
          <p:cNvSpPr>
            <a:spLocks noGrp="1" noChangeArrowheads="1"/>
          </p:cNvSpPr>
          <p:nvPr>
            <p:ph type="body" idx="1"/>
          </p:nvPr>
        </p:nvSpPr>
        <p:spPr/>
        <p:txBody>
          <a:bodyPr/>
          <a:lstStyle/>
          <a:p>
            <a:r>
              <a:rPr lang="en-US" altLang="zh-CN" dirty="0" smtClean="0"/>
              <a:t>Non-blocking cache or  </a:t>
            </a:r>
            <a:r>
              <a:rPr lang="en-US" altLang="zh-CN" dirty="0" smtClean="0">
                <a:solidFill>
                  <a:srgbClr val="FF0000"/>
                </a:solidFill>
              </a:rPr>
              <a:t>lockup-free cache </a:t>
            </a:r>
            <a:r>
              <a:rPr lang="en-US" altLang="zh-CN" dirty="0" smtClean="0"/>
              <a:t>allow data cache to continue to supply cache hits during a miss</a:t>
            </a:r>
          </a:p>
          <a:p>
            <a:pPr lvl="1"/>
            <a:r>
              <a:rPr lang="en-US" altLang="zh-CN" dirty="0" smtClean="0"/>
              <a:t>requires special control (F/E bits on registers or out-of-order execution)</a:t>
            </a:r>
          </a:p>
          <a:p>
            <a:r>
              <a:rPr lang="en-US" altLang="zh-CN" dirty="0" smtClean="0"/>
              <a:t>“hit under miss”  reduces the effective miss penalty by working during miss vs. ignoring CPU requests</a:t>
            </a:r>
          </a:p>
          <a:p>
            <a:r>
              <a:rPr lang="en-US" altLang="zh-CN" dirty="0" smtClean="0"/>
              <a:t>“hit under multiple miss” or “miss under miss”  may further lower the effective miss penalty by overlapping multiple misses</a:t>
            </a:r>
          </a:p>
          <a:p>
            <a:pPr lvl="1"/>
            <a:r>
              <a:rPr lang="en-US" altLang="zh-CN" dirty="0" smtClean="0"/>
              <a:t>Significantly increases the complexity of the cache controller as there can be multiple outstanding memory accesses</a:t>
            </a:r>
          </a:p>
          <a:p>
            <a:pPr lvl="1"/>
            <a:r>
              <a:rPr lang="en-US" altLang="zh-CN" dirty="0" smtClean="0"/>
              <a:t>Requires multiple memory banks (otherwise cannot support bandwidth)</a:t>
            </a:r>
          </a:p>
          <a:p>
            <a:pPr lvl="1"/>
            <a:r>
              <a:rPr lang="en-US" altLang="zh-CN" dirty="0" smtClean="0"/>
              <a:t>Pentium Pro allows 4 outstanding memory misses</a:t>
            </a:r>
            <a:endParaRPr lang="en-US" altLang="zh-CN" dirty="0"/>
          </a:p>
        </p:txBody>
      </p:sp>
    </p:spTree>
    <p:extLst>
      <p:ext uri="{BB962C8B-B14F-4D97-AF65-F5344CB8AC3E}">
        <p14:creationId xmlns:p14="http://schemas.microsoft.com/office/powerpoint/2010/main" val="264108047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9283">
                                            <p:txEl>
                                              <p:pRg st="0" end="0"/>
                                            </p:txEl>
                                          </p:spTgt>
                                        </p:tgtEl>
                                        <p:attrNameLst>
                                          <p:attrName>style.visibility</p:attrName>
                                        </p:attrNameLst>
                                      </p:cBhvr>
                                      <p:to>
                                        <p:strVal val="visible"/>
                                      </p:to>
                                    </p:set>
                                    <p:anim calcmode="lin" valueType="num">
                                      <p:cBhvr additive="base">
                                        <p:cTn id="7" dur="500" fill="hold"/>
                                        <p:tgtEl>
                                          <p:spTgt spid="6092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92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09283">
                                            <p:txEl>
                                              <p:pRg st="1" end="1"/>
                                            </p:txEl>
                                          </p:spTgt>
                                        </p:tgtEl>
                                        <p:attrNameLst>
                                          <p:attrName>style.visibility</p:attrName>
                                        </p:attrNameLst>
                                      </p:cBhvr>
                                      <p:to>
                                        <p:strVal val="visible"/>
                                      </p:to>
                                    </p:set>
                                    <p:anim calcmode="lin" valueType="num">
                                      <p:cBhvr additive="base">
                                        <p:cTn id="11" dur="500" fill="hold"/>
                                        <p:tgtEl>
                                          <p:spTgt spid="60928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092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09283">
                                            <p:txEl>
                                              <p:pRg st="2" end="2"/>
                                            </p:txEl>
                                          </p:spTgt>
                                        </p:tgtEl>
                                        <p:attrNameLst>
                                          <p:attrName>style.visibility</p:attrName>
                                        </p:attrNameLst>
                                      </p:cBhvr>
                                      <p:to>
                                        <p:strVal val="visible"/>
                                      </p:to>
                                    </p:set>
                                    <p:anim calcmode="lin" valueType="num">
                                      <p:cBhvr additive="base">
                                        <p:cTn id="17" dur="500" fill="hold"/>
                                        <p:tgtEl>
                                          <p:spTgt spid="60928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092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609283">
                                            <p:txEl>
                                              <p:pRg st="3" end="3"/>
                                            </p:txEl>
                                          </p:spTgt>
                                        </p:tgtEl>
                                        <p:attrNameLst>
                                          <p:attrName>style.visibility</p:attrName>
                                        </p:attrNameLst>
                                      </p:cBhvr>
                                      <p:to>
                                        <p:strVal val="visible"/>
                                      </p:to>
                                    </p:set>
                                    <p:anim calcmode="lin" valueType="num">
                                      <p:cBhvr additive="base">
                                        <p:cTn id="23" dur="500" fill="hold"/>
                                        <p:tgtEl>
                                          <p:spTgt spid="60928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09283">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09283">
                                            <p:txEl>
                                              <p:pRg st="4" end="4"/>
                                            </p:txEl>
                                          </p:spTgt>
                                        </p:tgtEl>
                                        <p:attrNameLst>
                                          <p:attrName>style.visibility</p:attrName>
                                        </p:attrNameLst>
                                      </p:cBhvr>
                                      <p:to>
                                        <p:strVal val="visible"/>
                                      </p:to>
                                    </p:set>
                                    <p:anim calcmode="lin" valueType="num">
                                      <p:cBhvr additive="base">
                                        <p:cTn id="27" dur="500" fill="hold"/>
                                        <p:tgtEl>
                                          <p:spTgt spid="609283">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0928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609283">
                                            <p:txEl>
                                              <p:pRg st="5" end="5"/>
                                            </p:txEl>
                                          </p:spTgt>
                                        </p:tgtEl>
                                        <p:attrNameLst>
                                          <p:attrName>style.visibility</p:attrName>
                                        </p:attrNameLst>
                                      </p:cBhvr>
                                      <p:to>
                                        <p:strVal val="visible"/>
                                      </p:to>
                                    </p:set>
                                    <p:anim calcmode="lin" valueType="num">
                                      <p:cBhvr additive="base">
                                        <p:cTn id="31" dur="500" fill="hold"/>
                                        <p:tgtEl>
                                          <p:spTgt spid="60928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0928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609283">
                                            <p:txEl>
                                              <p:pRg st="6" end="6"/>
                                            </p:txEl>
                                          </p:spTgt>
                                        </p:tgtEl>
                                        <p:attrNameLst>
                                          <p:attrName>style.visibility</p:attrName>
                                        </p:attrNameLst>
                                      </p:cBhvr>
                                      <p:to>
                                        <p:strVal val="visible"/>
                                      </p:to>
                                    </p:set>
                                    <p:anim calcmode="lin" valueType="num">
                                      <p:cBhvr additive="base">
                                        <p:cTn id="35" dur="500" fill="hold"/>
                                        <p:tgtEl>
                                          <p:spTgt spid="609283">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0928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9283" grpId="0" build="p"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a:xfrm>
            <a:off x="479376" y="620688"/>
            <a:ext cx="9145016" cy="533400"/>
          </a:xfrm>
        </p:spPr>
        <p:txBody>
          <a:bodyPr/>
          <a:lstStyle/>
          <a:p>
            <a:r>
              <a:rPr lang="en-US" altLang="zh-CN" dirty="0" smtClean="0"/>
              <a:t>Implementing </a:t>
            </a:r>
            <a:r>
              <a:rPr lang="en-US" altLang="zh-CN" dirty="0" err="1" smtClean="0"/>
              <a:t>Nonblocking</a:t>
            </a:r>
            <a:r>
              <a:rPr lang="en-US" altLang="zh-CN" dirty="0" smtClean="0"/>
              <a:t> caches</a:t>
            </a:r>
            <a:endParaRPr lang="en-US" altLang="zh-CN" dirty="0"/>
          </a:p>
        </p:txBody>
      </p:sp>
      <p:sp>
        <p:nvSpPr>
          <p:cNvPr id="686083" name="Rectangle 3"/>
          <p:cNvSpPr>
            <a:spLocks noGrp="1" noChangeArrowheads="1"/>
          </p:cNvSpPr>
          <p:nvPr>
            <p:ph type="body" idx="1"/>
          </p:nvPr>
        </p:nvSpPr>
        <p:spPr>
          <a:xfrm>
            <a:off x="263352" y="1556792"/>
            <a:ext cx="11665296" cy="5148808"/>
          </a:xfrm>
        </p:spPr>
        <p:txBody>
          <a:bodyPr/>
          <a:lstStyle/>
          <a:p>
            <a:pPr>
              <a:lnSpc>
                <a:spcPct val="80000"/>
              </a:lnSpc>
            </a:pPr>
            <a:r>
              <a:rPr lang="en-US" altLang="zh-CN" dirty="0"/>
              <a:t>What happens on a </a:t>
            </a:r>
            <a:r>
              <a:rPr lang="en-US" altLang="zh-CN" dirty="0" smtClean="0"/>
              <a:t>cache miss in a blocking cache?</a:t>
            </a:r>
          </a:p>
          <a:p>
            <a:pPr lvl="1">
              <a:lnSpc>
                <a:spcPct val="80000"/>
              </a:lnSpc>
            </a:pPr>
            <a:r>
              <a:rPr lang="en-US" altLang="zh-CN" dirty="0"/>
              <a:t>Freeze pipeline in Mem stage (popular early on: </a:t>
            </a:r>
            <a:r>
              <a:rPr lang="en-US" altLang="zh-CN" dirty="0" smtClean="0"/>
              <a:t>SAPRC, </a:t>
            </a:r>
            <a:r>
              <a:rPr lang="en-US" altLang="zh-CN" dirty="0"/>
              <a:t>R4000</a:t>
            </a:r>
            <a:r>
              <a:rPr lang="en-US" altLang="zh-CN" dirty="0" smtClean="0"/>
              <a:t>)</a:t>
            </a:r>
            <a:endParaRPr lang="en-US" altLang="zh-CN" dirty="0"/>
          </a:p>
          <a:p>
            <a:pPr>
              <a:lnSpc>
                <a:spcPct val="80000"/>
              </a:lnSpc>
            </a:pPr>
            <a:r>
              <a:rPr lang="en-US" altLang="zh-CN" dirty="0" smtClean="0"/>
              <a:t>For </a:t>
            </a:r>
            <a:r>
              <a:rPr lang="en-US" altLang="zh-CN" dirty="0" err="1" smtClean="0"/>
              <a:t>nonblocking</a:t>
            </a:r>
            <a:r>
              <a:rPr lang="en-US" altLang="zh-CN" dirty="0" smtClean="0"/>
              <a:t> </a:t>
            </a:r>
            <a:r>
              <a:rPr lang="en-US" altLang="zh-CN" dirty="0" err="1" smtClean="0"/>
              <a:t>cahce</a:t>
            </a:r>
            <a:r>
              <a:rPr lang="en-US" altLang="zh-CN" dirty="0" smtClean="0"/>
              <a:t>, arbitration between hit and (multiple) misses</a:t>
            </a:r>
            <a:endParaRPr lang="en-US" altLang="zh-CN" dirty="0"/>
          </a:p>
          <a:p>
            <a:pPr lvl="1">
              <a:lnSpc>
                <a:spcPct val="80000"/>
              </a:lnSpc>
            </a:pPr>
            <a:r>
              <a:rPr lang="en-US" altLang="zh-CN" dirty="0" smtClean="0"/>
              <a:t>Use </a:t>
            </a:r>
            <a:r>
              <a:rPr lang="en-US" altLang="zh-CN" dirty="0"/>
              <a:t>Full/Empty bits in registers + MSHR </a:t>
            </a:r>
            <a:r>
              <a:rPr lang="en-US" altLang="zh-CN" dirty="0" smtClean="0"/>
              <a:t>queue (# of outstanding misses)</a:t>
            </a:r>
            <a:endParaRPr lang="en-US" altLang="zh-CN" dirty="0"/>
          </a:p>
          <a:p>
            <a:pPr lvl="1">
              <a:lnSpc>
                <a:spcPct val="80000"/>
              </a:lnSpc>
            </a:pPr>
            <a:r>
              <a:rPr lang="en-US" altLang="zh-CN" dirty="0"/>
              <a:t>MSHR = “Miss Status/Handler Registers</a:t>
            </a:r>
            <a:r>
              <a:rPr lang="en-US" altLang="zh-CN" dirty="0" smtClean="0"/>
              <a:t>”, each </a:t>
            </a:r>
            <a:r>
              <a:rPr lang="en-US" altLang="zh-CN" dirty="0"/>
              <a:t>entry in this queue keeps track of status of outstanding memory requests to one complete memory </a:t>
            </a:r>
            <a:r>
              <a:rPr lang="en-US" altLang="zh-CN" dirty="0" smtClean="0"/>
              <a:t>line</a:t>
            </a:r>
            <a:endParaRPr lang="en-US" altLang="zh-CN" dirty="0"/>
          </a:p>
          <a:p>
            <a:pPr lvl="2">
              <a:lnSpc>
                <a:spcPct val="80000"/>
              </a:lnSpc>
            </a:pPr>
            <a:r>
              <a:rPr lang="en-US" altLang="zh-CN" dirty="0"/>
              <a:t>Per cache-line: keep info about memory </a:t>
            </a:r>
            <a:r>
              <a:rPr lang="en-US" altLang="zh-CN" dirty="0" smtClean="0"/>
              <a:t>address; For </a:t>
            </a:r>
            <a:r>
              <a:rPr lang="en-US" altLang="zh-CN" dirty="0"/>
              <a:t>each word: register (if any) that is waiting for </a:t>
            </a:r>
            <a:r>
              <a:rPr lang="en-US" altLang="zh-CN" dirty="0" smtClean="0"/>
              <a:t>result; Used </a:t>
            </a:r>
            <a:r>
              <a:rPr lang="en-US" altLang="zh-CN" dirty="0"/>
              <a:t>to “merge” multiple requests to one memory line</a:t>
            </a:r>
          </a:p>
          <a:p>
            <a:pPr lvl="1">
              <a:lnSpc>
                <a:spcPct val="80000"/>
              </a:lnSpc>
            </a:pPr>
            <a:r>
              <a:rPr lang="en-US" altLang="zh-CN" dirty="0"/>
              <a:t>New load creates MSHR entry and sets destination register to “</a:t>
            </a:r>
            <a:r>
              <a:rPr lang="en-US" altLang="zh-CN" dirty="0" smtClean="0"/>
              <a:t>Empty”</a:t>
            </a:r>
          </a:p>
          <a:p>
            <a:pPr lvl="2">
              <a:lnSpc>
                <a:spcPct val="80000"/>
              </a:lnSpc>
            </a:pPr>
            <a:r>
              <a:rPr lang="en-US" altLang="zh-CN" dirty="0" smtClean="0"/>
              <a:t>Load </a:t>
            </a:r>
            <a:r>
              <a:rPr lang="en-US" altLang="zh-CN" dirty="0"/>
              <a:t>is “released” from </a:t>
            </a:r>
            <a:r>
              <a:rPr lang="en-US" altLang="zh-CN" dirty="0" smtClean="0"/>
              <a:t>pipeline</a:t>
            </a:r>
            <a:endParaRPr lang="en-US" altLang="zh-CN" dirty="0"/>
          </a:p>
          <a:p>
            <a:pPr lvl="1">
              <a:lnSpc>
                <a:spcPct val="80000"/>
              </a:lnSpc>
            </a:pPr>
            <a:r>
              <a:rPr lang="en-US" altLang="zh-CN" dirty="0"/>
              <a:t>Attempt to use register before result returns causes instruction to block in decode stage.</a:t>
            </a:r>
          </a:p>
          <a:p>
            <a:pPr lvl="2">
              <a:lnSpc>
                <a:spcPct val="80000"/>
              </a:lnSpc>
            </a:pPr>
            <a:r>
              <a:rPr lang="en-US" altLang="zh-CN" dirty="0"/>
              <a:t>Limited “out-of-order” execution with respect to </a:t>
            </a:r>
            <a:r>
              <a:rPr lang="en-US" altLang="zh-CN" dirty="0" smtClean="0"/>
              <a:t>loads </a:t>
            </a:r>
            <a:r>
              <a:rPr lang="en-US" altLang="zh-CN" dirty="0"/>
              <a:t/>
            </a:r>
            <a:br>
              <a:rPr lang="en-US" altLang="zh-CN" dirty="0"/>
            </a:br>
            <a:r>
              <a:rPr lang="en-US" altLang="zh-CN" dirty="0">
                <a:solidFill>
                  <a:srgbClr val="FF0000"/>
                </a:solidFill>
              </a:rPr>
              <a:t>Popular with in-order superscalar </a:t>
            </a:r>
            <a:r>
              <a:rPr lang="en-US" altLang="zh-CN" dirty="0" smtClean="0">
                <a:solidFill>
                  <a:srgbClr val="FF0000"/>
                </a:solidFill>
              </a:rPr>
              <a:t>architectures</a:t>
            </a:r>
            <a:endParaRPr lang="en-US" altLang="zh-CN" dirty="0">
              <a:solidFill>
                <a:srgbClr val="FF0000"/>
              </a:solidFill>
            </a:endParaRPr>
          </a:p>
        </p:txBody>
      </p:sp>
    </p:spTree>
    <p:extLst>
      <p:ext uri="{BB962C8B-B14F-4D97-AF65-F5344CB8AC3E}">
        <p14:creationId xmlns:p14="http://schemas.microsoft.com/office/powerpoint/2010/main" val="18025853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6083">
                                            <p:txEl>
                                              <p:pRg st="0" end="0"/>
                                            </p:txEl>
                                          </p:spTgt>
                                        </p:tgtEl>
                                        <p:attrNameLst>
                                          <p:attrName>style.visibility</p:attrName>
                                        </p:attrNameLst>
                                      </p:cBhvr>
                                      <p:to>
                                        <p:strVal val="visible"/>
                                      </p:to>
                                    </p:set>
                                    <p:anim calcmode="lin" valueType="num">
                                      <p:cBhvr additive="base">
                                        <p:cTn id="7" dur="500" fill="hold"/>
                                        <p:tgtEl>
                                          <p:spTgt spid="6860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60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86083">
                                            <p:txEl>
                                              <p:pRg st="1" end="1"/>
                                            </p:txEl>
                                          </p:spTgt>
                                        </p:tgtEl>
                                        <p:attrNameLst>
                                          <p:attrName>style.visibility</p:attrName>
                                        </p:attrNameLst>
                                      </p:cBhvr>
                                      <p:to>
                                        <p:strVal val="visible"/>
                                      </p:to>
                                    </p:set>
                                    <p:anim calcmode="lin" valueType="num">
                                      <p:cBhvr additive="base">
                                        <p:cTn id="13" dur="500" fill="hold"/>
                                        <p:tgtEl>
                                          <p:spTgt spid="68608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860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86083">
                                            <p:txEl>
                                              <p:pRg st="2" end="2"/>
                                            </p:txEl>
                                          </p:spTgt>
                                        </p:tgtEl>
                                        <p:attrNameLst>
                                          <p:attrName>style.visibility</p:attrName>
                                        </p:attrNameLst>
                                      </p:cBhvr>
                                      <p:to>
                                        <p:strVal val="visible"/>
                                      </p:to>
                                    </p:set>
                                    <p:anim calcmode="lin" valueType="num">
                                      <p:cBhvr additive="base">
                                        <p:cTn id="19" dur="500" fill="hold"/>
                                        <p:tgtEl>
                                          <p:spTgt spid="68608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860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86083">
                                            <p:txEl>
                                              <p:pRg st="3" end="3"/>
                                            </p:txEl>
                                          </p:spTgt>
                                        </p:tgtEl>
                                        <p:attrNameLst>
                                          <p:attrName>style.visibility</p:attrName>
                                        </p:attrNameLst>
                                      </p:cBhvr>
                                      <p:to>
                                        <p:strVal val="visible"/>
                                      </p:to>
                                    </p:set>
                                    <p:anim calcmode="lin" valueType="num">
                                      <p:cBhvr additive="base">
                                        <p:cTn id="25" dur="500" fill="hold"/>
                                        <p:tgtEl>
                                          <p:spTgt spid="68608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860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86083">
                                            <p:txEl>
                                              <p:pRg st="4" end="4"/>
                                            </p:txEl>
                                          </p:spTgt>
                                        </p:tgtEl>
                                        <p:attrNameLst>
                                          <p:attrName>style.visibility</p:attrName>
                                        </p:attrNameLst>
                                      </p:cBhvr>
                                      <p:to>
                                        <p:strVal val="visible"/>
                                      </p:to>
                                    </p:set>
                                    <p:anim calcmode="lin" valueType="num">
                                      <p:cBhvr additive="base">
                                        <p:cTn id="31" dur="500" fill="hold"/>
                                        <p:tgtEl>
                                          <p:spTgt spid="68608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86083">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86083">
                                            <p:txEl>
                                              <p:pRg st="5" end="5"/>
                                            </p:txEl>
                                          </p:spTgt>
                                        </p:tgtEl>
                                        <p:attrNameLst>
                                          <p:attrName>style.visibility</p:attrName>
                                        </p:attrNameLst>
                                      </p:cBhvr>
                                      <p:to>
                                        <p:strVal val="visible"/>
                                      </p:to>
                                    </p:set>
                                    <p:anim calcmode="lin" valueType="num">
                                      <p:cBhvr additive="base">
                                        <p:cTn id="35" dur="500" fill="hold"/>
                                        <p:tgtEl>
                                          <p:spTgt spid="686083">
                                            <p:txEl>
                                              <p:pRg st="5" end="5"/>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860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686083">
                                            <p:txEl>
                                              <p:pRg st="6" end="6"/>
                                            </p:txEl>
                                          </p:spTgt>
                                        </p:tgtEl>
                                        <p:attrNameLst>
                                          <p:attrName>style.visibility</p:attrName>
                                        </p:attrNameLst>
                                      </p:cBhvr>
                                      <p:to>
                                        <p:strVal val="visible"/>
                                      </p:to>
                                    </p:set>
                                    <p:anim calcmode="lin" valueType="num">
                                      <p:cBhvr additive="base">
                                        <p:cTn id="41" dur="500" fill="hold"/>
                                        <p:tgtEl>
                                          <p:spTgt spid="686083">
                                            <p:txEl>
                                              <p:pRg st="6" end="6"/>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686083">
                                            <p:txEl>
                                              <p:pRg st="6" end="6"/>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686083">
                                            <p:txEl>
                                              <p:pRg st="7" end="7"/>
                                            </p:txEl>
                                          </p:spTgt>
                                        </p:tgtEl>
                                        <p:attrNameLst>
                                          <p:attrName>style.visibility</p:attrName>
                                        </p:attrNameLst>
                                      </p:cBhvr>
                                      <p:to>
                                        <p:strVal val="visible"/>
                                      </p:to>
                                    </p:set>
                                    <p:anim calcmode="lin" valueType="num">
                                      <p:cBhvr additive="base">
                                        <p:cTn id="45" dur="500" fill="hold"/>
                                        <p:tgtEl>
                                          <p:spTgt spid="686083">
                                            <p:txEl>
                                              <p:pRg st="7" end="7"/>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68608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686083">
                                            <p:txEl>
                                              <p:pRg st="8" end="8"/>
                                            </p:txEl>
                                          </p:spTgt>
                                        </p:tgtEl>
                                        <p:attrNameLst>
                                          <p:attrName>style.visibility</p:attrName>
                                        </p:attrNameLst>
                                      </p:cBhvr>
                                      <p:to>
                                        <p:strVal val="visible"/>
                                      </p:to>
                                    </p:set>
                                    <p:anim calcmode="lin" valueType="num">
                                      <p:cBhvr additive="base">
                                        <p:cTn id="51" dur="500" fill="hold"/>
                                        <p:tgtEl>
                                          <p:spTgt spid="686083">
                                            <p:txEl>
                                              <p:pRg st="8" end="8"/>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686083">
                                            <p:txEl>
                                              <p:pRg st="8" end="8"/>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686083">
                                            <p:txEl>
                                              <p:pRg st="9" end="9"/>
                                            </p:txEl>
                                          </p:spTgt>
                                        </p:tgtEl>
                                        <p:attrNameLst>
                                          <p:attrName>style.visibility</p:attrName>
                                        </p:attrNameLst>
                                      </p:cBhvr>
                                      <p:to>
                                        <p:strVal val="visible"/>
                                      </p:to>
                                    </p:set>
                                    <p:anim calcmode="lin" valueType="num">
                                      <p:cBhvr additive="base">
                                        <p:cTn id="55" dur="500" fill="hold"/>
                                        <p:tgtEl>
                                          <p:spTgt spid="686083">
                                            <p:txEl>
                                              <p:pRg st="9" end="9"/>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68608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83" grpId="0" build="p" bldLvl="2"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smtClean="0"/>
              <a:t>Performance of </a:t>
            </a:r>
            <a:r>
              <a:rPr lang="en-US" dirty="0" err="1" smtClean="0"/>
              <a:t>Nonblocking</a:t>
            </a:r>
            <a:r>
              <a:rPr lang="en-US" dirty="0" smtClean="0"/>
              <a:t> Caches</a:t>
            </a:r>
            <a:endParaRPr lang="en-AU" dirty="0"/>
          </a:p>
        </p:txBody>
      </p:sp>
      <p:sp>
        <p:nvSpPr>
          <p:cNvPr id="242691" name="Rectangle 3"/>
          <p:cNvSpPr>
            <a:spLocks noGrp="1" noChangeArrowheads="1"/>
          </p:cNvSpPr>
          <p:nvPr>
            <p:ph type="body" idx="1"/>
          </p:nvPr>
        </p:nvSpPr>
        <p:spPr>
          <a:xfrm>
            <a:off x="551384" y="1556792"/>
            <a:ext cx="10802416" cy="5112568"/>
          </a:xfrm>
        </p:spPr>
        <p:txBody>
          <a:bodyPr/>
          <a:lstStyle/>
          <a:p>
            <a:r>
              <a:rPr lang="en-US" dirty="0" smtClean="0"/>
              <a:t>Allow hits before previous misses complete</a:t>
            </a:r>
          </a:p>
          <a:p>
            <a:pPr lvl="1"/>
            <a:r>
              <a:rPr lang="en-US" dirty="0" smtClean="0"/>
              <a:t>“Hit under miss”, “Hit under multiple miss”</a:t>
            </a:r>
          </a:p>
          <a:p>
            <a:pPr lvl="1"/>
            <a:r>
              <a:rPr lang="en-US" dirty="0" smtClean="0"/>
              <a:t>L2 must support this</a:t>
            </a:r>
          </a:p>
          <a:p>
            <a:r>
              <a:rPr lang="en-US" altLang="en-US" sz="2400" dirty="0"/>
              <a:t>Allowing one hit under miss </a:t>
            </a:r>
            <a:r>
              <a:rPr lang="en-US" altLang="en-US" sz="2400" dirty="0" smtClean="0"/>
              <a:t/>
            </a:r>
            <a:br>
              <a:rPr lang="en-US" altLang="en-US" sz="2400" dirty="0" smtClean="0"/>
            </a:br>
            <a:r>
              <a:rPr lang="en-US" altLang="en-US" sz="2400" dirty="0" smtClean="0"/>
              <a:t>reduces </a:t>
            </a:r>
            <a:r>
              <a:rPr lang="en-US" altLang="en-US" sz="2400" dirty="0"/>
              <a:t>the miss penalty by 9</a:t>
            </a:r>
            <a:r>
              <a:rPr lang="en-US" altLang="en-US" sz="2400" dirty="0" smtClean="0"/>
              <a:t>%</a:t>
            </a:r>
            <a:br>
              <a:rPr lang="en-US" altLang="en-US" sz="2400" dirty="0" smtClean="0"/>
            </a:br>
            <a:r>
              <a:rPr lang="en-US" altLang="en-US" sz="2400" dirty="0" smtClean="0"/>
              <a:t>for integer and </a:t>
            </a:r>
            <a:r>
              <a:rPr lang="en-US" altLang="en-US" sz="2400" dirty="0"/>
              <a:t>12.5% for </a:t>
            </a:r>
            <a:br>
              <a:rPr lang="en-US" altLang="en-US" sz="2400" dirty="0"/>
            </a:br>
            <a:r>
              <a:rPr lang="en-US" altLang="en-US" sz="2400" dirty="0" smtClean="0"/>
              <a:t>floating point</a:t>
            </a:r>
            <a:br>
              <a:rPr lang="en-US" altLang="en-US" sz="2400" dirty="0" smtClean="0"/>
            </a:br>
            <a:r>
              <a:rPr lang="en-US" altLang="en-US" sz="2400" dirty="0" smtClean="0"/>
              <a:t>Allowing </a:t>
            </a:r>
            <a:r>
              <a:rPr lang="en-US" altLang="en-US" sz="2400" dirty="0"/>
              <a:t>a second hit improves </a:t>
            </a:r>
            <a:r>
              <a:rPr lang="en-US" altLang="en-US" sz="2400" dirty="0" smtClean="0"/>
              <a:t/>
            </a:r>
            <a:br>
              <a:rPr lang="en-US" altLang="en-US" sz="2400" dirty="0" smtClean="0"/>
            </a:br>
            <a:r>
              <a:rPr lang="en-US" altLang="en-US" sz="2400" dirty="0" smtClean="0"/>
              <a:t>these </a:t>
            </a:r>
            <a:r>
              <a:rPr lang="en-US" altLang="en-US" sz="2400" dirty="0"/>
              <a:t>results to 10% and </a:t>
            </a:r>
            <a:r>
              <a:rPr lang="en-US" altLang="en-US" sz="2400" dirty="0" smtClean="0"/>
              <a:t>16%</a:t>
            </a:r>
          </a:p>
          <a:p>
            <a:r>
              <a:rPr lang="en-US" altLang="en-US" sz="2400" dirty="0" smtClean="0"/>
              <a:t>Allowing </a:t>
            </a:r>
            <a:r>
              <a:rPr lang="en-US" altLang="en-US" sz="2400" dirty="0"/>
              <a:t>64 results in little </a:t>
            </a:r>
            <a:r>
              <a:rPr lang="en-US" altLang="en-US" sz="2400" dirty="0" smtClean="0"/>
              <a:t/>
            </a:r>
            <a:br>
              <a:rPr lang="en-US" altLang="en-US" sz="2400" dirty="0" smtClean="0"/>
            </a:br>
            <a:r>
              <a:rPr lang="en-US" altLang="en-US" sz="2400" dirty="0" smtClean="0"/>
              <a:t>additional </a:t>
            </a:r>
            <a:r>
              <a:rPr lang="en-US" altLang="en-US" sz="2400" dirty="0"/>
              <a:t>improvement</a:t>
            </a:r>
            <a:endParaRPr lang="en-US" sz="2400" dirty="0"/>
          </a:p>
        </p:txBody>
      </p:sp>
      <p:pic>
        <p:nvPicPr>
          <p:cNvPr id="5" name="图片 4"/>
          <p:cNvPicPr>
            <a:picLocks noChangeAspect="1"/>
          </p:cNvPicPr>
          <p:nvPr/>
        </p:nvPicPr>
        <p:blipFill>
          <a:blip r:embed="rId3"/>
          <a:stretch>
            <a:fillRect/>
          </a:stretch>
        </p:blipFill>
        <p:spPr>
          <a:xfrm>
            <a:off x="5184200" y="3068960"/>
            <a:ext cx="6992371" cy="3276365"/>
          </a:xfrm>
          <a:prstGeom prst="rect">
            <a:avLst/>
          </a:prstGeom>
        </p:spPr>
      </p:pic>
    </p:spTree>
    <p:extLst>
      <p:ext uri="{BB962C8B-B14F-4D97-AF65-F5344CB8AC3E}">
        <p14:creationId xmlns:p14="http://schemas.microsoft.com/office/powerpoint/2010/main" val="37776461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a:xfrm>
            <a:off x="407368" y="76200"/>
            <a:ext cx="927003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zh-CN" dirty="0"/>
              <a:t>4: </a:t>
            </a:r>
            <a:r>
              <a:rPr lang="en-US" altLang="zh-CN" dirty="0"/>
              <a:t>Add a second-level cache</a:t>
            </a:r>
          </a:p>
        </p:txBody>
      </p:sp>
      <p:sp>
        <p:nvSpPr>
          <p:cNvPr id="611331" name="Rectangle 3"/>
          <p:cNvSpPr>
            <a:spLocks noGrp="1" noChangeArrowheads="1"/>
          </p:cNvSpPr>
          <p:nvPr>
            <p:ph type="body" idx="1"/>
          </p:nvPr>
        </p:nvSpPr>
        <p:spPr>
          <a:xfrm>
            <a:off x="551384" y="1628800"/>
            <a:ext cx="10945216"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L2 Equations</a:t>
            </a:r>
            <a:endParaRPr lang="en-US" altLang="zh-CN" sz="2400" dirty="0"/>
          </a:p>
          <a:p>
            <a:pPr>
              <a:buFont typeface="Wingdings" panose="05000000000000000000" pitchFamily="2" charset="2"/>
              <a:buNone/>
            </a:pPr>
            <a:r>
              <a:rPr lang="en-US" altLang="zh-CN" sz="2400" dirty="0"/>
              <a:t>	AMAT = Hit Time</a:t>
            </a:r>
            <a:r>
              <a:rPr lang="en-US" altLang="zh-CN" sz="2400" baseline="-25000" dirty="0"/>
              <a:t>L1</a:t>
            </a:r>
            <a:r>
              <a:rPr lang="en-US" altLang="zh-CN" sz="2400" dirty="0"/>
              <a:t> + Miss Rate</a:t>
            </a:r>
            <a:r>
              <a:rPr lang="en-US" altLang="zh-CN" sz="2400" baseline="-25000" dirty="0"/>
              <a:t>L1</a:t>
            </a:r>
            <a:r>
              <a:rPr lang="en-US" altLang="zh-CN" sz="2400" dirty="0"/>
              <a:t> x Miss Penalty</a:t>
            </a:r>
            <a:r>
              <a:rPr lang="en-US" altLang="zh-CN" sz="2400" baseline="-25000" dirty="0"/>
              <a:t>L1</a:t>
            </a:r>
            <a:br>
              <a:rPr lang="en-US" altLang="zh-CN" sz="2400" baseline="-25000" dirty="0"/>
            </a:br>
            <a:r>
              <a:rPr lang="en-US" altLang="zh-CN" sz="2400" dirty="0"/>
              <a:t>Miss Penalty</a:t>
            </a:r>
            <a:r>
              <a:rPr lang="en-US" altLang="zh-CN" sz="2400" baseline="-25000" dirty="0"/>
              <a:t>L1</a:t>
            </a:r>
            <a:r>
              <a:rPr lang="en-US" altLang="zh-CN" sz="2400" dirty="0"/>
              <a:t> = Hit Time</a:t>
            </a:r>
            <a:r>
              <a:rPr lang="en-US" altLang="zh-CN" sz="2400" baseline="-25000" dirty="0"/>
              <a:t>L2</a:t>
            </a:r>
            <a:r>
              <a:rPr lang="en-US" altLang="zh-CN" sz="2400" dirty="0"/>
              <a:t> + Miss Rate</a:t>
            </a:r>
            <a:r>
              <a:rPr lang="en-US" altLang="zh-CN" sz="2400" baseline="-25000" dirty="0"/>
              <a:t>L2</a:t>
            </a:r>
            <a:r>
              <a:rPr lang="en-US" altLang="zh-CN" sz="2400" dirty="0"/>
              <a:t> x Miss Penalty</a:t>
            </a:r>
            <a:r>
              <a:rPr lang="en-US" altLang="zh-CN" sz="2400" baseline="-25000" dirty="0"/>
              <a:t>L2</a:t>
            </a:r>
          </a:p>
          <a:p>
            <a:pPr>
              <a:buFont typeface="Wingdings" panose="05000000000000000000" pitchFamily="2" charset="2"/>
              <a:buNone/>
            </a:pPr>
            <a:r>
              <a:rPr lang="en-US" altLang="zh-CN" sz="2400" dirty="0"/>
              <a:t>	AMAT = Hit Time</a:t>
            </a:r>
            <a:r>
              <a:rPr lang="en-US" altLang="zh-CN" sz="2400" baseline="-25000" dirty="0"/>
              <a:t>L1</a:t>
            </a:r>
            <a:r>
              <a:rPr lang="en-US" altLang="zh-CN" sz="2400" dirty="0"/>
              <a:t> +</a:t>
            </a:r>
            <a:r>
              <a:rPr lang="en-US" altLang="zh-CN" sz="2400" dirty="0">
                <a:solidFill>
                  <a:schemeClr val="hlink"/>
                </a:solidFill>
              </a:rPr>
              <a:t> </a:t>
            </a:r>
            <a:r>
              <a:rPr lang="en-US" altLang="zh-CN" sz="2400" dirty="0">
                <a:solidFill>
                  <a:srgbClr val="FF0000"/>
                </a:solidFill>
              </a:rPr>
              <a:t>Miss Rate</a:t>
            </a:r>
            <a:r>
              <a:rPr lang="en-US" altLang="zh-CN" sz="2400" baseline="-25000" dirty="0">
                <a:solidFill>
                  <a:srgbClr val="FF0000"/>
                </a:solidFill>
              </a:rPr>
              <a:t>L1</a:t>
            </a:r>
            <a:r>
              <a:rPr lang="en-US" altLang="zh-CN" sz="2400" dirty="0">
                <a:solidFill>
                  <a:srgbClr val="FF0000"/>
                </a:solidFill>
              </a:rPr>
              <a:t> </a:t>
            </a:r>
            <a:r>
              <a:rPr lang="en-US" altLang="zh-CN" sz="2400" dirty="0"/>
              <a:t>x (Hit Time</a:t>
            </a:r>
            <a:r>
              <a:rPr lang="en-US" altLang="zh-CN" sz="2400" baseline="-25000" dirty="0"/>
              <a:t>L2</a:t>
            </a:r>
            <a:r>
              <a:rPr lang="en-US" altLang="zh-CN" sz="2400" dirty="0"/>
              <a:t> +</a:t>
            </a:r>
            <a:r>
              <a:rPr lang="en-US" altLang="zh-CN" sz="2400" dirty="0">
                <a:solidFill>
                  <a:schemeClr val="hlink"/>
                </a:solidFill>
              </a:rPr>
              <a:t> </a:t>
            </a:r>
            <a:r>
              <a:rPr lang="en-US" altLang="zh-CN" sz="2400" dirty="0">
                <a:solidFill>
                  <a:srgbClr val="FF0000"/>
                </a:solidFill>
              </a:rPr>
              <a:t>Miss Rate</a:t>
            </a:r>
            <a:r>
              <a:rPr lang="en-US" altLang="zh-CN" sz="2400" baseline="-25000" dirty="0">
                <a:solidFill>
                  <a:srgbClr val="FF0000"/>
                </a:solidFill>
              </a:rPr>
              <a:t>L2</a:t>
            </a:r>
            <a:r>
              <a:rPr lang="en-US" altLang="zh-CN" sz="2400" dirty="0">
                <a:solidFill>
                  <a:srgbClr val="FF0000"/>
                </a:solidFill>
              </a:rPr>
              <a:t> </a:t>
            </a:r>
            <a:r>
              <a:rPr lang="en-US" altLang="zh-CN" sz="2400" dirty="0"/>
              <a:t>+ Miss Penalty</a:t>
            </a:r>
            <a:r>
              <a:rPr lang="en-US" altLang="zh-CN" sz="2400" baseline="-25000" dirty="0"/>
              <a:t>L2</a:t>
            </a:r>
            <a:r>
              <a:rPr lang="en-US" altLang="zh-CN" sz="2400" dirty="0"/>
              <a:t>)</a:t>
            </a:r>
          </a:p>
          <a:p>
            <a:r>
              <a:rPr lang="en-US" altLang="zh-CN" dirty="0"/>
              <a:t>Definitions:</a:t>
            </a:r>
            <a:endParaRPr lang="en-US" altLang="zh-CN" sz="2400" dirty="0"/>
          </a:p>
          <a:p>
            <a:pPr lvl="1"/>
            <a:r>
              <a:rPr lang="en-US" altLang="zh-CN" i="1" dirty="0">
                <a:solidFill>
                  <a:srgbClr val="FF0000"/>
                </a:solidFill>
              </a:rPr>
              <a:t>Local miss </a:t>
            </a:r>
            <a:r>
              <a:rPr lang="en-US" altLang="zh-CN" i="1" dirty="0" smtClean="0">
                <a:solidFill>
                  <a:srgbClr val="FF0000"/>
                </a:solidFill>
              </a:rPr>
              <a:t>rate </a:t>
            </a:r>
            <a:r>
              <a:rPr lang="en-US" altLang="zh-CN" dirty="0" smtClean="0"/>
              <a:t>— </a:t>
            </a:r>
            <a:r>
              <a:rPr lang="en-US" altLang="zh-CN" dirty="0"/>
              <a:t>misses in this cache divided by the total number of memory accesses</a:t>
            </a:r>
            <a:r>
              <a:rPr lang="en-US" altLang="zh-CN" i="1" dirty="0">
                <a:solidFill>
                  <a:schemeClr val="hlink"/>
                </a:solidFill>
              </a:rPr>
              <a:t> to this cache</a:t>
            </a:r>
            <a:r>
              <a:rPr lang="en-US" altLang="zh-CN" dirty="0"/>
              <a:t> (Miss rate</a:t>
            </a:r>
            <a:r>
              <a:rPr lang="en-US" altLang="zh-CN" baseline="-25000" dirty="0"/>
              <a:t>L2</a:t>
            </a:r>
            <a:r>
              <a:rPr lang="en-US" altLang="zh-CN" dirty="0"/>
              <a:t>)</a:t>
            </a:r>
          </a:p>
          <a:p>
            <a:pPr lvl="1"/>
            <a:r>
              <a:rPr lang="en-US" altLang="zh-CN" i="1" dirty="0">
                <a:solidFill>
                  <a:srgbClr val="FF0000"/>
                </a:solidFill>
              </a:rPr>
              <a:t>Global miss </a:t>
            </a:r>
            <a:r>
              <a:rPr lang="en-US" altLang="zh-CN" i="1" dirty="0" smtClean="0">
                <a:solidFill>
                  <a:srgbClr val="FF0000"/>
                </a:solidFill>
              </a:rPr>
              <a:t>rate </a:t>
            </a:r>
            <a:r>
              <a:rPr lang="en-US" altLang="zh-CN" dirty="0" smtClean="0"/>
              <a:t>—</a:t>
            </a:r>
            <a:r>
              <a:rPr lang="en-US" altLang="zh-CN" dirty="0"/>
              <a:t>misses in this cache divided by the total number of memory accesses </a:t>
            </a:r>
            <a:r>
              <a:rPr lang="en-US" altLang="zh-CN" i="1" dirty="0">
                <a:solidFill>
                  <a:schemeClr val="hlink"/>
                </a:solidFill>
              </a:rPr>
              <a:t>generated by the CPU</a:t>
            </a:r>
            <a:r>
              <a:rPr lang="en-US" altLang="zh-CN" dirty="0"/>
              <a:t> </a:t>
            </a:r>
            <a:br>
              <a:rPr lang="en-US" altLang="zh-CN" dirty="0"/>
            </a:br>
            <a:r>
              <a:rPr lang="en-US" altLang="zh-CN" dirty="0"/>
              <a:t>(Miss Rate</a:t>
            </a:r>
            <a:r>
              <a:rPr lang="en-US" altLang="zh-CN" baseline="-25000" dirty="0"/>
              <a:t>L1</a:t>
            </a:r>
            <a:r>
              <a:rPr lang="en-US" altLang="zh-CN" dirty="0"/>
              <a:t> x Miss Rate</a:t>
            </a:r>
            <a:r>
              <a:rPr lang="en-US" altLang="zh-CN" baseline="-25000" dirty="0"/>
              <a:t>L2</a:t>
            </a:r>
            <a:r>
              <a:rPr lang="en-US" altLang="zh-CN" dirty="0"/>
              <a:t>) </a:t>
            </a:r>
          </a:p>
          <a:p>
            <a:pPr lvl="1"/>
            <a:r>
              <a:rPr lang="en-US" altLang="zh-CN" dirty="0"/>
              <a:t>Global Miss Rate is what matters</a:t>
            </a:r>
          </a:p>
        </p:txBody>
      </p:sp>
    </p:spTree>
    <p:extLst>
      <p:ext uri="{BB962C8B-B14F-4D97-AF65-F5344CB8AC3E}">
        <p14:creationId xmlns:p14="http://schemas.microsoft.com/office/powerpoint/2010/main" val="12538463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1331">
                                            <p:txEl>
                                              <p:pRg st="0" end="0"/>
                                            </p:txEl>
                                          </p:spTgt>
                                        </p:tgtEl>
                                        <p:attrNameLst>
                                          <p:attrName>style.visibility</p:attrName>
                                        </p:attrNameLst>
                                      </p:cBhvr>
                                      <p:to>
                                        <p:strVal val="visible"/>
                                      </p:to>
                                    </p:set>
                                    <p:anim calcmode="lin" valueType="num">
                                      <p:cBhvr additive="base">
                                        <p:cTn id="7" dur="500" fill="hold"/>
                                        <p:tgtEl>
                                          <p:spTgt spid="6113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13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1331">
                                            <p:txEl>
                                              <p:pRg st="1" end="1"/>
                                            </p:txEl>
                                          </p:spTgt>
                                        </p:tgtEl>
                                        <p:attrNameLst>
                                          <p:attrName>style.visibility</p:attrName>
                                        </p:attrNameLst>
                                      </p:cBhvr>
                                      <p:to>
                                        <p:strVal val="visible"/>
                                      </p:to>
                                    </p:set>
                                    <p:anim calcmode="lin" valueType="num">
                                      <p:cBhvr additive="base">
                                        <p:cTn id="13" dur="500" fill="hold"/>
                                        <p:tgtEl>
                                          <p:spTgt spid="6113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13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1331">
                                            <p:txEl>
                                              <p:pRg st="2" end="2"/>
                                            </p:txEl>
                                          </p:spTgt>
                                        </p:tgtEl>
                                        <p:attrNameLst>
                                          <p:attrName>style.visibility</p:attrName>
                                        </p:attrNameLst>
                                      </p:cBhvr>
                                      <p:to>
                                        <p:strVal val="visible"/>
                                      </p:to>
                                    </p:set>
                                    <p:anim calcmode="lin" valueType="num">
                                      <p:cBhvr additive="base">
                                        <p:cTn id="19" dur="500" fill="hold"/>
                                        <p:tgtEl>
                                          <p:spTgt spid="6113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13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1331">
                                            <p:txEl>
                                              <p:pRg st="3" end="3"/>
                                            </p:txEl>
                                          </p:spTgt>
                                        </p:tgtEl>
                                        <p:attrNameLst>
                                          <p:attrName>style.visibility</p:attrName>
                                        </p:attrNameLst>
                                      </p:cBhvr>
                                      <p:to>
                                        <p:strVal val="visible"/>
                                      </p:to>
                                    </p:set>
                                    <p:anim calcmode="lin" valueType="num">
                                      <p:cBhvr additive="base">
                                        <p:cTn id="25" dur="500" fill="hold"/>
                                        <p:tgtEl>
                                          <p:spTgt spid="6113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1331">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611331">
                                            <p:txEl>
                                              <p:pRg st="4" end="4"/>
                                            </p:txEl>
                                          </p:spTgt>
                                        </p:tgtEl>
                                        <p:attrNameLst>
                                          <p:attrName>style.visibility</p:attrName>
                                        </p:attrNameLst>
                                      </p:cBhvr>
                                      <p:to>
                                        <p:strVal val="visible"/>
                                      </p:to>
                                    </p:set>
                                    <p:anim calcmode="lin" valueType="num">
                                      <p:cBhvr additive="base">
                                        <p:cTn id="29" dur="500" fill="hold"/>
                                        <p:tgtEl>
                                          <p:spTgt spid="611331">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11331">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11331">
                                            <p:txEl>
                                              <p:pRg st="5" end="5"/>
                                            </p:txEl>
                                          </p:spTgt>
                                        </p:tgtEl>
                                        <p:attrNameLst>
                                          <p:attrName>style.visibility</p:attrName>
                                        </p:attrNameLst>
                                      </p:cBhvr>
                                      <p:to>
                                        <p:strVal val="visible"/>
                                      </p:to>
                                    </p:set>
                                    <p:anim calcmode="lin" valueType="num">
                                      <p:cBhvr additive="base">
                                        <p:cTn id="33" dur="500" fill="hold"/>
                                        <p:tgtEl>
                                          <p:spTgt spid="611331">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11331">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11331">
                                            <p:txEl>
                                              <p:pRg st="6" end="6"/>
                                            </p:txEl>
                                          </p:spTgt>
                                        </p:tgtEl>
                                        <p:attrNameLst>
                                          <p:attrName>style.visibility</p:attrName>
                                        </p:attrNameLst>
                                      </p:cBhvr>
                                      <p:to>
                                        <p:strVal val="visible"/>
                                      </p:to>
                                    </p:set>
                                    <p:anim calcmode="lin" valueType="num">
                                      <p:cBhvr additive="base">
                                        <p:cTn id="37" dur="500" fill="hold"/>
                                        <p:tgtEl>
                                          <p:spTgt spid="61133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133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5" name="Rectangle 3"/>
          <p:cNvSpPr>
            <a:spLocks noGrp="1" noChangeArrowheads="1"/>
          </p:cNvSpPr>
          <p:nvPr>
            <p:ph type="title"/>
          </p:nvPr>
        </p:nvSpPr>
        <p:spPr/>
        <p:txBody>
          <a:bodyPr/>
          <a:lstStyle/>
          <a:p>
            <a:r>
              <a:rPr lang="en-US" altLang="zh-CN" smtClean="0"/>
              <a:t>Comparing Local and Global Miss Rates</a:t>
            </a:r>
            <a:endParaRPr lang="en-US" altLang="zh-CN"/>
          </a:p>
        </p:txBody>
      </p:sp>
      <p:sp>
        <p:nvSpPr>
          <p:cNvPr id="612356" name="Rectangle 4"/>
          <p:cNvSpPr>
            <a:spLocks noGrp="1" noChangeArrowheads="1"/>
          </p:cNvSpPr>
          <p:nvPr>
            <p:ph type="body" idx="1"/>
          </p:nvPr>
        </p:nvSpPr>
        <p:spPr>
          <a:xfrm>
            <a:off x="407368" y="1556792"/>
            <a:ext cx="10946432" cy="5112568"/>
          </a:xfrm>
        </p:spPr>
        <p:txBody>
          <a:bodyPr/>
          <a:lstStyle/>
          <a:p>
            <a:r>
              <a:rPr lang="zh-CN" altLang="zh-CN" dirty="0" smtClean="0"/>
              <a:t>32 </a:t>
            </a:r>
            <a:r>
              <a:rPr lang="en-US" altLang="zh-CN" dirty="0" err="1" smtClean="0"/>
              <a:t>KByte</a:t>
            </a:r>
            <a:r>
              <a:rPr lang="en-US" altLang="zh-CN" dirty="0" smtClean="0"/>
              <a:t> 1st level cache;</a:t>
            </a:r>
            <a:br>
              <a:rPr lang="en-US" altLang="zh-CN" dirty="0" smtClean="0"/>
            </a:br>
            <a:r>
              <a:rPr lang="en-US" altLang="zh-CN" dirty="0" smtClean="0"/>
              <a:t>Increasing 2nd level cache</a:t>
            </a:r>
          </a:p>
          <a:p>
            <a:r>
              <a:rPr lang="en-US" altLang="zh-CN" dirty="0" smtClean="0"/>
              <a:t>Global miss rate close to single level </a:t>
            </a:r>
            <a:br>
              <a:rPr lang="en-US" altLang="zh-CN" dirty="0" smtClean="0"/>
            </a:br>
            <a:r>
              <a:rPr lang="en-US" altLang="zh-CN" dirty="0" smtClean="0"/>
              <a:t>cache rate provided L2 &gt;&gt; L1</a:t>
            </a:r>
          </a:p>
          <a:p>
            <a:r>
              <a:rPr lang="en-US" altLang="zh-CN" dirty="0" smtClean="0"/>
              <a:t>Don’t use local miss rate</a:t>
            </a:r>
          </a:p>
          <a:p>
            <a:r>
              <a:rPr lang="en-US" altLang="zh-CN" dirty="0" smtClean="0"/>
              <a:t>L2 not tied to CPU clock cycle!</a:t>
            </a:r>
          </a:p>
          <a:p>
            <a:r>
              <a:rPr lang="en-US" altLang="zh-CN" dirty="0" smtClean="0"/>
              <a:t>Cost &amp; A.M.A.T.</a:t>
            </a:r>
          </a:p>
          <a:p>
            <a:r>
              <a:rPr lang="en-US" altLang="zh-CN" dirty="0" smtClean="0"/>
              <a:t>Generally Fast Hit Times and fewer misses</a:t>
            </a:r>
          </a:p>
          <a:p>
            <a:r>
              <a:rPr lang="en-US" altLang="zh-CN" dirty="0" smtClean="0"/>
              <a:t>Since hits are few, target miss reduction</a:t>
            </a:r>
            <a:endParaRPr lang="en-US" altLang="zh-CN" dirty="0"/>
          </a:p>
        </p:txBody>
      </p:sp>
      <p:pic>
        <p:nvPicPr>
          <p:cNvPr id="6" name="图片 5"/>
          <p:cNvPicPr>
            <a:picLocks noChangeAspect="1"/>
          </p:cNvPicPr>
          <p:nvPr/>
        </p:nvPicPr>
        <p:blipFill>
          <a:blip r:embed="rId2"/>
          <a:stretch>
            <a:fillRect/>
          </a:stretch>
        </p:blipFill>
        <p:spPr>
          <a:xfrm>
            <a:off x="6535190" y="1582866"/>
            <a:ext cx="5575322" cy="3286294"/>
          </a:xfrm>
          <a:prstGeom prst="rect">
            <a:avLst/>
          </a:prstGeom>
        </p:spPr>
      </p:pic>
    </p:spTree>
    <p:extLst>
      <p:ext uri="{BB962C8B-B14F-4D97-AF65-F5344CB8AC3E}">
        <p14:creationId xmlns:p14="http://schemas.microsoft.com/office/powerpoint/2010/main" val="2038979541"/>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Relative execution time by second-level cache size</a:t>
            </a:r>
            <a:endParaRPr lang="zh-CN" altLang="en-US" dirty="0"/>
          </a:p>
        </p:txBody>
      </p:sp>
      <p:sp>
        <p:nvSpPr>
          <p:cNvPr id="3" name="内容占位符 2"/>
          <p:cNvSpPr>
            <a:spLocks noGrp="1"/>
          </p:cNvSpPr>
          <p:nvPr>
            <p:ph idx="1"/>
          </p:nvPr>
        </p:nvSpPr>
        <p:spPr>
          <a:xfrm>
            <a:off x="479376" y="1556792"/>
            <a:ext cx="10874424" cy="5112568"/>
          </a:xfrm>
        </p:spPr>
        <p:txBody>
          <a:bodyPr/>
          <a:lstStyle/>
          <a:p>
            <a:r>
              <a:rPr lang="en-US" altLang="zh-CN" dirty="0" smtClean="0"/>
              <a:t>The </a:t>
            </a:r>
            <a:r>
              <a:rPr lang="en-US" altLang="zh-CN" dirty="0"/>
              <a:t>two bars are for different </a:t>
            </a:r>
            <a:r>
              <a:rPr lang="en-US" altLang="zh-CN" dirty="0" smtClean="0"/>
              <a:t/>
            </a:r>
            <a:br>
              <a:rPr lang="en-US" altLang="zh-CN" dirty="0" smtClean="0"/>
            </a:br>
            <a:r>
              <a:rPr lang="en-US" altLang="zh-CN" dirty="0" smtClean="0"/>
              <a:t>clock </a:t>
            </a:r>
            <a:r>
              <a:rPr lang="en-US" altLang="zh-CN" dirty="0"/>
              <a:t>cycles for an L2 cache </a:t>
            </a:r>
            <a:r>
              <a:rPr lang="en-US" altLang="zh-CN" dirty="0" smtClean="0"/>
              <a:t>hit</a:t>
            </a:r>
          </a:p>
          <a:p>
            <a:r>
              <a:rPr lang="en-US" altLang="zh-CN" dirty="0" smtClean="0"/>
              <a:t>The </a:t>
            </a:r>
            <a:r>
              <a:rPr lang="en-US" altLang="zh-CN" dirty="0"/>
              <a:t>reference execution time of </a:t>
            </a:r>
            <a:r>
              <a:rPr lang="en-US" altLang="zh-CN" dirty="0" smtClean="0"/>
              <a:t/>
            </a:r>
            <a:br>
              <a:rPr lang="en-US" altLang="zh-CN" dirty="0" smtClean="0"/>
            </a:br>
            <a:r>
              <a:rPr lang="en-US" altLang="zh-CN" dirty="0" smtClean="0"/>
              <a:t>1.00 </a:t>
            </a:r>
            <a:r>
              <a:rPr lang="en-US" altLang="zh-CN" dirty="0"/>
              <a:t>is for an 8192 KiB </a:t>
            </a:r>
            <a:r>
              <a:rPr lang="en-US" altLang="zh-CN" dirty="0" smtClean="0"/>
              <a:t>second-</a:t>
            </a:r>
            <a:br>
              <a:rPr lang="en-US" altLang="zh-CN" dirty="0" smtClean="0"/>
            </a:br>
            <a:r>
              <a:rPr lang="en-US" altLang="zh-CN" dirty="0" smtClean="0"/>
              <a:t>level </a:t>
            </a:r>
            <a:r>
              <a:rPr lang="en-US" altLang="zh-CN" dirty="0"/>
              <a:t>cache with a 1-clock-cycle </a:t>
            </a:r>
            <a:r>
              <a:rPr lang="en-US" altLang="zh-CN" dirty="0" smtClean="0"/>
              <a:t/>
            </a:r>
            <a:br>
              <a:rPr lang="en-US" altLang="zh-CN" dirty="0" smtClean="0"/>
            </a:br>
            <a:r>
              <a:rPr lang="en-US" altLang="zh-CN" dirty="0" smtClean="0"/>
              <a:t>latency </a:t>
            </a:r>
            <a:r>
              <a:rPr lang="en-US" altLang="zh-CN" dirty="0"/>
              <a:t>on a second-level </a:t>
            </a:r>
            <a:r>
              <a:rPr lang="en-US" altLang="zh-CN" dirty="0" smtClean="0"/>
              <a:t>hit</a:t>
            </a:r>
          </a:p>
        </p:txBody>
      </p:sp>
      <p:pic>
        <p:nvPicPr>
          <p:cNvPr id="4" name="图片 3"/>
          <p:cNvPicPr>
            <a:picLocks noChangeAspect="1"/>
          </p:cNvPicPr>
          <p:nvPr/>
        </p:nvPicPr>
        <p:blipFill>
          <a:blip r:embed="rId2"/>
          <a:stretch>
            <a:fillRect/>
          </a:stretch>
        </p:blipFill>
        <p:spPr>
          <a:xfrm>
            <a:off x="6240016" y="1700808"/>
            <a:ext cx="5837423" cy="4868922"/>
          </a:xfrm>
          <a:prstGeom prst="rect">
            <a:avLst/>
          </a:prstGeom>
        </p:spPr>
      </p:pic>
    </p:spTree>
    <p:extLst>
      <p:ext uri="{BB962C8B-B14F-4D97-AF65-F5344CB8AC3E}">
        <p14:creationId xmlns:p14="http://schemas.microsoft.com/office/powerpoint/2010/main" val="36480939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337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Reducing Misses: </a:t>
            </a:r>
            <a:br>
              <a:rPr lang="en-US" altLang="zh-CN"/>
            </a:br>
            <a:r>
              <a:rPr lang="en-US" altLang="zh-CN"/>
              <a:t>Which apply to L2 Cache?</a:t>
            </a:r>
          </a:p>
        </p:txBody>
      </p:sp>
      <p:sp>
        <p:nvSpPr>
          <p:cNvPr id="613379" name="Rectangle 3"/>
          <p:cNvSpPr>
            <a:spLocks noGrp="1" noChangeArrowheads="1"/>
          </p:cNvSpPr>
          <p:nvPr>
            <p:ph type="body" idx="1"/>
          </p:nvPr>
        </p:nvSpPr>
        <p:spPr>
          <a:xfrm>
            <a:off x="1828800" y="1600200"/>
            <a:ext cx="8610600" cy="41338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Reducing Miss Rate</a:t>
            </a:r>
          </a:p>
          <a:p>
            <a:pPr lvl="1">
              <a:buFont typeface="Wingdings" panose="05000000000000000000" pitchFamily="2" charset="2"/>
              <a:buNone/>
            </a:pPr>
            <a:r>
              <a:rPr lang="en-US" altLang="zh-CN"/>
              <a:t>1. Reduce Misses via Larger Block Size</a:t>
            </a:r>
          </a:p>
          <a:p>
            <a:pPr lvl="1">
              <a:buFont typeface="Wingdings" panose="05000000000000000000" pitchFamily="2" charset="2"/>
              <a:buNone/>
            </a:pPr>
            <a:r>
              <a:rPr lang="en-US" altLang="zh-CN"/>
              <a:t>2.</a:t>
            </a:r>
            <a:r>
              <a:rPr lang="en-US" altLang="zh-CN">
                <a:solidFill>
                  <a:schemeClr val="hlink"/>
                </a:solidFill>
              </a:rPr>
              <a:t> Reduce Conflict Misses via Higher Associativity</a:t>
            </a:r>
            <a:endParaRPr lang="en-US" altLang="zh-CN"/>
          </a:p>
          <a:p>
            <a:pPr lvl="1">
              <a:buFont typeface="Wingdings" panose="05000000000000000000" pitchFamily="2" charset="2"/>
              <a:buNone/>
            </a:pPr>
            <a:r>
              <a:rPr lang="en-US" altLang="zh-CN"/>
              <a:t>3. Reducing Conflict Misses via Victim Cache</a:t>
            </a:r>
          </a:p>
          <a:p>
            <a:pPr lvl="1">
              <a:buFont typeface="Wingdings" panose="05000000000000000000" pitchFamily="2" charset="2"/>
              <a:buNone/>
            </a:pPr>
            <a:r>
              <a:rPr lang="en-US" altLang="zh-CN"/>
              <a:t>4. Reducing Conflict Misses via Pseudo-Associativity</a:t>
            </a:r>
          </a:p>
          <a:p>
            <a:pPr lvl="1">
              <a:buFont typeface="Wingdings" panose="05000000000000000000" pitchFamily="2" charset="2"/>
              <a:buNone/>
            </a:pPr>
            <a:r>
              <a:rPr lang="en-US" altLang="zh-CN"/>
              <a:t>5. Reducing Misses by HW Prefetching Instr, Data</a:t>
            </a:r>
          </a:p>
          <a:p>
            <a:pPr lvl="1">
              <a:buFont typeface="Wingdings" panose="05000000000000000000" pitchFamily="2" charset="2"/>
              <a:buNone/>
            </a:pPr>
            <a:r>
              <a:rPr lang="zh-CN" altLang="zh-CN"/>
              <a:t>6. </a:t>
            </a:r>
            <a:r>
              <a:rPr lang="en-US" altLang="zh-CN"/>
              <a:t>Reducing Misses by SW Prefetching Data</a:t>
            </a:r>
          </a:p>
          <a:p>
            <a:pPr lvl="1">
              <a:buFont typeface="Wingdings" panose="05000000000000000000" pitchFamily="2" charset="2"/>
              <a:buNone/>
            </a:pPr>
            <a:r>
              <a:rPr lang="en-US" altLang="zh-CN"/>
              <a:t>7. Reducing Capacity/Conf. Misses by Compiler Optimizations</a:t>
            </a:r>
          </a:p>
          <a:p>
            <a:pPr>
              <a:spcBef>
                <a:spcPct val="0"/>
              </a:spcBef>
              <a:buFont typeface="Wingdings" panose="05000000000000000000" pitchFamily="2" charset="2"/>
              <a:buNone/>
            </a:pPr>
            <a:endParaRPr lang="en-US" altLang="zh-CN">
              <a:solidFill>
                <a:schemeClr val="accent2"/>
              </a:solidFill>
            </a:endParaRPr>
          </a:p>
          <a:p>
            <a:pPr>
              <a:spcBef>
                <a:spcPct val="0"/>
              </a:spcBef>
              <a:buFont typeface="Wingdings" panose="05000000000000000000" pitchFamily="2" charset="2"/>
              <a:buNone/>
            </a:pPr>
            <a:endParaRPr lang="en-US" altLang="zh-CN">
              <a:solidFill>
                <a:schemeClr val="accent2"/>
              </a:solidFill>
            </a:endParaRPr>
          </a:p>
          <a:p>
            <a:pPr>
              <a:spcBef>
                <a:spcPct val="0"/>
              </a:spcBef>
              <a:buFont typeface="Wingdings" panose="05000000000000000000" pitchFamily="2" charset="2"/>
              <a:buNone/>
            </a:pPr>
            <a:endParaRPr lang="en-US" altLang="zh-CN">
              <a:solidFill>
                <a:schemeClr val="accent2"/>
              </a:solidFill>
            </a:endParaRPr>
          </a:p>
          <a:p>
            <a:pPr>
              <a:spcBef>
                <a:spcPct val="0"/>
              </a:spcBef>
              <a:buFont typeface="Wingdings" panose="05000000000000000000" pitchFamily="2" charset="2"/>
              <a:buNone/>
            </a:pPr>
            <a:endParaRPr lang="en-US" altLang="zh-CN">
              <a:solidFill>
                <a:schemeClr val="accent2"/>
              </a:solidFill>
            </a:endParaRPr>
          </a:p>
          <a:p>
            <a:pPr>
              <a:spcBef>
                <a:spcPct val="0"/>
              </a:spcBef>
              <a:buFont typeface="Wingdings" panose="05000000000000000000" pitchFamily="2" charset="2"/>
              <a:buNone/>
            </a:pPr>
            <a:endParaRPr lang="en-US" altLang="zh-CN">
              <a:solidFill>
                <a:schemeClr val="accent2"/>
              </a:solidFill>
            </a:endParaRPr>
          </a:p>
          <a:p>
            <a:pPr>
              <a:spcBef>
                <a:spcPct val="0"/>
              </a:spcBef>
              <a:buFont typeface="Wingdings" panose="05000000000000000000" pitchFamily="2" charset="2"/>
              <a:buNone/>
            </a:pPr>
            <a:endParaRPr lang="zh-CN" altLang="zh-CN">
              <a:solidFill>
                <a:schemeClr val="accent2"/>
              </a:solidFill>
            </a:endParaRPr>
          </a:p>
        </p:txBody>
      </p:sp>
    </p:spTree>
    <p:extLst>
      <p:ext uri="{BB962C8B-B14F-4D97-AF65-F5344CB8AC3E}">
        <p14:creationId xmlns:p14="http://schemas.microsoft.com/office/powerpoint/2010/main" val="38586510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3379">
                                            <p:txEl>
                                              <p:pRg st="0" end="0"/>
                                            </p:txEl>
                                          </p:spTgt>
                                        </p:tgtEl>
                                        <p:attrNameLst>
                                          <p:attrName>style.visibility</p:attrName>
                                        </p:attrNameLst>
                                      </p:cBhvr>
                                      <p:to>
                                        <p:strVal val="visible"/>
                                      </p:to>
                                    </p:set>
                                    <p:anim calcmode="lin" valueType="num">
                                      <p:cBhvr additive="base">
                                        <p:cTn id="7" dur="500" fill="hold"/>
                                        <p:tgtEl>
                                          <p:spTgt spid="6133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337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13379">
                                            <p:txEl>
                                              <p:pRg st="1" end="1"/>
                                            </p:txEl>
                                          </p:spTgt>
                                        </p:tgtEl>
                                        <p:attrNameLst>
                                          <p:attrName>style.visibility</p:attrName>
                                        </p:attrNameLst>
                                      </p:cBhvr>
                                      <p:to>
                                        <p:strVal val="visible"/>
                                      </p:to>
                                    </p:set>
                                    <p:anim calcmode="lin" valueType="num">
                                      <p:cBhvr additive="base">
                                        <p:cTn id="11" dur="500" fill="hold"/>
                                        <p:tgtEl>
                                          <p:spTgt spid="61337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337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13379">
                                            <p:txEl>
                                              <p:pRg st="2" end="2"/>
                                            </p:txEl>
                                          </p:spTgt>
                                        </p:tgtEl>
                                        <p:attrNameLst>
                                          <p:attrName>style.visibility</p:attrName>
                                        </p:attrNameLst>
                                      </p:cBhvr>
                                      <p:to>
                                        <p:strVal val="visible"/>
                                      </p:to>
                                    </p:set>
                                    <p:anim calcmode="lin" valueType="num">
                                      <p:cBhvr additive="base">
                                        <p:cTn id="15" dur="500" fill="hold"/>
                                        <p:tgtEl>
                                          <p:spTgt spid="61337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1337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13379">
                                            <p:txEl>
                                              <p:pRg st="3" end="3"/>
                                            </p:txEl>
                                          </p:spTgt>
                                        </p:tgtEl>
                                        <p:attrNameLst>
                                          <p:attrName>style.visibility</p:attrName>
                                        </p:attrNameLst>
                                      </p:cBhvr>
                                      <p:to>
                                        <p:strVal val="visible"/>
                                      </p:to>
                                    </p:set>
                                    <p:anim calcmode="lin" valueType="num">
                                      <p:cBhvr additive="base">
                                        <p:cTn id="19" dur="500" fill="hold"/>
                                        <p:tgtEl>
                                          <p:spTgt spid="61337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337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13379">
                                            <p:txEl>
                                              <p:pRg st="4" end="4"/>
                                            </p:txEl>
                                          </p:spTgt>
                                        </p:tgtEl>
                                        <p:attrNameLst>
                                          <p:attrName>style.visibility</p:attrName>
                                        </p:attrNameLst>
                                      </p:cBhvr>
                                      <p:to>
                                        <p:strVal val="visible"/>
                                      </p:to>
                                    </p:set>
                                    <p:anim calcmode="lin" valueType="num">
                                      <p:cBhvr additive="base">
                                        <p:cTn id="23" dur="500" fill="hold"/>
                                        <p:tgtEl>
                                          <p:spTgt spid="61337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13379">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613379">
                                            <p:txEl>
                                              <p:pRg st="5" end="5"/>
                                            </p:txEl>
                                          </p:spTgt>
                                        </p:tgtEl>
                                        <p:attrNameLst>
                                          <p:attrName>style.visibility</p:attrName>
                                        </p:attrNameLst>
                                      </p:cBhvr>
                                      <p:to>
                                        <p:strVal val="visible"/>
                                      </p:to>
                                    </p:set>
                                    <p:anim calcmode="lin" valueType="num">
                                      <p:cBhvr additive="base">
                                        <p:cTn id="27" dur="500" fill="hold"/>
                                        <p:tgtEl>
                                          <p:spTgt spid="613379">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13379">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613379">
                                            <p:txEl>
                                              <p:pRg st="6" end="6"/>
                                            </p:txEl>
                                          </p:spTgt>
                                        </p:tgtEl>
                                        <p:attrNameLst>
                                          <p:attrName>style.visibility</p:attrName>
                                        </p:attrNameLst>
                                      </p:cBhvr>
                                      <p:to>
                                        <p:strVal val="visible"/>
                                      </p:to>
                                    </p:set>
                                    <p:anim calcmode="lin" valueType="num">
                                      <p:cBhvr additive="base">
                                        <p:cTn id="31" dur="500" fill="hold"/>
                                        <p:tgtEl>
                                          <p:spTgt spid="61337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3379">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613379">
                                            <p:txEl>
                                              <p:pRg st="7" end="7"/>
                                            </p:txEl>
                                          </p:spTgt>
                                        </p:tgtEl>
                                        <p:attrNameLst>
                                          <p:attrName>style.visibility</p:attrName>
                                        </p:attrNameLst>
                                      </p:cBhvr>
                                      <p:to>
                                        <p:strVal val="visible"/>
                                      </p:to>
                                    </p:set>
                                    <p:anim calcmode="lin" valueType="num">
                                      <p:cBhvr additive="base">
                                        <p:cTn id="35" dur="500" fill="hold"/>
                                        <p:tgtEl>
                                          <p:spTgt spid="613379">
                                            <p:txEl>
                                              <p:pRg st="7" end="7"/>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61337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9" grpId="0" build="p"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0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850" y="1124744"/>
            <a:ext cx="7251700" cy="5448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03" name="Rectangle 3"/>
          <p:cNvSpPr>
            <a:spLocks noGrp="1" noChangeArrowheads="1"/>
          </p:cNvSpPr>
          <p:nvPr>
            <p:ph type="title"/>
          </p:nvPr>
        </p:nvSpPr>
        <p:spPr/>
        <p:txBody>
          <a:bodyPr/>
          <a:lstStyle/>
          <a:p>
            <a:r>
              <a:rPr lang="en-US" altLang="zh-CN" smtClean="0"/>
              <a:t>L2 cache block size &amp; A.M.A.T.</a:t>
            </a:r>
            <a:endParaRPr lang="en-US" altLang="zh-CN"/>
          </a:p>
        </p:txBody>
      </p:sp>
      <p:sp>
        <p:nvSpPr>
          <p:cNvPr id="614404" name="Rectangle 4"/>
          <p:cNvSpPr>
            <a:spLocks noGrp="1" noChangeArrowheads="1"/>
          </p:cNvSpPr>
          <p:nvPr>
            <p:ph type="body" idx="1"/>
          </p:nvPr>
        </p:nvSpPr>
        <p:spPr>
          <a:xfrm>
            <a:off x="838200" y="6309320"/>
            <a:ext cx="10515600" cy="360040"/>
          </a:xfrm>
        </p:spPr>
        <p:txBody>
          <a:bodyPr/>
          <a:lstStyle/>
          <a:p>
            <a:r>
              <a:rPr lang="zh-CN" altLang="zh-CN" dirty="0" smtClean="0"/>
              <a:t>32</a:t>
            </a:r>
            <a:r>
              <a:rPr lang="en-US" altLang="zh-CN" dirty="0" smtClean="0"/>
              <a:t>KB L1, 8 byte path to memory</a:t>
            </a:r>
            <a:endParaRPr lang="en-US" altLang="zh-CN" dirty="0"/>
          </a:p>
        </p:txBody>
      </p:sp>
    </p:spTree>
    <p:extLst>
      <p:ext uri="{BB962C8B-B14F-4D97-AF65-F5344CB8AC3E}">
        <p14:creationId xmlns:p14="http://schemas.microsoft.com/office/powerpoint/2010/main" val="921482362"/>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r>
              <a:rPr lang="en-US" altLang="zh-CN" smtClean="0"/>
              <a:t>Reducing Miss Penalty Summary</a:t>
            </a:r>
            <a:endParaRPr lang="en-US" altLang="zh-CN"/>
          </a:p>
        </p:txBody>
      </p:sp>
      <p:sp>
        <p:nvSpPr>
          <p:cNvPr id="615427" name="Rectangle 3"/>
          <p:cNvSpPr>
            <a:spLocks noGrp="1" noChangeArrowheads="1"/>
          </p:cNvSpPr>
          <p:nvPr>
            <p:ph type="body" idx="1"/>
          </p:nvPr>
        </p:nvSpPr>
        <p:spPr>
          <a:xfrm>
            <a:off x="838200" y="2564904"/>
            <a:ext cx="10515600" cy="4104456"/>
          </a:xfrm>
        </p:spPr>
        <p:txBody>
          <a:bodyPr/>
          <a:lstStyle/>
          <a:p>
            <a:r>
              <a:rPr lang="en-US" altLang="zh-CN" dirty="0" smtClean="0"/>
              <a:t>Four techniques</a:t>
            </a:r>
          </a:p>
          <a:p>
            <a:pPr lvl="1"/>
            <a:r>
              <a:rPr lang="en-US" altLang="zh-CN" dirty="0" smtClean="0"/>
              <a:t>Read priority over write on miss</a:t>
            </a:r>
          </a:p>
          <a:p>
            <a:pPr lvl="1"/>
            <a:r>
              <a:rPr lang="en-US" altLang="zh-CN" dirty="0" smtClean="0"/>
              <a:t>Early Restart and Critical Word First on miss</a:t>
            </a:r>
          </a:p>
          <a:p>
            <a:pPr lvl="1"/>
            <a:r>
              <a:rPr lang="en-US" altLang="zh-CN" dirty="0" smtClean="0"/>
              <a:t>Non-blocking Caches (Hit under Miss, Miss under Miss)</a:t>
            </a:r>
          </a:p>
          <a:p>
            <a:pPr lvl="1"/>
            <a:r>
              <a:rPr lang="en-US" altLang="zh-CN" dirty="0" smtClean="0"/>
              <a:t>Second Level Cache</a:t>
            </a:r>
          </a:p>
          <a:p>
            <a:r>
              <a:rPr lang="en-US" altLang="zh-CN" dirty="0" smtClean="0"/>
              <a:t>Can be applied recursively to Multilevel Caches</a:t>
            </a:r>
          </a:p>
          <a:p>
            <a:pPr lvl="1"/>
            <a:r>
              <a:rPr lang="en-US" altLang="zh-CN" dirty="0" smtClean="0"/>
              <a:t>Danger is that time to DRAM will grow with multiple levels in between</a:t>
            </a:r>
          </a:p>
          <a:p>
            <a:pPr lvl="1"/>
            <a:r>
              <a:rPr lang="en-US" altLang="zh-CN" dirty="0" smtClean="0"/>
              <a:t>First attempts at L2 caches can make things worse, since increased worst case is worse</a:t>
            </a:r>
            <a:endParaRPr lang="en-US" altLang="zh-CN" dirty="0"/>
          </a:p>
        </p:txBody>
      </p:sp>
      <p:graphicFrame>
        <p:nvGraphicFramePr>
          <p:cNvPr id="615428" name="Object 4">
            <a:hlinkClick r:id="" action="ppaction://ole?verb=0"/>
          </p:cNvPr>
          <p:cNvGraphicFramePr>
            <a:graphicFrameLocks/>
          </p:cNvGraphicFramePr>
          <p:nvPr>
            <p:extLst>
              <p:ext uri="{D42A27DB-BD31-4B8C-83A1-F6EECF244321}">
                <p14:modId xmlns:p14="http://schemas.microsoft.com/office/powerpoint/2010/main" val="4268509608"/>
              </p:ext>
            </p:extLst>
          </p:nvPr>
        </p:nvGraphicFramePr>
        <p:xfrm>
          <a:off x="1559496" y="1723695"/>
          <a:ext cx="8864600" cy="533400"/>
        </p:xfrm>
        <a:graphic>
          <a:graphicData uri="http://schemas.openxmlformats.org/presentationml/2006/ole">
            <mc:AlternateContent xmlns:mc="http://schemas.openxmlformats.org/markup-compatibility/2006">
              <mc:Choice xmlns:v="urn:schemas-microsoft-com:vml" Requires="v">
                <p:oleObj spid="_x0000_s19515" name="公式" r:id="rId3" imgW="6657840" imgH="409320" progId="Equation.3">
                  <p:embed/>
                </p:oleObj>
              </mc:Choice>
              <mc:Fallback>
                <p:oleObj name="公式" r:id="rId3" imgW="6657840" imgH="409320" progId="Equation.3">
                  <p:embed/>
                  <p:pic>
                    <p:nvPicPr>
                      <p:cNvPr id="615428"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9496" y="1723695"/>
                        <a:ext cx="8864600" cy="533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5429" name="Oval 5"/>
          <p:cNvSpPr>
            <a:spLocks noChangeArrowheads="1"/>
          </p:cNvSpPr>
          <p:nvPr/>
        </p:nvSpPr>
        <p:spPr bwMode="auto">
          <a:xfrm>
            <a:off x="7176120" y="1784020"/>
            <a:ext cx="1422400" cy="412750"/>
          </a:xfrm>
          <a:prstGeom prst="ellipse">
            <a:avLst/>
          </a:prstGeom>
          <a:noFill/>
          <a:ln w="2540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186852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427">
                                            <p:txEl>
                                              <p:pRg st="0" end="0"/>
                                            </p:txEl>
                                          </p:spTgt>
                                        </p:tgtEl>
                                        <p:attrNameLst>
                                          <p:attrName>style.visibility</p:attrName>
                                        </p:attrNameLst>
                                      </p:cBhvr>
                                      <p:to>
                                        <p:strVal val="visible"/>
                                      </p:to>
                                    </p:set>
                                    <p:anim calcmode="lin" valueType="num">
                                      <p:cBhvr additive="base">
                                        <p:cTn id="7" dur="500" fill="hold"/>
                                        <p:tgtEl>
                                          <p:spTgt spid="615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54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15427">
                                            <p:txEl>
                                              <p:pRg st="1" end="1"/>
                                            </p:txEl>
                                          </p:spTgt>
                                        </p:tgtEl>
                                        <p:attrNameLst>
                                          <p:attrName>style.visibility</p:attrName>
                                        </p:attrNameLst>
                                      </p:cBhvr>
                                      <p:to>
                                        <p:strVal val="visible"/>
                                      </p:to>
                                    </p:set>
                                    <p:anim calcmode="lin" valueType="num">
                                      <p:cBhvr additive="base">
                                        <p:cTn id="11" dur="500" fill="hold"/>
                                        <p:tgtEl>
                                          <p:spTgt spid="61542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1542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15427">
                                            <p:txEl>
                                              <p:pRg st="2" end="2"/>
                                            </p:txEl>
                                          </p:spTgt>
                                        </p:tgtEl>
                                        <p:attrNameLst>
                                          <p:attrName>style.visibility</p:attrName>
                                        </p:attrNameLst>
                                      </p:cBhvr>
                                      <p:to>
                                        <p:strVal val="visible"/>
                                      </p:to>
                                    </p:set>
                                    <p:anim calcmode="lin" valueType="num">
                                      <p:cBhvr additive="base">
                                        <p:cTn id="15" dur="500" fill="hold"/>
                                        <p:tgtEl>
                                          <p:spTgt spid="61542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1542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15427">
                                            <p:txEl>
                                              <p:pRg st="3" end="3"/>
                                            </p:txEl>
                                          </p:spTgt>
                                        </p:tgtEl>
                                        <p:attrNameLst>
                                          <p:attrName>style.visibility</p:attrName>
                                        </p:attrNameLst>
                                      </p:cBhvr>
                                      <p:to>
                                        <p:strVal val="visible"/>
                                      </p:to>
                                    </p:set>
                                    <p:anim calcmode="lin" valueType="num">
                                      <p:cBhvr additive="base">
                                        <p:cTn id="19" dur="500" fill="hold"/>
                                        <p:tgtEl>
                                          <p:spTgt spid="61542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5427">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15427">
                                            <p:txEl>
                                              <p:pRg st="4" end="4"/>
                                            </p:txEl>
                                          </p:spTgt>
                                        </p:tgtEl>
                                        <p:attrNameLst>
                                          <p:attrName>style.visibility</p:attrName>
                                        </p:attrNameLst>
                                      </p:cBhvr>
                                      <p:to>
                                        <p:strVal val="visible"/>
                                      </p:to>
                                    </p:set>
                                    <p:anim calcmode="lin" valueType="num">
                                      <p:cBhvr additive="base">
                                        <p:cTn id="23" dur="500" fill="hold"/>
                                        <p:tgtEl>
                                          <p:spTgt spid="615427">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154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615427">
                                            <p:txEl>
                                              <p:pRg st="5" end="5"/>
                                            </p:txEl>
                                          </p:spTgt>
                                        </p:tgtEl>
                                        <p:attrNameLst>
                                          <p:attrName>style.visibility</p:attrName>
                                        </p:attrNameLst>
                                      </p:cBhvr>
                                      <p:to>
                                        <p:strVal val="visible"/>
                                      </p:to>
                                    </p:set>
                                    <p:anim calcmode="lin" valueType="num">
                                      <p:cBhvr additive="base">
                                        <p:cTn id="29" dur="500" fill="hold"/>
                                        <p:tgtEl>
                                          <p:spTgt spid="615427">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1542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15427">
                                            <p:txEl>
                                              <p:pRg st="6" end="6"/>
                                            </p:txEl>
                                          </p:spTgt>
                                        </p:tgtEl>
                                        <p:attrNameLst>
                                          <p:attrName>style.visibility</p:attrName>
                                        </p:attrNameLst>
                                      </p:cBhvr>
                                      <p:to>
                                        <p:strVal val="visible"/>
                                      </p:to>
                                    </p:set>
                                    <p:anim calcmode="lin" valueType="num">
                                      <p:cBhvr additive="base">
                                        <p:cTn id="33" dur="500" fill="hold"/>
                                        <p:tgtEl>
                                          <p:spTgt spid="615427">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15427">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15427">
                                            <p:txEl>
                                              <p:pRg st="7" end="7"/>
                                            </p:txEl>
                                          </p:spTgt>
                                        </p:tgtEl>
                                        <p:attrNameLst>
                                          <p:attrName>style.visibility</p:attrName>
                                        </p:attrNameLst>
                                      </p:cBhvr>
                                      <p:to>
                                        <p:strVal val="visible"/>
                                      </p:to>
                                    </p:set>
                                    <p:anim calcmode="lin" valueType="num">
                                      <p:cBhvr additive="base">
                                        <p:cTn id="37" dur="500" fill="hold"/>
                                        <p:tgtEl>
                                          <p:spTgt spid="615427">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542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7" grpId="0" build="p"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Improving Cache Performance</a:t>
            </a:r>
          </a:p>
        </p:txBody>
      </p:sp>
      <p:sp>
        <p:nvSpPr>
          <p:cNvPr id="676867"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zh-CN" altLang="en-US" dirty="0"/>
              <a:t>1. </a:t>
            </a:r>
            <a:r>
              <a:rPr lang="en-US" altLang="zh-CN" dirty="0"/>
              <a:t>Reduce the miss rate, </a:t>
            </a:r>
          </a:p>
          <a:p>
            <a:pPr>
              <a:buFont typeface="Wingdings" panose="05000000000000000000" pitchFamily="2" charset="2"/>
              <a:buNone/>
            </a:pPr>
            <a:r>
              <a:rPr lang="en-US" altLang="zh-CN" dirty="0"/>
              <a:t>2. Reduce the miss penalty, or</a:t>
            </a:r>
          </a:p>
          <a:p>
            <a:pPr>
              <a:buFont typeface="Wingdings" panose="05000000000000000000" pitchFamily="2" charset="2"/>
              <a:buNone/>
            </a:pPr>
            <a:r>
              <a:rPr lang="en-US" altLang="zh-CN" i="1" dirty="0">
                <a:solidFill>
                  <a:srgbClr val="FF0000"/>
                </a:solidFill>
              </a:rPr>
              <a:t>3. Reduce the time to hit in the cache</a:t>
            </a:r>
            <a:r>
              <a:rPr lang="en-US" altLang="zh-CN" dirty="0">
                <a:solidFill>
                  <a:srgbClr val="FF0000"/>
                </a:solidFill>
              </a:rPr>
              <a:t>. </a:t>
            </a:r>
          </a:p>
          <a:p>
            <a:pPr>
              <a:buFont typeface="Wingdings" panose="05000000000000000000" pitchFamily="2" charset="2"/>
              <a:buNone/>
            </a:pPr>
            <a:endParaRPr lang="zh-CN" altLang="en-US" dirty="0"/>
          </a:p>
        </p:txBody>
      </p:sp>
    </p:spTree>
    <p:extLst>
      <p:ext uri="{BB962C8B-B14F-4D97-AF65-F5344CB8AC3E}">
        <p14:creationId xmlns:p14="http://schemas.microsoft.com/office/powerpoint/2010/main" val="3858519575"/>
      </p:ext>
    </p:extLst>
  </p:cSld>
  <p:clrMapOvr>
    <a:masterClrMapping/>
  </p:clrMapOvr>
  <p:transition>
    <p:wipe dir="r"/>
  </p:transition>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355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en-US"/>
              <a:t>1. </a:t>
            </a:r>
            <a:r>
              <a:rPr lang="en-US" altLang="zh-CN"/>
              <a:t>Fast Hit times </a:t>
            </a:r>
            <a:br>
              <a:rPr lang="en-US" altLang="zh-CN"/>
            </a:br>
            <a:r>
              <a:rPr lang="en-US" altLang="zh-CN"/>
              <a:t>via Small and Simple Caches</a:t>
            </a:r>
          </a:p>
        </p:txBody>
      </p:sp>
      <p:sp>
        <p:nvSpPr>
          <p:cNvPr id="663555"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Why Alpha 21164 has 8KB Instruction and 8KB data cache + 96KB second level cache?</a:t>
            </a:r>
          </a:p>
          <a:p>
            <a:pPr lvl="1"/>
            <a:r>
              <a:rPr lang="en-US" altLang="zh-CN"/>
              <a:t>Small data cache and clock rate</a:t>
            </a:r>
          </a:p>
          <a:p>
            <a:r>
              <a:rPr lang="en-US" altLang="zh-CN"/>
              <a:t>Direct Mapped, on chip</a:t>
            </a:r>
          </a:p>
        </p:txBody>
      </p:sp>
    </p:spTree>
    <p:extLst>
      <p:ext uri="{BB962C8B-B14F-4D97-AF65-F5344CB8AC3E}">
        <p14:creationId xmlns:p14="http://schemas.microsoft.com/office/powerpoint/2010/main" val="182899618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3555">
                                            <p:txEl>
                                              <p:pRg st="0" end="0"/>
                                            </p:txEl>
                                          </p:spTgt>
                                        </p:tgtEl>
                                        <p:attrNameLst>
                                          <p:attrName>style.visibility</p:attrName>
                                        </p:attrNameLst>
                                      </p:cBhvr>
                                      <p:to>
                                        <p:strVal val="visible"/>
                                      </p:to>
                                    </p:set>
                                    <p:anim calcmode="lin" valueType="num">
                                      <p:cBhvr additive="base">
                                        <p:cTn id="7" dur="500" fill="hold"/>
                                        <p:tgtEl>
                                          <p:spTgt spid="6635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355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63555">
                                            <p:txEl>
                                              <p:pRg st="1" end="1"/>
                                            </p:txEl>
                                          </p:spTgt>
                                        </p:tgtEl>
                                        <p:attrNameLst>
                                          <p:attrName>style.visibility</p:attrName>
                                        </p:attrNameLst>
                                      </p:cBhvr>
                                      <p:to>
                                        <p:strVal val="visible"/>
                                      </p:to>
                                    </p:set>
                                    <p:anim calcmode="lin" valueType="num">
                                      <p:cBhvr additive="base">
                                        <p:cTn id="11" dur="500" fill="hold"/>
                                        <p:tgtEl>
                                          <p:spTgt spid="66355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63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63555">
                                            <p:txEl>
                                              <p:pRg st="2" end="2"/>
                                            </p:txEl>
                                          </p:spTgt>
                                        </p:tgtEl>
                                        <p:attrNameLst>
                                          <p:attrName>style.visibility</p:attrName>
                                        </p:attrNameLst>
                                      </p:cBhvr>
                                      <p:to>
                                        <p:strVal val="visible"/>
                                      </p:to>
                                    </p:set>
                                    <p:anim calcmode="lin" valueType="num">
                                      <p:cBhvr additive="base">
                                        <p:cTn id="17" dur="500" fill="hold"/>
                                        <p:tgtEl>
                                          <p:spTgt spid="66355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6355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5"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Address translation and Cache access</a:t>
            </a:r>
            <a:endParaRPr lang="zh-CN" altLang="en-US" dirty="0"/>
          </a:p>
        </p:txBody>
      </p:sp>
      <p:sp>
        <p:nvSpPr>
          <p:cNvPr id="3" name="内容占位符 2"/>
          <p:cNvSpPr>
            <a:spLocks noGrp="1"/>
          </p:cNvSpPr>
          <p:nvPr>
            <p:ph idx="1"/>
          </p:nvPr>
        </p:nvSpPr>
        <p:spPr/>
        <p:txBody>
          <a:bodyPr/>
          <a:lstStyle/>
          <a:p>
            <a:pPr lvl="0"/>
            <a:r>
              <a:rPr lang="zh-CN" altLang="en-US" dirty="0" smtClean="0"/>
              <a:t>访问</a:t>
            </a:r>
            <a:r>
              <a:rPr lang="en-US" altLang="zh-CN" dirty="0" smtClean="0"/>
              <a:t>cache</a:t>
            </a:r>
            <a:r>
              <a:rPr lang="zh-CN" altLang="en-US" dirty="0" smtClean="0"/>
              <a:t>前，先要做地址</a:t>
            </a:r>
            <a:r>
              <a:rPr lang="en-US" altLang="zh-CN" dirty="0" smtClean="0"/>
              <a:t/>
            </a:r>
            <a:br>
              <a:rPr lang="en-US" altLang="zh-CN" dirty="0" smtClean="0"/>
            </a:br>
            <a:r>
              <a:rPr lang="zh-CN" altLang="en-US" dirty="0" smtClean="0"/>
              <a:t>变换，增加一次访存</a:t>
            </a:r>
            <a:endParaRPr lang="en-US" altLang="zh-CN" dirty="0"/>
          </a:p>
          <a:p>
            <a:pPr lvl="1"/>
            <a:r>
              <a:rPr lang="zh-CN" altLang="en-US" dirty="0" smtClean="0"/>
              <a:t>即便用</a:t>
            </a:r>
            <a:r>
              <a:rPr lang="en-US" altLang="zh-CN" dirty="0" smtClean="0"/>
              <a:t>TLB</a:t>
            </a:r>
            <a:r>
              <a:rPr lang="zh-CN" altLang="en-US" dirty="0" smtClean="0"/>
              <a:t>，也增加了延迟</a:t>
            </a:r>
            <a:endParaRPr lang="en-US" altLang="zh-CN" dirty="0" smtClean="0"/>
          </a:p>
          <a:p>
            <a:pPr lvl="0"/>
            <a:r>
              <a:rPr lang="en-US" altLang="zh-CN" sz="2400" dirty="0" smtClean="0"/>
              <a:t>ASIDE:  Why access cache with PA?  </a:t>
            </a:r>
          </a:p>
          <a:p>
            <a:pPr lvl="0"/>
            <a:r>
              <a:rPr lang="en-US" altLang="zh-CN" sz="2400" dirty="0" smtClean="0"/>
              <a:t>VA caches have a problem (</a:t>
            </a:r>
            <a:r>
              <a:rPr lang="en-US" altLang="zh-CN" sz="2400" dirty="0" smtClean="0">
                <a:solidFill>
                  <a:srgbClr val="FF0000"/>
                </a:solidFill>
              </a:rPr>
              <a:t>synonym/alias </a:t>
            </a:r>
            <a:r>
              <a:rPr lang="en-US" altLang="zh-CN" sz="2400" dirty="0" smtClean="0"/>
              <a:t>problem): </a:t>
            </a:r>
          </a:p>
          <a:p>
            <a:pPr lvl="1"/>
            <a:r>
              <a:rPr lang="en-US" altLang="zh-CN" sz="2000" dirty="0" smtClean="0"/>
              <a:t>Two different virtual addresses map to same physical address  =&gt;  </a:t>
            </a:r>
            <a:br>
              <a:rPr lang="en-US" altLang="zh-CN" sz="2000" dirty="0" smtClean="0"/>
            </a:br>
            <a:r>
              <a:rPr lang="en-US" altLang="zh-CN" sz="2000" dirty="0" smtClean="0"/>
              <a:t>two different cache entries holding data for the same physical address!  </a:t>
            </a:r>
          </a:p>
          <a:p>
            <a:pPr lvl="0"/>
            <a:r>
              <a:rPr lang="en-US" altLang="zh-CN" sz="2400" dirty="0"/>
              <a:t>F</a:t>
            </a:r>
            <a:r>
              <a:rPr lang="en-US" altLang="zh-CN" sz="2400" dirty="0" smtClean="0"/>
              <a:t>or update:  must update all cache entries with same physical address or memory becomes inconsistent</a:t>
            </a:r>
          </a:p>
          <a:p>
            <a:pPr lvl="0"/>
            <a:r>
              <a:rPr lang="en-US" altLang="zh-CN" sz="2400" dirty="0"/>
              <a:t>D</a:t>
            </a:r>
            <a:r>
              <a:rPr lang="en-US" altLang="zh-CN" sz="2400" dirty="0" smtClean="0"/>
              <a:t>etermining this requires significant hardware, essentially an associative lookup on the physical address tags to see if you have multiple hits; or      software enforced alias boundary: same </a:t>
            </a:r>
            <a:r>
              <a:rPr lang="en-US" altLang="zh-CN" sz="2400" dirty="0" err="1" smtClean="0"/>
              <a:t>lsb</a:t>
            </a:r>
            <a:r>
              <a:rPr lang="en-US" altLang="zh-CN" sz="2400" dirty="0" smtClean="0"/>
              <a:t> of VA &amp; PA (</a:t>
            </a:r>
            <a:r>
              <a:rPr lang="en-US" altLang="zh-CN" sz="2400" dirty="0" smtClean="0">
                <a:solidFill>
                  <a:srgbClr val="FF0000"/>
                </a:solidFill>
              </a:rPr>
              <a:t>page coloring</a:t>
            </a:r>
            <a:r>
              <a:rPr lang="en-US" altLang="zh-CN" sz="2400" dirty="0" smtClean="0"/>
              <a:t>)</a:t>
            </a:r>
            <a:endParaRPr lang="zh-CN" altLang="en-US" sz="2400" dirty="0"/>
          </a:p>
        </p:txBody>
      </p:sp>
      <p:sp>
        <p:nvSpPr>
          <p:cNvPr id="4" name="Line 3"/>
          <p:cNvSpPr>
            <a:spLocks noChangeShapeType="1"/>
          </p:cNvSpPr>
          <p:nvPr/>
        </p:nvSpPr>
        <p:spPr bwMode="auto">
          <a:xfrm>
            <a:off x="5584180" y="1687338"/>
            <a:ext cx="9779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Line 4"/>
          <p:cNvSpPr>
            <a:spLocks noChangeShapeType="1"/>
          </p:cNvSpPr>
          <p:nvPr/>
        </p:nvSpPr>
        <p:spPr bwMode="auto">
          <a:xfrm>
            <a:off x="6574780" y="1700038"/>
            <a:ext cx="0" cy="9271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Line 5"/>
          <p:cNvSpPr>
            <a:spLocks noChangeShapeType="1"/>
          </p:cNvSpPr>
          <p:nvPr/>
        </p:nvSpPr>
        <p:spPr bwMode="auto">
          <a:xfrm flipH="1">
            <a:off x="5533380" y="2665238"/>
            <a:ext cx="1054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5702424" y="2055638"/>
            <a:ext cx="6096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dirty="0"/>
              <a:t>CPU</a:t>
            </a:r>
          </a:p>
        </p:txBody>
      </p:sp>
      <p:sp>
        <p:nvSpPr>
          <p:cNvPr id="8" name="Rectangle 7"/>
          <p:cNvSpPr>
            <a:spLocks noChangeArrowheads="1"/>
          </p:cNvSpPr>
          <p:nvPr/>
        </p:nvSpPr>
        <p:spPr bwMode="auto">
          <a:xfrm>
            <a:off x="7235180" y="17254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Trans-</a:t>
            </a:r>
          </a:p>
          <a:p>
            <a:pPr algn="ctr" eaLnBrk="0" hangingPunct="0"/>
            <a:r>
              <a:rPr lang="en-US" altLang="zh-CN" b="1"/>
              <a:t>lation</a:t>
            </a:r>
          </a:p>
        </p:txBody>
      </p:sp>
      <p:sp>
        <p:nvSpPr>
          <p:cNvPr id="9" name="Rectangle 8"/>
          <p:cNvSpPr>
            <a:spLocks noChangeArrowheads="1"/>
          </p:cNvSpPr>
          <p:nvPr/>
        </p:nvSpPr>
        <p:spPr bwMode="auto">
          <a:xfrm>
            <a:off x="9063980" y="17254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Cache</a:t>
            </a:r>
          </a:p>
        </p:txBody>
      </p:sp>
      <p:sp>
        <p:nvSpPr>
          <p:cNvPr id="10" name="Rectangle 9"/>
          <p:cNvSpPr>
            <a:spLocks noChangeArrowheads="1"/>
          </p:cNvSpPr>
          <p:nvPr/>
        </p:nvSpPr>
        <p:spPr bwMode="auto">
          <a:xfrm>
            <a:off x="11032480" y="1738138"/>
            <a:ext cx="1066800" cy="901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zh-CN" b="1"/>
              <a:t>Main</a:t>
            </a:r>
          </a:p>
          <a:p>
            <a:pPr algn="ctr" eaLnBrk="0" hangingPunct="0"/>
            <a:r>
              <a:rPr lang="en-US" altLang="zh-CN" b="1"/>
              <a:t>Memory</a:t>
            </a:r>
          </a:p>
        </p:txBody>
      </p:sp>
      <p:sp>
        <p:nvSpPr>
          <p:cNvPr id="11" name="Line 10"/>
          <p:cNvSpPr>
            <a:spLocks noChangeShapeType="1"/>
          </p:cNvSpPr>
          <p:nvPr/>
        </p:nvSpPr>
        <p:spPr bwMode="auto">
          <a:xfrm>
            <a:off x="6587480" y="1865138"/>
            <a:ext cx="6223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p:cNvSpPr>
            <a:spLocks noChangeShapeType="1"/>
          </p:cNvSpPr>
          <p:nvPr/>
        </p:nvSpPr>
        <p:spPr bwMode="auto">
          <a:xfrm>
            <a:off x="8301980" y="1865138"/>
            <a:ext cx="736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2"/>
          <p:cNvSpPr>
            <a:spLocks noChangeShapeType="1"/>
          </p:cNvSpPr>
          <p:nvPr/>
        </p:nvSpPr>
        <p:spPr bwMode="auto">
          <a:xfrm>
            <a:off x="10143480" y="1839738"/>
            <a:ext cx="863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3"/>
          <p:cNvSpPr>
            <a:spLocks noChangeShapeType="1"/>
          </p:cNvSpPr>
          <p:nvPr/>
        </p:nvSpPr>
        <p:spPr bwMode="auto">
          <a:xfrm flipH="1">
            <a:off x="10803880" y="2487438"/>
            <a:ext cx="228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4"/>
          <p:cNvSpPr>
            <a:spLocks noChangeShapeType="1"/>
          </p:cNvSpPr>
          <p:nvPr/>
        </p:nvSpPr>
        <p:spPr bwMode="auto">
          <a:xfrm>
            <a:off x="10816580" y="2500138"/>
            <a:ext cx="0" cy="571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5"/>
          <p:cNvSpPr>
            <a:spLocks noChangeShapeType="1"/>
          </p:cNvSpPr>
          <p:nvPr/>
        </p:nvSpPr>
        <p:spPr bwMode="auto">
          <a:xfrm flipH="1">
            <a:off x="6816080" y="3084338"/>
            <a:ext cx="4013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6"/>
          <p:cNvSpPr>
            <a:spLocks noChangeShapeType="1"/>
          </p:cNvSpPr>
          <p:nvPr/>
        </p:nvSpPr>
        <p:spPr bwMode="auto">
          <a:xfrm flipV="1">
            <a:off x="6828780" y="2538238"/>
            <a:ext cx="0" cy="558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7"/>
          <p:cNvSpPr>
            <a:spLocks noChangeShapeType="1"/>
          </p:cNvSpPr>
          <p:nvPr/>
        </p:nvSpPr>
        <p:spPr bwMode="auto">
          <a:xfrm flipH="1">
            <a:off x="6562080" y="2550938"/>
            <a:ext cx="279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8"/>
          <p:cNvSpPr>
            <a:spLocks noChangeShapeType="1"/>
          </p:cNvSpPr>
          <p:nvPr/>
        </p:nvSpPr>
        <p:spPr bwMode="auto">
          <a:xfrm flipV="1">
            <a:off x="10397480" y="2500138"/>
            <a:ext cx="0" cy="5969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9"/>
          <p:cNvSpPr>
            <a:spLocks noChangeShapeType="1"/>
          </p:cNvSpPr>
          <p:nvPr/>
        </p:nvSpPr>
        <p:spPr bwMode="auto">
          <a:xfrm flipH="1">
            <a:off x="10130780" y="2512838"/>
            <a:ext cx="2794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20"/>
          <p:cNvSpPr>
            <a:spLocks noChangeShapeType="1"/>
          </p:cNvSpPr>
          <p:nvPr/>
        </p:nvSpPr>
        <p:spPr bwMode="auto">
          <a:xfrm flipH="1">
            <a:off x="8797280" y="2487438"/>
            <a:ext cx="2667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1"/>
          <p:cNvSpPr>
            <a:spLocks noChangeShapeType="1"/>
          </p:cNvSpPr>
          <p:nvPr/>
        </p:nvSpPr>
        <p:spPr bwMode="auto">
          <a:xfrm>
            <a:off x="8809980" y="2500138"/>
            <a:ext cx="0" cy="5715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Oval 22"/>
          <p:cNvSpPr>
            <a:spLocks noChangeArrowheads="1"/>
          </p:cNvSpPr>
          <p:nvPr/>
        </p:nvSpPr>
        <p:spPr bwMode="auto">
          <a:xfrm>
            <a:off x="10397480" y="3046238"/>
            <a:ext cx="25400" cy="38100"/>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23"/>
          <p:cNvSpPr>
            <a:spLocks noChangeArrowheads="1"/>
          </p:cNvSpPr>
          <p:nvPr/>
        </p:nvSpPr>
        <p:spPr bwMode="auto">
          <a:xfrm>
            <a:off x="6612880" y="1598438"/>
            <a:ext cx="4445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VA</a:t>
            </a:r>
          </a:p>
        </p:txBody>
      </p:sp>
      <p:sp>
        <p:nvSpPr>
          <p:cNvPr id="25" name="Rectangle 24"/>
          <p:cNvSpPr>
            <a:spLocks noChangeArrowheads="1"/>
          </p:cNvSpPr>
          <p:nvPr/>
        </p:nvSpPr>
        <p:spPr bwMode="auto">
          <a:xfrm>
            <a:off x="8327380" y="1598438"/>
            <a:ext cx="4445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PA</a:t>
            </a:r>
          </a:p>
        </p:txBody>
      </p:sp>
      <p:sp>
        <p:nvSpPr>
          <p:cNvPr id="26" name="Rectangle 25"/>
          <p:cNvSpPr>
            <a:spLocks noChangeArrowheads="1"/>
          </p:cNvSpPr>
          <p:nvPr/>
        </p:nvSpPr>
        <p:spPr bwMode="auto">
          <a:xfrm>
            <a:off x="10194280" y="1573038"/>
            <a:ext cx="6477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miss</a:t>
            </a:r>
          </a:p>
        </p:txBody>
      </p:sp>
      <p:sp>
        <p:nvSpPr>
          <p:cNvPr id="27" name="Rectangle 26"/>
          <p:cNvSpPr>
            <a:spLocks noChangeArrowheads="1"/>
          </p:cNvSpPr>
          <p:nvPr/>
        </p:nvSpPr>
        <p:spPr bwMode="auto">
          <a:xfrm>
            <a:off x="8403580" y="2563638"/>
            <a:ext cx="4064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hit</a:t>
            </a:r>
          </a:p>
        </p:txBody>
      </p:sp>
      <p:sp>
        <p:nvSpPr>
          <p:cNvPr id="28" name="Rectangle 27"/>
          <p:cNvSpPr>
            <a:spLocks noChangeArrowheads="1"/>
          </p:cNvSpPr>
          <p:nvPr/>
        </p:nvSpPr>
        <p:spPr bwMode="auto">
          <a:xfrm>
            <a:off x="7463780" y="2843038"/>
            <a:ext cx="596900" cy="2841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hangingPunct="0">
              <a:lnSpc>
                <a:spcPct val="85000"/>
              </a:lnSpc>
            </a:pPr>
            <a:r>
              <a:rPr lang="en-US" altLang="zh-CN" b="1"/>
              <a:t>data</a:t>
            </a:r>
          </a:p>
        </p:txBody>
      </p:sp>
      <p:sp>
        <p:nvSpPr>
          <p:cNvPr id="29" name="Line 4"/>
          <p:cNvSpPr>
            <a:spLocks noChangeShapeType="1"/>
          </p:cNvSpPr>
          <p:nvPr/>
        </p:nvSpPr>
        <p:spPr bwMode="auto">
          <a:xfrm>
            <a:off x="5591944" y="1700808"/>
            <a:ext cx="0" cy="9271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499942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a:xfrm>
            <a:off x="407368" y="332656"/>
            <a:ext cx="1144927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en-US" dirty="0"/>
              <a:t>2. </a:t>
            </a:r>
            <a:r>
              <a:rPr lang="en-US" altLang="zh-CN" dirty="0"/>
              <a:t>Fast hits by Avoiding Address Translation</a:t>
            </a:r>
          </a:p>
        </p:txBody>
      </p:sp>
      <p:sp>
        <p:nvSpPr>
          <p:cNvPr id="664579" name="Rectangle 3"/>
          <p:cNvSpPr>
            <a:spLocks noGrp="1" noChangeArrowheads="1"/>
          </p:cNvSpPr>
          <p:nvPr>
            <p:ph type="body" idx="1"/>
          </p:nvPr>
        </p:nvSpPr>
        <p:spPr>
          <a:xfrm>
            <a:off x="479376" y="1556792"/>
            <a:ext cx="11017224"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95000"/>
              </a:lnSpc>
              <a:spcBef>
                <a:spcPct val="0"/>
              </a:spcBef>
            </a:pPr>
            <a:r>
              <a:rPr lang="en-US" altLang="zh-CN" dirty="0"/>
              <a:t>Send virtual address to cache? Called </a:t>
            </a:r>
            <a:r>
              <a:rPr lang="en-US" altLang="zh-CN" i="1" u="sng" dirty="0">
                <a:solidFill>
                  <a:srgbClr val="FF0000"/>
                </a:solidFill>
              </a:rPr>
              <a:t>Virtually Addressed Cache</a:t>
            </a:r>
            <a:r>
              <a:rPr lang="en-US" altLang="zh-CN" u="sng" dirty="0">
                <a:solidFill>
                  <a:srgbClr val="FF0000"/>
                </a:solidFill>
              </a:rPr>
              <a:t> </a:t>
            </a:r>
            <a:r>
              <a:rPr lang="en-US" altLang="zh-CN" dirty="0"/>
              <a:t>or just </a:t>
            </a:r>
            <a:r>
              <a:rPr lang="en-US" altLang="zh-CN" i="1" u="sng" dirty="0">
                <a:solidFill>
                  <a:srgbClr val="FF0000"/>
                </a:solidFill>
              </a:rPr>
              <a:t>Virtual Cache </a:t>
            </a:r>
            <a:r>
              <a:rPr lang="en-US" altLang="zh-CN" dirty="0"/>
              <a:t>vs.  </a:t>
            </a:r>
            <a:r>
              <a:rPr lang="en-US" altLang="zh-CN" i="1" u="sng" dirty="0">
                <a:solidFill>
                  <a:srgbClr val="FF0000"/>
                </a:solidFill>
              </a:rPr>
              <a:t>Physical Cache</a:t>
            </a:r>
            <a:endParaRPr lang="en-US" altLang="zh-CN" sz="2000" dirty="0">
              <a:solidFill>
                <a:srgbClr val="FF0000"/>
              </a:solidFill>
            </a:endParaRPr>
          </a:p>
          <a:p>
            <a:pPr lvl="1">
              <a:lnSpc>
                <a:spcPct val="95000"/>
              </a:lnSpc>
              <a:spcBef>
                <a:spcPct val="0"/>
              </a:spcBef>
            </a:pPr>
            <a:r>
              <a:rPr lang="en-US" altLang="zh-CN" dirty="0"/>
              <a:t>Every time process is switched logically must flush the cache; otherwise get false hits</a:t>
            </a:r>
          </a:p>
          <a:p>
            <a:pPr lvl="2">
              <a:lnSpc>
                <a:spcPct val="95000"/>
              </a:lnSpc>
              <a:spcBef>
                <a:spcPct val="0"/>
              </a:spcBef>
            </a:pPr>
            <a:r>
              <a:rPr lang="en-US" altLang="zh-CN" dirty="0"/>
              <a:t>Cost is time to flush + Compulsory misses from empty cache</a:t>
            </a:r>
          </a:p>
          <a:p>
            <a:pPr lvl="1">
              <a:lnSpc>
                <a:spcPct val="95000"/>
              </a:lnSpc>
              <a:spcBef>
                <a:spcPct val="0"/>
              </a:spcBef>
            </a:pPr>
            <a:r>
              <a:rPr lang="en-US" altLang="zh-CN" dirty="0"/>
              <a:t>Dealing with </a:t>
            </a:r>
            <a:r>
              <a:rPr lang="en-US" altLang="zh-CN" i="1" u="sng" dirty="0">
                <a:solidFill>
                  <a:srgbClr val="FF0000"/>
                </a:solidFill>
              </a:rPr>
              <a:t>aliases</a:t>
            </a:r>
            <a:r>
              <a:rPr lang="en-US" altLang="zh-CN" i="1" dirty="0">
                <a:solidFill>
                  <a:schemeClr val="hlink"/>
                </a:solidFill>
              </a:rPr>
              <a:t> </a:t>
            </a:r>
            <a:r>
              <a:rPr lang="en-US" altLang="zh-CN" dirty="0"/>
              <a:t>(sometimes called </a:t>
            </a:r>
            <a:r>
              <a:rPr lang="en-US" altLang="zh-CN" i="1" u="sng" dirty="0">
                <a:solidFill>
                  <a:srgbClr val="FF0000"/>
                </a:solidFill>
              </a:rPr>
              <a:t>synonyms</a:t>
            </a:r>
            <a:r>
              <a:rPr lang="en-US" altLang="zh-CN" dirty="0"/>
              <a:t>); </a:t>
            </a:r>
            <a:br>
              <a:rPr lang="en-US" altLang="zh-CN" dirty="0"/>
            </a:br>
            <a:r>
              <a:rPr lang="en-US" altLang="zh-CN" dirty="0"/>
              <a:t>Two different virtual addresses map  to same physical address</a:t>
            </a:r>
          </a:p>
          <a:p>
            <a:pPr lvl="1">
              <a:lnSpc>
                <a:spcPct val="95000"/>
              </a:lnSpc>
              <a:spcBef>
                <a:spcPct val="0"/>
              </a:spcBef>
            </a:pPr>
            <a:r>
              <a:rPr lang="en-US" altLang="zh-CN" dirty="0"/>
              <a:t>I/O must interact with cache, so need virtual address</a:t>
            </a:r>
          </a:p>
          <a:p>
            <a:pPr>
              <a:lnSpc>
                <a:spcPct val="95000"/>
              </a:lnSpc>
              <a:spcBef>
                <a:spcPct val="0"/>
              </a:spcBef>
            </a:pPr>
            <a:r>
              <a:rPr lang="en-US" altLang="zh-CN" dirty="0"/>
              <a:t>Solution to aliases</a:t>
            </a:r>
            <a:endParaRPr lang="en-US" altLang="zh-CN" sz="2000" dirty="0"/>
          </a:p>
          <a:p>
            <a:pPr lvl="1">
              <a:lnSpc>
                <a:spcPct val="95000"/>
              </a:lnSpc>
              <a:spcBef>
                <a:spcPct val="0"/>
              </a:spcBef>
            </a:pPr>
            <a:r>
              <a:rPr lang="en-US" altLang="zh-CN" dirty="0"/>
              <a:t>HW </a:t>
            </a:r>
            <a:r>
              <a:rPr lang="en-US" altLang="zh-CN" dirty="0" smtClean="0"/>
              <a:t>guarantees, or SW guarantee </a:t>
            </a:r>
            <a:r>
              <a:rPr lang="en-US" altLang="zh-CN" i="1" u="sng" dirty="0" smtClean="0">
                <a:solidFill>
                  <a:srgbClr val="FF0000"/>
                </a:solidFill>
              </a:rPr>
              <a:t>page </a:t>
            </a:r>
            <a:r>
              <a:rPr lang="en-US" altLang="zh-CN" i="1" u="sng" dirty="0">
                <a:solidFill>
                  <a:srgbClr val="FF0000"/>
                </a:solidFill>
              </a:rPr>
              <a:t>coloring</a:t>
            </a:r>
            <a:endParaRPr lang="en-US" altLang="zh-CN" dirty="0">
              <a:solidFill>
                <a:srgbClr val="FF0000"/>
              </a:solidFill>
            </a:endParaRPr>
          </a:p>
          <a:p>
            <a:pPr>
              <a:lnSpc>
                <a:spcPct val="95000"/>
              </a:lnSpc>
              <a:spcBef>
                <a:spcPct val="0"/>
              </a:spcBef>
            </a:pPr>
            <a:r>
              <a:rPr lang="en-US" altLang="zh-CN" dirty="0"/>
              <a:t>Solution to cache flush</a:t>
            </a:r>
            <a:endParaRPr lang="en-US" altLang="zh-CN" sz="2000" dirty="0"/>
          </a:p>
          <a:p>
            <a:pPr lvl="1">
              <a:lnSpc>
                <a:spcPct val="95000"/>
              </a:lnSpc>
              <a:spcBef>
                <a:spcPct val="0"/>
              </a:spcBef>
            </a:pPr>
            <a:r>
              <a:rPr lang="en-US" altLang="zh-CN" dirty="0"/>
              <a:t>Add</a:t>
            </a:r>
            <a:r>
              <a:rPr lang="en-US" altLang="zh-CN" i="1" dirty="0"/>
              <a:t> </a:t>
            </a:r>
            <a:r>
              <a:rPr lang="en-US" altLang="zh-CN" i="1" u="sng" dirty="0">
                <a:solidFill>
                  <a:srgbClr val="FF0000"/>
                </a:solidFill>
              </a:rPr>
              <a:t>process identifier tag</a:t>
            </a:r>
            <a:r>
              <a:rPr lang="en-US" altLang="zh-CN" u="sng" dirty="0">
                <a:solidFill>
                  <a:srgbClr val="FF0000"/>
                </a:solidFill>
              </a:rPr>
              <a:t> </a:t>
            </a:r>
            <a:r>
              <a:rPr lang="en-US" altLang="zh-CN" dirty="0"/>
              <a:t>that identifies process as well as address within process: can‘t get a hit if wrong process</a:t>
            </a:r>
          </a:p>
        </p:txBody>
      </p:sp>
    </p:spTree>
    <p:extLst>
      <p:ext uri="{BB962C8B-B14F-4D97-AF65-F5344CB8AC3E}">
        <p14:creationId xmlns:p14="http://schemas.microsoft.com/office/powerpoint/2010/main" val="412596271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4579">
                                            <p:txEl>
                                              <p:pRg st="0" end="0"/>
                                            </p:txEl>
                                          </p:spTgt>
                                        </p:tgtEl>
                                        <p:attrNameLst>
                                          <p:attrName>style.visibility</p:attrName>
                                        </p:attrNameLst>
                                      </p:cBhvr>
                                      <p:to>
                                        <p:strVal val="visible"/>
                                      </p:to>
                                    </p:set>
                                    <p:anim calcmode="lin" valueType="num">
                                      <p:cBhvr additive="base">
                                        <p:cTn id="7" dur="500" fill="hold"/>
                                        <p:tgtEl>
                                          <p:spTgt spid="6645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457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64579">
                                            <p:txEl>
                                              <p:pRg st="1" end="1"/>
                                            </p:txEl>
                                          </p:spTgt>
                                        </p:tgtEl>
                                        <p:attrNameLst>
                                          <p:attrName>style.visibility</p:attrName>
                                        </p:attrNameLst>
                                      </p:cBhvr>
                                      <p:to>
                                        <p:strVal val="visible"/>
                                      </p:to>
                                    </p:set>
                                    <p:anim calcmode="lin" valueType="num">
                                      <p:cBhvr additive="base">
                                        <p:cTn id="11" dur="500" fill="hold"/>
                                        <p:tgtEl>
                                          <p:spTgt spid="66457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6457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64579">
                                            <p:txEl>
                                              <p:pRg st="2" end="2"/>
                                            </p:txEl>
                                          </p:spTgt>
                                        </p:tgtEl>
                                        <p:attrNameLst>
                                          <p:attrName>style.visibility</p:attrName>
                                        </p:attrNameLst>
                                      </p:cBhvr>
                                      <p:to>
                                        <p:strVal val="visible"/>
                                      </p:to>
                                    </p:set>
                                    <p:anim calcmode="lin" valueType="num">
                                      <p:cBhvr additive="base">
                                        <p:cTn id="15" dur="500" fill="hold"/>
                                        <p:tgtEl>
                                          <p:spTgt spid="66457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6457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64579">
                                            <p:txEl>
                                              <p:pRg st="3" end="3"/>
                                            </p:txEl>
                                          </p:spTgt>
                                        </p:tgtEl>
                                        <p:attrNameLst>
                                          <p:attrName>style.visibility</p:attrName>
                                        </p:attrNameLst>
                                      </p:cBhvr>
                                      <p:to>
                                        <p:strVal val="visible"/>
                                      </p:to>
                                    </p:set>
                                    <p:anim calcmode="lin" valueType="num">
                                      <p:cBhvr additive="base">
                                        <p:cTn id="19" dur="500" fill="hold"/>
                                        <p:tgtEl>
                                          <p:spTgt spid="66457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6457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664579">
                                            <p:txEl>
                                              <p:pRg st="4" end="4"/>
                                            </p:txEl>
                                          </p:spTgt>
                                        </p:tgtEl>
                                        <p:attrNameLst>
                                          <p:attrName>style.visibility</p:attrName>
                                        </p:attrNameLst>
                                      </p:cBhvr>
                                      <p:to>
                                        <p:strVal val="visible"/>
                                      </p:to>
                                    </p:set>
                                    <p:anim calcmode="lin" valueType="num">
                                      <p:cBhvr additive="base">
                                        <p:cTn id="23" dur="500" fill="hold"/>
                                        <p:tgtEl>
                                          <p:spTgt spid="664579">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66457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664579">
                                            <p:txEl>
                                              <p:pRg st="5" end="5"/>
                                            </p:txEl>
                                          </p:spTgt>
                                        </p:tgtEl>
                                        <p:attrNameLst>
                                          <p:attrName>style.visibility</p:attrName>
                                        </p:attrNameLst>
                                      </p:cBhvr>
                                      <p:to>
                                        <p:strVal val="visible"/>
                                      </p:to>
                                    </p:set>
                                    <p:anim calcmode="lin" valueType="num">
                                      <p:cBhvr additive="base">
                                        <p:cTn id="29" dur="500" fill="hold"/>
                                        <p:tgtEl>
                                          <p:spTgt spid="664579">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6457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64579">
                                            <p:txEl>
                                              <p:pRg st="6" end="6"/>
                                            </p:txEl>
                                          </p:spTgt>
                                        </p:tgtEl>
                                        <p:attrNameLst>
                                          <p:attrName>style.visibility</p:attrName>
                                        </p:attrNameLst>
                                      </p:cBhvr>
                                      <p:to>
                                        <p:strVal val="visible"/>
                                      </p:to>
                                    </p:set>
                                    <p:anim calcmode="lin" valueType="num">
                                      <p:cBhvr additive="base">
                                        <p:cTn id="33" dur="500" fill="hold"/>
                                        <p:tgtEl>
                                          <p:spTgt spid="664579">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66457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664579">
                                            <p:txEl>
                                              <p:pRg st="7" end="7"/>
                                            </p:txEl>
                                          </p:spTgt>
                                        </p:tgtEl>
                                        <p:attrNameLst>
                                          <p:attrName>style.visibility</p:attrName>
                                        </p:attrNameLst>
                                      </p:cBhvr>
                                      <p:to>
                                        <p:strVal val="visible"/>
                                      </p:to>
                                    </p:set>
                                    <p:anim calcmode="lin" valueType="num">
                                      <p:cBhvr additive="base">
                                        <p:cTn id="39" dur="500" fill="hold"/>
                                        <p:tgtEl>
                                          <p:spTgt spid="664579">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664579">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664579">
                                            <p:txEl>
                                              <p:pRg st="8" end="8"/>
                                            </p:txEl>
                                          </p:spTgt>
                                        </p:tgtEl>
                                        <p:attrNameLst>
                                          <p:attrName>style.visibility</p:attrName>
                                        </p:attrNameLst>
                                      </p:cBhvr>
                                      <p:to>
                                        <p:strVal val="visible"/>
                                      </p:to>
                                    </p:set>
                                    <p:anim calcmode="lin" valueType="num">
                                      <p:cBhvr additive="base">
                                        <p:cTn id="43" dur="500" fill="hold"/>
                                        <p:tgtEl>
                                          <p:spTgt spid="664579">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6457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4579" grpId="0" build="p"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Virtually Addressed Caches</a:t>
            </a:r>
          </a:p>
        </p:txBody>
      </p:sp>
      <p:sp>
        <p:nvSpPr>
          <p:cNvPr id="665603" name="Rectangle 3"/>
          <p:cNvSpPr>
            <a:spLocks noChangeArrowheads="1"/>
          </p:cNvSpPr>
          <p:nvPr/>
        </p:nvSpPr>
        <p:spPr bwMode="auto">
          <a:xfrm>
            <a:off x="2508250" y="18415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CPU</a:t>
            </a:r>
          </a:p>
        </p:txBody>
      </p:sp>
      <p:sp>
        <p:nvSpPr>
          <p:cNvPr id="665604" name="Rectangle 4"/>
          <p:cNvSpPr>
            <a:spLocks noChangeArrowheads="1"/>
          </p:cNvSpPr>
          <p:nvPr/>
        </p:nvSpPr>
        <p:spPr bwMode="auto">
          <a:xfrm>
            <a:off x="2508250" y="29083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TB</a:t>
            </a:r>
          </a:p>
        </p:txBody>
      </p:sp>
      <p:sp>
        <p:nvSpPr>
          <p:cNvPr id="665605" name="Rectangle 5"/>
          <p:cNvSpPr>
            <a:spLocks noChangeArrowheads="1"/>
          </p:cNvSpPr>
          <p:nvPr/>
        </p:nvSpPr>
        <p:spPr bwMode="auto">
          <a:xfrm>
            <a:off x="2508250" y="39370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0">
                <a:latin typeface="Arial" panose="020B0604020202020204" pitchFamily="34" charset="0"/>
              </a:rPr>
              <a:t>$</a:t>
            </a:r>
          </a:p>
        </p:txBody>
      </p:sp>
      <p:sp>
        <p:nvSpPr>
          <p:cNvPr id="665606" name="Rectangle 6"/>
          <p:cNvSpPr>
            <a:spLocks noChangeArrowheads="1"/>
          </p:cNvSpPr>
          <p:nvPr/>
        </p:nvSpPr>
        <p:spPr bwMode="auto">
          <a:xfrm>
            <a:off x="2508250" y="50038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MEM</a:t>
            </a:r>
          </a:p>
        </p:txBody>
      </p:sp>
      <p:sp>
        <p:nvSpPr>
          <p:cNvPr id="665607" name="Line 7"/>
          <p:cNvSpPr>
            <a:spLocks noChangeShapeType="1"/>
          </p:cNvSpPr>
          <p:nvPr/>
        </p:nvSpPr>
        <p:spPr bwMode="auto">
          <a:xfrm>
            <a:off x="2914650" y="243205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08" name="Line 8"/>
          <p:cNvSpPr>
            <a:spLocks noChangeShapeType="1"/>
          </p:cNvSpPr>
          <p:nvPr/>
        </p:nvSpPr>
        <p:spPr bwMode="auto">
          <a:xfrm>
            <a:off x="2914650" y="347980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09" name="Line 9"/>
          <p:cNvSpPr>
            <a:spLocks noChangeShapeType="1"/>
          </p:cNvSpPr>
          <p:nvPr/>
        </p:nvSpPr>
        <p:spPr bwMode="auto">
          <a:xfrm>
            <a:off x="2914650" y="452755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10" name="Rectangle 10"/>
          <p:cNvSpPr>
            <a:spLocks noChangeArrowheads="1"/>
          </p:cNvSpPr>
          <p:nvPr/>
        </p:nvSpPr>
        <p:spPr bwMode="auto">
          <a:xfrm>
            <a:off x="3090864" y="251142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VA</a:t>
            </a:r>
          </a:p>
        </p:txBody>
      </p:sp>
      <p:sp>
        <p:nvSpPr>
          <p:cNvPr id="665611" name="Rectangle 11"/>
          <p:cNvSpPr>
            <a:spLocks noChangeArrowheads="1"/>
          </p:cNvSpPr>
          <p:nvPr/>
        </p:nvSpPr>
        <p:spPr bwMode="auto">
          <a:xfrm>
            <a:off x="3090864" y="350202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PA</a:t>
            </a:r>
          </a:p>
        </p:txBody>
      </p:sp>
      <p:sp>
        <p:nvSpPr>
          <p:cNvPr id="665612" name="Rectangle 12"/>
          <p:cNvSpPr>
            <a:spLocks noChangeArrowheads="1"/>
          </p:cNvSpPr>
          <p:nvPr/>
        </p:nvSpPr>
        <p:spPr bwMode="auto">
          <a:xfrm>
            <a:off x="3109914" y="454977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PA</a:t>
            </a:r>
          </a:p>
        </p:txBody>
      </p:sp>
      <p:sp>
        <p:nvSpPr>
          <p:cNvPr id="665613" name="Rectangle 13"/>
          <p:cNvSpPr>
            <a:spLocks noChangeArrowheads="1"/>
          </p:cNvSpPr>
          <p:nvPr/>
        </p:nvSpPr>
        <p:spPr bwMode="auto">
          <a:xfrm>
            <a:off x="2138364" y="5749926"/>
            <a:ext cx="1529266"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a:latin typeface="Arial" panose="020B0604020202020204" pitchFamily="34" charset="0"/>
              </a:rPr>
              <a:t>Conventional</a:t>
            </a:r>
          </a:p>
          <a:p>
            <a:r>
              <a:rPr lang="en-US" altLang="zh-CN" b="0">
                <a:latin typeface="Arial" panose="020B0604020202020204" pitchFamily="34" charset="0"/>
              </a:rPr>
              <a:t>Organization</a:t>
            </a:r>
          </a:p>
        </p:txBody>
      </p:sp>
      <p:sp>
        <p:nvSpPr>
          <p:cNvPr id="665614" name="Rectangle 14"/>
          <p:cNvSpPr>
            <a:spLocks noChangeArrowheads="1"/>
          </p:cNvSpPr>
          <p:nvPr/>
        </p:nvSpPr>
        <p:spPr bwMode="auto">
          <a:xfrm>
            <a:off x="5365750" y="182245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CPU</a:t>
            </a:r>
          </a:p>
        </p:txBody>
      </p:sp>
      <p:sp>
        <p:nvSpPr>
          <p:cNvPr id="665615" name="Rectangle 15"/>
          <p:cNvSpPr>
            <a:spLocks noChangeArrowheads="1"/>
          </p:cNvSpPr>
          <p:nvPr/>
        </p:nvSpPr>
        <p:spPr bwMode="auto">
          <a:xfrm>
            <a:off x="5365750" y="288925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0">
                <a:latin typeface="Arial" panose="020B0604020202020204" pitchFamily="34" charset="0"/>
              </a:rPr>
              <a:t>$</a:t>
            </a:r>
          </a:p>
        </p:txBody>
      </p:sp>
      <p:sp>
        <p:nvSpPr>
          <p:cNvPr id="665616" name="Rectangle 16"/>
          <p:cNvSpPr>
            <a:spLocks noChangeArrowheads="1"/>
          </p:cNvSpPr>
          <p:nvPr/>
        </p:nvSpPr>
        <p:spPr bwMode="auto">
          <a:xfrm>
            <a:off x="5365750" y="391795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TB</a:t>
            </a:r>
          </a:p>
        </p:txBody>
      </p:sp>
      <p:sp>
        <p:nvSpPr>
          <p:cNvPr id="665617" name="Rectangle 17"/>
          <p:cNvSpPr>
            <a:spLocks noChangeArrowheads="1"/>
          </p:cNvSpPr>
          <p:nvPr/>
        </p:nvSpPr>
        <p:spPr bwMode="auto">
          <a:xfrm>
            <a:off x="5365750" y="498475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MEM</a:t>
            </a:r>
          </a:p>
        </p:txBody>
      </p:sp>
      <p:sp>
        <p:nvSpPr>
          <p:cNvPr id="665618" name="Line 18"/>
          <p:cNvSpPr>
            <a:spLocks noChangeShapeType="1"/>
          </p:cNvSpPr>
          <p:nvPr/>
        </p:nvSpPr>
        <p:spPr bwMode="auto">
          <a:xfrm>
            <a:off x="5772150" y="241300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19" name="Line 19"/>
          <p:cNvSpPr>
            <a:spLocks noChangeShapeType="1"/>
          </p:cNvSpPr>
          <p:nvPr/>
        </p:nvSpPr>
        <p:spPr bwMode="auto">
          <a:xfrm>
            <a:off x="5772150" y="346075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20" name="Line 20"/>
          <p:cNvSpPr>
            <a:spLocks noChangeShapeType="1"/>
          </p:cNvSpPr>
          <p:nvPr/>
        </p:nvSpPr>
        <p:spPr bwMode="auto">
          <a:xfrm>
            <a:off x="5772150" y="450850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21" name="Rectangle 21"/>
          <p:cNvSpPr>
            <a:spLocks noChangeArrowheads="1"/>
          </p:cNvSpPr>
          <p:nvPr/>
        </p:nvSpPr>
        <p:spPr bwMode="auto">
          <a:xfrm>
            <a:off x="5948364" y="249237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VA</a:t>
            </a:r>
          </a:p>
        </p:txBody>
      </p:sp>
      <p:sp>
        <p:nvSpPr>
          <p:cNvPr id="665622" name="Rectangle 22"/>
          <p:cNvSpPr>
            <a:spLocks noChangeArrowheads="1"/>
          </p:cNvSpPr>
          <p:nvPr/>
        </p:nvSpPr>
        <p:spPr bwMode="auto">
          <a:xfrm>
            <a:off x="5948364" y="348297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VA</a:t>
            </a:r>
          </a:p>
        </p:txBody>
      </p:sp>
      <p:sp>
        <p:nvSpPr>
          <p:cNvPr id="665623" name="Rectangle 23"/>
          <p:cNvSpPr>
            <a:spLocks noChangeArrowheads="1"/>
          </p:cNvSpPr>
          <p:nvPr/>
        </p:nvSpPr>
        <p:spPr bwMode="auto">
          <a:xfrm>
            <a:off x="5967414" y="453072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PA</a:t>
            </a:r>
          </a:p>
        </p:txBody>
      </p:sp>
      <p:sp>
        <p:nvSpPr>
          <p:cNvPr id="665624" name="Rectangle 24"/>
          <p:cNvSpPr>
            <a:spLocks noChangeArrowheads="1"/>
          </p:cNvSpPr>
          <p:nvPr/>
        </p:nvSpPr>
        <p:spPr bwMode="auto">
          <a:xfrm>
            <a:off x="4373564" y="5768976"/>
            <a:ext cx="2873375" cy="9128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a:latin typeface="Arial" panose="020B0604020202020204" pitchFamily="34" charset="0"/>
              </a:rPr>
              <a:t>Virtually Addressed Cache</a:t>
            </a:r>
          </a:p>
          <a:p>
            <a:r>
              <a:rPr lang="en-US" altLang="zh-CN" b="0">
                <a:latin typeface="Arial" panose="020B0604020202020204" pitchFamily="34" charset="0"/>
              </a:rPr>
              <a:t>Translate only on miss</a:t>
            </a:r>
          </a:p>
          <a:p>
            <a:r>
              <a:rPr lang="en-US" altLang="zh-CN" b="0">
                <a:latin typeface="Arial" panose="020B0604020202020204" pitchFamily="34" charset="0"/>
              </a:rPr>
              <a:t>Synonym Problem</a:t>
            </a:r>
          </a:p>
        </p:txBody>
      </p:sp>
      <p:sp>
        <p:nvSpPr>
          <p:cNvPr id="665625" name="Rectangle 25"/>
          <p:cNvSpPr>
            <a:spLocks noChangeArrowheads="1"/>
          </p:cNvSpPr>
          <p:nvPr/>
        </p:nvSpPr>
        <p:spPr bwMode="auto">
          <a:xfrm>
            <a:off x="8223250" y="18415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CPU</a:t>
            </a:r>
          </a:p>
        </p:txBody>
      </p:sp>
      <p:sp>
        <p:nvSpPr>
          <p:cNvPr id="665626" name="Rectangle 26"/>
          <p:cNvSpPr>
            <a:spLocks noChangeArrowheads="1"/>
          </p:cNvSpPr>
          <p:nvPr/>
        </p:nvSpPr>
        <p:spPr bwMode="auto">
          <a:xfrm>
            <a:off x="8223250" y="29083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b="0">
                <a:latin typeface="Arial" panose="020B0604020202020204" pitchFamily="34" charset="0"/>
              </a:rPr>
              <a:t>$</a:t>
            </a:r>
          </a:p>
        </p:txBody>
      </p:sp>
      <p:sp>
        <p:nvSpPr>
          <p:cNvPr id="665627" name="Rectangle 27"/>
          <p:cNvSpPr>
            <a:spLocks noChangeArrowheads="1"/>
          </p:cNvSpPr>
          <p:nvPr/>
        </p:nvSpPr>
        <p:spPr bwMode="auto">
          <a:xfrm>
            <a:off x="9404350" y="29083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TB</a:t>
            </a:r>
          </a:p>
        </p:txBody>
      </p:sp>
      <p:sp>
        <p:nvSpPr>
          <p:cNvPr id="665628" name="Rectangle 28"/>
          <p:cNvSpPr>
            <a:spLocks noChangeArrowheads="1"/>
          </p:cNvSpPr>
          <p:nvPr/>
        </p:nvSpPr>
        <p:spPr bwMode="auto">
          <a:xfrm>
            <a:off x="8832850" y="4432300"/>
            <a:ext cx="850900" cy="546100"/>
          </a:xfrm>
          <a:prstGeom prst="rect">
            <a:avLst/>
          </a:prstGeom>
          <a:solidFill>
            <a:schemeClr val="bg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MEM</a:t>
            </a:r>
          </a:p>
        </p:txBody>
      </p:sp>
      <p:sp>
        <p:nvSpPr>
          <p:cNvPr id="665629" name="Line 29"/>
          <p:cNvSpPr>
            <a:spLocks noChangeShapeType="1"/>
          </p:cNvSpPr>
          <p:nvPr/>
        </p:nvSpPr>
        <p:spPr bwMode="auto">
          <a:xfrm>
            <a:off x="8629650" y="243205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0" name="Line 30"/>
          <p:cNvSpPr>
            <a:spLocks noChangeShapeType="1"/>
          </p:cNvSpPr>
          <p:nvPr/>
        </p:nvSpPr>
        <p:spPr bwMode="auto">
          <a:xfrm>
            <a:off x="8629650" y="347980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1" name="Line 31"/>
          <p:cNvSpPr>
            <a:spLocks noChangeShapeType="1"/>
          </p:cNvSpPr>
          <p:nvPr/>
        </p:nvSpPr>
        <p:spPr bwMode="auto">
          <a:xfrm>
            <a:off x="9239250" y="395605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2" name="Rectangle 32"/>
          <p:cNvSpPr>
            <a:spLocks noChangeArrowheads="1"/>
          </p:cNvSpPr>
          <p:nvPr/>
        </p:nvSpPr>
        <p:spPr bwMode="auto">
          <a:xfrm>
            <a:off x="8005764" y="247332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VA</a:t>
            </a:r>
          </a:p>
        </p:txBody>
      </p:sp>
      <p:sp>
        <p:nvSpPr>
          <p:cNvPr id="665633" name="Rectangle 33"/>
          <p:cNvSpPr>
            <a:spLocks noChangeArrowheads="1"/>
          </p:cNvSpPr>
          <p:nvPr/>
        </p:nvSpPr>
        <p:spPr bwMode="auto">
          <a:xfrm>
            <a:off x="7307264" y="2892426"/>
            <a:ext cx="6889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a:latin typeface="Arial" panose="020B0604020202020204" pitchFamily="34" charset="0"/>
              </a:rPr>
              <a:t>PA</a:t>
            </a:r>
          </a:p>
          <a:p>
            <a:r>
              <a:rPr lang="en-US" altLang="zh-CN" b="0">
                <a:latin typeface="Arial" panose="020B0604020202020204" pitchFamily="34" charset="0"/>
              </a:rPr>
              <a:t>Tags</a:t>
            </a:r>
          </a:p>
        </p:txBody>
      </p:sp>
      <p:sp>
        <p:nvSpPr>
          <p:cNvPr id="665634" name="Rectangle 34"/>
          <p:cNvSpPr>
            <a:spLocks noChangeArrowheads="1"/>
          </p:cNvSpPr>
          <p:nvPr/>
        </p:nvSpPr>
        <p:spPr bwMode="auto">
          <a:xfrm>
            <a:off x="9891714" y="3502025"/>
            <a:ext cx="4857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b="0">
                <a:latin typeface="Arial" panose="020B0604020202020204" pitchFamily="34" charset="0"/>
              </a:rPr>
              <a:t>PA</a:t>
            </a:r>
          </a:p>
        </p:txBody>
      </p:sp>
      <p:sp>
        <p:nvSpPr>
          <p:cNvPr id="665635" name="Line 35"/>
          <p:cNvSpPr>
            <a:spLocks noChangeShapeType="1"/>
          </p:cNvSpPr>
          <p:nvPr/>
        </p:nvSpPr>
        <p:spPr bwMode="auto">
          <a:xfrm>
            <a:off x="9829800" y="2508250"/>
            <a:ext cx="19050" cy="374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6" name="Line 36"/>
          <p:cNvSpPr>
            <a:spLocks noChangeShapeType="1"/>
          </p:cNvSpPr>
          <p:nvPr/>
        </p:nvSpPr>
        <p:spPr bwMode="auto">
          <a:xfrm flipH="1">
            <a:off x="8616950" y="2514600"/>
            <a:ext cx="12446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7" name="Line 37"/>
          <p:cNvSpPr>
            <a:spLocks noChangeShapeType="1"/>
          </p:cNvSpPr>
          <p:nvPr/>
        </p:nvSpPr>
        <p:spPr bwMode="auto">
          <a:xfrm>
            <a:off x="9829800" y="3517900"/>
            <a:ext cx="0" cy="450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8" name="Line 38"/>
          <p:cNvSpPr>
            <a:spLocks noChangeShapeType="1"/>
          </p:cNvSpPr>
          <p:nvPr/>
        </p:nvSpPr>
        <p:spPr bwMode="auto">
          <a:xfrm>
            <a:off x="8642350" y="3943350"/>
            <a:ext cx="1193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39" name="Rectangle 39"/>
          <p:cNvSpPr>
            <a:spLocks noChangeArrowheads="1"/>
          </p:cNvSpPr>
          <p:nvPr/>
        </p:nvSpPr>
        <p:spPr bwMode="auto">
          <a:xfrm>
            <a:off x="8189914" y="5273675"/>
            <a:ext cx="2136775" cy="1462088"/>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a:latin typeface="Arial" panose="020B0604020202020204" pitchFamily="34" charset="0"/>
              </a:rPr>
              <a:t>Overlap $ access</a:t>
            </a:r>
          </a:p>
          <a:p>
            <a:r>
              <a:rPr lang="en-US" altLang="zh-CN" b="0">
                <a:latin typeface="Arial" panose="020B0604020202020204" pitchFamily="34" charset="0"/>
              </a:rPr>
              <a:t>with VA translation:</a:t>
            </a:r>
          </a:p>
          <a:p>
            <a:r>
              <a:rPr lang="en-US" altLang="zh-CN" b="0">
                <a:latin typeface="Arial" panose="020B0604020202020204" pitchFamily="34" charset="0"/>
              </a:rPr>
              <a:t>requires $ index to</a:t>
            </a:r>
          </a:p>
          <a:p>
            <a:r>
              <a:rPr lang="en-US" altLang="zh-CN" b="0">
                <a:latin typeface="Arial" panose="020B0604020202020204" pitchFamily="34" charset="0"/>
              </a:rPr>
              <a:t>remain invariant</a:t>
            </a:r>
          </a:p>
          <a:p>
            <a:r>
              <a:rPr lang="en-US" altLang="zh-CN" b="0">
                <a:latin typeface="Arial" panose="020B0604020202020204" pitchFamily="34" charset="0"/>
              </a:rPr>
              <a:t>across translation</a:t>
            </a:r>
          </a:p>
        </p:txBody>
      </p:sp>
      <p:sp>
        <p:nvSpPr>
          <p:cNvPr id="665640" name="Rectangle 40"/>
          <p:cNvSpPr>
            <a:spLocks noChangeArrowheads="1"/>
          </p:cNvSpPr>
          <p:nvPr/>
        </p:nvSpPr>
        <p:spPr bwMode="auto">
          <a:xfrm>
            <a:off x="4449764" y="2835276"/>
            <a:ext cx="6889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a:latin typeface="Arial" panose="020B0604020202020204" pitchFamily="34" charset="0"/>
              </a:rPr>
              <a:t>VA</a:t>
            </a:r>
          </a:p>
          <a:p>
            <a:r>
              <a:rPr lang="en-US" altLang="zh-CN" b="0">
                <a:latin typeface="Arial" panose="020B0604020202020204" pitchFamily="34" charset="0"/>
              </a:rPr>
              <a:t>Tags</a:t>
            </a:r>
          </a:p>
        </p:txBody>
      </p:sp>
      <p:sp>
        <p:nvSpPr>
          <p:cNvPr id="665641" name="Rectangle 41"/>
          <p:cNvSpPr>
            <a:spLocks noChangeArrowheads="1"/>
          </p:cNvSpPr>
          <p:nvPr/>
        </p:nvSpPr>
        <p:spPr bwMode="auto">
          <a:xfrm>
            <a:off x="9004300" y="3803650"/>
            <a:ext cx="565150" cy="298450"/>
          </a:xfrm>
          <a:prstGeom prst="rect">
            <a:avLst/>
          </a:prstGeom>
          <a:solidFill>
            <a:schemeClr val="bg1"/>
          </a:solidFill>
          <a:ln w="25400">
            <a:solidFill>
              <a:schemeClr val="tx1"/>
            </a:solidFill>
            <a:prstDash val="dash"/>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b="0">
                <a:latin typeface="Arial" panose="020B0604020202020204" pitchFamily="34" charset="0"/>
              </a:rPr>
              <a:t>L2 $</a:t>
            </a:r>
          </a:p>
        </p:txBody>
      </p:sp>
    </p:spTree>
    <p:extLst>
      <p:ext uri="{BB962C8B-B14F-4D97-AF65-F5344CB8AC3E}">
        <p14:creationId xmlns:p14="http://schemas.microsoft.com/office/powerpoint/2010/main" val="4212940109"/>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p:txBody>
          <a:bodyPr/>
          <a:lstStyle/>
          <a:p>
            <a:r>
              <a:rPr lang="zh-CN" altLang="en-US" smtClean="0"/>
              <a:t>2. </a:t>
            </a:r>
            <a:r>
              <a:rPr lang="en-US" altLang="zh-CN" smtClean="0"/>
              <a:t>Fast Cache Hits by Avoiding Translation: Process ID impact</a:t>
            </a:r>
            <a:endParaRPr lang="en-US" altLang="zh-CN" dirty="0"/>
          </a:p>
        </p:txBody>
      </p:sp>
      <p:sp>
        <p:nvSpPr>
          <p:cNvPr id="666627" name="Rectangle 3"/>
          <p:cNvSpPr>
            <a:spLocks noGrp="1" noChangeArrowheads="1"/>
          </p:cNvSpPr>
          <p:nvPr>
            <p:ph type="body" idx="1"/>
          </p:nvPr>
        </p:nvSpPr>
        <p:spPr>
          <a:xfrm>
            <a:off x="407368" y="1556792"/>
            <a:ext cx="10946432" cy="5112568"/>
          </a:xfrm>
        </p:spPr>
        <p:txBody>
          <a:bodyPr/>
          <a:lstStyle/>
          <a:p>
            <a:r>
              <a:rPr lang="en-US" altLang="zh-CN" dirty="0" smtClean="0"/>
              <a:t>Black is </a:t>
            </a:r>
            <a:r>
              <a:rPr lang="en-US" altLang="zh-CN" dirty="0" err="1" smtClean="0"/>
              <a:t>uniprocess</a:t>
            </a:r>
            <a:endParaRPr lang="en-US" altLang="zh-CN" dirty="0" smtClean="0"/>
          </a:p>
          <a:p>
            <a:r>
              <a:rPr lang="en-US" altLang="zh-CN" dirty="0" smtClean="0"/>
              <a:t>Light Gray is </a:t>
            </a:r>
            <a:r>
              <a:rPr lang="en-US" altLang="zh-CN" dirty="0" err="1" smtClean="0"/>
              <a:t>multiprocess</a:t>
            </a:r>
            <a:r>
              <a:rPr lang="en-US" altLang="zh-CN" dirty="0" smtClean="0"/>
              <a:t> </a:t>
            </a:r>
          </a:p>
          <a:p>
            <a:pPr lvl="1"/>
            <a:r>
              <a:rPr lang="en-US" altLang="zh-CN" dirty="0" smtClean="0"/>
              <a:t>when flush cache</a:t>
            </a:r>
          </a:p>
          <a:p>
            <a:r>
              <a:rPr lang="en-US" altLang="zh-CN" dirty="0" smtClean="0"/>
              <a:t>Dark Gray is </a:t>
            </a:r>
            <a:r>
              <a:rPr lang="en-US" altLang="zh-CN" dirty="0" err="1" smtClean="0"/>
              <a:t>multiprocess</a:t>
            </a:r>
            <a:r>
              <a:rPr lang="en-US" altLang="zh-CN" dirty="0" smtClean="0"/>
              <a:t> </a:t>
            </a:r>
          </a:p>
          <a:p>
            <a:pPr lvl="1"/>
            <a:r>
              <a:rPr lang="en-US" altLang="zh-CN" dirty="0" smtClean="0"/>
              <a:t>when use Process ID tag</a:t>
            </a:r>
          </a:p>
          <a:p>
            <a:r>
              <a:rPr lang="en-US" altLang="zh-CN" dirty="0" smtClean="0"/>
              <a:t>Y axis: Miss Rates up to 20%</a:t>
            </a:r>
          </a:p>
          <a:p>
            <a:r>
              <a:rPr lang="en-US" altLang="zh-CN" dirty="0" smtClean="0"/>
              <a:t>X axis: Cache size from 2 KB </a:t>
            </a:r>
            <a:br>
              <a:rPr lang="en-US" altLang="zh-CN" dirty="0" smtClean="0"/>
            </a:br>
            <a:r>
              <a:rPr lang="en-US" altLang="zh-CN" dirty="0" smtClean="0"/>
              <a:t>to 1024 KB</a:t>
            </a:r>
            <a:endParaRPr lang="en-US" altLang="zh-CN" dirty="0"/>
          </a:p>
        </p:txBody>
      </p:sp>
      <p:pic>
        <p:nvPicPr>
          <p:cNvPr id="2" name="图片 1"/>
          <p:cNvPicPr>
            <a:picLocks noChangeAspect="1"/>
          </p:cNvPicPr>
          <p:nvPr/>
        </p:nvPicPr>
        <p:blipFill>
          <a:blip r:embed="rId2"/>
          <a:stretch>
            <a:fillRect/>
          </a:stretch>
        </p:blipFill>
        <p:spPr>
          <a:xfrm>
            <a:off x="5879976" y="1628800"/>
            <a:ext cx="6124226" cy="4968552"/>
          </a:xfrm>
          <a:prstGeom prst="rect">
            <a:avLst/>
          </a:prstGeom>
        </p:spPr>
      </p:pic>
    </p:spTree>
    <p:extLst>
      <p:ext uri="{BB962C8B-B14F-4D97-AF65-F5344CB8AC3E}">
        <p14:creationId xmlns:p14="http://schemas.microsoft.com/office/powerpoint/2010/main" val="1344825091"/>
      </p:ext>
    </p:extLst>
  </p:cSld>
  <p:clrMapOvr>
    <a:masterClrMapping/>
  </p:clrMapOvr>
  <p:transition>
    <p:wipe dir="r"/>
  </p:transition>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7652" name="Rectangle 4"/>
          <p:cNvSpPr>
            <a:spLocks noGrp="1" noChangeArrowheads="1"/>
          </p:cNvSpPr>
          <p:nvPr>
            <p:ph type="body" idx="1"/>
          </p:nvPr>
        </p:nvSpPr>
        <p:spPr/>
        <p:txBody>
          <a:bodyPr/>
          <a:lstStyle/>
          <a:p>
            <a:r>
              <a:rPr lang="en-US" altLang="zh-CN" dirty="0"/>
              <a:t>O</a:t>
            </a:r>
            <a:r>
              <a:rPr lang="en-US" altLang="zh-CN" dirty="0" smtClean="0"/>
              <a:t>verlap </a:t>
            </a:r>
            <a:r>
              <a:rPr lang="en-US" altLang="zh-CN" dirty="0"/>
              <a:t>the cache access with the TLB </a:t>
            </a:r>
            <a:r>
              <a:rPr lang="en-US" altLang="zh-CN" dirty="0" smtClean="0"/>
              <a:t>access</a:t>
            </a:r>
            <a:endParaRPr lang="en-US" altLang="zh-CN" dirty="0"/>
          </a:p>
          <a:p>
            <a:pPr lvl="1"/>
            <a:r>
              <a:rPr lang="en-US" altLang="zh-CN" dirty="0" smtClean="0"/>
              <a:t>High </a:t>
            </a:r>
            <a:r>
              <a:rPr lang="en-US" altLang="zh-CN" dirty="0"/>
              <a:t>order bits of the VA are used to look in the TLB while low order bits are used as index into cache</a:t>
            </a:r>
          </a:p>
          <a:p>
            <a:pPr lvl="1"/>
            <a:r>
              <a:rPr lang="en-US" altLang="zh-CN" dirty="0" smtClean="0"/>
              <a:t>If index is physical part of address, can start tag access in parallel with translation so that can compare to physical tag</a:t>
            </a:r>
            <a:br>
              <a:rPr lang="en-US" altLang="zh-CN" dirty="0" smtClean="0"/>
            </a:br>
            <a:endParaRPr lang="en-US" altLang="zh-CN" dirty="0" smtClean="0"/>
          </a:p>
          <a:p>
            <a:endParaRPr lang="en-US" altLang="zh-CN" dirty="0"/>
          </a:p>
          <a:p>
            <a:endParaRPr lang="en-US" altLang="zh-CN" dirty="0" smtClean="0"/>
          </a:p>
          <a:p>
            <a:r>
              <a:rPr lang="en-US" altLang="zh-CN" dirty="0" smtClean="0"/>
              <a:t>Limits cache to page size: what if want bigger caches and uses same trick?</a:t>
            </a:r>
          </a:p>
          <a:p>
            <a:pPr lvl="1"/>
            <a:r>
              <a:rPr lang="en-US" altLang="zh-CN" dirty="0" smtClean="0"/>
              <a:t>Higher associativity moves barrier to right</a:t>
            </a:r>
          </a:p>
          <a:p>
            <a:pPr lvl="1"/>
            <a:r>
              <a:rPr lang="en-US" altLang="zh-CN" dirty="0" smtClean="0"/>
              <a:t>Page coloring</a:t>
            </a:r>
            <a:endParaRPr lang="en-US" altLang="zh-CN" dirty="0"/>
          </a:p>
        </p:txBody>
      </p:sp>
      <p:sp>
        <p:nvSpPr>
          <p:cNvPr id="667651" name="Rectangle 3"/>
          <p:cNvSpPr>
            <a:spLocks noGrp="1" noChangeArrowheads="1"/>
          </p:cNvSpPr>
          <p:nvPr>
            <p:ph type="title"/>
          </p:nvPr>
        </p:nvSpPr>
        <p:spPr>
          <a:xfrm>
            <a:off x="479376" y="365125"/>
            <a:ext cx="10874424" cy="831627"/>
          </a:xfrm>
        </p:spPr>
        <p:txBody>
          <a:bodyPr/>
          <a:lstStyle/>
          <a:p>
            <a:r>
              <a:rPr lang="zh-CN" altLang="en-US" dirty="0" smtClean="0"/>
              <a:t>2. </a:t>
            </a:r>
            <a:r>
              <a:rPr lang="en-US" altLang="zh-CN" dirty="0" smtClean="0"/>
              <a:t>Fast Cache Hits by Avoiding Translation</a:t>
            </a:r>
            <a:endParaRPr lang="en-US" altLang="zh-CN" dirty="0"/>
          </a:p>
        </p:txBody>
      </p:sp>
      <p:grpSp>
        <p:nvGrpSpPr>
          <p:cNvPr id="2" name="组合 1"/>
          <p:cNvGrpSpPr/>
          <p:nvPr/>
        </p:nvGrpSpPr>
        <p:grpSpPr>
          <a:xfrm>
            <a:off x="1846238" y="3403597"/>
            <a:ext cx="8140700" cy="1418957"/>
            <a:chOff x="2025650" y="2986025"/>
            <a:chExt cx="8140700" cy="1418957"/>
          </a:xfrm>
        </p:grpSpPr>
        <p:pic>
          <p:nvPicPr>
            <p:cNvPr id="667650"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650" y="3020682"/>
              <a:ext cx="8140700" cy="1384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7653" name="Rectangle 5"/>
            <p:cNvSpPr>
              <a:spLocks noChangeArrowheads="1"/>
            </p:cNvSpPr>
            <p:nvPr/>
          </p:nvSpPr>
          <p:spPr bwMode="auto">
            <a:xfrm>
              <a:off x="3838006" y="2986025"/>
              <a:ext cx="161909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dirty="0">
                  <a:latin typeface="Arial" panose="020B0604020202020204" pitchFamily="34" charset="0"/>
                </a:rPr>
                <a:t>Page Address</a:t>
              </a:r>
            </a:p>
          </p:txBody>
        </p:sp>
        <p:sp>
          <p:nvSpPr>
            <p:cNvPr id="667654" name="Rectangle 6"/>
            <p:cNvSpPr>
              <a:spLocks noChangeArrowheads="1"/>
            </p:cNvSpPr>
            <p:nvPr/>
          </p:nvSpPr>
          <p:spPr bwMode="auto">
            <a:xfrm>
              <a:off x="6714556" y="3005075"/>
              <a:ext cx="14509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dirty="0">
                  <a:latin typeface="Arial" panose="020B0604020202020204" pitchFamily="34" charset="0"/>
                </a:rPr>
                <a:t>Page Offset</a:t>
              </a:r>
            </a:p>
          </p:txBody>
        </p:sp>
        <p:sp>
          <p:nvSpPr>
            <p:cNvPr id="667655" name="Rectangle 7"/>
            <p:cNvSpPr>
              <a:spLocks noChangeArrowheads="1"/>
            </p:cNvSpPr>
            <p:nvPr/>
          </p:nvSpPr>
          <p:spPr bwMode="auto">
            <a:xfrm>
              <a:off x="3742756" y="3919475"/>
              <a:ext cx="146104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dirty="0">
                  <a:latin typeface="Arial" panose="020B0604020202020204" pitchFamily="34" charset="0"/>
                </a:rPr>
                <a:t>Address Tag</a:t>
              </a:r>
            </a:p>
          </p:txBody>
        </p:sp>
        <p:sp>
          <p:nvSpPr>
            <p:cNvPr id="667656" name="Rectangle 8"/>
            <p:cNvSpPr>
              <a:spLocks noChangeArrowheads="1"/>
            </p:cNvSpPr>
            <p:nvPr/>
          </p:nvSpPr>
          <p:spPr bwMode="auto">
            <a:xfrm>
              <a:off x="6485956" y="3938525"/>
              <a:ext cx="74700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Index</a:t>
              </a:r>
            </a:p>
          </p:txBody>
        </p:sp>
        <p:sp>
          <p:nvSpPr>
            <p:cNvPr id="667657" name="Rectangle 9"/>
            <p:cNvSpPr>
              <a:spLocks noChangeArrowheads="1"/>
            </p:cNvSpPr>
            <p:nvPr/>
          </p:nvSpPr>
          <p:spPr bwMode="auto">
            <a:xfrm>
              <a:off x="7762306" y="3919475"/>
              <a:ext cx="1422506"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Block Offset</a:t>
              </a:r>
            </a:p>
          </p:txBody>
        </p:sp>
      </p:grpSp>
    </p:spTree>
    <p:extLst>
      <p:ext uri="{BB962C8B-B14F-4D97-AF65-F5344CB8AC3E}">
        <p14:creationId xmlns:p14="http://schemas.microsoft.com/office/powerpoint/2010/main" val="1616514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7652">
                                            <p:txEl>
                                              <p:pRg st="0" end="0"/>
                                            </p:txEl>
                                          </p:spTgt>
                                        </p:tgtEl>
                                        <p:attrNameLst>
                                          <p:attrName>style.visibility</p:attrName>
                                        </p:attrNameLst>
                                      </p:cBhvr>
                                      <p:to>
                                        <p:strVal val="visible"/>
                                      </p:to>
                                    </p:set>
                                    <p:anim calcmode="lin" valueType="num">
                                      <p:cBhvr additive="base">
                                        <p:cTn id="7" dur="500" fill="hold"/>
                                        <p:tgtEl>
                                          <p:spTgt spid="66765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765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67652">
                                            <p:txEl>
                                              <p:pRg st="1" end="1"/>
                                            </p:txEl>
                                          </p:spTgt>
                                        </p:tgtEl>
                                        <p:attrNameLst>
                                          <p:attrName>style.visibility</p:attrName>
                                        </p:attrNameLst>
                                      </p:cBhvr>
                                      <p:to>
                                        <p:strVal val="visible"/>
                                      </p:to>
                                    </p:set>
                                    <p:anim calcmode="lin" valueType="num">
                                      <p:cBhvr additive="base">
                                        <p:cTn id="11" dur="500" fill="hold"/>
                                        <p:tgtEl>
                                          <p:spTgt spid="66765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6765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67652">
                                            <p:txEl>
                                              <p:pRg st="2" end="2"/>
                                            </p:txEl>
                                          </p:spTgt>
                                        </p:tgtEl>
                                        <p:attrNameLst>
                                          <p:attrName>style.visibility</p:attrName>
                                        </p:attrNameLst>
                                      </p:cBhvr>
                                      <p:to>
                                        <p:strVal val="visible"/>
                                      </p:to>
                                    </p:set>
                                    <p:anim calcmode="lin" valueType="num">
                                      <p:cBhvr additive="base">
                                        <p:cTn id="15" dur="500" fill="hold"/>
                                        <p:tgtEl>
                                          <p:spTgt spid="66765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6765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667652">
                                            <p:txEl>
                                              <p:pRg st="5" end="5"/>
                                            </p:txEl>
                                          </p:spTgt>
                                        </p:tgtEl>
                                        <p:attrNameLst>
                                          <p:attrName>style.visibility</p:attrName>
                                        </p:attrNameLst>
                                      </p:cBhvr>
                                      <p:to>
                                        <p:strVal val="visible"/>
                                      </p:to>
                                    </p:set>
                                    <p:anim calcmode="lin" valueType="num">
                                      <p:cBhvr additive="base">
                                        <p:cTn id="21" dur="500" fill="hold"/>
                                        <p:tgtEl>
                                          <p:spTgt spid="667652">
                                            <p:txEl>
                                              <p:pRg st="5" end="5"/>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67652">
                                            <p:txEl>
                                              <p:pRg st="5" end="5"/>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667652">
                                            <p:txEl>
                                              <p:pRg st="6" end="6"/>
                                            </p:txEl>
                                          </p:spTgt>
                                        </p:tgtEl>
                                        <p:attrNameLst>
                                          <p:attrName>style.visibility</p:attrName>
                                        </p:attrNameLst>
                                      </p:cBhvr>
                                      <p:to>
                                        <p:strVal val="visible"/>
                                      </p:to>
                                    </p:set>
                                    <p:anim calcmode="lin" valueType="num">
                                      <p:cBhvr additive="base">
                                        <p:cTn id="25" dur="500" fill="hold"/>
                                        <p:tgtEl>
                                          <p:spTgt spid="667652">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67652">
                                            <p:txEl>
                                              <p:pRg st="6" end="6"/>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667652">
                                            <p:txEl>
                                              <p:pRg st="7" end="7"/>
                                            </p:txEl>
                                          </p:spTgt>
                                        </p:tgtEl>
                                        <p:attrNameLst>
                                          <p:attrName>style.visibility</p:attrName>
                                        </p:attrNameLst>
                                      </p:cBhvr>
                                      <p:to>
                                        <p:strVal val="visible"/>
                                      </p:to>
                                    </p:set>
                                    <p:anim calcmode="lin" valueType="num">
                                      <p:cBhvr additive="base">
                                        <p:cTn id="29" dur="500" fill="hold"/>
                                        <p:tgtEl>
                                          <p:spTgt spid="667652">
                                            <p:txEl>
                                              <p:pRg st="7" end="7"/>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667652">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2" grpId="0" build="p"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479376" y="417514"/>
            <a:ext cx="10175925" cy="40957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Overlapped Cache &amp; TLB Access</a:t>
            </a:r>
          </a:p>
        </p:txBody>
      </p:sp>
      <p:sp>
        <p:nvSpPr>
          <p:cNvPr id="684035" name="Rectangle 3"/>
          <p:cNvSpPr>
            <a:spLocks noChangeArrowheads="1"/>
          </p:cNvSpPr>
          <p:nvPr/>
        </p:nvSpPr>
        <p:spPr bwMode="auto">
          <a:xfrm>
            <a:off x="2508250" y="1111250"/>
            <a:ext cx="1574800" cy="15621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TLB</a:t>
            </a:r>
          </a:p>
        </p:txBody>
      </p:sp>
      <p:sp>
        <p:nvSpPr>
          <p:cNvPr id="684036" name="Rectangle 4"/>
          <p:cNvSpPr>
            <a:spLocks noChangeArrowheads="1"/>
          </p:cNvSpPr>
          <p:nvPr/>
        </p:nvSpPr>
        <p:spPr bwMode="auto">
          <a:xfrm>
            <a:off x="7664450" y="1073150"/>
            <a:ext cx="2032000" cy="1651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en-US" altLang="zh-CN">
                <a:latin typeface="Arial" panose="020B0604020202020204" pitchFamily="34" charset="0"/>
              </a:rPr>
              <a:t>Cache</a:t>
            </a:r>
          </a:p>
        </p:txBody>
      </p:sp>
      <p:sp>
        <p:nvSpPr>
          <p:cNvPr id="684037" name="Rectangle 5"/>
          <p:cNvSpPr>
            <a:spLocks noChangeArrowheads="1"/>
          </p:cNvSpPr>
          <p:nvPr/>
        </p:nvSpPr>
        <p:spPr bwMode="auto">
          <a:xfrm>
            <a:off x="4629150" y="3016250"/>
            <a:ext cx="2590800" cy="3175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38" name="Rectangle 6"/>
          <p:cNvSpPr>
            <a:spLocks noChangeArrowheads="1"/>
          </p:cNvSpPr>
          <p:nvPr/>
        </p:nvSpPr>
        <p:spPr bwMode="auto">
          <a:xfrm>
            <a:off x="4565650" y="4070350"/>
            <a:ext cx="2628900" cy="304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39" name="Line 7"/>
          <p:cNvSpPr>
            <a:spLocks noChangeShapeType="1"/>
          </p:cNvSpPr>
          <p:nvPr/>
        </p:nvSpPr>
        <p:spPr bwMode="auto">
          <a:xfrm>
            <a:off x="6902450" y="3016250"/>
            <a:ext cx="0" cy="317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40" name="Line 8"/>
          <p:cNvSpPr>
            <a:spLocks noChangeShapeType="1"/>
          </p:cNvSpPr>
          <p:nvPr/>
        </p:nvSpPr>
        <p:spPr bwMode="auto">
          <a:xfrm>
            <a:off x="6102350" y="3016250"/>
            <a:ext cx="0" cy="317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41" name="Rectangle 9"/>
          <p:cNvSpPr>
            <a:spLocks noChangeArrowheads="1"/>
          </p:cNvSpPr>
          <p:nvPr/>
        </p:nvSpPr>
        <p:spPr bwMode="auto">
          <a:xfrm>
            <a:off x="6330950" y="273685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10</a:t>
            </a:r>
          </a:p>
        </p:txBody>
      </p:sp>
      <p:sp>
        <p:nvSpPr>
          <p:cNvPr id="684042" name="Rectangle 10"/>
          <p:cNvSpPr>
            <a:spLocks noChangeArrowheads="1"/>
          </p:cNvSpPr>
          <p:nvPr/>
        </p:nvSpPr>
        <p:spPr bwMode="auto">
          <a:xfrm>
            <a:off x="6953250" y="273685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2</a:t>
            </a:r>
          </a:p>
        </p:txBody>
      </p:sp>
      <p:sp>
        <p:nvSpPr>
          <p:cNvPr id="684043" name="Rectangle 11"/>
          <p:cNvSpPr>
            <a:spLocks noChangeArrowheads="1"/>
          </p:cNvSpPr>
          <p:nvPr/>
        </p:nvSpPr>
        <p:spPr bwMode="auto">
          <a:xfrm>
            <a:off x="6877050" y="309245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00</a:t>
            </a:r>
          </a:p>
        </p:txBody>
      </p:sp>
      <p:sp>
        <p:nvSpPr>
          <p:cNvPr id="684044" name="Rectangle 12"/>
          <p:cNvSpPr>
            <a:spLocks noChangeArrowheads="1"/>
          </p:cNvSpPr>
          <p:nvPr/>
        </p:nvSpPr>
        <p:spPr bwMode="auto">
          <a:xfrm>
            <a:off x="8235950" y="2457451"/>
            <a:ext cx="872034"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4 </a:t>
            </a:r>
            <a:r>
              <a:rPr lang="en-US" altLang="zh-CN">
                <a:latin typeface="Arial" panose="020B0604020202020204" pitchFamily="34" charset="0"/>
              </a:rPr>
              <a:t>bytes</a:t>
            </a:r>
          </a:p>
        </p:txBody>
      </p:sp>
      <p:sp>
        <p:nvSpPr>
          <p:cNvPr id="684045" name="Line 13"/>
          <p:cNvSpPr>
            <a:spLocks noChangeShapeType="1"/>
          </p:cNvSpPr>
          <p:nvPr/>
        </p:nvSpPr>
        <p:spPr bwMode="auto">
          <a:xfrm>
            <a:off x="9124950" y="2571750"/>
            <a:ext cx="5715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46" name="Line 14"/>
          <p:cNvSpPr>
            <a:spLocks noChangeShapeType="1"/>
          </p:cNvSpPr>
          <p:nvPr/>
        </p:nvSpPr>
        <p:spPr bwMode="auto">
          <a:xfrm flipH="1">
            <a:off x="7639050" y="2571750"/>
            <a:ext cx="6096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47" name="Line 15"/>
          <p:cNvSpPr>
            <a:spLocks noChangeShapeType="1"/>
          </p:cNvSpPr>
          <p:nvPr/>
        </p:nvSpPr>
        <p:spPr bwMode="auto">
          <a:xfrm flipV="1">
            <a:off x="6521450" y="1847850"/>
            <a:ext cx="0" cy="863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48" name="Line 16"/>
          <p:cNvSpPr>
            <a:spLocks noChangeShapeType="1"/>
          </p:cNvSpPr>
          <p:nvPr/>
        </p:nvSpPr>
        <p:spPr bwMode="auto">
          <a:xfrm>
            <a:off x="6534150" y="1860550"/>
            <a:ext cx="11049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49" name="Rectangle 17"/>
          <p:cNvSpPr>
            <a:spLocks noChangeArrowheads="1"/>
          </p:cNvSpPr>
          <p:nvPr/>
        </p:nvSpPr>
        <p:spPr bwMode="auto">
          <a:xfrm>
            <a:off x="6661150" y="1606551"/>
            <a:ext cx="679673"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index</a:t>
            </a:r>
          </a:p>
        </p:txBody>
      </p:sp>
      <p:sp>
        <p:nvSpPr>
          <p:cNvPr id="684050" name="Rectangle 18"/>
          <p:cNvSpPr>
            <a:spLocks noChangeArrowheads="1"/>
          </p:cNvSpPr>
          <p:nvPr/>
        </p:nvSpPr>
        <p:spPr bwMode="auto">
          <a:xfrm>
            <a:off x="9734550" y="1733551"/>
            <a:ext cx="4826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 </a:t>
            </a:r>
            <a:r>
              <a:rPr lang="en-US" altLang="zh-CN">
                <a:latin typeface="Arial" panose="020B0604020202020204" pitchFamily="34" charset="0"/>
              </a:rPr>
              <a:t>K</a:t>
            </a:r>
          </a:p>
        </p:txBody>
      </p:sp>
      <p:sp>
        <p:nvSpPr>
          <p:cNvPr id="684051" name="Line 19"/>
          <p:cNvSpPr>
            <a:spLocks noChangeShapeType="1"/>
          </p:cNvSpPr>
          <p:nvPr/>
        </p:nvSpPr>
        <p:spPr bwMode="auto">
          <a:xfrm flipV="1">
            <a:off x="9950450" y="1047750"/>
            <a:ext cx="0" cy="660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52" name="Line 20"/>
          <p:cNvSpPr>
            <a:spLocks noChangeShapeType="1"/>
          </p:cNvSpPr>
          <p:nvPr/>
        </p:nvSpPr>
        <p:spPr bwMode="auto">
          <a:xfrm>
            <a:off x="9950450" y="1987550"/>
            <a:ext cx="0" cy="7239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53" name="Rectangle 21"/>
          <p:cNvSpPr>
            <a:spLocks noChangeArrowheads="1"/>
          </p:cNvSpPr>
          <p:nvPr/>
        </p:nvSpPr>
        <p:spPr bwMode="auto">
          <a:xfrm>
            <a:off x="4591050" y="4095751"/>
            <a:ext cx="8509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page #</a:t>
            </a:r>
          </a:p>
        </p:txBody>
      </p:sp>
      <p:sp>
        <p:nvSpPr>
          <p:cNvPr id="684054" name="Rectangle 22"/>
          <p:cNvSpPr>
            <a:spLocks noChangeArrowheads="1"/>
          </p:cNvSpPr>
          <p:nvPr/>
        </p:nvSpPr>
        <p:spPr bwMode="auto">
          <a:xfrm>
            <a:off x="6369050" y="4095751"/>
            <a:ext cx="551433"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disp</a:t>
            </a:r>
          </a:p>
        </p:txBody>
      </p:sp>
      <p:sp>
        <p:nvSpPr>
          <p:cNvPr id="684055" name="Line 23"/>
          <p:cNvSpPr>
            <a:spLocks noChangeShapeType="1"/>
          </p:cNvSpPr>
          <p:nvPr/>
        </p:nvSpPr>
        <p:spPr bwMode="auto">
          <a:xfrm>
            <a:off x="6089650" y="4070350"/>
            <a:ext cx="0" cy="2794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56" name="Rectangle 24"/>
          <p:cNvSpPr>
            <a:spLocks noChangeArrowheads="1"/>
          </p:cNvSpPr>
          <p:nvPr/>
        </p:nvSpPr>
        <p:spPr bwMode="auto">
          <a:xfrm>
            <a:off x="5048250" y="381635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20</a:t>
            </a:r>
          </a:p>
        </p:txBody>
      </p:sp>
      <p:sp>
        <p:nvSpPr>
          <p:cNvPr id="684057" name="Rectangle 25"/>
          <p:cNvSpPr>
            <a:spLocks noChangeArrowheads="1"/>
          </p:cNvSpPr>
          <p:nvPr/>
        </p:nvSpPr>
        <p:spPr bwMode="auto">
          <a:xfrm>
            <a:off x="6445250" y="379095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12</a:t>
            </a:r>
          </a:p>
        </p:txBody>
      </p:sp>
      <p:sp>
        <p:nvSpPr>
          <p:cNvPr id="684058" name="Line 26"/>
          <p:cNvSpPr>
            <a:spLocks noChangeShapeType="1"/>
          </p:cNvSpPr>
          <p:nvPr/>
        </p:nvSpPr>
        <p:spPr bwMode="auto">
          <a:xfrm flipH="1">
            <a:off x="4502150" y="3905250"/>
            <a:ext cx="5461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59" name="Line 27"/>
          <p:cNvSpPr>
            <a:spLocks noChangeShapeType="1"/>
          </p:cNvSpPr>
          <p:nvPr/>
        </p:nvSpPr>
        <p:spPr bwMode="auto">
          <a:xfrm flipV="1">
            <a:off x="4514850" y="1835150"/>
            <a:ext cx="0" cy="2082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60" name="Line 28"/>
          <p:cNvSpPr>
            <a:spLocks noChangeShapeType="1"/>
          </p:cNvSpPr>
          <p:nvPr/>
        </p:nvSpPr>
        <p:spPr bwMode="auto">
          <a:xfrm flipH="1">
            <a:off x="4083050" y="1847850"/>
            <a:ext cx="4445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61" name="Rectangle 29"/>
          <p:cNvSpPr>
            <a:spLocks noChangeArrowheads="1"/>
          </p:cNvSpPr>
          <p:nvPr/>
        </p:nvSpPr>
        <p:spPr bwMode="auto">
          <a:xfrm>
            <a:off x="4552950" y="1619251"/>
            <a:ext cx="807913" cy="522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assoc</a:t>
            </a:r>
          </a:p>
          <a:p>
            <a:pPr algn="l">
              <a:lnSpc>
                <a:spcPct val="85000"/>
              </a:lnSpc>
            </a:pPr>
            <a:r>
              <a:rPr lang="en-US" altLang="zh-CN">
                <a:latin typeface="Arial" panose="020B0604020202020204" pitchFamily="34" charset="0"/>
              </a:rPr>
              <a:t>lookup</a:t>
            </a:r>
          </a:p>
        </p:txBody>
      </p:sp>
      <p:sp>
        <p:nvSpPr>
          <p:cNvPr id="684062" name="Rectangle 30"/>
          <p:cNvSpPr>
            <a:spLocks noChangeArrowheads="1"/>
          </p:cNvSpPr>
          <p:nvPr/>
        </p:nvSpPr>
        <p:spPr bwMode="auto">
          <a:xfrm>
            <a:off x="1974850" y="174625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32</a:t>
            </a:r>
          </a:p>
        </p:txBody>
      </p:sp>
      <p:sp>
        <p:nvSpPr>
          <p:cNvPr id="684063" name="Line 31"/>
          <p:cNvSpPr>
            <a:spLocks noChangeShapeType="1"/>
          </p:cNvSpPr>
          <p:nvPr/>
        </p:nvSpPr>
        <p:spPr bwMode="auto">
          <a:xfrm flipV="1">
            <a:off x="2190750" y="1060450"/>
            <a:ext cx="0" cy="660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64" name="Line 32"/>
          <p:cNvSpPr>
            <a:spLocks noChangeShapeType="1"/>
          </p:cNvSpPr>
          <p:nvPr/>
        </p:nvSpPr>
        <p:spPr bwMode="auto">
          <a:xfrm>
            <a:off x="2190750" y="2000250"/>
            <a:ext cx="0" cy="7239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65" name="Line 33"/>
          <p:cNvSpPr>
            <a:spLocks noChangeShapeType="1"/>
          </p:cNvSpPr>
          <p:nvPr/>
        </p:nvSpPr>
        <p:spPr bwMode="auto">
          <a:xfrm>
            <a:off x="2724150" y="2698750"/>
            <a:ext cx="0" cy="1600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66" name="Line 34"/>
          <p:cNvSpPr>
            <a:spLocks noChangeShapeType="1"/>
          </p:cNvSpPr>
          <p:nvPr/>
        </p:nvSpPr>
        <p:spPr bwMode="auto">
          <a:xfrm>
            <a:off x="3790950" y="2698750"/>
            <a:ext cx="0" cy="15621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67" name="Rectangle 35"/>
          <p:cNvSpPr>
            <a:spLocks noChangeArrowheads="1"/>
          </p:cNvSpPr>
          <p:nvPr/>
        </p:nvSpPr>
        <p:spPr bwMode="auto">
          <a:xfrm>
            <a:off x="2190750" y="3714751"/>
            <a:ext cx="418897"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PA</a:t>
            </a:r>
          </a:p>
        </p:txBody>
      </p:sp>
      <p:sp>
        <p:nvSpPr>
          <p:cNvPr id="684068" name="Rectangle 36"/>
          <p:cNvSpPr>
            <a:spLocks noChangeArrowheads="1"/>
          </p:cNvSpPr>
          <p:nvPr/>
        </p:nvSpPr>
        <p:spPr bwMode="auto">
          <a:xfrm>
            <a:off x="3194050" y="3625851"/>
            <a:ext cx="602729" cy="522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Hit/</a:t>
            </a:r>
          </a:p>
          <a:p>
            <a:pPr algn="l">
              <a:lnSpc>
                <a:spcPct val="85000"/>
              </a:lnSpc>
            </a:pPr>
            <a:r>
              <a:rPr lang="en-US" altLang="zh-CN">
                <a:latin typeface="Arial" panose="020B0604020202020204" pitchFamily="34" charset="0"/>
              </a:rPr>
              <a:t>Miss</a:t>
            </a:r>
          </a:p>
        </p:txBody>
      </p:sp>
      <p:sp>
        <p:nvSpPr>
          <p:cNvPr id="684069" name="Line 37"/>
          <p:cNvSpPr>
            <a:spLocks noChangeShapeType="1"/>
          </p:cNvSpPr>
          <p:nvPr/>
        </p:nvSpPr>
        <p:spPr bwMode="auto">
          <a:xfrm>
            <a:off x="7956550" y="2749550"/>
            <a:ext cx="0" cy="14859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70" name="Line 38"/>
          <p:cNvSpPr>
            <a:spLocks noChangeShapeType="1"/>
          </p:cNvSpPr>
          <p:nvPr/>
        </p:nvSpPr>
        <p:spPr bwMode="auto">
          <a:xfrm>
            <a:off x="8718550" y="2749550"/>
            <a:ext cx="0" cy="15113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71" name="Line 39"/>
          <p:cNvSpPr>
            <a:spLocks noChangeShapeType="1"/>
          </p:cNvSpPr>
          <p:nvPr/>
        </p:nvSpPr>
        <p:spPr bwMode="auto">
          <a:xfrm>
            <a:off x="9455150" y="2749550"/>
            <a:ext cx="0" cy="1473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72" name="Rectangle 40"/>
          <p:cNvSpPr>
            <a:spLocks noChangeArrowheads="1"/>
          </p:cNvSpPr>
          <p:nvPr/>
        </p:nvSpPr>
        <p:spPr bwMode="auto">
          <a:xfrm>
            <a:off x="7499350" y="3740151"/>
            <a:ext cx="418897"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PA</a:t>
            </a:r>
          </a:p>
        </p:txBody>
      </p:sp>
      <p:sp>
        <p:nvSpPr>
          <p:cNvPr id="684073" name="Rectangle 41"/>
          <p:cNvSpPr>
            <a:spLocks noChangeArrowheads="1"/>
          </p:cNvSpPr>
          <p:nvPr/>
        </p:nvSpPr>
        <p:spPr bwMode="auto">
          <a:xfrm>
            <a:off x="8108950" y="3727451"/>
            <a:ext cx="6223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Data</a:t>
            </a:r>
          </a:p>
        </p:txBody>
      </p:sp>
      <p:sp>
        <p:nvSpPr>
          <p:cNvPr id="684074" name="Rectangle 42"/>
          <p:cNvSpPr>
            <a:spLocks noChangeArrowheads="1"/>
          </p:cNvSpPr>
          <p:nvPr/>
        </p:nvSpPr>
        <p:spPr bwMode="auto">
          <a:xfrm>
            <a:off x="9531350" y="3740151"/>
            <a:ext cx="602729" cy="522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Hit/</a:t>
            </a:r>
          </a:p>
          <a:p>
            <a:pPr algn="l">
              <a:lnSpc>
                <a:spcPct val="85000"/>
              </a:lnSpc>
            </a:pPr>
            <a:r>
              <a:rPr lang="en-US" altLang="zh-CN">
                <a:latin typeface="Arial" panose="020B0604020202020204" pitchFamily="34" charset="0"/>
              </a:rPr>
              <a:t>Miss</a:t>
            </a:r>
          </a:p>
        </p:txBody>
      </p:sp>
      <p:sp>
        <p:nvSpPr>
          <p:cNvPr id="684075" name="Oval 43"/>
          <p:cNvSpPr>
            <a:spLocks noChangeArrowheads="1"/>
          </p:cNvSpPr>
          <p:nvPr/>
        </p:nvSpPr>
        <p:spPr bwMode="auto">
          <a:xfrm>
            <a:off x="6991350" y="4794250"/>
            <a:ext cx="342900" cy="30480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r>
              <a:rPr lang="zh-CN" altLang="en-US">
                <a:latin typeface="Arial" panose="020B0604020202020204" pitchFamily="34" charset="0"/>
              </a:rPr>
              <a:t>=</a:t>
            </a:r>
          </a:p>
        </p:txBody>
      </p:sp>
      <p:sp>
        <p:nvSpPr>
          <p:cNvPr id="684076" name="Line 44"/>
          <p:cNvSpPr>
            <a:spLocks noChangeShapeType="1"/>
          </p:cNvSpPr>
          <p:nvPr/>
        </p:nvSpPr>
        <p:spPr bwMode="auto">
          <a:xfrm flipH="1">
            <a:off x="7334250" y="4248150"/>
            <a:ext cx="635000" cy="5588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77" name="Line 45"/>
          <p:cNvSpPr>
            <a:spLocks noChangeShapeType="1"/>
          </p:cNvSpPr>
          <p:nvPr/>
        </p:nvSpPr>
        <p:spPr bwMode="auto">
          <a:xfrm>
            <a:off x="4552950" y="4451350"/>
            <a:ext cx="0" cy="381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78" name="Line 46"/>
          <p:cNvSpPr>
            <a:spLocks noChangeShapeType="1"/>
          </p:cNvSpPr>
          <p:nvPr/>
        </p:nvSpPr>
        <p:spPr bwMode="auto">
          <a:xfrm>
            <a:off x="4565650" y="4502150"/>
            <a:ext cx="23622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79" name="Line 47"/>
          <p:cNvSpPr>
            <a:spLocks noChangeShapeType="1"/>
          </p:cNvSpPr>
          <p:nvPr/>
        </p:nvSpPr>
        <p:spPr bwMode="auto">
          <a:xfrm flipV="1">
            <a:off x="6927850" y="4413250"/>
            <a:ext cx="0" cy="1016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80" name="Line 48"/>
          <p:cNvSpPr>
            <a:spLocks noChangeShapeType="1"/>
          </p:cNvSpPr>
          <p:nvPr/>
        </p:nvSpPr>
        <p:spPr bwMode="auto">
          <a:xfrm>
            <a:off x="2762250" y="4298950"/>
            <a:ext cx="4229100" cy="533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81" name="Line 49"/>
          <p:cNvSpPr>
            <a:spLocks noChangeShapeType="1"/>
          </p:cNvSpPr>
          <p:nvPr/>
        </p:nvSpPr>
        <p:spPr bwMode="auto">
          <a:xfrm>
            <a:off x="7169150" y="5124450"/>
            <a:ext cx="0" cy="2413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4082" name="Rectangle 50"/>
          <p:cNvSpPr>
            <a:spLocks noChangeArrowheads="1"/>
          </p:cNvSpPr>
          <p:nvPr/>
        </p:nvSpPr>
        <p:spPr bwMode="auto">
          <a:xfrm>
            <a:off x="2305051" y="5403850"/>
            <a:ext cx="7141955" cy="10977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sz="2000"/>
              <a:t>IF cache hit AND (cache tag = PA) then deliver data to CPU</a:t>
            </a:r>
          </a:p>
          <a:p>
            <a:pPr algn="l">
              <a:lnSpc>
                <a:spcPct val="85000"/>
              </a:lnSpc>
            </a:pPr>
            <a:r>
              <a:rPr lang="en-US" altLang="zh-CN" sz="2000"/>
              <a:t>ELSE IF [cache miss OR (cache tag = PA)] and TLB hit THEN</a:t>
            </a:r>
          </a:p>
          <a:p>
            <a:pPr algn="l">
              <a:lnSpc>
                <a:spcPct val="85000"/>
              </a:lnSpc>
            </a:pPr>
            <a:r>
              <a:rPr lang="en-US" altLang="zh-CN" sz="2000"/>
              <a:t>               access memory with the PA from the TLB</a:t>
            </a:r>
          </a:p>
          <a:p>
            <a:pPr algn="l">
              <a:lnSpc>
                <a:spcPct val="85000"/>
              </a:lnSpc>
            </a:pPr>
            <a:r>
              <a:rPr lang="en-US" altLang="zh-CN" sz="2000"/>
              <a:t>ELSE do standard VA translation</a:t>
            </a:r>
          </a:p>
        </p:txBody>
      </p:sp>
    </p:spTree>
    <p:extLst>
      <p:ext uri="{BB962C8B-B14F-4D97-AF65-F5344CB8AC3E}">
        <p14:creationId xmlns:p14="http://schemas.microsoft.com/office/powerpoint/2010/main" val="2305947622"/>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ltLang="zh-CN" smtClean="0"/>
              <a:t>Problems With Overlapped TLB Access</a:t>
            </a:r>
            <a:endParaRPr lang="en-US" altLang="zh-CN" dirty="0"/>
          </a:p>
        </p:txBody>
      </p:sp>
      <p:sp>
        <p:nvSpPr>
          <p:cNvPr id="3" name="内容占位符 2"/>
          <p:cNvSpPr>
            <a:spLocks noGrp="1"/>
          </p:cNvSpPr>
          <p:nvPr>
            <p:ph idx="1"/>
          </p:nvPr>
        </p:nvSpPr>
        <p:spPr>
          <a:xfrm>
            <a:off x="407368" y="1556792"/>
            <a:ext cx="10946432" cy="5112568"/>
          </a:xfrm>
        </p:spPr>
        <p:txBody>
          <a:bodyPr/>
          <a:lstStyle/>
          <a:p>
            <a:pPr>
              <a:lnSpc>
                <a:spcPct val="85000"/>
              </a:lnSpc>
            </a:pPr>
            <a:r>
              <a:rPr lang="en-US" altLang="zh-CN" sz="2400" dirty="0"/>
              <a:t>Overlapped access only works as long as the address bits used to index into the cache </a:t>
            </a:r>
            <a:r>
              <a:rPr lang="en-US" altLang="zh-CN" sz="2400" i="1" dirty="0">
                <a:solidFill>
                  <a:srgbClr val="FF0000"/>
                </a:solidFill>
              </a:rPr>
              <a:t>do not change</a:t>
            </a:r>
            <a:r>
              <a:rPr lang="en-US" altLang="zh-CN" sz="2400" dirty="0">
                <a:solidFill>
                  <a:srgbClr val="FF0000"/>
                </a:solidFill>
              </a:rPr>
              <a:t>  </a:t>
            </a:r>
            <a:r>
              <a:rPr lang="en-US" altLang="zh-CN" sz="2400" dirty="0"/>
              <a:t>as the result of VA translation, which usually limits things to small caches, large page sizes, or high n-way set associative caches if you want a large cache</a:t>
            </a:r>
          </a:p>
          <a:p>
            <a:pPr>
              <a:lnSpc>
                <a:spcPct val="85000"/>
              </a:lnSpc>
            </a:pPr>
            <a:r>
              <a:rPr lang="en-US" altLang="zh-CN" sz="2400" dirty="0" smtClean="0"/>
              <a:t>Example</a:t>
            </a:r>
            <a:r>
              <a:rPr lang="en-US" altLang="zh-CN" sz="2400" dirty="0"/>
              <a:t>:  suppose everything </a:t>
            </a:r>
            <a:r>
              <a:rPr lang="en-US" altLang="zh-CN" sz="2400" dirty="0" smtClean="0"/>
              <a:t/>
            </a:r>
            <a:br>
              <a:rPr lang="en-US" altLang="zh-CN" sz="2400" dirty="0" smtClean="0"/>
            </a:br>
            <a:r>
              <a:rPr lang="en-US" altLang="zh-CN" sz="2400" dirty="0" smtClean="0"/>
              <a:t>the </a:t>
            </a:r>
            <a:r>
              <a:rPr lang="en-US" altLang="zh-CN" sz="2400" dirty="0"/>
              <a:t>same except that the cache </a:t>
            </a:r>
            <a:r>
              <a:rPr lang="en-US" altLang="zh-CN" sz="2400" dirty="0" smtClean="0"/>
              <a:t/>
            </a:r>
            <a:br>
              <a:rPr lang="en-US" altLang="zh-CN" sz="2400" dirty="0" smtClean="0"/>
            </a:br>
            <a:r>
              <a:rPr lang="en-US" altLang="zh-CN" sz="2400" dirty="0" smtClean="0"/>
              <a:t>is </a:t>
            </a:r>
            <a:r>
              <a:rPr lang="en-US" altLang="zh-CN" sz="2400" dirty="0"/>
              <a:t>increased to 8 K bytes </a:t>
            </a:r>
            <a:r>
              <a:rPr lang="en-US" altLang="zh-CN" sz="2400" dirty="0" smtClean="0"/>
              <a:t/>
            </a:r>
            <a:br>
              <a:rPr lang="en-US" altLang="zh-CN" sz="2400" dirty="0" smtClean="0"/>
            </a:br>
            <a:r>
              <a:rPr lang="en-US" altLang="zh-CN" sz="2400" dirty="0" smtClean="0"/>
              <a:t>instead </a:t>
            </a:r>
            <a:r>
              <a:rPr lang="en-US" altLang="zh-CN" sz="2400" dirty="0"/>
              <a:t>of 4 K:</a:t>
            </a:r>
          </a:p>
          <a:p>
            <a:endParaRPr lang="en-US" altLang="zh-CN" sz="2400" dirty="0" smtClean="0"/>
          </a:p>
          <a:p>
            <a:endParaRPr lang="en-US" altLang="zh-CN" sz="2400" dirty="0"/>
          </a:p>
          <a:p>
            <a:r>
              <a:rPr lang="en-US" altLang="zh-CN" sz="2400" dirty="0" smtClean="0">
                <a:solidFill>
                  <a:srgbClr val="FF0000"/>
                </a:solidFill>
              </a:rPr>
              <a:t>Page coloring</a:t>
            </a:r>
            <a:endParaRPr lang="zh-CN" altLang="en-US" sz="2400" dirty="0">
              <a:solidFill>
                <a:srgbClr val="FF0000"/>
              </a:solidFill>
            </a:endParaRPr>
          </a:p>
        </p:txBody>
      </p:sp>
      <p:sp>
        <p:nvSpPr>
          <p:cNvPr id="685060" name="Rectangle 4"/>
          <p:cNvSpPr>
            <a:spLocks noChangeArrowheads="1"/>
          </p:cNvSpPr>
          <p:nvPr/>
        </p:nvSpPr>
        <p:spPr bwMode="auto">
          <a:xfrm>
            <a:off x="5546452" y="3009900"/>
            <a:ext cx="2590800" cy="3175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61" name="Rectangle 5"/>
          <p:cNvSpPr>
            <a:spLocks noChangeArrowheads="1"/>
          </p:cNvSpPr>
          <p:nvPr/>
        </p:nvSpPr>
        <p:spPr bwMode="auto">
          <a:xfrm>
            <a:off x="5482952" y="4064000"/>
            <a:ext cx="2628900" cy="304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62" name="Line 6"/>
          <p:cNvSpPr>
            <a:spLocks noChangeShapeType="1"/>
          </p:cNvSpPr>
          <p:nvPr/>
        </p:nvSpPr>
        <p:spPr bwMode="auto">
          <a:xfrm>
            <a:off x="7819752" y="3009900"/>
            <a:ext cx="0" cy="317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63" name="Line 7"/>
          <p:cNvSpPr>
            <a:spLocks noChangeShapeType="1"/>
          </p:cNvSpPr>
          <p:nvPr/>
        </p:nvSpPr>
        <p:spPr bwMode="auto">
          <a:xfrm>
            <a:off x="7019652" y="3009900"/>
            <a:ext cx="0" cy="317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64" name="Rectangle 8"/>
          <p:cNvSpPr>
            <a:spLocks noChangeArrowheads="1"/>
          </p:cNvSpPr>
          <p:nvPr/>
        </p:nvSpPr>
        <p:spPr bwMode="auto">
          <a:xfrm>
            <a:off x="7184752" y="273050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11</a:t>
            </a:r>
          </a:p>
        </p:txBody>
      </p:sp>
      <p:sp>
        <p:nvSpPr>
          <p:cNvPr id="685065" name="Rectangle 9"/>
          <p:cNvSpPr>
            <a:spLocks noChangeArrowheads="1"/>
          </p:cNvSpPr>
          <p:nvPr/>
        </p:nvSpPr>
        <p:spPr bwMode="auto">
          <a:xfrm>
            <a:off x="7870552" y="273050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2</a:t>
            </a:r>
          </a:p>
        </p:txBody>
      </p:sp>
      <p:sp>
        <p:nvSpPr>
          <p:cNvPr id="685066" name="Rectangle 10"/>
          <p:cNvSpPr>
            <a:spLocks noChangeArrowheads="1"/>
          </p:cNvSpPr>
          <p:nvPr/>
        </p:nvSpPr>
        <p:spPr bwMode="auto">
          <a:xfrm>
            <a:off x="7794352" y="308610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00</a:t>
            </a:r>
          </a:p>
        </p:txBody>
      </p:sp>
      <p:sp>
        <p:nvSpPr>
          <p:cNvPr id="685067" name="Rectangle 11"/>
          <p:cNvSpPr>
            <a:spLocks noChangeArrowheads="1"/>
          </p:cNvSpPr>
          <p:nvPr/>
        </p:nvSpPr>
        <p:spPr bwMode="auto">
          <a:xfrm>
            <a:off x="5508352" y="4089401"/>
            <a:ext cx="1205458"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virt page #</a:t>
            </a:r>
          </a:p>
        </p:txBody>
      </p:sp>
      <p:sp>
        <p:nvSpPr>
          <p:cNvPr id="685068" name="Rectangle 12"/>
          <p:cNvSpPr>
            <a:spLocks noChangeArrowheads="1"/>
          </p:cNvSpPr>
          <p:nvPr/>
        </p:nvSpPr>
        <p:spPr bwMode="auto">
          <a:xfrm>
            <a:off x="7286352" y="4089401"/>
            <a:ext cx="551433" cy="2867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a:latin typeface="Arial" panose="020B0604020202020204" pitchFamily="34" charset="0"/>
              </a:rPr>
              <a:t>disp</a:t>
            </a:r>
          </a:p>
        </p:txBody>
      </p:sp>
      <p:sp>
        <p:nvSpPr>
          <p:cNvPr id="685069" name="Line 13"/>
          <p:cNvSpPr>
            <a:spLocks noChangeShapeType="1"/>
          </p:cNvSpPr>
          <p:nvPr/>
        </p:nvSpPr>
        <p:spPr bwMode="auto">
          <a:xfrm>
            <a:off x="7019652" y="4064000"/>
            <a:ext cx="0" cy="2921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0" name="Rectangle 14"/>
          <p:cNvSpPr>
            <a:spLocks noChangeArrowheads="1"/>
          </p:cNvSpPr>
          <p:nvPr/>
        </p:nvSpPr>
        <p:spPr bwMode="auto">
          <a:xfrm>
            <a:off x="5965552" y="381000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20</a:t>
            </a:r>
          </a:p>
        </p:txBody>
      </p:sp>
      <p:sp>
        <p:nvSpPr>
          <p:cNvPr id="685071" name="Rectangle 15"/>
          <p:cNvSpPr>
            <a:spLocks noChangeArrowheads="1"/>
          </p:cNvSpPr>
          <p:nvPr/>
        </p:nvSpPr>
        <p:spPr bwMode="auto">
          <a:xfrm>
            <a:off x="7362552" y="377190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12</a:t>
            </a:r>
          </a:p>
        </p:txBody>
      </p:sp>
      <p:sp>
        <p:nvSpPr>
          <p:cNvPr id="685072" name="Rectangle 16" descr="50%"/>
          <p:cNvSpPr>
            <a:spLocks noChangeArrowheads="1"/>
          </p:cNvSpPr>
          <p:nvPr/>
        </p:nvSpPr>
        <p:spPr bwMode="auto">
          <a:xfrm>
            <a:off x="6943452" y="3009900"/>
            <a:ext cx="63500" cy="330200"/>
          </a:xfrm>
          <a:prstGeom prst="rect">
            <a:avLst/>
          </a:prstGeom>
          <a:pattFill prst="pct50">
            <a:fgClr>
              <a:schemeClr val="accent1"/>
            </a:fgClr>
            <a:bgClr>
              <a:schemeClr val="bg1"/>
            </a:bgClr>
          </a:patt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3" name="Line 17"/>
          <p:cNvSpPr>
            <a:spLocks noChangeShapeType="1"/>
          </p:cNvSpPr>
          <p:nvPr/>
        </p:nvSpPr>
        <p:spPr bwMode="auto">
          <a:xfrm>
            <a:off x="7553052" y="2832100"/>
            <a:ext cx="2667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4" name="Line 18"/>
          <p:cNvSpPr>
            <a:spLocks noChangeShapeType="1"/>
          </p:cNvSpPr>
          <p:nvPr/>
        </p:nvSpPr>
        <p:spPr bwMode="auto">
          <a:xfrm flipH="1">
            <a:off x="6918052" y="2844800"/>
            <a:ext cx="2921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5" name="Rectangle 19"/>
          <p:cNvSpPr>
            <a:spLocks noChangeArrowheads="1"/>
          </p:cNvSpPr>
          <p:nvPr/>
        </p:nvSpPr>
        <p:spPr bwMode="auto">
          <a:xfrm>
            <a:off x="7067278" y="2959101"/>
            <a:ext cx="677863" cy="434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a:t>cache </a:t>
            </a:r>
          </a:p>
          <a:p>
            <a:pPr>
              <a:lnSpc>
                <a:spcPct val="90000"/>
              </a:lnSpc>
            </a:pPr>
            <a:r>
              <a:rPr lang="en-US" altLang="zh-CN" sz="1400"/>
              <a:t>index</a:t>
            </a:r>
          </a:p>
        </p:txBody>
      </p:sp>
      <p:sp>
        <p:nvSpPr>
          <p:cNvPr id="685076" name="Line 20"/>
          <p:cNvSpPr>
            <a:spLocks noChangeShapeType="1"/>
          </p:cNvSpPr>
          <p:nvPr/>
        </p:nvSpPr>
        <p:spPr bwMode="auto">
          <a:xfrm flipV="1">
            <a:off x="6981552" y="3340100"/>
            <a:ext cx="0" cy="3429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7" name="Line 21"/>
          <p:cNvSpPr>
            <a:spLocks noChangeShapeType="1"/>
          </p:cNvSpPr>
          <p:nvPr/>
        </p:nvSpPr>
        <p:spPr bwMode="auto">
          <a:xfrm>
            <a:off x="6994252" y="3670300"/>
            <a:ext cx="17145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8" name="Line 22"/>
          <p:cNvSpPr>
            <a:spLocks noChangeShapeType="1"/>
          </p:cNvSpPr>
          <p:nvPr/>
        </p:nvSpPr>
        <p:spPr bwMode="auto">
          <a:xfrm>
            <a:off x="7019652" y="3365500"/>
            <a:ext cx="0" cy="673100"/>
          </a:xfrm>
          <a:prstGeom prst="line">
            <a:avLst/>
          </a:prstGeom>
          <a:noFill/>
          <a:ln w="25400">
            <a:pattFill prst="narHorz">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79" name="Rectangle 23"/>
          <p:cNvSpPr>
            <a:spLocks noChangeArrowheads="1"/>
          </p:cNvSpPr>
          <p:nvPr/>
        </p:nvSpPr>
        <p:spPr bwMode="auto">
          <a:xfrm>
            <a:off x="8772252" y="3403600"/>
            <a:ext cx="2529988" cy="10977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sz="2000" dirty="0">
                <a:latin typeface="Arial" panose="020B0604020202020204" pitchFamily="34" charset="0"/>
              </a:rPr>
              <a:t>This bit is changed</a:t>
            </a:r>
          </a:p>
          <a:p>
            <a:pPr algn="l">
              <a:lnSpc>
                <a:spcPct val="85000"/>
              </a:lnSpc>
            </a:pPr>
            <a:r>
              <a:rPr lang="en-US" altLang="zh-CN" sz="2000" dirty="0">
                <a:latin typeface="Arial" panose="020B0604020202020204" pitchFamily="34" charset="0"/>
              </a:rPr>
              <a:t>by VA translation, but</a:t>
            </a:r>
          </a:p>
          <a:p>
            <a:pPr algn="l">
              <a:lnSpc>
                <a:spcPct val="85000"/>
              </a:lnSpc>
            </a:pPr>
            <a:r>
              <a:rPr lang="en-US" altLang="zh-CN" sz="2000" dirty="0">
                <a:latin typeface="Arial" panose="020B0604020202020204" pitchFamily="34" charset="0"/>
              </a:rPr>
              <a:t>is needed for cache</a:t>
            </a:r>
          </a:p>
          <a:p>
            <a:pPr algn="l">
              <a:lnSpc>
                <a:spcPct val="85000"/>
              </a:lnSpc>
            </a:pPr>
            <a:r>
              <a:rPr lang="en-US" altLang="zh-CN" sz="2000" dirty="0">
                <a:latin typeface="Arial" panose="020B0604020202020204" pitchFamily="34" charset="0"/>
              </a:rPr>
              <a:t>lookup</a:t>
            </a:r>
          </a:p>
        </p:txBody>
      </p:sp>
      <p:sp>
        <p:nvSpPr>
          <p:cNvPr id="685080" name="Rectangle 24"/>
          <p:cNvSpPr>
            <a:spLocks noChangeArrowheads="1"/>
          </p:cNvSpPr>
          <p:nvPr/>
        </p:nvSpPr>
        <p:spPr bwMode="auto">
          <a:xfrm>
            <a:off x="4301852" y="4521200"/>
            <a:ext cx="4736874" cy="10977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en-US" altLang="zh-CN" sz="2000" dirty="0">
                <a:latin typeface="Arial" panose="020B0604020202020204" pitchFamily="34" charset="0"/>
              </a:rPr>
              <a:t>Solutions:</a:t>
            </a:r>
          </a:p>
          <a:p>
            <a:pPr algn="l">
              <a:lnSpc>
                <a:spcPct val="85000"/>
              </a:lnSpc>
            </a:pPr>
            <a:r>
              <a:rPr lang="en-US" altLang="zh-CN" sz="2000" dirty="0">
                <a:latin typeface="Arial" panose="020B0604020202020204" pitchFamily="34" charset="0"/>
              </a:rPr>
              <a:t>      go to 8K byte page sizes;</a:t>
            </a:r>
          </a:p>
          <a:p>
            <a:pPr algn="l">
              <a:lnSpc>
                <a:spcPct val="85000"/>
              </a:lnSpc>
            </a:pPr>
            <a:r>
              <a:rPr lang="en-US" altLang="zh-CN" sz="2000" dirty="0">
                <a:latin typeface="Arial" panose="020B0604020202020204" pitchFamily="34" charset="0"/>
              </a:rPr>
              <a:t>      go to 2 way set associative cache; or</a:t>
            </a:r>
          </a:p>
          <a:p>
            <a:pPr algn="l">
              <a:lnSpc>
                <a:spcPct val="85000"/>
              </a:lnSpc>
            </a:pPr>
            <a:r>
              <a:rPr lang="en-US" altLang="zh-CN" sz="2000" dirty="0">
                <a:solidFill>
                  <a:srgbClr val="FF0000"/>
                </a:solidFill>
                <a:latin typeface="Arial" panose="020B0604020202020204" pitchFamily="34" charset="0"/>
              </a:rPr>
              <a:t>      SW guarantee VA[13]=PA[13]</a:t>
            </a:r>
          </a:p>
        </p:txBody>
      </p:sp>
      <p:sp>
        <p:nvSpPr>
          <p:cNvPr id="685081" name="Rectangle 25"/>
          <p:cNvSpPr>
            <a:spLocks noChangeArrowheads="1"/>
          </p:cNvSpPr>
          <p:nvPr/>
        </p:nvSpPr>
        <p:spPr bwMode="auto">
          <a:xfrm>
            <a:off x="6168752" y="5651500"/>
            <a:ext cx="1130300" cy="889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2" name="Rectangle 26"/>
          <p:cNvSpPr>
            <a:spLocks noChangeArrowheads="1"/>
          </p:cNvSpPr>
          <p:nvPr/>
        </p:nvSpPr>
        <p:spPr bwMode="auto">
          <a:xfrm>
            <a:off x="7553052" y="5651500"/>
            <a:ext cx="1168400" cy="889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3" name="Line 27"/>
          <p:cNvSpPr>
            <a:spLocks noChangeShapeType="1"/>
          </p:cNvSpPr>
          <p:nvPr/>
        </p:nvSpPr>
        <p:spPr bwMode="auto">
          <a:xfrm>
            <a:off x="6168752" y="5969000"/>
            <a:ext cx="11303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4" name="Line 28"/>
          <p:cNvSpPr>
            <a:spLocks noChangeShapeType="1"/>
          </p:cNvSpPr>
          <p:nvPr/>
        </p:nvSpPr>
        <p:spPr bwMode="auto">
          <a:xfrm>
            <a:off x="6168752" y="6134100"/>
            <a:ext cx="11303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5" name="Line 29"/>
          <p:cNvSpPr>
            <a:spLocks noChangeShapeType="1"/>
          </p:cNvSpPr>
          <p:nvPr/>
        </p:nvSpPr>
        <p:spPr bwMode="auto">
          <a:xfrm>
            <a:off x="7553052" y="5969000"/>
            <a:ext cx="11684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6" name="Line 30"/>
          <p:cNvSpPr>
            <a:spLocks noChangeShapeType="1"/>
          </p:cNvSpPr>
          <p:nvPr/>
        </p:nvSpPr>
        <p:spPr bwMode="auto">
          <a:xfrm>
            <a:off x="7578452" y="6134100"/>
            <a:ext cx="1143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7" name="Rectangle 31"/>
          <p:cNvSpPr>
            <a:spLocks noChangeArrowheads="1"/>
          </p:cNvSpPr>
          <p:nvPr/>
        </p:nvSpPr>
        <p:spPr bwMode="auto">
          <a:xfrm>
            <a:off x="8835752" y="5918201"/>
            <a:ext cx="4191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a:t>
            </a:r>
            <a:r>
              <a:rPr lang="en-US" altLang="zh-CN">
                <a:latin typeface="Arial" panose="020B0604020202020204" pitchFamily="34" charset="0"/>
              </a:rPr>
              <a:t>K</a:t>
            </a:r>
          </a:p>
        </p:txBody>
      </p:sp>
      <p:sp>
        <p:nvSpPr>
          <p:cNvPr id="685088" name="Line 32"/>
          <p:cNvSpPr>
            <a:spLocks noChangeShapeType="1"/>
          </p:cNvSpPr>
          <p:nvPr/>
        </p:nvSpPr>
        <p:spPr bwMode="auto">
          <a:xfrm flipV="1">
            <a:off x="9013552" y="5613400"/>
            <a:ext cx="0" cy="3048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89" name="Line 33"/>
          <p:cNvSpPr>
            <a:spLocks noChangeShapeType="1"/>
          </p:cNvSpPr>
          <p:nvPr/>
        </p:nvSpPr>
        <p:spPr bwMode="auto">
          <a:xfrm>
            <a:off x="9013552" y="6172200"/>
            <a:ext cx="0" cy="3937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90" name="Rectangle 34"/>
          <p:cNvSpPr>
            <a:spLocks noChangeArrowheads="1"/>
          </p:cNvSpPr>
          <p:nvPr/>
        </p:nvSpPr>
        <p:spPr bwMode="auto">
          <a:xfrm>
            <a:off x="6651352" y="631190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4</a:t>
            </a:r>
          </a:p>
        </p:txBody>
      </p:sp>
      <p:sp>
        <p:nvSpPr>
          <p:cNvPr id="685091" name="Rectangle 35"/>
          <p:cNvSpPr>
            <a:spLocks noChangeArrowheads="1"/>
          </p:cNvSpPr>
          <p:nvPr/>
        </p:nvSpPr>
        <p:spPr bwMode="auto">
          <a:xfrm>
            <a:off x="8035652" y="6311901"/>
            <a:ext cx="254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4</a:t>
            </a:r>
          </a:p>
        </p:txBody>
      </p:sp>
      <p:sp>
        <p:nvSpPr>
          <p:cNvPr id="685092" name="Line 36"/>
          <p:cNvSpPr>
            <a:spLocks noChangeShapeType="1"/>
          </p:cNvSpPr>
          <p:nvPr/>
        </p:nvSpPr>
        <p:spPr bwMode="auto">
          <a:xfrm flipV="1">
            <a:off x="5673452" y="6032500"/>
            <a:ext cx="0" cy="6477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93" name="Line 37"/>
          <p:cNvSpPr>
            <a:spLocks noChangeShapeType="1"/>
          </p:cNvSpPr>
          <p:nvPr/>
        </p:nvSpPr>
        <p:spPr bwMode="auto">
          <a:xfrm>
            <a:off x="5686152" y="6045200"/>
            <a:ext cx="457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94" name="Line 38"/>
          <p:cNvSpPr>
            <a:spLocks noChangeShapeType="1"/>
          </p:cNvSpPr>
          <p:nvPr/>
        </p:nvSpPr>
        <p:spPr bwMode="auto">
          <a:xfrm>
            <a:off x="5533752" y="6223000"/>
            <a:ext cx="304800" cy="1905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5095" name="Rectangle 39"/>
          <p:cNvSpPr>
            <a:spLocks noChangeArrowheads="1"/>
          </p:cNvSpPr>
          <p:nvPr/>
        </p:nvSpPr>
        <p:spPr bwMode="auto">
          <a:xfrm>
            <a:off x="5178152" y="6057901"/>
            <a:ext cx="381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a:latin typeface="Arial" panose="020B0604020202020204" pitchFamily="34" charset="0"/>
              </a:rPr>
              <a:t>10</a:t>
            </a:r>
          </a:p>
        </p:txBody>
      </p:sp>
      <p:sp>
        <p:nvSpPr>
          <p:cNvPr id="685096" name="Rectangle 40"/>
          <p:cNvSpPr>
            <a:spLocks noChangeArrowheads="1"/>
          </p:cNvSpPr>
          <p:nvPr/>
        </p:nvSpPr>
        <p:spPr bwMode="auto">
          <a:xfrm>
            <a:off x="9305653" y="5923880"/>
            <a:ext cx="2705869" cy="3129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5000"/>
              </a:lnSpc>
            </a:pPr>
            <a:r>
              <a:rPr lang="zh-CN" altLang="en-US" sz="2000" dirty="0">
                <a:latin typeface="Arial" panose="020B0604020202020204" pitchFamily="34" charset="0"/>
              </a:rPr>
              <a:t>2 </a:t>
            </a:r>
            <a:r>
              <a:rPr lang="en-US" altLang="zh-CN" sz="2000" dirty="0">
                <a:latin typeface="Arial" panose="020B0604020202020204" pitchFamily="34" charset="0"/>
              </a:rPr>
              <a:t>way set </a:t>
            </a:r>
            <a:r>
              <a:rPr lang="en-US" altLang="zh-CN" sz="2000" dirty="0" err="1">
                <a:latin typeface="Arial" panose="020B0604020202020204" pitchFamily="34" charset="0"/>
              </a:rPr>
              <a:t>assoc</a:t>
            </a:r>
            <a:r>
              <a:rPr lang="en-US" altLang="zh-CN" sz="2000" dirty="0">
                <a:latin typeface="Arial" panose="020B0604020202020204" pitchFamily="34" charset="0"/>
              </a:rPr>
              <a:t> cache</a:t>
            </a:r>
          </a:p>
        </p:txBody>
      </p:sp>
    </p:spTree>
    <p:extLst>
      <p:ext uri="{BB962C8B-B14F-4D97-AF65-F5344CB8AC3E}">
        <p14:creationId xmlns:p14="http://schemas.microsoft.com/office/powerpoint/2010/main" val="3591275192"/>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overall picture of a hypothetical memory hierarchy </a:t>
            </a:r>
            <a:endParaRPr lang="zh-CN" altLang="en-US" dirty="0"/>
          </a:p>
        </p:txBody>
      </p:sp>
      <p:pic>
        <p:nvPicPr>
          <p:cNvPr id="4" name="图片 3"/>
          <p:cNvPicPr>
            <a:picLocks noChangeAspect="1"/>
          </p:cNvPicPr>
          <p:nvPr/>
        </p:nvPicPr>
        <p:blipFill>
          <a:blip r:embed="rId2"/>
          <a:stretch>
            <a:fillRect/>
          </a:stretch>
        </p:blipFill>
        <p:spPr>
          <a:xfrm>
            <a:off x="5879976" y="1580186"/>
            <a:ext cx="6088961" cy="5122575"/>
          </a:xfrm>
          <a:prstGeom prst="rect">
            <a:avLst/>
          </a:prstGeom>
        </p:spPr>
      </p:pic>
      <p:sp>
        <p:nvSpPr>
          <p:cNvPr id="3" name="内容占位符 2"/>
          <p:cNvSpPr>
            <a:spLocks noGrp="1"/>
          </p:cNvSpPr>
          <p:nvPr>
            <p:ph idx="1"/>
          </p:nvPr>
        </p:nvSpPr>
        <p:spPr>
          <a:xfrm>
            <a:off x="263352" y="1556792"/>
            <a:ext cx="11090448" cy="5112568"/>
          </a:xfrm>
        </p:spPr>
        <p:txBody>
          <a:bodyPr/>
          <a:lstStyle/>
          <a:p>
            <a:r>
              <a:rPr lang="en-US" altLang="zh-CN" dirty="0"/>
              <a:t>G</a:t>
            </a:r>
            <a:r>
              <a:rPr lang="en-US" altLang="zh-CN" dirty="0" smtClean="0"/>
              <a:t>oing </a:t>
            </a:r>
            <a:r>
              <a:rPr lang="en-US" altLang="zh-CN" dirty="0"/>
              <a:t>from virtual address to </a:t>
            </a:r>
            <a:r>
              <a:rPr lang="en-US" altLang="zh-CN" dirty="0" smtClean="0"/>
              <a:t/>
            </a:r>
            <a:br>
              <a:rPr lang="en-US" altLang="zh-CN" dirty="0" smtClean="0"/>
            </a:br>
            <a:r>
              <a:rPr lang="en-US" altLang="zh-CN" dirty="0" smtClean="0"/>
              <a:t>L2 </a:t>
            </a:r>
            <a:r>
              <a:rPr lang="en-US" altLang="zh-CN" dirty="0"/>
              <a:t>cache </a:t>
            </a:r>
            <a:r>
              <a:rPr lang="en-US" altLang="zh-CN" dirty="0" smtClean="0"/>
              <a:t>access</a:t>
            </a:r>
          </a:p>
          <a:p>
            <a:r>
              <a:rPr lang="en-US" altLang="zh-CN" dirty="0" smtClean="0"/>
              <a:t>The </a:t>
            </a:r>
            <a:r>
              <a:rPr lang="en-US" altLang="zh-CN" dirty="0"/>
              <a:t>page size is 16 </a:t>
            </a:r>
            <a:r>
              <a:rPr lang="en-US" altLang="zh-CN" dirty="0" smtClean="0"/>
              <a:t>KiB</a:t>
            </a:r>
          </a:p>
          <a:p>
            <a:r>
              <a:rPr lang="en-US" altLang="zh-CN" dirty="0" smtClean="0"/>
              <a:t>The </a:t>
            </a:r>
            <a:r>
              <a:rPr lang="en-US" altLang="zh-CN" dirty="0"/>
              <a:t>TLB is two-way set </a:t>
            </a:r>
            <a:br>
              <a:rPr lang="en-US" altLang="zh-CN" dirty="0"/>
            </a:br>
            <a:r>
              <a:rPr lang="en-US" altLang="zh-CN" dirty="0" smtClean="0"/>
              <a:t>associative </a:t>
            </a:r>
            <a:r>
              <a:rPr lang="en-US" altLang="zh-CN" dirty="0"/>
              <a:t>with 256 </a:t>
            </a:r>
            <a:r>
              <a:rPr lang="en-US" altLang="zh-CN" dirty="0" smtClean="0"/>
              <a:t>entries</a:t>
            </a:r>
          </a:p>
          <a:p>
            <a:r>
              <a:rPr lang="en-US" altLang="zh-CN" dirty="0" smtClean="0"/>
              <a:t>The </a:t>
            </a:r>
            <a:r>
              <a:rPr lang="en-US" altLang="zh-CN" dirty="0"/>
              <a:t>L1 cache is a </a:t>
            </a:r>
            <a:r>
              <a:rPr lang="en-US" altLang="zh-CN" dirty="0" smtClean="0"/>
              <a:t>direct-mapped</a:t>
            </a:r>
            <a:br>
              <a:rPr lang="en-US" altLang="zh-CN" dirty="0" smtClean="0"/>
            </a:br>
            <a:r>
              <a:rPr lang="en-US" altLang="zh-CN" dirty="0" smtClean="0"/>
              <a:t>16 </a:t>
            </a:r>
            <a:r>
              <a:rPr lang="en-US" altLang="zh-CN" dirty="0"/>
              <a:t>KiB, and the L2 cache is a four-way </a:t>
            </a:r>
            <a:r>
              <a:rPr lang="en-US" altLang="zh-CN" dirty="0" smtClean="0"/>
              <a:t/>
            </a:r>
            <a:br>
              <a:rPr lang="en-US" altLang="zh-CN" dirty="0" smtClean="0"/>
            </a:br>
            <a:r>
              <a:rPr lang="en-US" altLang="zh-CN" dirty="0" smtClean="0"/>
              <a:t>set </a:t>
            </a:r>
            <a:r>
              <a:rPr lang="en-US" altLang="zh-CN" dirty="0"/>
              <a:t>associative with a total of 4 </a:t>
            </a:r>
            <a:r>
              <a:rPr lang="en-US" altLang="zh-CN" dirty="0" err="1" smtClean="0"/>
              <a:t>MiB</a:t>
            </a:r>
            <a:endParaRPr lang="en-US" altLang="zh-CN" dirty="0" smtClean="0"/>
          </a:p>
          <a:p>
            <a:pPr lvl="1"/>
            <a:r>
              <a:rPr lang="en-US" altLang="zh-CN" dirty="0" smtClean="0"/>
              <a:t>Both </a:t>
            </a:r>
            <a:r>
              <a:rPr lang="en-US" altLang="zh-CN" dirty="0"/>
              <a:t>use 64-byte blocks. The virtual address </a:t>
            </a:r>
            <a:r>
              <a:rPr lang="en-US" altLang="zh-CN" dirty="0" smtClean="0"/>
              <a:t/>
            </a:r>
            <a:br>
              <a:rPr lang="en-US" altLang="zh-CN" dirty="0" smtClean="0"/>
            </a:br>
            <a:r>
              <a:rPr lang="en-US" altLang="zh-CN" dirty="0" smtClean="0"/>
              <a:t>is </a:t>
            </a:r>
            <a:r>
              <a:rPr lang="en-US" altLang="zh-CN" dirty="0"/>
              <a:t>64 bits and the physical address is 40 </a:t>
            </a:r>
            <a:r>
              <a:rPr lang="en-US" altLang="zh-CN" dirty="0" smtClean="0"/>
              <a:t>bits</a:t>
            </a:r>
            <a:endParaRPr lang="en-US" altLang="zh-CN" dirty="0"/>
          </a:p>
          <a:p>
            <a:endParaRPr lang="zh-CN" altLang="en-US" dirty="0"/>
          </a:p>
        </p:txBody>
      </p:sp>
    </p:spTree>
    <p:extLst>
      <p:ext uri="{BB962C8B-B14F-4D97-AF65-F5344CB8AC3E}">
        <p14:creationId xmlns:p14="http://schemas.microsoft.com/office/powerpoint/2010/main" val="381662675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4" name="Rectangle 4"/>
          <p:cNvSpPr>
            <a:spLocks noGrp="1" noChangeArrowheads="1"/>
          </p:cNvSpPr>
          <p:nvPr>
            <p:ph type="title"/>
          </p:nvPr>
        </p:nvSpPr>
        <p:spPr/>
        <p:txBody>
          <a:bodyPr/>
          <a:lstStyle/>
          <a:p>
            <a:r>
              <a:rPr lang="zh-CN" altLang="en-US" smtClean="0"/>
              <a:t>3. </a:t>
            </a:r>
            <a:r>
              <a:rPr lang="en-US" altLang="zh-CN" smtClean="0"/>
              <a:t>Fast Hit Times Via Pipelined Writes</a:t>
            </a:r>
            <a:endParaRPr lang="en-US" altLang="zh-CN"/>
          </a:p>
        </p:txBody>
      </p:sp>
      <p:sp>
        <p:nvSpPr>
          <p:cNvPr id="670722" name="Rectangle 2"/>
          <p:cNvSpPr>
            <a:spLocks noGrp="1" noChangeArrowheads="1"/>
          </p:cNvSpPr>
          <p:nvPr>
            <p:ph type="body" idx="1"/>
          </p:nvPr>
        </p:nvSpPr>
        <p:spPr/>
        <p:txBody>
          <a:bodyPr/>
          <a:lstStyle/>
          <a:p>
            <a:r>
              <a:rPr lang="en-US" altLang="zh-CN" dirty="0" smtClean="0"/>
              <a:t>Pipeline Tag Check and Update Cache as separate stages; current write tag check &amp; previous write cache update </a:t>
            </a:r>
          </a:p>
          <a:p>
            <a:r>
              <a:rPr lang="en-US" altLang="zh-CN" dirty="0" smtClean="0"/>
              <a:t>Only STORES in the pipeline; empty during a miss</a:t>
            </a:r>
            <a:br>
              <a:rPr lang="en-US" altLang="zh-CN" dirty="0" smtClean="0"/>
            </a:br>
            <a:r>
              <a:rPr lang="en-US" altLang="zh-CN" dirty="0" smtClean="0"/>
              <a:t/>
            </a:r>
            <a:br>
              <a:rPr lang="en-US" altLang="zh-CN" dirty="0" smtClean="0"/>
            </a:br>
            <a:r>
              <a:rPr lang="en-US" altLang="zh-CN" dirty="0" smtClean="0"/>
              <a:t>Store r2, (r1)	Check r1</a:t>
            </a:r>
            <a:br>
              <a:rPr lang="en-US" altLang="zh-CN" dirty="0" smtClean="0"/>
            </a:br>
            <a:r>
              <a:rPr lang="en-US" altLang="zh-CN" dirty="0" smtClean="0"/>
              <a:t>Add	--</a:t>
            </a:r>
            <a:br>
              <a:rPr lang="en-US" altLang="zh-CN" dirty="0" smtClean="0"/>
            </a:br>
            <a:r>
              <a:rPr lang="en-US" altLang="zh-CN" dirty="0" smtClean="0"/>
              <a:t>Sub	--</a:t>
            </a:r>
            <a:br>
              <a:rPr lang="en-US" altLang="zh-CN" dirty="0" smtClean="0"/>
            </a:br>
            <a:r>
              <a:rPr lang="en-US" altLang="zh-CN" dirty="0" smtClean="0"/>
              <a:t>Store r4, (r3) 	M[r1]&lt;-r2 &amp;	 check r3</a:t>
            </a:r>
            <a:br>
              <a:rPr lang="en-US" altLang="zh-CN" dirty="0" smtClean="0"/>
            </a:br>
            <a:endParaRPr lang="en-US" altLang="zh-CN" dirty="0" smtClean="0"/>
          </a:p>
          <a:p>
            <a:endParaRPr lang="en-US" altLang="zh-CN" dirty="0" smtClean="0"/>
          </a:p>
          <a:p>
            <a:r>
              <a:rPr lang="en-US" altLang="zh-CN" dirty="0" smtClean="0"/>
              <a:t>In shade is Delayed Write Buffer? must be checked on reads; either complete write or read from buffer</a:t>
            </a:r>
            <a:endParaRPr lang="en-US" altLang="zh-CN" dirty="0"/>
          </a:p>
        </p:txBody>
      </p:sp>
      <p:pic>
        <p:nvPicPr>
          <p:cNvPr id="670723"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4192" y="2924944"/>
            <a:ext cx="4051300" cy="293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0725" name="Line 5"/>
          <p:cNvSpPr>
            <a:spLocks noChangeShapeType="1"/>
          </p:cNvSpPr>
          <p:nvPr/>
        </p:nvSpPr>
        <p:spPr bwMode="auto">
          <a:xfrm flipV="1">
            <a:off x="5591944" y="4077072"/>
            <a:ext cx="3282950" cy="174625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33997725"/>
      </p:ext>
    </p:extLst>
  </p:cSld>
  <p:clrMapOvr>
    <a:masterClrMapping/>
  </p:clrMapOvr>
  <p:transition>
    <p:wipe dir="r"/>
  </p:transition>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r>
              <a:rPr lang="zh-CN" altLang="en-US" smtClean="0"/>
              <a:t>4. </a:t>
            </a:r>
            <a:r>
              <a:rPr lang="en-US" altLang="zh-CN" smtClean="0"/>
              <a:t>Fast Writes on Misses Via Small Subblocks</a:t>
            </a:r>
            <a:endParaRPr lang="en-US" altLang="zh-CN"/>
          </a:p>
        </p:txBody>
      </p:sp>
      <p:sp>
        <p:nvSpPr>
          <p:cNvPr id="671747" name="Rectangle 3"/>
          <p:cNvSpPr>
            <a:spLocks noGrp="1" noChangeArrowheads="1"/>
          </p:cNvSpPr>
          <p:nvPr>
            <p:ph type="body" idx="1"/>
          </p:nvPr>
        </p:nvSpPr>
        <p:spPr/>
        <p:txBody>
          <a:bodyPr/>
          <a:lstStyle/>
          <a:p>
            <a:r>
              <a:rPr lang="en-US" altLang="zh-CN" dirty="0" smtClean="0"/>
              <a:t>If most writes are 1 word, </a:t>
            </a:r>
            <a:r>
              <a:rPr lang="en-US" altLang="zh-CN" dirty="0" err="1" smtClean="0"/>
              <a:t>subblock</a:t>
            </a:r>
            <a:r>
              <a:rPr lang="en-US" altLang="zh-CN" dirty="0" smtClean="0"/>
              <a:t> size is 1 word,  &amp; write through then always write </a:t>
            </a:r>
            <a:r>
              <a:rPr lang="en-US" altLang="zh-CN" dirty="0" err="1" smtClean="0"/>
              <a:t>subblock</a:t>
            </a:r>
            <a:r>
              <a:rPr lang="en-US" altLang="zh-CN" dirty="0" smtClean="0"/>
              <a:t> &amp; tag immediately </a:t>
            </a:r>
          </a:p>
          <a:p>
            <a:pPr lvl="1"/>
            <a:r>
              <a:rPr lang="en-US" altLang="zh-CN" dirty="0" smtClean="0"/>
              <a:t>Tag match and valid bit already set: Writing the block was proper, &amp; nothing lost by setting valid bit on again.</a:t>
            </a:r>
          </a:p>
          <a:p>
            <a:pPr lvl="1"/>
            <a:r>
              <a:rPr lang="en-US" altLang="zh-CN" dirty="0" smtClean="0"/>
              <a:t>Tag match and valid bit not set: The tag match means that this is the proper block; writing the data into the </a:t>
            </a:r>
            <a:r>
              <a:rPr lang="en-US" altLang="zh-CN" dirty="0" err="1" smtClean="0"/>
              <a:t>subblock</a:t>
            </a:r>
            <a:r>
              <a:rPr lang="en-US" altLang="zh-CN" dirty="0" smtClean="0"/>
              <a:t> makes it appropriate to turn the valid bit on.</a:t>
            </a:r>
          </a:p>
          <a:p>
            <a:pPr lvl="1"/>
            <a:r>
              <a:rPr lang="en-US" altLang="zh-CN" dirty="0" smtClean="0"/>
              <a:t>Tag mismatch: This is a miss and will modify the data portion of the block. Since write-through cache, no harm was done; memory still has an up-to-date copy of the old value. Only the tag to the address of the write and the valid bits of the other </a:t>
            </a:r>
            <a:r>
              <a:rPr lang="en-US" altLang="zh-CN" dirty="0" err="1" smtClean="0"/>
              <a:t>subblock</a:t>
            </a:r>
            <a:r>
              <a:rPr lang="en-US" altLang="zh-CN" dirty="0" smtClean="0"/>
              <a:t> need be changed because the valid bit for this </a:t>
            </a:r>
            <a:r>
              <a:rPr lang="en-US" altLang="zh-CN" dirty="0" err="1" smtClean="0"/>
              <a:t>subblock</a:t>
            </a:r>
            <a:r>
              <a:rPr lang="en-US" altLang="zh-CN" dirty="0" smtClean="0"/>
              <a:t> has already been set</a:t>
            </a:r>
          </a:p>
          <a:p>
            <a:r>
              <a:rPr lang="en-US" altLang="zh-CN" dirty="0" smtClean="0"/>
              <a:t>Doesn’t work with write back due to last case</a:t>
            </a:r>
            <a:endParaRPr lang="en-US" altLang="zh-CN" dirty="0"/>
          </a:p>
        </p:txBody>
      </p:sp>
    </p:spTree>
    <p:extLst>
      <p:ext uri="{BB962C8B-B14F-4D97-AF65-F5344CB8AC3E}">
        <p14:creationId xmlns:p14="http://schemas.microsoft.com/office/powerpoint/2010/main" val="67860781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1747">
                                            <p:txEl>
                                              <p:pRg st="0" end="0"/>
                                            </p:txEl>
                                          </p:spTgt>
                                        </p:tgtEl>
                                        <p:attrNameLst>
                                          <p:attrName>style.visibility</p:attrName>
                                        </p:attrNameLst>
                                      </p:cBhvr>
                                      <p:to>
                                        <p:strVal val="visible"/>
                                      </p:to>
                                    </p:set>
                                    <p:anim calcmode="lin" valueType="num">
                                      <p:cBhvr additive="base">
                                        <p:cTn id="7" dur="500" fill="hold"/>
                                        <p:tgtEl>
                                          <p:spTgt spid="671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717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71747">
                                            <p:txEl>
                                              <p:pRg st="1" end="1"/>
                                            </p:txEl>
                                          </p:spTgt>
                                        </p:tgtEl>
                                        <p:attrNameLst>
                                          <p:attrName>style.visibility</p:attrName>
                                        </p:attrNameLst>
                                      </p:cBhvr>
                                      <p:to>
                                        <p:strVal val="visible"/>
                                      </p:to>
                                    </p:set>
                                    <p:anim calcmode="lin" valueType="num">
                                      <p:cBhvr additive="base">
                                        <p:cTn id="11" dur="500" fill="hold"/>
                                        <p:tgtEl>
                                          <p:spTgt spid="67174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7174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71747">
                                            <p:txEl>
                                              <p:pRg st="2" end="2"/>
                                            </p:txEl>
                                          </p:spTgt>
                                        </p:tgtEl>
                                        <p:attrNameLst>
                                          <p:attrName>style.visibility</p:attrName>
                                        </p:attrNameLst>
                                      </p:cBhvr>
                                      <p:to>
                                        <p:strVal val="visible"/>
                                      </p:to>
                                    </p:set>
                                    <p:anim calcmode="lin" valueType="num">
                                      <p:cBhvr additive="base">
                                        <p:cTn id="15" dur="500" fill="hold"/>
                                        <p:tgtEl>
                                          <p:spTgt spid="671747">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7174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71747">
                                            <p:txEl>
                                              <p:pRg st="3" end="3"/>
                                            </p:txEl>
                                          </p:spTgt>
                                        </p:tgtEl>
                                        <p:attrNameLst>
                                          <p:attrName>style.visibility</p:attrName>
                                        </p:attrNameLst>
                                      </p:cBhvr>
                                      <p:to>
                                        <p:strVal val="visible"/>
                                      </p:to>
                                    </p:set>
                                    <p:anim calcmode="lin" valueType="num">
                                      <p:cBhvr additive="base">
                                        <p:cTn id="19" dur="500" fill="hold"/>
                                        <p:tgtEl>
                                          <p:spTgt spid="671747">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717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71747">
                                            <p:txEl>
                                              <p:pRg st="4" end="4"/>
                                            </p:txEl>
                                          </p:spTgt>
                                        </p:tgtEl>
                                        <p:attrNameLst>
                                          <p:attrName>style.visibility</p:attrName>
                                        </p:attrNameLst>
                                      </p:cBhvr>
                                      <p:to>
                                        <p:strVal val="visible"/>
                                      </p:to>
                                    </p:set>
                                    <p:anim calcmode="lin" valueType="num">
                                      <p:cBhvr additive="base">
                                        <p:cTn id="25" dur="500" fill="hold"/>
                                        <p:tgtEl>
                                          <p:spTgt spid="67174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717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47" grpId="0" build="p"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Way Prediction</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To improve hit time, predict the way to pre-set </a:t>
            </a:r>
            <a:r>
              <a:rPr lang="en-US" dirty="0" err="1"/>
              <a:t>mux</a:t>
            </a:r>
            <a:endParaRPr lang="en-US" dirty="0"/>
          </a:p>
          <a:p>
            <a:pPr lvl="1">
              <a:lnSpc>
                <a:spcPct val="90000"/>
              </a:lnSpc>
            </a:pPr>
            <a:r>
              <a:rPr lang="en-US" dirty="0" err="1"/>
              <a:t>Mis</a:t>
            </a:r>
            <a:r>
              <a:rPr lang="en-US" dirty="0"/>
              <a:t>-prediction gives longer hit time</a:t>
            </a:r>
          </a:p>
          <a:p>
            <a:pPr lvl="1">
              <a:lnSpc>
                <a:spcPct val="90000"/>
              </a:lnSpc>
            </a:pPr>
            <a:r>
              <a:rPr lang="en-US" dirty="0"/>
              <a:t>Prediction accuracy</a:t>
            </a:r>
          </a:p>
          <a:p>
            <a:pPr lvl="2">
              <a:lnSpc>
                <a:spcPct val="90000"/>
              </a:lnSpc>
            </a:pPr>
            <a:r>
              <a:rPr lang="en-US" dirty="0"/>
              <a:t>&gt; 90% for two-way</a:t>
            </a:r>
          </a:p>
          <a:p>
            <a:pPr lvl="2">
              <a:lnSpc>
                <a:spcPct val="90000"/>
              </a:lnSpc>
            </a:pPr>
            <a:r>
              <a:rPr lang="en-US" dirty="0"/>
              <a:t>&gt; 80% for four-way</a:t>
            </a:r>
          </a:p>
          <a:p>
            <a:pPr lvl="2">
              <a:lnSpc>
                <a:spcPct val="90000"/>
              </a:lnSpc>
            </a:pPr>
            <a:r>
              <a:rPr lang="en-US" dirty="0"/>
              <a:t>I-cache has better accuracy than D-cache</a:t>
            </a:r>
          </a:p>
          <a:p>
            <a:pPr lvl="1">
              <a:lnSpc>
                <a:spcPct val="90000"/>
              </a:lnSpc>
            </a:pPr>
            <a:r>
              <a:rPr lang="en-US" dirty="0"/>
              <a:t>First used on MIPS R10000 in mid-90s</a:t>
            </a:r>
          </a:p>
          <a:p>
            <a:pPr lvl="1">
              <a:lnSpc>
                <a:spcPct val="90000"/>
              </a:lnSpc>
            </a:pPr>
            <a:r>
              <a:rPr lang="en-US" dirty="0"/>
              <a:t>Used on ARM Cortex-A8</a:t>
            </a:r>
          </a:p>
          <a:p>
            <a:pPr>
              <a:lnSpc>
                <a:spcPct val="90000"/>
              </a:lnSpc>
            </a:pPr>
            <a:r>
              <a:rPr lang="en-US" dirty="0"/>
              <a:t>Extend to predict block as well</a:t>
            </a:r>
          </a:p>
          <a:p>
            <a:pPr lvl="1">
              <a:lnSpc>
                <a:spcPct val="90000"/>
              </a:lnSpc>
            </a:pPr>
            <a:r>
              <a:rPr lang="en-US" dirty="0"/>
              <a:t>“Way selection”</a:t>
            </a:r>
          </a:p>
          <a:p>
            <a:pPr lvl="1">
              <a:lnSpc>
                <a:spcPct val="90000"/>
              </a:lnSpc>
            </a:pPr>
            <a:r>
              <a:rPr lang="en-US" dirty="0"/>
              <a:t>Increases </a:t>
            </a:r>
            <a:r>
              <a:rPr lang="en-US" dirty="0" err="1"/>
              <a:t>mis</a:t>
            </a:r>
            <a:r>
              <a:rPr lang="en-US" dirty="0"/>
              <a:t>-prediction penalty</a:t>
            </a:r>
          </a:p>
        </p:txBody>
      </p:sp>
    </p:spTree>
    <p:extLst>
      <p:ext uri="{BB962C8B-B14F-4D97-AF65-F5344CB8AC3E}">
        <p14:creationId xmlns:p14="http://schemas.microsoft.com/office/powerpoint/2010/main" val="2490372037"/>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Pipelined Caches</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Pipeline cache access to improve bandwidth</a:t>
            </a:r>
          </a:p>
          <a:p>
            <a:pPr lvl="1">
              <a:lnSpc>
                <a:spcPct val="90000"/>
              </a:lnSpc>
            </a:pPr>
            <a:r>
              <a:rPr lang="en-US" dirty="0"/>
              <a:t>Examples:</a:t>
            </a:r>
          </a:p>
          <a:p>
            <a:pPr lvl="2">
              <a:lnSpc>
                <a:spcPct val="90000"/>
              </a:lnSpc>
            </a:pPr>
            <a:r>
              <a:rPr lang="en-US" dirty="0"/>
              <a:t>Pentium:  1 cycle</a:t>
            </a:r>
          </a:p>
          <a:p>
            <a:pPr lvl="2">
              <a:lnSpc>
                <a:spcPct val="90000"/>
              </a:lnSpc>
            </a:pPr>
            <a:r>
              <a:rPr lang="en-US" dirty="0"/>
              <a:t>Pentium Pro – Pentium III:  2 cycles</a:t>
            </a:r>
          </a:p>
          <a:p>
            <a:pPr lvl="2">
              <a:lnSpc>
                <a:spcPct val="90000"/>
              </a:lnSpc>
            </a:pPr>
            <a:r>
              <a:rPr lang="en-US" dirty="0"/>
              <a:t>Pentium 4 – Core i7:  4 cycles</a:t>
            </a:r>
          </a:p>
          <a:p>
            <a:pPr>
              <a:lnSpc>
                <a:spcPct val="90000"/>
              </a:lnSpc>
            </a:pPr>
            <a:r>
              <a:rPr lang="en-US" dirty="0"/>
              <a:t>Increases branch </a:t>
            </a:r>
            <a:r>
              <a:rPr lang="en-US" dirty="0" err="1"/>
              <a:t>mis</a:t>
            </a:r>
            <a:r>
              <a:rPr lang="en-US" dirty="0"/>
              <a:t>-prediction penalty</a:t>
            </a:r>
          </a:p>
          <a:p>
            <a:pPr>
              <a:lnSpc>
                <a:spcPct val="90000"/>
              </a:lnSpc>
            </a:pPr>
            <a:r>
              <a:rPr lang="en-US" dirty="0"/>
              <a:t>Makes it easier to increase associativity</a:t>
            </a:r>
          </a:p>
        </p:txBody>
      </p:sp>
    </p:spTree>
    <p:extLst>
      <p:ext uri="{BB962C8B-B14F-4D97-AF65-F5344CB8AC3E}">
        <p14:creationId xmlns:p14="http://schemas.microsoft.com/office/powerpoint/2010/main" val="350931101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r>
              <a:rPr lang="en-US" altLang="zh-CN" smtClean="0"/>
              <a:t>Fast Hits by pipelining Cache</a:t>
            </a:r>
            <a:br>
              <a:rPr lang="en-US" altLang="zh-CN" smtClean="0"/>
            </a:br>
            <a:r>
              <a:rPr lang="en-US" altLang="zh-CN" smtClean="0"/>
              <a:t>Case Study: MIPS R4000 </a:t>
            </a:r>
            <a:endParaRPr lang="en-US" altLang="zh-CN"/>
          </a:p>
        </p:txBody>
      </p:sp>
      <p:sp>
        <p:nvSpPr>
          <p:cNvPr id="687107" name="Rectangle 3"/>
          <p:cNvSpPr>
            <a:spLocks noGrp="1" noChangeArrowheads="1"/>
          </p:cNvSpPr>
          <p:nvPr>
            <p:ph type="body" idx="1"/>
          </p:nvPr>
        </p:nvSpPr>
        <p:spPr>
          <a:xfrm>
            <a:off x="838200" y="1412776"/>
            <a:ext cx="10515600" cy="5112568"/>
          </a:xfrm>
        </p:spPr>
        <p:txBody>
          <a:bodyPr/>
          <a:lstStyle/>
          <a:p>
            <a:r>
              <a:rPr lang="zh-CN" altLang="zh-CN" dirty="0" smtClean="0"/>
              <a:t>8 </a:t>
            </a:r>
            <a:r>
              <a:rPr lang="en-US" altLang="zh-CN" dirty="0" smtClean="0"/>
              <a:t>Stage Pipeline:</a:t>
            </a:r>
          </a:p>
          <a:p>
            <a:pPr lvl="1"/>
            <a:r>
              <a:rPr lang="en-US" altLang="zh-CN" dirty="0" smtClean="0"/>
              <a:t>IF–first half of fetching of instruction; PC selection happens here as well as initiation of instruction cache access.</a:t>
            </a:r>
          </a:p>
          <a:p>
            <a:pPr lvl="1"/>
            <a:r>
              <a:rPr lang="en-US" altLang="zh-CN" dirty="0" smtClean="0">
                <a:solidFill>
                  <a:srgbClr val="FF0000"/>
                </a:solidFill>
              </a:rPr>
              <a:t>IS</a:t>
            </a:r>
            <a:r>
              <a:rPr lang="en-US" altLang="zh-CN" dirty="0" smtClean="0"/>
              <a:t>–second half of access to instruction cache. </a:t>
            </a:r>
          </a:p>
          <a:p>
            <a:pPr lvl="1"/>
            <a:r>
              <a:rPr lang="en-US" altLang="zh-CN" dirty="0" smtClean="0"/>
              <a:t>RF–instruction decode and register fetch, hazard checking and also instruction cache hit detection.</a:t>
            </a:r>
          </a:p>
          <a:p>
            <a:pPr lvl="1"/>
            <a:r>
              <a:rPr lang="en-US" altLang="zh-CN" dirty="0" smtClean="0"/>
              <a:t>EX–execution, which includes effective address calculation, ALU operation, and branch target computation and condition evaluation.</a:t>
            </a:r>
          </a:p>
          <a:p>
            <a:pPr lvl="1"/>
            <a:r>
              <a:rPr lang="en-US" altLang="zh-CN" dirty="0" smtClean="0"/>
              <a:t>DF–data fetch, first half of access to data cache.</a:t>
            </a:r>
          </a:p>
          <a:p>
            <a:pPr lvl="1"/>
            <a:r>
              <a:rPr lang="en-US" altLang="zh-CN" dirty="0" smtClean="0">
                <a:solidFill>
                  <a:srgbClr val="FF0000"/>
                </a:solidFill>
              </a:rPr>
              <a:t>DS</a:t>
            </a:r>
            <a:r>
              <a:rPr lang="en-US" altLang="zh-CN" dirty="0" smtClean="0"/>
              <a:t>–second half of access to data cache.</a:t>
            </a:r>
          </a:p>
          <a:p>
            <a:pPr lvl="1"/>
            <a:r>
              <a:rPr lang="en-US" altLang="zh-CN" dirty="0" smtClean="0">
                <a:solidFill>
                  <a:srgbClr val="FF0000"/>
                </a:solidFill>
              </a:rPr>
              <a:t>TC</a:t>
            </a:r>
            <a:r>
              <a:rPr lang="en-US" altLang="zh-CN" dirty="0" smtClean="0"/>
              <a:t>–tag check, determine whether the data cache access hit.</a:t>
            </a:r>
          </a:p>
          <a:p>
            <a:pPr lvl="1"/>
            <a:r>
              <a:rPr lang="en-US" altLang="zh-CN" dirty="0" smtClean="0"/>
              <a:t>WB–write back for loads and register-register operations.</a:t>
            </a:r>
          </a:p>
          <a:p>
            <a:r>
              <a:rPr lang="en-US" altLang="zh-CN" dirty="0" smtClean="0"/>
              <a:t>What is impact on Load delay? </a:t>
            </a:r>
          </a:p>
          <a:p>
            <a:pPr lvl="1"/>
            <a:r>
              <a:rPr lang="en-US" altLang="zh-CN" dirty="0" smtClean="0"/>
              <a:t>Need 2 instructions between a load and its use!</a:t>
            </a:r>
            <a:endParaRPr lang="en-US" altLang="zh-CN" dirty="0"/>
          </a:p>
        </p:txBody>
      </p:sp>
    </p:spTree>
    <p:extLst>
      <p:ext uri="{BB962C8B-B14F-4D97-AF65-F5344CB8AC3E}">
        <p14:creationId xmlns:p14="http://schemas.microsoft.com/office/powerpoint/2010/main" val="14053528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7107">
                                            <p:txEl>
                                              <p:pRg st="0" end="0"/>
                                            </p:txEl>
                                          </p:spTgt>
                                        </p:tgtEl>
                                        <p:attrNameLst>
                                          <p:attrName>style.visibility</p:attrName>
                                        </p:attrNameLst>
                                      </p:cBhvr>
                                      <p:to>
                                        <p:strVal val="visible"/>
                                      </p:to>
                                    </p:set>
                                    <p:anim calcmode="lin" valueType="num">
                                      <p:cBhvr additive="base">
                                        <p:cTn id="7" dur="500" fill="hold"/>
                                        <p:tgtEl>
                                          <p:spTgt spid="6871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710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87107">
                                            <p:txEl>
                                              <p:pRg st="1" end="1"/>
                                            </p:txEl>
                                          </p:spTgt>
                                        </p:tgtEl>
                                        <p:attrNameLst>
                                          <p:attrName>style.visibility</p:attrName>
                                        </p:attrNameLst>
                                      </p:cBhvr>
                                      <p:to>
                                        <p:strVal val="visible"/>
                                      </p:to>
                                    </p:set>
                                    <p:anim calcmode="lin" valueType="num">
                                      <p:cBhvr additive="base">
                                        <p:cTn id="11" dur="500" fill="hold"/>
                                        <p:tgtEl>
                                          <p:spTgt spid="68710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8710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87107">
                                            <p:txEl>
                                              <p:pRg st="2" end="2"/>
                                            </p:txEl>
                                          </p:spTgt>
                                        </p:tgtEl>
                                        <p:attrNameLst>
                                          <p:attrName>style.visibility</p:attrName>
                                        </p:attrNameLst>
                                      </p:cBhvr>
                                      <p:to>
                                        <p:strVal val="visible"/>
                                      </p:to>
                                    </p:set>
                                    <p:anim calcmode="lin" valueType="num">
                                      <p:cBhvr additive="base">
                                        <p:cTn id="15" dur="500" fill="hold"/>
                                        <p:tgtEl>
                                          <p:spTgt spid="68710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8710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687107">
                                            <p:txEl>
                                              <p:pRg st="3" end="3"/>
                                            </p:txEl>
                                          </p:spTgt>
                                        </p:tgtEl>
                                        <p:attrNameLst>
                                          <p:attrName>style.visibility</p:attrName>
                                        </p:attrNameLst>
                                      </p:cBhvr>
                                      <p:to>
                                        <p:strVal val="visible"/>
                                      </p:to>
                                    </p:set>
                                    <p:anim calcmode="lin" valueType="num">
                                      <p:cBhvr additive="base">
                                        <p:cTn id="19" dur="500" fill="hold"/>
                                        <p:tgtEl>
                                          <p:spTgt spid="68710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87107">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87107">
                                            <p:txEl>
                                              <p:pRg st="4" end="4"/>
                                            </p:txEl>
                                          </p:spTgt>
                                        </p:tgtEl>
                                        <p:attrNameLst>
                                          <p:attrName>style.visibility</p:attrName>
                                        </p:attrNameLst>
                                      </p:cBhvr>
                                      <p:to>
                                        <p:strVal val="visible"/>
                                      </p:to>
                                    </p:set>
                                    <p:anim calcmode="lin" valueType="num">
                                      <p:cBhvr additive="base">
                                        <p:cTn id="23" dur="500" fill="hold"/>
                                        <p:tgtEl>
                                          <p:spTgt spid="687107">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87107">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687107">
                                            <p:txEl>
                                              <p:pRg st="5" end="5"/>
                                            </p:txEl>
                                          </p:spTgt>
                                        </p:tgtEl>
                                        <p:attrNameLst>
                                          <p:attrName>style.visibility</p:attrName>
                                        </p:attrNameLst>
                                      </p:cBhvr>
                                      <p:to>
                                        <p:strVal val="visible"/>
                                      </p:to>
                                    </p:set>
                                    <p:anim calcmode="lin" valueType="num">
                                      <p:cBhvr additive="base">
                                        <p:cTn id="27" dur="500" fill="hold"/>
                                        <p:tgtEl>
                                          <p:spTgt spid="687107">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87107">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87107">
                                            <p:txEl>
                                              <p:pRg st="6" end="6"/>
                                            </p:txEl>
                                          </p:spTgt>
                                        </p:tgtEl>
                                        <p:attrNameLst>
                                          <p:attrName>style.visibility</p:attrName>
                                        </p:attrNameLst>
                                      </p:cBhvr>
                                      <p:to>
                                        <p:strVal val="visible"/>
                                      </p:to>
                                    </p:set>
                                    <p:anim calcmode="lin" valueType="num">
                                      <p:cBhvr additive="base">
                                        <p:cTn id="31" dur="500" fill="hold"/>
                                        <p:tgtEl>
                                          <p:spTgt spid="687107">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87107">
                                            <p:txEl>
                                              <p:pRg st="6" end="6"/>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87107">
                                            <p:txEl>
                                              <p:pRg st="7" end="7"/>
                                            </p:txEl>
                                          </p:spTgt>
                                        </p:tgtEl>
                                        <p:attrNameLst>
                                          <p:attrName>style.visibility</p:attrName>
                                        </p:attrNameLst>
                                      </p:cBhvr>
                                      <p:to>
                                        <p:strVal val="visible"/>
                                      </p:to>
                                    </p:set>
                                    <p:anim calcmode="lin" valueType="num">
                                      <p:cBhvr additive="base">
                                        <p:cTn id="35" dur="500" fill="hold"/>
                                        <p:tgtEl>
                                          <p:spTgt spid="687107">
                                            <p:txEl>
                                              <p:pRg st="7" end="7"/>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87107">
                                            <p:txEl>
                                              <p:pRg st="7" end="7"/>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87107">
                                            <p:txEl>
                                              <p:pRg st="8" end="8"/>
                                            </p:txEl>
                                          </p:spTgt>
                                        </p:tgtEl>
                                        <p:attrNameLst>
                                          <p:attrName>style.visibility</p:attrName>
                                        </p:attrNameLst>
                                      </p:cBhvr>
                                      <p:to>
                                        <p:strVal val="visible"/>
                                      </p:to>
                                    </p:set>
                                    <p:anim calcmode="lin" valueType="num">
                                      <p:cBhvr additive="base">
                                        <p:cTn id="39" dur="500" fill="hold"/>
                                        <p:tgtEl>
                                          <p:spTgt spid="687107">
                                            <p:txEl>
                                              <p:pRg st="8" end="8"/>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87107">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687107">
                                            <p:txEl>
                                              <p:pRg st="9" end="9"/>
                                            </p:txEl>
                                          </p:spTgt>
                                        </p:tgtEl>
                                        <p:attrNameLst>
                                          <p:attrName>style.visibility</p:attrName>
                                        </p:attrNameLst>
                                      </p:cBhvr>
                                      <p:to>
                                        <p:strVal val="visible"/>
                                      </p:to>
                                    </p:set>
                                    <p:anim calcmode="lin" valueType="num">
                                      <p:cBhvr additive="base">
                                        <p:cTn id="45" dur="500" fill="hold"/>
                                        <p:tgtEl>
                                          <p:spTgt spid="687107">
                                            <p:txEl>
                                              <p:pRg st="9" end="9"/>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687107">
                                            <p:txEl>
                                              <p:pRg st="9" end="9"/>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687107">
                                            <p:txEl>
                                              <p:pRg st="10" end="10"/>
                                            </p:txEl>
                                          </p:spTgt>
                                        </p:tgtEl>
                                        <p:attrNameLst>
                                          <p:attrName>style.visibility</p:attrName>
                                        </p:attrNameLst>
                                      </p:cBhvr>
                                      <p:to>
                                        <p:strVal val="visible"/>
                                      </p:to>
                                    </p:set>
                                    <p:anim calcmode="lin" valueType="num">
                                      <p:cBhvr additive="base">
                                        <p:cTn id="49" dur="500" fill="hold"/>
                                        <p:tgtEl>
                                          <p:spTgt spid="687107">
                                            <p:txEl>
                                              <p:pRg st="10" end="1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687107">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7" grpId="0" build="p"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a:t>Case Study: MIPS R4000</a:t>
            </a:r>
          </a:p>
        </p:txBody>
      </p:sp>
      <p:sp>
        <p:nvSpPr>
          <p:cNvPr id="689155" name="Rectangle 3"/>
          <p:cNvSpPr>
            <a:spLocks noChangeArrowheads="1"/>
          </p:cNvSpPr>
          <p:nvPr/>
        </p:nvSpPr>
        <p:spPr bwMode="auto">
          <a:xfrm>
            <a:off x="4360864" y="1704975"/>
            <a:ext cx="396875" cy="3762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IF</a:t>
            </a:r>
          </a:p>
        </p:txBody>
      </p:sp>
      <p:sp>
        <p:nvSpPr>
          <p:cNvPr id="689156" name="Rectangle 4"/>
          <p:cNvSpPr>
            <a:spLocks noChangeArrowheads="1"/>
          </p:cNvSpPr>
          <p:nvPr/>
        </p:nvSpPr>
        <p:spPr bwMode="auto">
          <a:xfrm>
            <a:off x="5027614" y="1704976"/>
            <a:ext cx="409575" cy="65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IS</a:t>
            </a:r>
          </a:p>
          <a:p>
            <a:pPr algn="l"/>
            <a:r>
              <a:rPr lang="en-US" altLang="zh-CN" b="0"/>
              <a:t>IF</a:t>
            </a:r>
          </a:p>
        </p:txBody>
      </p:sp>
      <p:sp>
        <p:nvSpPr>
          <p:cNvPr id="689157" name="Rectangle 5"/>
          <p:cNvSpPr>
            <a:spLocks noChangeArrowheads="1"/>
          </p:cNvSpPr>
          <p:nvPr/>
        </p:nvSpPr>
        <p:spPr bwMode="auto">
          <a:xfrm>
            <a:off x="5694364" y="1704976"/>
            <a:ext cx="498475" cy="9255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RF</a:t>
            </a:r>
          </a:p>
          <a:p>
            <a:pPr algn="l"/>
            <a:r>
              <a:rPr lang="en-US" altLang="zh-CN" b="0"/>
              <a:t>IS</a:t>
            </a:r>
          </a:p>
          <a:p>
            <a:pPr algn="l"/>
            <a:r>
              <a:rPr lang="en-US" altLang="zh-CN" b="0"/>
              <a:t>IF</a:t>
            </a:r>
          </a:p>
        </p:txBody>
      </p:sp>
      <p:sp>
        <p:nvSpPr>
          <p:cNvPr id="689158" name="Rectangle 6"/>
          <p:cNvSpPr>
            <a:spLocks noChangeArrowheads="1"/>
          </p:cNvSpPr>
          <p:nvPr/>
        </p:nvSpPr>
        <p:spPr bwMode="auto">
          <a:xfrm>
            <a:off x="6399214" y="1704975"/>
            <a:ext cx="498475" cy="1200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EX</a:t>
            </a:r>
          </a:p>
          <a:p>
            <a:pPr algn="l"/>
            <a:r>
              <a:rPr lang="en-US" altLang="zh-CN" b="0"/>
              <a:t>RF</a:t>
            </a:r>
          </a:p>
          <a:p>
            <a:pPr algn="l"/>
            <a:r>
              <a:rPr lang="en-US" altLang="zh-CN" b="0"/>
              <a:t>IS</a:t>
            </a:r>
          </a:p>
          <a:p>
            <a:pPr algn="l"/>
            <a:r>
              <a:rPr lang="en-US" altLang="zh-CN" b="0"/>
              <a:t>IF</a:t>
            </a:r>
          </a:p>
        </p:txBody>
      </p:sp>
      <p:sp>
        <p:nvSpPr>
          <p:cNvPr id="689159" name="Rectangle 7"/>
          <p:cNvSpPr>
            <a:spLocks noChangeArrowheads="1"/>
          </p:cNvSpPr>
          <p:nvPr/>
        </p:nvSpPr>
        <p:spPr bwMode="auto">
          <a:xfrm>
            <a:off x="7065964" y="1704975"/>
            <a:ext cx="498475" cy="1474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60" name="Rectangle 8"/>
          <p:cNvSpPr>
            <a:spLocks noChangeArrowheads="1"/>
          </p:cNvSpPr>
          <p:nvPr/>
        </p:nvSpPr>
        <p:spPr bwMode="auto">
          <a:xfrm>
            <a:off x="7770814" y="1704976"/>
            <a:ext cx="511175" cy="1749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DS</a:t>
            </a:r>
          </a:p>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61" name="Rectangle 9"/>
          <p:cNvSpPr>
            <a:spLocks noChangeArrowheads="1"/>
          </p:cNvSpPr>
          <p:nvPr/>
        </p:nvSpPr>
        <p:spPr bwMode="auto">
          <a:xfrm>
            <a:off x="8437564" y="1704976"/>
            <a:ext cx="511175" cy="20240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TC</a:t>
            </a:r>
          </a:p>
          <a:p>
            <a:pPr algn="l"/>
            <a:r>
              <a:rPr lang="en-US" altLang="zh-CN" b="0"/>
              <a:t>DS</a:t>
            </a:r>
          </a:p>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62" name="Rectangle 10"/>
          <p:cNvSpPr>
            <a:spLocks noChangeArrowheads="1"/>
          </p:cNvSpPr>
          <p:nvPr/>
        </p:nvSpPr>
        <p:spPr bwMode="auto">
          <a:xfrm>
            <a:off x="9142414" y="1704975"/>
            <a:ext cx="561975" cy="2298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WB</a:t>
            </a:r>
          </a:p>
          <a:p>
            <a:pPr algn="l"/>
            <a:r>
              <a:rPr lang="en-US" altLang="zh-CN" b="0"/>
              <a:t>TC</a:t>
            </a:r>
          </a:p>
          <a:p>
            <a:pPr algn="l"/>
            <a:r>
              <a:rPr lang="en-US" altLang="zh-CN" b="0"/>
              <a:t>DS</a:t>
            </a:r>
          </a:p>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63" name="Line 11"/>
          <p:cNvSpPr>
            <a:spLocks noChangeShapeType="1"/>
          </p:cNvSpPr>
          <p:nvPr/>
        </p:nvSpPr>
        <p:spPr bwMode="auto">
          <a:xfrm>
            <a:off x="8185150" y="1993900"/>
            <a:ext cx="298450" cy="584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9164" name="Rectangle 12"/>
          <p:cNvSpPr>
            <a:spLocks noChangeArrowheads="1"/>
          </p:cNvSpPr>
          <p:nvPr/>
        </p:nvSpPr>
        <p:spPr bwMode="auto">
          <a:xfrm>
            <a:off x="7835900" y="1739900"/>
            <a:ext cx="330200" cy="254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9165" name="Rectangle 13"/>
          <p:cNvSpPr>
            <a:spLocks noChangeArrowheads="1"/>
          </p:cNvSpPr>
          <p:nvPr/>
        </p:nvSpPr>
        <p:spPr bwMode="auto">
          <a:xfrm>
            <a:off x="8483600" y="2578100"/>
            <a:ext cx="406400" cy="2349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9166" name="Rectangle 14"/>
          <p:cNvSpPr>
            <a:spLocks noChangeArrowheads="1"/>
          </p:cNvSpPr>
          <p:nvPr/>
        </p:nvSpPr>
        <p:spPr bwMode="auto">
          <a:xfrm>
            <a:off x="2017714" y="1743076"/>
            <a:ext cx="1567736"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a:t>TWO Cycle</a:t>
            </a:r>
          </a:p>
          <a:p>
            <a:pPr algn="l"/>
            <a:r>
              <a:rPr lang="en-US" altLang="zh-CN"/>
              <a:t>Load Latency</a:t>
            </a:r>
          </a:p>
        </p:txBody>
      </p:sp>
      <p:sp>
        <p:nvSpPr>
          <p:cNvPr id="689167" name="Rectangle 15"/>
          <p:cNvSpPr>
            <a:spLocks noChangeArrowheads="1"/>
          </p:cNvSpPr>
          <p:nvPr/>
        </p:nvSpPr>
        <p:spPr bwMode="auto">
          <a:xfrm>
            <a:off x="4322764" y="4067175"/>
            <a:ext cx="396875" cy="3762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IF</a:t>
            </a:r>
          </a:p>
        </p:txBody>
      </p:sp>
      <p:sp>
        <p:nvSpPr>
          <p:cNvPr id="689168" name="Rectangle 16"/>
          <p:cNvSpPr>
            <a:spLocks noChangeArrowheads="1"/>
          </p:cNvSpPr>
          <p:nvPr/>
        </p:nvSpPr>
        <p:spPr bwMode="auto">
          <a:xfrm>
            <a:off x="4989514" y="4067176"/>
            <a:ext cx="409575" cy="65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IS</a:t>
            </a:r>
          </a:p>
          <a:p>
            <a:pPr algn="l"/>
            <a:r>
              <a:rPr lang="en-US" altLang="zh-CN" b="0"/>
              <a:t>IF</a:t>
            </a:r>
          </a:p>
        </p:txBody>
      </p:sp>
      <p:sp>
        <p:nvSpPr>
          <p:cNvPr id="689169" name="Rectangle 17"/>
          <p:cNvSpPr>
            <a:spLocks noChangeArrowheads="1"/>
          </p:cNvSpPr>
          <p:nvPr/>
        </p:nvSpPr>
        <p:spPr bwMode="auto">
          <a:xfrm>
            <a:off x="5656264" y="4067176"/>
            <a:ext cx="498475" cy="9255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RF</a:t>
            </a:r>
          </a:p>
          <a:p>
            <a:pPr algn="l"/>
            <a:r>
              <a:rPr lang="en-US" altLang="zh-CN" b="0"/>
              <a:t>IS</a:t>
            </a:r>
          </a:p>
          <a:p>
            <a:pPr algn="l"/>
            <a:r>
              <a:rPr lang="en-US" altLang="zh-CN" b="0"/>
              <a:t>IF</a:t>
            </a:r>
          </a:p>
        </p:txBody>
      </p:sp>
      <p:sp>
        <p:nvSpPr>
          <p:cNvPr id="689170" name="Rectangle 18"/>
          <p:cNvSpPr>
            <a:spLocks noChangeArrowheads="1"/>
          </p:cNvSpPr>
          <p:nvPr/>
        </p:nvSpPr>
        <p:spPr bwMode="auto">
          <a:xfrm>
            <a:off x="6361114" y="4067175"/>
            <a:ext cx="498475" cy="1200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EX</a:t>
            </a:r>
          </a:p>
          <a:p>
            <a:pPr algn="l"/>
            <a:r>
              <a:rPr lang="en-US" altLang="zh-CN" b="0"/>
              <a:t>RF</a:t>
            </a:r>
          </a:p>
          <a:p>
            <a:pPr algn="l"/>
            <a:r>
              <a:rPr lang="en-US" altLang="zh-CN" b="0"/>
              <a:t>IS</a:t>
            </a:r>
          </a:p>
          <a:p>
            <a:pPr algn="l"/>
            <a:r>
              <a:rPr lang="en-US" altLang="zh-CN" b="0"/>
              <a:t>IF</a:t>
            </a:r>
          </a:p>
        </p:txBody>
      </p:sp>
      <p:sp>
        <p:nvSpPr>
          <p:cNvPr id="689171" name="Rectangle 19"/>
          <p:cNvSpPr>
            <a:spLocks noChangeArrowheads="1"/>
          </p:cNvSpPr>
          <p:nvPr/>
        </p:nvSpPr>
        <p:spPr bwMode="auto">
          <a:xfrm>
            <a:off x="7027864" y="4067175"/>
            <a:ext cx="498475" cy="1474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72" name="Rectangle 20"/>
          <p:cNvSpPr>
            <a:spLocks noChangeArrowheads="1"/>
          </p:cNvSpPr>
          <p:nvPr/>
        </p:nvSpPr>
        <p:spPr bwMode="auto">
          <a:xfrm>
            <a:off x="7732714" y="4067176"/>
            <a:ext cx="511175" cy="17494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DS</a:t>
            </a:r>
          </a:p>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73" name="Rectangle 21"/>
          <p:cNvSpPr>
            <a:spLocks noChangeArrowheads="1"/>
          </p:cNvSpPr>
          <p:nvPr/>
        </p:nvSpPr>
        <p:spPr bwMode="auto">
          <a:xfrm>
            <a:off x="8399464" y="4067176"/>
            <a:ext cx="511175" cy="20240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TC</a:t>
            </a:r>
          </a:p>
          <a:p>
            <a:pPr algn="l"/>
            <a:r>
              <a:rPr lang="en-US" altLang="zh-CN" b="0"/>
              <a:t>DS</a:t>
            </a:r>
          </a:p>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74" name="Rectangle 22"/>
          <p:cNvSpPr>
            <a:spLocks noChangeArrowheads="1"/>
          </p:cNvSpPr>
          <p:nvPr/>
        </p:nvSpPr>
        <p:spPr bwMode="auto">
          <a:xfrm>
            <a:off x="9104314" y="4067175"/>
            <a:ext cx="561975" cy="2298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b="0"/>
              <a:t>WB</a:t>
            </a:r>
          </a:p>
          <a:p>
            <a:pPr algn="l"/>
            <a:r>
              <a:rPr lang="en-US" altLang="zh-CN" b="0"/>
              <a:t>TC</a:t>
            </a:r>
          </a:p>
          <a:p>
            <a:pPr algn="l"/>
            <a:r>
              <a:rPr lang="en-US" altLang="zh-CN" b="0"/>
              <a:t>DS</a:t>
            </a:r>
          </a:p>
          <a:p>
            <a:pPr algn="l"/>
            <a:r>
              <a:rPr lang="en-US" altLang="zh-CN" b="0"/>
              <a:t>DF</a:t>
            </a:r>
          </a:p>
          <a:p>
            <a:pPr algn="l"/>
            <a:r>
              <a:rPr lang="en-US" altLang="zh-CN" b="0"/>
              <a:t>EX</a:t>
            </a:r>
          </a:p>
          <a:p>
            <a:pPr algn="l"/>
            <a:r>
              <a:rPr lang="en-US" altLang="zh-CN" b="0"/>
              <a:t>RF</a:t>
            </a:r>
          </a:p>
          <a:p>
            <a:pPr algn="l"/>
            <a:r>
              <a:rPr lang="en-US" altLang="zh-CN" b="0"/>
              <a:t>IS</a:t>
            </a:r>
          </a:p>
          <a:p>
            <a:pPr algn="l"/>
            <a:r>
              <a:rPr lang="en-US" altLang="zh-CN" b="0"/>
              <a:t>IF</a:t>
            </a:r>
          </a:p>
        </p:txBody>
      </p:sp>
      <p:sp>
        <p:nvSpPr>
          <p:cNvPr id="689175" name="Line 23"/>
          <p:cNvSpPr>
            <a:spLocks noChangeShapeType="1"/>
          </p:cNvSpPr>
          <p:nvPr/>
        </p:nvSpPr>
        <p:spPr bwMode="auto">
          <a:xfrm>
            <a:off x="6775450" y="4375150"/>
            <a:ext cx="203200" cy="8318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9176" name="Rectangle 24"/>
          <p:cNvSpPr>
            <a:spLocks noChangeArrowheads="1"/>
          </p:cNvSpPr>
          <p:nvPr/>
        </p:nvSpPr>
        <p:spPr bwMode="auto">
          <a:xfrm>
            <a:off x="6445250" y="4083050"/>
            <a:ext cx="330200" cy="2540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9177" name="Rectangle 25"/>
          <p:cNvSpPr>
            <a:spLocks noChangeArrowheads="1"/>
          </p:cNvSpPr>
          <p:nvPr/>
        </p:nvSpPr>
        <p:spPr bwMode="auto">
          <a:xfrm>
            <a:off x="7016750" y="5226050"/>
            <a:ext cx="406400" cy="2349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9178" name="Rectangle 26"/>
          <p:cNvSpPr>
            <a:spLocks noChangeArrowheads="1"/>
          </p:cNvSpPr>
          <p:nvPr/>
        </p:nvSpPr>
        <p:spPr bwMode="auto">
          <a:xfrm>
            <a:off x="1979614" y="4105276"/>
            <a:ext cx="1785744"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a:t>THREE Cycle</a:t>
            </a:r>
          </a:p>
          <a:p>
            <a:pPr algn="l"/>
            <a:r>
              <a:rPr lang="en-US" altLang="zh-CN"/>
              <a:t>Branch Latency</a:t>
            </a:r>
          </a:p>
        </p:txBody>
      </p:sp>
      <p:sp>
        <p:nvSpPr>
          <p:cNvPr id="689179" name="Rectangle 27"/>
          <p:cNvSpPr>
            <a:spLocks noChangeArrowheads="1"/>
          </p:cNvSpPr>
          <p:nvPr/>
        </p:nvSpPr>
        <p:spPr bwMode="auto">
          <a:xfrm>
            <a:off x="1960564" y="4695826"/>
            <a:ext cx="2352675" cy="65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zh-CN" altLang="zh-CN" b="0"/>
              <a:t>(</a:t>
            </a:r>
            <a:r>
              <a:rPr lang="en-US" altLang="zh-CN" b="0"/>
              <a:t>conditions evaluated</a:t>
            </a:r>
          </a:p>
          <a:p>
            <a:pPr algn="l"/>
            <a:r>
              <a:rPr lang="en-US" altLang="zh-CN" b="0"/>
              <a:t> during EX phase)</a:t>
            </a:r>
          </a:p>
        </p:txBody>
      </p:sp>
      <p:sp>
        <p:nvSpPr>
          <p:cNvPr id="689180" name="Rectangle 28"/>
          <p:cNvSpPr>
            <a:spLocks noChangeArrowheads="1"/>
          </p:cNvSpPr>
          <p:nvPr/>
        </p:nvSpPr>
        <p:spPr bwMode="auto">
          <a:xfrm>
            <a:off x="1979614" y="5324476"/>
            <a:ext cx="4568557"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l"/>
            <a:r>
              <a:rPr lang="en-US" altLang="zh-CN"/>
              <a:t>Delay slot plus two stalls</a:t>
            </a:r>
          </a:p>
          <a:p>
            <a:pPr algn="l"/>
            <a:r>
              <a:rPr lang="en-US" altLang="zh-CN"/>
              <a:t>Branch likely cancels delay slot if not taken</a:t>
            </a:r>
          </a:p>
        </p:txBody>
      </p:sp>
    </p:spTree>
    <p:extLst>
      <p:ext uri="{BB962C8B-B14F-4D97-AF65-F5344CB8AC3E}">
        <p14:creationId xmlns:p14="http://schemas.microsoft.com/office/powerpoint/2010/main" val="2826260868"/>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a:xfrm>
            <a:off x="767408" y="476672"/>
            <a:ext cx="7162800" cy="838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ctr" anchorCtr="0" compatLnSpc="1">
            <a:prstTxWarp prst="textNoShape">
              <a:avLst/>
            </a:prstTxWarp>
          </a:bodyPr>
          <a:lstStyle/>
          <a:p>
            <a:r>
              <a:rPr lang="en-US" altLang="zh-CN" dirty="0"/>
              <a:t>R4000 Performance</a:t>
            </a:r>
          </a:p>
        </p:txBody>
      </p:sp>
      <p:sp>
        <p:nvSpPr>
          <p:cNvPr id="690179" name="Rectangle 3"/>
          <p:cNvSpPr>
            <a:spLocks noGrp="1" noChangeArrowheads="1"/>
          </p:cNvSpPr>
          <p:nvPr>
            <p:ph type="body" idx="1"/>
          </p:nvPr>
        </p:nvSpPr>
        <p:spPr>
          <a:xfrm>
            <a:off x="191344" y="1628800"/>
            <a:ext cx="8915400" cy="1803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7" tIns="44450" rIns="90487" bIns="44450" numCol="1" anchor="t" anchorCtr="0" compatLnSpc="1">
            <a:prstTxWarp prst="textNoShape">
              <a:avLst/>
            </a:prstTxWarp>
          </a:bodyPr>
          <a:lstStyle/>
          <a:p>
            <a:pPr>
              <a:spcBef>
                <a:spcPct val="0"/>
              </a:spcBef>
            </a:pPr>
            <a:r>
              <a:rPr lang="en-US" altLang="zh-CN" dirty="0"/>
              <a:t>Not ideal CPI of 1:</a:t>
            </a:r>
            <a:endParaRPr lang="en-US" altLang="zh-CN" sz="2400" dirty="0"/>
          </a:p>
          <a:p>
            <a:pPr lvl="1">
              <a:spcBef>
                <a:spcPct val="0"/>
              </a:spcBef>
            </a:pPr>
            <a:r>
              <a:rPr lang="en-US" altLang="zh-CN" dirty="0">
                <a:solidFill>
                  <a:schemeClr val="accent2"/>
                </a:solidFill>
              </a:rPr>
              <a:t>Load stalls</a:t>
            </a:r>
            <a:r>
              <a:rPr lang="en-US" altLang="zh-CN" dirty="0"/>
              <a:t> (1 or 2 clock cycles)</a:t>
            </a:r>
          </a:p>
          <a:p>
            <a:pPr lvl="1">
              <a:spcBef>
                <a:spcPct val="0"/>
              </a:spcBef>
            </a:pPr>
            <a:r>
              <a:rPr lang="en-US" altLang="zh-CN" dirty="0">
                <a:solidFill>
                  <a:schemeClr val="accent1"/>
                </a:solidFill>
              </a:rPr>
              <a:t>Branch stalls</a:t>
            </a:r>
            <a:r>
              <a:rPr lang="en-US" altLang="zh-CN" dirty="0"/>
              <a:t> </a:t>
            </a:r>
            <a:r>
              <a:rPr lang="en-US" altLang="zh-CN" dirty="0" smtClean="0"/>
              <a:t/>
            </a:r>
            <a:br>
              <a:rPr lang="en-US" altLang="zh-CN" dirty="0" smtClean="0"/>
            </a:br>
            <a:r>
              <a:rPr lang="en-US" altLang="zh-CN" dirty="0" smtClean="0"/>
              <a:t>(</a:t>
            </a:r>
            <a:r>
              <a:rPr lang="en-US" altLang="zh-CN" dirty="0"/>
              <a:t>2 cycles + unfilled slots)</a:t>
            </a:r>
          </a:p>
          <a:p>
            <a:pPr lvl="1">
              <a:spcBef>
                <a:spcPct val="0"/>
              </a:spcBef>
            </a:pPr>
            <a:r>
              <a:rPr lang="en-US" altLang="zh-CN" dirty="0">
                <a:solidFill>
                  <a:srgbClr val="00B050"/>
                </a:solidFill>
              </a:rPr>
              <a:t>FP result stalls</a:t>
            </a:r>
            <a:r>
              <a:rPr lang="en-US" altLang="zh-CN" dirty="0"/>
              <a:t>: </a:t>
            </a:r>
            <a:r>
              <a:rPr lang="en-US" altLang="zh-CN" dirty="0" smtClean="0"/>
              <a:t/>
            </a:r>
            <a:br>
              <a:rPr lang="en-US" altLang="zh-CN" dirty="0" smtClean="0"/>
            </a:br>
            <a:r>
              <a:rPr lang="en-US" altLang="zh-CN" dirty="0" smtClean="0"/>
              <a:t>RAW </a:t>
            </a:r>
            <a:r>
              <a:rPr lang="en-US" altLang="zh-CN" dirty="0"/>
              <a:t>data hazard (latency)</a:t>
            </a:r>
          </a:p>
          <a:p>
            <a:pPr lvl="1">
              <a:spcBef>
                <a:spcPct val="0"/>
              </a:spcBef>
            </a:pPr>
            <a:r>
              <a:rPr lang="en-US" altLang="zh-CN" dirty="0">
                <a:solidFill>
                  <a:srgbClr val="DC0081"/>
                </a:solidFill>
              </a:rPr>
              <a:t>FP structural stalls</a:t>
            </a:r>
            <a:r>
              <a:rPr lang="en-US" altLang="zh-CN" dirty="0"/>
              <a:t>: </a:t>
            </a:r>
            <a:r>
              <a:rPr lang="en-US" altLang="zh-CN" dirty="0" smtClean="0"/>
              <a:t/>
            </a:r>
            <a:br>
              <a:rPr lang="en-US" altLang="zh-CN" dirty="0" smtClean="0"/>
            </a:br>
            <a:r>
              <a:rPr lang="en-US" altLang="zh-CN" dirty="0" smtClean="0"/>
              <a:t>Not </a:t>
            </a:r>
            <a:r>
              <a:rPr lang="en-US" altLang="zh-CN" dirty="0"/>
              <a:t>enough FP hardware </a:t>
            </a:r>
            <a:r>
              <a:rPr lang="en-US" altLang="zh-CN" dirty="0" smtClean="0"/>
              <a:t/>
            </a:r>
            <a:br>
              <a:rPr lang="en-US" altLang="zh-CN" dirty="0" smtClean="0"/>
            </a:br>
            <a:r>
              <a:rPr lang="en-US" altLang="zh-CN" dirty="0" smtClean="0"/>
              <a:t>(</a:t>
            </a:r>
            <a:r>
              <a:rPr lang="en-US" altLang="zh-CN" dirty="0"/>
              <a:t>parallelism)</a:t>
            </a:r>
          </a:p>
        </p:txBody>
      </p:sp>
      <p:graphicFrame>
        <p:nvGraphicFramePr>
          <p:cNvPr id="690180" name="Object 4"/>
          <p:cNvGraphicFramePr>
            <a:graphicFrameLocks/>
          </p:cNvGraphicFramePr>
          <p:nvPr>
            <p:extLst>
              <p:ext uri="{D42A27DB-BD31-4B8C-83A1-F6EECF244321}">
                <p14:modId xmlns:p14="http://schemas.microsoft.com/office/powerpoint/2010/main" val="1724732043"/>
              </p:ext>
            </p:extLst>
          </p:nvPr>
        </p:nvGraphicFramePr>
        <p:xfrm>
          <a:off x="4902200" y="2068728"/>
          <a:ext cx="7289800" cy="4813300"/>
        </p:xfrm>
        <a:graphic>
          <a:graphicData uri="http://schemas.openxmlformats.org/presentationml/2006/ole">
            <mc:AlternateContent xmlns:mc="http://schemas.openxmlformats.org/markup-compatibility/2006">
              <mc:Choice xmlns:v="urn:schemas-microsoft-com:vml" Requires="v">
                <p:oleObj spid="_x0000_s20538" name="图表" r:id="rId4" imgW="7302500" imgH="4826000" progId="Excel.Chart.8">
                  <p:embed followColorScheme="full"/>
                </p:oleObj>
              </mc:Choice>
              <mc:Fallback>
                <p:oleObj name="图表" r:id="rId4" imgW="7302500" imgH="4826000" progId="Excel.Chart.8">
                  <p:embed followColorScheme="full"/>
                  <p:pic>
                    <p:nvPicPr>
                      <p:cNvPr id="69018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2200" y="2068728"/>
                        <a:ext cx="7289800" cy="4813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75576065"/>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Multibanked Caches</a:t>
            </a:r>
            <a:endParaRPr lang="en-AU" dirty="0"/>
          </a:p>
        </p:txBody>
      </p:sp>
      <p:sp>
        <p:nvSpPr>
          <p:cNvPr id="242691" name="Rectangle 3"/>
          <p:cNvSpPr>
            <a:spLocks noGrp="1" noChangeArrowheads="1"/>
          </p:cNvSpPr>
          <p:nvPr>
            <p:ph type="body" idx="1"/>
          </p:nvPr>
        </p:nvSpPr>
        <p:spPr/>
        <p:txBody>
          <a:bodyPr/>
          <a:lstStyle/>
          <a:p>
            <a:r>
              <a:rPr lang="en-US" dirty="0" smtClean="0"/>
              <a:t>Organize cache as independent banks to support simultaneous access</a:t>
            </a:r>
          </a:p>
          <a:p>
            <a:pPr lvl="1"/>
            <a:r>
              <a:rPr lang="en-US" dirty="0" smtClean="0"/>
              <a:t>ARM Cortex-A8 supports 1-4 banks for L2</a:t>
            </a:r>
          </a:p>
          <a:p>
            <a:pPr lvl="1"/>
            <a:r>
              <a:rPr lang="en-US" dirty="0" smtClean="0"/>
              <a:t>Intel i7 supports 4 banks for L1 and 8 banks for L2</a:t>
            </a:r>
          </a:p>
          <a:p>
            <a:r>
              <a:rPr lang="en-US" dirty="0" smtClean="0"/>
              <a:t>Interleave banks according to block address</a:t>
            </a:r>
          </a:p>
          <a:p>
            <a:pPr lvl="1"/>
            <a:r>
              <a:rPr lang="en-US" altLang="en-US" dirty="0"/>
              <a:t>Assuming 64 bytes per block, each of these addresses would be multiplied by 64 to get byte addressing</a:t>
            </a:r>
            <a:endParaRPr lang="en-US" dirty="0"/>
          </a:p>
        </p:txBody>
      </p:sp>
      <p:pic>
        <p:nvPicPr>
          <p:cNvPr id="9" name="Picture 2" descr="Z:\WOMAT\Production\Artfinal\0000000038\MKCAD\978-0-12-811905-1\0003165541\XMLLowres\f02-10-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255" y="4653137"/>
            <a:ext cx="10919576"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441543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Use HBM to Extend Hierarchy</a:t>
            </a:r>
            <a:endParaRPr lang="en-AU" dirty="0"/>
          </a:p>
        </p:txBody>
      </p:sp>
      <p:sp>
        <p:nvSpPr>
          <p:cNvPr id="242691" name="Rectangle 3"/>
          <p:cNvSpPr>
            <a:spLocks noGrp="1" noChangeArrowheads="1"/>
          </p:cNvSpPr>
          <p:nvPr>
            <p:ph type="body" idx="1"/>
          </p:nvPr>
        </p:nvSpPr>
        <p:spPr/>
        <p:txBody>
          <a:bodyPr/>
          <a:lstStyle/>
          <a:p>
            <a:r>
              <a:rPr lang="en-US" dirty="0" smtClean="0"/>
              <a:t>Use HBM as off-chip L4 cache: 8GiB to 64 </a:t>
            </a:r>
            <a:r>
              <a:rPr lang="en-US" dirty="0" err="1" smtClean="0"/>
              <a:t>GiB</a:t>
            </a:r>
            <a:endParaRPr lang="en-US" dirty="0" smtClean="0"/>
          </a:p>
          <a:p>
            <a:pPr lvl="1"/>
            <a:r>
              <a:rPr lang="en-US" dirty="0" smtClean="0"/>
              <a:t>High bandwidth than DDR5, but still high access latency</a:t>
            </a:r>
          </a:p>
          <a:p>
            <a:r>
              <a:rPr lang="en-US" dirty="0" smtClean="0"/>
              <a:t>Where to store the TAG: use </a:t>
            </a:r>
            <a:r>
              <a:rPr lang="en-US" altLang="zh-CN" dirty="0" smtClean="0"/>
              <a:t>SRAM on the CPU chip</a:t>
            </a:r>
            <a:endParaRPr lang="en-US" dirty="0" smtClean="0"/>
          </a:p>
          <a:p>
            <a:pPr lvl="1"/>
            <a:r>
              <a:rPr lang="en-US" dirty="0" smtClean="0"/>
              <a:t>Smaller blocks require substantial tag storage</a:t>
            </a:r>
          </a:p>
          <a:p>
            <a:pPr lvl="1"/>
            <a:r>
              <a:rPr lang="en-US" dirty="0" smtClean="0"/>
              <a:t>Larger blocks are potentially inefficient (may prefer </a:t>
            </a:r>
            <a:r>
              <a:rPr lang="en-US" dirty="0" err="1" smtClean="0"/>
              <a:t>subblock</a:t>
            </a:r>
            <a:r>
              <a:rPr lang="en-US" dirty="0" smtClean="0"/>
              <a:t>) </a:t>
            </a:r>
          </a:p>
          <a:p>
            <a:endParaRPr lang="en-US" dirty="0" smtClean="0"/>
          </a:p>
          <a:p>
            <a:r>
              <a:rPr lang="en-US" dirty="0" smtClean="0"/>
              <a:t>One approach (L-H):</a:t>
            </a:r>
          </a:p>
          <a:p>
            <a:pPr lvl="1"/>
            <a:r>
              <a:rPr lang="en-US" dirty="0" smtClean="0"/>
              <a:t>Each SDRAM row is a block index</a:t>
            </a:r>
          </a:p>
          <a:p>
            <a:pPr lvl="1"/>
            <a:r>
              <a:rPr lang="en-US" dirty="0" smtClean="0"/>
              <a:t>Each row contains set of tags and 29 data segments</a:t>
            </a:r>
          </a:p>
          <a:p>
            <a:pPr lvl="1"/>
            <a:r>
              <a:rPr lang="en-US" dirty="0" smtClean="0"/>
              <a:t>29-set associative</a:t>
            </a:r>
          </a:p>
          <a:p>
            <a:pPr lvl="1"/>
            <a:r>
              <a:rPr lang="en-US" dirty="0" smtClean="0"/>
              <a:t>Hit requires a CAS</a:t>
            </a:r>
          </a:p>
          <a:p>
            <a:pPr lvl="1"/>
            <a:endParaRPr lang="en-US" dirty="0"/>
          </a:p>
        </p:txBody>
      </p:sp>
    </p:spTree>
    <p:extLst>
      <p:ext uri="{BB962C8B-B14F-4D97-AF65-F5344CB8AC3E}">
        <p14:creationId xmlns:p14="http://schemas.microsoft.com/office/powerpoint/2010/main" val="3599060316"/>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Use HBM to Extend Hierarchy</a:t>
            </a:r>
            <a:endParaRPr lang="en-AU" dirty="0"/>
          </a:p>
        </p:txBody>
      </p:sp>
      <p:sp>
        <p:nvSpPr>
          <p:cNvPr id="242691" name="Rectangle 3"/>
          <p:cNvSpPr>
            <a:spLocks noGrp="1" noChangeArrowheads="1"/>
          </p:cNvSpPr>
          <p:nvPr>
            <p:ph type="body" idx="1"/>
          </p:nvPr>
        </p:nvSpPr>
        <p:spPr/>
        <p:txBody>
          <a:bodyPr/>
          <a:lstStyle/>
          <a:p>
            <a:r>
              <a:rPr lang="en-US" dirty="0" smtClean="0"/>
              <a:t>Another approach (Alloy cache):</a:t>
            </a:r>
          </a:p>
          <a:p>
            <a:pPr lvl="1"/>
            <a:r>
              <a:rPr lang="en-US" dirty="0" smtClean="0"/>
              <a:t>Mold tag and data together</a:t>
            </a:r>
          </a:p>
          <a:p>
            <a:pPr lvl="1"/>
            <a:r>
              <a:rPr lang="en-US" dirty="0" smtClean="0"/>
              <a:t>Use direct mapped mapping</a:t>
            </a:r>
          </a:p>
          <a:p>
            <a:pPr lvl="1"/>
            <a:endParaRPr lang="en-US" dirty="0" smtClean="0"/>
          </a:p>
          <a:p>
            <a:r>
              <a:rPr lang="en-US" dirty="0" smtClean="0"/>
              <a:t>Both schemes require two DRAM accesses for misses</a:t>
            </a:r>
          </a:p>
          <a:p>
            <a:pPr lvl="1"/>
            <a:r>
              <a:rPr lang="en-US" dirty="0" smtClean="0"/>
              <a:t>Two solutions:</a:t>
            </a:r>
          </a:p>
          <a:p>
            <a:pPr lvl="2"/>
            <a:r>
              <a:rPr lang="en-US" dirty="0" smtClean="0"/>
              <a:t>Use map to keep track of blocks</a:t>
            </a:r>
          </a:p>
          <a:p>
            <a:pPr lvl="2"/>
            <a:r>
              <a:rPr lang="en-US" dirty="0" smtClean="0"/>
              <a:t>Predict likely misses</a:t>
            </a:r>
            <a:endParaRPr lang="en-US" dirty="0"/>
          </a:p>
        </p:txBody>
      </p:sp>
    </p:spTree>
    <p:extLst>
      <p:ext uri="{BB962C8B-B14F-4D97-AF65-F5344CB8AC3E}">
        <p14:creationId xmlns:p14="http://schemas.microsoft.com/office/powerpoint/2010/main" val="404942738"/>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Average hit time latency in clock cycles </a:t>
            </a:r>
            <a:endParaRPr lang="zh-CN" altLang="en-US" dirty="0"/>
          </a:p>
        </p:txBody>
      </p:sp>
      <p:sp>
        <p:nvSpPr>
          <p:cNvPr id="3" name="内容占位符 2"/>
          <p:cNvSpPr>
            <a:spLocks noGrp="1"/>
          </p:cNvSpPr>
          <p:nvPr>
            <p:ph idx="1"/>
          </p:nvPr>
        </p:nvSpPr>
        <p:spPr>
          <a:xfrm>
            <a:off x="551384" y="1556792"/>
            <a:ext cx="3600400" cy="5112568"/>
          </a:xfrm>
        </p:spPr>
        <p:txBody>
          <a:bodyPr/>
          <a:lstStyle/>
          <a:p>
            <a:r>
              <a:rPr lang="en-US" altLang="zh-CN" dirty="0"/>
              <a:t>F</a:t>
            </a:r>
            <a:r>
              <a:rPr lang="en-US" altLang="zh-CN" dirty="0" smtClean="0"/>
              <a:t>or </a:t>
            </a:r>
            <a:r>
              <a:rPr lang="en-US" altLang="zh-CN" dirty="0"/>
              <a:t>the L-H scheme, a currently-impractical scheme using SRAM for the tags, and the alloy cache organization</a:t>
            </a:r>
            <a:endParaRPr lang="zh-CN" altLang="en-US" dirty="0"/>
          </a:p>
        </p:txBody>
      </p:sp>
      <p:pic>
        <p:nvPicPr>
          <p:cNvPr id="4" name="图片 3"/>
          <p:cNvPicPr>
            <a:picLocks noChangeAspect="1"/>
          </p:cNvPicPr>
          <p:nvPr/>
        </p:nvPicPr>
        <p:blipFill>
          <a:blip r:embed="rId2"/>
          <a:stretch>
            <a:fillRect/>
          </a:stretch>
        </p:blipFill>
        <p:spPr>
          <a:xfrm>
            <a:off x="4439816" y="1609186"/>
            <a:ext cx="7255459" cy="5060174"/>
          </a:xfrm>
          <a:prstGeom prst="rect">
            <a:avLst/>
          </a:prstGeom>
        </p:spPr>
      </p:pic>
    </p:spTree>
    <p:extLst>
      <p:ext uri="{BB962C8B-B14F-4D97-AF65-F5344CB8AC3E}">
        <p14:creationId xmlns:p14="http://schemas.microsoft.com/office/powerpoint/2010/main" val="213962411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Use HBM to Extend Hierarchy</a:t>
            </a:r>
            <a:endParaRPr lang="en-AU" dirty="0"/>
          </a:p>
        </p:txBody>
      </p:sp>
      <p:sp>
        <p:nvSpPr>
          <p:cNvPr id="5" name="内容占位符 4"/>
          <p:cNvSpPr>
            <a:spLocks noGrp="1"/>
          </p:cNvSpPr>
          <p:nvPr>
            <p:ph idx="1"/>
          </p:nvPr>
        </p:nvSpPr>
        <p:spPr>
          <a:xfrm>
            <a:off x="191344" y="1556792"/>
            <a:ext cx="4680520" cy="5112568"/>
          </a:xfrm>
        </p:spPr>
        <p:txBody>
          <a:bodyPr/>
          <a:lstStyle/>
          <a:p>
            <a:r>
              <a:rPr lang="en-US" altLang="zh-CN" dirty="0" smtClean="0"/>
              <a:t>Performance </a:t>
            </a:r>
            <a:r>
              <a:rPr lang="en-US" altLang="zh-CN" dirty="0"/>
              <a:t>speedup </a:t>
            </a:r>
            <a:r>
              <a:rPr lang="en-US" altLang="zh-CN" dirty="0" smtClean="0"/>
              <a:t>for </a:t>
            </a:r>
            <a:r>
              <a:rPr lang="en-US" altLang="zh-CN" dirty="0"/>
              <a:t>the LH scheme, an SRAM tag scheme, and an ideal L4 (Ideal); a speedup of 1 indicates no improvement with the L4 cache, and a speedup of 2 would be achievable if L4 were perfect and took no access time.</a:t>
            </a:r>
            <a:endParaRPr lang="zh-CN" altLang="en-US" dirty="0"/>
          </a:p>
        </p:txBody>
      </p:sp>
      <p:pic>
        <p:nvPicPr>
          <p:cNvPr id="6" name="图片 5"/>
          <p:cNvPicPr>
            <a:picLocks noChangeAspect="1"/>
          </p:cNvPicPr>
          <p:nvPr/>
        </p:nvPicPr>
        <p:blipFill>
          <a:blip r:embed="rId3"/>
          <a:stretch>
            <a:fillRect/>
          </a:stretch>
        </p:blipFill>
        <p:spPr>
          <a:xfrm>
            <a:off x="5097417" y="1772816"/>
            <a:ext cx="6917593" cy="4824536"/>
          </a:xfrm>
          <a:prstGeom prst="rect">
            <a:avLst/>
          </a:prstGeom>
        </p:spPr>
      </p:pic>
    </p:spTree>
    <p:extLst>
      <p:ext uri="{BB962C8B-B14F-4D97-AF65-F5344CB8AC3E}">
        <p14:creationId xmlns:p14="http://schemas.microsoft.com/office/powerpoint/2010/main" val="1746361010"/>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Cache Optimization Summary</a:t>
            </a:r>
          </a:p>
        </p:txBody>
      </p:sp>
      <p:sp>
        <p:nvSpPr>
          <p:cNvPr id="672771" name="Rectangle 3"/>
          <p:cNvSpPr>
            <a:spLocks noGrp="1" noChangeArrowheads="1"/>
          </p:cNvSpPr>
          <p:nvPr>
            <p:ph type="body" idx="1"/>
          </p:nvPr>
        </p:nvSpPr>
        <p:spPr>
          <a:xfrm>
            <a:off x="2495550" y="1526587"/>
            <a:ext cx="8172450" cy="43624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0" indent="0">
              <a:spcBef>
                <a:spcPct val="0"/>
              </a:spcBef>
              <a:buNone/>
              <a:tabLst>
                <a:tab pos="4343400" algn="ctr"/>
                <a:tab pos="5086350" algn="ctr"/>
                <a:tab pos="5600700" algn="ctr"/>
                <a:tab pos="7258050" algn="r"/>
              </a:tabLst>
            </a:pPr>
            <a:r>
              <a:rPr lang="en-US" altLang="zh-CN" sz="2400" i="1"/>
              <a:t>Technique	MR	MP	  HT	      Complexity</a:t>
            </a:r>
          </a:p>
          <a:p>
            <a:pPr marL="0" indent="0">
              <a:spcBef>
                <a:spcPct val="0"/>
              </a:spcBef>
              <a:buNone/>
              <a:tabLst>
                <a:tab pos="4343400" algn="ctr"/>
                <a:tab pos="5086350" algn="ctr"/>
                <a:tab pos="5600700" algn="ctr"/>
                <a:tab pos="7258050" algn="r"/>
              </a:tabLst>
            </a:pPr>
            <a:r>
              <a:rPr lang="en-US" altLang="zh-CN" sz="2400"/>
              <a:t>Larger Block Size	+	-		</a:t>
            </a:r>
            <a:r>
              <a:rPr lang="en-US" altLang="zh-CN" sz="2400">
                <a:solidFill>
                  <a:schemeClr val="accent2"/>
                </a:solidFill>
              </a:rPr>
              <a:t>0</a:t>
            </a:r>
            <a:r>
              <a:rPr lang="en-US" altLang="zh-CN" sz="2400"/>
              <a:t/>
            </a:r>
            <a:br>
              <a:rPr lang="en-US" altLang="zh-CN" sz="2400"/>
            </a:br>
            <a:r>
              <a:rPr lang="en-US" altLang="zh-CN" sz="2400"/>
              <a:t>Higher Associativity	+		   - 	1</a:t>
            </a:r>
            <a:br>
              <a:rPr lang="en-US" altLang="zh-CN" sz="2400"/>
            </a:br>
            <a:r>
              <a:rPr lang="en-US" altLang="zh-CN" sz="2400"/>
              <a:t>Victim Caches	+			2</a:t>
            </a:r>
            <a:br>
              <a:rPr lang="en-US" altLang="zh-CN" sz="2400"/>
            </a:br>
            <a:r>
              <a:rPr lang="en-US" altLang="zh-CN" sz="2400"/>
              <a:t>Pseudo-Associative Caches 	+			2</a:t>
            </a:r>
            <a:br>
              <a:rPr lang="en-US" altLang="zh-CN" sz="2400"/>
            </a:br>
            <a:r>
              <a:rPr lang="en-US" altLang="zh-CN" sz="2400"/>
              <a:t>HW Prefetching of Instr/Data	+			2</a:t>
            </a:r>
            <a:br>
              <a:rPr lang="en-US" altLang="zh-CN" sz="2400"/>
            </a:br>
            <a:r>
              <a:rPr lang="en-US" altLang="zh-CN" sz="2400"/>
              <a:t>Compiler Controlled Prefetching	+			</a:t>
            </a:r>
            <a:r>
              <a:rPr lang="en-US" altLang="zh-CN" sz="2400">
                <a:solidFill>
                  <a:schemeClr val="hlink"/>
                </a:solidFill>
              </a:rPr>
              <a:t>3</a:t>
            </a:r>
            <a:r>
              <a:rPr lang="en-US" altLang="zh-CN" sz="2400"/>
              <a:t/>
            </a:r>
            <a:br>
              <a:rPr lang="en-US" altLang="zh-CN" sz="2400"/>
            </a:br>
            <a:r>
              <a:rPr lang="en-US" altLang="zh-CN" sz="2400"/>
              <a:t>Compiler Reduce Misses	+			</a:t>
            </a:r>
            <a:r>
              <a:rPr lang="en-US" altLang="zh-CN" sz="2400">
                <a:solidFill>
                  <a:schemeClr val="accent2"/>
                </a:solidFill>
              </a:rPr>
              <a:t>0</a:t>
            </a:r>
            <a:endParaRPr lang="en-US" altLang="zh-CN" sz="2400"/>
          </a:p>
          <a:p>
            <a:pPr marL="0" indent="0">
              <a:spcBef>
                <a:spcPct val="0"/>
              </a:spcBef>
              <a:buNone/>
              <a:tabLst>
                <a:tab pos="4343400" algn="ctr"/>
                <a:tab pos="5086350" algn="ctr"/>
                <a:tab pos="5600700" algn="ctr"/>
                <a:tab pos="7258050" algn="r"/>
              </a:tabLst>
            </a:pPr>
            <a:r>
              <a:rPr lang="en-US" altLang="zh-CN" sz="2400"/>
              <a:t>Priority to Read Misses		+		1</a:t>
            </a:r>
            <a:br>
              <a:rPr lang="en-US" altLang="zh-CN" sz="2400"/>
            </a:br>
            <a:r>
              <a:rPr lang="en-US" altLang="zh-CN" sz="2400"/>
              <a:t>Subblock Placement 		+	+	1</a:t>
            </a:r>
            <a:br>
              <a:rPr lang="en-US" altLang="zh-CN" sz="2400"/>
            </a:br>
            <a:r>
              <a:rPr lang="en-US" altLang="zh-CN" sz="2400"/>
              <a:t>Early Restart &amp; Critical Word 1st 		+		2</a:t>
            </a:r>
            <a:br>
              <a:rPr lang="en-US" altLang="zh-CN" sz="2400"/>
            </a:br>
            <a:r>
              <a:rPr lang="en-US" altLang="zh-CN" sz="2400"/>
              <a:t>Non-Blocking Caches		+		</a:t>
            </a:r>
            <a:r>
              <a:rPr lang="en-US" altLang="zh-CN" sz="2400">
                <a:solidFill>
                  <a:schemeClr val="hlink"/>
                </a:solidFill>
              </a:rPr>
              <a:t>3</a:t>
            </a:r>
            <a:r>
              <a:rPr lang="en-US" altLang="zh-CN" sz="2400"/>
              <a:t/>
            </a:r>
            <a:br>
              <a:rPr lang="en-US" altLang="zh-CN" sz="2400"/>
            </a:br>
            <a:r>
              <a:rPr lang="en-US" altLang="zh-CN" sz="2400"/>
              <a:t>Second Level  Caches		+		2</a:t>
            </a:r>
          </a:p>
          <a:p>
            <a:pPr marL="0" indent="0">
              <a:spcBef>
                <a:spcPct val="0"/>
              </a:spcBef>
              <a:buNone/>
              <a:tabLst>
                <a:tab pos="4343400" algn="ctr"/>
                <a:tab pos="5086350" algn="ctr"/>
                <a:tab pos="5600700" algn="ctr"/>
                <a:tab pos="7258050" algn="r"/>
              </a:tabLst>
            </a:pPr>
            <a:r>
              <a:rPr lang="en-US" altLang="zh-CN" sz="2400"/>
              <a:t>Small &amp; Simple Caches	-	+	</a:t>
            </a:r>
            <a:r>
              <a:rPr lang="en-US" altLang="zh-CN" sz="2400">
                <a:solidFill>
                  <a:schemeClr val="accent2"/>
                </a:solidFill>
              </a:rPr>
              <a:t>0</a:t>
            </a:r>
            <a:r>
              <a:rPr lang="en-US" altLang="zh-CN" sz="2400"/>
              <a:t/>
            </a:r>
            <a:br>
              <a:rPr lang="en-US" altLang="zh-CN" sz="2400"/>
            </a:br>
            <a:r>
              <a:rPr lang="en-US" altLang="zh-CN" sz="2400"/>
              <a:t>Avoiding Address Translation			+	2</a:t>
            </a:r>
            <a:br>
              <a:rPr lang="en-US" altLang="zh-CN" sz="2400"/>
            </a:br>
            <a:r>
              <a:rPr lang="en-US" altLang="zh-CN" sz="2400"/>
              <a:t>Pipelining Writes			+	1</a:t>
            </a:r>
          </a:p>
        </p:txBody>
      </p:sp>
      <p:sp>
        <p:nvSpPr>
          <p:cNvPr id="672772" name="Line 4"/>
          <p:cNvSpPr>
            <a:spLocks noChangeShapeType="1"/>
          </p:cNvSpPr>
          <p:nvPr/>
        </p:nvSpPr>
        <p:spPr bwMode="auto">
          <a:xfrm>
            <a:off x="1898650" y="4117387"/>
            <a:ext cx="86042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773" name="Line 5"/>
          <p:cNvSpPr>
            <a:spLocks noChangeShapeType="1"/>
          </p:cNvSpPr>
          <p:nvPr/>
        </p:nvSpPr>
        <p:spPr bwMode="auto">
          <a:xfrm>
            <a:off x="1898650" y="5869987"/>
            <a:ext cx="860425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774" name="Rectangle 6"/>
          <p:cNvSpPr>
            <a:spLocks noChangeArrowheads="1"/>
          </p:cNvSpPr>
          <p:nvPr/>
        </p:nvSpPr>
        <p:spPr bwMode="auto">
          <a:xfrm rot="16200000">
            <a:off x="1679721" y="3154542"/>
            <a:ext cx="111889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miss rate</a:t>
            </a:r>
          </a:p>
        </p:txBody>
      </p:sp>
      <p:sp>
        <p:nvSpPr>
          <p:cNvPr id="672775" name="Rectangle 7"/>
          <p:cNvSpPr>
            <a:spLocks noChangeArrowheads="1"/>
          </p:cNvSpPr>
          <p:nvPr/>
        </p:nvSpPr>
        <p:spPr bwMode="auto">
          <a:xfrm rot="16200000">
            <a:off x="1471101" y="5878692"/>
            <a:ext cx="92653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a:r>
              <a:rPr lang="en-US" altLang="zh-CN">
                <a:latin typeface="Arial" panose="020B0604020202020204" pitchFamily="34" charset="0"/>
              </a:rPr>
              <a:t>hit time</a:t>
            </a:r>
          </a:p>
        </p:txBody>
      </p:sp>
      <p:sp>
        <p:nvSpPr>
          <p:cNvPr id="672776" name="Rectangle 8"/>
          <p:cNvSpPr>
            <a:spLocks noChangeArrowheads="1"/>
          </p:cNvSpPr>
          <p:nvPr/>
        </p:nvSpPr>
        <p:spPr bwMode="auto">
          <a:xfrm rot="16200000">
            <a:off x="1595720" y="4433681"/>
            <a:ext cx="926537"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Arial" panose="020B0604020202020204" pitchFamily="34" charset="0"/>
              </a:rPr>
              <a:t>miss</a:t>
            </a:r>
          </a:p>
          <a:p>
            <a:r>
              <a:rPr lang="en-US" altLang="zh-CN">
                <a:latin typeface="Arial" panose="020B0604020202020204" pitchFamily="34" charset="0"/>
              </a:rPr>
              <a:t>penalty</a:t>
            </a:r>
          </a:p>
        </p:txBody>
      </p:sp>
    </p:spTree>
    <p:extLst>
      <p:ext uri="{BB962C8B-B14F-4D97-AF65-F5344CB8AC3E}">
        <p14:creationId xmlns:p14="http://schemas.microsoft.com/office/powerpoint/2010/main" val="3674184428"/>
      </p:ext>
    </p:extLst>
  </p:cSld>
  <p:clrMapOvr>
    <a:masterClrMapping/>
  </p:clrMapOvr>
  <p:transition>
    <p:wipe dir="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Summary</a:t>
            </a:r>
            <a:endParaRPr lang="en-AU" dirty="0"/>
          </a:p>
        </p:txBody>
      </p:sp>
      <p:sp>
        <p:nvSpPr>
          <p:cNvPr id="3" name="内容占位符 2"/>
          <p:cNvSpPr>
            <a:spLocks noGrp="1"/>
          </p:cNvSpPr>
          <p:nvPr>
            <p:ph idx="1"/>
          </p:nvPr>
        </p:nvSpPr>
        <p:spPr>
          <a:xfrm>
            <a:off x="34010" y="1412776"/>
            <a:ext cx="4837854" cy="4822913"/>
          </a:xfrm>
        </p:spPr>
        <p:txBody>
          <a:bodyPr/>
          <a:lstStyle/>
          <a:p>
            <a:r>
              <a:rPr lang="en-US" altLang="zh-CN" dirty="0"/>
              <a:t>Although generally a technique helps only one factor, prefetching can reduce misses if done sufficiently early; if not, it can reduce miss penalty. + means that the technique improves the factor, − means it hurts that factor, and blank means it has no impact. The complexity measure is subjective, with 0 being the easiest and 3 being a challenge</a:t>
            </a:r>
            <a:endParaRPr lang="zh-CN" altLang="en-US" dirty="0"/>
          </a:p>
        </p:txBody>
      </p:sp>
      <p:pic>
        <p:nvPicPr>
          <p:cNvPr id="4" name="图片 3"/>
          <p:cNvPicPr>
            <a:picLocks noChangeAspect="1"/>
          </p:cNvPicPr>
          <p:nvPr/>
        </p:nvPicPr>
        <p:blipFill>
          <a:blip r:embed="rId3"/>
          <a:stretch>
            <a:fillRect/>
          </a:stretch>
        </p:blipFill>
        <p:spPr>
          <a:xfrm>
            <a:off x="4748037" y="1052736"/>
            <a:ext cx="7335277" cy="5616625"/>
          </a:xfrm>
          <a:prstGeom prst="rect">
            <a:avLst/>
          </a:prstGeom>
        </p:spPr>
      </p:pic>
    </p:spTree>
    <p:extLst>
      <p:ext uri="{BB962C8B-B14F-4D97-AF65-F5344CB8AC3E}">
        <p14:creationId xmlns:p14="http://schemas.microsoft.com/office/powerpoint/2010/main" val="750662228"/>
      </p:ext>
    </p:extLst>
  </p:cSld>
  <p:clrMapOvr>
    <a:masterClrMapping/>
  </p:clrMapOvr>
  <p:timing>
    <p:tnLst>
      <p:par>
        <p:cTn id="1" dur="indefinite" restart="never" nodeType="tmRoot"/>
      </p:par>
    </p:tnLst>
  </p:timing>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3478</TotalTime>
  <Words>10440</Words>
  <Application>Microsoft Office PowerPoint</Application>
  <PresentationFormat>宽屏</PresentationFormat>
  <Paragraphs>1752</Paragraphs>
  <Slides>136</Slides>
  <Notes>49</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136</vt:i4>
      </vt:variant>
    </vt:vector>
  </HeadingPairs>
  <TitlesOfParts>
    <vt:vector size="154" baseType="lpstr">
      <vt:lpstr>等线</vt:lpstr>
      <vt:lpstr>等线 Light</vt:lpstr>
      <vt:lpstr>黑体</vt:lpstr>
      <vt:lpstr>宋体</vt:lpstr>
      <vt:lpstr>微软雅黑</vt:lpstr>
      <vt:lpstr>Arial</vt:lpstr>
      <vt:lpstr>Calibri</vt:lpstr>
      <vt:lpstr>Calibri Light</vt:lpstr>
      <vt:lpstr>Comic Sans MS</vt:lpstr>
      <vt:lpstr>Courier New</vt:lpstr>
      <vt:lpstr>Symbol</vt:lpstr>
      <vt:lpstr>Times</vt:lpstr>
      <vt:lpstr>Times New Roman</vt:lpstr>
      <vt:lpstr>Wingdings</vt:lpstr>
      <vt:lpstr>ca</vt:lpstr>
      <vt:lpstr>公式</vt:lpstr>
      <vt:lpstr>Equation</vt:lpstr>
      <vt:lpstr>图表</vt:lpstr>
      <vt:lpstr>存储器的层次结构</vt:lpstr>
      <vt:lpstr>存储器层次结构的缘起</vt:lpstr>
      <vt:lpstr>Introduction</vt:lpstr>
      <vt:lpstr>Levels of the  Memory  Hierarchy</vt:lpstr>
      <vt:lpstr>The typical levels in the hierarchy for Desktops</vt:lpstr>
      <vt:lpstr>Processor-Memory Performance Gap “Tax”</vt:lpstr>
      <vt:lpstr>CPU Core of Zen 5</vt:lpstr>
      <vt:lpstr>The Principle of Locality</vt:lpstr>
      <vt:lpstr>Memory Hierarchy: Terminology</vt:lpstr>
      <vt:lpstr>Cache Impact to Computer Performance</vt:lpstr>
      <vt:lpstr>Memory Hierarchy Design</vt:lpstr>
      <vt:lpstr>Main Memory Deep Background</vt:lpstr>
      <vt:lpstr>Memory Technology</vt:lpstr>
      <vt:lpstr>DRAM logical organization (4 Mbit)</vt:lpstr>
      <vt:lpstr>Weakness of DRAM</vt:lpstr>
      <vt:lpstr>Memory Technology</vt:lpstr>
      <vt:lpstr>DRAM Performance Indexes</vt:lpstr>
      <vt:lpstr>Fast Memory Systems: DRAM specific</vt:lpstr>
      <vt:lpstr>RAMBUS (RDRAM)</vt:lpstr>
      <vt:lpstr>DDR and GDDR Memory</vt:lpstr>
      <vt:lpstr>Capacity and access times for DDR</vt:lpstr>
      <vt:lpstr>Clock rates, bandwidth, and names of DDR DRAMS and DIMMs in 2016</vt:lpstr>
      <vt:lpstr>Memory Optimizations</vt:lpstr>
      <vt:lpstr>Memory Power Consumption</vt:lpstr>
      <vt:lpstr>Stacked/Embedded DRAMs</vt:lpstr>
      <vt:lpstr>HBM的发展</vt:lpstr>
      <vt:lpstr>Flash Memory</vt:lpstr>
      <vt:lpstr>Main Memory Organizations</vt:lpstr>
      <vt:lpstr>Main Memory Performance</vt:lpstr>
      <vt:lpstr>Independent Memory Banks</vt:lpstr>
      <vt:lpstr>DRAMs per PC over Time</vt:lpstr>
      <vt:lpstr>Internal Organization of DRAM</vt:lpstr>
      <vt:lpstr>Avoiding Bank Conflicts</vt:lpstr>
      <vt:lpstr>Fast Bank Number</vt:lpstr>
      <vt:lpstr>Memory Dependability</vt:lpstr>
      <vt:lpstr>Need for Error Correction!</vt:lpstr>
      <vt:lpstr>Main Memory Summary</vt:lpstr>
      <vt:lpstr>What is a cache?</vt:lpstr>
      <vt:lpstr>Cache Measures</vt:lpstr>
      <vt:lpstr>Simplest Cache: Direct  Mapped</vt:lpstr>
      <vt:lpstr>1 KB Direct Mapped Cache, 32B blocks</vt:lpstr>
      <vt:lpstr>Two-way Set Associative Cache</vt:lpstr>
      <vt:lpstr>Disadvantage of Set Associative Cache</vt:lpstr>
      <vt:lpstr>4 Questions for Memory Hierarchy</vt:lpstr>
      <vt:lpstr>Q1: Where can a block be placed in the upper level? </vt:lpstr>
      <vt:lpstr>Q2: How is a block found if it is in the upper level?</vt:lpstr>
      <vt:lpstr>Q3: Which block should be replaced on a miss?</vt:lpstr>
      <vt:lpstr>Q4: What happens on a write?</vt:lpstr>
      <vt:lpstr>Write Buffer for Write Through</vt:lpstr>
      <vt:lpstr>Data cache organization of Opteron</vt:lpstr>
      <vt:lpstr>Cache performance</vt:lpstr>
      <vt:lpstr>Impact on Performance</vt:lpstr>
      <vt:lpstr>Miss per 1000 instructions</vt:lpstr>
      <vt:lpstr>Example: Harvard Architecture</vt:lpstr>
      <vt:lpstr>Basic Issues in VM System Design</vt:lpstr>
      <vt:lpstr>The logical program of virtual memory</vt:lpstr>
      <vt:lpstr>Typical ranges of parameters for caches and virtual memory</vt:lpstr>
      <vt:lpstr>Virtual Memory Address Map</vt:lpstr>
      <vt:lpstr>Example of how paging and segmentation divide a program</vt:lpstr>
      <vt:lpstr>Paging versus Segmentation</vt:lpstr>
      <vt:lpstr>Paging Organization</vt:lpstr>
      <vt:lpstr>Address translation &amp; Page table lookup</vt:lpstr>
      <vt:lpstr>Translation Look-Aside Buffers</vt:lpstr>
      <vt:lpstr>Operation of the Opteron data TLB </vt:lpstr>
      <vt:lpstr>Summary #1 / 3:  The Cache Design Space</vt:lpstr>
      <vt:lpstr>Summary #2/3: TLB, Virtual Memory</vt:lpstr>
      <vt:lpstr>Summary #3/3: Memory Hierarchy</vt:lpstr>
      <vt:lpstr>改善Cache性能</vt:lpstr>
      <vt:lpstr>Reducing Misses</vt:lpstr>
      <vt:lpstr>3Cs Absolute Miss Rate (SPEC92)</vt:lpstr>
      <vt:lpstr>3Cs Relative Miss Rate</vt:lpstr>
      <vt:lpstr>2:1 Cache Rule</vt:lpstr>
      <vt:lpstr>How Can Reduce Misses?</vt:lpstr>
      <vt:lpstr>1. Reduce Misses via Larger Block Size</vt:lpstr>
      <vt:lpstr>Actual miss rate versus block size </vt:lpstr>
      <vt:lpstr>Average memory access time versus block size </vt:lpstr>
      <vt:lpstr>2. Reduce Misses via Higher Associativity</vt:lpstr>
      <vt:lpstr>Example: Avg. Memory Access Time vs. Miss Rate</vt:lpstr>
      <vt:lpstr>Average memory access time </vt:lpstr>
      <vt:lpstr>Access times generally increase as cache size and associativity increase</vt:lpstr>
      <vt:lpstr>Energy consumption per read increases as cache size and associativity increased</vt:lpstr>
      <vt:lpstr>3. Reducing Misses via a “Victim Cache”</vt:lpstr>
      <vt:lpstr>4. Reducing Misses via    “Pseudo-Associativity”</vt:lpstr>
      <vt:lpstr>5. Reducing Misses by Hardware  Prefetching of Instructions &amp; Data </vt:lpstr>
      <vt:lpstr>Effects of Hardware Prefetching</vt:lpstr>
      <vt:lpstr>6. Reducing Misses by Software  (Compiler) Prefetching Data</vt:lpstr>
      <vt:lpstr>7. Reducing Misses by Compiler Optimizations</vt:lpstr>
      <vt:lpstr>Merging Arrays Example</vt:lpstr>
      <vt:lpstr>Loop Interchange Example</vt:lpstr>
      <vt:lpstr>Loop Fusion Example</vt:lpstr>
      <vt:lpstr>Blocking Example</vt:lpstr>
      <vt:lpstr>Blocking Example</vt:lpstr>
      <vt:lpstr>Blocking Example</vt:lpstr>
      <vt:lpstr>Reducing Conflict Misses by Blocking</vt:lpstr>
      <vt:lpstr>Summary of Compiler Optimizations to Reduce Cache Misses (by hand)</vt:lpstr>
      <vt:lpstr>Summary: Miss Rate Reduction</vt:lpstr>
      <vt:lpstr>Improving Cache Performance</vt:lpstr>
      <vt:lpstr>Write Policy: Write-Through vs Write-Back</vt:lpstr>
      <vt:lpstr>Write Policy 2: Write Allocate vs Non-Allocate</vt:lpstr>
      <vt:lpstr>1. Reducing Miss Penalty:  Read Priority over Write on Miss</vt:lpstr>
      <vt:lpstr>1. Reducing Miss Penalty:  Read Priority over Write on Miss</vt:lpstr>
      <vt:lpstr>Merging Write Buffer</vt:lpstr>
      <vt:lpstr>2. Reduce Miss Penalty:  Early Restart and Critical Word First</vt:lpstr>
      <vt:lpstr>3.Non-blocking Caches to reduce stalls on misses</vt:lpstr>
      <vt:lpstr>Implementing Nonblocking caches</vt:lpstr>
      <vt:lpstr>Performance of Nonblocking Caches</vt:lpstr>
      <vt:lpstr>4: Add a second-level cache</vt:lpstr>
      <vt:lpstr>Comparing Local and Global Miss Rates</vt:lpstr>
      <vt:lpstr>Relative execution time by second-level cache size</vt:lpstr>
      <vt:lpstr>Reducing Misses:  Which apply to L2 Cache?</vt:lpstr>
      <vt:lpstr>L2 cache block size &amp; A.M.A.T.</vt:lpstr>
      <vt:lpstr>Reducing Miss Penalty Summary</vt:lpstr>
      <vt:lpstr>Improving Cache Performance</vt:lpstr>
      <vt:lpstr>1. Fast Hit times  via Small and Simple Caches</vt:lpstr>
      <vt:lpstr>Address translation and Cache access</vt:lpstr>
      <vt:lpstr>2. Fast hits by Avoiding Address Translation</vt:lpstr>
      <vt:lpstr>Virtually Addressed Caches</vt:lpstr>
      <vt:lpstr>2. Fast Cache Hits by Avoiding Translation: Process ID impact</vt:lpstr>
      <vt:lpstr>2. Fast Cache Hits by Avoiding Translation</vt:lpstr>
      <vt:lpstr>Overlapped Cache &amp; TLB Access</vt:lpstr>
      <vt:lpstr>Problems With Overlapped TLB Access</vt:lpstr>
      <vt:lpstr>The overall picture of a hypothetical memory hierarchy </vt:lpstr>
      <vt:lpstr>3. Fast Hit Times Via Pipelined Writes</vt:lpstr>
      <vt:lpstr>4. Fast Writes on Misses Via Small Subblocks</vt:lpstr>
      <vt:lpstr>Way Prediction</vt:lpstr>
      <vt:lpstr>Pipelined Caches</vt:lpstr>
      <vt:lpstr>Fast Hits by pipelining Cache Case Study: MIPS R4000 </vt:lpstr>
      <vt:lpstr>Case Study: MIPS R4000</vt:lpstr>
      <vt:lpstr>R4000 Performance</vt:lpstr>
      <vt:lpstr>Multibanked Caches</vt:lpstr>
      <vt:lpstr>Use HBM to Extend Hierarchy</vt:lpstr>
      <vt:lpstr>Use HBM to Extend Hierarchy</vt:lpstr>
      <vt:lpstr>Average hit time latency in clock cycles </vt:lpstr>
      <vt:lpstr>Use HBM to Extend Hierarchy</vt:lpstr>
      <vt:lpstr>Cache Optimization Summary</vt:lpstr>
      <vt:lpstr>Summary</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Siat</dc:creator>
  <cp:lastModifiedBy>Zhimin Tang</cp:lastModifiedBy>
  <cp:revision>117</cp:revision>
  <dcterms:created xsi:type="dcterms:W3CDTF">2025-09-25T01:21:47Z</dcterms:created>
  <dcterms:modified xsi:type="dcterms:W3CDTF">2025-10-12T23:54:45Z</dcterms:modified>
</cp:coreProperties>
</file>